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58"/>
  </p:notesMasterIdLst>
  <p:sldIdLst>
    <p:sldId id="256" r:id="rId4"/>
    <p:sldId id="384" r:id="rId5"/>
    <p:sldId id="391" r:id="rId6"/>
    <p:sldId id="385" r:id="rId7"/>
    <p:sldId id="386" r:id="rId8"/>
    <p:sldId id="387" r:id="rId9"/>
    <p:sldId id="388" r:id="rId10"/>
    <p:sldId id="389" r:id="rId11"/>
    <p:sldId id="390" r:id="rId12"/>
    <p:sldId id="342" r:id="rId13"/>
    <p:sldId id="345" r:id="rId14"/>
    <p:sldId id="346" r:id="rId15"/>
    <p:sldId id="347" r:id="rId16"/>
    <p:sldId id="348" r:id="rId17"/>
    <p:sldId id="349" r:id="rId18"/>
    <p:sldId id="350" r:id="rId19"/>
    <p:sldId id="351" r:id="rId20"/>
    <p:sldId id="352" r:id="rId21"/>
    <p:sldId id="353" r:id="rId22"/>
    <p:sldId id="343" r:id="rId23"/>
    <p:sldId id="344" r:id="rId24"/>
    <p:sldId id="371" r:id="rId25"/>
    <p:sldId id="367" r:id="rId26"/>
    <p:sldId id="368" r:id="rId27"/>
    <p:sldId id="379" r:id="rId28"/>
    <p:sldId id="381" r:id="rId29"/>
    <p:sldId id="369" r:id="rId30"/>
    <p:sldId id="375" r:id="rId31"/>
    <p:sldId id="356" r:id="rId32"/>
    <p:sldId id="357" r:id="rId33"/>
    <p:sldId id="362" r:id="rId34"/>
    <p:sldId id="363" r:id="rId35"/>
    <p:sldId id="361" r:id="rId36"/>
    <p:sldId id="383" r:id="rId37"/>
    <p:sldId id="364" r:id="rId38"/>
    <p:sldId id="358" r:id="rId39"/>
    <p:sldId id="359" r:id="rId40"/>
    <p:sldId id="360" r:id="rId41"/>
    <p:sldId id="382" r:id="rId42"/>
    <p:sldId id="377" r:id="rId43"/>
    <p:sldId id="392" r:id="rId64"/>
    <p:sldId id="393" r:id="rId65"/>
    <p:sldId id="394" r:id="rId66"/>
    <p:sldId id="395" r:id="rId67"/>
    <p:sldId id="396" r:id="rId68"/>
    <p:sldId id="397" r:id="rId69"/>
    <p:sldId id="398" r:id="rId70"/>
    <p:sldId id="399" r:id="rId71"/>
    <p:sldId id="400" r:id="rId72"/>
    <p:sldId id="401" r:id="rId73"/>
    <p:sldId id="402" r:id="rId74"/>
    <p:sldId id="403" r:id="rId75"/>
    <p:sldId id="404" r:id="rId76"/>
    <p:sldId id="405" r:id="rId77"/>
    <p:sldId id="406" r:id="rId78"/>
    <p:sldId id="407" r:id="rId79"/>
    <p:sldId id="408" r:id="rId8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6D1F2034-E724-47F7-B534-C26522C59B14}">
          <p14:sldIdLst>
            <p14:sldId id="256"/>
            <p14:sldId id="384"/>
            <p14:sldId id="391"/>
            <p14:sldId id="385"/>
            <p14:sldId id="386"/>
            <p14:sldId id="387"/>
            <p14:sldId id="388"/>
            <p14:sldId id="389"/>
            <p14:sldId id="390"/>
            <p14:sldId id="342"/>
            <p14:sldId id="345"/>
            <p14:sldId id="346"/>
            <p14:sldId id="347"/>
            <p14:sldId id="348"/>
            <p14:sldId id="349"/>
            <p14:sldId id="350"/>
            <p14:sldId id="351"/>
            <p14:sldId id="352"/>
            <p14:sldId id="353"/>
            <p14:sldId id="343"/>
            <p14:sldId id="344"/>
          </p14:sldIdLst>
        </p14:section>
        <p14:section name="Backup" id="{1DC6A880-F456-45AD-8893-FA31D9D21659}">
          <p14:sldIdLst>
            <p14:sldId id="371"/>
            <p14:sldId id="367"/>
            <p14:sldId id="368"/>
            <p14:sldId id="379"/>
            <p14:sldId id="381"/>
            <p14:sldId id="369"/>
            <p14:sldId id="375"/>
            <p14:sldId id="356"/>
            <p14:sldId id="357"/>
            <p14:sldId id="362"/>
            <p14:sldId id="363"/>
            <p14:sldId id="361"/>
            <p14:sldId id="383"/>
            <p14:sldId id="364"/>
            <p14:sldId id="358"/>
            <p14:sldId id="359"/>
            <p14:sldId id="360"/>
            <p14:sldId id="382"/>
            <p14:sldId id="377"/>
            <p14:sldId id="392"/>
            <p14:sldId id="393"/>
            <p14:sldId id="394"/>
            <p14:sldId id="395"/>
            <p14:sldId id="396"/>
            <p14:sldId id="397"/>
            <p14:sldId id="398"/>
            <p14:sldId id="399"/>
            <p14:sldId id="400"/>
            <p14:sldId id="401"/>
            <p14:sldId id="402"/>
            <p14:sldId id="403"/>
            <p14:sldId id="404"/>
            <p14:sldId id="40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85C5353-D6B6-4F32-A6FB-7D0A3485BA1D}" name="Gastbenutzer" initials="Ga" userId="Gastbenutzer"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8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5542" autoAdjust="0"/>
  </p:normalViewPr>
  <p:slideViewPr>
    <p:cSldViewPr snapToGrid="0">
      <p:cViewPr varScale="1">
        <p:scale>
          <a:sx n="53" d="100"/>
          <a:sy n="53" d="100"/>
        </p:scale>
        <p:origin x="2064" y="16"/>
      </p:cViewPr>
      <p:guideLst/>
    </p:cSldViewPr>
  </p:slideViewPr>
  <p:notesTextViewPr>
    <p:cViewPr>
      <p:scale>
        <a:sx n="125" d="100"/>
        <a:sy n="12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63" Type="http://schemas.microsoft.com/office/2018/10/relationships/authors" Target="author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58"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31" Type="http://schemas.openxmlformats.org/officeDocument/2006/relationships/slide" Target="slides/slide28.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64" Type="http://schemas.openxmlformats.org/officeDocument/2006/relationships/slide" Target="slides/slide41.xml"/><Relationship Id="rId65" Type="http://schemas.openxmlformats.org/officeDocument/2006/relationships/slide" Target="slides/slide42.xml"/><Relationship Id="rId66" Type="http://schemas.openxmlformats.org/officeDocument/2006/relationships/slide" Target="slides/slide43.xml"/><Relationship Id="rId67" Type="http://schemas.openxmlformats.org/officeDocument/2006/relationships/slide" Target="slides/slide44.xml"/><Relationship Id="rId68" Type="http://schemas.openxmlformats.org/officeDocument/2006/relationships/slide" Target="slides/slide45.xml"/><Relationship Id="rId69" Type="http://schemas.openxmlformats.org/officeDocument/2006/relationships/slide" Target="slides/slide46.xml"/><Relationship Id="rId70" Type="http://schemas.openxmlformats.org/officeDocument/2006/relationships/slide" Target="slides/slide47.xml"/><Relationship Id="rId71" Type="http://schemas.openxmlformats.org/officeDocument/2006/relationships/slide" Target="slides/slide48.xml"/><Relationship Id="rId72" Type="http://schemas.openxmlformats.org/officeDocument/2006/relationships/slide" Target="slides/slide49.xml"/><Relationship Id="rId73" Type="http://schemas.openxmlformats.org/officeDocument/2006/relationships/slide" Target="slides/slide50.xml"/><Relationship Id="rId74" Type="http://schemas.openxmlformats.org/officeDocument/2006/relationships/slide" Target="slides/slide51.xml"/><Relationship Id="rId75" Type="http://schemas.openxmlformats.org/officeDocument/2006/relationships/slide" Target="slides/slide52.xml"/><Relationship Id="rId76" Type="http://schemas.openxmlformats.org/officeDocument/2006/relationships/slide" Target="slides/slide53.xml"/><Relationship Id="rId77" Type="http://schemas.openxmlformats.org/officeDocument/2006/relationships/slide" Target="slides/slide54.xml"/><Relationship Id="rId78" Type="http://schemas.openxmlformats.org/officeDocument/2006/relationships/slide" Target="slides/slide55.xml"/><Relationship Id="rId79" Type="http://schemas.openxmlformats.org/officeDocument/2006/relationships/slide" Target="slides/slide56.xml"/><Relationship Id="rId80" Type="http://schemas.openxmlformats.org/officeDocument/2006/relationships/slide" Target="slides/slide5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Anzahl</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EF2A-4541-B768-DD148CF7B8A4}"/>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EF2A-4541-B768-DD148CF7B8A4}"/>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EF2A-4541-B768-DD148CF7B8A4}"/>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EF2A-4541-B768-DD148CF7B8A4}"/>
              </c:ext>
            </c:extLst>
          </c:dPt>
          <c:cat>
            <c:strRef>
              <c:f>Tabelle1!$A$2:$A$5</c:f>
              <c:strCache>
                <c:ptCount val="3"/>
                <c:pt idx="0">
                  <c:v>Blocker n = 6</c:v>
                </c:pt>
                <c:pt idx="1">
                  <c:v>Switcher n = 6l</c:v>
                </c:pt>
                <c:pt idx="2">
                  <c:v>Grouper n = 5</c:v>
                </c:pt>
              </c:strCache>
            </c:strRef>
          </c:cat>
          <c:val>
            <c:numRef>
              <c:f>Tabelle1!$B$2:$B$5</c:f>
              <c:numCache>
                <c:formatCode>General</c:formatCode>
                <c:ptCount val="4"/>
                <c:pt idx="0">
                  <c:v>6</c:v>
                </c:pt>
                <c:pt idx="1">
                  <c:v>6</c:v>
                </c:pt>
                <c:pt idx="2">
                  <c:v>5</c:v>
                </c:pt>
              </c:numCache>
            </c:numRef>
          </c:val>
          <c:extLst>
            <c:ext xmlns:c16="http://schemas.microsoft.com/office/drawing/2014/chart" uri="{C3380CC4-5D6E-409C-BE32-E72D297353CC}">
              <c16:uniqueId val="{00000008-EF2A-4541-B768-DD148CF7B8A4}"/>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Anzahl</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1082-40F5-85FE-9A39C8953A19}"/>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1082-40F5-85FE-9A39C8953A19}"/>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1082-40F5-85FE-9A39C8953A19}"/>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1082-40F5-85FE-9A39C8953A19}"/>
              </c:ext>
            </c:extLst>
          </c:dPt>
          <c:cat>
            <c:strRef>
              <c:f>Tabelle1!$A$2:$A$5</c:f>
              <c:strCache>
                <c:ptCount val="3"/>
                <c:pt idx="0">
                  <c:v>Blocker n = 16</c:v>
                </c:pt>
                <c:pt idx="1">
                  <c:v>Switcher n = 22</c:v>
                </c:pt>
                <c:pt idx="2">
                  <c:v>Grouper n = 32</c:v>
                </c:pt>
              </c:strCache>
            </c:strRef>
          </c:cat>
          <c:val>
            <c:numRef>
              <c:f>Tabelle1!$B$2:$B$5</c:f>
              <c:numCache>
                <c:formatCode>General</c:formatCode>
                <c:ptCount val="4"/>
                <c:pt idx="0">
                  <c:v>32</c:v>
                </c:pt>
                <c:pt idx="1">
                  <c:v>22</c:v>
                </c:pt>
                <c:pt idx="2">
                  <c:v>16</c:v>
                </c:pt>
              </c:numCache>
            </c:numRef>
          </c:val>
          <c:extLst>
            <c:ext xmlns:c16="http://schemas.microsoft.com/office/drawing/2014/chart" uri="{C3380CC4-5D6E-409C-BE32-E72D297353CC}">
              <c16:uniqueId val="{00000008-1082-40F5-85FE-9A39C8953A19}"/>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Anzahl</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6D06-4EA8-8FFE-71BEBAC87C4E}"/>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6D06-4EA8-8FFE-71BEBAC87C4E}"/>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6D06-4EA8-8FFE-71BEBAC87C4E}"/>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6D06-4EA8-8FFE-71BEBAC87C4E}"/>
              </c:ext>
            </c:extLst>
          </c:dPt>
          <c:cat>
            <c:strRef>
              <c:f>Tabelle1!$A$2:$A$5</c:f>
              <c:strCache>
                <c:ptCount val="3"/>
                <c:pt idx="0">
                  <c:v>Blocker n = 16</c:v>
                </c:pt>
                <c:pt idx="1">
                  <c:v>Switcher n = 22</c:v>
                </c:pt>
                <c:pt idx="2">
                  <c:v>Grouper n = 32</c:v>
                </c:pt>
              </c:strCache>
            </c:strRef>
          </c:cat>
          <c:val>
            <c:numRef>
              <c:f>Tabelle1!$B$2:$B$5</c:f>
              <c:numCache>
                <c:formatCode>General</c:formatCode>
                <c:ptCount val="4"/>
                <c:pt idx="0">
                  <c:v>25</c:v>
                </c:pt>
                <c:pt idx="1">
                  <c:v>14</c:v>
                </c:pt>
                <c:pt idx="2">
                  <c:v>6</c:v>
                </c:pt>
              </c:numCache>
            </c:numRef>
          </c:val>
          <c:extLst>
            <c:ext xmlns:c16="http://schemas.microsoft.com/office/drawing/2014/chart" uri="{C3380CC4-5D6E-409C-BE32-E72D297353CC}">
              <c16:uniqueId val="{00000008-6D06-4EA8-8FFE-71BEBAC87C4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Spalte1</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0A12-45E0-81EC-DBA8A6F62470}"/>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0A12-45E0-81EC-DBA8A6F62470}"/>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0A12-45E0-81EC-DBA8A6F62470}"/>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0A12-45E0-81EC-DBA8A6F62470}"/>
              </c:ext>
            </c:extLst>
          </c:dPt>
          <c:cat>
            <c:strRef>
              <c:f>Tabelle1!$A$2:$A$5</c:f>
              <c:strCache>
                <c:ptCount val="3"/>
                <c:pt idx="0">
                  <c:v>Blocker n = 16</c:v>
                </c:pt>
                <c:pt idx="1">
                  <c:v>Switcher n = 22</c:v>
                </c:pt>
                <c:pt idx="2">
                  <c:v>Grouper n = 32</c:v>
                </c:pt>
              </c:strCache>
            </c:strRef>
          </c:cat>
          <c:val>
            <c:numRef>
              <c:f>Tabelle1!$B$2:$B$5</c:f>
              <c:numCache>
                <c:formatCode>General</c:formatCode>
                <c:ptCount val="4"/>
                <c:pt idx="0">
                  <c:v>18</c:v>
                </c:pt>
                <c:pt idx="1">
                  <c:v>19</c:v>
                </c:pt>
                <c:pt idx="2">
                  <c:v>10</c:v>
                </c:pt>
              </c:numCache>
            </c:numRef>
          </c:val>
          <c:extLst>
            <c:ext xmlns:c16="http://schemas.microsoft.com/office/drawing/2014/chart" uri="{C3380CC4-5D6E-409C-BE32-E72D297353CC}">
              <c16:uniqueId val="{00000008-0A12-45E0-81EC-DBA8A6F62470}"/>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Anzahl</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7EBD-4DA0-9277-608821A219E3}"/>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7EBD-4DA0-9277-608821A219E3}"/>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7EBD-4DA0-9277-608821A219E3}"/>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7EBD-4DA0-9277-608821A219E3}"/>
              </c:ext>
            </c:extLst>
          </c:dPt>
          <c:cat>
            <c:strRef>
              <c:f>Tabelle1!$A$2:$A$5</c:f>
              <c:strCache>
                <c:ptCount val="3"/>
                <c:pt idx="0">
                  <c:v>Blocker n = 17</c:v>
                </c:pt>
                <c:pt idx="1">
                  <c:v>Switcher n = 22</c:v>
                </c:pt>
                <c:pt idx="2">
                  <c:v>Response Grouper = 9</c:v>
                </c:pt>
              </c:strCache>
            </c:strRef>
          </c:cat>
          <c:val>
            <c:numRef>
              <c:f>Tabelle1!$B$2:$B$5</c:f>
              <c:numCache>
                <c:formatCode>General</c:formatCode>
                <c:ptCount val="4"/>
                <c:pt idx="0">
                  <c:v>17</c:v>
                </c:pt>
                <c:pt idx="1">
                  <c:v>22</c:v>
                </c:pt>
                <c:pt idx="2">
                  <c:v>9</c:v>
                </c:pt>
              </c:numCache>
            </c:numRef>
          </c:val>
          <c:extLst>
            <c:ext xmlns:c16="http://schemas.microsoft.com/office/drawing/2014/chart" uri="{C3380CC4-5D6E-409C-BE32-E72D297353CC}">
              <c16:uniqueId val="{00000008-7EBD-4DA0-9277-608821A219E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Anzahl</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EF9D-4DDE-9C1A-48E0E55FDFF9}"/>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EF9D-4DDE-9C1A-48E0E55FDFF9}"/>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EF9D-4DDE-9C1A-48E0E55FDFF9}"/>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EF9D-4DDE-9C1A-48E0E55FDFF9}"/>
              </c:ext>
            </c:extLst>
          </c:dPt>
          <c:cat>
            <c:strRef>
              <c:f>Tabelle1!$A$2:$A$5</c:f>
              <c:strCache>
                <c:ptCount val="3"/>
                <c:pt idx="0">
                  <c:v>Blocker n = 43</c:v>
                </c:pt>
                <c:pt idx="1">
                  <c:v>Switcher n = 27</c:v>
                </c:pt>
                <c:pt idx="2">
                  <c:v>Grouper n = 47</c:v>
                </c:pt>
              </c:strCache>
            </c:strRef>
          </c:cat>
          <c:val>
            <c:numRef>
              <c:f>Tabelle1!$B$2:$B$5</c:f>
              <c:numCache>
                <c:formatCode>General</c:formatCode>
                <c:ptCount val="4"/>
                <c:pt idx="0">
                  <c:v>43</c:v>
                </c:pt>
                <c:pt idx="1">
                  <c:v>27</c:v>
                </c:pt>
                <c:pt idx="2">
                  <c:v>47</c:v>
                </c:pt>
              </c:numCache>
            </c:numRef>
          </c:val>
          <c:extLst>
            <c:ext xmlns:c16="http://schemas.microsoft.com/office/drawing/2014/chart" uri="{C3380CC4-5D6E-409C-BE32-E72D297353CC}">
              <c16:uniqueId val="{00000008-EF9D-4DDE-9C1A-48E0E55FDFF9}"/>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9057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5000"/>
              </a:lnSpc>
              <a:spcBef>
                <a:spcPts val="303"/>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We’re presenting project 3, which is located at Magdeburg University and Constructor University in Bremen </a:t>
            </a:r>
          </a:p>
          <a:p>
            <a:pPr marL="0" marR="0" lvl="0" indent="0" algn="l" defTabSz="914400" rtl="0" eaLnBrk="1" fontAlgn="auto" latinLnBrk="0" hangingPunct="1">
              <a:lnSpc>
                <a:spcPct val="115000"/>
              </a:lnSpc>
              <a:spcBef>
                <a:spcPts val="303"/>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endParaRP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My name is </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Jovita Brüning and together with </a:t>
            </a:r>
            <a:r>
              <a:rPr kumimoji="0" lang="en-US" sz="1000" b="0" i="0" u="none" strike="noStrike" kern="1200" cap="none" spc="0" normalizeH="0" baseline="0" noProof="0" dirty="0" err="1">
                <a:ln>
                  <a:noFill/>
                </a:ln>
                <a:solidFill>
                  <a:prstClr val="black"/>
                </a:solidFill>
                <a:effectLst/>
                <a:uLnTx/>
                <a:uFillTx/>
                <a:latin typeface="Calibri"/>
                <a:ea typeface="Times New Roman" panose="02020603050405020304" pitchFamily="18" charset="0"/>
                <a:cs typeface="+mn-cs"/>
              </a:rPr>
              <a:t>Doruntinë</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 </a:t>
            </a:r>
            <a:r>
              <a:rPr kumimoji="0" lang="en-US" sz="1000" b="0" i="0" u="none" strike="noStrike" kern="1200" cap="none" spc="0" normalizeH="0" baseline="0" noProof="0" dirty="0" err="1">
                <a:ln>
                  <a:noFill/>
                </a:ln>
                <a:solidFill>
                  <a:prstClr val="black"/>
                </a:solidFill>
                <a:effectLst/>
                <a:uLnTx/>
                <a:uFillTx/>
                <a:latin typeface="Calibri"/>
                <a:ea typeface="Times New Roman" panose="02020603050405020304" pitchFamily="18" charset="0"/>
                <a:cs typeface="+mn-cs"/>
              </a:rPr>
              <a:t>Zogaj</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 I will conduct the </a:t>
            </a:r>
            <a:r>
              <a:rPr lang="en-US" sz="1000" dirty="0">
                <a:solidFill>
                  <a:srgbClr val="000000"/>
                </a:solidFill>
                <a:latin typeface="+mn-lt"/>
                <a:ea typeface="+mn-lt"/>
                <a:cs typeface="+mn-lt"/>
              </a:rPr>
              <a:t>empirical part of Project 3, which I will briefly introduce today </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Domenic Groh and Dirk Ostwald are the members of our team focusing on the theoretical objectives</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Markus </a:t>
            </a:r>
            <a:r>
              <a:rPr kumimoji="0" lang="en-US" sz="1000" b="0" i="0" u="none" strike="noStrike" kern="1200" cap="none" spc="0" normalizeH="0" baseline="0" noProof="0" dirty="0" err="1">
                <a:ln>
                  <a:noFill/>
                </a:ln>
                <a:solidFill>
                  <a:srgbClr val="000000"/>
                </a:solidFill>
                <a:effectLst/>
                <a:uLnTx/>
                <a:uFillTx/>
                <a:latin typeface="Calibri"/>
                <a:ea typeface="+mn-ea"/>
                <a:cs typeface="+mn-cs"/>
              </a:rPr>
              <a:t>Ullsperger</a:t>
            </a:r>
            <a:r>
              <a:rPr kumimoji="0" lang="en-US" sz="1000" b="0" i="0" u="none" strike="noStrike" kern="1200" cap="none" spc="0" normalizeH="0" baseline="0" noProof="0" dirty="0">
                <a:ln>
                  <a:noFill/>
                </a:ln>
                <a:solidFill>
                  <a:srgbClr val="000000"/>
                </a:solidFill>
                <a:effectLst/>
                <a:uLnTx/>
                <a:uFillTx/>
                <a:latin typeface="Calibri"/>
                <a:ea typeface="+mn-ea"/>
                <a:cs typeface="+mn-cs"/>
              </a:rPr>
              <a:t> – unfortunately cannot be here today – but he’s our expert in decision making and neuroscience and advising on the neurophysiological measures</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Our joint project focuses on how individuals form response strategies in voluntary task switching</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14999"/>
              </a:lnSpc>
              <a:spcBef>
                <a:spcPts val="303"/>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a:ea typeface="+mn-ea"/>
                <a:cs typeface="+mn-cs"/>
              </a:rPr>
              <a:t>So our </a:t>
            </a:r>
            <a:r>
              <a:rPr kumimoji="0" lang="en-US" sz="1000" b="0" i="0" u="none" strike="noStrike" kern="1200" cap="none" spc="0" normalizeH="0" baseline="0" noProof="0" dirty="0">
                <a:ln>
                  <a:noFill/>
                </a:ln>
                <a:solidFill>
                  <a:srgbClr val="000000"/>
                </a:solidFill>
                <a:effectLst/>
                <a:uLnTx/>
                <a:uFillTx/>
                <a:latin typeface="Calibri"/>
                <a:ea typeface="+mn-ea"/>
                <a:cs typeface="+mn-cs"/>
              </a:rPr>
              <a:t>central question is</a:t>
            </a:r>
            <a:r>
              <a:rPr kumimoji="0" lang="en-US" sz="1000" b="0" i="0" u="none" strike="noStrike" kern="1200" cap="none" spc="0" normalizeH="0" baseline="0" noProof="0" dirty="0">
                <a:ln>
                  <a:noFill/>
                </a:ln>
                <a:solidFill>
                  <a:prstClr val="black"/>
                </a:solidFill>
                <a:effectLst/>
                <a:uLnTx/>
                <a:uFillTx/>
                <a:latin typeface="Calibri"/>
                <a:ea typeface="+mn-ea"/>
                <a:cs typeface="+mn-cs"/>
              </a:rPr>
              <a:t>: What determines which response strategy a person develops </a:t>
            </a:r>
            <a:r>
              <a:rPr kumimoji="0" lang="en-US" sz="1000" b="0" i="0" u="none" strike="noStrike" kern="1200" cap="none" spc="0" normalizeH="0" baseline="0" noProof="0" dirty="0">
                <a:ln>
                  <a:noFill/>
                </a:ln>
                <a:solidFill>
                  <a:srgbClr val="000000"/>
                </a:solidFill>
                <a:effectLst/>
                <a:uLnTx/>
                <a:uFillTx/>
                <a:latin typeface="Calibri"/>
                <a:ea typeface="+mn-ea"/>
                <a:cs typeface="+mn-cs"/>
              </a:rPr>
              <a:t>when they have the freedom to </a:t>
            </a:r>
            <a:r>
              <a:rPr kumimoji="0" lang="en-US" sz="1000" b="0" i="0" u="none" strike="noStrike" kern="1200" cap="none" spc="0" normalizeH="0" baseline="0" noProof="0" dirty="0">
                <a:ln>
                  <a:noFill/>
                </a:ln>
                <a:solidFill>
                  <a:prstClr val="black"/>
                </a:solidFill>
                <a:effectLst/>
                <a:uLnTx/>
                <a:uFillTx/>
                <a:latin typeface="Calibri"/>
                <a:ea typeface="+mn-ea"/>
                <a:cs typeface="+mn-cs"/>
              </a:rPr>
              <a:t>choose between tasks?</a:t>
            </a:r>
            <a:endParaRPr kumimoji="0" lang="en-US" sz="10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5000"/>
              </a:lnSpc>
              <a:spcBef>
                <a:spcPts val="303"/>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In earlier work, we were interested in how people approach multiple task demands if they are free to choose which task to perform. Starting with a limited set of just two tasks, we found that they indeed develop different approaches. </a:t>
            </a:r>
          </a:p>
          <a:p>
            <a:pPr marL="0" marR="0" lvl="0" indent="0" algn="l" defTabSz="914400" rtl="0" eaLnBrk="1" fontAlgn="auto" latinLnBrk="0" hangingPunct="1">
              <a:lnSpc>
                <a:spcPct val="115000"/>
              </a:lnSpc>
              <a:spcBef>
                <a:spcPts val="303"/>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15000"/>
              </a:lnSpc>
              <a:spcBef>
                <a:spcPts val="303"/>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To address this, </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w</a:t>
            </a:r>
            <a:r>
              <a:rPr kumimoji="0" lang="en-US" sz="1000" b="0" i="0" u="none" strike="noStrike" kern="1200" cap="none" spc="0" normalizeH="0" baseline="0" noProof="0" dirty="0">
                <a:ln>
                  <a:noFill/>
                </a:ln>
                <a:solidFill>
                  <a:srgbClr val="000000"/>
                </a:solidFill>
                <a:effectLst/>
                <a:uLnTx/>
                <a:uFillTx/>
                <a:latin typeface="Calibri"/>
                <a:ea typeface="+mn-ea"/>
                <a:cs typeface="+mn-cs"/>
              </a:rPr>
              <a:t>e use the </a:t>
            </a:r>
            <a:r>
              <a:rPr kumimoji="0" lang="en-US" sz="1000" b="1" i="0" u="none" strike="noStrike" kern="1200" cap="none" spc="0" normalizeH="0" baseline="0" noProof="0" dirty="0">
                <a:ln>
                  <a:noFill/>
                </a:ln>
                <a:solidFill>
                  <a:srgbClr val="000000"/>
                </a:solidFill>
                <a:effectLst/>
                <a:uLnTx/>
                <a:uFillTx/>
                <a:latin typeface="Calibri"/>
                <a:ea typeface="+mn-ea"/>
                <a:cs typeface="+mn-cs"/>
              </a:rPr>
              <a:t>Free Concurrent Dual-Tasking</a:t>
            </a:r>
            <a:r>
              <a:rPr kumimoji="0" lang="en-US" sz="1000" b="0" i="0" u="none" strike="noStrike" kern="1200" cap="none" spc="0" normalizeH="0" baseline="0" noProof="0" dirty="0">
                <a:ln>
                  <a:noFill/>
                </a:ln>
                <a:solidFill>
                  <a:srgbClr val="000000"/>
                </a:solidFill>
                <a:effectLst/>
                <a:uLnTx/>
                <a:uFillTx/>
                <a:latin typeface="Calibri"/>
                <a:ea typeface="+mn-ea"/>
                <a:cs typeface="+mn-cs"/>
              </a:rPr>
              <a:t> paradigm</a:t>
            </a:r>
            <a:r>
              <a:rPr kumimoji="0" lang="en-US" sz="1000" b="1" i="0" u="none" strike="noStrike" kern="1200" cap="none" spc="0" normalizeH="0" baseline="0" noProof="0" dirty="0">
                <a:ln>
                  <a:noFill/>
                </a:ln>
                <a:solidFill>
                  <a:srgbClr val="000000"/>
                </a:solidFill>
                <a:effectLst/>
                <a:uLnTx/>
                <a:uFillTx/>
                <a:latin typeface="Calibri"/>
                <a:ea typeface="+mn-ea"/>
                <a:cs typeface="+mn-cs"/>
              </a:rPr>
              <a:t> (FCDT for short) </a:t>
            </a:r>
            <a:r>
              <a:rPr kumimoji="0" lang="en-US" sz="1000" b="0" i="0" u="none" strike="noStrike" kern="1200" cap="none" spc="0" normalizeH="0" baseline="0" noProof="0" dirty="0">
                <a:ln>
                  <a:noFill/>
                </a:ln>
                <a:solidFill>
                  <a:srgbClr val="000000"/>
                </a:solidFill>
                <a:effectLst/>
                <a:uLnTx/>
                <a:uFillTx/>
                <a:latin typeface="Calibri"/>
                <a:ea typeface="+mn-ea"/>
                <a:cs typeface="+mn-cs"/>
              </a:rPr>
              <a:t>as briefly introduced by the Cologne project</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Here, participants work on two simultaneously visible threads of tasks, one typically requires participants to categorize letters the other one digits</a:t>
            </a:r>
          </a:p>
          <a:p>
            <a:pPr marL="803906" marR="0" lvl="1"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Participants classify the letters as a vowel or consonant and the digits as odd or even, using separate response keys for the two tasks. </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On each trial participants choose which task to perform and indicate to which category the respective stimulus belongs with the finger that is allocated to the respective category</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effectLst/>
                <a:latin typeface="Calibri" panose="020F0502020204030204" pitchFamily="34" charset="0"/>
                <a:ea typeface="Calibri" panose="020F0502020204030204" pitchFamily="34" charset="0"/>
                <a:cs typeface="Times New Roman" panose="02020603050405020304" pitchFamily="18" charset="0"/>
              </a:rPr>
              <a:t>Which allows to precisely track, which of the tasks is being responded to across a sequence of trials =&gt; and thus the sequence of the participant’s task choices </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The sequence on the left shows an example of how a participant could approach the tasks: </a:t>
            </a:r>
          </a:p>
          <a:p>
            <a:pPr marL="803906" marR="0" lvl="1"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In this case, after responding three times to the letter task, the participant performed one trial of the digit task, then returned to the letter task, before choosing to continue with the digit task.</a:t>
            </a:r>
          </a:p>
          <a:p>
            <a:endParaRPr lang="en-US" sz="1200" dirty="0">
              <a:solidFill>
                <a:srgbClr val="000000"/>
              </a:solidFill>
              <a:latin typeface="+mn-lt"/>
              <a:ea typeface="+mn-lt"/>
              <a:cs typeface="+mn-lt"/>
            </a:endParaRP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Crucially, the stimuli are visible until a response is given =&gt; thus, there is no artificial timeout</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The unchosen stimulus remains available. After a letter response, only the letter changes, while the digit remains on screen. After a digit response, only the digit changes. </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Participants can therefore prepare the next task while still working on the current one, but the paradigm does not force them to use this preview.</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Importantly, while participants are instructed to perform the tasks equally and as efficient as possible – that is </a:t>
            </a:r>
            <a:r>
              <a:rPr lang="en-US" sz="1000" dirty="0"/>
              <a:t>to maximize correct responses – </a:t>
            </a:r>
            <a:r>
              <a:rPr kumimoji="0" lang="en-US" sz="1000" b="0" i="0" u="none" strike="noStrike" kern="1200" cap="none" spc="0" normalizeH="0" baseline="0" noProof="0" dirty="0">
                <a:ln>
                  <a:noFill/>
                </a:ln>
                <a:solidFill>
                  <a:srgbClr val="000000"/>
                </a:solidFill>
                <a:effectLst/>
                <a:uLnTx/>
                <a:uFillTx/>
                <a:latin typeface="Calibri"/>
                <a:ea typeface="+mn-ea"/>
                <a:cs typeface="+mn-cs"/>
              </a:rPr>
              <a:t>it is actually up to them how to achieve this </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endParaRPr lang="en-US" sz="1200" dirty="0">
              <a:solidFill>
                <a:srgbClr val="000000"/>
              </a:solidFill>
              <a:latin typeface="+mn-lt"/>
              <a:ea typeface="+mn-lt"/>
              <a:cs typeface="+mn-lt"/>
            </a:endParaRP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19588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303"/>
              </a:spcBef>
            </a:pPr>
            <a:r>
              <a:rPr lang="en-US" dirty="0">
                <a:solidFill>
                  <a:srgbClr val="000000"/>
                </a:solidFill>
              </a:rPr>
              <a:t>The same task setting allows different prototypical response patterns. </a:t>
            </a:r>
            <a:r>
              <a:rPr lang="en-US" kern="1200" dirty="0">
                <a:solidFill>
                  <a:srgbClr val="000000"/>
                </a:solidFill>
                <a:effectLst/>
                <a:cs typeface="Times New Roman"/>
              </a:rPr>
              <a:t>Using this paradig</a:t>
            </a:r>
            <a:r>
              <a:rPr lang="en-US" dirty="0">
                <a:solidFill>
                  <a:srgbClr val="000000"/>
                </a:solidFill>
                <a:cs typeface="Times New Roman"/>
              </a:rPr>
              <a:t>m, we repeatedly and reproducibl</a:t>
            </a:r>
            <a:r>
              <a:rPr lang="en-US" kern="1200" dirty="0">
                <a:solidFill>
                  <a:srgbClr val="000000"/>
                </a:solidFill>
                <a:effectLst/>
                <a:cs typeface="Times New Roman"/>
              </a:rPr>
              <a:t>y found that participants adhere to one of three response strategies: </a:t>
            </a:r>
          </a:p>
          <a:p>
            <a:pPr marL="346706" indent="-346706">
              <a:lnSpc>
                <a:spcPct val="115000"/>
              </a:lnSpc>
              <a:spcBef>
                <a:spcPts val="303"/>
              </a:spcBef>
              <a:buFont typeface="Symbol" panose="05050102010706020507" pitchFamily="18" charset="2"/>
              <a:buChar char=""/>
            </a:pPr>
            <a:r>
              <a:rPr lang="en-US" dirty="0">
                <a:solidFill>
                  <a:srgbClr val="000000"/>
                </a:solidFill>
                <a:cs typeface="Times New Roman"/>
              </a:rPr>
              <a:t>blocking, switching, or response grouping</a:t>
            </a:r>
          </a:p>
          <a:p>
            <a:pPr marL="346706" indent="-346706">
              <a:lnSpc>
                <a:spcPct val="115000"/>
              </a:lnSpc>
              <a:spcBef>
                <a:spcPts val="303"/>
              </a:spcBef>
              <a:buFont typeface="Symbol" panose="05050102010706020507" pitchFamily="18" charset="2"/>
              <a:buChar char=""/>
            </a:pPr>
            <a:r>
              <a:rPr lang="en-US" dirty="0">
                <a:solidFill>
                  <a:srgbClr val="000000"/>
                </a:solidFill>
              </a:rPr>
              <a:t>One substantial group are </a:t>
            </a:r>
            <a:r>
              <a:rPr lang="en-US" b="1" dirty="0">
                <a:solidFill>
                  <a:srgbClr val="000000"/>
                </a:solidFill>
              </a:rPr>
              <a:t>Blockers</a:t>
            </a:r>
            <a:r>
              <a:rPr lang="en-US" b="0" dirty="0">
                <a:solidFill>
                  <a:srgbClr val="000000"/>
                </a:solidFill>
              </a:rPr>
              <a:t>, who</a:t>
            </a:r>
            <a:r>
              <a:rPr lang="en-US" b="1" dirty="0">
                <a:solidFill>
                  <a:srgbClr val="000000"/>
                </a:solidFill>
              </a:rPr>
              <a:t> </a:t>
            </a:r>
            <a:r>
              <a:rPr lang="en-US" dirty="0">
                <a:solidFill>
                  <a:srgbClr val="000000"/>
                </a:solidFill>
              </a:rPr>
              <a:t>complete long runs of one task before switching -&gt; typically, they produce more than 10 trials and are accordingly classified as Blockers when their switch rate is below 10%. </a:t>
            </a:r>
            <a:endParaRPr lang="en-US" dirty="0">
              <a:solidFill>
                <a:srgbClr val="000000"/>
              </a:solidFill>
              <a:cs typeface="Times New Roman"/>
            </a:endParaRPr>
          </a:p>
          <a:p>
            <a:pPr marL="346706" indent="-346706">
              <a:lnSpc>
                <a:spcPct val="115000"/>
              </a:lnSpc>
              <a:spcBef>
                <a:spcPts val="303"/>
              </a:spcBef>
              <a:buFont typeface="Symbol" panose="05050102010706020507" pitchFamily="18" charset="2"/>
              <a:buChar char=""/>
            </a:pPr>
            <a:r>
              <a:rPr lang="en-US" dirty="0">
                <a:solidFill>
                  <a:srgbClr val="000000"/>
                </a:solidFill>
              </a:rPr>
              <a:t>Switchers interleave tasks more frequently, but their switch pattern is rather irregular. They choose to work on the other task approximately every three to seven trials.</a:t>
            </a:r>
          </a:p>
          <a:p>
            <a:pPr marL="346706" indent="-346706">
              <a:lnSpc>
                <a:spcPct val="115000"/>
              </a:lnSpc>
              <a:spcBef>
                <a:spcPts val="303"/>
              </a:spcBef>
              <a:buFont typeface="Symbol" panose="05050102010706020507" pitchFamily="18" charset="2"/>
              <a:buChar char=""/>
            </a:pPr>
            <a:r>
              <a:rPr lang="en-US" dirty="0">
                <a:solidFill>
                  <a:srgbClr val="000000"/>
                </a:solidFill>
              </a:rPr>
              <a:t>Response groupers switch very frequently </a:t>
            </a:r>
            <a:r>
              <a:rPr lang="en-US" dirty="0">
                <a:solidFill>
                  <a:srgbClr val="000000"/>
                </a:solidFill>
                <a:sym typeface="Wingdings" panose="05000000000000000000" pitchFamily="2" charset="2"/>
              </a:rPr>
              <a:t>and </a:t>
            </a:r>
            <a:r>
              <a:rPr lang="en-US" dirty="0">
                <a:solidFill>
                  <a:srgbClr val="000000"/>
                </a:solidFill>
              </a:rPr>
              <a:t>prepare both task responses before releasing them in quick succession. That is, usually a seemingly long response is followed by an extremely fast one</a:t>
            </a:r>
            <a:endParaRPr lang="en-US" dirty="0">
              <a:solidFill>
                <a:srgbClr val="000000"/>
              </a:solidFill>
              <a:cs typeface="Times New Roman"/>
            </a:endParaRPr>
          </a:p>
          <a:p>
            <a:pPr marL="346706" marR="0" lvl="0" indent="-346706" algn="l" defTabSz="924550" rtl="0" eaLnBrk="1" fontAlgn="auto" latinLnBrk="0" hangingPunct="1">
              <a:lnSpc>
                <a:spcPct val="114999"/>
              </a:lnSpc>
              <a:spcBef>
                <a:spcPts val="303"/>
              </a:spcBef>
              <a:spcAft>
                <a:spcPts val="0"/>
              </a:spcAft>
              <a:buClrTx/>
              <a:buSzTx/>
              <a:buFont typeface="Symbol" panose="05050102010706020507" pitchFamily="18" charset="2"/>
              <a:buChar char=""/>
              <a:tabLst/>
              <a:defRPr/>
            </a:pPr>
            <a:r>
              <a:rPr lang="en-US" dirty="0">
                <a:solidFill>
                  <a:srgbClr val="000000"/>
                </a:solidFill>
              </a:rPr>
              <a:t>For the planned experiments, we assess both the strategy categories and the underlying continuous response measures.</a:t>
            </a:r>
          </a:p>
          <a:p>
            <a:pPr marL="346706" indent="-346706" defTabSz="924550">
              <a:lnSpc>
                <a:spcPct val="114999"/>
              </a:lnSpc>
              <a:spcBef>
                <a:spcPts val="303"/>
              </a:spcBef>
              <a:buFont typeface="Symbol" panose="05050102010706020507" pitchFamily="18" charset="2"/>
              <a:buChar char=""/>
            </a:pPr>
            <a:endParaRPr lang="en-US" kern="1200" dirty="0">
              <a:solidFill>
                <a:srgbClr val="000000"/>
              </a:solidFill>
              <a:effectLst/>
              <a:cs typeface="Times New Roman"/>
            </a:endParaRPr>
          </a:p>
          <a:p>
            <a:pPr marL="346706" indent="-346706" defTabSz="924550">
              <a:lnSpc>
                <a:spcPct val="114999"/>
              </a:lnSpc>
              <a:spcBef>
                <a:spcPts val="303"/>
              </a:spcBef>
              <a:buFont typeface="Symbol" panose="05050102010706020507" pitchFamily="18" charset="2"/>
              <a:buChar char=""/>
            </a:pPr>
            <a:r>
              <a:rPr lang="en-US" kern="1200" dirty="0">
                <a:solidFill>
                  <a:srgbClr val="000000"/>
                </a:solidFill>
                <a:effectLst/>
                <a:cs typeface="Times New Roman"/>
              </a:rPr>
              <a:t>We observed the response strategies across different task combinations and across sessions, suggesting that they reflect stable biases that occur independent of the exact task features</a:t>
            </a:r>
          </a:p>
          <a:p>
            <a:pPr marL="346706" indent="-346706" defTabSz="924550">
              <a:lnSpc>
                <a:spcPct val="114999"/>
              </a:lnSpc>
              <a:spcBef>
                <a:spcPts val="303"/>
              </a:spcBef>
              <a:buFont typeface="Symbol" panose="05050102010706020507" pitchFamily="18" charset="2"/>
              <a:buChar char=""/>
            </a:pPr>
            <a:r>
              <a:rPr lang="en-US" dirty="0"/>
              <a:t>Yet, their consequences for performance can change: a strategy that works well for one task combination may be less efficient for another</a:t>
            </a:r>
          </a:p>
          <a:p>
            <a:pPr marL="346706" indent="-346706" defTabSz="924550">
              <a:lnSpc>
                <a:spcPct val="114999"/>
              </a:lnSpc>
              <a:spcBef>
                <a:spcPts val="303"/>
              </a:spcBef>
              <a:buFont typeface="Symbol" panose="05050102010706020507" pitchFamily="18" charset="2"/>
              <a:buChar char=""/>
            </a:pPr>
            <a:endParaRPr lang="en-US" kern="1200" dirty="0">
              <a:solidFill>
                <a:srgbClr val="000000"/>
              </a:solidFill>
              <a:effectLst/>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raises the question of what drives these preferences in the first place =&gt; How can we explain the strategies’ formation?</a:t>
            </a:r>
            <a:endParaRPr lang="en-US" dirty="0">
              <a:solidFill>
                <a:srgbClr val="000000"/>
              </a:solidFill>
            </a:endParaRPr>
          </a:p>
          <a:p>
            <a:endParaRPr lang="de-DE" dirty="0"/>
          </a:p>
          <a:p>
            <a:endParaRPr dirty="0"/>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consider three sets of potential determinants. The first concerns learning and error sensitivity. People who learn the tasks efficiently may free up capacity for preparing and coordinating task switches, and sensitivity to their own errors could support this learning process.</a:t>
            </a:r>
          </a:p>
          <a:p>
            <a:endParaRPr lang="de-DE" dirty="0"/>
          </a:p>
          <a:p>
            <a:r>
              <a:rPr dirty="0"/>
              <a:t>Second, people may differ in how strongly rewards motivate them to change their </a:t>
            </a:r>
            <a:r>
              <a:rPr lang="de-DE" dirty="0" err="1"/>
              <a:t>bias</a:t>
            </a:r>
            <a:r>
              <a:rPr lang="de-DE" dirty="0"/>
              <a:t> in </a:t>
            </a:r>
            <a:r>
              <a:rPr dirty="0"/>
              <a:t>task choices. Our working hypothesis is that switching and response grouping may reflect a stronger motivation to maximize performance, whereas blocking may place more weight on minimizing coordination effort. </a:t>
            </a:r>
            <a:endParaRPr lang="de-DE" dirty="0"/>
          </a:p>
          <a:p>
            <a:endParaRPr lang="de-DE" dirty="0"/>
          </a:p>
          <a:p>
            <a:r>
              <a:rPr lang="en-US" dirty="0"/>
              <a:t>Beyond these mechanisms, we also ask whether more stable characteristics, such as psychological traits, multitasking preferences, and cognitive abilities, help explain these strategy differences.</a:t>
            </a:r>
            <a:endParaRPr lang="de-DE" dirty="0"/>
          </a:p>
          <a:p>
            <a:endParaRPr lang="de-DE" dirty="0"/>
          </a:p>
          <a:p>
            <a:r>
              <a:rPr lang="en-US" dirty="0"/>
              <a:t>To address these questions, we combine behavioral experiments with EEG markers of error and reward sensitivity, questionnaires, and measures of cognitive ability. This allows us to examine how individual characteristics interact with task conditions to shape strategy use. Let me now briefly walk you through the planned experiments.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first pair of experiments examines learning ability and error sensitivity, with ninety participants planned for each experiment. </a:t>
            </a:r>
            <a:endParaRPr lang="de-DE" dirty="0"/>
          </a:p>
          <a:p>
            <a:pPr marL="171450" indent="-171450">
              <a:buFont typeface="Arial" panose="020B0604020202020204" pitchFamily="34" charset="0"/>
              <a:buChar char="•"/>
            </a:pPr>
            <a:r>
              <a:rPr lang="en-US" dirty="0"/>
              <a:t>In Experiment 1a, participants complete the standard FCDT procedure with two additional runs. This gives us more time to observe task acquisition and the development of efficient coordination.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Experiment 1b adds easier and more difficult stimulus discriminations to examine how task difficulty interacts with individual learning ability and strategy preference.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We will explore changes in reaction times and error rates across practice, together with changes in task choices in their response patterns. </a:t>
            </a:r>
          </a:p>
          <a:p>
            <a:pPr marL="171450" indent="-171450">
              <a:buFont typeface="Arial" panose="020B0604020202020204" pitchFamily="34" charset="0"/>
              <a:buChar char="•"/>
            </a:pPr>
            <a:r>
              <a:rPr lang="en-US" dirty="0"/>
              <a:t>We record EEG during the FCDT and then use a separate flanker task to obtain an independent measure of error sensitivity, the error-related negativity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idea is that learning from errors may help participants acquire the tasks more efficiently, making frequent switching easier to coordinate =&gt; We therefore predict greater learning gains and a larger ERN magnitude in switchers and response groupers than in blockers. </a:t>
            </a:r>
          </a:p>
          <a:p>
            <a:endParaRPr lang="de-DE" dirty="0"/>
          </a:p>
          <a:p>
            <a:r>
              <a:rPr lang="de-DE" dirty="0"/>
              <a:t>[</a:t>
            </a:r>
            <a:r>
              <a:rPr lang="de-DE" dirty="0" err="1"/>
              <a:t>prediction</a:t>
            </a:r>
            <a:r>
              <a:rPr lang="de-DE" dirty="0"/>
              <a:t> </a:t>
            </a:r>
            <a:r>
              <a:rPr lang="de-DE" dirty="0" err="1"/>
              <a:t>refers</a:t>
            </a:r>
            <a:r>
              <a:rPr lang="de-DE" dirty="0"/>
              <a:t> </a:t>
            </a:r>
            <a:r>
              <a:rPr lang="de-DE" dirty="0" err="1"/>
              <a:t>to</a:t>
            </a:r>
            <a:r>
              <a:rPr lang="de-DE" dirty="0"/>
              <a:t> 1a: </a:t>
            </a:r>
            <a:r>
              <a:rPr lang="en-US" dirty="0"/>
              <a:t>greater reductions in reaction times and errors; regarding 1b: will depend on 1a, but if efficient task acquisition supports frequent switching, increasing task difficulty should reduce switching particularly in switchers and response groupers, thereby narrowing the differences between strategy groups</a:t>
            </a:r>
            <a:r>
              <a:rPr lang="de-DE" dirty="0"/>
              <a:t>]</a:t>
            </a:r>
          </a:p>
          <a:p>
            <a:r>
              <a:rPr lang="de-DE" dirty="0"/>
              <a:t>[</a:t>
            </a:r>
            <a:r>
              <a:rPr dirty="0"/>
              <a:t>Across both experiments, we can also examine midfrontal theta as a correlate of effort and beta lateralization before a response as a correlate of upcoming task selection.</a:t>
            </a:r>
            <a:r>
              <a:rPr lang="de-DE" dirty="0"/>
              <a:t>]</a:t>
            </a:r>
            <a:endParaRPr dirty="0"/>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examined learning and error sensitivity, we next ask how incentives influence task choices. Both experiments will comprise ninety participants and the preferred strategy will be first assessed at baseline. </a:t>
            </a:r>
          </a:p>
          <a:p>
            <a:pPr marL="171450" indent="-171450">
              <a:buFont typeface="Arial" panose="020B0604020202020204" pitchFamily="34" charset="0"/>
              <a:buChar char="•"/>
            </a:pPr>
            <a:r>
              <a:rPr lang="en-US" dirty="0"/>
              <a:t>Experiment 2a then varies the global reward prospect for correct responses, regardless of which task they choose. </a:t>
            </a:r>
          </a:p>
          <a:p>
            <a:pPr marL="628650" lvl="1" indent="-171450">
              <a:buFont typeface="Arial" panose="020B0604020202020204" pitchFamily="34" charset="0"/>
              <a:buChar char="•"/>
            </a:pPr>
            <a:r>
              <a:rPr lang="en-US" dirty="0"/>
              <a:t>Every five to fifteen responses, a cue indicates a high or low reward prospect.</a:t>
            </a:r>
          </a:p>
          <a:p>
            <a:pPr marL="628650" lvl="1" indent="-171450">
              <a:buFont typeface="Arial" panose="020B0604020202020204" pitchFamily="34" charset="0"/>
              <a:buChar char="•"/>
            </a:pPr>
            <a:r>
              <a:rPr lang="de-DE" dirty="0"/>
              <a:t>This </a:t>
            </a:r>
            <a:r>
              <a:rPr dirty="0" err="1"/>
              <a:t>creat</a:t>
            </a:r>
            <a:r>
              <a:rPr lang="de-DE" dirty="0"/>
              <a:t>es</a:t>
            </a:r>
            <a:r>
              <a:rPr dirty="0"/>
              <a:t> four </a:t>
            </a:r>
            <a:r>
              <a:rPr lang="de-DE" dirty="0" err="1"/>
              <a:t>reward</a:t>
            </a:r>
            <a:r>
              <a:rPr lang="de-DE" dirty="0"/>
              <a:t> </a:t>
            </a:r>
            <a:r>
              <a:rPr lang="de-DE" dirty="0" err="1"/>
              <a:t>conditions</a:t>
            </a:r>
            <a:r>
              <a:rPr dirty="0"/>
              <a:t>: remain low, increase, remain high, and decrease. </a:t>
            </a:r>
            <a:endParaRPr lang="de-DE" dirty="0"/>
          </a:p>
          <a:p>
            <a:pPr marL="171450" indent="-171450">
              <a:buFont typeface="Arial" panose="020B0604020202020204" pitchFamily="34" charset="0"/>
              <a:buChar char="•"/>
            </a:pPr>
            <a:r>
              <a:rPr lang="en-US" dirty="0"/>
              <a:t>We expect stronger incentive effects on task choices in switchers and response groupers than in blockers. Specifically, increasing rewards should promote switching, whereas sustained high rewards should favor repetition.</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dirty="0"/>
              <a:t>Experiment 2b provides a more direct incentive. A colored frame signals that switching to the alternative task can earn a bonus. </a:t>
            </a:r>
            <a:endParaRPr lang="de-DE" dirty="0"/>
          </a:p>
          <a:p>
            <a:pPr marL="171450" indent="-171450">
              <a:buFont typeface="Arial" panose="020B0604020202020204" pitchFamily="34" charset="0"/>
              <a:buChar char="•"/>
            </a:pPr>
            <a:r>
              <a:rPr lang="de-DE" dirty="0"/>
              <a:t>Here, w</a:t>
            </a:r>
            <a:r>
              <a:rPr dirty="0"/>
              <a:t>e compare bonus and no-bonus conditions to test whether explicit rewards can overcome a preferred response strategy. </a:t>
            </a:r>
            <a:endParaRPr lang="de-DE" dirty="0"/>
          </a:p>
          <a:p>
            <a:pPr marL="171450" indent="-171450">
              <a:buFont typeface="Arial" panose="020B0604020202020204" pitchFamily="34" charset="0"/>
              <a:buChar char="•"/>
            </a:pPr>
            <a:r>
              <a:rPr lang="de-DE" dirty="0"/>
              <a:t>W</a:t>
            </a:r>
            <a:r>
              <a:rPr dirty="0"/>
              <a:t>e expect even blockers to increase switching, although less strongly than </a:t>
            </a:r>
            <a:r>
              <a:rPr lang="en-US" dirty="0"/>
              <a:t>switchers and response groupers</a:t>
            </a:r>
            <a:r>
              <a:rPr dirty="0"/>
              <a:t>. </a:t>
            </a:r>
            <a:endParaRPr lang="de-DE"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 addition to EEG during the FCDT, a probabilistic learning task provides an independent measure of reward sensitivity, including feedback-related ERP measures. The main outcome is how switch rates change as a function of incentive condition and baseline strategy. We will also assess multitasking efficiency.</a:t>
            </a:r>
          </a:p>
          <a:p>
            <a:endParaRPr lang="de-DE" dirty="0"/>
          </a:p>
          <a:p>
            <a:r>
              <a:rPr lang="de-DE" dirty="0"/>
              <a:t>[</a:t>
            </a:r>
            <a:r>
              <a:rPr dirty="0"/>
              <a:t>Visual color changes or frames also appear at baseline without the additional reward instructions, which helps separate incentive effects from visual changes. </a:t>
            </a:r>
            <a:endParaRPr lang="de-DE" dirty="0"/>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Alongside these experiments, we ask whether more stable individual characteristics help explain strategy preferences.</a:t>
            </a:r>
          </a:p>
          <a:p>
            <a:endParaRPr lang="en-US" dirty="0"/>
          </a:p>
          <a:p>
            <a:pPr marL="171450" indent="-171450">
              <a:buFont typeface="Arial" panose="020B0604020202020204" pitchFamily="34" charset="0"/>
              <a:buChar char="•"/>
            </a:pPr>
            <a:r>
              <a:rPr lang="en-US" dirty="0"/>
              <a:t>Participants in each of the four experiments therefore complete the same test battery in a second session. Including our contribution to the joint study with Freiburg, this gives us a planned total of 410 participants.</a:t>
            </a:r>
          </a:p>
          <a:p>
            <a:endParaRPr lang="de-DE" dirty="0"/>
          </a:p>
          <a:p>
            <a:pPr marL="171450" indent="-171450">
              <a:buFont typeface="Arial" panose="020B0604020202020204" pitchFamily="34" charset="0"/>
              <a:buChar char="•"/>
            </a:pPr>
            <a:r>
              <a:rPr dirty="0"/>
              <a:t>The battery covers motivation and multitasking preferences, including Need for Cognition, Trait Persistence, </a:t>
            </a:r>
            <a:r>
              <a:rPr dirty="0" err="1"/>
              <a:t>Polychronicity</a:t>
            </a:r>
            <a:r>
              <a:rPr dirty="0"/>
              <a:t>, and the BIS/BAS scales. </a:t>
            </a:r>
            <a:endParaRPr lang="de-DE" dirty="0"/>
          </a:p>
          <a:p>
            <a:pPr marL="171450" indent="-171450">
              <a:buFont typeface="Arial" panose="020B0604020202020204" pitchFamily="34" charset="0"/>
              <a:buChar char="•"/>
            </a:pPr>
            <a:r>
              <a:rPr lang="en-US" dirty="0"/>
              <a:t>We also assess the Big Five, and use Operation Span and Symmetry Span to measure working memory capacity.</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dirty="0"/>
              <a:t>This allows us to examine whether the proposed motivational and cognitive differences relate to strategy categories and to continuous switch rates. </a:t>
            </a:r>
            <a:endParaRPr lang="de-DE" dirty="0"/>
          </a:p>
          <a:p>
            <a:pPr marL="171450" indent="-171450">
              <a:buFont typeface="Arial" panose="020B0604020202020204" pitchFamily="34" charset="0"/>
              <a:buChar char="•"/>
            </a:pPr>
            <a:r>
              <a:rPr dirty="0"/>
              <a:t>For example, </a:t>
            </a:r>
            <a:r>
              <a:rPr lang="en-US" noProof="0" dirty="0"/>
              <a:t>our</a:t>
            </a:r>
            <a:r>
              <a:rPr dirty="0"/>
              <a:t> proposal predicts higher Need for Cognition and reward sensitivity among people who favor interleaving. </a:t>
            </a:r>
            <a:endParaRPr lang="de-DE" dirty="0"/>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dirty="0"/>
              <a:t>These analyses complement the experimental manipulations by addressing more persistent individual differences.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Finally, the joint experiment with Project 2 in Freiburg asks whether these preferences generalize across paradigms. </a:t>
            </a:r>
            <a:endParaRPr lang="de-DE" dirty="0"/>
          </a:p>
          <a:p>
            <a:endParaRPr lang="de-DE" dirty="0"/>
          </a:p>
          <a:p>
            <a:pPr marL="171450" indent="-171450">
              <a:buFont typeface="Arial" panose="020B0604020202020204" pitchFamily="34" charset="0"/>
              <a:buChar char="•"/>
            </a:pPr>
            <a:r>
              <a:rPr dirty="0"/>
              <a:t>One hundred participants will complete both FCDT and the self-organized task-switching paradigm in a counterbalanced order, using the same simple classification tasks. </a:t>
            </a:r>
            <a:endParaRPr lang="de-DE" dirty="0"/>
          </a:p>
          <a:p>
            <a:pPr marL="171450" indent="-171450">
              <a:buFont typeface="Arial" panose="020B0604020202020204" pitchFamily="34" charset="0"/>
              <a:buChar char="•"/>
            </a:pPr>
            <a:r>
              <a:rPr dirty="0"/>
              <a:t>The latter paradigm introduces waiting times and distinguishes local from global strategies. </a:t>
            </a:r>
            <a:endParaRPr lang="de-DE" dirty="0"/>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dirty="0"/>
              <a:t>We will test whether switch frequencies correlate </a:t>
            </a:r>
            <a:r>
              <a:rPr lang="de-DE" dirty="0"/>
              <a:t>and </a:t>
            </a:r>
            <a:r>
              <a:rPr lang="en-US" noProof="0" dirty="0"/>
              <a:t>the strategies correspond </a:t>
            </a:r>
            <a:r>
              <a:rPr dirty="0"/>
              <a:t>across the two paradigms. </a:t>
            </a:r>
            <a:r>
              <a:rPr lang="en-US" dirty="0"/>
              <a:t>This will show how far the individual differences extend beyond one task setting.</a:t>
            </a:r>
            <a:endParaRPr lang="de-DE" dirty="0"/>
          </a:p>
          <a:p>
            <a:endParaRPr lang="de-DE" dirty="0"/>
          </a:p>
          <a:p>
            <a:r>
              <a:rPr lang="en-US" dirty="0"/>
              <a:t>Together, these studies examine how strategy preferences develop, when they change, and how far they generalize across task settings. Dirk will now introduce the modeling approach that complements this empirical </a:t>
            </a:r>
            <a:r>
              <a:rPr lang="en-US" dirty="0" err="1"/>
              <a:t>programme</a:t>
            </a:r>
            <a:r>
              <a:rPr lang="en-US" dirty="0"/>
              <a:t>.</a:t>
            </a:r>
            <a:endParaRPr lang="de-DE" dirty="0"/>
          </a:p>
          <a:p>
            <a:endParaRPr lang="de-DE" dirty="0"/>
          </a:p>
          <a:p>
            <a:endParaRPr lang="de-DE" dirty="0"/>
          </a:p>
          <a:p>
            <a:r>
              <a:rPr lang="de-DE" dirty="0"/>
              <a:t>[</a:t>
            </a:r>
            <a:r>
              <a:rPr dirty="0"/>
              <a:t>The hypothesis is that FCDT interleaving corresponds more closely to a global strategy, whereas blocking corresponds more closely to a local strategy.</a:t>
            </a:r>
            <a:r>
              <a:rPr lang="de-DE" dirty="0"/>
              <a:t>]</a:t>
            </a:r>
            <a:endParaRPr dirty="0"/>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B1A4A1F-8532-488D-8645-6753A9A98617}" type="slidenum">
              <a:rPr lang="de-DE" smtClean="0"/>
              <a:pPr/>
              <a:t>10</a:t>
            </a:fld>
            <a:endParaRPr lang="de-DE"/>
          </a:p>
        </p:txBody>
      </p:sp>
    </p:spTree>
    <p:extLst>
      <p:ext uri="{BB962C8B-B14F-4D97-AF65-F5344CB8AC3E}">
        <p14:creationId xmlns:p14="http://schemas.microsoft.com/office/powerpoint/2010/main" val="1660337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BIC uses the log-likelihood-scale Schwarz definition in the project report. Participant-level ΔBIC values range from 475.19 to 1374.70.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391889" y="4760398"/>
            <a:ext cx="6052457" cy="4509849"/>
          </a:xfrm>
        </p:spPr>
        <p:txBody>
          <a:bodyPr/>
          <a:lstStyle/>
          <a:p>
            <a:pPr algn="just"/>
            <a:r>
              <a:rPr lang="en-US" sz="900" kern="1200" dirty="0">
                <a:solidFill>
                  <a:schemeClr val="tx1"/>
                </a:solidFill>
                <a:effectLst/>
                <a:latin typeface="+mn-lt"/>
                <a:ea typeface="+mn-ea"/>
                <a:cs typeface="+mn-cs"/>
              </a:rPr>
              <a:t>In WP2.1 </a:t>
            </a:r>
          </a:p>
          <a:p>
            <a:pPr marL="171450" indent="-171450" algn="just">
              <a:buFont typeface="Arial" panose="020B0604020202020204" pitchFamily="34" charset="0"/>
              <a:buChar char="•"/>
            </a:pPr>
            <a:r>
              <a:rPr lang="en-US" sz="900" dirty="0"/>
              <a:t>W</a:t>
            </a:r>
            <a:r>
              <a:rPr lang="en-US" sz="900" kern="1200" dirty="0">
                <a:solidFill>
                  <a:schemeClr val="tx1"/>
                </a:solidFill>
                <a:effectLst/>
                <a:latin typeface="+mn-lt"/>
                <a:ea typeface="+mn-ea"/>
                <a:cs typeface="+mn-cs"/>
              </a:rPr>
              <a:t>e want to further develop this theoretical approach with a particular focus on the online scenario</a:t>
            </a:r>
            <a:r>
              <a:rPr lang="en-US" sz="900" dirty="0"/>
              <a:t>.</a:t>
            </a:r>
          </a:p>
          <a:p>
            <a:pPr marL="173353" indent="-173353" algn="just">
              <a:buFont typeface="Arial" panose="020B0604020202020204" pitchFamily="34" charset="0"/>
              <a:buChar char="•"/>
            </a:pPr>
            <a:r>
              <a:rPr lang="en-US" sz="900" kern="1200" dirty="0">
                <a:solidFill>
                  <a:schemeClr val="tx1"/>
                </a:solidFill>
                <a:effectLst/>
                <a:latin typeface="+mn-lt"/>
                <a:ea typeface="+mn-ea"/>
                <a:cs typeface="+mn-cs"/>
              </a:rPr>
              <a:t>We here also include the experimentally </a:t>
            </a:r>
            <a:r>
              <a:rPr lang="en-US" sz="900" dirty="0"/>
              <a:t>addressed </a:t>
            </a:r>
            <a:r>
              <a:rPr lang="en-US" sz="900" kern="1200" dirty="0">
                <a:solidFill>
                  <a:schemeClr val="tx1"/>
                </a:solidFill>
                <a:effectLst/>
                <a:latin typeface="+mn-lt"/>
                <a:ea typeface="+mn-ea"/>
                <a:cs typeface="+mn-cs"/>
              </a:rPr>
              <a:t>error- and reward sensitivities, as we also exemplified in the proposal  </a:t>
            </a:r>
          </a:p>
          <a:p>
            <a:pPr marL="173353" indent="-173353" algn="just">
              <a:buFont typeface="Arial" panose="020B0604020202020204" pitchFamily="34" charset="0"/>
              <a:buChar char="•"/>
            </a:pPr>
            <a:r>
              <a:rPr lang="en-US" sz="900" kern="1200" dirty="0">
                <a:solidFill>
                  <a:schemeClr val="tx1"/>
                </a:solidFill>
                <a:effectLst/>
                <a:latin typeface="+mn-lt"/>
                <a:ea typeface="+mn-ea"/>
                <a:cs typeface="+mn-cs"/>
              </a:rPr>
              <a:t>We will generalize the framework to continuous time, account for hierarchical decision processes in collaboration with Cologne and address the potential benefits of concurrent stimulus processing in collaboration with Freiburg. </a:t>
            </a:r>
          </a:p>
          <a:p>
            <a:pPr algn="just"/>
            <a:endParaRPr lang="de-DE" sz="900" kern="1200" dirty="0">
              <a:solidFill>
                <a:schemeClr val="tx1"/>
              </a:solidFill>
              <a:effectLst/>
              <a:latin typeface="+mn-lt"/>
              <a:ea typeface="+mn-ea"/>
              <a:cs typeface="+mn-cs"/>
            </a:endParaRPr>
          </a:p>
          <a:p>
            <a:pPr algn="just"/>
            <a:r>
              <a:rPr lang="en-US" sz="900" kern="1200" dirty="0">
                <a:solidFill>
                  <a:schemeClr val="tx1"/>
                </a:solidFill>
                <a:effectLst/>
                <a:latin typeface="+mn-lt"/>
                <a:ea typeface="+mn-ea"/>
                <a:cs typeface="+mn-cs"/>
              </a:rPr>
              <a:t>In WP2.2  </a:t>
            </a:r>
          </a:p>
          <a:p>
            <a:pPr marL="171450" indent="-171450" algn="just">
              <a:buFont typeface="Arial" panose="020B0604020202020204" pitchFamily="34" charset="0"/>
              <a:buChar char="•"/>
            </a:pPr>
            <a:r>
              <a:rPr lang="en-US" sz="900" kern="1200" dirty="0">
                <a:solidFill>
                  <a:schemeClr val="tx1"/>
                </a:solidFill>
                <a:effectLst/>
                <a:latin typeface="+mn-lt"/>
                <a:ea typeface="+mn-ea"/>
                <a:cs typeface="+mn-cs"/>
              </a:rPr>
              <a:t>We will embed the deterministic models developed in WP2.1 in an agent-based behavioral modeling framework that we have used extensively in recent years</a:t>
            </a:r>
            <a:r>
              <a:rPr lang="en-US" sz="900" dirty="0"/>
              <a:t>.</a:t>
            </a:r>
          </a:p>
          <a:p>
            <a:pPr marL="0" indent="0" algn="just">
              <a:buFont typeface="Arial" panose="020B0604020202020204" pitchFamily="34" charset="0"/>
              <a:buNone/>
            </a:pPr>
            <a:endParaRPr lang="de-DE" sz="900" kern="1200" dirty="0">
              <a:solidFill>
                <a:schemeClr val="tx1"/>
              </a:solidFill>
              <a:effectLst/>
              <a:latin typeface="+mn-lt"/>
              <a:ea typeface="+mn-ea"/>
              <a:cs typeface="+mn-cs"/>
            </a:endParaRPr>
          </a:p>
          <a:p>
            <a:pPr algn="just"/>
            <a:r>
              <a:rPr lang="en-US" sz="900" kern="1200" dirty="0">
                <a:solidFill>
                  <a:schemeClr val="tx1"/>
                </a:solidFill>
                <a:effectLst/>
                <a:latin typeface="+mn-lt"/>
                <a:ea typeface="+mn-ea"/>
                <a:cs typeface="+mn-cs"/>
              </a:rPr>
              <a:t>Finally, in WP2.3 </a:t>
            </a:r>
          </a:p>
          <a:p>
            <a:pPr marL="171450" indent="-171450" algn="just">
              <a:buFont typeface="Arial" panose="020B0604020202020204" pitchFamily="34" charset="0"/>
              <a:buChar char="•"/>
            </a:pPr>
            <a:r>
              <a:rPr lang="en-US" sz="900" dirty="0"/>
              <a:t>W</a:t>
            </a:r>
            <a:r>
              <a:rPr lang="en-US" sz="900" kern="1200" dirty="0">
                <a:solidFill>
                  <a:schemeClr val="tx1"/>
                </a:solidFill>
                <a:effectLst/>
                <a:latin typeface="+mn-lt"/>
                <a:ea typeface="+mn-ea"/>
                <a:cs typeface="+mn-cs"/>
              </a:rPr>
              <a:t>e will integrate the individual EEG error- and reward-sensitivity measurements in the estimation of the parameterized agent-based models.  </a:t>
            </a:r>
          </a:p>
          <a:p>
            <a:pPr marL="171450" indent="-171450" algn="just">
              <a:buFont typeface="Arial" panose="020B0604020202020204" pitchFamily="34" charset="0"/>
              <a:buChar char="•"/>
            </a:pPr>
            <a:r>
              <a:rPr lang="en-US" sz="900" kern="1200" dirty="0">
                <a:solidFill>
                  <a:schemeClr val="tx1"/>
                </a:solidFill>
                <a:effectLst/>
                <a:latin typeface="+mn-lt"/>
                <a:ea typeface="+mn-ea"/>
                <a:cs typeface="+mn-cs"/>
              </a:rPr>
              <a:t>For this, we will augment the agents with neural mass models, where the error and reward sensitivities affect the connectivity between neural masses to generate differential ERPs</a:t>
            </a:r>
          </a:p>
          <a:p>
            <a:pPr marL="173353" indent="-173353" algn="just">
              <a:buFont typeface="Arial" panose="020B0604020202020204" pitchFamily="34" charset="0"/>
              <a:buChar char="•"/>
            </a:pPr>
            <a:r>
              <a:rPr lang="en-US" sz="900" dirty="0"/>
              <a:t>T</a:t>
            </a:r>
            <a:r>
              <a:rPr lang="en-US" sz="900" kern="1200" dirty="0">
                <a:solidFill>
                  <a:schemeClr val="tx1"/>
                </a:solidFill>
                <a:effectLst/>
                <a:latin typeface="+mn-lt"/>
                <a:ea typeface="+mn-ea"/>
                <a:cs typeface="+mn-cs"/>
              </a:rPr>
              <a:t>hese  ERP </a:t>
            </a:r>
            <a:r>
              <a:rPr lang="en-US" sz="900" dirty="0"/>
              <a:t>predictions </a:t>
            </a:r>
            <a:r>
              <a:rPr lang="en-US" sz="900" kern="1200" dirty="0">
                <a:solidFill>
                  <a:schemeClr val="tx1"/>
                </a:solidFill>
                <a:effectLst/>
                <a:latin typeface="+mn-lt"/>
                <a:ea typeface="+mn-ea"/>
                <a:cs typeface="+mn-cs"/>
              </a:rPr>
              <a:t>can then, together with the behavioral data, be used to infer agent parameters - in a Bayesian sensor fusion sense. </a:t>
            </a:r>
            <a:endParaRPr lang="de-DE" sz="900" kern="1200" dirty="0">
              <a:solidFill>
                <a:schemeClr val="tx1"/>
              </a:solidFill>
              <a:effectLst/>
              <a:latin typeface="+mn-lt"/>
              <a:ea typeface="+mn-ea"/>
              <a:cs typeface="+mn-cs"/>
            </a:endParaRPr>
          </a:p>
          <a:p>
            <a:pPr marL="173353" indent="-173353" algn="just">
              <a:buFont typeface="Arial" panose="020B0604020202020204" pitchFamily="34" charset="0"/>
              <a:buChar char="•"/>
            </a:pPr>
            <a:endParaRPr lang="de-DE" sz="900" kern="1200" dirty="0">
              <a:solidFill>
                <a:schemeClr val="tx1"/>
              </a:solidFill>
              <a:effectLst/>
              <a:latin typeface="+mn-lt"/>
              <a:ea typeface="+mn-ea"/>
              <a:cs typeface="+mn-cs"/>
            </a:endParaRPr>
          </a:p>
          <a:p>
            <a:endParaRPr lang="de-DE" dirty="0"/>
          </a:p>
        </p:txBody>
      </p:sp>
      <p:sp>
        <p:nvSpPr>
          <p:cNvPr id="4" name="Foliennummernplatzhalter 3"/>
          <p:cNvSpPr>
            <a:spLocks noGrp="1"/>
          </p:cNvSpPr>
          <p:nvPr>
            <p:ph type="sldNum" sz="quarter" idx="5"/>
          </p:nvPr>
        </p:nvSpPr>
        <p:spPr/>
        <p:txBody>
          <a:bodyPr/>
          <a:lstStyle/>
          <a:p>
            <a:fld id="{1B1A4A1F-8532-488D-8645-6753A9A98617}" type="slidenum">
              <a:rPr lang="de-DE" smtClean="0"/>
              <a:pPr/>
              <a:t>20</a:t>
            </a:fld>
            <a:endParaRPr lang="de-DE"/>
          </a:p>
        </p:txBody>
      </p:sp>
    </p:spTree>
    <p:extLst>
      <p:ext uri="{BB962C8B-B14F-4D97-AF65-F5344CB8AC3E}">
        <p14:creationId xmlns:p14="http://schemas.microsoft.com/office/powerpoint/2010/main" val="164492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800" kern="1200" dirty="0">
                <a:solidFill>
                  <a:schemeClr val="tx1"/>
                </a:solidFill>
                <a:effectLst/>
                <a:ea typeface="+mn-ea"/>
                <a:cs typeface="+mn-cs"/>
              </a:rPr>
              <a:t>In summary, in our project</a:t>
            </a:r>
          </a:p>
          <a:p>
            <a:pPr marL="171450" indent="-171450">
              <a:buFont typeface="Arial" panose="020B0604020202020204" pitchFamily="34" charset="0"/>
              <a:buChar char="•"/>
            </a:pPr>
            <a:r>
              <a:rPr lang="en-US" sz="800" kern="1200" dirty="0">
                <a:solidFill>
                  <a:schemeClr val="tx1"/>
                </a:solidFill>
                <a:effectLst/>
                <a:ea typeface="+mn-ea"/>
                <a:cs typeface="+mn-cs"/>
              </a:rPr>
              <a:t>We want to understand the computational mechanisms of FCDT response strategies and</a:t>
            </a:r>
          </a:p>
          <a:p>
            <a:pPr marL="171450" indent="-171450">
              <a:buFont typeface="Arial" panose="020B0604020202020204" pitchFamily="34" charset="0"/>
              <a:buChar char="•"/>
            </a:pPr>
            <a:r>
              <a:rPr lang="en-US" sz="800" dirty="0"/>
              <a:t>We want to </a:t>
            </a:r>
            <a:r>
              <a:rPr lang="en-US" sz="800" kern="1200" dirty="0">
                <a:solidFill>
                  <a:schemeClr val="tx1"/>
                </a:solidFill>
                <a:effectLst/>
                <a:ea typeface="+mn-ea"/>
                <a:cs typeface="+mn-cs"/>
              </a:rPr>
              <a:t>study the individual determinants of FCDT response strategy formation both experimentally and theoretically</a:t>
            </a:r>
            <a:endParaRPr lang="de-DE" sz="800" kern="1200" dirty="0">
              <a:solidFill>
                <a:schemeClr val="tx1"/>
              </a:solidFill>
              <a:effectLst/>
              <a:ea typeface="+mn-ea"/>
              <a:cs typeface="+mn-cs"/>
            </a:endParaRPr>
          </a:p>
          <a:p>
            <a:pPr marL="173353" indent="-173353">
              <a:buFont typeface="Arial" panose="020B0604020202020204" pitchFamily="34" charset="0"/>
              <a:buChar char="•"/>
            </a:pPr>
            <a:endParaRPr lang="en-US" sz="800" kern="1200" dirty="0">
              <a:solidFill>
                <a:schemeClr val="tx1"/>
              </a:solidFill>
              <a:effectLst/>
              <a:ea typeface="+mn-ea"/>
              <a:cs typeface="+mn-cs"/>
            </a:endParaRPr>
          </a:p>
          <a:p>
            <a:r>
              <a:rPr lang="en-US" sz="800" kern="1200" dirty="0">
                <a:solidFill>
                  <a:schemeClr val="tx1"/>
                </a:solidFill>
                <a:effectLst/>
                <a:ea typeface="+mn-ea"/>
                <a:cs typeface="+mn-cs"/>
              </a:rPr>
              <a:t>Our working hypotheses are </a:t>
            </a:r>
          </a:p>
          <a:p>
            <a:pPr marL="171450" indent="-171450">
              <a:buFont typeface="Arial" panose="020B0604020202020204" pitchFamily="34" charset="0"/>
              <a:buChar char="•"/>
            </a:pPr>
            <a:r>
              <a:rPr lang="en-US" sz="800" kern="1200" dirty="0">
                <a:solidFill>
                  <a:schemeClr val="tx1"/>
                </a:solidFill>
                <a:effectLst/>
                <a:ea typeface="+mn-ea"/>
                <a:cs typeface="+mn-cs"/>
              </a:rPr>
              <a:t>That task switching behavior emerges as optimal behavior under subjective cost functions and</a:t>
            </a:r>
          </a:p>
          <a:p>
            <a:pPr marL="171450" indent="-171450">
              <a:buFont typeface="Arial" panose="020B0604020202020204" pitchFamily="34" charset="0"/>
              <a:buChar char="•"/>
            </a:pPr>
            <a:r>
              <a:rPr lang="en-US" sz="800" kern="1200" dirty="0">
                <a:solidFill>
                  <a:schemeClr val="tx1"/>
                </a:solidFill>
                <a:effectLst/>
                <a:ea typeface="+mn-ea"/>
                <a:cs typeface="+mn-cs"/>
              </a:rPr>
              <a:t>That individual error and reward sensitivity act as determinants of task-switching strategy formation</a:t>
            </a:r>
          </a:p>
          <a:p>
            <a:pPr marL="171450" indent="-171450">
              <a:buFont typeface="Arial" panose="020B0604020202020204" pitchFamily="34" charset="0"/>
              <a:buChar char="•"/>
            </a:pPr>
            <a:endParaRPr lang="en-US" sz="800" kern="1200" dirty="0">
              <a:solidFill>
                <a:schemeClr val="tx1"/>
              </a:solidFill>
              <a:effectLst/>
              <a:ea typeface="+mn-ea"/>
              <a:cs typeface="+mn-cs"/>
            </a:endParaRPr>
          </a:p>
          <a:p>
            <a:pPr marL="0" indent="0">
              <a:buFont typeface="Arial" panose="020B0604020202020204" pitchFamily="34" charset="0"/>
              <a:buNone/>
            </a:pPr>
            <a:r>
              <a:rPr lang="en-US" sz="800" kern="1200" dirty="0">
                <a:solidFill>
                  <a:schemeClr val="tx1"/>
                </a:solidFill>
                <a:effectLst/>
                <a:ea typeface="+mn-ea"/>
                <a:cs typeface="+mn-cs"/>
              </a:rPr>
              <a:t>Our main contributions to the research unit are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dirty="0">
                <a:cs typeface="Arial" panose="020B0604020202020204" pitchFamily="34" charset="0"/>
              </a:rPr>
              <a:t>On the experimental </a:t>
            </a:r>
            <a:r>
              <a:rPr lang="de-DE" sz="800" dirty="0" err="1">
                <a:cs typeface="Arial" panose="020B0604020202020204" pitchFamily="34" charset="0"/>
              </a:rPr>
              <a:t>side</a:t>
            </a:r>
            <a:r>
              <a:rPr lang="de-DE" sz="800" dirty="0">
                <a:cs typeface="Arial" panose="020B0604020202020204" pitchFamily="34" charset="0"/>
              </a:rPr>
              <a:t>, the FCDT </a:t>
            </a:r>
            <a:r>
              <a:rPr lang="de-DE" sz="800" dirty="0" err="1">
                <a:cs typeface="Arial" panose="020B0604020202020204" pitchFamily="34" charset="0"/>
              </a:rPr>
              <a:t>paradigm</a:t>
            </a:r>
            <a:r>
              <a:rPr lang="de-DE" sz="800" dirty="0">
                <a:cs typeface="Arial" panose="020B0604020202020204" pitchFamily="34" charset="0"/>
              </a:rPr>
              <a:t> </a:t>
            </a:r>
            <a:r>
              <a:rPr lang="de-DE" sz="800" dirty="0" err="1">
                <a:cs typeface="Arial" panose="020B0604020202020204" pitchFamily="34" charset="0"/>
              </a:rPr>
              <a:t>as</a:t>
            </a:r>
            <a:r>
              <a:rPr lang="de-DE" sz="800" dirty="0">
                <a:cs typeface="Arial" panose="020B0604020202020204" pitchFamily="34" charset="0"/>
              </a:rPr>
              <a:t> an experimental </a:t>
            </a:r>
            <a:r>
              <a:rPr lang="de-DE" sz="800" dirty="0" err="1">
                <a:cs typeface="Arial" panose="020B0604020202020204" pitchFamily="34" charset="0"/>
              </a:rPr>
              <a:t>testbed</a:t>
            </a:r>
            <a:r>
              <a:rPr lang="de-DE" sz="800" dirty="0">
                <a:cs typeface="Arial" panose="020B0604020202020204" pitchFamily="34" charset="0"/>
              </a:rPr>
              <a:t> </a:t>
            </a:r>
            <a:r>
              <a:rPr lang="de-DE" sz="800" dirty="0" err="1">
                <a:cs typeface="Arial" panose="020B0604020202020204" pitchFamily="34" charset="0"/>
              </a:rPr>
              <a:t>for</a:t>
            </a:r>
            <a:r>
              <a:rPr lang="de-DE" sz="800" dirty="0">
                <a:cs typeface="Arial" panose="020B0604020202020204" pitchFamily="34" charset="0"/>
              </a:rPr>
              <a:t> </a:t>
            </a:r>
            <a:r>
              <a:rPr lang="de-DE" sz="800" dirty="0" err="1">
                <a:cs typeface="Arial" panose="020B0604020202020204" pitchFamily="34" charset="0"/>
              </a:rPr>
              <a:t>studying</a:t>
            </a:r>
            <a:r>
              <a:rPr lang="de-DE" sz="800" dirty="0">
                <a:cs typeface="Arial" panose="020B0604020202020204" pitchFamily="34" charset="0"/>
              </a:rPr>
              <a:t> </a:t>
            </a:r>
            <a:r>
              <a:rPr lang="de-DE" sz="800" dirty="0" err="1">
                <a:cs typeface="Arial" panose="020B0604020202020204" pitchFamily="34" charset="0"/>
              </a:rPr>
              <a:t>task</a:t>
            </a:r>
            <a:r>
              <a:rPr lang="de-DE" sz="800" dirty="0">
                <a:cs typeface="Arial" panose="020B0604020202020204" pitchFamily="34" charset="0"/>
              </a:rPr>
              <a:t> </a:t>
            </a:r>
            <a:r>
              <a:rPr lang="de-DE" sz="800" dirty="0" err="1">
                <a:cs typeface="Arial" panose="020B0604020202020204" pitchFamily="34" charset="0"/>
              </a:rPr>
              <a:t>switching</a:t>
            </a:r>
            <a:r>
              <a:rPr lang="de-DE" sz="800" dirty="0">
                <a:cs typeface="Arial" panose="020B0604020202020204" pitchFamily="34" charset="0"/>
              </a:rPr>
              <a:t> </a:t>
            </a:r>
            <a:r>
              <a:rPr lang="de-DE" sz="800" dirty="0" err="1">
                <a:cs typeface="Arial" panose="020B0604020202020204" pitchFamily="34" charset="0"/>
              </a:rPr>
              <a:t>behavior</a:t>
            </a:r>
            <a:endParaRPr lang="de-DE" sz="800" dirty="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dirty="0">
                <a:cs typeface="Arial" panose="020B0604020202020204" pitchFamily="34" charset="0"/>
              </a:rPr>
              <a:t>On the </a:t>
            </a:r>
            <a:r>
              <a:rPr lang="de-DE" sz="800" dirty="0" err="1">
                <a:cs typeface="Arial" panose="020B0604020202020204" pitchFamily="34" charset="0"/>
              </a:rPr>
              <a:t>theoretical</a:t>
            </a:r>
            <a:r>
              <a:rPr lang="de-DE" sz="800" dirty="0">
                <a:cs typeface="Arial" panose="020B0604020202020204" pitchFamily="34" charset="0"/>
              </a:rPr>
              <a:t> </a:t>
            </a:r>
            <a:r>
              <a:rPr lang="de-DE" sz="800" dirty="0" err="1">
                <a:cs typeface="Arial" panose="020B0604020202020204" pitchFamily="34" charset="0"/>
              </a:rPr>
              <a:t>side</a:t>
            </a:r>
            <a:r>
              <a:rPr lang="de-DE" sz="800" dirty="0">
                <a:cs typeface="Arial" panose="020B0604020202020204" pitchFamily="34" charset="0"/>
              </a:rPr>
              <a:t>, a rational </a:t>
            </a:r>
            <a:r>
              <a:rPr lang="de-DE" sz="800" dirty="0" err="1">
                <a:cs typeface="Arial" panose="020B0604020202020204" pitchFamily="34" charset="0"/>
              </a:rPr>
              <a:t>analysis</a:t>
            </a:r>
            <a:r>
              <a:rPr lang="de-DE" sz="800" dirty="0">
                <a:cs typeface="Arial" panose="020B0604020202020204" pitchFamily="34" charset="0"/>
              </a:rPr>
              <a:t> </a:t>
            </a:r>
            <a:r>
              <a:rPr lang="de-DE" sz="800" dirty="0" err="1">
                <a:cs typeface="Arial" panose="020B0604020202020204" pitchFamily="34" charset="0"/>
              </a:rPr>
              <a:t>perspective</a:t>
            </a:r>
            <a:r>
              <a:rPr lang="de-DE" sz="800" dirty="0">
                <a:cs typeface="Arial" panose="020B0604020202020204" pitchFamily="34" charset="0"/>
              </a:rPr>
              <a:t> 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dirty="0" err="1">
                <a:cs typeface="Arial" panose="020B0604020202020204" pitchFamily="34" charset="0"/>
              </a:rPr>
              <a:t>For</a:t>
            </a:r>
            <a:r>
              <a:rPr lang="de-DE" sz="800" dirty="0">
                <a:cs typeface="Arial" panose="020B0604020202020204" pitchFamily="34" charset="0"/>
              </a:rPr>
              <a:t> </a:t>
            </a:r>
            <a:r>
              <a:rPr lang="de-DE" sz="800" dirty="0" err="1">
                <a:cs typeface="Arial" panose="020B0604020202020204" pitchFamily="34" charset="0"/>
              </a:rPr>
              <a:t>integrating</a:t>
            </a:r>
            <a:r>
              <a:rPr lang="de-DE" sz="800" dirty="0">
                <a:cs typeface="Arial" panose="020B0604020202020204" pitchFamily="34" charset="0"/>
              </a:rPr>
              <a:t> </a:t>
            </a:r>
            <a:r>
              <a:rPr lang="de-DE" sz="800" dirty="0" err="1">
                <a:cs typeface="Arial" panose="020B0604020202020204" pitchFamily="34" charset="0"/>
              </a:rPr>
              <a:t>theory</a:t>
            </a:r>
            <a:r>
              <a:rPr lang="de-DE" sz="800" dirty="0">
                <a:cs typeface="Arial" panose="020B0604020202020204" pitchFamily="34" charset="0"/>
              </a:rPr>
              <a:t> and </a:t>
            </a:r>
            <a:r>
              <a:rPr lang="de-DE" sz="800" dirty="0" err="1">
                <a:cs typeface="Arial" panose="020B0604020202020204" pitchFamily="34" charset="0"/>
              </a:rPr>
              <a:t>experiment</a:t>
            </a:r>
            <a:r>
              <a:rPr lang="de-DE" sz="800" dirty="0">
                <a:cs typeface="Arial" panose="020B0604020202020204" pitchFamily="34" charset="0"/>
              </a:rPr>
              <a:t>, an </a:t>
            </a:r>
            <a:r>
              <a:rPr lang="de-DE" sz="800" dirty="0" err="1">
                <a:cs typeface="Arial" panose="020B0604020202020204" pitchFamily="34" charset="0"/>
              </a:rPr>
              <a:t>agent-based</a:t>
            </a:r>
            <a:r>
              <a:rPr lang="de-DE" sz="800" dirty="0">
                <a:cs typeface="Arial" panose="020B0604020202020204" pitchFamily="34" charset="0"/>
              </a:rPr>
              <a:t> </a:t>
            </a:r>
            <a:r>
              <a:rPr lang="de-DE" sz="800" dirty="0" err="1">
                <a:cs typeface="Arial" panose="020B0604020202020204" pitchFamily="34" charset="0"/>
              </a:rPr>
              <a:t>neurobehavioral</a:t>
            </a:r>
            <a:r>
              <a:rPr lang="de-DE" sz="800" dirty="0">
                <a:cs typeface="Arial" panose="020B0604020202020204" pitchFamily="34" charset="0"/>
              </a:rPr>
              <a:t> </a:t>
            </a:r>
            <a:r>
              <a:rPr lang="de-DE" sz="800" dirty="0" err="1">
                <a:cs typeface="Arial" panose="020B0604020202020204" pitchFamily="34" charset="0"/>
              </a:rPr>
              <a:t>modeling</a:t>
            </a:r>
            <a:r>
              <a:rPr lang="de-DE" sz="800" dirty="0">
                <a:cs typeface="Arial" panose="020B0604020202020204" pitchFamily="34" charset="0"/>
              </a:rPr>
              <a:t> </a:t>
            </a:r>
            <a:r>
              <a:rPr lang="de-DE" sz="800" dirty="0" err="1">
                <a:cs typeface="Arial" panose="020B0604020202020204" pitchFamily="34" charset="0"/>
              </a:rPr>
              <a:t>framework</a:t>
            </a:r>
            <a:r>
              <a:rPr lang="de-DE" sz="800" dirty="0">
                <a:cs typeface="Arial" panose="020B0604020202020204" pitchFamily="34" charset="0"/>
              </a:rPr>
              <a:t>.</a:t>
            </a:r>
          </a:p>
          <a:p>
            <a:pPr marL="0" indent="0">
              <a:buFont typeface="Arial" panose="020B0604020202020204" pitchFamily="34" charset="0"/>
              <a:buNone/>
            </a:pPr>
            <a:endParaRPr lang="de-DE" dirty="0"/>
          </a:p>
        </p:txBody>
      </p:sp>
      <p:sp>
        <p:nvSpPr>
          <p:cNvPr id="4" name="Foliennummernplatzhalter 3"/>
          <p:cNvSpPr>
            <a:spLocks noGrp="1"/>
          </p:cNvSpPr>
          <p:nvPr>
            <p:ph type="sldNum" sz="quarter" idx="5"/>
          </p:nvPr>
        </p:nvSpPr>
        <p:spPr/>
        <p:txBody>
          <a:bodyPr/>
          <a:lstStyle/>
          <a:p>
            <a:fld id="{1B1A4A1F-8532-488D-8645-6753A9A98617}" type="slidenum">
              <a:rPr lang="de-DE" smtClean="0"/>
              <a:pPr/>
              <a:t>21</a:t>
            </a:fld>
            <a:endParaRPr lang="de-DE"/>
          </a:p>
        </p:txBody>
      </p:sp>
    </p:spTree>
    <p:extLst>
      <p:ext uri="{BB962C8B-B14F-4D97-AF65-F5344CB8AC3E}">
        <p14:creationId xmlns:p14="http://schemas.microsoft.com/office/powerpoint/2010/main" val="27809025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55737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defTabSz="924550">
              <a:defRPr/>
            </a:pPr>
            <a:r>
              <a:rPr lang="en-US" sz="1800" u="sng" dirty="0">
                <a:latin typeface="Arial" panose="020B0604020202020204" pitchFamily="34" charset="0"/>
                <a:ea typeface="Times New Roman" panose="02020603050405020304" pitchFamily="18" charset="0"/>
                <a:cs typeface="Times New Roman" panose="02020603050405020304" pitchFamily="18" charset="0"/>
              </a:rPr>
              <a:t>Hypotheses:</a:t>
            </a:r>
            <a:r>
              <a:rPr lang="en-US" sz="1800" dirty="0">
                <a:latin typeface="Arial" panose="020B0604020202020204" pitchFamily="34" charset="0"/>
                <a:ea typeface="Times New Roman" panose="02020603050405020304" pitchFamily="18" charset="0"/>
                <a:cs typeface="Times New Roman" panose="02020603050405020304" pitchFamily="18" charset="0"/>
              </a:rPr>
              <a:t> We expect that switchers and response groupers, compared to blockers, will show a greater reduction in RTs and ERs, along with a higher amplitude in the ERN, indicating stronger learning ability and error sensitivity, which supports such more demanding strategies characterized by higher switch frequencies. Differences between switchers and response groupers will be explored in this and the following experiments. </a:t>
            </a:r>
          </a:p>
          <a:p>
            <a:pPr defTabSz="924550">
              <a:defRPr/>
            </a:pPr>
            <a:endParaRPr lang="en-US" sz="1800" dirty="0"/>
          </a:p>
          <a:p>
            <a:r>
              <a:rPr lang="en-US" sz="1800" dirty="0">
                <a:latin typeface="Arial" panose="020B0604020202020204" pitchFamily="34" charset="0"/>
                <a:ea typeface="Times New Roman" panose="02020603050405020304" pitchFamily="18" charset="0"/>
                <a:cs typeface="Times New Roman" panose="02020603050405020304" pitchFamily="18" charset="0"/>
              </a:rPr>
              <a:t>Q: How does an individual’s ability to reliably and efficiently acquire the FCDT stimulus-response mappings (i.e., learning ability and error sensitivity) determine the selection of response strategies + focus on error processing and sensitivity, examining EEG markers such as ERN and Pe (error-related positivity)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Sample:</a:t>
            </a:r>
            <a:r>
              <a:rPr lang="en-US" sz="1800" dirty="0">
                <a:latin typeface="Arial" panose="020B0604020202020204" pitchFamily="34" charset="0"/>
                <a:ea typeface="Times New Roman" panose="02020603050405020304" pitchFamily="18" charset="0"/>
                <a:cs typeface="Times New Roman" panose="02020603050405020304" pitchFamily="18" charset="0"/>
              </a:rPr>
              <a:t> N=90 participants.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Design and procedure:</a:t>
            </a:r>
            <a:r>
              <a:rPr lang="en-US" sz="1800" dirty="0">
                <a:latin typeface="Arial" panose="020B0604020202020204" pitchFamily="34" charset="0"/>
                <a:ea typeface="Times New Roman" panose="02020603050405020304" pitchFamily="18" charset="0"/>
                <a:cs typeface="Times New Roman" panose="02020603050405020304" pitchFamily="18" charset="0"/>
              </a:rPr>
              <a:t> extended FCDT paradigm (two additional runs to allow more time for task acquisition and training of efficient task coordination) + Flanker Task =&gt; participants' EEG will be recorded using 64 scalp electrodes at a 500 Hz sampling rate.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Planned analyses:</a:t>
            </a:r>
            <a:r>
              <a:rPr lang="en-US" sz="1800" dirty="0">
                <a:latin typeface="Arial" panose="020B0604020202020204" pitchFamily="34" charset="0"/>
                <a:ea typeface="Times New Roman" panose="02020603050405020304" pitchFamily="18" charset="0"/>
                <a:cs typeface="Times New Roman" panose="02020603050405020304" pitchFamily="18" charset="0"/>
              </a:rPr>
              <a:t> We will compare response patterns in the FCDT paradigm between the three response strategy groups, focusing on reductions in reaction times (RTs) and error rates (ERs) to assess task-related learning abilities. </a:t>
            </a:r>
          </a:p>
          <a:p>
            <a:r>
              <a:rPr lang="en-US" sz="1800" dirty="0">
                <a:latin typeface="Arial" panose="020B0604020202020204" pitchFamily="34" charset="0"/>
                <a:ea typeface="Times New Roman" panose="02020603050405020304" pitchFamily="18" charset="0"/>
                <a:cs typeface="Times New Roman" panose="02020603050405020304" pitchFamily="18" charset="0"/>
              </a:rPr>
              <a:t>For EEG analysis: we will compare the amplitude of the ERN and Pe between groups using EEGLAB for second-level statistics (e.g., Fischer et al., 2016). Additionally, EEG data from the FCDT will be analyzed for correlates of cognitive effort, such as midfrontal theta activity (e.g., Zhu et al., 2021).</a:t>
            </a:r>
            <a:r>
              <a:rPr lang="en-US" sz="1800" b="1" dirty="0">
                <a:latin typeface="Arial" panose="020B0604020202020204" pitchFamily="34" charset="0"/>
                <a:ea typeface="Times New Roman" panose="02020603050405020304" pitchFamily="18" charset="0"/>
                <a:cs typeface="Times New Roman" panose="02020603050405020304" pitchFamily="18" charset="0"/>
              </a:rPr>
              <a:t> </a:t>
            </a:r>
            <a:r>
              <a:rPr lang="en-US" sz="1800" dirty="0">
                <a:latin typeface="Arial" panose="020B0604020202020204" pitchFamily="34" charset="0"/>
                <a:ea typeface="Times New Roman" panose="02020603050405020304" pitchFamily="18" charset="0"/>
                <a:cs typeface="Times New Roman" panose="02020603050405020304" pitchFamily="18" charset="0"/>
              </a:rPr>
              <a:t>As the tasks are mapped onto the left and right hands, pre-response beta power lateralization can serve as a correlate of a decision variable representing task selection (e.g., Rogge et al., 2022).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03540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Hypotheses:</a:t>
            </a:r>
            <a:r>
              <a:rPr lang="en-US" dirty="0"/>
              <a:t> Will depend on Experiment 1a but we assume an interaction effect between task difficulty and response strategies on task choice. [probably, if </a:t>
            </a:r>
            <a:r>
              <a:rPr lang="en-US" dirty="0" err="1"/>
              <a:t>interleaver</a:t>
            </a:r>
            <a:r>
              <a:rPr lang="en-US" dirty="0"/>
              <a:t> possess a higher learning 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Q: A follow-up experiment will address task difficulty, investigating how varying levels of difficulty in stimulus-response mappings influence error sensitivity, response strategies, and subsequent task choices. Specifically, we will examine whether increased task difficulty amplifies EEG markers of error processing (ERN, Pe) and how individual differences in learning ability moderate these effects. </a:t>
            </a:r>
          </a:p>
          <a:p>
            <a:r>
              <a:rPr lang="en-US" u="sng" dirty="0"/>
              <a:t>Sample: </a:t>
            </a:r>
            <a:r>
              <a:rPr lang="en-US" dirty="0"/>
              <a:t>N=90 participants. </a:t>
            </a:r>
          </a:p>
          <a:p>
            <a:r>
              <a:rPr lang="en-US" u="sng" dirty="0"/>
              <a:t>Design, procedure and planned analyses: </a:t>
            </a:r>
            <a:r>
              <a:rPr lang="en-US" dirty="0"/>
              <a:t>Following the structure of Experiment 1a, with the key difference that task difficulty will be systematically manipulated using classification tasks of letters (i.e., minimal rotation (easy) vs. strong rotation (hard) of letters) and colors (i.e., clear majority (easy) vs. balanced (hard) number of red/blue dots in a color patch).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19238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800" u="sng" dirty="0">
                <a:latin typeface="Arial" panose="020B0604020202020204" pitchFamily="34" charset="0"/>
                <a:ea typeface="Times New Roman" panose="02020603050405020304" pitchFamily="18" charset="0"/>
                <a:cs typeface="Times New Roman" panose="02020603050405020304" pitchFamily="18" charset="0"/>
              </a:rPr>
              <a:t>Hypotheses:</a:t>
            </a:r>
            <a:r>
              <a:rPr lang="en-US" sz="1800" dirty="0">
                <a:latin typeface="Arial" panose="020B0604020202020204" pitchFamily="34" charset="0"/>
                <a:ea typeface="Times New Roman" panose="02020603050405020304" pitchFamily="18" charset="0"/>
                <a:cs typeface="Times New Roman" panose="02020603050405020304" pitchFamily="18" charset="0"/>
              </a:rPr>
              <a:t> We predict that switchers and response groupers will show higher reward sensitivity and, aiming to maximize performance, an increased switch rate when reward prospect increases, potentially accompanied by more parallel processing (reflected in higher fast switch rates). As previous research has shown that unchanged high rewards tend to encourage task repetitions rather than voluntary switches (e.g., </a:t>
            </a:r>
            <a:r>
              <a:rPr lang="en-US" sz="1800" dirty="0" err="1">
                <a:latin typeface="Arial" panose="020B0604020202020204" pitchFamily="34" charset="0"/>
                <a:ea typeface="Times New Roman" panose="02020603050405020304" pitchFamily="18" charset="0"/>
                <a:cs typeface="Times New Roman" panose="02020603050405020304" pitchFamily="18" charset="0"/>
              </a:rPr>
              <a:t>Fröber</a:t>
            </a:r>
            <a:r>
              <a:rPr lang="en-US" sz="1800" dirty="0">
                <a:latin typeface="Arial" panose="020B0604020202020204" pitchFamily="34" charset="0"/>
                <a:ea typeface="Times New Roman" panose="02020603050405020304" pitchFamily="18" charset="0"/>
                <a:cs typeface="Times New Roman" panose="02020603050405020304" pitchFamily="18" charset="0"/>
              </a:rPr>
              <a:t> &amp; </a:t>
            </a:r>
            <a:r>
              <a:rPr lang="en-US" sz="1800" dirty="0" err="1">
                <a:latin typeface="Arial" panose="020B0604020202020204" pitchFamily="34" charset="0"/>
                <a:ea typeface="Times New Roman" panose="02020603050405020304" pitchFamily="18" charset="0"/>
                <a:cs typeface="Times New Roman" panose="02020603050405020304" pitchFamily="18" charset="0"/>
              </a:rPr>
              <a:t>Dreisbach</a:t>
            </a:r>
            <a:r>
              <a:rPr lang="en-US" sz="1800" dirty="0">
                <a:latin typeface="Arial" panose="020B0604020202020204" pitchFamily="34" charset="0"/>
                <a:ea typeface="Times New Roman" panose="02020603050405020304" pitchFamily="18" charset="0"/>
                <a:cs typeface="Times New Roman" panose="02020603050405020304" pitchFamily="18" charset="0"/>
              </a:rPr>
              <a:t>, 2016), an unchanged high reward may in turn promote less flexible response organization and more serial processing, leading to a reduced switch rate. Since blockers' task-choice behavior is generally quite stable and seems to be driven by effort minimization, we expect it to be minimally affected, if at all, by variations in reward prospect. </a:t>
            </a:r>
          </a:p>
          <a:p>
            <a:endParaRPr lang="en-US" sz="1800" dirty="0">
              <a:latin typeface="Arial" panose="020B0604020202020204" pitchFamily="34" charset="0"/>
              <a:ea typeface="Times New Roman" panose="02020603050405020304" pitchFamily="18" charset="0"/>
              <a:cs typeface="Times New Roman" panose="02020603050405020304" pitchFamily="18" charset="0"/>
            </a:endParaRPr>
          </a:p>
          <a:p>
            <a:r>
              <a:rPr lang="en-US" sz="1800" dirty="0">
                <a:latin typeface="Arial" panose="020B0604020202020204" pitchFamily="34" charset="0"/>
                <a:ea typeface="Times New Roman" panose="02020603050405020304" pitchFamily="18" charset="0"/>
                <a:cs typeface="Times New Roman" panose="02020603050405020304" pitchFamily="18" charset="0"/>
              </a:rPr>
              <a:t>Q: This experiment investigates how stable vs. varying task-independent rewards influence chosen response strategies and the role of individual reward sensitivity.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Sample:</a:t>
            </a:r>
            <a:r>
              <a:rPr lang="en-US" sz="1800" dirty="0">
                <a:latin typeface="Arial" panose="020B0604020202020204" pitchFamily="34" charset="0"/>
                <a:ea typeface="Times New Roman" panose="02020603050405020304" pitchFamily="18" charset="0"/>
                <a:cs typeface="Times New Roman" panose="02020603050405020304" pitchFamily="18" charset="0"/>
              </a:rPr>
              <a:t> N=90 participants.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Procedure:</a:t>
            </a:r>
            <a:r>
              <a:rPr lang="en-US" sz="1800" dirty="0">
                <a:latin typeface="Arial" panose="020B0604020202020204" pitchFamily="34" charset="0"/>
                <a:ea typeface="Times New Roman" panose="02020603050405020304" pitchFamily="18" charset="0"/>
                <a:cs typeface="Times New Roman" panose="02020603050405020304" pitchFamily="18" charset="0"/>
              </a:rPr>
              <a:t> Participants first complete the classic FCDT categorization procedure with a global reward for correct responses. =&gt; Next, task-independent rewards will be introduced, where participants receive a high or low reward prospect that changes response locked every 5-15 trials, indicated by changing background colors (categorization phase will also include background color changes without instructions about reward magnitude, serving as a baseline).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Design</a:t>
            </a:r>
            <a:r>
              <a:rPr lang="en-US" sz="1800" dirty="0">
                <a:latin typeface="Arial" panose="020B0604020202020204" pitchFamily="34" charset="0"/>
                <a:ea typeface="Times New Roman" panose="02020603050405020304" pitchFamily="18" charset="0"/>
                <a:cs typeface="Times New Roman" panose="02020603050405020304" pitchFamily="18" charset="0"/>
              </a:rPr>
              <a:t>: remain low, increase, remain high, decrease. EEG will be recorded during the reward variant of the FCDT, a flanker task (to capture error sensitivity) and a simple probabilistic learning task (to measure reward sensitivity, e.g., Kirschner et al., 2022).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Planned analyses:</a:t>
            </a:r>
            <a:r>
              <a:rPr lang="en-US" sz="1800" dirty="0">
                <a:latin typeface="Arial" panose="020B0604020202020204" pitchFamily="34" charset="0"/>
                <a:ea typeface="Times New Roman" panose="02020603050405020304" pitchFamily="18" charset="0"/>
                <a:cs typeface="Times New Roman" panose="02020603050405020304" pitchFamily="18" charset="0"/>
              </a:rPr>
              <a:t> 4(remain low vs. increase vs. remain high vs. decrease) x 3(blocker vs. switcher vs. response grouper) ANOVA on the switch rate. The design will allow to compare the expected reward effects on the overall multitasking efficiency. </a:t>
            </a:r>
            <a:endParaRPr lang="en-US"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007515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u="sng" dirty="0">
                <a:latin typeface="Arial" panose="020B0604020202020204" pitchFamily="34" charset="0"/>
                <a:ea typeface="Times New Roman" panose="02020603050405020304" pitchFamily="18" charset="0"/>
                <a:cs typeface="Times New Roman" panose="02020603050405020304" pitchFamily="18" charset="0"/>
              </a:rPr>
              <a:t>Hypotheses:</a:t>
            </a:r>
            <a:r>
              <a:rPr lang="en-US" sz="1200" dirty="0">
                <a:latin typeface="Arial" panose="020B0604020202020204" pitchFamily="34" charset="0"/>
                <a:ea typeface="Times New Roman" panose="02020603050405020304" pitchFamily="18" charset="0"/>
                <a:cs typeface="Times New Roman" panose="02020603050405020304" pitchFamily="18" charset="0"/>
              </a:rPr>
              <a:t> We expect reward to significantly increase switch rates for switchers and response groupers, when switches are rewarded. Given the explicit reward for a task-switching decision, task-dependent rewards will likely also increase switch rates for blockers, but to a lesser extent. We expect these changes in switch rates to be related to the EEG measures of reward sensitivity. Moreover, upcoming switches will be predicted by beta power lateralization. </a:t>
            </a:r>
          </a:p>
          <a:p>
            <a:endParaRPr lang="en-US" sz="1200" dirty="0">
              <a:latin typeface="Arial" panose="020B0604020202020204" pitchFamily="34" charset="0"/>
              <a:ea typeface="Times New Roman" panose="02020603050405020304" pitchFamily="18" charset="0"/>
              <a:cs typeface="Times New Roman" panose="02020603050405020304" pitchFamily="18" charset="0"/>
            </a:endParaRPr>
          </a:p>
          <a:p>
            <a:r>
              <a:rPr lang="en-US" sz="1200" dirty="0">
                <a:latin typeface="Arial" panose="020B0604020202020204" pitchFamily="34" charset="0"/>
                <a:ea typeface="Times New Roman" panose="02020603050405020304" pitchFamily="18" charset="0"/>
                <a:cs typeface="Times New Roman" panose="02020603050405020304" pitchFamily="18" charset="0"/>
              </a:rPr>
              <a:t>Q: Given the high stability of response strategies (Brüning et al., 2020; Reinert &amp; Brüning, 2022), Experiment 2b will take an even more direct approach and examine the influence of task-dependent rewards on response strategies, comparing reward vs. no-reward conditions. </a:t>
            </a:r>
          </a:p>
          <a:p>
            <a:r>
              <a:rPr lang="en-US" sz="1200" u="sng" dirty="0">
                <a:latin typeface="Arial" panose="020B0604020202020204" pitchFamily="34" charset="0"/>
                <a:ea typeface="Times New Roman" panose="02020603050405020304" pitchFamily="18" charset="0"/>
                <a:cs typeface="Times New Roman" panose="02020603050405020304" pitchFamily="18" charset="0"/>
              </a:rPr>
              <a:t>Sample:</a:t>
            </a:r>
            <a:r>
              <a:rPr lang="en-US" sz="1200" dirty="0">
                <a:latin typeface="Arial" panose="020B0604020202020204" pitchFamily="34" charset="0"/>
                <a:ea typeface="Times New Roman" panose="02020603050405020304" pitchFamily="18" charset="0"/>
                <a:cs typeface="Times New Roman" panose="02020603050405020304" pitchFamily="18" charset="0"/>
              </a:rPr>
              <a:t> N=90 participants. </a:t>
            </a:r>
          </a:p>
          <a:p>
            <a:r>
              <a:rPr lang="en-US" sz="1200" u="sng" dirty="0">
                <a:latin typeface="Arial" panose="020B0604020202020204" pitchFamily="34" charset="0"/>
                <a:ea typeface="Times New Roman" panose="02020603050405020304" pitchFamily="18" charset="0"/>
                <a:cs typeface="Times New Roman" panose="02020603050405020304" pitchFamily="18" charset="0"/>
              </a:rPr>
              <a:t>Design and procedure:</a:t>
            </a:r>
            <a:r>
              <a:rPr lang="en-US" sz="1200" dirty="0">
                <a:latin typeface="Arial" panose="020B0604020202020204" pitchFamily="34" charset="0"/>
                <a:ea typeface="Times New Roman" panose="02020603050405020304" pitchFamily="18" charset="0"/>
                <a:cs typeface="Times New Roman" panose="02020603050405020304" pitchFamily="18" charset="0"/>
              </a:rPr>
              <a:t> Again, classic FCDT with a global reward for correct responses. =&gt; then informed that a trial-wise reward will be introduced in the FCDT paradigm indicated by a colored frame around the respective task stimulus, where they can receive a bonus for switching to the respective other task. This reward prospect will be given response locked after every 5-15 trials. The last performed task will also be surrounded by a frame to avoid mere saliency effects, with colors for switches vs. repetitions counterbalanced across participants. The categorization procedure will also include these frames without reward instructions, serving as a baseline. EEG will be recorded as in Experiment 2a. </a:t>
            </a:r>
          </a:p>
          <a:p>
            <a:r>
              <a:rPr lang="en-US" sz="1200" u="sng" dirty="0">
                <a:latin typeface="Arial" panose="020B0604020202020204" pitchFamily="34" charset="0"/>
                <a:ea typeface="Times New Roman" panose="02020603050405020304" pitchFamily="18" charset="0"/>
                <a:cs typeface="Times New Roman" panose="02020603050405020304" pitchFamily="18" charset="0"/>
              </a:rPr>
              <a:t>Planned analyses:</a:t>
            </a:r>
            <a:r>
              <a:rPr lang="en-US" sz="1200" dirty="0">
                <a:latin typeface="Arial" panose="020B0604020202020204" pitchFamily="34" charset="0"/>
                <a:ea typeface="Times New Roman" panose="02020603050405020304" pitchFamily="18" charset="0"/>
                <a:cs typeface="Times New Roman" panose="02020603050405020304" pitchFamily="18" charset="0"/>
              </a:rPr>
              <a:t> The interplay of response strategies and reward will be examined using a 2(bonus vs. no-bonus) x 3(blocker vs. switcher vs. response grouper) ANOVA on the switch rate. This design will also allow comparison of reward effects on multitasking efficiency. </a:t>
            </a:r>
            <a:endParaRPr lang="en-US"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575572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03188" y="750888"/>
            <a:ext cx="6683375" cy="3759200"/>
          </a:xfrm>
        </p:spPr>
      </p:sp>
      <p:sp>
        <p:nvSpPr>
          <p:cNvPr id="3" name="Notizenplatzhalter 2"/>
          <p:cNvSpPr>
            <a:spLocks noGrp="1"/>
          </p:cNvSpPr>
          <p:nvPr>
            <p:ph type="body" idx="1"/>
          </p:nvPr>
        </p:nvSpPr>
        <p:spPr/>
        <p:txBody>
          <a:bodyPr/>
          <a:lstStyle/>
          <a:p>
            <a:pPr>
              <a:lnSpc>
                <a:spcPct val="115000"/>
              </a:lnSpc>
              <a:spcBef>
                <a:spcPts val="303"/>
              </a:spcBef>
              <a:spcAft>
                <a:spcPts val="809"/>
              </a:spcAft>
            </a:pPr>
            <a:r>
              <a:rPr lang="en-US" sz="1800" dirty="0">
                <a:latin typeface="Times New Roman" panose="02020603050405020304" pitchFamily="18" charset="0"/>
                <a:ea typeface="Times New Roman" panose="02020603050405020304" pitchFamily="18" charset="0"/>
                <a:cs typeface="Arial" panose="020B0604020202020204" pitchFamily="34" charset="0"/>
              </a:rPr>
              <a:t>TODO: </a:t>
            </a:r>
            <a:r>
              <a:rPr lang="en-US" sz="1800" dirty="0" err="1">
                <a:latin typeface="Times New Roman" panose="02020603050405020304" pitchFamily="18" charset="0"/>
                <a:ea typeface="Times New Roman" panose="02020603050405020304" pitchFamily="18" charset="0"/>
                <a:cs typeface="Arial" panose="020B0604020202020204" pitchFamily="34" charset="0"/>
              </a:rPr>
              <a:t>nur</a:t>
            </a:r>
            <a:r>
              <a:rPr lang="en-US" sz="1800" dirty="0">
                <a:latin typeface="Times New Roman" panose="02020603050405020304" pitchFamily="18" charset="0"/>
                <a:ea typeface="Times New Roman" panose="02020603050405020304" pitchFamily="18" charset="0"/>
                <a:cs typeface="Arial" panose="020B0604020202020204" pitchFamily="34" charset="0"/>
              </a:rPr>
              <a:t> </a:t>
            </a:r>
            <a:r>
              <a:rPr lang="en-US" sz="1800" dirty="0" err="1">
                <a:latin typeface="Times New Roman" panose="02020603050405020304" pitchFamily="18" charset="0"/>
                <a:ea typeface="Times New Roman" panose="02020603050405020304" pitchFamily="18" charset="0"/>
                <a:cs typeface="Arial" panose="020B0604020202020204" pitchFamily="34" charset="0"/>
              </a:rPr>
              <a:t>als</a:t>
            </a:r>
            <a:r>
              <a:rPr lang="en-US" sz="1800" dirty="0">
                <a:latin typeface="Times New Roman" panose="02020603050405020304" pitchFamily="18" charset="0"/>
                <a:ea typeface="Times New Roman" panose="02020603050405020304" pitchFamily="18" charset="0"/>
                <a:cs typeface="Arial" panose="020B0604020202020204" pitchFamily="34" charset="0"/>
              </a:rPr>
              <a:t> bullet point an </a:t>
            </a:r>
            <a:r>
              <a:rPr lang="en-US" sz="1800" dirty="0" err="1">
                <a:latin typeface="Times New Roman" panose="02020603050405020304" pitchFamily="18" charset="0"/>
                <a:ea typeface="Times New Roman" panose="02020603050405020304" pitchFamily="18" charset="0"/>
                <a:cs typeface="Arial" panose="020B0604020202020204" pitchFamily="34" charset="0"/>
              </a:rPr>
              <a:t>vorherigen</a:t>
            </a:r>
            <a:r>
              <a:rPr lang="en-US" sz="1800" dirty="0">
                <a:latin typeface="Times New Roman" panose="02020603050405020304" pitchFamily="18" charset="0"/>
                <a:ea typeface="Times New Roman" panose="02020603050405020304" pitchFamily="18" charset="0"/>
                <a:cs typeface="Arial" panose="020B0604020202020204" pitchFamily="34" charset="0"/>
              </a:rPr>
              <a:t> </a:t>
            </a:r>
          </a:p>
          <a:p>
            <a:pPr>
              <a:lnSpc>
                <a:spcPct val="115000"/>
              </a:lnSpc>
              <a:spcBef>
                <a:spcPts val="303"/>
              </a:spcBef>
              <a:spcAft>
                <a:spcPts val="809"/>
              </a:spcAft>
            </a:pPr>
            <a:r>
              <a:rPr lang="en-US" sz="1800" dirty="0">
                <a:latin typeface="Times New Roman" panose="02020603050405020304" pitchFamily="18" charset="0"/>
                <a:ea typeface="Times New Roman" panose="02020603050405020304" pitchFamily="18" charset="0"/>
                <a:cs typeface="Arial" panose="020B0604020202020204" pitchFamily="34" charset="0"/>
              </a:rPr>
              <a:t>… identifying which of these shape responses strategy formation is our last empirical objective. We focus on three trait groups:</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6706" indent="-346706">
              <a:lnSpc>
                <a:spcPct val="115000"/>
              </a:lnSpc>
              <a:spcBef>
                <a:spcPts val="303"/>
              </a:spcBef>
              <a:buFont typeface="Symbol" panose="05050102010706020507" pitchFamily="18" charset="2"/>
              <a:buChar char=""/>
            </a:pPr>
            <a:r>
              <a:rPr lang="en-US" sz="1800" dirty="0">
                <a:solidFill>
                  <a:srgbClr val="000000"/>
                </a:solidFill>
                <a:latin typeface="Times New Roman" panose="02020603050405020304" pitchFamily="18" charset="0"/>
              </a:rPr>
              <a:t>Addressing motivation and effort, we assess: </a:t>
            </a:r>
            <a:r>
              <a:rPr lang="en-US" sz="1800" b="1" dirty="0">
                <a:solidFill>
                  <a:srgbClr val="000000"/>
                </a:solidFill>
                <a:latin typeface="Times New Roman" panose="02020603050405020304" pitchFamily="18" charset="0"/>
              </a:rPr>
              <a:t>Need for Cognition, Trait Persistence, Behavioral Activation System</a:t>
            </a:r>
            <a:endParaRPr lang="en-US" sz="1800" dirty="0">
              <a:latin typeface="Times New Roman" panose="02020603050405020304" pitchFamily="18" charset="0"/>
              <a:ea typeface="Times New Roman" panose="02020603050405020304" pitchFamily="18" charset="0"/>
            </a:endParaRPr>
          </a:p>
          <a:p>
            <a:pPr marL="346706" indent="-346706">
              <a:lnSpc>
                <a:spcPct val="115000"/>
              </a:lnSpc>
              <a:spcBef>
                <a:spcPts val="303"/>
              </a:spcBef>
              <a:buFont typeface="Symbol" panose="05050102010706020507" pitchFamily="18" charset="2"/>
              <a:buChar char=""/>
            </a:pPr>
            <a:r>
              <a:rPr lang="en-US" sz="1800" dirty="0">
                <a:solidFill>
                  <a:srgbClr val="000000"/>
                </a:solidFill>
                <a:latin typeface="Times New Roman" panose="02020603050405020304" pitchFamily="18" charset="0"/>
              </a:rPr>
              <a:t>Regarding Personality &amp; Attitude: </a:t>
            </a:r>
            <a:r>
              <a:rPr lang="en-US" sz="1800" b="1" dirty="0">
                <a:solidFill>
                  <a:srgbClr val="000000"/>
                </a:solidFill>
                <a:latin typeface="Times New Roman" panose="02020603050405020304" pitchFamily="18" charset="0"/>
              </a:rPr>
              <a:t>Big Five and Polychronicity</a:t>
            </a:r>
            <a:r>
              <a:rPr lang="en-US" sz="1800" dirty="0">
                <a:solidFill>
                  <a:srgbClr val="000000"/>
                </a:solidFill>
                <a:latin typeface="Times New Roman" panose="02020603050405020304" pitchFamily="18" charset="0"/>
              </a:rPr>
              <a:t> </a:t>
            </a:r>
            <a:endParaRPr lang="en-US" sz="1800" dirty="0">
              <a:latin typeface="Times New Roman" panose="02020603050405020304" pitchFamily="18" charset="0"/>
              <a:ea typeface="Times New Roman" panose="02020603050405020304" pitchFamily="18" charset="0"/>
            </a:endParaRPr>
          </a:p>
          <a:p>
            <a:pPr marL="346706" indent="-346706">
              <a:lnSpc>
                <a:spcPct val="115000"/>
              </a:lnSpc>
              <a:spcBef>
                <a:spcPts val="303"/>
              </a:spcBef>
              <a:buFont typeface="Symbol" panose="05050102010706020507" pitchFamily="18" charset="2"/>
              <a:buChar char=""/>
            </a:pPr>
            <a:r>
              <a:rPr lang="en-US" sz="1800" dirty="0">
                <a:solidFill>
                  <a:srgbClr val="000000"/>
                </a:solidFill>
                <a:latin typeface="Times New Roman" panose="02020603050405020304" pitchFamily="18" charset="0"/>
              </a:rPr>
              <a:t>Like all projects, we also assess </a:t>
            </a:r>
            <a:r>
              <a:rPr lang="en-US" sz="1800" b="1" dirty="0">
                <a:solidFill>
                  <a:srgbClr val="000000"/>
                </a:solidFill>
                <a:latin typeface="Times New Roman" panose="02020603050405020304" pitchFamily="18" charset="0"/>
              </a:rPr>
              <a:t>Working Memory Capacity</a:t>
            </a:r>
            <a:r>
              <a:rPr lang="en-US" sz="1800" dirty="0">
                <a:solidFill>
                  <a:srgbClr val="000000"/>
                </a:solidFill>
                <a:latin typeface="Times New Roman" panose="02020603050405020304" pitchFamily="18" charset="0"/>
              </a:rPr>
              <a:t> as a key cognitive ability</a:t>
            </a:r>
            <a:endParaRPr lang="en-US" sz="1800" dirty="0">
              <a:latin typeface="Times New Roman" panose="02020603050405020304" pitchFamily="18" charset="0"/>
              <a:ea typeface="Times New Roman" panose="02020603050405020304" pitchFamily="18" charset="0"/>
            </a:endParaRPr>
          </a:p>
          <a:p>
            <a:endParaRPr lang="de-DE" sz="1800" dirty="0">
              <a:latin typeface="Times New Roman" panose="02020603050405020304" pitchFamily="18" charset="0"/>
              <a:ea typeface="Calibri" panose="020F0502020204030204" pitchFamily="34" charset="0"/>
              <a:cs typeface="Arial" panose="020B0604020202020204" pitchFamily="34" charset="0"/>
            </a:endParaRPr>
          </a:p>
          <a:p>
            <a:r>
              <a:rPr lang="en-US" sz="1800" u="sng" dirty="0">
                <a:latin typeface="Arial" panose="020B0604020202020204" pitchFamily="34" charset="0"/>
                <a:ea typeface="Times New Roman" panose="02020603050405020304" pitchFamily="18" charset="0"/>
                <a:cs typeface="Times New Roman" panose="02020603050405020304" pitchFamily="18" charset="0"/>
              </a:rPr>
              <a:t>Hypotheses:</a:t>
            </a:r>
            <a:r>
              <a:rPr lang="en-US" sz="1800" dirty="0">
                <a:latin typeface="Arial" panose="020B0604020202020204" pitchFamily="34" charset="0"/>
                <a:ea typeface="Times New Roman" panose="02020603050405020304" pitchFamily="18" charset="0"/>
                <a:cs typeface="Times New Roman" panose="02020603050405020304" pitchFamily="18" charset="0"/>
              </a:rPr>
              <a:t> Individuals who favor switching and response grouping strategies appear to willingly exert greater cognitive effort, as evidenced by their frequent voluntary task switches. Since this behavior suggests a higher level of motivation to optimize performance continuously, we expect them to score higher on the Need for Cognition, Trait Persistence, and Polychronicity scales, reflecting their motivation to optimize performance (the latter in real-life situations). We also anticipate higher scores on the BAS system, indicating reward sensitivity, and on the Openness and Conscientiousness subscales of the Big Five, which are associated with trait persistence and need for cognition. In contrast, blockers, who avoid effortful task switching and may be less influenced by rewards, are expected to score lower on these scales and higher on the BIS system, reflecting a tendency to avoid effort or challenges.</a:t>
            </a:r>
          </a:p>
          <a:p>
            <a:endParaRPr lang="en-US" sz="1800" dirty="0">
              <a:latin typeface="Arial" panose="020B0604020202020204" pitchFamily="34" charset="0"/>
              <a:ea typeface="Times New Roman" panose="02020603050405020304" pitchFamily="18" charset="0"/>
              <a:cs typeface="Times New Roman" panose="02020603050405020304" pitchFamily="18" charset="0"/>
            </a:endParaRPr>
          </a:p>
          <a:p>
            <a:r>
              <a:rPr lang="en-US" sz="1800" dirty="0">
                <a:latin typeface="Arial" panose="020B0604020202020204" pitchFamily="34" charset="0"/>
                <a:ea typeface="Times New Roman" panose="02020603050405020304" pitchFamily="18" charset="0"/>
                <a:cs typeface="Times New Roman" panose="02020603050405020304" pitchFamily="18" charset="0"/>
              </a:rPr>
              <a:t>Q: This WP will explore whether personality traits and WMC are related to response strategies using a selective psychological test battery.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Participants, design and procedure:</a:t>
            </a:r>
            <a:r>
              <a:rPr lang="en-US" sz="1800" dirty="0">
                <a:latin typeface="Arial" panose="020B0604020202020204" pitchFamily="34" charset="0"/>
                <a:ea typeface="Times New Roman" panose="02020603050405020304" pitchFamily="18" charset="0"/>
                <a:cs typeface="Times New Roman" panose="02020603050405020304" pitchFamily="18" charset="0"/>
              </a:rPr>
              <a:t> Data collection will be integrated with WP 1.1, 1.2 and 3, extending these experiments (4 x N=90) and the data collected in WP 3 (N=50) with a second session, resulting in 410 participants. They</a:t>
            </a:r>
            <a:r>
              <a:rPr lang="en-US" sz="1800" b="1" dirty="0">
                <a:latin typeface="Arial" panose="020B0604020202020204" pitchFamily="34" charset="0"/>
                <a:ea typeface="Times New Roman" panose="02020603050405020304" pitchFamily="18" charset="0"/>
                <a:cs typeface="Times New Roman" panose="02020603050405020304" pitchFamily="18" charset="0"/>
              </a:rPr>
              <a:t> </a:t>
            </a:r>
            <a:r>
              <a:rPr lang="en-US" sz="1800" dirty="0">
                <a:latin typeface="Arial" panose="020B0604020202020204" pitchFamily="34" charset="0"/>
                <a:ea typeface="Times New Roman" panose="02020603050405020304" pitchFamily="18" charset="0"/>
                <a:cs typeface="Times New Roman" panose="02020603050405020304" pitchFamily="18" charset="0"/>
              </a:rPr>
              <a:t>will complete the BIS/BAS scales, Big5 questionnaire, Need for Cognition scale, Trait Persistence scale, and Multitasking Preference Inventory, as well as the Operation Span Task and the Symmetry Span Task (Unsworth et al., 2009; Redick et al., 2012), to assess WMC.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Planned analyses:</a:t>
            </a:r>
            <a:r>
              <a:rPr lang="en-US" sz="1800" dirty="0">
                <a:latin typeface="Arial" panose="020B0604020202020204" pitchFamily="34" charset="0"/>
                <a:ea typeface="Times New Roman" panose="02020603050405020304" pitchFamily="18" charset="0"/>
                <a:cs typeface="Times New Roman" panose="02020603050405020304" pitchFamily="18" charset="0"/>
              </a:rPr>
              <a:t> Data analyses will proceed in two steps. First, differences between the response strategy groups will be tested using a between-subjects ANOVA for the respective tests. Second, a correlational approach will examine the relationship between switch rates and test scores. </a:t>
            </a:r>
            <a:endParaRPr lang="de-DE" sz="1800" dirty="0" err="1">
              <a:latin typeface="Calibri" panose="020F0502020204030204" pitchFamily="34" charset="0"/>
              <a:ea typeface="Calibri" panose="020F0502020204030204" pitchFamily="34" charset="0"/>
              <a:cs typeface="Arial" panose="020B0604020202020204" pitchFamily="34" charset="0"/>
            </a:endParaRP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10636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03188" y="750888"/>
            <a:ext cx="6683375" cy="3759200"/>
          </a:xfrm>
        </p:spPr>
      </p:sp>
      <p:sp>
        <p:nvSpPr>
          <p:cNvPr id="3" name="Notizenplatzhalter 2"/>
          <p:cNvSpPr>
            <a:spLocks noGrp="1"/>
          </p:cNvSpPr>
          <p:nvPr>
            <p:ph type="body" idx="1"/>
          </p:nvPr>
        </p:nvSpPr>
        <p:spPr/>
        <p:txBody>
          <a:bodyPr/>
          <a:lstStyle/>
          <a:p>
            <a:pPr defTabSz="924550">
              <a:lnSpc>
                <a:spcPct val="115000"/>
              </a:lnSpc>
              <a:spcBef>
                <a:spcPts val="303"/>
              </a:spcBef>
              <a:spcAft>
                <a:spcPts val="809"/>
              </a:spcAft>
              <a:defRPr/>
            </a:pPr>
            <a:r>
              <a:rPr lang="en-US" sz="1800" u="sng" dirty="0">
                <a:solidFill>
                  <a:srgbClr val="000000"/>
                </a:solidFill>
                <a:latin typeface="ArialMT"/>
              </a:rPr>
              <a:t>Hypotheses: </a:t>
            </a:r>
            <a:r>
              <a:rPr lang="en-US" sz="1800" dirty="0">
                <a:solidFill>
                  <a:srgbClr val="000000"/>
                </a:solidFill>
                <a:latin typeface="ArialMT"/>
              </a:rPr>
              <a:t>We expect participants with higher switch frequencies in FCDT to also switch more in the self-organized task-switching paradigm, compared to those who switch less. Switching and response grouping should align with the global strategy, reflecting proactive task processing and performance maximization, while blockers should follow the local strategy, minimizing effort by switching only when necessary.</a:t>
            </a:r>
            <a:r>
              <a:rPr lang="en-US" sz="2800" dirty="0"/>
              <a:t> </a:t>
            </a:r>
            <a:br>
              <a:rPr lang="en-US" sz="2800" dirty="0"/>
            </a:br>
            <a:endParaRPr lang="en-US" sz="1800" dirty="0"/>
          </a:p>
          <a:p>
            <a:pPr>
              <a:lnSpc>
                <a:spcPct val="115000"/>
              </a:lnSpc>
              <a:spcBef>
                <a:spcPts val="303"/>
              </a:spcBef>
              <a:spcAft>
                <a:spcPts val="809"/>
              </a:spcAft>
            </a:pPr>
            <a:r>
              <a:rPr lang="en-US" sz="1800" dirty="0">
                <a:solidFill>
                  <a:srgbClr val="000000"/>
                </a:solidFill>
                <a:latin typeface="ArialMT"/>
              </a:rPr>
              <a:t>Q: Prior research (</a:t>
            </a:r>
            <a:r>
              <a:rPr lang="en-US" sz="1800" dirty="0" err="1">
                <a:solidFill>
                  <a:srgbClr val="000000"/>
                </a:solidFill>
                <a:latin typeface="ArialMT"/>
              </a:rPr>
              <a:t>Monno</a:t>
            </a:r>
            <a:r>
              <a:rPr lang="en-US" sz="1800" dirty="0">
                <a:solidFill>
                  <a:srgbClr val="000000"/>
                </a:solidFill>
                <a:latin typeface="ArialMT"/>
              </a:rPr>
              <a:t> et al., 2021) has distinguished between a local and a global task-processing strategy. The local strategy involves switching only when waiting times match switch costs, optimizing trial-by-trial performance. The global strategy prioritizes overall efficiency by switching earlier, despite initial switch costs. The latter reflects a proactive approach that maximizes performance across a sequence of trials by minimizing overall waiting times. </a:t>
            </a:r>
          </a:p>
          <a:p>
            <a:pPr>
              <a:lnSpc>
                <a:spcPct val="115000"/>
              </a:lnSpc>
              <a:spcBef>
                <a:spcPts val="303"/>
              </a:spcBef>
              <a:spcAft>
                <a:spcPts val="809"/>
              </a:spcAft>
            </a:pPr>
            <a:r>
              <a:rPr lang="en-US" sz="1800" u="sng" dirty="0">
                <a:solidFill>
                  <a:srgbClr val="000000"/>
                </a:solidFill>
                <a:latin typeface="ArialMT"/>
              </a:rPr>
              <a:t>Sample, design and procedure:</a:t>
            </a:r>
            <a:r>
              <a:rPr lang="en-US" sz="1800" dirty="0">
                <a:solidFill>
                  <a:srgbClr val="000000"/>
                </a:solidFill>
                <a:latin typeface="ArialMT"/>
              </a:rPr>
              <a:t> Participants (N=100, 50 of which are collected in Freiburg) will complete both paradigms in a counterbalanced order using the same simple classification tasks to isolate individual differences. </a:t>
            </a:r>
          </a:p>
          <a:p>
            <a:pPr>
              <a:lnSpc>
                <a:spcPct val="115000"/>
              </a:lnSpc>
              <a:spcBef>
                <a:spcPts val="303"/>
              </a:spcBef>
              <a:spcAft>
                <a:spcPts val="809"/>
              </a:spcAft>
            </a:pPr>
            <a:r>
              <a:rPr lang="en-US" sz="1800" u="sng" dirty="0">
                <a:solidFill>
                  <a:srgbClr val="000000"/>
                </a:solidFill>
                <a:latin typeface="ArialMT"/>
              </a:rPr>
              <a:t>Planned analyses: </a:t>
            </a:r>
            <a:r>
              <a:rPr lang="en-US" sz="1800" dirty="0">
                <a:solidFill>
                  <a:srgbClr val="000000"/>
                </a:solidFill>
                <a:latin typeface="ArialMT"/>
              </a:rPr>
              <a:t>To examine whether individual differences in switch frequency generalize, they will be correlated across paradigms. Strategy overlap will be assessed using a chi-squared test, comparing the proportion of participants classified as blockers or switchers/response groupers in FCDT to those using local or global strategies in the self-organized paradigm.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546358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15645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307615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Each individual reaction corresponds to a data point or a reaction:</a:t>
            </a:r>
          </a:p>
          <a:p>
            <a:r>
              <a:rPr lang="en-US" dirty="0"/>
              <a:t>Purple = pure task repetitions</a:t>
            </a:r>
          </a:p>
          <a:p>
            <a:r>
              <a:rPr lang="en-US" dirty="0"/>
              <a:t>Blue = task repetitions before a change</a:t>
            </a:r>
          </a:p>
          <a:p>
            <a:r>
              <a:rPr lang="en-US" dirty="0"/>
              <a:t>Red &amp; green = task changes</a:t>
            </a:r>
          </a:p>
          <a:p>
            <a:endParaRPr lang="en-US"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4772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581190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184138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088709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942842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413147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074729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84789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9908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1E5EB6-51D3-4CEE-866B-DD0507A8A478}"/>
              </a:ext>
            </a:extLst>
          </p:cNvPr>
          <p:cNvSpPr>
            <a:spLocks noGrp="1"/>
          </p:cNvSpPr>
          <p:nvPr>
            <p:ph type="ctrTitle"/>
          </p:nvPr>
        </p:nvSpPr>
        <p:spPr>
          <a:xfrm>
            <a:off x="685800" y="1597819"/>
            <a:ext cx="7772400" cy="1102519"/>
          </a:xfrm>
        </p:spPr>
        <p:txBody>
          <a:bodyPr/>
          <a:lstStyle>
            <a:lvl1pPr>
              <a:buNone/>
              <a:defRPr>
                <a:solidFill>
                  <a:srgbClr val="3A77AD"/>
                </a:solidFill>
              </a:defRPr>
            </a:lvl1pPr>
          </a:lstStyle>
          <a:p>
            <a:r>
              <a:t>Titelmasterformat durch Klicken bearbeiten</a:t>
            </a:r>
          </a:p>
        </p:txBody>
      </p:sp>
      <p:sp>
        <p:nvSpPr>
          <p:cNvPr id="3" name="Untertitel 2">
            <a:extLst>
              <a:ext uri="{FF2B5EF4-FFF2-40B4-BE49-F238E27FC236}">
                <a16:creationId xmlns:a16="http://schemas.microsoft.com/office/drawing/2014/main" id="{D607E1D3-AE35-44F2-9141-BC0877E756E5}"/>
              </a:ext>
            </a:extLst>
          </p:cNvPr>
          <p:cNvSpPr>
            <a:spLocks noGrp="1"/>
          </p:cNvSpPr>
          <p:nvPr>
            <p:ph type="subTitle" idx="1"/>
          </p:nvPr>
        </p:nvSpPr>
        <p:spPr>
          <a:xfrm>
            <a:off x="1371600" y="2914650"/>
            <a:ext cx="6400800" cy="1314450"/>
          </a:xfrm>
        </p:spPr>
        <p:txBody>
          <a:bodyPr/>
          <a:lstStyle>
            <a:lvl1pPr marL="0" indent="0" algn="ctr">
              <a:buNone/>
              <a:defRPr>
                <a:solidFill>
                  <a:srgbClr val="3A77AD"/>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t>Formatvorlage des Untertitelmasters durch Klicken bearbeiten</a:t>
            </a:r>
          </a:p>
        </p:txBody>
      </p:sp>
      <p:sp>
        <p:nvSpPr>
          <p:cNvPr id="4" name="Datumsplatzhalter 3">
            <a:extLst>
              <a:ext uri="{FF2B5EF4-FFF2-40B4-BE49-F238E27FC236}">
                <a16:creationId xmlns:a16="http://schemas.microsoft.com/office/drawing/2014/main" id="{60293F25-B3EA-407B-9553-634452D613E5}"/>
              </a:ext>
            </a:extLst>
          </p:cNvPr>
          <p:cNvSpPr>
            <a:spLocks noGrp="1"/>
          </p:cNvSpPr>
          <p:nvPr>
            <p:ph type="dt" idx="10"/>
          </p:nvPr>
        </p:nvSpPr>
        <p:spPr/>
        <p:txBody>
          <a:bodyPr/>
          <a:lstStyle/>
          <a:p>
            <a:fld id="{8DD25DDA-D26E-4C65-81E7-886BFA2DBF4B}" type="datetime1">
              <a:t>20.09.2026</a:t>
            </a:fld>
            <a:endParaRPr/>
          </a:p>
        </p:txBody>
      </p:sp>
      <p:sp>
        <p:nvSpPr>
          <p:cNvPr id="5" name="Fußzeilenplatzhalter 4">
            <a:extLst>
              <a:ext uri="{FF2B5EF4-FFF2-40B4-BE49-F238E27FC236}">
                <a16:creationId xmlns:a16="http://schemas.microsoft.com/office/drawing/2014/main" id="{65D50551-C1AF-4734-A668-4A8DF1C3E57F}"/>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D47F039B-F4C6-4131-81AF-F9DDB7D5C99B}"/>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44703E-4150-4FCF-AC26-4C412DDF59A1}"/>
              </a:ext>
            </a:extLst>
          </p:cNvPr>
          <p:cNvSpPr>
            <a:spLocks noGrp="1"/>
          </p:cNvSpPr>
          <p:nvPr>
            <p:ph type="title"/>
          </p:nvPr>
        </p:nvSpPr>
        <p:spPr/>
        <p:txBody>
          <a:bodyPr/>
          <a:lstStyle>
            <a:lvl1pPr>
              <a:buNone/>
              <a:defRPr>
                <a:latin typeface="Arial Unicode MS"/>
                <a:ea typeface="Arial Unicode MS"/>
                <a:cs typeface="Arial Unicode MS"/>
              </a:defRPr>
            </a:lvl1pPr>
          </a:lstStyle>
          <a:p>
            <a:r>
              <a:rPr dirty="0" err="1"/>
              <a:t>Titelmasterformat</a:t>
            </a:r>
            <a:r>
              <a:rPr dirty="0"/>
              <a:t> </a:t>
            </a:r>
            <a:r>
              <a:rPr dirty="0" err="1"/>
              <a:t>durch</a:t>
            </a:r>
            <a:r>
              <a:rPr dirty="0"/>
              <a:t> </a:t>
            </a:r>
            <a:r>
              <a:rPr dirty="0" err="1"/>
              <a:t>Klicken</a:t>
            </a:r>
            <a:r>
              <a:rPr dirty="0"/>
              <a:t> </a:t>
            </a:r>
            <a:r>
              <a:rPr dirty="0" err="1"/>
              <a:t>bearbeiten</a:t>
            </a:r>
            <a:endParaRPr dirty="0"/>
          </a:p>
        </p:txBody>
      </p:sp>
      <p:sp>
        <p:nvSpPr>
          <p:cNvPr id="3" name="Inhaltsplatzhalter 2">
            <a:extLst>
              <a:ext uri="{FF2B5EF4-FFF2-40B4-BE49-F238E27FC236}">
                <a16:creationId xmlns:a16="http://schemas.microsoft.com/office/drawing/2014/main" id="{D512DA99-6AD5-4B52-A2D7-C464763F3879}"/>
              </a:ext>
            </a:extLst>
          </p:cNvPr>
          <p:cNvSpPr>
            <a:spLocks noGrp="1"/>
          </p:cNvSpPr>
          <p:nvPr>
            <p:ph idx="1"/>
          </p:nvPr>
        </p:nvSpPr>
        <p:spPr>
          <a:xfrm>
            <a:off x="457200" y="1190802"/>
            <a:ext cx="8229600" cy="3315816"/>
          </a:xfrm>
        </p:spPr>
        <p:txBody>
          <a:bodyPr/>
          <a:lstStyle>
            <a:lvl4pPr>
              <a:buNone/>
              <a:defRPr>
                <a:latin typeface="Arial Unicode MS"/>
                <a:ea typeface="Arial Unicode MS"/>
                <a:cs typeface="Arial Unicode MS"/>
              </a:defRPr>
            </a:lvl4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6" name="Foliennummernplatzhalter 5">
            <a:extLst>
              <a:ext uri="{FF2B5EF4-FFF2-40B4-BE49-F238E27FC236}">
                <a16:creationId xmlns:a16="http://schemas.microsoft.com/office/drawing/2014/main" id="{C0329583-F0C0-49DB-9BCF-D833FB7B88AC}"/>
              </a:ext>
            </a:extLst>
          </p:cNvPr>
          <p:cNvSpPr>
            <a:spLocks noGrp="1"/>
          </p:cNvSpPr>
          <p:nvPr>
            <p:ph type="sldNum" idx="12"/>
          </p:nvPr>
        </p:nvSpPr>
        <p:spPr>
          <a:xfrm>
            <a:off x="8256300" y="4731990"/>
            <a:ext cx="636180" cy="273844"/>
          </a:xfrm>
        </p:spPr>
        <p:txBody>
          <a:bodyPr/>
          <a:lstStyle>
            <a:lvl1pPr marL="0" algn="r" defTabSz="685800">
              <a:buNone/>
              <a:defRPr sz="1050" kern="1200">
                <a:solidFill>
                  <a:schemeClr val="tx2">
                    <a:lumMod val="75000"/>
                  </a:schemeClr>
                </a:solidFill>
                <a:latin typeface="Arial Unicode MS"/>
                <a:ea typeface="Arial Unicode MS"/>
                <a:cs typeface="Arial Unicode MS"/>
              </a:defRPr>
            </a:lvl1pPr>
          </a:lstStyle>
          <a:p>
            <a:fld id="{5CD88B4E-D815-417B-99FD-41D66E5C06D4}" type="slidenum">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62C48E-9A13-4A7E-AA6A-87D1AC3AC0C8}"/>
              </a:ext>
            </a:extLst>
          </p:cNvPr>
          <p:cNvSpPr>
            <a:spLocks noGrp="1"/>
          </p:cNvSpPr>
          <p:nvPr>
            <p:ph type="title"/>
          </p:nvPr>
        </p:nvSpPr>
        <p:spPr>
          <a:xfrm>
            <a:off x="722313" y="3305176"/>
            <a:ext cx="7772400" cy="1021556"/>
          </a:xfrm>
        </p:spPr>
        <p:txBody>
          <a:bodyPr anchor="t"/>
          <a:lstStyle>
            <a:lvl1pPr algn="l">
              <a:buNone/>
              <a:defRPr sz="3000" b="1" cap="all"/>
            </a:lvl1pPr>
          </a:lstStyle>
          <a:p>
            <a:r>
              <a:t>Titelmasterformat durch Klicken bearbeiten</a:t>
            </a:r>
          </a:p>
        </p:txBody>
      </p:sp>
      <p:sp>
        <p:nvSpPr>
          <p:cNvPr id="3" name="Textplatzhalter 2">
            <a:extLst>
              <a:ext uri="{FF2B5EF4-FFF2-40B4-BE49-F238E27FC236}">
                <a16:creationId xmlns:a16="http://schemas.microsoft.com/office/drawing/2014/main" id="{B24E126F-A99D-41A9-8219-84AE61304FC1}"/>
              </a:ext>
            </a:extLst>
          </p:cNvPr>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buNone/>
            </a:pPr>
            <a:r>
              <a:t>Textmasterformat bearbeiten</a:t>
            </a:r>
          </a:p>
        </p:txBody>
      </p:sp>
      <p:sp>
        <p:nvSpPr>
          <p:cNvPr id="4" name="Datumsplatzhalter 3">
            <a:extLst>
              <a:ext uri="{FF2B5EF4-FFF2-40B4-BE49-F238E27FC236}">
                <a16:creationId xmlns:a16="http://schemas.microsoft.com/office/drawing/2014/main" id="{0CDBB60F-DFD5-4B33-9F9C-A2FFA0EE74A1}"/>
              </a:ext>
            </a:extLst>
          </p:cNvPr>
          <p:cNvSpPr>
            <a:spLocks noGrp="1"/>
          </p:cNvSpPr>
          <p:nvPr>
            <p:ph type="dt" idx="10"/>
          </p:nvPr>
        </p:nvSpPr>
        <p:spPr/>
        <p:txBody>
          <a:bodyPr/>
          <a:lstStyle/>
          <a:p>
            <a:fld id="{82291B1E-1756-4A5C-A79F-F2FEDD9B6C08}" type="datetime1">
              <a:t>20.09.2026</a:t>
            </a:fld>
            <a:endParaRPr/>
          </a:p>
        </p:txBody>
      </p:sp>
      <p:sp>
        <p:nvSpPr>
          <p:cNvPr id="5" name="Fußzeilenplatzhalter 4">
            <a:extLst>
              <a:ext uri="{FF2B5EF4-FFF2-40B4-BE49-F238E27FC236}">
                <a16:creationId xmlns:a16="http://schemas.microsoft.com/office/drawing/2014/main" id="{CDA99A6B-C707-44EE-88B8-49D64782391E}"/>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6A15729B-94BB-4880-8D89-388D0649657A}"/>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A37635-A623-4E98-AC3E-8D62F1F648D6}"/>
              </a:ext>
            </a:extLst>
          </p:cNvPr>
          <p:cNvSpPr>
            <a:spLocks noGrp="1"/>
          </p:cNvSpPr>
          <p:nvPr>
            <p:ph type="title"/>
          </p:nvPr>
        </p:nvSpPr>
        <p:spPr/>
        <p:txBody>
          <a:bodyPr/>
          <a:lstStyle/>
          <a:p>
            <a:r>
              <a:t>Titelmasterformat durch Klicken bearbeiten</a:t>
            </a:r>
          </a:p>
        </p:txBody>
      </p:sp>
      <p:sp>
        <p:nvSpPr>
          <p:cNvPr id="3" name="Inhaltsplatzhalter 2">
            <a:extLst>
              <a:ext uri="{FF2B5EF4-FFF2-40B4-BE49-F238E27FC236}">
                <a16:creationId xmlns:a16="http://schemas.microsoft.com/office/drawing/2014/main" id="{1FA6A68D-62E8-4097-BC94-596C357F941D}"/>
              </a:ext>
            </a:extLst>
          </p:cNvPr>
          <p:cNvSpPr>
            <a:spLocks noGrp="1"/>
          </p:cNvSpPr>
          <p:nvPr>
            <p:ph idx="1"/>
          </p:nvPr>
        </p:nvSpPr>
        <p:spPr>
          <a:xfrm>
            <a:off x="457200" y="1200151"/>
            <a:ext cx="4038600" cy="3394472"/>
          </a:xfrm>
        </p:spPr>
        <p:txBody>
          <a:bodyPr/>
          <a:lstStyle>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Inhaltsplatzhalter 3">
            <a:extLst>
              <a:ext uri="{FF2B5EF4-FFF2-40B4-BE49-F238E27FC236}">
                <a16:creationId xmlns:a16="http://schemas.microsoft.com/office/drawing/2014/main" id="{4073D382-90A3-4817-9579-52D81369CD33}"/>
              </a:ext>
            </a:extLst>
          </p:cNvPr>
          <p:cNvSpPr>
            <a:spLocks noGrp="1"/>
          </p:cNvSpPr>
          <p:nvPr>
            <p:ph idx="2"/>
          </p:nvPr>
        </p:nvSpPr>
        <p:spPr>
          <a:xfrm>
            <a:off x="4648200" y="1200151"/>
            <a:ext cx="4038600" cy="3394472"/>
          </a:xfrm>
        </p:spPr>
        <p:txBody>
          <a:bodyPr/>
          <a:lstStyle>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Datumsplatzhalter 4">
            <a:extLst>
              <a:ext uri="{FF2B5EF4-FFF2-40B4-BE49-F238E27FC236}">
                <a16:creationId xmlns:a16="http://schemas.microsoft.com/office/drawing/2014/main" id="{C01B4D72-53C5-4B48-8E28-0C570A263DC0}"/>
              </a:ext>
            </a:extLst>
          </p:cNvPr>
          <p:cNvSpPr>
            <a:spLocks noGrp="1"/>
          </p:cNvSpPr>
          <p:nvPr>
            <p:ph type="dt" idx="10"/>
          </p:nvPr>
        </p:nvSpPr>
        <p:spPr/>
        <p:txBody>
          <a:bodyPr/>
          <a:lstStyle/>
          <a:p>
            <a:fld id="{C25EF7E3-34C6-4F29-A3E8-B2123BFC8360}" type="datetime1">
              <a:t>20.09.2026</a:t>
            </a:fld>
            <a:endParaRPr/>
          </a:p>
        </p:txBody>
      </p:sp>
      <p:sp>
        <p:nvSpPr>
          <p:cNvPr id="6" name="Fußzeilenplatzhalter 5">
            <a:extLst>
              <a:ext uri="{FF2B5EF4-FFF2-40B4-BE49-F238E27FC236}">
                <a16:creationId xmlns:a16="http://schemas.microsoft.com/office/drawing/2014/main" id="{8E43D247-3AB3-4E5E-889D-EE9388E9EC09}"/>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29CA68E8-FF76-48FE-89E1-16FF04182F43}"/>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57D3AF-0732-426A-A34C-0295E4BFB97B}"/>
              </a:ext>
            </a:extLst>
          </p:cNvPr>
          <p:cNvSpPr>
            <a:spLocks noGrp="1"/>
          </p:cNvSpPr>
          <p:nvPr>
            <p:ph type="title"/>
          </p:nvPr>
        </p:nvSpPr>
        <p:spPr/>
        <p:txBody>
          <a:bodyPr/>
          <a:lstStyle>
            <a:lvl1pPr>
              <a:buNone/>
              <a:defRPr/>
            </a:lvl1pPr>
          </a:lstStyle>
          <a:p>
            <a:r>
              <a:t>Titelmasterformat durch Klicken bearbeiten</a:t>
            </a:r>
          </a:p>
        </p:txBody>
      </p:sp>
      <p:sp>
        <p:nvSpPr>
          <p:cNvPr id="3" name="Textplatzhalter 2">
            <a:extLst>
              <a:ext uri="{FF2B5EF4-FFF2-40B4-BE49-F238E27FC236}">
                <a16:creationId xmlns:a16="http://schemas.microsoft.com/office/drawing/2014/main" id="{5387ACE4-EFE3-4305-A1A4-F639026E10D7}"/>
              </a:ext>
            </a:extLst>
          </p:cNvPr>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Textmasterformat bearbeiten</a:t>
            </a:r>
          </a:p>
        </p:txBody>
      </p:sp>
      <p:sp>
        <p:nvSpPr>
          <p:cNvPr id="4" name="Inhaltsplatzhalter 3">
            <a:extLst>
              <a:ext uri="{FF2B5EF4-FFF2-40B4-BE49-F238E27FC236}">
                <a16:creationId xmlns:a16="http://schemas.microsoft.com/office/drawing/2014/main" id="{43F85B3D-6B72-4821-BA1D-586B02D936A2}"/>
              </a:ext>
            </a:extLst>
          </p:cNvPr>
          <p:cNvSpPr>
            <a:spLocks noGrp="1"/>
          </p:cNvSpPr>
          <p:nvPr>
            <p:ph idx="2"/>
          </p:nvPr>
        </p:nvSpPr>
        <p:spPr>
          <a:xfrm>
            <a:off x="457200" y="1631156"/>
            <a:ext cx="4040188" cy="2963466"/>
          </a:xfrm>
        </p:spPr>
        <p:txBody>
          <a:bodyPr/>
          <a:lstStyle>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Textplatzhalter 4">
            <a:extLst>
              <a:ext uri="{FF2B5EF4-FFF2-40B4-BE49-F238E27FC236}">
                <a16:creationId xmlns:a16="http://schemas.microsoft.com/office/drawing/2014/main" id="{F441FB17-AB68-4403-8F78-7E5BE36A0347}"/>
              </a:ext>
            </a:extLst>
          </p:cNvPr>
          <p:cNvSpPr>
            <a:spLocks noGrp="1"/>
          </p:cNvSpPr>
          <p:nvPr>
            <p:ph type="body"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Textmasterformat bearbeiten</a:t>
            </a:r>
          </a:p>
        </p:txBody>
      </p:sp>
      <p:sp>
        <p:nvSpPr>
          <p:cNvPr id="6" name="Inhaltsplatzhalter 5">
            <a:extLst>
              <a:ext uri="{FF2B5EF4-FFF2-40B4-BE49-F238E27FC236}">
                <a16:creationId xmlns:a16="http://schemas.microsoft.com/office/drawing/2014/main" id="{2151470F-342E-4D82-8CE0-B825E6A6C8FD}"/>
              </a:ext>
            </a:extLst>
          </p:cNvPr>
          <p:cNvSpPr>
            <a:spLocks noGrp="1"/>
          </p:cNvSpPr>
          <p:nvPr>
            <p:ph idx="4"/>
          </p:nvPr>
        </p:nvSpPr>
        <p:spPr>
          <a:xfrm>
            <a:off x="4645026" y="1631156"/>
            <a:ext cx="4041775" cy="2963466"/>
          </a:xfrm>
        </p:spPr>
        <p:txBody>
          <a:bodyPr/>
          <a:lstStyle>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7" name="Datumsplatzhalter 6">
            <a:extLst>
              <a:ext uri="{FF2B5EF4-FFF2-40B4-BE49-F238E27FC236}">
                <a16:creationId xmlns:a16="http://schemas.microsoft.com/office/drawing/2014/main" id="{D8DACECA-CCE4-4F0F-8AE2-CFD22C219D99}"/>
              </a:ext>
            </a:extLst>
          </p:cNvPr>
          <p:cNvSpPr>
            <a:spLocks noGrp="1"/>
          </p:cNvSpPr>
          <p:nvPr>
            <p:ph type="dt" idx="10"/>
          </p:nvPr>
        </p:nvSpPr>
        <p:spPr/>
        <p:txBody>
          <a:bodyPr/>
          <a:lstStyle/>
          <a:p>
            <a:fld id="{9BF2F809-AE36-447A-BE8D-DBD43813230D}" type="datetime1">
              <a:t>20.09.2026</a:t>
            </a:fld>
            <a:endParaRPr/>
          </a:p>
        </p:txBody>
      </p:sp>
      <p:sp>
        <p:nvSpPr>
          <p:cNvPr id="8" name="Fußzeilenplatzhalter 7">
            <a:extLst>
              <a:ext uri="{FF2B5EF4-FFF2-40B4-BE49-F238E27FC236}">
                <a16:creationId xmlns:a16="http://schemas.microsoft.com/office/drawing/2014/main" id="{7DB2DCED-C1E2-4728-81C3-E60969112EA0}"/>
              </a:ext>
            </a:extLst>
          </p:cNvPr>
          <p:cNvSpPr>
            <a:spLocks noGrp="1"/>
          </p:cNvSpPr>
          <p:nvPr>
            <p:ph type="ftr" idx="11"/>
          </p:nvPr>
        </p:nvSpPr>
        <p:spPr/>
        <p:txBody>
          <a:bodyPr/>
          <a:lstStyle/>
          <a:p>
            <a:r>
              <a:t>SPP Initiative – Kognitive Mehrfachanforderungen</a:t>
            </a:r>
          </a:p>
        </p:txBody>
      </p:sp>
      <p:sp>
        <p:nvSpPr>
          <p:cNvPr id="9" name="Foliennummernplatzhalter 8">
            <a:extLst>
              <a:ext uri="{FF2B5EF4-FFF2-40B4-BE49-F238E27FC236}">
                <a16:creationId xmlns:a16="http://schemas.microsoft.com/office/drawing/2014/main" id="{22FF7CEF-7F67-4E4E-86B0-78A1E6B20463}"/>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5EF8EA-3A79-4D0A-9E9D-BAF231039B8C}"/>
              </a:ext>
            </a:extLst>
          </p:cNvPr>
          <p:cNvSpPr>
            <a:spLocks noGrp="1"/>
          </p:cNvSpPr>
          <p:nvPr>
            <p:ph type="title"/>
          </p:nvPr>
        </p:nvSpPr>
        <p:spPr/>
        <p:txBody>
          <a:bodyPr/>
          <a:lstStyle/>
          <a:p>
            <a:r>
              <a:t>Titelmasterformat durch Klicken bearbeiten</a:t>
            </a:r>
          </a:p>
        </p:txBody>
      </p:sp>
      <p:sp>
        <p:nvSpPr>
          <p:cNvPr id="3" name="Datumsplatzhalter 2">
            <a:extLst>
              <a:ext uri="{FF2B5EF4-FFF2-40B4-BE49-F238E27FC236}">
                <a16:creationId xmlns:a16="http://schemas.microsoft.com/office/drawing/2014/main" id="{FA8F1E3A-15F2-4079-B8C7-AF16AD23D982}"/>
              </a:ext>
            </a:extLst>
          </p:cNvPr>
          <p:cNvSpPr>
            <a:spLocks noGrp="1"/>
          </p:cNvSpPr>
          <p:nvPr>
            <p:ph type="dt" idx="10"/>
          </p:nvPr>
        </p:nvSpPr>
        <p:spPr/>
        <p:txBody>
          <a:bodyPr/>
          <a:lstStyle/>
          <a:p>
            <a:fld id="{C3E9AD70-BBFA-4BDA-AD17-94996E01E40D}" type="datetime1">
              <a:t>20.09.2026</a:t>
            </a:fld>
            <a:endParaRPr/>
          </a:p>
        </p:txBody>
      </p:sp>
      <p:sp>
        <p:nvSpPr>
          <p:cNvPr id="4" name="Fußzeilenplatzhalter 3">
            <a:extLst>
              <a:ext uri="{FF2B5EF4-FFF2-40B4-BE49-F238E27FC236}">
                <a16:creationId xmlns:a16="http://schemas.microsoft.com/office/drawing/2014/main" id="{9663DFE6-88B7-41D6-AC99-59B0CABFD6D8}"/>
              </a:ext>
            </a:extLst>
          </p:cNvPr>
          <p:cNvSpPr>
            <a:spLocks noGrp="1"/>
          </p:cNvSpPr>
          <p:nvPr>
            <p:ph type="ftr" idx="11"/>
          </p:nvPr>
        </p:nvSpPr>
        <p:spPr/>
        <p:txBody>
          <a:bodyPr/>
          <a:lstStyle/>
          <a:p>
            <a:r>
              <a:t>SPP Initiative – Kognitive Mehrfachanforderungen</a:t>
            </a:r>
          </a:p>
        </p:txBody>
      </p:sp>
      <p:sp>
        <p:nvSpPr>
          <p:cNvPr id="5" name="Foliennummernplatzhalter 4">
            <a:extLst>
              <a:ext uri="{FF2B5EF4-FFF2-40B4-BE49-F238E27FC236}">
                <a16:creationId xmlns:a16="http://schemas.microsoft.com/office/drawing/2014/main" id="{1DE91E78-25D0-4CF5-A737-377231448080}"/>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1529D24-EA50-4266-96C2-1DBB992D2A7A}"/>
              </a:ext>
            </a:extLst>
          </p:cNvPr>
          <p:cNvSpPr>
            <a:spLocks noGrp="1"/>
          </p:cNvSpPr>
          <p:nvPr>
            <p:ph type="dt" idx="10"/>
          </p:nvPr>
        </p:nvSpPr>
        <p:spPr/>
        <p:txBody>
          <a:bodyPr/>
          <a:lstStyle/>
          <a:p>
            <a:fld id="{012A5E7E-DC59-44FF-98CB-32ED5C7DF30F}" type="datetime1">
              <a:t>20.09.2026</a:t>
            </a:fld>
            <a:endParaRPr/>
          </a:p>
        </p:txBody>
      </p:sp>
      <p:sp>
        <p:nvSpPr>
          <p:cNvPr id="3" name="Fußzeilenplatzhalter 2">
            <a:extLst>
              <a:ext uri="{FF2B5EF4-FFF2-40B4-BE49-F238E27FC236}">
                <a16:creationId xmlns:a16="http://schemas.microsoft.com/office/drawing/2014/main" id="{37661DB9-2EA2-429E-A720-C292CF5B74B6}"/>
              </a:ext>
            </a:extLst>
          </p:cNvPr>
          <p:cNvSpPr>
            <a:spLocks noGrp="1"/>
          </p:cNvSpPr>
          <p:nvPr>
            <p:ph type="ftr" idx="11"/>
          </p:nvPr>
        </p:nvSpPr>
        <p:spPr/>
        <p:txBody>
          <a:bodyPr/>
          <a:lstStyle/>
          <a:p>
            <a:r>
              <a:t>SPP Initiative – Kognitive Mehrfachanforderungen</a:t>
            </a:r>
          </a:p>
        </p:txBody>
      </p:sp>
      <p:sp>
        <p:nvSpPr>
          <p:cNvPr id="4" name="Foliennummernplatzhalter 3">
            <a:extLst>
              <a:ext uri="{FF2B5EF4-FFF2-40B4-BE49-F238E27FC236}">
                <a16:creationId xmlns:a16="http://schemas.microsoft.com/office/drawing/2014/main" id="{FADD4549-9270-49D6-914B-C325B4F77D5A}"/>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59C704-CC59-470C-A759-B25A9213345D}"/>
              </a:ext>
            </a:extLst>
          </p:cNvPr>
          <p:cNvSpPr>
            <a:spLocks noGrp="1"/>
          </p:cNvSpPr>
          <p:nvPr>
            <p:ph type="title"/>
          </p:nvPr>
        </p:nvSpPr>
        <p:spPr>
          <a:xfrm>
            <a:off x="457201" y="204787"/>
            <a:ext cx="3008313" cy="871538"/>
          </a:xfrm>
        </p:spPr>
        <p:txBody>
          <a:bodyPr anchor="b"/>
          <a:lstStyle>
            <a:lvl1pPr algn="l">
              <a:buNone/>
              <a:defRPr sz="1500" b="1"/>
            </a:lvl1pPr>
          </a:lstStyle>
          <a:p>
            <a:r>
              <a:t>Titelmasterformat durch Klicken bearbeiten</a:t>
            </a:r>
          </a:p>
        </p:txBody>
      </p:sp>
      <p:sp>
        <p:nvSpPr>
          <p:cNvPr id="3" name="Inhaltsplatzhalter 2">
            <a:extLst>
              <a:ext uri="{FF2B5EF4-FFF2-40B4-BE49-F238E27FC236}">
                <a16:creationId xmlns:a16="http://schemas.microsoft.com/office/drawing/2014/main" id="{21D0AAFD-0EE3-46C1-B594-44E21917D6D0}"/>
              </a:ext>
            </a:extLst>
          </p:cNvPr>
          <p:cNvSpPr>
            <a:spLocks noGrp="1"/>
          </p:cNvSpPr>
          <p:nvPr>
            <p:ph idx="1"/>
          </p:nvPr>
        </p:nvSpPr>
        <p:spPr>
          <a:xfrm>
            <a:off x="3575050" y="204788"/>
            <a:ext cx="5111750" cy="4389835"/>
          </a:xfrm>
        </p:spPr>
        <p:txBody>
          <a:bodyPr/>
          <a:lstStyle>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Textplatzhalter 3">
            <a:extLst>
              <a:ext uri="{FF2B5EF4-FFF2-40B4-BE49-F238E27FC236}">
                <a16:creationId xmlns:a16="http://schemas.microsoft.com/office/drawing/2014/main" id="{A663634A-BDEE-4064-9945-987A40D32096}"/>
              </a:ext>
            </a:extLst>
          </p:cNvPr>
          <p:cNvSpPr>
            <a:spLocks noGrp="1"/>
          </p:cNvSpPr>
          <p:nvPr>
            <p:ph type="body"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buNone/>
            </a:pPr>
            <a:r>
              <a:t>Textmasterformat bearbeiten</a:t>
            </a:r>
          </a:p>
        </p:txBody>
      </p:sp>
      <p:sp>
        <p:nvSpPr>
          <p:cNvPr id="5" name="Datumsplatzhalter 4">
            <a:extLst>
              <a:ext uri="{FF2B5EF4-FFF2-40B4-BE49-F238E27FC236}">
                <a16:creationId xmlns:a16="http://schemas.microsoft.com/office/drawing/2014/main" id="{5391EBD8-A766-492C-8454-76F8A2163A62}"/>
              </a:ext>
            </a:extLst>
          </p:cNvPr>
          <p:cNvSpPr>
            <a:spLocks noGrp="1"/>
          </p:cNvSpPr>
          <p:nvPr>
            <p:ph type="dt" idx="10"/>
          </p:nvPr>
        </p:nvSpPr>
        <p:spPr/>
        <p:txBody>
          <a:bodyPr/>
          <a:lstStyle/>
          <a:p>
            <a:fld id="{75CBFBE5-D840-46F9-A1EC-71EE2BFB233E}" type="datetime1">
              <a:t>20.09.2026</a:t>
            </a:fld>
            <a:endParaRPr/>
          </a:p>
        </p:txBody>
      </p:sp>
      <p:sp>
        <p:nvSpPr>
          <p:cNvPr id="6" name="Fußzeilenplatzhalter 5">
            <a:extLst>
              <a:ext uri="{FF2B5EF4-FFF2-40B4-BE49-F238E27FC236}">
                <a16:creationId xmlns:a16="http://schemas.microsoft.com/office/drawing/2014/main" id="{9B9CD980-E304-4A72-AFD4-5342C146FA8B}"/>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B566403A-C0D9-4D47-B0EC-F95FB97E0F5E}"/>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AFB180-EE0F-4027-BA8D-50FE31578E90}"/>
              </a:ext>
            </a:extLst>
          </p:cNvPr>
          <p:cNvSpPr>
            <a:spLocks noGrp="1"/>
          </p:cNvSpPr>
          <p:nvPr>
            <p:ph type="title"/>
          </p:nvPr>
        </p:nvSpPr>
        <p:spPr>
          <a:xfrm>
            <a:off x="1792288" y="3600450"/>
            <a:ext cx="5486400" cy="425054"/>
          </a:xfrm>
        </p:spPr>
        <p:txBody>
          <a:bodyPr anchor="b"/>
          <a:lstStyle>
            <a:lvl1pPr algn="l">
              <a:buNone/>
              <a:defRPr sz="1500" b="1"/>
            </a:lvl1pPr>
          </a:lstStyle>
          <a:p>
            <a:r>
              <a:t>Titelmasterformat durch Klicken bearbeiten</a:t>
            </a:r>
          </a:p>
        </p:txBody>
      </p:sp>
      <p:sp>
        <p:nvSpPr>
          <p:cNvPr id="3" name="Bildplatzhalter 2">
            <a:extLst>
              <a:ext uri="{FF2B5EF4-FFF2-40B4-BE49-F238E27FC236}">
                <a16:creationId xmlns:a16="http://schemas.microsoft.com/office/drawing/2014/main" id="{D8112F38-0E7C-4D9D-93C2-26A65DC635EF}"/>
              </a:ext>
            </a:extLst>
          </p:cNvPr>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a:p>
        </p:txBody>
      </p:sp>
      <p:sp>
        <p:nvSpPr>
          <p:cNvPr id="4" name="Textplatzhalter 3">
            <a:extLst>
              <a:ext uri="{FF2B5EF4-FFF2-40B4-BE49-F238E27FC236}">
                <a16:creationId xmlns:a16="http://schemas.microsoft.com/office/drawing/2014/main" id="{3CB453E4-51BE-4E13-BCD4-FA22985B28CF}"/>
              </a:ext>
            </a:extLst>
          </p:cNvPr>
          <p:cNvSpPr>
            <a:spLocks noGrp="1"/>
          </p:cNvSpPr>
          <p:nvPr>
            <p:ph type="body"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buNone/>
            </a:pPr>
            <a:r>
              <a:t>Textmasterformat bearbeiten</a:t>
            </a:r>
          </a:p>
        </p:txBody>
      </p:sp>
      <p:sp>
        <p:nvSpPr>
          <p:cNvPr id="5" name="Datumsplatzhalter 4">
            <a:extLst>
              <a:ext uri="{FF2B5EF4-FFF2-40B4-BE49-F238E27FC236}">
                <a16:creationId xmlns:a16="http://schemas.microsoft.com/office/drawing/2014/main" id="{2713AA27-DB99-44AB-B0BD-894EA22534D7}"/>
              </a:ext>
            </a:extLst>
          </p:cNvPr>
          <p:cNvSpPr>
            <a:spLocks noGrp="1"/>
          </p:cNvSpPr>
          <p:nvPr>
            <p:ph type="dt" idx="10"/>
          </p:nvPr>
        </p:nvSpPr>
        <p:spPr/>
        <p:txBody>
          <a:bodyPr/>
          <a:lstStyle/>
          <a:p>
            <a:fld id="{310E40CA-5887-4B04-9981-5E3E0EE4CEE6}" type="datetime1">
              <a:t>20.09.2026</a:t>
            </a:fld>
            <a:endParaRPr/>
          </a:p>
        </p:txBody>
      </p:sp>
      <p:sp>
        <p:nvSpPr>
          <p:cNvPr id="6" name="Fußzeilenplatzhalter 5">
            <a:extLst>
              <a:ext uri="{FF2B5EF4-FFF2-40B4-BE49-F238E27FC236}">
                <a16:creationId xmlns:a16="http://schemas.microsoft.com/office/drawing/2014/main" id="{146C6D9D-C975-4602-89B4-E211853F0C12}"/>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1F8DCE36-D6A4-4ECE-AE3A-273B0C226E7C}"/>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DD05A9-9078-497C-98D1-1F2E12AA8CE1}"/>
              </a:ext>
            </a:extLst>
          </p:cNvPr>
          <p:cNvSpPr>
            <a:spLocks noGrp="1"/>
          </p:cNvSpPr>
          <p:nvPr>
            <p:ph type="title"/>
          </p:nvPr>
        </p:nvSpPr>
        <p:spPr/>
        <p:txBody>
          <a:bodyPr/>
          <a:lstStyle/>
          <a:p>
            <a:r>
              <a:t>Titelmasterformat durch Klicken bearbeiten</a:t>
            </a:r>
          </a:p>
        </p:txBody>
      </p:sp>
      <p:sp>
        <p:nvSpPr>
          <p:cNvPr id="3" name="Vertikaler Textplatzhalter 2">
            <a:extLst>
              <a:ext uri="{FF2B5EF4-FFF2-40B4-BE49-F238E27FC236}">
                <a16:creationId xmlns:a16="http://schemas.microsoft.com/office/drawing/2014/main" id="{804284EF-FBB4-41A6-91E9-7A93FCF52BAD}"/>
              </a:ext>
            </a:extLst>
          </p:cNvPr>
          <p:cNvSpPr>
            <a:spLocks noGrp="1"/>
          </p:cNvSpPr>
          <p:nvPr>
            <p:ph type="body" idx="1"/>
          </p:nvPr>
        </p:nvSpPr>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E6C6ECC1-85D3-4B69-8B8B-B945D02D5E9A}"/>
              </a:ext>
            </a:extLst>
          </p:cNvPr>
          <p:cNvSpPr>
            <a:spLocks noGrp="1"/>
          </p:cNvSpPr>
          <p:nvPr>
            <p:ph type="dt" idx="10"/>
          </p:nvPr>
        </p:nvSpPr>
        <p:spPr/>
        <p:txBody>
          <a:bodyPr/>
          <a:lstStyle/>
          <a:p>
            <a:fld id="{984F1C03-9221-492F-9D3B-13656BBDDDDC}" type="datetime1">
              <a:t>20.09.2026</a:t>
            </a:fld>
            <a:endParaRPr/>
          </a:p>
        </p:txBody>
      </p:sp>
      <p:sp>
        <p:nvSpPr>
          <p:cNvPr id="5" name="Fußzeilenplatzhalter 4">
            <a:extLst>
              <a:ext uri="{FF2B5EF4-FFF2-40B4-BE49-F238E27FC236}">
                <a16:creationId xmlns:a16="http://schemas.microsoft.com/office/drawing/2014/main" id="{754F05A0-5111-474A-891A-48581C68A5B4}"/>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D27E9626-667F-4400-99BC-058667B9482E}"/>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FDB7F3A-C943-437B-BB4A-B1E3FFC53F7D}"/>
              </a:ext>
            </a:extLst>
          </p:cNvPr>
          <p:cNvSpPr>
            <a:spLocks noGrp="1"/>
          </p:cNvSpPr>
          <p:nvPr>
            <p:ph type="title"/>
          </p:nvPr>
        </p:nvSpPr>
        <p:spPr>
          <a:xfrm>
            <a:off x="6629400" y="205979"/>
            <a:ext cx="2057400" cy="4388644"/>
          </a:xfrm>
        </p:spPr>
        <p:txBody>
          <a:bodyPr vert="eaVert"/>
          <a:lstStyle/>
          <a:p>
            <a:r>
              <a:t>Titelmasterformat durch Klicken bearbeiten</a:t>
            </a:r>
          </a:p>
        </p:txBody>
      </p:sp>
      <p:sp>
        <p:nvSpPr>
          <p:cNvPr id="3" name="Vertikaler Textplatzhalter 2">
            <a:extLst>
              <a:ext uri="{FF2B5EF4-FFF2-40B4-BE49-F238E27FC236}">
                <a16:creationId xmlns:a16="http://schemas.microsoft.com/office/drawing/2014/main" id="{D295BEDB-392B-4986-B832-2E040B1335E4}"/>
              </a:ext>
            </a:extLst>
          </p:cNvPr>
          <p:cNvSpPr>
            <a:spLocks noGrp="1"/>
          </p:cNvSpPr>
          <p:nvPr>
            <p:ph type="body" idx="1"/>
          </p:nvPr>
        </p:nvSpPr>
        <p:spPr>
          <a:xfrm>
            <a:off x="457200" y="205979"/>
            <a:ext cx="6019800" cy="4388644"/>
          </a:xfrm>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26459150-CB49-45BA-A531-B7E7C0638532}"/>
              </a:ext>
            </a:extLst>
          </p:cNvPr>
          <p:cNvSpPr>
            <a:spLocks noGrp="1"/>
          </p:cNvSpPr>
          <p:nvPr>
            <p:ph type="dt" idx="10"/>
          </p:nvPr>
        </p:nvSpPr>
        <p:spPr/>
        <p:txBody>
          <a:bodyPr/>
          <a:lstStyle/>
          <a:p>
            <a:fld id="{C03166C5-6A3D-4F25-B59A-7D1EDABF349D}" type="datetime1">
              <a:t>20.09.2026</a:t>
            </a:fld>
            <a:endParaRPr/>
          </a:p>
        </p:txBody>
      </p:sp>
      <p:sp>
        <p:nvSpPr>
          <p:cNvPr id="5" name="Fußzeilenplatzhalter 4">
            <a:extLst>
              <a:ext uri="{FF2B5EF4-FFF2-40B4-BE49-F238E27FC236}">
                <a16:creationId xmlns:a16="http://schemas.microsoft.com/office/drawing/2014/main" id="{B51E3B44-68C0-4706-BC0B-8423E01780BD}"/>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18E8E25A-0757-45B4-97B6-09DF8F345E46}"/>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19"/>
            <a:ext cx="7772400" cy="1102519"/>
          </a:xfrm>
        </p:spPr>
        <p:txBody>
          <a:bodyPr/>
          <a:lstStyle>
            <a:lvl1pPr>
              <a:defRPr>
                <a:solidFill>
                  <a:srgbClr val="3A77AD"/>
                </a:solidFill>
              </a:defRPr>
            </a:lvl1pPr>
          </a:lstStyle>
          <a:p>
            <a:r>
              <a:rPr lang="de-DE"/>
              <a:t>Titelmasterformat durch Klicken bearbeiten</a:t>
            </a:r>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rgbClr val="3A77AD"/>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8DD25DDA-D26E-4C65-81E7-886BFA2DBF4B}" type="datetime1">
              <a:rPr lang="de-DE" smtClean="0"/>
              <a:pPr/>
              <a:t>20.09.2026</a:t>
            </a:fld>
            <a:endParaRPr lang="de-DE"/>
          </a:p>
        </p:txBody>
      </p:sp>
      <p:sp>
        <p:nvSpPr>
          <p:cNvPr id="5" name="Fußzeilenplatzhalter 4"/>
          <p:cNvSpPr>
            <a:spLocks noGrp="1"/>
          </p:cNvSpPr>
          <p:nvPr>
            <p:ph type="ftr" sz="quarter" idx="11"/>
          </p:nvPr>
        </p:nvSpPr>
        <p:spPr/>
        <p:txBody>
          <a:bodyPr/>
          <a:lstStyle/>
          <a:p>
            <a:r>
              <a:rPr lang="de-DE"/>
              <a:t>SPP Initiative – Kognitive Mehrfachanforderungen</a:t>
            </a:r>
          </a:p>
        </p:txBody>
      </p:sp>
      <p:sp>
        <p:nvSpPr>
          <p:cNvPr id="6" name="Foliennummernplatzhalter 5"/>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826324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Arial Unicode MS" pitchFamily="34" charset="-128"/>
                <a:ea typeface="Arial Unicode MS" pitchFamily="34" charset="-128"/>
                <a:cs typeface="Arial Unicode MS" pitchFamily="34" charset="-128"/>
              </a:defRPr>
            </a:lvl1pPr>
          </a:lstStyle>
          <a:p>
            <a:r>
              <a:rPr lang="en-US" noProof="0" err="1"/>
              <a:t>Titelmasterformat</a:t>
            </a:r>
            <a:r>
              <a:rPr lang="en-US" noProof="0"/>
              <a:t> </a:t>
            </a:r>
            <a:r>
              <a:rPr lang="en-US" noProof="0" err="1"/>
              <a:t>durch</a:t>
            </a:r>
            <a:r>
              <a:rPr lang="en-US" noProof="0"/>
              <a:t> </a:t>
            </a:r>
            <a:r>
              <a:rPr lang="en-US" noProof="0" err="1"/>
              <a:t>Klicken</a:t>
            </a:r>
            <a:r>
              <a:rPr lang="en-US" noProof="0"/>
              <a:t> </a:t>
            </a:r>
            <a:r>
              <a:rPr lang="en-US" noProof="0" err="1"/>
              <a:t>bearbeiten</a:t>
            </a:r>
            <a:endParaRPr lang="en-US" noProof="0"/>
          </a:p>
        </p:txBody>
      </p:sp>
      <p:sp>
        <p:nvSpPr>
          <p:cNvPr id="3" name="Inhaltsplatzhalter 2"/>
          <p:cNvSpPr>
            <a:spLocks noGrp="1"/>
          </p:cNvSpPr>
          <p:nvPr>
            <p:ph idx="1"/>
          </p:nvPr>
        </p:nvSpPr>
        <p:spPr>
          <a:xfrm>
            <a:off x="457200" y="1190802"/>
            <a:ext cx="8229600" cy="3315816"/>
          </a:xfrm>
        </p:spPr>
        <p:txBody>
          <a:bodyPr/>
          <a:lstStyle>
            <a:lvl4pPr>
              <a:defRPr>
                <a:latin typeface="Arial Unicode MS" pitchFamily="34" charset="-128"/>
                <a:ea typeface="Arial Unicode MS" pitchFamily="34" charset="-128"/>
                <a:cs typeface="Arial Unicode MS" pitchFamily="34" charset="-128"/>
              </a:defRPr>
            </a:lvl4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a:t>
            </a:r>
            <a:r>
              <a:rPr lang="en-US" noProof="0" err="1"/>
              <a:t>Ebene</a:t>
            </a:r>
            <a:endParaRPr lang="en-US" noProof="0"/>
          </a:p>
          <a:p>
            <a:pPr lvl="2"/>
            <a:r>
              <a:rPr lang="en-US" noProof="0" err="1"/>
              <a:t>Dritte</a:t>
            </a:r>
            <a:r>
              <a:rPr lang="en-US" noProof="0"/>
              <a:t> </a:t>
            </a:r>
            <a:r>
              <a:rPr lang="en-US" noProof="0" err="1"/>
              <a:t>Ebene</a:t>
            </a:r>
            <a:endParaRPr lang="en-US" noProof="0"/>
          </a:p>
          <a:p>
            <a:pPr lvl="3"/>
            <a:r>
              <a:rPr lang="en-US" noProof="0" err="1"/>
              <a:t>Vierte</a:t>
            </a:r>
            <a:r>
              <a:rPr lang="en-US" noProof="0"/>
              <a:t> </a:t>
            </a:r>
            <a:r>
              <a:rPr lang="en-US" noProof="0" err="1"/>
              <a:t>Ebene</a:t>
            </a:r>
            <a:endParaRPr lang="en-US" noProof="0"/>
          </a:p>
          <a:p>
            <a:pPr lvl="4"/>
            <a:r>
              <a:rPr lang="en-US" noProof="0" err="1"/>
              <a:t>Fünfte</a:t>
            </a:r>
            <a:r>
              <a:rPr lang="en-US" noProof="0"/>
              <a:t> </a:t>
            </a:r>
            <a:r>
              <a:rPr lang="en-US" noProof="0" err="1"/>
              <a:t>Ebene</a:t>
            </a:r>
            <a:endParaRPr lang="en-US" noProof="0"/>
          </a:p>
        </p:txBody>
      </p:sp>
      <p:sp>
        <p:nvSpPr>
          <p:cNvPr id="6" name="Foliennummernplatzhalter 5"/>
          <p:cNvSpPr>
            <a:spLocks noGrp="1"/>
          </p:cNvSpPr>
          <p:nvPr>
            <p:ph type="sldNum" sz="quarter" idx="12"/>
          </p:nvPr>
        </p:nvSpPr>
        <p:spPr>
          <a:xfrm>
            <a:off x="8256300" y="4731990"/>
            <a:ext cx="636180" cy="273844"/>
          </a:xfrm>
        </p:spPr>
        <p:txBody>
          <a:bodyPr/>
          <a:lstStyle>
            <a:lvl1pPr marL="0" algn="r" defTabSz="685800" rtl="0" eaLnBrk="1" latinLnBrk="0" hangingPunct="1">
              <a:defRPr lang="de-DE" sz="1050" kern="1200" smtClean="0">
                <a:solidFill>
                  <a:schemeClr val="tx2">
                    <a:lumMod val="75000"/>
                  </a:schemeClr>
                </a:solidFill>
                <a:latin typeface="Arial Unicode MS" pitchFamily="34" charset="-128"/>
                <a:ea typeface="Arial Unicode MS" pitchFamily="34" charset="-128"/>
                <a:cs typeface="Arial Unicode MS" pitchFamily="34" charset="-128"/>
              </a:defRPr>
            </a:lvl1pPr>
          </a:lstStyle>
          <a:p>
            <a:fld id="{5CD88B4E-D815-417B-99FD-41D66E5C06D4}" type="slidenum">
              <a:rPr lang="de-DE" smtClean="0"/>
              <a:pPr/>
              <a:t>‹Nr.›</a:t>
            </a:fld>
            <a:endParaRPr lang="de-DE"/>
          </a:p>
        </p:txBody>
      </p:sp>
    </p:spTree>
    <p:extLst>
      <p:ext uri="{BB962C8B-B14F-4D97-AF65-F5344CB8AC3E}">
        <p14:creationId xmlns:p14="http://schemas.microsoft.com/office/powerpoint/2010/main" val="28514212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3000" b="1" cap="all"/>
            </a:lvl1pPr>
          </a:lstStyle>
          <a:p>
            <a:r>
              <a:rPr lang="de-DE"/>
              <a:t>Titelmasterformat durch Klicken bearbeiten</a:t>
            </a:r>
          </a:p>
        </p:txBody>
      </p:sp>
      <p:sp>
        <p:nvSpPr>
          <p:cNvPr id="3" name="Textplatzhalt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de-DE"/>
              <a:t>Textmasterformat bearbeiten</a:t>
            </a:r>
          </a:p>
        </p:txBody>
      </p:sp>
      <p:sp>
        <p:nvSpPr>
          <p:cNvPr id="4" name="Datumsplatzhalter 3"/>
          <p:cNvSpPr>
            <a:spLocks noGrp="1"/>
          </p:cNvSpPr>
          <p:nvPr>
            <p:ph type="dt" sz="half" idx="10"/>
          </p:nvPr>
        </p:nvSpPr>
        <p:spPr/>
        <p:txBody>
          <a:bodyPr/>
          <a:lstStyle/>
          <a:p>
            <a:fld id="{82291B1E-1756-4A5C-A79F-F2FEDD9B6C08}" type="datetime1">
              <a:rPr lang="de-DE" smtClean="0"/>
              <a:pPr/>
              <a:t>20.09.2026</a:t>
            </a:fld>
            <a:endParaRPr lang="de-DE"/>
          </a:p>
        </p:txBody>
      </p:sp>
      <p:sp>
        <p:nvSpPr>
          <p:cNvPr id="5" name="Fußzeilenplatzhalter 4"/>
          <p:cNvSpPr>
            <a:spLocks noGrp="1"/>
          </p:cNvSpPr>
          <p:nvPr>
            <p:ph type="ftr" sz="quarter" idx="11"/>
          </p:nvPr>
        </p:nvSpPr>
        <p:spPr/>
        <p:txBody>
          <a:bodyPr/>
          <a:lstStyle/>
          <a:p>
            <a:r>
              <a:rPr lang="de-DE"/>
              <a:t>SPP Initiative – Kognitive Mehrfachanforderungen</a:t>
            </a:r>
          </a:p>
        </p:txBody>
      </p:sp>
      <p:sp>
        <p:nvSpPr>
          <p:cNvPr id="6" name="Foliennummernplatzhalter 5"/>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547508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C25EF7E3-34C6-4F29-A3E8-B2123BFC8360}" type="datetime1">
              <a:rPr lang="de-DE" smtClean="0"/>
              <a:pPr/>
              <a:t>20.09.2026</a:t>
            </a:fld>
            <a:endParaRPr lang="de-DE"/>
          </a:p>
        </p:txBody>
      </p:sp>
      <p:sp>
        <p:nvSpPr>
          <p:cNvPr id="6" name="Fußzeilenplatzhalter 5"/>
          <p:cNvSpPr>
            <a:spLocks noGrp="1"/>
          </p:cNvSpPr>
          <p:nvPr>
            <p:ph type="ftr" sz="quarter" idx="11"/>
          </p:nvPr>
        </p:nvSpPr>
        <p:spPr/>
        <p:txBody>
          <a:bodyPr/>
          <a:lstStyle/>
          <a:p>
            <a:r>
              <a:rPr lang="de-DE"/>
              <a:t>SPP Initiative – Kognitive Mehrfachanforderungen</a:t>
            </a:r>
          </a:p>
        </p:txBody>
      </p:sp>
      <p:sp>
        <p:nvSpPr>
          <p:cNvPr id="7" name="Foliennummernplatzhalter 6"/>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8716638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Textmasterformat bearbeiten</a:t>
            </a:r>
          </a:p>
        </p:txBody>
      </p:sp>
      <p:sp>
        <p:nvSpPr>
          <p:cNvPr id="6" name="Inhaltsplatzhalt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9BF2F809-AE36-447A-BE8D-DBD43813230D}" type="datetime1">
              <a:rPr lang="de-DE" smtClean="0"/>
              <a:pPr/>
              <a:t>20.09.2026</a:t>
            </a:fld>
            <a:endParaRPr lang="de-DE"/>
          </a:p>
        </p:txBody>
      </p:sp>
      <p:sp>
        <p:nvSpPr>
          <p:cNvPr id="8" name="Fußzeilenplatzhalter 7"/>
          <p:cNvSpPr>
            <a:spLocks noGrp="1"/>
          </p:cNvSpPr>
          <p:nvPr>
            <p:ph type="ftr" sz="quarter" idx="11"/>
          </p:nvPr>
        </p:nvSpPr>
        <p:spPr/>
        <p:txBody>
          <a:bodyPr/>
          <a:lstStyle/>
          <a:p>
            <a:r>
              <a:rPr lang="de-DE"/>
              <a:t>SPP Initiative – Kognitive Mehrfachanforderungen</a:t>
            </a:r>
          </a:p>
        </p:txBody>
      </p:sp>
      <p:sp>
        <p:nvSpPr>
          <p:cNvPr id="9" name="Foliennummernplatzhalter 8"/>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32566832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C3E9AD70-BBFA-4BDA-AD17-94996E01E40D}" type="datetime1">
              <a:rPr lang="de-DE" smtClean="0"/>
              <a:pPr/>
              <a:t>20.09.2026</a:t>
            </a:fld>
            <a:endParaRPr lang="de-DE"/>
          </a:p>
        </p:txBody>
      </p:sp>
      <p:sp>
        <p:nvSpPr>
          <p:cNvPr id="4" name="Fußzeilenplatzhalter 3"/>
          <p:cNvSpPr>
            <a:spLocks noGrp="1"/>
          </p:cNvSpPr>
          <p:nvPr>
            <p:ph type="ftr" sz="quarter" idx="11"/>
          </p:nvPr>
        </p:nvSpPr>
        <p:spPr/>
        <p:txBody>
          <a:bodyPr/>
          <a:lstStyle/>
          <a:p>
            <a:r>
              <a:rPr lang="de-DE"/>
              <a:t>SPP Initiative – Kognitive Mehrfachanforderungen</a:t>
            </a:r>
          </a:p>
        </p:txBody>
      </p:sp>
      <p:sp>
        <p:nvSpPr>
          <p:cNvPr id="5" name="Foliennummernplatzhalter 4"/>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1754340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12A5E7E-DC59-44FF-98CB-32ED5C7DF30F}" type="datetime1">
              <a:rPr lang="de-DE" smtClean="0"/>
              <a:pPr/>
              <a:t>20.09.2026</a:t>
            </a:fld>
            <a:endParaRPr lang="de-DE"/>
          </a:p>
        </p:txBody>
      </p:sp>
      <p:sp>
        <p:nvSpPr>
          <p:cNvPr id="3" name="Fußzeilenplatzhalter 2"/>
          <p:cNvSpPr>
            <a:spLocks noGrp="1"/>
          </p:cNvSpPr>
          <p:nvPr>
            <p:ph type="ftr" sz="quarter" idx="11"/>
          </p:nvPr>
        </p:nvSpPr>
        <p:spPr/>
        <p:txBody>
          <a:bodyPr/>
          <a:lstStyle/>
          <a:p>
            <a:r>
              <a:rPr lang="de-DE"/>
              <a:t>SPP Initiative – Kognitive Mehrfachanforderungen</a:t>
            </a:r>
          </a:p>
        </p:txBody>
      </p:sp>
      <p:sp>
        <p:nvSpPr>
          <p:cNvPr id="4" name="Foliennummernplatzhalter 3"/>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1504002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1" y="204787"/>
            <a:ext cx="3008313" cy="871538"/>
          </a:xfrm>
        </p:spPr>
        <p:txBody>
          <a:bodyPr anchor="b"/>
          <a:lstStyle>
            <a:lvl1pPr algn="l">
              <a:defRPr sz="1500" b="1"/>
            </a:lvl1pPr>
          </a:lstStyle>
          <a:p>
            <a:r>
              <a:rPr lang="de-DE"/>
              <a:t>Titelmasterformat durch Klicken bearbeiten</a:t>
            </a:r>
          </a:p>
        </p:txBody>
      </p:sp>
      <p:sp>
        <p:nvSpPr>
          <p:cNvPr id="3" name="Inhaltsplatzhalt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e-DE"/>
              <a:t>Textmasterformat bearbeiten</a:t>
            </a:r>
          </a:p>
        </p:txBody>
      </p:sp>
      <p:sp>
        <p:nvSpPr>
          <p:cNvPr id="5" name="Datumsplatzhalter 4"/>
          <p:cNvSpPr>
            <a:spLocks noGrp="1"/>
          </p:cNvSpPr>
          <p:nvPr>
            <p:ph type="dt" sz="half" idx="10"/>
          </p:nvPr>
        </p:nvSpPr>
        <p:spPr/>
        <p:txBody>
          <a:bodyPr/>
          <a:lstStyle/>
          <a:p>
            <a:fld id="{75CBFBE5-D840-46F9-A1EC-71EE2BFB233E}" type="datetime1">
              <a:rPr lang="de-DE" smtClean="0"/>
              <a:pPr/>
              <a:t>20.09.2026</a:t>
            </a:fld>
            <a:endParaRPr lang="de-DE"/>
          </a:p>
        </p:txBody>
      </p:sp>
      <p:sp>
        <p:nvSpPr>
          <p:cNvPr id="6" name="Fußzeilenplatzhalter 5"/>
          <p:cNvSpPr>
            <a:spLocks noGrp="1"/>
          </p:cNvSpPr>
          <p:nvPr>
            <p:ph type="ftr" sz="quarter" idx="11"/>
          </p:nvPr>
        </p:nvSpPr>
        <p:spPr/>
        <p:txBody>
          <a:bodyPr/>
          <a:lstStyle/>
          <a:p>
            <a:r>
              <a:rPr lang="de-DE"/>
              <a:t>SPP Initiative – Kognitive Mehrfachanforderungen</a:t>
            </a:r>
          </a:p>
        </p:txBody>
      </p:sp>
      <p:sp>
        <p:nvSpPr>
          <p:cNvPr id="7" name="Foliennummernplatzhalter 6"/>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38919150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0"/>
            <a:ext cx="5486400" cy="425054"/>
          </a:xfrm>
        </p:spPr>
        <p:txBody>
          <a:bodyPr anchor="b"/>
          <a:lstStyle>
            <a:lvl1pPr algn="l">
              <a:defRPr sz="1500" b="1"/>
            </a:lvl1pPr>
          </a:lstStyle>
          <a:p>
            <a:r>
              <a:rPr lang="de-DE"/>
              <a:t>Titelmasterformat durch Klicken bearbeiten</a:t>
            </a:r>
          </a:p>
        </p:txBody>
      </p:sp>
      <p:sp>
        <p:nvSpPr>
          <p:cNvPr id="3" name="Bildplatzhalt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de-DE"/>
          </a:p>
        </p:txBody>
      </p:sp>
      <p:sp>
        <p:nvSpPr>
          <p:cNvPr id="4" name="Textplatzhalt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e-DE"/>
              <a:t>Textmasterformat bearbeiten</a:t>
            </a:r>
          </a:p>
        </p:txBody>
      </p:sp>
      <p:sp>
        <p:nvSpPr>
          <p:cNvPr id="5" name="Datumsplatzhalter 4"/>
          <p:cNvSpPr>
            <a:spLocks noGrp="1"/>
          </p:cNvSpPr>
          <p:nvPr>
            <p:ph type="dt" sz="half" idx="10"/>
          </p:nvPr>
        </p:nvSpPr>
        <p:spPr/>
        <p:txBody>
          <a:bodyPr/>
          <a:lstStyle/>
          <a:p>
            <a:fld id="{310E40CA-5887-4B04-9981-5E3E0EE4CEE6}" type="datetime1">
              <a:rPr lang="de-DE" smtClean="0"/>
              <a:pPr/>
              <a:t>20.09.2026</a:t>
            </a:fld>
            <a:endParaRPr lang="de-DE"/>
          </a:p>
        </p:txBody>
      </p:sp>
      <p:sp>
        <p:nvSpPr>
          <p:cNvPr id="6" name="Fußzeilenplatzhalter 5"/>
          <p:cNvSpPr>
            <a:spLocks noGrp="1"/>
          </p:cNvSpPr>
          <p:nvPr>
            <p:ph type="ftr" sz="quarter" idx="11"/>
          </p:nvPr>
        </p:nvSpPr>
        <p:spPr/>
        <p:txBody>
          <a:bodyPr/>
          <a:lstStyle/>
          <a:p>
            <a:r>
              <a:rPr lang="de-DE"/>
              <a:t>SPP Initiative – Kognitive Mehrfachanforderungen</a:t>
            </a:r>
          </a:p>
        </p:txBody>
      </p:sp>
      <p:sp>
        <p:nvSpPr>
          <p:cNvPr id="7" name="Foliennummernplatzhalter 6"/>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9860852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984F1C03-9221-492F-9D3B-13656BBDDDDC}" type="datetime1">
              <a:rPr lang="de-DE" smtClean="0"/>
              <a:pPr/>
              <a:t>20.09.2026</a:t>
            </a:fld>
            <a:endParaRPr lang="de-DE"/>
          </a:p>
        </p:txBody>
      </p:sp>
      <p:sp>
        <p:nvSpPr>
          <p:cNvPr id="5" name="Fußzeilenplatzhalter 4"/>
          <p:cNvSpPr>
            <a:spLocks noGrp="1"/>
          </p:cNvSpPr>
          <p:nvPr>
            <p:ph type="ftr" sz="quarter" idx="11"/>
          </p:nvPr>
        </p:nvSpPr>
        <p:spPr/>
        <p:txBody>
          <a:bodyPr/>
          <a:lstStyle/>
          <a:p>
            <a:r>
              <a:rPr lang="de-DE"/>
              <a:t>SPP Initiative – Kognitive Mehrfachanforderungen</a:t>
            </a:r>
          </a:p>
        </p:txBody>
      </p:sp>
      <p:sp>
        <p:nvSpPr>
          <p:cNvPr id="6" name="Foliennummernplatzhalter 5"/>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22408777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79"/>
            <a:ext cx="2057400" cy="4388644"/>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57200" y="205979"/>
            <a:ext cx="6019800" cy="4388644"/>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C03166C5-6A3D-4F25-B59A-7D1EDABF349D}" type="datetime1">
              <a:rPr lang="de-DE" smtClean="0"/>
              <a:pPr/>
              <a:t>20.09.2026</a:t>
            </a:fld>
            <a:endParaRPr lang="de-DE"/>
          </a:p>
        </p:txBody>
      </p:sp>
      <p:sp>
        <p:nvSpPr>
          <p:cNvPr id="5" name="Fußzeilenplatzhalter 4"/>
          <p:cNvSpPr>
            <a:spLocks noGrp="1"/>
          </p:cNvSpPr>
          <p:nvPr>
            <p:ph type="ftr" sz="quarter" idx="11"/>
          </p:nvPr>
        </p:nvSpPr>
        <p:spPr/>
        <p:txBody>
          <a:bodyPr/>
          <a:lstStyle/>
          <a:p>
            <a:r>
              <a:rPr lang="de-DE"/>
              <a:t>SPP Initiative – Kognitive Mehrfachanforderungen</a:t>
            </a:r>
          </a:p>
        </p:txBody>
      </p:sp>
      <p:sp>
        <p:nvSpPr>
          <p:cNvPr id="6" name="Foliennummernplatzhalter 5"/>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36185616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1E5EB6-51D3-4CEE-866B-DD0507A8A478}"/>
              </a:ext>
            </a:extLst>
          </p:cNvPr>
          <p:cNvSpPr>
            <a:spLocks noGrp="1"/>
          </p:cNvSpPr>
          <p:nvPr>
            <p:ph type="ctrTitle"/>
          </p:nvPr>
        </p:nvSpPr>
        <p:spPr>
          <a:xfrm>
            <a:off x="685800" y="1597819"/>
            <a:ext cx="7772400" cy="1102519"/>
          </a:xfrm>
        </p:spPr>
        <p:txBody>
          <a:bodyPr/>
          <a:lstStyle>
            <a:lvl1pPr>
              <a:buNone/>
              <a:defRPr>
                <a:solidFill>
                  <a:srgbClr val="3A77AD"/>
                </a:solidFill>
              </a:defRPr>
            </a:lvl1pPr>
          </a:lstStyle>
          <a:p>
            <a:r>
              <a:t>Titelmasterformat durch Klicken bearbeiten</a:t>
            </a:r>
          </a:p>
        </p:txBody>
      </p:sp>
      <p:sp>
        <p:nvSpPr>
          <p:cNvPr id="3" name="Untertitel 2">
            <a:extLst>
              <a:ext uri="{FF2B5EF4-FFF2-40B4-BE49-F238E27FC236}">
                <a16:creationId xmlns:a16="http://schemas.microsoft.com/office/drawing/2014/main" id="{D607E1D3-AE35-44F2-9141-BC0877E756E5}"/>
              </a:ext>
            </a:extLst>
          </p:cNvPr>
          <p:cNvSpPr>
            <a:spLocks noGrp="1"/>
          </p:cNvSpPr>
          <p:nvPr>
            <p:ph type="subTitle" idx="1"/>
          </p:nvPr>
        </p:nvSpPr>
        <p:spPr>
          <a:xfrm>
            <a:off x="1371600" y="2914650"/>
            <a:ext cx="6400800" cy="1314450"/>
          </a:xfrm>
        </p:spPr>
        <p:txBody>
          <a:bodyPr/>
          <a:lstStyle>
            <a:lvl1pPr marL="0" indent="0" algn="ctr">
              <a:buNone/>
              <a:defRPr>
                <a:solidFill>
                  <a:srgbClr val="3A77AD"/>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t>Formatvorlage des Untertitelmasters durch Klicken bearbeiten</a:t>
            </a:r>
          </a:p>
        </p:txBody>
      </p:sp>
      <p:sp>
        <p:nvSpPr>
          <p:cNvPr id="4" name="Datumsplatzhalter 3">
            <a:extLst>
              <a:ext uri="{FF2B5EF4-FFF2-40B4-BE49-F238E27FC236}">
                <a16:creationId xmlns:a16="http://schemas.microsoft.com/office/drawing/2014/main" id="{60293F25-B3EA-407B-9553-634452D613E5}"/>
              </a:ext>
            </a:extLst>
          </p:cNvPr>
          <p:cNvSpPr>
            <a:spLocks noGrp="1"/>
          </p:cNvSpPr>
          <p:nvPr>
            <p:ph type="dt" idx="10"/>
          </p:nvPr>
        </p:nvSpPr>
        <p:spPr/>
        <p:txBody>
          <a:bodyPr/>
          <a:lstStyle/>
          <a:p>
            <a:fld id="{8DD25DDA-D26E-4C65-81E7-886BFA2DBF4B}" type="datetime1">
              <a:rPr lang="en-US"/>
              <a:t>9/20/2026</a:t>
            </a:fld>
            <a:endParaRPr/>
          </a:p>
        </p:txBody>
      </p:sp>
      <p:sp>
        <p:nvSpPr>
          <p:cNvPr id="5" name="Fußzeilenplatzhalter 4">
            <a:extLst>
              <a:ext uri="{FF2B5EF4-FFF2-40B4-BE49-F238E27FC236}">
                <a16:creationId xmlns:a16="http://schemas.microsoft.com/office/drawing/2014/main" id="{65D50551-C1AF-4734-A668-4A8DF1C3E57F}"/>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D47F039B-F4C6-4131-81AF-F9DDB7D5C99B}"/>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32327590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44703E-4150-4FCF-AC26-4C412DDF59A1}"/>
              </a:ext>
            </a:extLst>
          </p:cNvPr>
          <p:cNvSpPr>
            <a:spLocks noGrp="1"/>
          </p:cNvSpPr>
          <p:nvPr>
            <p:ph type="title"/>
          </p:nvPr>
        </p:nvSpPr>
        <p:spPr/>
        <p:txBody>
          <a:bodyPr/>
          <a:lstStyle>
            <a:lvl1pPr>
              <a:buNone/>
              <a:defRPr>
                <a:latin typeface="Arial Unicode MS"/>
                <a:ea typeface="Arial Unicode MS"/>
                <a:cs typeface="Arial Unicode MS"/>
              </a:defRPr>
            </a:lvl1pPr>
          </a:lstStyle>
          <a:p>
            <a:r>
              <a:rPr dirty="0" err="1"/>
              <a:t>Titelmasterformat</a:t>
            </a:r>
            <a:r>
              <a:rPr dirty="0"/>
              <a:t> </a:t>
            </a:r>
            <a:r>
              <a:rPr dirty="0" err="1"/>
              <a:t>durch</a:t>
            </a:r>
            <a:r>
              <a:rPr dirty="0"/>
              <a:t> </a:t>
            </a:r>
            <a:r>
              <a:rPr dirty="0" err="1"/>
              <a:t>Klicken</a:t>
            </a:r>
            <a:r>
              <a:rPr dirty="0"/>
              <a:t> </a:t>
            </a:r>
            <a:r>
              <a:rPr dirty="0" err="1"/>
              <a:t>bearbeiten</a:t>
            </a:r>
            <a:endParaRPr dirty="0"/>
          </a:p>
        </p:txBody>
      </p:sp>
      <p:sp>
        <p:nvSpPr>
          <p:cNvPr id="3" name="Inhaltsplatzhalter 2">
            <a:extLst>
              <a:ext uri="{FF2B5EF4-FFF2-40B4-BE49-F238E27FC236}">
                <a16:creationId xmlns:a16="http://schemas.microsoft.com/office/drawing/2014/main" id="{D512DA99-6AD5-4B52-A2D7-C464763F3879}"/>
              </a:ext>
            </a:extLst>
          </p:cNvPr>
          <p:cNvSpPr>
            <a:spLocks noGrp="1"/>
          </p:cNvSpPr>
          <p:nvPr>
            <p:ph idx="1"/>
          </p:nvPr>
        </p:nvSpPr>
        <p:spPr>
          <a:xfrm>
            <a:off x="457200" y="1190802"/>
            <a:ext cx="8229600" cy="3315816"/>
          </a:xfrm>
        </p:spPr>
        <p:txBody>
          <a:bodyPr/>
          <a:lstStyle>
            <a:lvl4pPr>
              <a:buNone/>
              <a:defRPr>
                <a:latin typeface="Arial Unicode MS"/>
                <a:ea typeface="Arial Unicode MS"/>
                <a:cs typeface="Arial Unicode MS"/>
              </a:defRPr>
            </a:lvl4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6" name="Foliennummernplatzhalter 5">
            <a:extLst>
              <a:ext uri="{FF2B5EF4-FFF2-40B4-BE49-F238E27FC236}">
                <a16:creationId xmlns:a16="http://schemas.microsoft.com/office/drawing/2014/main" id="{C0329583-F0C0-49DB-9BCF-D833FB7B88AC}"/>
              </a:ext>
            </a:extLst>
          </p:cNvPr>
          <p:cNvSpPr>
            <a:spLocks noGrp="1"/>
          </p:cNvSpPr>
          <p:nvPr>
            <p:ph type="sldNum" idx="12"/>
          </p:nvPr>
        </p:nvSpPr>
        <p:spPr>
          <a:xfrm>
            <a:off x="8256300" y="4731990"/>
            <a:ext cx="636180" cy="273844"/>
          </a:xfrm>
        </p:spPr>
        <p:txBody>
          <a:bodyPr/>
          <a:lstStyle>
            <a:lvl1pPr marL="0" algn="r" defTabSz="685800">
              <a:buNone/>
              <a:defRPr sz="1050" kern="1200">
                <a:solidFill>
                  <a:schemeClr val="tx2">
                    <a:lumMod val="75000"/>
                  </a:schemeClr>
                </a:solidFill>
                <a:latin typeface="Arial Unicode MS"/>
                <a:ea typeface="Arial Unicode MS"/>
                <a:cs typeface="Arial Unicode MS"/>
              </a:defRPr>
            </a:lvl1pPr>
          </a:lstStyle>
          <a:p>
            <a:fld id="{5CD88B4E-D815-417B-99FD-41D66E5C06D4}" type="slidenum">
              <a:rPr/>
              <a:t>‹Nr.›</a:t>
            </a:fld>
            <a:endParaRPr/>
          </a:p>
        </p:txBody>
      </p:sp>
    </p:spTree>
    <p:extLst>
      <p:ext uri="{BB962C8B-B14F-4D97-AF65-F5344CB8AC3E}">
        <p14:creationId xmlns:p14="http://schemas.microsoft.com/office/powerpoint/2010/main" val="32808080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62C48E-9A13-4A7E-AA6A-87D1AC3AC0C8}"/>
              </a:ext>
            </a:extLst>
          </p:cNvPr>
          <p:cNvSpPr>
            <a:spLocks noGrp="1"/>
          </p:cNvSpPr>
          <p:nvPr>
            <p:ph type="title"/>
          </p:nvPr>
        </p:nvSpPr>
        <p:spPr>
          <a:xfrm>
            <a:off x="722313" y="3305176"/>
            <a:ext cx="7772400" cy="1021556"/>
          </a:xfrm>
        </p:spPr>
        <p:txBody>
          <a:bodyPr anchor="t"/>
          <a:lstStyle>
            <a:lvl1pPr algn="l">
              <a:buNone/>
              <a:defRPr sz="3000" b="1" cap="all"/>
            </a:lvl1pPr>
          </a:lstStyle>
          <a:p>
            <a:r>
              <a:t>Titelmasterformat durch Klicken bearbeiten</a:t>
            </a:r>
          </a:p>
        </p:txBody>
      </p:sp>
      <p:sp>
        <p:nvSpPr>
          <p:cNvPr id="3" name="Textplatzhalter 2">
            <a:extLst>
              <a:ext uri="{FF2B5EF4-FFF2-40B4-BE49-F238E27FC236}">
                <a16:creationId xmlns:a16="http://schemas.microsoft.com/office/drawing/2014/main" id="{B24E126F-A99D-41A9-8219-84AE61304FC1}"/>
              </a:ext>
            </a:extLst>
          </p:cNvPr>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buNone/>
            </a:pPr>
            <a:r>
              <a:t>Textmasterformat bearbeiten</a:t>
            </a:r>
          </a:p>
        </p:txBody>
      </p:sp>
      <p:sp>
        <p:nvSpPr>
          <p:cNvPr id="4" name="Datumsplatzhalter 3">
            <a:extLst>
              <a:ext uri="{FF2B5EF4-FFF2-40B4-BE49-F238E27FC236}">
                <a16:creationId xmlns:a16="http://schemas.microsoft.com/office/drawing/2014/main" id="{0CDBB60F-DFD5-4B33-9F9C-A2FFA0EE74A1}"/>
              </a:ext>
            </a:extLst>
          </p:cNvPr>
          <p:cNvSpPr>
            <a:spLocks noGrp="1"/>
          </p:cNvSpPr>
          <p:nvPr>
            <p:ph type="dt" idx="10"/>
          </p:nvPr>
        </p:nvSpPr>
        <p:spPr/>
        <p:txBody>
          <a:bodyPr/>
          <a:lstStyle/>
          <a:p>
            <a:fld id="{82291B1E-1756-4A5C-A79F-F2FEDD9B6C08}" type="datetime1">
              <a:rPr lang="en-US"/>
              <a:t>9/20/2026</a:t>
            </a:fld>
            <a:endParaRPr/>
          </a:p>
        </p:txBody>
      </p:sp>
      <p:sp>
        <p:nvSpPr>
          <p:cNvPr id="5" name="Fußzeilenplatzhalter 4">
            <a:extLst>
              <a:ext uri="{FF2B5EF4-FFF2-40B4-BE49-F238E27FC236}">
                <a16:creationId xmlns:a16="http://schemas.microsoft.com/office/drawing/2014/main" id="{CDA99A6B-C707-44EE-88B8-49D64782391E}"/>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6A15729B-94BB-4880-8D89-388D0649657A}"/>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34210246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A37635-A623-4E98-AC3E-8D62F1F648D6}"/>
              </a:ext>
            </a:extLst>
          </p:cNvPr>
          <p:cNvSpPr>
            <a:spLocks noGrp="1"/>
          </p:cNvSpPr>
          <p:nvPr>
            <p:ph type="title"/>
          </p:nvPr>
        </p:nvSpPr>
        <p:spPr/>
        <p:txBody>
          <a:bodyPr/>
          <a:lstStyle/>
          <a:p>
            <a:r>
              <a:t>Titelmasterformat durch Klicken bearbeiten</a:t>
            </a:r>
          </a:p>
        </p:txBody>
      </p:sp>
      <p:sp>
        <p:nvSpPr>
          <p:cNvPr id="3" name="Inhaltsplatzhalter 2">
            <a:extLst>
              <a:ext uri="{FF2B5EF4-FFF2-40B4-BE49-F238E27FC236}">
                <a16:creationId xmlns:a16="http://schemas.microsoft.com/office/drawing/2014/main" id="{1FA6A68D-62E8-4097-BC94-596C357F941D}"/>
              </a:ext>
            </a:extLst>
          </p:cNvPr>
          <p:cNvSpPr>
            <a:spLocks noGrp="1"/>
          </p:cNvSpPr>
          <p:nvPr>
            <p:ph idx="1"/>
          </p:nvPr>
        </p:nvSpPr>
        <p:spPr>
          <a:xfrm>
            <a:off x="457200" y="1200151"/>
            <a:ext cx="4038600" cy="3394472"/>
          </a:xfrm>
        </p:spPr>
        <p:txBody>
          <a:bodyPr/>
          <a:lstStyle>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Inhaltsplatzhalter 3">
            <a:extLst>
              <a:ext uri="{FF2B5EF4-FFF2-40B4-BE49-F238E27FC236}">
                <a16:creationId xmlns:a16="http://schemas.microsoft.com/office/drawing/2014/main" id="{4073D382-90A3-4817-9579-52D81369CD33}"/>
              </a:ext>
            </a:extLst>
          </p:cNvPr>
          <p:cNvSpPr>
            <a:spLocks noGrp="1"/>
          </p:cNvSpPr>
          <p:nvPr>
            <p:ph idx="2"/>
          </p:nvPr>
        </p:nvSpPr>
        <p:spPr>
          <a:xfrm>
            <a:off x="4648200" y="1200151"/>
            <a:ext cx="4038600" cy="3394472"/>
          </a:xfrm>
        </p:spPr>
        <p:txBody>
          <a:bodyPr/>
          <a:lstStyle>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Datumsplatzhalter 4">
            <a:extLst>
              <a:ext uri="{FF2B5EF4-FFF2-40B4-BE49-F238E27FC236}">
                <a16:creationId xmlns:a16="http://schemas.microsoft.com/office/drawing/2014/main" id="{C01B4D72-53C5-4B48-8E28-0C570A263DC0}"/>
              </a:ext>
            </a:extLst>
          </p:cNvPr>
          <p:cNvSpPr>
            <a:spLocks noGrp="1"/>
          </p:cNvSpPr>
          <p:nvPr>
            <p:ph type="dt" idx="10"/>
          </p:nvPr>
        </p:nvSpPr>
        <p:spPr/>
        <p:txBody>
          <a:bodyPr/>
          <a:lstStyle/>
          <a:p>
            <a:fld id="{C25EF7E3-34C6-4F29-A3E8-B2123BFC8360}" type="datetime1">
              <a:rPr lang="en-US"/>
              <a:t>9/20/2026</a:t>
            </a:fld>
            <a:endParaRPr/>
          </a:p>
        </p:txBody>
      </p:sp>
      <p:sp>
        <p:nvSpPr>
          <p:cNvPr id="6" name="Fußzeilenplatzhalter 5">
            <a:extLst>
              <a:ext uri="{FF2B5EF4-FFF2-40B4-BE49-F238E27FC236}">
                <a16:creationId xmlns:a16="http://schemas.microsoft.com/office/drawing/2014/main" id="{8E43D247-3AB3-4E5E-889D-EE9388E9EC09}"/>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29CA68E8-FF76-48FE-89E1-16FF04182F43}"/>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8431735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57D3AF-0732-426A-A34C-0295E4BFB97B}"/>
              </a:ext>
            </a:extLst>
          </p:cNvPr>
          <p:cNvSpPr>
            <a:spLocks noGrp="1"/>
          </p:cNvSpPr>
          <p:nvPr>
            <p:ph type="title"/>
          </p:nvPr>
        </p:nvSpPr>
        <p:spPr/>
        <p:txBody>
          <a:bodyPr/>
          <a:lstStyle>
            <a:lvl1pPr>
              <a:buNone/>
              <a:defRPr/>
            </a:lvl1pPr>
          </a:lstStyle>
          <a:p>
            <a:r>
              <a:t>Titelmasterformat durch Klicken bearbeiten</a:t>
            </a:r>
          </a:p>
        </p:txBody>
      </p:sp>
      <p:sp>
        <p:nvSpPr>
          <p:cNvPr id="3" name="Textplatzhalter 2">
            <a:extLst>
              <a:ext uri="{FF2B5EF4-FFF2-40B4-BE49-F238E27FC236}">
                <a16:creationId xmlns:a16="http://schemas.microsoft.com/office/drawing/2014/main" id="{5387ACE4-EFE3-4305-A1A4-F639026E10D7}"/>
              </a:ext>
            </a:extLst>
          </p:cNvPr>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Textmasterformat bearbeiten</a:t>
            </a:r>
          </a:p>
        </p:txBody>
      </p:sp>
      <p:sp>
        <p:nvSpPr>
          <p:cNvPr id="4" name="Inhaltsplatzhalter 3">
            <a:extLst>
              <a:ext uri="{FF2B5EF4-FFF2-40B4-BE49-F238E27FC236}">
                <a16:creationId xmlns:a16="http://schemas.microsoft.com/office/drawing/2014/main" id="{43F85B3D-6B72-4821-BA1D-586B02D936A2}"/>
              </a:ext>
            </a:extLst>
          </p:cNvPr>
          <p:cNvSpPr>
            <a:spLocks noGrp="1"/>
          </p:cNvSpPr>
          <p:nvPr>
            <p:ph idx="2"/>
          </p:nvPr>
        </p:nvSpPr>
        <p:spPr>
          <a:xfrm>
            <a:off x="457200" y="1631156"/>
            <a:ext cx="4040188" cy="2963466"/>
          </a:xfrm>
        </p:spPr>
        <p:txBody>
          <a:bodyPr/>
          <a:lstStyle>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Textplatzhalter 4">
            <a:extLst>
              <a:ext uri="{FF2B5EF4-FFF2-40B4-BE49-F238E27FC236}">
                <a16:creationId xmlns:a16="http://schemas.microsoft.com/office/drawing/2014/main" id="{F441FB17-AB68-4403-8F78-7E5BE36A0347}"/>
              </a:ext>
            </a:extLst>
          </p:cNvPr>
          <p:cNvSpPr>
            <a:spLocks noGrp="1"/>
          </p:cNvSpPr>
          <p:nvPr>
            <p:ph type="body"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Textmasterformat bearbeiten</a:t>
            </a:r>
          </a:p>
        </p:txBody>
      </p:sp>
      <p:sp>
        <p:nvSpPr>
          <p:cNvPr id="6" name="Inhaltsplatzhalter 5">
            <a:extLst>
              <a:ext uri="{FF2B5EF4-FFF2-40B4-BE49-F238E27FC236}">
                <a16:creationId xmlns:a16="http://schemas.microsoft.com/office/drawing/2014/main" id="{2151470F-342E-4D82-8CE0-B825E6A6C8FD}"/>
              </a:ext>
            </a:extLst>
          </p:cNvPr>
          <p:cNvSpPr>
            <a:spLocks noGrp="1"/>
          </p:cNvSpPr>
          <p:nvPr>
            <p:ph idx="4"/>
          </p:nvPr>
        </p:nvSpPr>
        <p:spPr>
          <a:xfrm>
            <a:off x="4645026" y="1631156"/>
            <a:ext cx="4041775" cy="2963466"/>
          </a:xfrm>
        </p:spPr>
        <p:txBody>
          <a:bodyPr/>
          <a:lstStyle>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7" name="Datumsplatzhalter 6">
            <a:extLst>
              <a:ext uri="{FF2B5EF4-FFF2-40B4-BE49-F238E27FC236}">
                <a16:creationId xmlns:a16="http://schemas.microsoft.com/office/drawing/2014/main" id="{D8DACECA-CCE4-4F0F-8AE2-CFD22C219D99}"/>
              </a:ext>
            </a:extLst>
          </p:cNvPr>
          <p:cNvSpPr>
            <a:spLocks noGrp="1"/>
          </p:cNvSpPr>
          <p:nvPr>
            <p:ph type="dt" idx="10"/>
          </p:nvPr>
        </p:nvSpPr>
        <p:spPr/>
        <p:txBody>
          <a:bodyPr/>
          <a:lstStyle/>
          <a:p>
            <a:fld id="{9BF2F809-AE36-447A-BE8D-DBD43813230D}" type="datetime1">
              <a:rPr lang="en-US"/>
              <a:t>9/20/2026</a:t>
            </a:fld>
            <a:endParaRPr/>
          </a:p>
        </p:txBody>
      </p:sp>
      <p:sp>
        <p:nvSpPr>
          <p:cNvPr id="8" name="Fußzeilenplatzhalter 7">
            <a:extLst>
              <a:ext uri="{FF2B5EF4-FFF2-40B4-BE49-F238E27FC236}">
                <a16:creationId xmlns:a16="http://schemas.microsoft.com/office/drawing/2014/main" id="{7DB2DCED-C1E2-4728-81C3-E60969112EA0}"/>
              </a:ext>
            </a:extLst>
          </p:cNvPr>
          <p:cNvSpPr>
            <a:spLocks noGrp="1"/>
          </p:cNvSpPr>
          <p:nvPr>
            <p:ph type="ftr" idx="11"/>
          </p:nvPr>
        </p:nvSpPr>
        <p:spPr/>
        <p:txBody>
          <a:bodyPr/>
          <a:lstStyle/>
          <a:p>
            <a:r>
              <a:t>SPP Initiative – Kognitive Mehrfachanforderungen</a:t>
            </a:r>
          </a:p>
        </p:txBody>
      </p:sp>
      <p:sp>
        <p:nvSpPr>
          <p:cNvPr id="9" name="Foliennummernplatzhalter 8">
            <a:extLst>
              <a:ext uri="{FF2B5EF4-FFF2-40B4-BE49-F238E27FC236}">
                <a16:creationId xmlns:a16="http://schemas.microsoft.com/office/drawing/2014/main" id="{22FF7CEF-7F67-4E4E-86B0-78A1E6B20463}"/>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24892221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5EF8EA-3A79-4D0A-9E9D-BAF231039B8C}"/>
              </a:ext>
            </a:extLst>
          </p:cNvPr>
          <p:cNvSpPr>
            <a:spLocks noGrp="1"/>
          </p:cNvSpPr>
          <p:nvPr>
            <p:ph type="title"/>
          </p:nvPr>
        </p:nvSpPr>
        <p:spPr/>
        <p:txBody>
          <a:bodyPr/>
          <a:lstStyle/>
          <a:p>
            <a:r>
              <a:t>Titelmasterformat durch Klicken bearbeiten</a:t>
            </a:r>
          </a:p>
        </p:txBody>
      </p:sp>
      <p:sp>
        <p:nvSpPr>
          <p:cNvPr id="3" name="Datumsplatzhalter 2">
            <a:extLst>
              <a:ext uri="{FF2B5EF4-FFF2-40B4-BE49-F238E27FC236}">
                <a16:creationId xmlns:a16="http://schemas.microsoft.com/office/drawing/2014/main" id="{FA8F1E3A-15F2-4079-B8C7-AF16AD23D982}"/>
              </a:ext>
            </a:extLst>
          </p:cNvPr>
          <p:cNvSpPr>
            <a:spLocks noGrp="1"/>
          </p:cNvSpPr>
          <p:nvPr>
            <p:ph type="dt" idx="10"/>
          </p:nvPr>
        </p:nvSpPr>
        <p:spPr/>
        <p:txBody>
          <a:bodyPr/>
          <a:lstStyle/>
          <a:p>
            <a:fld id="{C3E9AD70-BBFA-4BDA-AD17-94996E01E40D}" type="datetime1">
              <a:rPr lang="en-US"/>
              <a:t>9/20/2026</a:t>
            </a:fld>
            <a:endParaRPr/>
          </a:p>
        </p:txBody>
      </p:sp>
      <p:sp>
        <p:nvSpPr>
          <p:cNvPr id="4" name="Fußzeilenplatzhalter 3">
            <a:extLst>
              <a:ext uri="{FF2B5EF4-FFF2-40B4-BE49-F238E27FC236}">
                <a16:creationId xmlns:a16="http://schemas.microsoft.com/office/drawing/2014/main" id="{9663DFE6-88B7-41D6-AC99-59B0CABFD6D8}"/>
              </a:ext>
            </a:extLst>
          </p:cNvPr>
          <p:cNvSpPr>
            <a:spLocks noGrp="1"/>
          </p:cNvSpPr>
          <p:nvPr>
            <p:ph type="ftr" idx="11"/>
          </p:nvPr>
        </p:nvSpPr>
        <p:spPr/>
        <p:txBody>
          <a:bodyPr/>
          <a:lstStyle/>
          <a:p>
            <a:r>
              <a:t>SPP Initiative – Kognitive Mehrfachanforderungen</a:t>
            </a:r>
          </a:p>
        </p:txBody>
      </p:sp>
      <p:sp>
        <p:nvSpPr>
          <p:cNvPr id="5" name="Foliennummernplatzhalter 4">
            <a:extLst>
              <a:ext uri="{FF2B5EF4-FFF2-40B4-BE49-F238E27FC236}">
                <a16:creationId xmlns:a16="http://schemas.microsoft.com/office/drawing/2014/main" id="{1DE91E78-25D0-4CF5-A737-377231448080}"/>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2959499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1529D24-EA50-4266-96C2-1DBB992D2A7A}"/>
              </a:ext>
            </a:extLst>
          </p:cNvPr>
          <p:cNvSpPr>
            <a:spLocks noGrp="1"/>
          </p:cNvSpPr>
          <p:nvPr>
            <p:ph type="dt" idx="10"/>
          </p:nvPr>
        </p:nvSpPr>
        <p:spPr/>
        <p:txBody>
          <a:bodyPr/>
          <a:lstStyle/>
          <a:p>
            <a:fld id="{012A5E7E-DC59-44FF-98CB-32ED5C7DF30F}" type="datetime1">
              <a:rPr lang="en-US"/>
              <a:t>9/20/2026</a:t>
            </a:fld>
            <a:endParaRPr/>
          </a:p>
        </p:txBody>
      </p:sp>
      <p:sp>
        <p:nvSpPr>
          <p:cNvPr id="3" name="Fußzeilenplatzhalter 2">
            <a:extLst>
              <a:ext uri="{FF2B5EF4-FFF2-40B4-BE49-F238E27FC236}">
                <a16:creationId xmlns:a16="http://schemas.microsoft.com/office/drawing/2014/main" id="{37661DB9-2EA2-429E-A720-C292CF5B74B6}"/>
              </a:ext>
            </a:extLst>
          </p:cNvPr>
          <p:cNvSpPr>
            <a:spLocks noGrp="1"/>
          </p:cNvSpPr>
          <p:nvPr>
            <p:ph type="ftr" idx="11"/>
          </p:nvPr>
        </p:nvSpPr>
        <p:spPr/>
        <p:txBody>
          <a:bodyPr/>
          <a:lstStyle/>
          <a:p>
            <a:r>
              <a:t>SPP Initiative – Kognitive Mehrfachanforderungen</a:t>
            </a:r>
          </a:p>
        </p:txBody>
      </p:sp>
      <p:sp>
        <p:nvSpPr>
          <p:cNvPr id="4" name="Foliennummernplatzhalter 3">
            <a:extLst>
              <a:ext uri="{FF2B5EF4-FFF2-40B4-BE49-F238E27FC236}">
                <a16:creationId xmlns:a16="http://schemas.microsoft.com/office/drawing/2014/main" id="{FADD4549-9270-49D6-914B-C325B4F77D5A}"/>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37137334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59C704-CC59-470C-A759-B25A9213345D}"/>
              </a:ext>
            </a:extLst>
          </p:cNvPr>
          <p:cNvSpPr>
            <a:spLocks noGrp="1"/>
          </p:cNvSpPr>
          <p:nvPr>
            <p:ph type="title"/>
          </p:nvPr>
        </p:nvSpPr>
        <p:spPr>
          <a:xfrm>
            <a:off x="457201" y="204787"/>
            <a:ext cx="3008313" cy="871538"/>
          </a:xfrm>
        </p:spPr>
        <p:txBody>
          <a:bodyPr anchor="b"/>
          <a:lstStyle>
            <a:lvl1pPr algn="l">
              <a:buNone/>
              <a:defRPr sz="1500" b="1"/>
            </a:lvl1pPr>
          </a:lstStyle>
          <a:p>
            <a:r>
              <a:t>Titelmasterformat durch Klicken bearbeiten</a:t>
            </a:r>
          </a:p>
        </p:txBody>
      </p:sp>
      <p:sp>
        <p:nvSpPr>
          <p:cNvPr id="3" name="Inhaltsplatzhalter 2">
            <a:extLst>
              <a:ext uri="{FF2B5EF4-FFF2-40B4-BE49-F238E27FC236}">
                <a16:creationId xmlns:a16="http://schemas.microsoft.com/office/drawing/2014/main" id="{21D0AAFD-0EE3-46C1-B594-44E21917D6D0}"/>
              </a:ext>
            </a:extLst>
          </p:cNvPr>
          <p:cNvSpPr>
            <a:spLocks noGrp="1"/>
          </p:cNvSpPr>
          <p:nvPr>
            <p:ph idx="1"/>
          </p:nvPr>
        </p:nvSpPr>
        <p:spPr>
          <a:xfrm>
            <a:off x="3575050" y="204788"/>
            <a:ext cx="5111750" cy="4389835"/>
          </a:xfrm>
        </p:spPr>
        <p:txBody>
          <a:bodyPr/>
          <a:lstStyle>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Textplatzhalter 3">
            <a:extLst>
              <a:ext uri="{FF2B5EF4-FFF2-40B4-BE49-F238E27FC236}">
                <a16:creationId xmlns:a16="http://schemas.microsoft.com/office/drawing/2014/main" id="{A663634A-BDEE-4064-9945-987A40D32096}"/>
              </a:ext>
            </a:extLst>
          </p:cNvPr>
          <p:cNvSpPr>
            <a:spLocks noGrp="1"/>
          </p:cNvSpPr>
          <p:nvPr>
            <p:ph type="body"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buNone/>
            </a:pPr>
            <a:r>
              <a:t>Textmasterformat bearbeiten</a:t>
            </a:r>
          </a:p>
        </p:txBody>
      </p:sp>
      <p:sp>
        <p:nvSpPr>
          <p:cNvPr id="5" name="Datumsplatzhalter 4">
            <a:extLst>
              <a:ext uri="{FF2B5EF4-FFF2-40B4-BE49-F238E27FC236}">
                <a16:creationId xmlns:a16="http://schemas.microsoft.com/office/drawing/2014/main" id="{5391EBD8-A766-492C-8454-76F8A2163A62}"/>
              </a:ext>
            </a:extLst>
          </p:cNvPr>
          <p:cNvSpPr>
            <a:spLocks noGrp="1"/>
          </p:cNvSpPr>
          <p:nvPr>
            <p:ph type="dt" idx="10"/>
          </p:nvPr>
        </p:nvSpPr>
        <p:spPr/>
        <p:txBody>
          <a:bodyPr/>
          <a:lstStyle/>
          <a:p>
            <a:fld id="{75CBFBE5-D840-46F9-A1EC-71EE2BFB233E}" type="datetime1">
              <a:rPr lang="en-US"/>
              <a:t>9/20/2026</a:t>
            </a:fld>
            <a:endParaRPr/>
          </a:p>
        </p:txBody>
      </p:sp>
      <p:sp>
        <p:nvSpPr>
          <p:cNvPr id="6" name="Fußzeilenplatzhalter 5">
            <a:extLst>
              <a:ext uri="{FF2B5EF4-FFF2-40B4-BE49-F238E27FC236}">
                <a16:creationId xmlns:a16="http://schemas.microsoft.com/office/drawing/2014/main" id="{9B9CD980-E304-4A72-AFD4-5342C146FA8B}"/>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B566403A-C0D9-4D47-B0EC-F95FB97E0F5E}"/>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40005830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AFB180-EE0F-4027-BA8D-50FE31578E90}"/>
              </a:ext>
            </a:extLst>
          </p:cNvPr>
          <p:cNvSpPr>
            <a:spLocks noGrp="1"/>
          </p:cNvSpPr>
          <p:nvPr>
            <p:ph type="title"/>
          </p:nvPr>
        </p:nvSpPr>
        <p:spPr>
          <a:xfrm>
            <a:off x="1792288" y="3600450"/>
            <a:ext cx="5486400" cy="425054"/>
          </a:xfrm>
        </p:spPr>
        <p:txBody>
          <a:bodyPr anchor="b"/>
          <a:lstStyle>
            <a:lvl1pPr algn="l">
              <a:buNone/>
              <a:defRPr sz="1500" b="1"/>
            </a:lvl1pPr>
          </a:lstStyle>
          <a:p>
            <a:r>
              <a:t>Titelmasterformat durch Klicken bearbeiten</a:t>
            </a:r>
          </a:p>
        </p:txBody>
      </p:sp>
      <p:sp>
        <p:nvSpPr>
          <p:cNvPr id="3" name="Bildplatzhalter 2">
            <a:extLst>
              <a:ext uri="{FF2B5EF4-FFF2-40B4-BE49-F238E27FC236}">
                <a16:creationId xmlns:a16="http://schemas.microsoft.com/office/drawing/2014/main" id="{D8112F38-0E7C-4D9D-93C2-26A65DC635EF}"/>
              </a:ext>
            </a:extLst>
          </p:cNvPr>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a:p>
        </p:txBody>
      </p:sp>
      <p:sp>
        <p:nvSpPr>
          <p:cNvPr id="4" name="Textplatzhalter 3">
            <a:extLst>
              <a:ext uri="{FF2B5EF4-FFF2-40B4-BE49-F238E27FC236}">
                <a16:creationId xmlns:a16="http://schemas.microsoft.com/office/drawing/2014/main" id="{3CB453E4-51BE-4E13-BCD4-FA22985B28CF}"/>
              </a:ext>
            </a:extLst>
          </p:cNvPr>
          <p:cNvSpPr>
            <a:spLocks noGrp="1"/>
          </p:cNvSpPr>
          <p:nvPr>
            <p:ph type="body"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buNone/>
            </a:pPr>
            <a:r>
              <a:t>Textmasterformat bearbeiten</a:t>
            </a:r>
          </a:p>
        </p:txBody>
      </p:sp>
      <p:sp>
        <p:nvSpPr>
          <p:cNvPr id="5" name="Datumsplatzhalter 4">
            <a:extLst>
              <a:ext uri="{FF2B5EF4-FFF2-40B4-BE49-F238E27FC236}">
                <a16:creationId xmlns:a16="http://schemas.microsoft.com/office/drawing/2014/main" id="{2713AA27-DB99-44AB-B0BD-894EA22534D7}"/>
              </a:ext>
            </a:extLst>
          </p:cNvPr>
          <p:cNvSpPr>
            <a:spLocks noGrp="1"/>
          </p:cNvSpPr>
          <p:nvPr>
            <p:ph type="dt" idx="10"/>
          </p:nvPr>
        </p:nvSpPr>
        <p:spPr/>
        <p:txBody>
          <a:bodyPr/>
          <a:lstStyle/>
          <a:p>
            <a:fld id="{310E40CA-5887-4B04-9981-5E3E0EE4CEE6}" type="datetime1">
              <a:rPr lang="en-US"/>
              <a:t>9/20/2026</a:t>
            </a:fld>
            <a:endParaRPr/>
          </a:p>
        </p:txBody>
      </p:sp>
      <p:sp>
        <p:nvSpPr>
          <p:cNvPr id="6" name="Fußzeilenplatzhalter 5">
            <a:extLst>
              <a:ext uri="{FF2B5EF4-FFF2-40B4-BE49-F238E27FC236}">
                <a16:creationId xmlns:a16="http://schemas.microsoft.com/office/drawing/2014/main" id="{146C6D9D-C975-4602-89B4-E211853F0C12}"/>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1F8DCE36-D6A4-4ECE-AE3A-273B0C226E7C}"/>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16867243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DD05A9-9078-497C-98D1-1F2E12AA8CE1}"/>
              </a:ext>
            </a:extLst>
          </p:cNvPr>
          <p:cNvSpPr>
            <a:spLocks noGrp="1"/>
          </p:cNvSpPr>
          <p:nvPr>
            <p:ph type="title"/>
          </p:nvPr>
        </p:nvSpPr>
        <p:spPr/>
        <p:txBody>
          <a:bodyPr/>
          <a:lstStyle/>
          <a:p>
            <a:r>
              <a:t>Titelmasterformat durch Klicken bearbeiten</a:t>
            </a:r>
          </a:p>
        </p:txBody>
      </p:sp>
      <p:sp>
        <p:nvSpPr>
          <p:cNvPr id="3" name="Vertikaler Textplatzhalter 2">
            <a:extLst>
              <a:ext uri="{FF2B5EF4-FFF2-40B4-BE49-F238E27FC236}">
                <a16:creationId xmlns:a16="http://schemas.microsoft.com/office/drawing/2014/main" id="{804284EF-FBB4-41A6-91E9-7A93FCF52BAD}"/>
              </a:ext>
            </a:extLst>
          </p:cNvPr>
          <p:cNvSpPr>
            <a:spLocks noGrp="1"/>
          </p:cNvSpPr>
          <p:nvPr>
            <p:ph type="body" idx="1"/>
          </p:nvPr>
        </p:nvSpPr>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E6C6ECC1-85D3-4B69-8B8B-B945D02D5E9A}"/>
              </a:ext>
            </a:extLst>
          </p:cNvPr>
          <p:cNvSpPr>
            <a:spLocks noGrp="1"/>
          </p:cNvSpPr>
          <p:nvPr>
            <p:ph type="dt" idx="10"/>
          </p:nvPr>
        </p:nvSpPr>
        <p:spPr/>
        <p:txBody>
          <a:bodyPr/>
          <a:lstStyle/>
          <a:p>
            <a:fld id="{984F1C03-9221-492F-9D3B-13656BBDDDDC}" type="datetime1">
              <a:rPr lang="en-US"/>
              <a:t>9/20/2026</a:t>
            </a:fld>
            <a:endParaRPr/>
          </a:p>
        </p:txBody>
      </p:sp>
      <p:sp>
        <p:nvSpPr>
          <p:cNvPr id="5" name="Fußzeilenplatzhalter 4">
            <a:extLst>
              <a:ext uri="{FF2B5EF4-FFF2-40B4-BE49-F238E27FC236}">
                <a16:creationId xmlns:a16="http://schemas.microsoft.com/office/drawing/2014/main" id="{754F05A0-5111-474A-891A-48581C68A5B4}"/>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D27E9626-667F-4400-99BC-058667B9482E}"/>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5186694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FDB7F3A-C943-437B-BB4A-B1E3FFC53F7D}"/>
              </a:ext>
            </a:extLst>
          </p:cNvPr>
          <p:cNvSpPr>
            <a:spLocks noGrp="1"/>
          </p:cNvSpPr>
          <p:nvPr>
            <p:ph type="title"/>
          </p:nvPr>
        </p:nvSpPr>
        <p:spPr>
          <a:xfrm>
            <a:off x="6629400" y="205979"/>
            <a:ext cx="2057400" cy="4388644"/>
          </a:xfrm>
        </p:spPr>
        <p:txBody>
          <a:bodyPr vert="eaVert"/>
          <a:lstStyle/>
          <a:p>
            <a:r>
              <a:t>Titelmasterformat durch Klicken bearbeiten</a:t>
            </a:r>
          </a:p>
        </p:txBody>
      </p:sp>
      <p:sp>
        <p:nvSpPr>
          <p:cNvPr id="3" name="Vertikaler Textplatzhalter 2">
            <a:extLst>
              <a:ext uri="{FF2B5EF4-FFF2-40B4-BE49-F238E27FC236}">
                <a16:creationId xmlns:a16="http://schemas.microsoft.com/office/drawing/2014/main" id="{D295BEDB-392B-4986-B832-2E040B1335E4}"/>
              </a:ext>
            </a:extLst>
          </p:cNvPr>
          <p:cNvSpPr>
            <a:spLocks noGrp="1"/>
          </p:cNvSpPr>
          <p:nvPr>
            <p:ph type="body" idx="1"/>
          </p:nvPr>
        </p:nvSpPr>
        <p:spPr>
          <a:xfrm>
            <a:off x="457200" y="205979"/>
            <a:ext cx="6019800" cy="4388644"/>
          </a:xfrm>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26459150-CB49-45BA-A531-B7E7C0638532}"/>
              </a:ext>
            </a:extLst>
          </p:cNvPr>
          <p:cNvSpPr>
            <a:spLocks noGrp="1"/>
          </p:cNvSpPr>
          <p:nvPr>
            <p:ph type="dt" idx="10"/>
          </p:nvPr>
        </p:nvSpPr>
        <p:spPr/>
        <p:txBody>
          <a:bodyPr/>
          <a:lstStyle/>
          <a:p>
            <a:fld id="{C03166C5-6A3D-4F25-B59A-7D1EDABF349D}" type="datetime1">
              <a:rPr lang="en-US"/>
              <a:t>9/20/2026</a:t>
            </a:fld>
            <a:endParaRPr/>
          </a:p>
        </p:txBody>
      </p:sp>
      <p:sp>
        <p:nvSpPr>
          <p:cNvPr id="5" name="Fußzeilenplatzhalter 4">
            <a:extLst>
              <a:ext uri="{FF2B5EF4-FFF2-40B4-BE49-F238E27FC236}">
                <a16:creationId xmlns:a16="http://schemas.microsoft.com/office/drawing/2014/main" id="{B51E3B44-68C0-4706-BC0B-8423E01780BD}"/>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18E8E25A-0757-45B4-97B6-09DF8F345E46}"/>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3981755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microsoft.com/office/2007/relationships/hdphoto" Target="../media/hdphoto1.wdp"/></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562DA7F-7B37-45AC-8D5B-D52FDF860AF4}"/>
              </a:ext>
            </a:extLst>
          </p:cNvPr>
          <p:cNvSpPr>
            <a:spLocks noGrp="1"/>
          </p:cNvSpPr>
          <p:nvPr>
            <p:ph type="title"/>
          </p:nvPr>
        </p:nvSpPr>
        <p:spPr>
          <a:xfrm>
            <a:off x="755577" y="205979"/>
            <a:ext cx="7931223" cy="857250"/>
          </a:xfrm>
          <a:prstGeom prst="rect">
            <a:avLst/>
          </a:prstGeom>
        </p:spPr>
        <p:txBody>
          <a:bodyPr vert="horz" lIns="91440" tIns="45720" rIns="91440" bIns="45720" anchor="ctr">
            <a:normAutofit/>
          </a:bodyPr>
          <a:lstStyle/>
          <a:p>
            <a:r>
              <a:rPr dirty="0" err="1"/>
              <a:t>Titelmasterformat</a:t>
            </a:r>
            <a:r>
              <a:rPr dirty="0"/>
              <a:t> </a:t>
            </a:r>
            <a:r>
              <a:rPr dirty="0" err="1"/>
              <a:t>durch</a:t>
            </a:r>
            <a:r>
              <a:rPr dirty="0"/>
              <a:t> </a:t>
            </a:r>
            <a:r>
              <a:rPr dirty="0" err="1"/>
              <a:t>Klicken</a:t>
            </a:r>
            <a:r>
              <a:rPr dirty="0"/>
              <a:t> </a:t>
            </a:r>
            <a:r>
              <a:rPr dirty="0" err="1"/>
              <a:t>bearbeiten</a:t>
            </a:r>
            <a:endParaRPr dirty="0"/>
          </a:p>
        </p:txBody>
      </p:sp>
      <p:sp>
        <p:nvSpPr>
          <p:cNvPr id="3" name="Textplatzhalter 2">
            <a:extLst>
              <a:ext uri="{FF2B5EF4-FFF2-40B4-BE49-F238E27FC236}">
                <a16:creationId xmlns:a16="http://schemas.microsoft.com/office/drawing/2014/main" id="{CD6A4A0B-2EAD-4B56-8353-55727E004DD3}"/>
              </a:ext>
            </a:extLst>
          </p:cNvPr>
          <p:cNvSpPr>
            <a:spLocks noGrp="1"/>
          </p:cNvSpPr>
          <p:nvPr>
            <p:ph type="body" idx="1"/>
          </p:nvPr>
        </p:nvSpPr>
        <p:spPr>
          <a:xfrm>
            <a:off x="755576" y="1200151"/>
            <a:ext cx="7931224" cy="3394472"/>
          </a:xfrm>
          <a:prstGeom prst="rect">
            <a:avLst/>
          </a:prstGeom>
        </p:spPr>
        <p:txBody>
          <a:bodyPr vert="horz" lIns="91440" tIns="45720" rIns="91440" bIns="45720">
            <a:normAutofit/>
          </a:body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FA1B9373-53D0-4D71-924F-6E81CB085E9C}"/>
              </a:ext>
            </a:extLst>
          </p:cNvPr>
          <p:cNvSpPr>
            <a:spLocks noGrp="1"/>
          </p:cNvSpPr>
          <p:nvPr>
            <p:ph type="dt" idx="2"/>
          </p:nvPr>
        </p:nvSpPr>
        <p:spPr>
          <a:xfrm>
            <a:off x="755576" y="4767263"/>
            <a:ext cx="2133600" cy="273844"/>
          </a:xfrm>
          <a:prstGeom prst="rect">
            <a:avLst/>
          </a:prstGeom>
        </p:spPr>
        <p:txBody>
          <a:bodyPr vert="horz" lIns="91440" tIns="45720" rIns="91440" bIns="45720" anchor="ctr"/>
          <a:lstStyle>
            <a:lvl1pPr algn="l">
              <a:buNone/>
              <a:defRPr sz="900">
                <a:solidFill>
                  <a:schemeClr val="tx1">
                    <a:tint val="75000"/>
                  </a:schemeClr>
                </a:solidFill>
                <a:latin typeface="Arial"/>
                <a:ea typeface="Arial"/>
                <a:cs typeface="Arial"/>
              </a:defRPr>
            </a:lvl1pPr>
          </a:lstStyle>
          <a:p>
            <a:fld id="{1A5F7C02-8BB9-4009-8E62-D4DC00232FF2}" type="datetime1">
              <a:t>20.09.2026</a:t>
            </a:fld>
            <a:endParaRPr/>
          </a:p>
        </p:txBody>
      </p:sp>
      <p:sp>
        <p:nvSpPr>
          <p:cNvPr id="5" name="Fußzeilenplatzhalter 4">
            <a:extLst>
              <a:ext uri="{FF2B5EF4-FFF2-40B4-BE49-F238E27FC236}">
                <a16:creationId xmlns:a16="http://schemas.microsoft.com/office/drawing/2014/main" id="{619F69B2-373B-46FF-B918-0101AFF2B3A7}"/>
              </a:ext>
            </a:extLst>
          </p:cNvPr>
          <p:cNvSpPr>
            <a:spLocks noGrp="1"/>
          </p:cNvSpPr>
          <p:nvPr>
            <p:ph type="ftr" idx="3"/>
          </p:nvPr>
        </p:nvSpPr>
        <p:spPr>
          <a:xfrm>
            <a:off x="3273388" y="4767263"/>
            <a:ext cx="2895600" cy="273844"/>
          </a:xfrm>
          <a:prstGeom prst="rect">
            <a:avLst/>
          </a:prstGeom>
        </p:spPr>
        <p:txBody>
          <a:bodyPr vert="horz" lIns="91440" tIns="45720" rIns="91440" bIns="45720" anchor="ctr"/>
          <a:lstStyle>
            <a:lvl1pPr algn="ctr">
              <a:buNone/>
              <a:defRPr sz="900">
                <a:solidFill>
                  <a:schemeClr val="tx1">
                    <a:tint val="75000"/>
                  </a:schemeClr>
                </a:solidFill>
                <a:latin typeface="Arial"/>
                <a:ea typeface="Arial"/>
                <a:cs typeface="Arial"/>
              </a:defRPr>
            </a:lvl1pPr>
          </a:lstStyle>
          <a:p>
            <a:r>
              <a:t>SPP Initiative – Kognitive Mehrfachanforderungen</a:t>
            </a:r>
          </a:p>
        </p:txBody>
      </p:sp>
      <p:sp>
        <p:nvSpPr>
          <p:cNvPr id="6" name="Foliennummernplatzhalter 5">
            <a:extLst>
              <a:ext uri="{FF2B5EF4-FFF2-40B4-BE49-F238E27FC236}">
                <a16:creationId xmlns:a16="http://schemas.microsoft.com/office/drawing/2014/main" id="{C1A0E01D-2C9B-4046-9075-C22947680F7C}"/>
              </a:ext>
            </a:extLst>
          </p:cNvPr>
          <p:cNvSpPr>
            <a:spLocks noGrp="1"/>
          </p:cNvSpPr>
          <p:nvPr>
            <p:ph type="sldNum" idx="4"/>
          </p:nvPr>
        </p:nvSpPr>
        <p:spPr>
          <a:xfrm>
            <a:off x="6553200" y="4767263"/>
            <a:ext cx="2133600" cy="273844"/>
          </a:xfrm>
          <a:prstGeom prst="rect">
            <a:avLst/>
          </a:prstGeom>
        </p:spPr>
        <p:txBody>
          <a:bodyPr vert="horz" lIns="91440" tIns="45720" rIns="91440" bIns="45720" anchor="ctr"/>
          <a:lstStyle>
            <a:lvl1pPr algn="r">
              <a:buNone/>
              <a:defRPr sz="900">
                <a:solidFill>
                  <a:schemeClr val="tx1">
                    <a:tint val="75000"/>
                  </a:schemeClr>
                </a:solidFill>
                <a:latin typeface="Arial"/>
                <a:ea typeface="Arial"/>
                <a:cs typeface="Arial"/>
              </a:defRPr>
            </a:lvl1pPr>
          </a:lstStyle>
          <a:p>
            <a:fld id="{5CD88B4E-D815-417B-99FD-41D66E5C06D4}" type="slidenum">
              <a:t>‹Nr.›</a:t>
            </a:fld>
            <a:endParaRPr/>
          </a:p>
        </p:txBody>
      </p:sp>
      <p:sp>
        <p:nvSpPr>
          <p:cNvPr id="8" name="Gerader Verbinder 7">
            <a:extLst>
              <a:ext uri="{FF2B5EF4-FFF2-40B4-BE49-F238E27FC236}">
                <a16:creationId xmlns:a16="http://schemas.microsoft.com/office/drawing/2014/main" id="{4124E9D7-1368-4C6A-94E9-DF3FDBE52726}"/>
              </a:ext>
            </a:extLst>
          </p:cNvPr>
          <p:cNvSpPr>
            <a:spLocks noGrp="1"/>
          </p:cNvSpPr>
          <p:nvPr/>
        </p:nvSpPr>
        <p:spPr>
          <a:xfrm>
            <a:off x="-54260" y="4731990"/>
            <a:ext cx="9252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9" name="Gerader Verbinder 8">
            <a:extLst>
              <a:ext uri="{FF2B5EF4-FFF2-40B4-BE49-F238E27FC236}">
                <a16:creationId xmlns:a16="http://schemas.microsoft.com/office/drawing/2014/main" id="{27361209-E306-411F-8181-39425E970A31}"/>
              </a:ext>
            </a:extLst>
          </p:cNvPr>
          <p:cNvSpPr>
            <a:spLocks noGrp="1"/>
          </p:cNvSpPr>
          <p:nvPr/>
        </p:nvSpPr>
        <p:spPr>
          <a:xfrm rot="5400000">
            <a:off x="-2286472" y="2591437"/>
            <a:ext cx="5220000" cy="0"/>
          </a:xfrm>
          <a:prstGeom prst="line">
            <a:avLst/>
          </a:prstGeom>
          <a:ln w="28575">
            <a:solidFill>
              <a:srgbClr val="3A77AD"/>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pic>
        <p:nvPicPr>
          <p:cNvPr id="18" name="Grafik 1"/>
          <p:cNvPicPr>
            <a:picLocks noChangeAspect="1"/>
          </p:cNvPicPr>
          <p:nvPr/>
        </p:nvPicPr>
        <p:blipFill rotWithShape="1">
          <a:blip r:embed="rId13">
            <a:alphaModFix/>
          </a:blip>
          <a:srcRect t="7963" b="13843"/>
          <a:stretch/>
        </p:blipFill>
        <p:spPr>
          <a:xfrm>
            <a:off x="-569046" y="3907081"/>
            <a:ext cx="1816322" cy="822222"/>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defTabSz="685800">
        <a:spcBef>
          <a:spcPct val="0"/>
        </a:spcBef>
        <a:buNone/>
        <a:defRPr sz="3300" b="1" kern="1200">
          <a:solidFill>
            <a:schemeClr val="tx1"/>
          </a:solidFill>
          <a:latin typeface="Arial"/>
          <a:ea typeface="Arial"/>
          <a:cs typeface="Arial"/>
        </a:defRPr>
      </a:lvl1pPr>
    </p:titleStyle>
    <p:bodyStyle>
      <a:lvl1pPr marL="257175" indent="-257175" algn="l" defTabSz="685800">
        <a:spcBef>
          <a:spcPct val="20000"/>
        </a:spcBef>
        <a:buFont typeface="Arial"/>
        <a:buChar char="•"/>
        <a:defRPr sz="2400" kern="1200">
          <a:solidFill>
            <a:schemeClr val="tx1"/>
          </a:solidFill>
          <a:latin typeface="Arial"/>
          <a:ea typeface="Arial"/>
          <a:cs typeface="Arial"/>
        </a:defRPr>
      </a:lvl1pPr>
      <a:lvl2pPr marL="557213" indent="-214313" algn="l" defTabSz="685800">
        <a:spcBef>
          <a:spcPct val="20000"/>
        </a:spcBef>
        <a:buFont typeface="Arial"/>
        <a:buChar char="–"/>
        <a:defRPr sz="2100" kern="1200">
          <a:solidFill>
            <a:schemeClr val="tx1"/>
          </a:solidFill>
          <a:latin typeface="Arial"/>
          <a:ea typeface="Arial"/>
          <a:cs typeface="Arial"/>
        </a:defRPr>
      </a:lvl2pPr>
      <a:lvl3pPr marL="857250" indent="-171450" algn="l" defTabSz="685800">
        <a:spcBef>
          <a:spcPct val="20000"/>
        </a:spcBef>
        <a:buFont typeface="Arial"/>
        <a:buChar char="•"/>
        <a:defRPr sz="1800" kern="1200">
          <a:solidFill>
            <a:schemeClr val="tx1"/>
          </a:solidFill>
          <a:latin typeface="Arial"/>
          <a:ea typeface="Arial"/>
          <a:cs typeface="Arial"/>
        </a:defRPr>
      </a:lvl3pPr>
      <a:lvl4pPr marL="1200150" indent="-171450" algn="l" defTabSz="685800">
        <a:spcBef>
          <a:spcPct val="20000"/>
        </a:spcBef>
        <a:buFont typeface="Arial"/>
        <a:buChar char="–"/>
        <a:defRPr sz="1500" kern="1200">
          <a:solidFill>
            <a:schemeClr val="tx1"/>
          </a:solidFill>
          <a:latin typeface="Arial"/>
          <a:ea typeface="Arial"/>
          <a:cs typeface="Arial"/>
        </a:defRPr>
      </a:lvl4pPr>
      <a:lvl5pPr marL="1543050" indent="-171450" algn="l" defTabSz="685800">
        <a:spcBef>
          <a:spcPct val="20000"/>
        </a:spcBef>
        <a:buFont typeface="Arial"/>
        <a:buChar char="»"/>
        <a:defRPr sz="1500" kern="1200">
          <a:solidFill>
            <a:schemeClr val="tx1"/>
          </a:solidFill>
          <a:latin typeface="Arial"/>
          <a:ea typeface="Arial"/>
          <a:cs typeface="Arial"/>
        </a:defRPr>
      </a:lvl5pPr>
      <a:lvl6pPr marL="1885950" indent="-171450" algn="l" defTabSz="685800">
        <a:spcBef>
          <a:spcPct val="20000"/>
        </a:spcBef>
        <a:buFont typeface="Arial"/>
        <a:buChar char="•"/>
        <a:defRPr sz="1500" kern="1200">
          <a:solidFill>
            <a:schemeClr val="tx1"/>
          </a:solidFill>
          <a:latin typeface="+mn-lt"/>
          <a:ea typeface="+mn-lt"/>
          <a:cs typeface="+mn-lt"/>
        </a:defRPr>
      </a:lvl6pPr>
      <a:lvl7pPr marL="2228850" indent="-171450" algn="l" defTabSz="685800">
        <a:spcBef>
          <a:spcPct val="20000"/>
        </a:spcBef>
        <a:buFont typeface="Arial"/>
        <a:buChar char="•"/>
        <a:defRPr sz="1500" kern="1200">
          <a:solidFill>
            <a:schemeClr val="tx1"/>
          </a:solidFill>
          <a:latin typeface="+mn-lt"/>
          <a:ea typeface="+mn-lt"/>
          <a:cs typeface="+mn-lt"/>
        </a:defRPr>
      </a:lvl7pPr>
      <a:lvl8pPr marL="2571750" indent="-171450" algn="l" defTabSz="685800">
        <a:spcBef>
          <a:spcPct val="20000"/>
        </a:spcBef>
        <a:buFont typeface="Arial"/>
        <a:buChar char="•"/>
        <a:defRPr sz="1500" kern="1200">
          <a:solidFill>
            <a:schemeClr val="tx1"/>
          </a:solidFill>
          <a:latin typeface="+mn-lt"/>
          <a:ea typeface="+mn-lt"/>
          <a:cs typeface="+mn-lt"/>
        </a:defRPr>
      </a:lvl8pPr>
      <a:lvl9pPr marL="2914650" indent="-171450" algn="l" defTabSz="685800">
        <a:spcBef>
          <a:spcPct val="20000"/>
        </a:spcBef>
        <a:buFont typeface="Arial"/>
        <a:buChar char="•"/>
        <a:defRPr sz="150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755577" y="205979"/>
            <a:ext cx="7931223" cy="857250"/>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755576" y="1200151"/>
            <a:ext cx="7931224" cy="3394472"/>
          </a:xfrm>
          <a:prstGeom prst="rect">
            <a:avLst/>
          </a:prstGeom>
        </p:spPr>
        <p:txBody>
          <a:bodyPr vert="horz" lIns="91440" tIns="45720" rIns="9144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755576" y="4767263"/>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1A5F7C02-8BB9-4009-8E62-D4DC00232FF2}" type="datetime1">
              <a:rPr lang="de-DE" smtClean="0"/>
              <a:pPr/>
              <a:t>20.09.2026</a:t>
            </a:fld>
            <a:endParaRPr lang="de-DE"/>
          </a:p>
        </p:txBody>
      </p:sp>
      <p:sp>
        <p:nvSpPr>
          <p:cNvPr id="5" name="Fußzeilenplatzhalter 4"/>
          <p:cNvSpPr>
            <a:spLocks noGrp="1"/>
          </p:cNvSpPr>
          <p:nvPr>
            <p:ph type="ftr" sz="quarter" idx="3"/>
          </p:nvPr>
        </p:nvSpPr>
        <p:spPr>
          <a:xfrm>
            <a:off x="3273388" y="4767263"/>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r>
              <a:rPr lang="de-DE"/>
              <a:t>SPP Initiative – Kognitive Mehrfachanforderungen</a:t>
            </a:r>
          </a:p>
        </p:txBody>
      </p:sp>
      <p:sp>
        <p:nvSpPr>
          <p:cNvPr id="6" name="Foliennummernplatzhalt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panose="020B0604020202020204" pitchFamily="34" charset="0"/>
                <a:cs typeface="Arial" panose="020B0604020202020204" pitchFamily="34" charset="0"/>
              </a:defRPr>
            </a:lvl1pPr>
          </a:lstStyle>
          <a:p>
            <a:fld id="{5CD88B4E-D815-417B-99FD-41D66E5C06D4}" type="slidenum">
              <a:rPr lang="de-DE" smtClean="0"/>
              <a:pPr/>
              <a:t>‹Nr.›</a:t>
            </a:fld>
            <a:endParaRPr lang="de-DE"/>
          </a:p>
        </p:txBody>
      </p:sp>
      <p:cxnSp>
        <p:nvCxnSpPr>
          <p:cNvPr id="8" name="Gerader Verbinder 7">
            <a:extLst>
              <a:ext uri="{FF2B5EF4-FFF2-40B4-BE49-F238E27FC236}">
                <a16:creationId xmlns:a16="http://schemas.microsoft.com/office/drawing/2014/main" id="{BA374641-DF0C-4EBC-9BF1-678A0AD1AD71}"/>
              </a:ext>
            </a:extLst>
          </p:cNvPr>
          <p:cNvCxnSpPr/>
          <p:nvPr userDrawn="1"/>
        </p:nvCxnSpPr>
        <p:spPr>
          <a:xfrm>
            <a:off x="-54260" y="4731990"/>
            <a:ext cx="9252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AA5428A5-A8A7-4347-B399-1EBBDB42098D}"/>
              </a:ext>
            </a:extLst>
          </p:cNvPr>
          <p:cNvCxnSpPr>
            <a:cxnSpLocks/>
          </p:cNvCxnSpPr>
          <p:nvPr userDrawn="1"/>
        </p:nvCxnSpPr>
        <p:spPr>
          <a:xfrm rot="5400000">
            <a:off x="-2286472" y="2591437"/>
            <a:ext cx="5220000" cy="0"/>
          </a:xfrm>
          <a:prstGeom prst="line">
            <a:avLst/>
          </a:prstGeom>
          <a:ln w="28575">
            <a:solidFill>
              <a:srgbClr val="3A77AD"/>
            </a:solidFill>
          </a:ln>
        </p:spPr>
        <p:style>
          <a:lnRef idx="1">
            <a:schemeClr val="accent1"/>
          </a:lnRef>
          <a:fillRef idx="0">
            <a:schemeClr val="accent1"/>
          </a:fillRef>
          <a:effectRef idx="0">
            <a:schemeClr val="accent1"/>
          </a:effectRef>
          <a:fontRef idx="minor">
            <a:schemeClr val="tx1"/>
          </a:fontRef>
        </p:style>
      </p:cxnSp>
      <p:pic>
        <p:nvPicPr>
          <p:cNvPr id="10" name="Grafik 1">
            <a:extLst>
              <a:ext uri="{FF2B5EF4-FFF2-40B4-BE49-F238E27FC236}">
                <a16:creationId xmlns:a16="http://schemas.microsoft.com/office/drawing/2014/main" id="{D080442A-D460-4BF8-A9DC-21C6F3C36724}"/>
              </a:ext>
            </a:extLst>
          </p:cNvPr>
          <p:cNvPicPr>
            <a:picLocks noChangeAspect="1" noChangeArrowheads="1"/>
          </p:cNvPicPr>
          <p:nvPr userDrawn="1"/>
        </p:nvPicPr>
        <p:blipFill rotWithShape="1">
          <a:blip r:embed="rId13" cstate="print">
            <a:alphaModFix/>
            <a:extLst>
              <a:ext uri="{BEBA8EAE-BF5A-486C-A8C5-ECC9F3942E4B}">
                <a14:imgProps xmlns:a14="http://schemas.microsoft.com/office/drawing/2010/main">
                  <a14:imgLayer r:embed="rId14">
                    <a14:imgEffect>
                      <a14:backgroundRemoval t="10000" b="90000" l="10000" r="90000"/>
                    </a14:imgEffect>
                  </a14:imgLayer>
                </a14:imgProps>
              </a:ext>
              <a:ext uri="{28A0092B-C50C-407E-A947-70E740481C1C}">
                <a14:useLocalDpi xmlns:a14="http://schemas.microsoft.com/office/drawing/2010/main" val="0"/>
              </a:ext>
            </a:extLst>
          </a:blip>
          <a:srcRect t="7963" b="13843"/>
          <a:stretch/>
        </p:blipFill>
        <p:spPr bwMode="auto">
          <a:xfrm>
            <a:off x="-569046" y="3907081"/>
            <a:ext cx="1816322" cy="82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51763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r" defTabSz="685800" rtl="0" eaLnBrk="1" latinLnBrk="0" hangingPunct="1">
        <a:spcBef>
          <a:spcPct val="0"/>
        </a:spcBef>
        <a:buNone/>
        <a:defRPr sz="3300" b="1" kern="1200">
          <a:solidFill>
            <a:schemeClr val="tx1"/>
          </a:solidFill>
          <a:latin typeface="Arial" panose="020B0604020202020204" pitchFamily="34" charset="0"/>
          <a:ea typeface="+mj-ea"/>
          <a:cs typeface="Arial" panose="020B0604020202020204" pitchFamily="34" charset="0"/>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562DA7F-7B37-45AC-8D5B-D52FDF860AF4}"/>
              </a:ext>
            </a:extLst>
          </p:cNvPr>
          <p:cNvSpPr>
            <a:spLocks noGrp="1"/>
          </p:cNvSpPr>
          <p:nvPr>
            <p:ph type="title"/>
          </p:nvPr>
        </p:nvSpPr>
        <p:spPr>
          <a:xfrm>
            <a:off x="755577" y="205979"/>
            <a:ext cx="7931223" cy="857250"/>
          </a:xfrm>
          <a:prstGeom prst="rect">
            <a:avLst/>
          </a:prstGeom>
        </p:spPr>
        <p:txBody>
          <a:bodyPr vert="horz" lIns="91440" tIns="45720" rIns="91440" bIns="45720" anchor="ctr">
            <a:normAutofit/>
          </a:bodyPr>
          <a:lstStyle/>
          <a:p>
            <a:r>
              <a:rPr dirty="0" err="1"/>
              <a:t>Titelmasterformat</a:t>
            </a:r>
            <a:r>
              <a:rPr dirty="0"/>
              <a:t> </a:t>
            </a:r>
            <a:r>
              <a:rPr dirty="0" err="1"/>
              <a:t>durch</a:t>
            </a:r>
            <a:r>
              <a:rPr dirty="0"/>
              <a:t> </a:t>
            </a:r>
            <a:r>
              <a:rPr dirty="0" err="1"/>
              <a:t>Klicken</a:t>
            </a:r>
            <a:r>
              <a:rPr dirty="0"/>
              <a:t> </a:t>
            </a:r>
            <a:r>
              <a:rPr dirty="0" err="1"/>
              <a:t>bearbeiten</a:t>
            </a:r>
            <a:endParaRPr dirty="0"/>
          </a:p>
        </p:txBody>
      </p:sp>
      <p:sp>
        <p:nvSpPr>
          <p:cNvPr id="3" name="Textplatzhalter 2">
            <a:extLst>
              <a:ext uri="{FF2B5EF4-FFF2-40B4-BE49-F238E27FC236}">
                <a16:creationId xmlns:a16="http://schemas.microsoft.com/office/drawing/2014/main" id="{CD6A4A0B-2EAD-4B56-8353-55727E004DD3}"/>
              </a:ext>
            </a:extLst>
          </p:cNvPr>
          <p:cNvSpPr>
            <a:spLocks noGrp="1"/>
          </p:cNvSpPr>
          <p:nvPr>
            <p:ph type="body" idx="1"/>
          </p:nvPr>
        </p:nvSpPr>
        <p:spPr>
          <a:xfrm>
            <a:off x="755576" y="1200151"/>
            <a:ext cx="7931224" cy="3394472"/>
          </a:xfrm>
          <a:prstGeom prst="rect">
            <a:avLst/>
          </a:prstGeom>
        </p:spPr>
        <p:txBody>
          <a:bodyPr vert="horz" lIns="91440" tIns="45720" rIns="91440" bIns="45720">
            <a:normAutofit/>
          </a:body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FA1B9373-53D0-4D71-924F-6E81CB085E9C}"/>
              </a:ext>
            </a:extLst>
          </p:cNvPr>
          <p:cNvSpPr>
            <a:spLocks noGrp="1"/>
          </p:cNvSpPr>
          <p:nvPr>
            <p:ph type="dt" idx="2"/>
          </p:nvPr>
        </p:nvSpPr>
        <p:spPr>
          <a:xfrm>
            <a:off x="755576" y="4767263"/>
            <a:ext cx="2133600" cy="273844"/>
          </a:xfrm>
          <a:prstGeom prst="rect">
            <a:avLst/>
          </a:prstGeom>
        </p:spPr>
        <p:txBody>
          <a:bodyPr vert="horz" lIns="91440" tIns="45720" rIns="91440" bIns="45720" anchor="ctr"/>
          <a:lstStyle>
            <a:lvl1pPr algn="l">
              <a:buNone/>
              <a:defRPr sz="900">
                <a:solidFill>
                  <a:schemeClr val="tx1">
                    <a:tint val="75000"/>
                  </a:schemeClr>
                </a:solidFill>
                <a:latin typeface="Arial"/>
                <a:ea typeface="Arial"/>
                <a:cs typeface="Arial"/>
              </a:defRPr>
            </a:lvl1pPr>
          </a:lstStyle>
          <a:p>
            <a:fld id="{1A5F7C02-8BB9-4009-8E62-D4DC00232FF2}" type="datetime1">
              <a:rPr lang="en-US"/>
              <a:t>9/20/2026</a:t>
            </a:fld>
            <a:endParaRPr/>
          </a:p>
        </p:txBody>
      </p:sp>
      <p:sp>
        <p:nvSpPr>
          <p:cNvPr id="5" name="Fußzeilenplatzhalter 4">
            <a:extLst>
              <a:ext uri="{FF2B5EF4-FFF2-40B4-BE49-F238E27FC236}">
                <a16:creationId xmlns:a16="http://schemas.microsoft.com/office/drawing/2014/main" id="{619F69B2-373B-46FF-B918-0101AFF2B3A7}"/>
              </a:ext>
            </a:extLst>
          </p:cNvPr>
          <p:cNvSpPr>
            <a:spLocks noGrp="1"/>
          </p:cNvSpPr>
          <p:nvPr>
            <p:ph type="ftr" idx="3"/>
          </p:nvPr>
        </p:nvSpPr>
        <p:spPr>
          <a:xfrm>
            <a:off x="3273388" y="4767263"/>
            <a:ext cx="2895600" cy="273844"/>
          </a:xfrm>
          <a:prstGeom prst="rect">
            <a:avLst/>
          </a:prstGeom>
        </p:spPr>
        <p:txBody>
          <a:bodyPr vert="horz" lIns="91440" tIns="45720" rIns="91440" bIns="45720" anchor="ctr"/>
          <a:lstStyle>
            <a:lvl1pPr algn="ctr">
              <a:buNone/>
              <a:defRPr sz="900">
                <a:solidFill>
                  <a:schemeClr val="tx1">
                    <a:tint val="75000"/>
                  </a:schemeClr>
                </a:solidFill>
                <a:latin typeface="Arial"/>
                <a:ea typeface="Arial"/>
                <a:cs typeface="Arial"/>
              </a:defRPr>
            </a:lvl1pPr>
          </a:lstStyle>
          <a:p>
            <a:r>
              <a:t>SPP Initiative – Kognitive Mehrfachanforderungen</a:t>
            </a:r>
          </a:p>
        </p:txBody>
      </p:sp>
      <p:sp>
        <p:nvSpPr>
          <p:cNvPr id="6" name="Foliennummernplatzhalter 5">
            <a:extLst>
              <a:ext uri="{FF2B5EF4-FFF2-40B4-BE49-F238E27FC236}">
                <a16:creationId xmlns:a16="http://schemas.microsoft.com/office/drawing/2014/main" id="{C1A0E01D-2C9B-4046-9075-C22947680F7C}"/>
              </a:ext>
            </a:extLst>
          </p:cNvPr>
          <p:cNvSpPr>
            <a:spLocks noGrp="1"/>
          </p:cNvSpPr>
          <p:nvPr>
            <p:ph type="sldNum" idx="4"/>
          </p:nvPr>
        </p:nvSpPr>
        <p:spPr>
          <a:xfrm>
            <a:off x="6553200" y="4767263"/>
            <a:ext cx="2133600" cy="273844"/>
          </a:xfrm>
          <a:prstGeom prst="rect">
            <a:avLst/>
          </a:prstGeom>
        </p:spPr>
        <p:txBody>
          <a:bodyPr vert="horz" lIns="91440" tIns="45720" rIns="91440" bIns="45720" anchor="ctr"/>
          <a:lstStyle>
            <a:lvl1pPr algn="r">
              <a:buNone/>
              <a:defRPr sz="900">
                <a:solidFill>
                  <a:schemeClr val="tx1">
                    <a:tint val="75000"/>
                  </a:schemeClr>
                </a:solidFill>
                <a:latin typeface="Arial"/>
                <a:ea typeface="Arial"/>
                <a:cs typeface="Arial"/>
              </a:defRPr>
            </a:lvl1pPr>
          </a:lstStyle>
          <a:p>
            <a:fld id="{5CD88B4E-D815-417B-99FD-41D66E5C06D4}" type="slidenum">
              <a:rPr/>
              <a:t>‹Nr.›</a:t>
            </a:fld>
            <a:endParaRPr/>
          </a:p>
        </p:txBody>
      </p:sp>
      <p:sp>
        <p:nvSpPr>
          <p:cNvPr id="8" name="Gerader Verbinder 7">
            <a:extLst>
              <a:ext uri="{FF2B5EF4-FFF2-40B4-BE49-F238E27FC236}">
                <a16:creationId xmlns:a16="http://schemas.microsoft.com/office/drawing/2014/main" id="{4124E9D7-1368-4C6A-94E9-DF3FDBE52726}"/>
              </a:ext>
            </a:extLst>
          </p:cNvPr>
          <p:cNvSpPr>
            <a:spLocks noGrp="1"/>
          </p:cNvSpPr>
          <p:nvPr/>
        </p:nvSpPr>
        <p:spPr>
          <a:xfrm>
            <a:off x="-54260" y="4731990"/>
            <a:ext cx="9252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9" name="Gerader Verbinder 8">
            <a:extLst>
              <a:ext uri="{FF2B5EF4-FFF2-40B4-BE49-F238E27FC236}">
                <a16:creationId xmlns:a16="http://schemas.microsoft.com/office/drawing/2014/main" id="{27361209-E306-411F-8181-39425E970A31}"/>
              </a:ext>
            </a:extLst>
          </p:cNvPr>
          <p:cNvSpPr>
            <a:spLocks noGrp="1"/>
          </p:cNvSpPr>
          <p:nvPr/>
        </p:nvSpPr>
        <p:spPr>
          <a:xfrm rot="5400000">
            <a:off x="-2286472" y="2591437"/>
            <a:ext cx="5220000" cy="0"/>
          </a:xfrm>
          <a:prstGeom prst="line">
            <a:avLst/>
          </a:prstGeom>
          <a:ln w="28575">
            <a:solidFill>
              <a:srgbClr val="3A77AD"/>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pic>
        <p:nvPicPr>
          <p:cNvPr id="18" name="Grafik 1"/>
          <p:cNvPicPr>
            <a:picLocks noChangeAspect="1"/>
          </p:cNvPicPr>
          <p:nvPr/>
        </p:nvPicPr>
        <p:blipFill rotWithShape="1">
          <a:blip r:embed="rId13">
            <a:alphaModFix/>
          </a:blip>
          <a:srcRect t="7963" b="13843"/>
          <a:stretch/>
        </p:blipFill>
        <p:spPr>
          <a:xfrm>
            <a:off x="-569046" y="3907081"/>
            <a:ext cx="1816322" cy="822222"/>
          </a:xfrm>
          <a:prstGeom prst="rect">
            <a:avLst/>
          </a:prstGeom>
          <a:ln>
            <a:noFill/>
          </a:ln>
        </p:spPr>
      </p:pic>
    </p:spTree>
    <p:extLst>
      <p:ext uri="{BB962C8B-B14F-4D97-AF65-F5344CB8AC3E}">
        <p14:creationId xmlns:p14="http://schemas.microsoft.com/office/powerpoint/2010/main" val="13022669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r" defTabSz="685800">
        <a:spcBef>
          <a:spcPct val="0"/>
        </a:spcBef>
        <a:buNone/>
        <a:defRPr sz="3300" b="1" kern="1200">
          <a:solidFill>
            <a:schemeClr val="tx1"/>
          </a:solidFill>
          <a:latin typeface="Arial"/>
          <a:ea typeface="Arial"/>
          <a:cs typeface="Arial"/>
        </a:defRPr>
      </a:lvl1pPr>
    </p:titleStyle>
    <p:bodyStyle>
      <a:lvl1pPr marL="257175" indent="-257175" algn="l" defTabSz="685800">
        <a:spcBef>
          <a:spcPct val="20000"/>
        </a:spcBef>
        <a:buFont typeface="Arial"/>
        <a:buChar char="•"/>
        <a:defRPr sz="2400" kern="1200">
          <a:solidFill>
            <a:schemeClr val="tx1"/>
          </a:solidFill>
          <a:latin typeface="Arial"/>
          <a:ea typeface="Arial"/>
          <a:cs typeface="Arial"/>
        </a:defRPr>
      </a:lvl1pPr>
      <a:lvl2pPr marL="557213" indent="-214313" algn="l" defTabSz="685800">
        <a:spcBef>
          <a:spcPct val="20000"/>
        </a:spcBef>
        <a:buFont typeface="Arial"/>
        <a:buChar char="–"/>
        <a:defRPr sz="2100" kern="1200">
          <a:solidFill>
            <a:schemeClr val="tx1"/>
          </a:solidFill>
          <a:latin typeface="Arial"/>
          <a:ea typeface="Arial"/>
          <a:cs typeface="Arial"/>
        </a:defRPr>
      </a:lvl2pPr>
      <a:lvl3pPr marL="857250" indent="-171450" algn="l" defTabSz="685800">
        <a:spcBef>
          <a:spcPct val="20000"/>
        </a:spcBef>
        <a:buFont typeface="Arial"/>
        <a:buChar char="•"/>
        <a:defRPr sz="1800" kern="1200">
          <a:solidFill>
            <a:schemeClr val="tx1"/>
          </a:solidFill>
          <a:latin typeface="Arial"/>
          <a:ea typeface="Arial"/>
          <a:cs typeface="Arial"/>
        </a:defRPr>
      </a:lvl3pPr>
      <a:lvl4pPr marL="1200150" indent="-171450" algn="l" defTabSz="685800">
        <a:spcBef>
          <a:spcPct val="20000"/>
        </a:spcBef>
        <a:buFont typeface="Arial"/>
        <a:buChar char="–"/>
        <a:defRPr sz="1500" kern="1200">
          <a:solidFill>
            <a:schemeClr val="tx1"/>
          </a:solidFill>
          <a:latin typeface="Arial"/>
          <a:ea typeface="Arial"/>
          <a:cs typeface="Arial"/>
        </a:defRPr>
      </a:lvl4pPr>
      <a:lvl5pPr marL="1543050" indent="-171450" algn="l" defTabSz="685800">
        <a:spcBef>
          <a:spcPct val="20000"/>
        </a:spcBef>
        <a:buFont typeface="Arial"/>
        <a:buChar char="»"/>
        <a:defRPr sz="1500" kern="1200">
          <a:solidFill>
            <a:schemeClr val="tx1"/>
          </a:solidFill>
          <a:latin typeface="Arial"/>
          <a:ea typeface="Arial"/>
          <a:cs typeface="Arial"/>
        </a:defRPr>
      </a:lvl5pPr>
      <a:lvl6pPr marL="1885950" indent="-171450" algn="l" defTabSz="685800">
        <a:spcBef>
          <a:spcPct val="20000"/>
        </a:spcBef>
        <a:buFont typeface="Arial"/>
        <a:buChar char="•"/>
        <a:defRPr sz="1500" kern="1200">
          <a:solidFill>
            <a:schemeClr val="tx1"/>
          </a:solidFill>
          <a:latin typeface="+mn-lt"/>
          <a:ea typeface="+mn-lt"/>
          <a:cs typeface="+mn-lt"/>
        </a:defRPr>
      </a:lvl6pPr>
      <a:lvl7pPr marL="2228850" indent="-171450" algn="l" defTabSz="685800">
        <a:spcBef>
          <a:spcPct val="20000"/>
        </a:spcBef>
        <a:buFont typeface="Arial"/>
        <a:buChar char="•"/>
        <a:defRPr sz="1500" kern="1200">
          <a:solidFill>
            <a:schemeClr val="tx1"/>
          </a:solidFill>
          <a:latin typeface="+mn-lt"/>
          <a:ea typeface="+mn-lt"/>
          <a:cs typeface="+mn-lt"/>
        </a:defRPr>
      </a:lvl7pPr>
      <a:lvl8pPr marL="2571750" indent="-171450" algn="l" defTabSz="685800">
        <a:spcBef>
          <a:spcPct val="20000"/>
        </a:spcBef>
        <a:buFont typeface="Arial"/>
        <a:buChar char="•"/>
        <a:defRPr sz="1500" kern="1200">
          <a:solidFill>
            <a:schemeClr val="tx1"/>
          </a:solidFill>
          <a:latin typeface="+mn-lt"/>
          <a:ea typeface="+mn-lt"/>
          <a:cs typeface="+mn-lt"/>
        </a:defRPr>
      </a:lvl8pPr>
      <a:lvl9pPr marL="2914650" indent="-171450" algn="l" defTabSz="685800">
        <a:spcBef>
          <a:spcPct val="20000"/>
        </a:spcBef>
        <a:buFont typeface="Arial"/>
        <a:buChar char="•"/>
        <a:defRPr sz="150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microsoft.com/office/2007/relationships/hdphoto" Target="../media/hdphoto2.wdp"/><Relationship Id="rId9" Type="http://schemas.microsoft.com/office/2007/relationships/hdphoto" Target="../media/hdphoto3.wdp"/></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hyperlink" Target="https://osf.io/6vspq/"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dirk-ostwald/Optimal-dual-task-performance" TargetMode="External"/><Relationship Id="rId2" Type="http://schemas.openxmlformats.org/officeDocument/2006/relationships/hyperlink" Target="https://osf.io/x6n58/overview" TargetMode="Externa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hyperlink" Target="https://arxiv.org/abs/2604.27894" TargetMode="External"/><Relationship Id="rId4" Type="http://schemas.openxmlformats.org/officeDocument/2006/relationships/hyperlink" Target="https://github.com/dirk-ostwald/Optimal-dual-task-performance/blob/main/report/Ostwald-et-al.pdf"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100.png"/><Relationship Id="rId3" Type="http://schemas.openxmlformats.org/officeDocument/2006/relationships/image" Target="../media/image14.png"/><Relationship Id="rId7" Type="http://schemas.openxmlformats.org/officeDocument/2006/relationships/image" Target="../media/image19.png"/><Relationship Id="rId12" Type="http://schemas.openxmlformats.org/officeDocument/2006/relationships/image" Target="../media/image90.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20.png"/><Relationship Id="rId7" Type="http://schemas.openxmlformats.org/officeDocument/2006/relationships/image" Target="../media/image31.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5.png"/><Relationship Id="rId4" Type="http://schemas.openxmlformats.org/officeDocument/2006/relationships/image" Target="../media/image130.png"/><Relationship Id="rId9"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svg"/><Relationship Id="rId7"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svg"/><Relationship Id="rId9" Type="http://schemas.openxmlformats.org/officeDocument/2006/relationships/image" Target="../media/image4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4.png"/><Relationship Id="rId7"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48.png"/></Relationships>
</file>

<file path=ppt/slides/_rels/slide2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2.svg"/><Relationship Id="rId7"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8.png"/><Relationship Id="rId11" Type="http://schemas.openxmlformats.org/officeDocument/2006/relationships/image" Target="../media/image46.png"/><Relationship Id="rId5" Type="http://schemas.openxmlformats.org/officeDocument/2006/relationships/image" Target="../media/image53.png"/><Relationship Id="rId10" Type="http://schemas.openxmlformats.org/officeDocument/2006/relationships/image" Target="../media/image57.svg"/><Relationship Id="rId4" Type="http://schemas.openxmlformats.org/officeDocument/2006/relationships/image" Target="../media/image43.png"/><Relationship Id="rId9" Type="http://schemas.openxmlformats.org/officeDocument/2006/relationships/image" Target="../media/image56.png"/></Relationships>
</file>

<file path=ppt/slides/_rels/slide2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2.svg"/><Relationship Id="rId7"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48.png"/><Relationship Id="rId11" Type="http://schemas.openxmlformats.org/officeDocument/2006/relationships/image" Target="../media/image46.png"/><Relationship Id="rId5" Type="http://schemas.openxmlformats.org/officeDocument/2006/relationships/image" Target="../media/image53.png"/><Relationship Id="rId10" Type="http://schemas.openxmlformats.org/officeDocument/2006/relationships/image" Target="../media/image57.svg"/><Relationship Id="rId4" Type="http://schemas.openxmlformats.org/officeDocument/2006/relationships/image" Target="../media/image43.png"/><Relationship Id="rId9"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62.png"/><Relationship Id="rId4" Type="http://schemas.openxmlformats.org/officeDocument/2006/relationships/image" Target="../media/image61.svg"/></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61.svg"/><Relationship Id="rId5" Type="http://schemas.openxmlformats.org/officeDocument/2006/relationships/image" Target="../media/image63.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68.png"/><Relationship Id="rId4" Type="http://schemas.openxmlformats.org/officeDocument/2006/relationships/image" Target="../media/image67.png"/></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32.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3.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image" Target="../media/image75.png"/><Relationship Id="rId5" Type="http://schemas.openxmlformats.org/officeDocument/2006/relationships/image" Target="../media/image74.jpeg"/><Relationship Id="rId4" Type="http://schemas.openxmlformats.org/officeDocument/2006/relationships/image" Target="../media/image73.png"/></Relationships>
</file>

<file path=ppt/slides/_rels/slide34.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8.png"/><Relationship Id="rId7" Type="http://schemas.openxmlformats.org/officeDocument/2006/relationships/image" Target="../media/image76.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75.png"/><Relationship Id="rId5" Type="http://schemas.openxmlformats.org/officeDocument/2006/relationships/image" Target="../media/image74.jpeg"/><Relationship Id="rId4" Type="http://schemas.openxmlformats.org/officeDocument/2006/relationships/image" Target="../media/image73.png"/></Relationships>
</file>

<file path=ppt/slides/_rels/slide35.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jpeg"/></Relationships>
</file>

<file path=ppt/slides/_rels/slide3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82.png"/></Relationships>
</file>

<file path=ppt/slides/_rels/slide3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2EF3CB9C-6B45-4917-A4DA-21FA35453BEF}"/>
              </a:ext>
            </a:extLst>
          </p:cNvPr>
          <p:cNvPicPr>
            <a:picLocks noChangeAspect="1"/>
          </p:cNvPicPr>
          <p:nvPr/>
        </p:nvPicPr>
        <p:blipFill rotWithShape="1">
          <a:blip r:embed="rId3">
            <a:graysc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18334" t="10835" r="26100" b="13312"/>
          <a:stretch/>
        </p:blipFill>
        <p:spPr>
          <a:xfrm rot="5400000">
            <a:off x="689616" y="2291157"/>
            <a:ext cx="790783" cy="809624"/>
          </a:xfrm>
          <a:prstGeom prst="rect">
            <a:avLst/>
          </a:prstGeom>
          <a:ln>
            <a:noFill/>
          </a:ln>
          <a:effectLst>
            <a:outerShdw blurRad="292100" dist="139700" dir="2700000" algn="tl" rotWithShape="0">
              <a:srgbClr val="333333">
                <a:alpha val="65000"/>
              </a:srgbClr>
            </a:outerShdw>
          </a:effectLst>
        </p:spPr>
      </p:pic>
      <p:pic>
        <p:nvPicPr>
          <p:cNvPr id="32" name="Grafik 11"/>
          <p:cNvPicPr>
            <a:picLocks noChangeAspect="1"/>
          </p:cNvPicPr>
          <p:nvPr/>
        </p:nvPicPr>
        <p:blipFill>
          <a:blip r:embed="rId5">
            <a:grayscl/>
          </a:blip>
          <a:stretch>
            <a:fillRect/>
          </a:stretch>
        </p:blipFill>
        <p:spPr>
          <a:xfrm flipH="1">
            <a:off x="6229934" y="2291157"/>
            <a:ext cx="809625" cy="809625"/>
          </a:xfrm>
          <a:prstGeom prst="rect">
            <a:avLst/>
          </a:prstGeom>
          <a:ln>
            <a:noFill/>
          </a:ln>
          <a:effectLst>
            <a:outerShdw blurRad="292100" dist="139700" dir="2700000" algn="tl" rotWithShape="0">
              <a:srgbClr val="333333">
                <a:alpha val="65000"/>
              </a:srgbClr>
            </a:outerShdw>
          </a:effectLst>
        </p:spPr>
      </p:pic>
      <p:pic>
        <p:nvPicPr>
          <p:cNvPr id="33" name="Grafik 9"/>
          <p:cNvPicPr>
            <a:picLocks noChangeAspect="1"/>
          </p:cNvPicPr>
          <p:nvPr/>
        </p:nvPicPr>
        <p:blipFill>
          <a:blip r:embed="rId6">
            <a:grayscl/>
          </a:blip>
          <a:stretch>
            <a:fillRect/>
          </a:stretch>
        </p:blipFill>
        <p:spPr>
          <a:xfrm>
            <a:off x="2072047" y="2291157"/>
            <a:ext cx="809625" cy="809625"/>
          </a:xfrm>
          <a:prstGeom prst="rect">
            <a:avLst/>
          </a:prstGeom>
          <a:ln>
            <a:noFill/>
          </a:ln>
          <a:effectLst>
            <a:outerShdw blurRad="292100" dist="139700" dir="2700000" algn="tl" rotWithShape="0">
              <a:srgbClr val="333333">
                <a:alpha val="65000"/>
              </a:srgbClr>
            </a:outerShdw>
          </a:effectLst>
        </p:spPr>
      </p:pic>
      <p:pic>
        <p:nvPicPr>
          <p:cNvPr id="34" name="Grafik 13"/>
          <p:cNvPicPr>
            <a:picLocks noChangeAspect="1"/>
          </p:cNvPicPr>
          <p:nvPr/>
        </p:nvPicPr>
        <p:blipFill rotWithShape="1">
          <a:blip r:embed="rId7">
            <a:grayscl/>
          </a:blip>
          <a:srcRect r="5593" b="25169"/>
          <a:stretch/>
        </p:blipFill>
        <p:spPr>
          <a:xfrm>
            <a:off x="4838083" y="2291157"/>
            <a:ext cx="809625" cy="809625"/>
          </a:xfrm>
          <a:prstGeom prst="rect">
            <a:avLst/>
          </a:prstGeom>
          <a:ln>
            <a:noFill/>
          </a:ln>
          <a:effectLst>
            <a:outerShdw blurRad="292100" dist="139700" dir="2700000" algn="tl" rotWithShape="0">
              <a:srgbClr val="333333">
                <a:alpha val="65000"/>
              </a:srgbClr>
            </a:outerShdw>
          </a:effectLst>
        </p:spPr>
      </p:pic>
      <p:sp>
        <p:nvSpPr>
          <p:cNvPr id="24" name="Rechteck 23">
            <a:extLst>
              <a:ext uri="{FF2B5EF4-FFF2-40B4-BE49-F238E27FC236}">
                <a16:creationId xmlns:a16="http://schemas.microsoft.com/office/drawing/2014/main" id="{03455CD6-646D-4694-AB97-4BDBA83F6458}"/>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algn="r">
              <a:defRPr sz="2625" b="0">
                <a:solidFill>
                  <a:srgbClr val="111111"/>
                </a:solidFill>
                <a:latin typeface="Arial"/>
                <a:ea typeface="Arial"/>
                <a:cs typeface="Arial"/>
              </a:defRPr>
            </a:pPr>
            <a:r>
              <a:rPr sz="2800" b="0" dirty="0">
                <a:solidFill>
                  <a:srgbClr val="111111"/>
                </a:solidFill>
                <a:latin typeface="Arial"/>
                <a:ea typeface="Arial"/>
                <a:cs typeface="Arial"/>
              </a:rPr>
              <a:t>Project 3</a:t>
            </a:r>
          </a:p>
        </p:txBody>
      </p:sp>
      <p:sp>
        <p:nvSpPr>
          <p:cNvPr id="25" name="Rechteck 24">
            <a:extLst>
              <a:ext uri="{FF2B5EF4-FFF2-40B4-BE49-F238E27FC236}">
                <a16:creationId xmlns:a16="http://schemas.microsoft.com/office/drawing/2014/main" id="{E897CB27-ED0B-4784-82DC-2A8331A0435F}"/>
              </a:ext>
            </a:extLst>
          </p:cNvPr>
          <p:cNvSpPr>
            <a:spLocks noGrp="1"/>
          </p:cNvSpPr>
          <p:nvPr/>
        </p:nvSpPr>
        <p:spPr>
          <a:xfrm>
            <a:off x="762000" y="1057275"/>
            <a:ext cx="7924800" cy="771525"/>
          </a:xfrm>
          <a:prstGeom prst="rect">
            <a:avLst/>
          </a:prstGeom>
          <a:noFill/>
          <a:ln w="0">
            <a:noFill/>
          </a:ln>
        </p:spPr>
        <p:txBody>
          <a:bodyPr lIns="0" tIns="0" rIns="0" bIns="0" anchor="t">
            <a:noAutofit/>
          </a:bodyPr>
          <a:lstStyle/>
          <a:p>
            <a:pPr algn="l">
              <a:defRPr sz="2325" b="0">
                <a:solidFill>
                  <a:srgbClr val="111111"/>
                </a:solidFill>
                <a:latin typeface="Arial"/>
                <a:ea typeface="Arial"/>
                <a:cs typeface="Arial"/>
              </a:defRPr>
            </a:pPr>
            <a:r>
              <a:rPr sz="2325" b="0" dirty="0">
                <a:solidFill>
                  <a:srgbClr val="111111"/>
                </a:solidFill>
                <a:latin typeface="Arial"/>
                <a:ea typeface="Arial"/>
                <a:cs typeface="Arial"/>
              </a:rPr>
              <a:t>Individual determinants of response strategy</a:t>
            </a:r>
          </a:p>
          <a:p>
            <a:pPr algn="l">
              <a:defRPr sz="2325" b="0">
                <a:solidFill>
                  <a:srgbClr val="111111"/>
                </a:solidFill>
                <a:latin typeface="Arial"/>
                <a:ea typeface="Arial"/>
                <a:cs typeface="Arial"/>
              </a:defRPr>
            </a:pPr>
            <a:r>
              <a:rPr sz="2325" b="0" dirty="0">
                <a:solidFill>
                  <a:srgbClr val="111111"/>
                </a:solidFill>
                <a:latin typeface="Arial"/>
                <a:ea typeface="Arial"/>
                <a:cs typeface="Arial"/>
              </a:rPr>
              <a:t>formation in voluntary task switching</a:t>
            </a:r>
          </a:p>
        </p:txBody>
      </p:sp>
      <p:sp>
        <p:nvSpPr>
          <p:cNvPr id="26" name="Rechteck 25">
            <a:extLst>
              <a:ext uri="{FF2B5EF4-FFF2-40B4-BE49-F238E27FC236}">
                <a16:creationId xmlns:a16="http://schemas.microsoft.com/office/drawing/2014/main" id="{543A130D-7623-4B53-8681-2E1A4BC4BD1E}"/>
              </a:ext>
            </a:extLst>
          </p:cNvPr>
          <p:cNvSpPr>
            <a:spLocks noGrp="1"/>
          </p:cNvSpPr>
          <p:nvPr/>
        </p:nvSpPr>
        <p:spPr>
          <a:xfrm>
            <a:off x="1811959" y="3203625"/>
            <a:ext cx="1351293"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sz="1275" b="0" dirty="0">
                <a:solidFill>
                  <a:srgbClr val="111111"/>
                </a:solidFill>
                <a:latin typeface="Arial"/>
                <a:ea typeface="Arial"/>
                <a:cs typeface="Arial"/>
              </a:rPr>
              <a:t>Jovita Brüning</a:t>
            </a:r>
          </a:p>
        </p:txBody>
      </p:sp>
      <p:sp>
        <p:nvSpPr>
          <p:cNvPr id="27" name="Rechteck 26">
            <a:extLst>
              <a:ext uri="{FF2B5EF4-FFF2-40B4-BE49-F238E27FC236}">
                <a16:creationId xmlns:a16="http://schemas.microsoft.com/office/drawing/2014/main" id="{D1A8A4B2-7080-47DA-B5AB-BED4121E2193}"/>
              </a:ext>
            </a:extLst>
          </p:cNvPr>
          <p:cNvSpPr>
            <a:spLocks noGrp="1"/>
          </p:cNvSpPr>
          <p:nvPr/>
        </p:nvSpPr>
        <p:spPr>
          <a:xfrm>
            <a:off x="4660409" y="3203625"/>
            <a:ext cx="119062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sz="1275" b="0" dirty="0">
                <a:solidFill>
                  <a:srgbClr val="111111"/>
                </a:solidFill>
                <a:latin typeface="Arial"/>
                <a:ea typeface="Arial"/>
                <a:cs typeface="Arial"/>
              </a:rPr>
              <a:t>Dirk Ostwald</a:t>
            </a:r>
          </a:p>
        </p:txBody>
      </p:sp>
      <p:sp>
        <p:nvSpPr>
          <p:cNvPr id="28" name="Rechteck 27">
            <a:extLst>
              <a:ext uri="{FF2B5EF4-FFF2-40B4-BE49-F238E27FC236}">
                <a16:creationId xmlns:a16="http://schemas.microsoft.com/office/drawing/2014/main" id="{155CD67F-90CA-4ACA-979C-CAC109338799}"/>
              </a:ext>
            </a:extLst>
          </p:cNvPr>
          <p:cNvSpPr>
            <a:spLocks noGrp="1"/>
          </p:cNvSpPr>
          <p:nvPr/>
        </p:nvSpPr>
        <p:spPr>
          <a:xfrm>
            <a:off x="5831907" y="3203625"/>
            <a:ext cx="168880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sz="1275" b="0" dirty="0">
                <a:solidFill>
                  <a:srgbClr val="111111"/>
                </a:solidFill>
                <a:latin typeface="Arial"/>
                <a:ea typeface="Arial"/>
                <a:cs typeface="Arial"/>
              </a:rPr>
              <a:t>Markus </a:t>
            </a:r>
            <a:r>
              <a:rPr sz="1275" b="0" dirty="0" err="1">
                <a:solidFill>
                  <a:srgbClr val="111111"/>
                </a:solidFill>
                <a:latin typeface="Arial"/>
                <a:ea typeface="Arial"/>
                <a:cs typeface="Arial"/>
              </a:rPr>
              <a:t>Ullsperger</a:t>
            </a:r>
            <a:endParaRPr sz="1275" b="0" dirty="0">
              <a:solidFill>
                <a:srgbClr val="111111"/>
              </a:solidFill>
              <a:latin typeface="Arial"/>
              <a:ea typeface="Arial"/>
              <a:cs typeface="Arial"/>
            </a:endParaRPr>
          </a:p>
        </p:txBody>
      </p:sp>
      <p:sp>
        <p:nvSpPr>
          <p:cNvPr id="30" name="Rechteck 29">
            <a:extLst>
              <a:ext uri="{FF2B5EF4-FFF2-40B4-BE49-F238E27FC236}">
                <a16:creationId xmlns:a16="http://schemas.microsoft.com/office/drawing/2014/main" id="{B11609E7-B87F-42D7-A188-39200EE97C30}"/>
              </a:ext>
            </a:extLst>
          </p:cNvPr>
          <p:cNvSpPr>
            <a:spLocks noGrp="1"/>
          </p:cNvSpPr>
          <p:nvPr/>
        </p:nvSpPr>
        <p:spPr>
          <a:xfrm>
            <a:off x="762000" y="3943350"/>
            <a:ext cx="7924800" cy="647700"/>
          </a:xfrm>
          <a:prstGeom prst="rect">
            <a:avLst/>
          </a:prstGeom>
          <a:noFill/>
          <a:ln w="0">
            <a:noFill/>
          </a:ln>
        </p:spPr>
        <p:txBody>
          <a:bodyPr lIns="0" tIns="0" rIns="0" bIns="0" anchor="t">
            <a:noAutofit/>
          </a:bodyPr>
          <a:lstStyle/>
          <a:p>
            <a:pPr algn="l">
              <a:defRPr sz="2175" b="1">
                <a:solidFill>
                  <a:srgbClr val="AD8600"/>
                </a:solidFill>
                <a:latin typeface="Arial"/>
                <a:ea typeface="Arial"/>
                <a:cs typeface="Arial"/>
              </a:defRPr>
            </a:pPr>
            <a:r>
              <a:rPr sz="2175" b="1">
                <a:solidFill>
                  <a:srgbClr val="AD8600"/>
                </a:solidFill>
                <a:latin typeface="Arial"/>
                <a:ea typeface="Arial"/>
                <a:cs typeface="Arial"/>
              </a:rPr>
              <a:t>What determines which strategy a person uses</a:t>
            </a:r>
          </a:p>
          <a:p>
            <a:pPr algn="l">
              <a:defRPr sz="2175" b="1">
                <a:solidFill>
                  <a:srgbClr val="AD8600"/>
                </a:solidFill>
                <a:latin typeface="Arial"/>
                <a:ea typeface="Arial"/>
                <a:cs typeface="Arial"/>
              </a:defRPr>
            </a:pPr>
            <a:r>
              <a:rPr sz="2175" b="1">
                <a:solidFill>
                  <a:srgbClr val="AD8600"/>
                </a:solidFill>
                <a:latin typeface="Arial"/>
                <a:ea typeface="Arial"/>
                <a:cs typeface="Arial"/>
              </a:rPr>
              <a:t>when they can freely choose between tasks?</a:t>
            </a:r>
          </a:p>
        </p:txBody>
      </p:sp>
      <p:sp>
        <p:nvSpPr>
          <p:cNvPr id="31" name="Rechteck 30">
            <a:extLst>
              <a:ext uri="{FF2B5EF4-FFF2-40B4-BE49-F238E27FC236}">
                <a16:creationId xmlns:a16="http://schemas.microsoft.com/office/drawing/2014/main" id="{FDA0ACD5-E0AB-44B3-9909-C9B09434FDFE}"/>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defRPr sz="975" b="0">
                <a:solidFill>
                  <a:srgbClr val="888888"/>
                </a:solidFill>
                <a:latin typeface="Arial"/>
                <a:ea typeface="Arial"/>
                <a:cs typeface="Arial"/>
              </a:defRPr>
            </a:pPr>
            <a:r>
              <a:rPr sz="975" b="0">
                <a:solidFill>
                  <a:srgbClr val="888888"/>
                </a:solidFill>
                <a:latin typeface="Arial"/>
                <a:ea typeface="Arial"/>
                <a:cs typeface="Arial"/>
              </a:rPr>
              <a:t>1</a:t>
            </a:r>
          </a:p>
        </p:txBody>
      </p:sp>
      <p:sp>
        <p:nvSpPr>
          <p:cNvPr id="17" name="Rechteck 16">
            <a:extLst>
              <a:ext uri="{FF2B5EF4-FFF2-40B4-BE49-F238E27FC236}">
                <a16:creationId xmlns:a16="http://schemas.microsoft.com/office/drawing/2014/main" id="{F3C84E71-DF16-44E3-8D8D-99894BB2902A}"/>
              </a:ext>
            </a:extLst>
          </p:cNvPr>
          <p:cNvSpPr>
            <a:spLocks noGrp="1"/>
          </p:cNvSpPr>
          <p:nvPr/>
        </p:nvSpPr>
        <p:spPr>
          <a:xfrm>
            <a:off x="3306127" y="3203625"/>
            <a:ext cx="119062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lang="en-US" sz="1275" b="0" dirty="0">
                <a:solidFill>
                  <a:srgbClr val="111111"/>
                </a:solidFill>
                <a:latin typeface="Arial"/>
                <a:ea typeface="Arial"/>
                <a:cs typeface="Arial"/>
              </a:rPr>
              <a:t>Domenic Groh</a:t>
            </a:r>
            <a:endParaRPr sz="1275" b="0" dirty="0">
              <a:solidFill>
                <a:srgbClr val="111111"/>
              </a:solidFill>
              <a:latin typeface="Arial"/>
              <a:ea typeface="Arial"/>
              <a:cs typeface="Arial"/>
            </a:endParaRPr>
          </a:p>
        </p:txBody>
      </p:sp>
      <p:sp>
        <p:nvSpPr>
          <p:cNvPr id="18" name="Rechteck 17">
            <a:extLst>
              <a:ext uri="{FF2B5EF4-FFF2-40B4-BE49-F238E27FC236}">
                <a16:creationId xmlns:a16="http://schemas.microsoft.com/office/drawing/2014/main" id="{4C9337A1-EC53-4C4D-9249-51CC0A3AA99D}"/>
              </a:ext>
            </a:extLst>
          </p:cNvPr>
          <p:cNvSpPr>
            <a:spLocks noGrp="1"/>
          </p:cNvSpPr>
          <p:nvPr/>
        </p:nvSpPr>
        <p:spPr>
          <a:xfrm>
            <a:off x="471901" y="3203625"/>
            <a:ext cx="119062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lang="en-US" sz="1275" b="0" dirty="0" err="1">
                <a:solidFill>
                  <a:srgbClr val="111111"/>
                </a:solidFill>
                <a:latin typeface="Arial"/>
                <a:ea typeface="Arial"/>
                <a:cs typeface="Arial"/>
              </a:rPr>
              <a:t>Doruntinë</a:t>
            </a:r>
            <a:r>
              <a:rPr lang="en-US" sz="1275" b="0" dirty="0">
                <a:solidFill>
                  <a:srgbClr val="111111"/>
                </a:solidFill>
                <a:latin typeface="Arial"/>
                <a:ea typeface="Arial"/>
                <a:cs typeface="Arial"/>
              </a:rPr>
              <a:t> </a:t>
            </a:r>
            <a:r>
              <a:rPr lang="en-US" sz="1275" b="0" dirty="0" err="1">
                <a:solidFill>
                  <a:srgbClr val="111111"/>
                </a:solidFill>
                <a:latin typeface="Arial"/>
                <a:ea typeface="Arial"/>
                <a:cs typeface="Arial"/>
              </a:rPr>
              <a:t>Zogaj</a:t>
            </a:r>
            <a:endParaRPr sz="1275" b="0" dirty="0">
              <a:solidFill>
                <a:srgbClr val="111111"/>
              </a:solidFill>
              <a:latin typeface="Arial"/>
              <a:ea typeface="Arial"/>
              <a:cs typeface="Arial"/>
            </a:endParaRPr>
          </a:p>
        </p:txBody>
      </p:sp>
      <p:pic>
        <p:nvPicPr>
          <p:cNvPr id="3" name="Grafik 2">
            <a:extLst>
              <a:ext uri="{FF2B5EF4-FFF2-40B4-BE49-F238E27FC236}">
                <a16:creationId xmlns:a16="http://schemas.microsoft.com/office/drawing/2014/main" id="{D981BB5F-E9C6-6CD9-0EDD-427EEA0E1688}"/>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tretch>
            <a:fillRect/>
          </a:stretch>
        </p:blipFill>
        <p:spPr>
          <a:xfrm>
            <a:off x="3463899" y="2299991"/>
            <a:ext cx="791957" cy="7919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83248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hteck 187">
            <a:extLst>
              <a:ext uri="{FF2B5EF4-FFF2-40B4-BE49-F238E27FC236}">
                <a16:creationId xmlns:a16="http://schemas.microsoft.com/office/drawing/2014/main" id="{23FAB778-4A88-4E6C-BBC3-07B8A35E8C6E}"/>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cs typeface="Arial"/>
              </a:rPr>
              <a:t>Empirical Background</a:t>
            </a:r>
            <a:endParaRPr kumimoji="0" lang="en-US" sz="2625" b="0" i="0" u="none" strike="noStrike" kern="1200" cap="none" spc="0" normalizeH="0" baseline="0" noProof="0">
              <a:ln>
                <a:noFill/>
              </a:ln>
              <a:solidFill>
                <a:srgbClr val="111111"/>
              </a:solidFill>
              <a:effectLst/>
              <a:uLnTx/>
              <a:uFillTx/>
              <a:latin typeface="Arial"/>
              <a:ea typeface="Arial"/>
              <a:cs typeface="Arial"/>
            </a:endParaRPr>
          </a:p>
        </p:txBody>
      </p:sp>
      <p:sp>
        <p:nvSpPr>
          <p:cNvPr id="190" name="Rechteck 189">
            <a:extLst>
              <a:ext uri="{FF2B5EF4-FFF2-40B4-BE49-F238E27FC236}">
                <a16:creationId xmlns:a16="http://schemas.microsoft.com/office/drawing/2014/main" id="{CD8C5093-2A1E-48FB-BF3A-78BCD8737867}"/>
              </a:ext>
            </a:extLst>
          </p:cNvPr>
          <p:cNvSpPr>
            <a:spLocks noGrp="1"/>
          </p:cNvSpPr>
          <p:nvPr/>
        </p:nvSpPr>
        <p:spPr>
          <a:xfrm>
            <a:off x="5257800" y="1433512"/>
            <a:ext cx="3429000" cy="3524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cs typeface="Arial"/>
              </a:rPr>
              <a:t>Two tasks stay visible</a:t>
            </a:r>
          </a:p>
        </p:txBody>
      </p:sp>
      <p:sp>
        <p:nvSpPr>
          <p:cNvPr id="191" name="Rechteck 190">
            <a:extLst>
              <a:ext uri="{FF2B5EF4-FFF2-40B4-BE49-F238E27FC236}">
                <a16:creationId xmlns:a16="http://schemas.microsoft.com/office/drawing/2014/main" id="{0F9FF577-614B-40B0-B8F7-F4F9ABFF1395}"/>
              </a:ext>
            </a:extLst>
          </p:cNvPr>
          <p:cNvSpPr>
            <a:spLocks noGrp="1"/>
          </p:cNvSpPr>
          <p:nvPr/>
        </p:nvSpPr>
        <p:spPr>
          <a:xfrm>
            <a:off x="5257800" y="1890712"/>
            <a:ext cx="3429000" cy="8382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Choose freely when to switch</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A response selects and</a:t>
            </a:r>
            <a:r>
              <a:rPr kumimoji="0" lang="de-DE" sz="1600" b="0" i="0" u="none" strike="noStrike" kern="1200" cap="none" spc="0" normalizeH="0" baseline="0" noProof="0" dirty="0">
                <a:ln>
                  <a:noFill/>
                </a:ln>
                <a:solidFill>
                  <a:srgbClr val="111111"/>
                </a:solidFill>
                <a:effectLst/>
                <a:uLnTx/>
                <a:uFillTx/>
                <a:latin typeface="Arial"/>
                <a:ea typeface="Arial"/>
                <a:cs typeface="Arial"/>
              </a:rPr>
              <a:t> </a:t>
            </a:r>
            <a:r>
              <a:rPr kumimoji="0" sz="1600" b="0" i="0" u="none" strike="noStrike" kern="1200" cap="none" spc="0" normalizeH="0" baseline="0" noProof="0" dirty="0">
                <a:ln>
                  <a:noFill/>
                </a:ln>
                <a:solidFill>
                  <a:srgbClr val="111111"/>
                </a:solidFill>
                <a:effectLst/>
                <a:uLnTx/>
                <a:uFillTx/>
                <a:latin typeface="Arial"/>
                <a:ea typeface="Arial"/>
                <a:cs typeface="Arial"/>
              </a:rPr>
              <a:t>performs a task</a:t>
            </a:r>
          </a:p>
        </p:txBody>
      </p:sp>
      <p:sp>
        <p:nvSpPr>
          <p:cNvPr id="196" name="Rechteck 195">
            <a:extLst>
              <a:ext uri="{FF2B5EF4-FFF2-40B4-BE49-F238E27FC236}">
                <a16:creationId xmlns:a16="http://schemas.microsoft.com/office/drawing/2014/main" id="{AA749A6E-481C-460F-9338-BB7C0A53E44F}"/>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2</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45" name="Textfeld 44">
            <a:extLst>
              <a:ext uri="{FF2B5EF4-FFF2-40B4-BE49-F238E27FC236}">
                <a16:creationId xmlns:a16="http://schemas.microsoft.com/office/drawing/2014/main" id="{32BCDBB6-8757-4ABA-A88F-C7F7FF96C553}"/>
              </a:ext>
            </a:extLst>
          </p:cNvPr>
          <p:cNvSpPr txBox="1"/>
          <p:nvPr/>
        </p:nvSpPr>
        <p:spPr>
          <a:xfrm>
            <a:off x="752475" y="1033600"/>
            <a:ext cx="44350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75" b="1">
                <a:solidFill>
                  <a:srgbClr val="AD8600"/>
                </a:solidFill>
                <a:latin typeface="Arial"/>
                <a:ea typeface="Arial"/>
                <a:cs typeface="Arial"/>
              </a:defRPr>
            </a:pPr>
            <a:r>
              <a:rPr kumimoji="0" lang="de-DE" sz="2000" b="1" i="0" u="none" strike="noStrike" kern="1200" cap="none" spc="0" normalizeH="0" baseline="0" noProof="0">
                <a:ln>
                  <a:noFill/>
                </a:ln>
                <a:solidFill>
                  <a:srgbClr val="AD8600"/>
                </a:solidFill>
                <a:effectLst/>
                <a:uLnTx/>
                <a:uFillTx/>
                <a:latin typeface="Arial"/>
                <a:cs typeface="Arial"/>
              </a:rPr>
              <a:t>Free </a:t>
            </a:r>
            <a:r>
              <a:rPr kumimoji="0" lang="de-DE" sz="2000" b="1" i="0" u="none" strike="noStrike" kern="1200" cap="none" spc="0" normalizeH="0" baseline="0" noProof="0" err="1">
                <a:ln>
                  <a:noFill/>
                </a:ln>
                <a:solidFill>
                  <a:srgbClr val="AD8600"/>
                </a:solidFill>
                <a:effectLst/>
                <a:uLnTx/>
                <a:uFillTx/>
                <a:latin typeface="Arial"/>
                <a:cs typeface="Arial"/>
              </a:rPr>
              <a:t>Concurrent</a:t>
            </a:r>
            <a:r>
              <a:rPr kumimoji="0" lang="de-DE" sz="2000" b="1" i="0" u="none" strike="noStrike" kern="1200" cap="none" spc="0" normalizeH="0" baseline="0" noProof="0">
                <a:ln>
                  <a:noFill/>
                </a:ln>
                <a:solidFill>
                  <a:srgbClr val="AD8600"/>
                </a:solidFill>
                <a:effectLst/>
                <a:uLnTx/>
                <a:uFillTx/>
                <a:latin typeface="Arial"/>
                <a:cs typeface="Arial"/>
              </a:rPr>
              <a:t> Dual Task (FCDT)</a:t>
            </a:r>
          </a:p>
        </p:txBody>
      </p:sp>
      <p:pic>
        <p:nvPicPr>
          <p:cNvPr id="46" name="Grafik 45">
            <a:extLst>
              <a:ext uri="{FF2B5EF4-FFF2-40B4-BE49-F238E27FC236}">
                <a16:creationId xmlns:a16="http://schemas.microsoft.com/office/drawing/2014/main" id="{3BDA9B9C-1654-49EF-B0F0-3DF569DF715E}"/>
              </a:ext>
            </a:extLst>
          </p:cNvPr>
          <p:cNvPicPr>
            <a:picLocks noChangeAspect="1"/>
          </p:cNvPicPr>
          <p:nvPr/>
        </p:nvPicPr>
        <p:blipFill>
          <a:blip r:embed="rId3"/>
          <a:stretch>
            <a:fillRect/>
          </a:stretch>
        </p:blipFill>
        <p:spPr>
          <a:xfrm>
            <a:off x="770456" y="1677922"/>
            <a:ext cx="4111532" cy="2494028"/>
          </a:xfrm>
          <a:prstGeom prst="rect">
            <a:avLst/>
          </a:prstGeom>
        </p:spPr>
      </p:pic>
      <p:sp>
        <p:nvSpPr>
          <p:cNvPr id="47" name="Textfeld 46">
            <a:extLst>
              <a:ext uri="{FF2B5EF4-FFF2-40B4-BE49-F238E27FC236}">
                <a16:creationId xmlns:a16="http://schemas.microsoft.com/office/drawing/2014/main" id="{8E200509-F460-49C2-90E9-DD3DE90C7866}"/>
              </a:ext>
            </a:extLst>
          </p:cNvPr>
          <p:cNvSpPr txBox="1"/>
          <p:nvPr/>
        </p:nvSpPr>
        <p:spPr>
          <a:xfrm>
            <a:off x="1252035" y="4746779"/>
            <a:ext cx="6639931"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Arial"/>
              </a:rPr>
              <a:t>Brüning et al., 2020; Brüning et al., 2021; </a:t>
            </a:r>
            <a:r>
              <a:rPr kumimoji="0" lang="de-DE" sz="800" b="0" i="0" u="none" strike="noStrike" kern="1200" cap="none" spc="0" normalizeH="0" baseline="0" noProof="0" err="1">
                <a:ln>
                  <a:noFill/>
                </a:ln>
                <a:solidFill>
                  <a:prstClr val="black"/>
                </a:solidFill>
                <a:effectLst/>
                <a:uLnTx/>
                <a:uFillTx/>
                <a:latin typeface="Arial"/>
                <a:ea typeface="+mn-ea"/>
                <a:cs typeface="Arial"/>
              </a:rPr>
              <a:t>Damos</a:t>
            </a:r>
            <a:r>
              <a:rPr kumimoji="0" lang="de-DE" sz="800" b="0" i="0" u="none" strike="noStrike" kern="1200" cap="none" spc="0" normalizeH="0" baseline="0" noProof="0">
                <a:ln>
                  <a:noFill/>
                </a:ln>
                <a:solidFill>
                  <a:prstClr val="black"/>
                </a:solidFill>
                <a:effectLst/>
                <a:uLnTx/>
                <a:uFillTx/>
                <a:latin typeface="Arial"/>
                <a:ea typeface="+mn-ea"/>
                <a:cs typeface="Arial"/>
              </a:rPr>
              <a:t> et al., 1983; Reinert &amp; Brüning, 2022; </a:t>
            </a:r>
            <a:r>
              <a:rPr kumimoji="0" lang="de-DE" sz="800" b="0" i="0" u="none" strike="noStrike" kern="1200" cap="none" spc="0" normalizeH="0" baseline="0" noProof="0" err="1">
                <a:ln>
                  <a:noFill/>
                </a:ln>
                <a:solidFill>
                  <a:prstClr val="black"/>
                </a:solidFill>
                <a:effectLst/>
                <a:uLnTx/>
                <a:uFillTx/>
                <a:latin typeface="Arial"/>
                <a:ea typeface="+mn-ea"/>
                <a:cs typeface="Arial"/>
              </a:rPr>
              <a:t>Reissland</a:t>
            </a:r>
            <a:r>
              <a:rPr kumimoji="0" lang="de-DE" sz="800" b="0" i="0" u="none" strike="noStrike" kern="1200" cap="none" spc="0" normalizeH="0" baseline="0" noProof="0">
                <a:ln>
                  <a:noFill/>
                </a:ln>
                <a:solidFill>
                  <a:prstClr val="black"/>
                </a:solidFill>
                <a:effectLst/>
                <a:uLnTx/>
                <a:uFillTx/>
                <a:latin typeface="Arial"/>
                <a:ea typeface="+mn-ea"/>
                <a:cs typeface="Arial"/>
              </a:rPr>
              <a:t> &amp; </a:t>
            </a:r>
            <a:r>
              <a:rPr kumimoji="0" lang="de-DE" sz="800" b="0" i="0" u="none" strike="noStrike" kern="1200" cap="none" spc="0" normalizeH="0" baseline="0" noProof="0" err="1">
                <a:ln>
                  <a:noFill/>
                </a:ln>
                <a:solidFill>
                  <a:prstClr val="black"/>
                </a:solidFill>
                <a:effectLst/>
                <a:uLnTx/>
                <a:uFillTx/>
                <a:latin typeface="Arial"/>
                <a:ea typeface="+mn-ea"/>
                <a:cs typeface="Arial"/>
              </a:rPr>
              <a:t>Manzey</a:t>
            </a:r>
            <a:r>
              <a:rPr kumimoji="0" lang="de-DE" sz="800" b="0" i="0" u="none" strike="noStrike" kern="1200" cap="none" spc="0" normalizeH="0" baseline="0" noProof="0">
                <a:ln>
                  <a:noFill/>
                </a:ln>
                <a:solidFill>
                  <a:prstClr val="black"/>
                </a:solidFill>
                <a:effectLst/>
                <a:uLnTx/>
                <a:uFillTx/>
                <a:latin typeface="Arial"/>
                <a:ea typeface="+mn-ea"/>
                <a:cs typeface="Arial"/>
              </a:rPr>
              <a:t>, 2016</a:t>
            </a:r>
          </a:p>
        </p:txBody>
      </p:sp>
    </p:spTree>
    <p:extLst>
      <p:ext uri="{BB962C8B-B14F-4D97-AF65-F5344CB8AC3E}">
        <p14:creationId xmlns:p14="http://schemas.microsoft.com/office/powerpoint/2010/main" val="3163527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hteck 187">
            <a:extLst>
              <a:ext uri="{FF2B5EF4-FFF2-40B4-BE49-F238E27FC236}">
                <a16:creationId xmlns:a16="http://schemas.microsoft.com/office/drawing/2014/main" id="{23FAB778-4A88-4E6C-BBC3-07B8A35E8C6E}"/>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cs typeface="Arial"/>
              </a:rPr>
              <a:t>Empirical Background</a:t>
            </a:r>
            <a:endParaRPr kumimoji="0" lang="en-US" sz="2625" b="0" i="0" u="none" strike="noStrike" kern="1200" cap="none" spc="0" normalizeH="0" baseline="0" noProof="0">
              <a:ln>
                <a:noFill/>
              </a:ln>
              <a:solidFill>
                <a:srgbClr val="111111"/>
              </a:solidFill>
              <a:effectLst/>
              <a:uLnTx/>
              <a:uFillTx/>
              <a:latin typeface="Arial"/>
              <a:ea typeface="Arial"/>
              <a:cs typeface="Arial"/>
            </a:endParaRPr>
          </a:p>
        </p:txBody>
      </p:sp>
      <p:sp>
        <p:nvSpPr>
          <p:cNvPr id="190" name="Rechteck 189">
            <a:extLst>
              <a:ext uri="{FF2B5EF4-FFF2-40B4-BE49-F238E27FC236}">
                <a16:creationId xmlns:a16="http://schemas.microsoft.com/office/drawing/2014/main" id="{CD8C5093-2A1E-48FB-BF3A-78BCD8737867}"/>
              </a:ext>
            </a:extLst>
          </p:cNvPr>
          <p:cNvSpPr>
            <a:spLocks noGrp="1"/>
          </p:cNvSpPr>
          <p:nvPr/>
        </p:nvSpPr>
        <p:spPr>
          <a:xfrm>
            <a:off x="5257800" y="1433512"/>
            <a:ext cx="3429000" cy="3524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cs typeface="Arial"/>
              </a:rPr>
              <a:t>Two tasks stay visible</a:t>
            </a:r>
          </a:p>
        </p:txBody>
      </p:sp>
      <p:sp>
        <p:nvSpPr>
          <p:cNvPr id="191" name="Rechteck 190">
            <a:extLst>
              <a:ext uri="{FF2B5EF4-FFF2-40B4-BE49-F238E27FC236}">
                <a16:creationId xmlns:a16="http://schemas.microsoft.com/office/drawing/2014/main" id="{0F9FF577-614B-40B0-B8F7-F4F9ABFF1395}"/>
              </a:ext>
            </a:extLst>
          </p:cNvPr>
          <p:cNvSpPr>
            <a:spLocks noGrp="1"/>
          </p:cNvSpPr>
          <p:nvPr/>
        </p:nvSpPr>
        <p:spPr>
          <a:xfrm>
            <a:off x="5257800" y="1890712"/>
            <a:ext cx="3429000" cy="8382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Choose freely when to switch</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A response selects and</a:t>
            </a:r>
            <a:r>
              <a:rPr kumimoji="0" lang="de-DE" sz="1600" b="0" i="0" u="none" strike="noStrike" kern="1200" cap="none" spc="0" normalizeH="0" baseline="0" noProof="0" dirty="0">
                <a:ln>
                  <a:noFill/>
                </a:ln>
                <a:solidFill>
                  <a:srgbClr val="111111"/>
                </a:solidFill>
                <a:effectLst/>
                <a:uLnTx/>
                <a:uFillTx/>
                <a:latin typeface="Arial"/>
                <a:ea typeface="Arial"/>
                <a:cs typeface="Arial"/>
              </a:rPr>
              <a:t> </a:t>
            </a:r>
            <a:r>
              <a:rPr kumimoji="0" sz="1600" b="0" i="0" u="none" strike="noStrike" kern="1200" cap="none" spc="0" normalizeH="0" baseline="0" noProof="0" dirty="0">
                <a:ln>
                  <a:noFill/>
                </a:ln>
                <a:solidFill>
                  <a:srgbClr val="111111"/>
                </a:solidFill>
                <a:effectLst/>
                <a:uLnTx/>
                <a:uFillTx/>
                <a:latin typeface="Arial"/>
                <a:ea typeface="Arial"/>
                <a:cs typeface="Arial"/>
              </a:rPr>
              <a:t>performs a task</a:t>
            </a:r>
          </a:p>
        </p:txBody>
      </p:sp>
      <p:sp>
        <p:nvSpPr>
          <p:cNvPr id="192" name="Rechteck 191">
            <a:extLst>
              <a:ext uri="{FF2B5EF4-FFF2-40B4-BE49-F238E27FC236}">
                <a16:creationId xmlns:a16="http://schemas.microsoft.com/office/drawing/2014/main" id="{135A8B45-71C5-4171-A4F2-63815B0E475B}"/>
              </a:ext>
            </a:extLst>
          </p:cNvPr>
          <p:cNvSpPr>
            <a:spLocks noGrp="1"/>
          </p:cNvSpPr>
          <p:nvPr/>
        </p:nvSpPr>
        <p:spPr>
          <a:xfrm>
            <a:off x="5257800" y="2881312"/>
            <a:ext cx="3429000" cy="59055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ea typeface="Arial"/>
                <a:cs typeface="Arial"/>
              </a:rPr>
              <a:t>Only the chosen task’s</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ea typeface="Arial"/>
                <a:cs typeface="Arial"/>
              </a:rPr>
              <a:t>stimulus changes</a:t>
            </a:r>
          </a:p>
        </p:txBody>
      </p:sp>
      <p:sp>
        <p:nvSpPr>
          <p:cNvPr id="193" name="Rechteck 192">
            <a:extLst>
              <a:ext uri="{FF2B5EF4-FFF2-40B4-BE49-F238E27FC236}">
                <a16:creationId xmlns:a16="http://schemas.microsoft.com/office/drawing/2014/main" id="{53C39898-3DD0-435E-A005-DDC1E69784CD}"/>
              </a:ext>
            </a:extLst>
          </p:cNvPr>
          <p:cNvSpPr>
            <a:spLocks noGrp="1"/>
          </p:cNvSpPr>
          <p:nvPr/>
        </p:nvSpPr>
        <p:spPr>
          <a:xfrm>
            <a:off x="5257800" y="3633787"/>
            <a:ext cx="3429000" cy="6858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ea typeface="Arial"/>
                <a:cs typeface="Arial"/>
              </a:rPr>
              <a:t>The other stimulus remains</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ea typeface="Arial"/>
                <a:cs typeface="Arial"/>
              </a:rPr>
              <a:t>available for advance processing</a:t>
            </a:r>
          </a:p>
        </p:txBody>
      </p:sp>
      <p:sp>
        <p:nvSpPr>
          <p:cNvPr id="194" name="Rechteck 193">
            <a:extLst>
              <a:ext uri="{FF2B5EF4-FFF2-40B4-BE49-F238E27FC236}">
                <a16:creationId xmlns:a16="http://schemas.microsoft.com/office/drawing/2014/main" id="{50E58AA2-21F9-4135-B04E-51C1FC703EEC}"/>
              </a:ext>
            </a:extLst>
          </p:cNvPr>
          <p:cNvSpPr>
            <a:spLocks noGrp="1"/>
          </p:cNvSpPr>
          <p:nvPr/>
        </p:nvSpPr>
        <p:spPr>
          <a:xfrm>
            <a:off x="770456" y="4324350"/>
            <a:ext cx="7877175" cy="28575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AD8600"/>
                </a:solidFill>
                <a:latin typeface="Arial"/>
                <a:ea typeface="Arial"/>
                <a:cs typeface="Arial"/>
              </a:defRPr>
            </a:pPr>
            <a:r>
              <a:rPr kumimoji="0" sz="1600" b="1" i="0" u="none" strike="noStrike" kern="1200" cap="none" spc="0" normalizeH="0" baseline="0" noProof="0">
                <a:ln>
                  <a:noFill/>
                </a:ln>
                <a:solidFill>
                  <a:srgbClr val="AD8600"/>
                </a:solidFill>
                <a:effectLst/>
                <a:uLnTx/>
                <a:uFillTx/>
                <a:latin typeface="Arial"/>
                <a:ea typeface="Arial"/>
                <a:cs typeface="Arial"/>
              </a:rPr>
              <a:t>Maximize correct responses and balance performance across both tasks.</a:t>
            </a:r>
          </a:p>
        </p:txBody>
      </p:sp>
      <p:sp>
        <p:nvSpPr>
          <p:cNvPr id="196" name="Rechteck 195">
            <a:extLst>
              <a:ext uri="{FF2B5EF4-FFF2-40B4-BE49-F238E27FC236}">
                <a16:creationId xmlns:a16="http://schemas.microsoft.com/office/drawing/2014/main" id="{AA749A6E-481C-460F-9338-BB7C0A53E44F}"/>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2</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45" name="Textfeld 44">
            <a:extLst>
              <a:ext uri="{FF2B5EF4-FFF2-40B4-BE49-F238E27FC236}">
                <a16:creationId xmlns:a16="http://schemas.microsoft.com/office/drawing/2014/main" id="{32BCDBB6-8757-4ABA-A88F-C7F7FF96C553}"/>
              </a:ext>
            </a:extLst>
          </p:cNvPr>
          <p:cNvSpPr txBox="1"/>
          <p:nvPr/>
        </p:nvSpPr>
        <p:spPr>
          <a:xfrm>
            <a:off x="752475" y="1033600"/>
            <a:ext cx="44350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75" b="1">
                <a:solidFill>
                  <a:srgbClr val="AD8600"/>
                </a:solidFill>
                <a:latin typeface="Arial"/>
                <a:ea typeface="Arial"/>
                <a:cs typeface="Arial"/>
              </a:defRPr>
            </a:pPr>
            <a:r>
              <a:rPr kumimoji="0" lang="de-DE" sz="2000" b="1" i="0" u="none" strike="noStrike" kern="1200" cap="none" spc="0" normalizeH="0" baseline="0" noProof="0">
                <a:ln>
                  <a:noFill/>
                </a:ln>
                <a:solidFill>
                  <a:srgbClr val="AD8600"/>
                </a:solidFill>
                <a:effectLst/>
                <a:uLnTx/>
                <a:uFillTx/>
                <a:latin typeface="Arial"/>
                <a:cs typeface="Arial"/>
              </a:rPr>
              <a:t>Free </a:t>
            </a:r>
            <a:r>
              <a:rPr kumimoji="0" lang="de-DE" sz="2000" b="1" i="0" u="none" strike="noStrike" kern="1200" cap="none" spc="0" normalizeH="0" baseline="0" noProof="0" err="1">
                <a:ln>
                  <a:noFill/>
                </a:ln>
                <a:solidFill>
                  <a:srgbClr val="AD8600"/>
                </a:solidFill>
                <a:effectLst/>
                <a:uLnTx/>
                <a:uFillTx/>
                <a:latin typeface="Arial"/>
                <a:cs typeface="Arial"/>
              </a:rPr>
              <a:t>Concurrent</a:t>
            </a:r>
            <a:r>
              <a:rPr kumimoji="0" lang="de-DE" sz="2000" b="1" i="0" u="none" strike="noStrike" kern="1200" cap="none" spc="0" normalizeH="0" baseline="0" noProof="0">
                <a:ln>
                  <a:noFill/>
                </a:ln>
                <a:solidFill>
                  <a:srgbClr val="AD8600"/>
                </a:solidFill>
                <a:effectLst/>
                <a:uLnTx/>
                <a:uFillTx/>
                <a:latin typeface="Arial"/>
                <a:cs typeface="Arial"/>
              </a:rPr>
              <a:t> Dual Task (FCDT)</a:t>
            </a:r>
          </a:p>
        </p:txBody>
      </p:sp>
      <p:pic>
        <p:nvPicPr>
          <p:cNvPr id="46" name="Grafik 45">
            <a:extLst>
              <a:ext uri="{FF2B5EF4-FFF2-40B4-BE49-F238E27FC236}">
                <a16:creationId xmlns:a16="http://schemas.microsoft.com/office/drawing/2014/main" id="{3BDA9B9C-1654-49EF-B0F0-3DF569DF715E}"/>
              </a:ext>
            </a:extLst>
          </p:cNvPr>
          <p:cNvPicPr>
            <a:picLocks noChangeAspect="1"/>
          </p:cNvPicPr>
          <p:nvPr/>
        </p:nvPicPr>
        <p:blipFill>
          <a:blip r:embed="rId3"/>
          <a:stretch>
            <a:fillRect/>
          </a:stretch>
        </p:blipFill>
        <p:spPr>
          <a:xfrm>
            <a:off x="770456" y="1677922"/>
            <a:ext cx="4111532" cy="2494028"/>
          </a:xfrm>
          <a:prstGeom prst="rect">
            <a:avLst/>
          </a:prstGeom>
        </p:spPr>
      </p:pic>
      <p:sp>
        <p:nvSpPr>
          <p:cNvPr id="47" name="Textfeld 46">
            <a:extLst>
              <a:ext uri="{FF2B5EF4-FFF2-40B4-BE49-F238E27FC236}">
                <a16:creationId xmlns:a16="http://schemas.microsoft.com/office/drawing/2014/main" id="{8E200509-F460-49C2-90E9-DD3DE90C7866}"/>
              </a:ext>
            </a:extLst>
          </p:cNvPr>
          <p:cNvSpPr txBox="1"/>
          <p:nvPr/>
        </p:nvSpPr>
        <p:spPr>
          <a:xfrm>
            <a:off x="1252035" y="4746779"/>
            <a:ext cx="6639931"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Arial"/>
              </a:rPr>
              <a:t>Brüning et al., 2020; Brüning et al., 2021; </a:t>
            </a:r>
            <a:r>
              <a:rPr kumimoji="0" lang="de-DE" sz="800" b="0" i="0" u="none" strike="noStrike" kern="1200" cap="none" spc="0" normalizeH="0" baseline="0" noProof="0" err="1">
                <a:ln>
                  <a:noFill/>
                </a:ln>
                <a:solidFill>
                  <a:prstClr val="black"/>
                </a:solidFill>
                <a:effectLst/>
                <a:uLnTx/>
                <a:uFillTx/>
                <a:latin typeface="Arial"/>
                <a:ea typeface="+mn-ea"/>
                <a:cs typeface="Arial"/>
              </a:rPr>
              <a:t>Damos</a:t>
            </a:r>
            <a:r>
              <a:rPr kumimoji="0" lang="de-DE" sz="800" b="0" i="0" u="none" strike="noStrike" kern="1200" cap="none" spc="0" normalizeH="0" baseline="0" noProof="0">
                <a:ln>
                  <a:noFill/>
                </a:ln>
                <a:solidFill>
                  <a:prstClr val="black"/>
                </a:solidFill>
                <a:effectLst/>
                <a:uLnTx/>
                <a:uFillTx/>
                <a:latin typeface="Arial"/>
                <a:ea typeface="+mn-ea"/>
                <a:cs typeface="Arial"/>
              </a:rPr>
              <a:t> et al., 1983; Reinert &amp; Brüning, 2022; </a:t>
            </a:r>
            <a:r>
              <a:rPr kumimoji="0" lang="de-DE" sz="800" b="0" i="0" u="none" strike="noStrike" kern="1200" cap="none" spc="0" normalizeH="0" baseline="0" noProof="0" err="1">
                <a:ln>
                  <a:noFill/>
                </a:ln>
                <a:solidFill>
                  <a:prstClr val="black"/>
                </a:solidFill>
                <a:effectLst/>
                <a:uLnTx/>
                <a:uFillTx/>
                <a:latin typeface="Arial"/>
                <a:ea typeface="+mn-ea"/>
                <a:cs typeface="Arial"/>
              </a:rPr>
              <a:t>Reissland</a:t>
            </a:r>
            <a:r>
              <a:rPr kumimoji="0" lang="de-DE" sz="800" b="0" i="0" u="none" strike="noStrike" kern="1200" cap="none" spc="0" normalizeH="0" baseline="0" noProof="0">
                <a:ln>
                  <a:noFill/>
                </a:ln>
                <a:solidFill>
                  <a:prstClr val="black"/>
                </a:solidFill>
                <a:effectLst/>
                <a:uLnTx/>
                <a:uFillTx/>
                <a:latin typeface="Arial"/>
                <a:ea typeface="+mn-ea"/>
                <a:cs typeface="Arial"/>
              </a:rPr>
              <a:t> &amp; </a:t>
            </a:r>
            <a:r>
              <a:rPr kumimoji="0" lang="de-DE" sz="800" b="0" i="0" u="none" strike="noStrike" kern="1200" cap="none" spc="0" normalizeH="0" baseline="0" noProof="0" err="1">
                <a:ln>
                  <a:noFill/>
                </a:ln>
                <a:solidFill>
                  <a:prstClr val="black"/>
                </a:solidFill>
                <a:effectLst/>
                <a:uLnTx/>
                <a:uFillTx/>
                <a:latin typeface="Arial"/>
                <a:ea typeface="+mn-ea"/>
                <a:cs typeface="Arial"/>
              </a:rPr>
              <a:t>Manzey</a:t>
            </a:r>
            <a:r>
              <a:rPr kumimoji="0" lang="de-DE" sz="800" b="0" i="0" u="none" strike="noStrike" kern="1200" cap="none" spc="0" normalizeH="0" baseline="0" noProof="0">
                <a:ln>
                  <a:noFill/>
                </a:ln>
                <a:solidFill>
                  <a:prstClr val="black"/>
                </a:solidFill>
                <a:effectLst/>
                <a:uLnTx/>
                <a:uFillTx/>
                <a:latin typeface="Arial"/>
                <a:ea typeface="+mn-ea"/>
                <a:cs typeface="Arial"/>
              </a:rPr>
              <a:t>, 2016</a:t>
            </a:r>
          </a:p>
        </p:txBody>
      </p:sp>
    </p:spTree>
    <p:extLst>
      <p:ext uri="{BB962C8B-B14F-4D97-AF65-F5344CB8AC3E}">
        <p14:creationId xmlns:p14="http://schemas.microsoft.com/office/powerpoint/2010/main" val="3263492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Textfeld 185">
            <a:extLst>
              <a:ext uri="{FF2B5EF4-FFF2-40B4-BE49-F238E27FC236}">
                <a16:creationId xmlns:a16="http://schemas.microsoft.com/office/drawing/2014/main" id="{D6F2CC26-13CD-422A-97AB-B842C6652509}"/>
              </a:ext>
            </a:extLst>
          </p:cNvPr>
          <p:cNvSpPr txBox="1"/>
          <p:nvPr/>
        </p:nvSpPr>
        <p:spPr>
          <a:xfrm>
            <a:off x="5225614" y="3174072"/>
            <a:ext cx="373435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Strategies‘ efficiency changes depending on task characteristics</a:t>
            </a:r>
          </a:p>
        </p:txBody>
      </p:sp>
      <p:sp>
        <p:nvSpPr>
          <p:cNvPr id="185" name="Textfeld 184">
            <a:extLst>
              <a:ext uri="{FF2B5EF4-FFF2-40B4-BE49-F238E27FC236}">
                <a16:creationId xmlns:a16="http://schemas.microsoft.com/office/drawing/2014/main" id="{A4319266-681B-462E-905F-81199CE089ED}"/>
              </a:ext>
            </a:extLst>
          </p:cNvPr>
          <p:cNvSpPr txBox="1"/>
          <p:nvPr/>
        </p:nvSpPr>
        <p:spPr>
          <a:xfrm>
            <a:off x="5228524" y="2422812"/>
            <a:ext cx="337577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Reflect stable biases that occur independent of task features</a:t>
            </a:r>
          </a:p>
        </p:txBody>
      </p:sp>
      <p:sp>
        <p:nvSpPr>
          <p:cNvPr id="56" name="Rechteck 55">
            <a:extLst>
              <a:ext uri="{FF2B5EF4-FFF2-40B4-BE49-F238E27FC236}">
                <a16:creationId xmlns:a16="http://schemas.microsoft.com/office/drawing/2014/main" id="{88B4378D-BF70-4C20-AB2E-80D72F2A4F0F}"/>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ea typeface="Arial"/>
                <a:cs typeface="Arial"/>
              </a:rPr>
              <a:t>Empirical Background</a:t>
            </a:r>
          </a:p>
        </p:txBody>
      </p:sp>
      <p:sp>
        <p:nvSpPr>
          <p:cNvPr id="61" name="Rechteck 60">
            <a:extLst>
              <a:ext uri="{FF2B5EF4-FFF2-40B4-BE49-F238E27FC236}">
                <a16:creationId xmlns:a16="http://schemas.microsoft.com/office/drawing/2014/main" id="{6BAFC2E4-DF4B-4814-B982-A9B5E085719B}"/>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3</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9" name="Textfeld 8">
            <a:extLst>
              <a:ext uri="{FF2B5EF4-FFF2-40B4-BE49-F238E27FC236}">
                <a16:creationId xmlns:a16="http://schemas.microsoft.com/office/drawing/2014/main" id="{F052DAB5-126F-43AE-AE97-207331290DBF}"/>
              </a:ext>
            </a:extLst>
          </p:cNvPr>
          <p:cNvSpPr txBox="1"/>
          <p:nvPr/>
        </p:nvSpPr>
        <p:spPr>
          <a:xfrm>
            <a:off x="1252035" y="4746779"/>
            <a:ext cx="6639931"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Arial"/>
              </a:rPr>
              <a:t>Brüning et al., 2020; Brüning et al., 2021; </a:t>
            </a:r>
            <a:r>
              <a:rPr kumimoji="0" lang="de-DE" sz="800" b="0" i="0" u="none" strike="noStrike" kern="1200" cap="none" spc="0" normalizeH="0" baseline="0" noProof="0" err="1">
                <a:ln>
                  <a:noFill/>
                </a:ln>
                <a:solidFill>
                  <a:prstClr val="black"/>
                </a:solidFill>
                <a:effectLst/>
                <a:uLnTx/>
                <a:uFillTx/>
                <a:latin typeface="Arial"/>
                <a:ea typeface="+mn-ea"/>
                <a:cs typeface="Arial"/>
              </a:rPr>
              <a:t>Damos</a:t>
            </a:r>
            <a:r>
              <a:rPr kumimoji="0" lang="de-DE" sz="800" b="0" i="0" u="none" strike="noStrike" kern="1200" cap="none" spc="0" normalizeH="0" baseline="0" noProof="0">
                <a:ln>
                  <a:noFill/>
                </a:ln>
                <a:solidFill>
                  <a:prstClr val="black"/>
                </a:solidFill>
                <a:effectLst/>
                <a:uLnTx/>
                <a:uFillTx/>
                <a:latin typeface="Arial"/>
                <a:ea typeface="+mn-ea"/>
                <a:cs typeface="Arial"/>
              </a:rPr>
              <a:t> et al., 1983; Reinert &amp; Brüning, 2022; </a:t>
            </a:r>
            <a:r>
              <a:rPr kumimoji="0" lang="de-DE" sz="800" b="0" i="0" u="none" strike="noStrike" kern="1200" cap="none" spc="0" normalizeH="0" baseline="0" noProof="0" err="1">
                <a:ln>
                  <a:noFill/>
                </a:ln>
                <a:solidFill>
                  <a:prstClr val="black"/>
                </a:solidFill>
                <a:effectLst/>
                <a:uLnTx/>
                <a:uFillTx/>
                <a:latin typeface="Arial"/>
                <a:ea typeface="+mn-ea"/>
                <a:cs typeface="Arial"/>
              </a:rPr>
              <a:t>Reissland</a:t>
            </a:r>
            <a:r>
              <a:rPr kumimoji="0" lang="de-DE" sz="800" b="0" i="0" u="none" strike="noStrike" kern="1200" cap="none" spc="0" normalizeH="0" baseline="0" noProof="0">
                <a:ln>
                  <a:noFill/>
                </a:ln>
                <a:solidFill>
                  <a:prstClr val="black"/>
                </a:solidFill>
                <a:effectLst/>
                <a:uLnTx/>
                <a:uFillTx/>
                <a:latin typeface="Arial"/>
                <a:ea typeface="+mn-ea"/>
                <a:cs typeface="Arial"/>
              </a:rPr>
              <a:t> &amp; </a:t>
            </a:r>
            <a:r>
              <a:rPr kumimoji="0" lang="de-DE" sz="800" b="0" i="0" u="none" strike="noStrike" kern="1200" cap="none" spc="0" normalizeH="0" baseline="0" noProof="0" err="1">
                <a:ln>
                  <a:noFill/>
                </a:ln>
                <a:solidFill>
                  <a:prstClr val="black"/>
                </a:solidFill>
                <a:effectLst/>
                <a:uLnTx/>
                <a:uFillTx/>
                <a:latin typeface="Arial"/>
                <a:ea typeface="+mn-ea"/>
                <a:cs typeface="Arial"/>
              </a:rPr>
              <a:t>Manzey</a:t>
            </a:r>
            <a:r>
              <a:rPr kumimoji="0" lang="de-DE" sz="800" b="0" i="0" u="none" strike="noStrike" kern="1200" cap="none" spc="0" normalizeH="0" baseline="0" noProof="0">
                <a:ln>
                  <a:noFill/>
                </a:ln>
                <a:solidFill>
                  <a:prstClr val="black"/>
                </a:solidFill>
                <a:effectLst/>
                <a:uLnTx/>
                <a:uFillTx/>
                <a:latin typeface="Arial"/>
                <a:ea typeface="+mn-ea"/>
                <a:cs typeface="Arial"/>
              </a:rPr>
              <a:t>, 2016</a:t>
            </a:r>
          </a:p>
        </p:txBody>
      </p:sp>
      <p:grpSp>
        <p:nvGrpSpPr>
          <p:cNvPr id="11" name="Gruppieren 10">
            <a:extLst>
              <a:ext uri="{FF2B5EF4-FFF2-40B4-BE49-F238E27FC236}">
                <a16:creationId xmlns:a16="http://schemas.microsoft.com/office/drawing/2014/main" id="{FE926BED-B8B8-4E74-A55B-E2BA13268AA3}"/>
              </a:ext>
            </a:extLst>
          </p:cNvPr>
          <p:cNvGrpSpPr/>
          <p:nvPr/>
        </p:nvGrpSpPr>
        <p:grpSpPr>
          <a:xfrm>
            <a:off x="752475" y="1678367"/>
            <a:ext cx="4249786" cy="2215644"/>
            <a:chOff x="3720481" y="1405251"/>
            <a:chExt cx="6471084" cy="3753671"/>
          </a:xfrm>
        </p:grpSpPr>
        <p:sp>
          <p:nvSpPr>
            <p:cNvPr id="12" name="Abgerundetes Rechteck 350">
              <a:extLst>
                <a:ext uri="{FF2B5EF4-FFF2-40B4-BE49-F238E27FC236}">
                  <a16:creationId xmlns:a16="http://schemas.microsoft.com/office/drawing/2014/main" id="{D4E27CAD-A966-4912-A558-CA2F75F32278}"/>
                </a:ext>
              </a:extLst>
            </p:cNvPr>
            <p:cNvSpPr/>
            <p:nvPr/>
          </p:nvSpPr>
          <p:spPr>
            <a:xfrm>
              <a:off x="3720484" y="2307018"/>
              <a:ext cx="6471081" cy="2851904"/>
            </a:xfrm>
            <a:prstGeom prst="roundRect">
              <a:avLst>
                <a:gd name="adj" fmla="val 1794"/>
              </a:avLst>
            </a:prstGeom>
            <a:solidFill>
              <a:sysClr val="window" lastClr="FFFFFF"/>
            </a:solidFill>
            <a:ln w="6350" cap="flat" cmpd="sng" algn="ctr">
              <a:solidFill>
                <a:sysClr val="windowText" lastClr="000000"/>
              </a:solidFill>
              <a:prstDash val="solid"/>
              <a:miter lim="800000"/>
            </a:ln>
            <a:effectLst/>
          </p:spPr>
          <p:txBody>
            <a:bodyPr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 name="Textfeld 12">
              <a:extLst>
                <a:ext uri="{FF2B5EF4-FFF2-40B4-BE49-F238E27FC236}">
                  <a16:creationId xmlns:a16="http://schemas.microsoft.com/office/drawing/2014/main" id="{F7AF2C4F-39D0-4705-8CB8-E604E1B0A54E}"/>
                </a:ext>
              </a:extLst>
            </p:cNvPr>
            <p:cNvSpPr txBox="1"/>
            <p:nvPr/>
          </p:nvSpPr>
          <p:spPr>
            <a:xfrm>
              <a:off x="3890004" y="1411044"/>
              <a:ext cx="1085771" cy="677853"/>
            </a:xfrm>
            <a:prstGeom prst="rect">
              <a:avLst/>
            </a:prstGeom>
            <a:solidFill>
              <a:sysClr val="window" lastClr="FFFFFF"/>
            </a:solidFill>
          </p:spPr>
          <p:txBody>
            <a:bodyPr wrap="square" lIns="72000" rtlCol="0" anchor="ctr">
              <a:spAutoFit/>
            </a:bodyP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Single-task</a:t>
              </a:r>
            </a:p>
          </p:txBody>
        </p:sp>
        <p:sp>
          <p:nvSpPr>
            <p:cNvPr id="14" name="Abgerundetes Rechteck 352">
              <a:extLst>
                <a:ext uri="{FF2B5EF4-FFF2-40B4-BE49-F238E27FC236}">
                  <a16:creationId xmlns:a16="http://schemas.microsoft.com/office/drawing/2014/main" id="{CF88D35F-AE13-46EC-8B8D-DB1C77A58BE7}"/>
                </a:ext>
              </a:extLst>
            </p:cNvPr>
            <p:cNvSpPr/>
            <p:nvPr/>
          </p:nvSpPr>
          <p:spPr>
            <a:xfrm>
              <a:off x="3720481" y="1405251"/>
              <a:ext cx="6471084" cy="666466"/>
            </a:xfrm>
            <a:prstGeom prst="roundRect">
              <a:avLst>
                <a:gd name="adj" fmla="val 7889"/>
              </a:avLst>
            </a:prstGeom>
            <a:noFill/>
            <a:ln w="6350" cap="flat" cmpd="sng" algn="ctr">
              <a:solidFill>
                <a:sysClr val="windowText" lastClr="000000"/>
              </a:solidFill>
              <a:prstDash val="solid"/>
              <a:miter lim="800000"/>
            </a:ln>
            <a:effectLst/>
          </p:spPr>
          <p:txBody>
            <a:bodyPr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15" name="Gerade Verbindung mit Pfeil 14">
              <a:extLst>
                <a:ext uri="{FF2B5EF4-FFF2-40B4-BE49-F238E27FC236}">
                  <a16:creationId xmlns:a16="http://schemas.microsoft.com/office/drawing/2014/main" id="{DB86884F-C1E8-4379-9F53-51F64889B565}"/>
                </a:ext>
              </a:extLst>
            </p:cNvPr>
            <p:cNvCxnSpPr/>
            <p:nvPr/>
          </p:nvCxnSpPr>
          <p:spPr>
            <a:xfrm>
              <a:off x="6279469" y="1742038"/>
              <a:ext cx="1196756" cy="0"/>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sp>
          <p:nvSpPr>
            <p:cNvPr id="16" name="Abgerundetes Rechteck 354">
              <a:extLst>
                <a:ext uri="{FF2B5EF4-FFF2-40B4-BE49-F238E27FC236}">
                  <a16:creationId xmlns:a16="http://schemas.microsoft.com/office/drawing/2014/main" id="{6D017F77-4E05-4EA0-94C2-BC141EFB5EB9}"/>
                </a:ext>
              </a:extLst>
            </p:cNvPr>
            <p:cNvSpPr/>
            <p:nvPr/>
          </p:nvSpPr>
          <p:spPr>
            <a:xfrm>
              <a:off x="5137493" y="1520687"/>
              <a:ext cx="1137211" cy="419870"/>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7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responses</a:t>
              </a:r>
              <a:r>
                <a:rPr kumimoji="0" lang="de-DE" sz="7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a:t>
              </a:r>
              <a:r>
                <a:rPr kumimoji="0" lang="de-DE" sz="7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letter</a:t>
              </a:r>
              <a:r>
                <a:rPr kumimoji="0" lang="de-DE" sz="7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a:t>
              </a:r>
              <a:r>
                <a:rPr kumimoji="0" lang="de-DE" sz="7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task</a:t>
              </a:r>
              <a:r>
                <a:rPr kumimoji="0" lang="de-DE" sz="7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(T</a:t>
              </a:r>
              <a:r>
                <a:rPr kumimoji="0" lang="de-DE" sz="700" b="1" i="0" u="none" strike="noStrike" kern="0" cap="none" spc="0" normalizeH="0" baseline="-25000" noProof="0">
                  <a:ln>
                    <a:noFill/>
                  </a:ln>
                  <a:solidFill>
                    <a:srgbClr val="0070C0"/>
                  </a:solidFill>
                  <a:effectLst/>
                  <a:uLnTx/>
                  <a:uFillTx/>
                  <a:latin typeface="Arial" panose="020B0604020202020204" pitchFamily="34" charset="0"/>
                  <a:ea typeface="+mn-ea"/>
                  <a:cs typeface="Arial" panose="020B0604020202020204" pitchFamily="34" charset="0"/>
                </a:rPr>
                <a:t>L</a:t>
              </a:r>
              <a:r>
                <a:rPr kumimoji="0" lang="de-DE" sz="7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a:t>
              </a:r>
              <a:endParaRPr kumimoji="0" lang="de-DE" sz="700" b="1" i="0" u="none" strike="noStrike" kern="0" cap="none" spc="0" normalizeH="0" baseline="-25000" noProof="0">
                <a:ln>
                  <a:noFill/>
                </a:ln>
                <a:solidFill>
                  <a:srgbClr val="0070C0"/>
                </a:solidFill>
                <a:effectLst/>
                <a:uLnTx/>
                <a:uFillTx/>
                <a:latin typeface="Arial" panose="020B0604020202020204" pitchFamily="34" charset="0"/>
                <a:ea typeface="+mn-ea"/>
                <a:cs typeface="Arial" panose="020B0604020202020204" pitchFamily="34" charset="0"/>
              </a:endParaRPr>
            </a:p>
          </p:txBody>
        </p:sp>
        <p:cxnSp>
          <p:nvCxnSpPr>
            <p:cNvPr id="17" name="Gerade Verbindung 355">
              <a:extLst>
                <a:ext uri="{FF2B5EF4-FFF2-40B4-BE49-F238E27FC236}">
                  <a16:creationId xmlns:a16="http://schemas.microsoft.com/office/drawing/2014/main" id="{2842BD5B-AACD-4104-B9C8-8305A98BA1E5}"/>
                </a:ext>
              </a:extLst>
            </p:cNvPr>
            <p:cNvCxnSpPr/>
            <p:nvPr/>
          </p:nvCxnSpPr>
          <p:spPr>
            <a:xfrm>
              <a:off x="6495498"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18" name="Gerade Verbindung 356">
              <a:extLst>
                <a:ext uri="{FF2B5EF4-FFF2-40B4-BE49-F238E27FC236}">
                  <a16:creationId xmlns:a16="http://schemas.microsoft.com/office/drawing/2014/main" id="{66DD4BCC-955F-4F4A-97E4-338CB93AED92}"/>
                </a:ext>
              </a:extLst>
            </p:cNvPr>
            <p:cNvCxnSpPr/>
            <p:nvPr/>
          </p:nvCxnSpPr>
          <p:spPr>
            <a:xfrm>
              <a:off x="6671184"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19" name="Gerade Verbindung 357">
              <a:extLst>
                <a:ext uri="{FF2B5EF4-FFF2-40B4-BE49-F238E27FC236}">
                  <a16:creationId xmlns:a16="http://schemas.microsoft.com/office/drawing/2014/main" id="{F48B5B05-65C4-4E4E-9DA6-9F417D60B5F3}"/>
                </a:ext>
              </a:extLst>
            </p:cNvPr>
            <p:cNvCxnSpPr/>
            <p:nvPr/>
          </p:nvCxnSpPr>
          <p:spPr>
            <a:xfrm>
              <a:off x="6833982"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20" name="Gerade Verbindung 358">
              <a:extLst>
                <a:ext uri="{FF2B5EF4-FFF2-40B4-BE49-F238E27FC236}">
                  <a16:creationId xmlns:a16="http://schemas.microsoft.com/office/drawing/2014/main" id="{01AC9DDE-08FE-4A84-A2AE-D5138988372B}"/>
                </a:ext>
              </a:extLst>
            </p:cNvPr>
            <p:cNvCxnSpPr/>
            <p:nvPr/>
          </p:nvCxnSpPr>
          <p:spPr>
            <a:xfrm>
              <a:off x="7008909"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21" name="Gerade Verbindung 359">
              <a:extLst>
                <a:ext uri="{FF2B5EF4-FFF2-40B4-BE49-F238E27FC236}">
                  <a16:creationId xmlns:a16="http://schemas.microsoft.com/office/drawing/2014/main" id="{2D152987-5067-4FE5-B6BE-B04D4FD69D60}"/>
                </a:ext>
              </a:extLst>
            </p:cNvPr>
            <p:cNvCxnSpPr/>
            <p:nvPr/>
          </p:nvCxnSpPr>
          <p:spPr>
            <a:xfrm>
              <a:off x="7921764"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22" name="Gerade Verbindung 360">
              <a:extLst>
                <a:ext uri="{FF2B5EF4-FFF2-40B4-BE49-F238E27FC236}">
                  <a16:creationId xmlns:a16="http://schemas.microsoft.com/office/drawing/2014/main" id="{443CBE75-2B88-4EA4-99D9-FE8AD2B5A1AE}"/>
                </a:ext>
              </a:extLst>
            </p:cNvPr>
            <p:cNvCxnSpPr/>
            <p:nvPr/>
          </p:nvCxnSpPr>
          <p:spPr>
            <a:xfrm>
              <a:off x="8098354" y="2727105"/>
              <a:ext cx="0" cy="198155"/>
            </a:xfrm>
            <a:prstGeom prst="line">
              <a:avLst/>
            </a:prstGeom>
            <a:solidFill>
              <a:sysClr val="window" lastClr="FFFFFF"/>
            </a:solidFill>
            <a:ln w="28575" cap="flat" cmpd="sng" algn="ctr">
              <a:solidFill>
                <a:srgbClr val="C00000"/>
              </a:solidFill>
              <a:prstDash val="solid"/>
              <a:miter lim="800000"/>
            </a:ln>
            <a:effectLst/>
          </p:spPr>
        </p:cxnSp>
        <p:sp>
          <p:nvSpPr>
            <p:cNvPr id="23" name="Textfeld 22">
              <a:extLst>
                <a:ext uri="{FF2B5EF4-FFF2-40B4-BE49-F238E27FC236}">
                  <a16:creationId xmlns:a16="http://schemas.microsoft.com/office/drawing/2014/main" id="{C560F3D3-0B7F-45F8-828B-3627462F23E1}"/>
                </a:ext>
              </a:extLst>
            </p:cNvPr>
            <p:cNvSpPr txBox="1"/>
            <p:nvPr/>
          </p:nvSpPr>
          <p:spPr>
            <a:xfrm>
              <a:off x="3819192" y="2507861"/>
              <a:ext cx="1231232" cy="417140"/>
            </a:xfrm>
            <a:prstGeom prst="rect">
              <a:avLst/>
            </a:prstGeom>
            <a:solidFill>
              <a:sysClr val="window" lastClr="FFFFFF"/>
            </a:solidFill>
          </p:spPr>
          <p:txBody>
            <a:bodyPr wrap="square" lIns="36000" rtlCol="0">
              <a:spAutoFit/>
            </a:bodyP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24" name="Abgerundetes Rechteck 362">
              <a:extLst>
                <a:ext uri="{FF2B5EF4-FFF2-40B4-BE49-F238E27FC236}">
                  <a16:creationId xmlns:a16="http://schemas.microsoft.com/office/drawing/2014/main" id="{BA1795C3-C2BC-4EF5-B8A5-F330FCA6F3E9}"/>
                </a:ext>
              </a:extLst>
            </p:cNvPr>
            <p:cNvSpPr/>
            <p:nvPr/>
          </p:nvSpPr>
          <p:spPr>
            <a:xfrm>
              <a:off x="5138553" y="2446248"/>
              <a:ext cx="1137211" cy="240391"/>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0070C0"/>
                  </a:solidFill>
                  <a:effectLst/>
                  <a:uLnTx/>
                  <a:uFillTx/>
                  <a:latin typeface="Arial" panose="020B0604020202020204" pitchFamily="34" charset="0"/>
                  <a:ea typeface="+mn-ea"/>
                  <a:cs typeface="Arial" panose="020B0604020202020204" pitchFamily="34" charset="0"/>
                </a:rPr>
                <a:t>L</a:t>
              </a:r>
            </a:p>
          </p:txBody>
        </p:sp>
        <p:sp>
          <p:nvSpPr>
            <p:cNvPr id="25" name="Abgerundetes Rechteck 363">
              <a:extLst>
                <a:ext uri="{FF2B5EF4-FFF2-40B4-BE49-F238E27FC236}">
                  <a16:creationId xmlns:a16="http://schemas.microsoft.com/office/drawing/2014/main" id="{FF452986-8372-4ACF-9017-DC25F4D9A401}"/>
                </a:ext>
              </a:extLst>
            </p:cNvPr>
            <p:cNvSpPr/>
            <p:nvPr/>
          </p:nvSpPr>
          <p:spPr>
            <a:xfrm>
              <a:off x="5138553" y="2755219"/>
              <a:ext cx="1137211" cy="240391"/>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C00000"/>
                  </a:solidFill>
                  <a:effectLst/>
                  <a:uLnTx/>
                  <a:uFillTx/>
                  <a:latin typeface="Arial" panose="020B0604020202020204" pitchFamily="34" charset="0"/>
                  <a:ea typeface="+mn-ea"/>
                  <a:cs typeface="Arial" panose="020B0604020202020204" pitchFamily="34" charset="0"/>
                </a:rPr>
                <a:t>D</a:t>
              </a:r>
            </a:p>
          </p:txBody>
        </p:sp>
        <p:cxnSp>
          <p:nvCxnSpPr>
            <p:cNvPr id="26" name="Gerade Verbindung 364">
              <a:extLst>
                <a:ext uri="{FF2B5EF4-FFF2-40B4-BE49-F238E27FC236}">
                  <a16:creationId xmlns:a16="http://schemas.microsoft.com/office/drawing/2014/main" id="{F44300F5-78CE-493F-93C8-E9577BDB3216}"/>
                </a:ext>
              </a:extLst>
            </p:cNvPr>
            <p:cNvCxnSpPr/>
            <p:nvPr/>
          </p:nvCxnSpPr>
          <p:spPr>
            <a:xfrm>
              <a:off x="7187266"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27" name="Gerade Verbindung 365">
              <a:extLst>
                <a:ext uri="{FF2B5EF4-FFF2-40B4-BE49-F238E27FC236}">
                  <a16:creationId xmlns:a16="http://schemas.microsoft.com/office/drawing/2014/main" id="{FF5719ED-A5FC-4090-A872-29D2F65F714D}"/>
                </a:ext>
              </a:extLst>
            </p:cNvPr>
            <p:cNvCxnSpPr/>
            <p:nvPr/>
          </p:nvCxnSpPr>
          <p:spPr>
            <a:xfrm>
              <a:off x="8272142"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28" name="Gerade Verbindung 366">
              <a:extLst>
                <a:ext uri="{FF2B5EF4-FFF2-40B4-BE49-F238E27FC236}">
                  <a16:creationId xmlns:a16="http://schemas.microsoft.com/office/drawing/2014/main" id="{CF912688-3407-442D-B886-50DB014D9B24}"/>
                </a:ext>
              </a:extLst>
            </p:cNvPr>
            <p:cNvCxnSpPr/>
            <p:nvPr/>
          </p:nvCxnSpPr>
          <p:spPr>
            <a:xfrm>
              <a:off x="8462834"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29" name="Gerade Verbindung 367">
              <a:extLst>
                <a:ext uri="{FF2B5EF4-FFF2-40B4-BE49-F238E27FC236}">
                  <a16:creationId xmlns:a16="http://schemas.microsoft.com/office/drawing/2014/main" id="{57C6603F-B79E-4615-92E7-D4B06D7DC302}"/>
                </a:ext>
              </a:extLst>
            </p:cNvPr>
            <p:cNvCxnSpPr/>
            <p:nvPr/>
          </p:nvCxnSpPr>
          <p:spPr>
            <a:xfrm>
              <a:off x="8646487"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30" name="Gerade Verbindung 368">
              <a:extLst>
                <a:ext uri="{FF2B5EF4-FFF2-40B4-BE49-F238E27FC236}">
                  <a16:creationId xmlns:a16="http://schemas.microsoft.com/office/drawing/2014/main" id="{B129A161-25EB-49C3-A973-41381399C35A}"/>
                </a:ext>
              </a:extLst>
            </p:cNvPr>
            <p:cNvCxnSpPr/>
            <p:nvPr/>
          </p:nvCxnSpPr>
          <p:spPr>
            <a:xfrm>
              <a:off x="8835455"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31" name="Gerade Verbindung mit Pfeil 30">
              <a:extLst>
                <a:ext uri="{FF2B5EF4-FFF2-40B4-BE49-F238E27FC236}">
                  <a16:creationId xmlns:a16="http://schemas.microsoft.com/office/drawing/2014/main" id="{312F377B-6701-44E4-9F19-807E224BC9DB}"/>
                </a:ext>
              </a:extLst>
            </p:cNvPr>
            <p:cNvCxnSpPr/>
            <p:nvPr/>
          </p:nvCxnSpPr>
          <p:spPr>
            <a:xfrm>
              <a:off x="6280584" y="2727105"/>
              <a:ext cx="3672715" cy="8784"/>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cxnSp>
          <p:nvCxnSpPr>
            <p:cNvPr id="32" name="Gerade Verbindung 370">
              <a:extLst>
                <a:ext uri="{FF2B5EF4-FFF2-40B4-BE49-F238E27FC236}">
                  <a16:creationId xmlns:a16="http://schemas.microsoft.com/office/drawing/2014/main" id="{DB876C3B-CC0C-4E3F-B7BE-CBE6AFDE8F37}"/>
                </a:ext>
              </a:extLst>
            </p:cNvPr>
            <p:cNvCxnSpPr/>
            <p:nvPr/>
          </p:nvCxnSpPr>
          <p:spPr>
            <a:xfrm>
              <a:off x="6389939"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3" name="Gerade Verbindung 371">
              <a:extLst>
                <a:ext uri="{FF2B5EF4-FFF2-40B4-BE49-F238E27FC236}">
                  <a16:creationId xmlns:a16="http://schemas.microsoft.com/office/drawing/2014/main" id="{8F52D512-94AD-4AE4-834D-8BAA39575645}"/>
                </a:ext>
              </a:extLst>
            </p:cNvPr>
            <p:cNvCxnSpPr/>
            <p:nvPr/>
          </p:nvCxnSpPr>
          <p:spPr>
            <a:xfrm>
              <a:off x="6565625"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4" name="Gerade Verbindung 372">
              <a:extLst>
                <a:ext uri="{FF2B5EF4-FFF2-40B4-BE49-F238E27FC236}">
                  <a16:creationId xmlns:a16="http://schemas.microsoft.com/office/drawing/2014/main" id="{29784646-23C2-40B0-A61A-E6FFB6D7A226}"/>
                </a:ext>
              </a:extLst>
            </p:cNvPr>
            <p:cNvCxnSpPr/>
            <p:nvPr/>
          </p:nvCxnSpPr>
          <p:spPr>
            <a:xfrm>
              <a:off x="6728423"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5" name="Gerade Verbindung 373">
              <a:extLst>
                <a:ext uri="{FF2B5EF4-FFF2-40B4-BE49-F238E27FC236}">
                  <a16:creationId xmlns:a16="http://schemas.microsoft.com/office/drawing/2014/main" id="{1D85A9CA-A004-44D4-A467-7D90596998A4}"/>
                </a:ext>
              </a:extLst>
            </p:cNvPr>
            <p:cNvCxnSpPr/>
            <p:nvPr/>
          </p:nvCxnSpPr>
          <p:spPr>
            <a:xfrm>
              <a:off x="6903350"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6" name="Gerade Verbindung 374">
              <a:extLst>
                <a:ext uri="{FF2B5EF4-FFF2-40B4-BE49-F238E27FC236}">
                  <a16:creationId xmlns:a16="http://schemas.microsoft.com/office/drawing/2014/main" id="{1ACB7E98-490D-4DB5-B353-C226D050D57C}"/>
                </a:ext>
              </a:extLst>
            </p:cNvPr>
            <p:cNvCxnSpPr/>
            <p:nvPr/>
          </p:nvCxnSpPr>
          <p:spPr>
            <a:xfrm>
              <a:off x="7081710"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7" name="Gerade Verbindung 375">
              <a:extLst>
                <a:ext uri="{FF2B5EF4-FFF2-40B4-BE49-F238E27FC236}">
                  <a16:creationId xmlns:a16="http://schemas.microsoft.com/office/drawing/2014/main" id="{EE358347-A8E9-4CBC-83EA-75E1B8E84203}"/>
                </a:ext>
              </a:extLst>
            </p:cNvPr>
            <p:cNvCxnSpPr/>
            <p:nvPr/>
          </p:nvCxnSpPr>
          <p:spPr>
            <a:xfrm>
              <a:off x="7252010"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8" name="Gerade Verbindung mit Pfeil 37">
              <a:extLst>
                <a:ext uri="{FF2B5EF4-FFF2-40B4-BE49-F238E27FC236}">
                  <a16:creationId xmlns:a16="http://schemas.microsoft.com/office/drawing/2014/main" id="{6CBD487E-39EE-4191-8CFF-D4EB1946170F}"/>
                </a:ext>
              </a:extLst>
            </p:cNvPr>
            <p:cNvCxnSpPr/>
            <p:nvPr/>
          </p:nvCxnSpPr>
          <p:spPr>
            <a:xfrm>
              <a:off x="8788932" y="1742038"/>
              <a:ext cx="1240479" cy="9149"/>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sp>
          <p:nvSpPr>
            <p:cNvPr id="39" name="Abgerundetes Rechteck 377">
              <a:extLst>
                <a:ext uri="{FF2B5EF4-FFF2-40B4-BE49-F238E27FC236}">
                  <a16:creationId xmlns:a16="http://schemas.microsoft.com/office/drawing/2014/main" id="{1F26A789-E6B3-4372-9FE0-46DA46FDD9D5}"/>
                </a:ext>
              </a:extLst>
            </p:cNvPr>
            <p:cNvSpPr/>
            <p:nvPr/>
          </p:nvSpPr>
          <p:spPr>
            <a:xfrm>
              <a:off x="7636335" y="1520687"/>
              <a:ext cx="1137211" cy="419870"/>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7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responses</a:t>
              </a:r>
              <a:r>
                <a:rPr kumimoji="0" lang="de-DE" sz="7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a:t>
              </a:r>
              <a:r>
                <a:rPr kumimoji="0" lang="de-DE" sz="7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digit</a:t>
              </a:r>
              <a:r>
                <a:rPr kumimoji="0" lang="de-DE" sz="7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a:t>
              </a:r>
              <a:r>
                <a:rPr kumimoji="0" lang="de-DE" sz="7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task</a:t>
              </a:r>
              <a:r>
                <a:rPr kumimoji="0" lang="de-DE" sz="7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(T</a:t>
              </a:r>
              <a:r>
                <a:rPr kumimoji="0" lang="de-DE" sz="700" b="1" i="0" u="none" strike="noStrike" kern="0" cap="none" spc="0" normalizeH="0" baseline="-25000" noProof="0">
                  <a:ln>
                    <a:noFill/>
                  </a:ln>
                  <a:solidFill>
                    <a:srgbClr val="C00000"/>
                  </a:solidFill>
                  <a:effectLst/>
                  <a:uLnTx/>
                  <a:uFillTx/>
                  <a:latin typeface="Arial" panose="020B0604020202020204" pitchFamily="34" charset="0"/>
                  <a:ea typeface="+mn-ea"/>
                  <a:cs typeface="Arial" panose="020B0604020202020204" pitchFamily="34" charset="0"/>
                </a:rPr>
                <a:t>D</a:t>
              </a:r>
              <a:r>
                <a:rPr kumimoji="0" lang="de-DE" sz="7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a:t>
              </a:r>
              <a:endParaRPr kumimoji="0" lang="de-DE" sz="700" b="1" i="0" u="none" strike="noStrike" kern="0" cap="none" spc="0" normalizeH="0" baseline="-25000" noProof="0">
                <a:ln>
                  <a:noFill/>
                </a:ln>
                <a:solidFill>
                  <a:srgbClr val="C00000"/>
                </a:solidFill>
                <a:effectLst/>
                <a:uLnTx/>
                <a:uFillTx/>
                <a:latin typeface="Arial" panose="020B0604020202020204" pitchFamily="34" charset="0"/>
                <a:ea typeface="+mn-ea"/>
                <a:cs typeface="Arial" panose="020B0604020202020204" pitchFamily="34" charset="0"/>
              </a:endParaRPr>
            </a:p>
          </p:txBody>
        </p:sp>
        <p:cxnSp>
          <p:nvCxnSpPr>
            <p:cNvPr id="40" name="Gerade Verbindung 378">
              <a:extLst>
                <a:ext uri="{FF2B5EF4-FFF2-40B4-BE49-F238E27FC236}">
                  <a16:creationId xmlns:a16="http://schemas.microsoft.com/office/drawing/2014/main" id="{398B54C2-118D-417F-825A-E0B0D36B9B66}"/>
                </a:ext>
              </a:extLst>
            </p:cNvPr>
            <p:cNvCxnSpPr/>
            <p:nvPr/>
          </p:nvCxnSpPr>
          <p:spPr>
            <a:xfrm>
              <a:off x="8923580"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1" name="Gerade Verbindung 379">
              <a:extLst>
                <a:ext uri="{FF2B5EF4-FFF2-40B4-BE49-F238E27FC236}">
                  <a16:creationId xmlns:a16="http://schemas.microsoft.com/office/drawing/2014/main" id="{CCFAFC5F-C293-4B5E-9670-D74501A7C796}"/>
                </a:ext>
              </a:extLst>
            </p:cNvPr>
            <p:cNvCxnSpPr/>
            <p:nvPr/>
          </p:nvCxnSpPr>
          <p:spPr>
            <a:xfrm>
              <a:off x="9099264"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2" name="Gerade Verbindung 380">
              <a:extLst>
                <a:ext uri="{FF2B5EF4-FFF2-40B4-BE49-F238E27FC236}">
                  <a16:creationId xmlns:a16="http://schemas.microsoft.com/office/drawing/2014/main" id="{F393BD48-EBB8-468B-81F0-03B20D00A140}"/>
                </a:ext>
              </a:extLst>
            </p:cNvPr>
            <p:cNvCxnSpPr/>
            <p:nvPr/>
          </p:nvCxnSpPr>
          <p:spPr>
            <a:xfrm>
              <a:off x="9262062"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3" name="Gerade Verbindung 381">
              <a:extLst>
                <a:ext uri="{FF2B5EF4-FFF2-40B4-BE49-F238E27FC236}">
                  <a16:creationId xmlns:a16="http://schemas.microsoft.com/office/drawing/2014/main" id="{05E96EB2-4E35-4488-B9CF-0AC999BFA325}"/>
                </a:ext>
              </a:extLst>
            </p:cNvPr>
            <p:cNvCxnSpPr/>
            <p:nvPr/>
          </p:nvCxnSpPr>
          <p:spPr>
            <a:xfrm>
              <a:off x="9436991"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4" name="Gerade Verbindung 382">
              <a:extLst>
                <a:ext uri="{FF2B5EF4-FFF2-40B4-BE49-F238E27FC236}">
                  <a16:creationId xmlns:a16="http://schemas.microsoft.com/office/drawing/2014/main" id="{57FD903E-7DCE-43D0-A4C0-701504EED93D}"/>
                </a:ext>
              </a:extLst>
            </p:cNvPr>
            <p:cNvCxnSpPr/>
            <p:nvPr/>
          </p:nvCxnSpPr>
          <p:spPr>
            <a:xfrm>
              <a:off x="9615349"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5" name="Gerade Verbindung 383">
              <a:extLst>
                <a:ext uri="{FF2B5EF4-FFF2-40B4-BE49-F238E27FC236}">
                  <a16:creationId xmlns:a16="http://schemas.microsoft.com/office/drawing/2014/main" id="{8C0A0EC2-A885-4B47-8F1E-E599B7583F4E}"/>
                </a:ext>
              </a:extLst>
            </p:cNvPr>
            <p:cNvCxnSpPr/>
            <p:nvPr/>
          </p:nvCxnSpPr>
          <p:spPr>
            <a:xfrm>
              <a:off x="9785649"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6" name="Gerade Verbindung 384">
              <a:extLst>
                <a:ext uri="{FF2B5EF4-FFF2-40B4-BE49-F238E27FC236}">
                  <a16:creationId xmlns:a16="http://schemas.microsoft.com/office/drawing/2014/main" id="{9960271C-B8A4-4E43-B4C5-6A25B177E571}"/>
                </a:ext>
              </a:extLst>
            </p:cNvPr>
            <p:cNvCxnSpPr/>
            <p:nvPr/>
          </p:nvCxnSpPr>
          <p:spPr>
            <a:xfrm>
              <a:off x="7366209"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47" name="Gerade Verbindung 385">
              <a:extLst>
                <a:ext uri="{FF2B5EF4-FFF2-40B4-BE49-F238E27FC236}">
                  <a16:creationId xmlns:a16="http://schemas.microsoft.com/office/drawing/2014/main" id="{6C336DCF-3B82-49AF-8D37-D08FED87688B}"/>
                </a:ext>
              </a:extLst>
            </p:cNvPr>
            <p:cNvCxnSpPr/>
            <p:nvPr/>
          </p:nvCxnSpPr>
          <p:spPr>
            <a:xfrm>
              <a:off x="7541894"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48" name="Gerade Verbindung 386">
              <a:extLst>
                <a:ext uri="{FF2B5EF4-FFF2-40B4-BE49-F238E27FC236}">
                  <a16:creationId xmlns:a16="http://schemas.microsoft.com/office/drawing/2014/main" id="{CE31950D-CEF2-48DA-AEBF-A728804C68E2}"/>
                </a:ext>
              </a:extLst>
            </p:cNvPr>
            <p:cNvCxnSpPr/>
            <p:nvPr/>
          </p:nvCxnSpPr>
          <p:spPr>
            <a:xfrm>
              <a:off x="7704692"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49" name="Gerade Verbindung 387">
              <a:extLst>
                <a:ext uri="{FF2B5EF4-FFF2-40B4-BE49-F238E27FC236}">
                  <a16:creationId xmlns:a16="http://schemas.microsoft.com/office/drawing/2014/main" id="{FC834827-684E-4AF5-BA59-D85AC8599312}"/>
                </a:ext>
              </a:extLst>
            </p:cNvPr>
            <p:cNvCxnSpPr/>
            <p:nvPr/>
          </p:nvCxnSpPr>
          <p:spPr>
            <a:xfrm>
              <a:off x="9003402" y="27358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50" name="Gerade Verbindung 388">
              <a:extLst>
                <a:ext uri="{FF2B5EF4-FFF2-40B4-BE49-F238E27FC236}">
                  <a16:creationId xmlns:a16="http://schemas.microsoft.com/office/drawing/2014/main" id="{6AEE06BD-A3FF-482C-B283-D3259EAD4E79}"/>
                </a:ext>
              </a:extLst>
            </p:cNvPr>
            <p:cNvCxnSpPr/>
            <p:nvPr/>
          </p:nvCxnSpPr>
          <p:spPr>
            <a:xfrm>
              <a:off x="9179992" y="27358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51" name="Gerade Verbindung 389">
              <a:extLst>
                <a:ext uri="{FF2B5EF4-FFF2-40B4-BE49-F238E27FC236}">
                  <a16:creationId xmlns:a16="http://schemas.microsoft.com/office/drawing/2014/main" id="{E5540AE7-7309-465A-A98B-3777BBB7A055}"/>
                </a:ext>
              </a:extLst>
            </p:cNvPr>
            <p:cNvCxnSpPr/>
            <p:nvPr/>
          </p:nvCxnSpPr>
          <p:spPr>
            <a:xfrm>
              <a:off x="9353781" y="27358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52" name="Gerade Verbindung 390">
              <a:extLst>
                <a:ext uri="{FF2B5EF4-FFF2-40B4-BE49-F238E27FC236}">
                  <a16:creationId xmlns:a16="http://schemas.microsoft.com/office/drawing/2014/main" id="{81939DCD-3A29-4C27-9664-2B554C9CC88E}"/>
                </a:ext>
              </a:extLst>
            </p:cNvPr>
            <p:cNvCxnSpPr/>
            <p:nvPr/>
          </p:nvCxnSpPr>
          <p:spPr>
            <a:xfrm>
              <a:off x="9544471" y="2735889"/>
              <a:ext cx="0" cy="198155"/>
            </a:xfrm>
            <a:prstGeom prst="line">
              <a:avLst/>
            </a:prstGeom>
            <a:solidFill>
              <a:sysClr val="window" lastClr="FFFFFF"/>
            </a:solidFill>
            <a:ln w="28575" cap="flat" cmpd="sng" algn="ctr">
              <a:solidFill>
                <a:srgbClr val="C00000"/>
              </a:solidFill>
              <a:prstDash val="solid"/>
              <a:miter lim="800000"/>
            </a:ln>
            <a:effectLst/>
          </p:spPr>
        </p:cxnSp>
        <p:sp>
          <p:nvSpPr>
            <p:cNvPr id="53" name="Textfeld 52">
              <a:extLst>
                <a:ext uri="{FF2B5EF4-FFF2-40B4-BE49-F238E27FC236}">
                  <a16:creationId xmlns:a16="http://schemas.microsoft.com/office/drawing/2014/main" id="{DC9EFA4D-56E4-4CA2-A2A1-0F174357C053}"/>
                </a:ext>
              </a:extLst>
            </p:cNvPr>
            <p:cNvSpPr txBox="1"/>
            <p:nvPr/>
          </p:nvSpPr>
          <p:spPr>
            <a:xfrm>
              <a:off x="3819192" y="3459744"/>
              <a:ext cx="1231232" cy="417140"/>
            </a:xfrm>
            <a:prstGeom prst="rect">
              <a:avLst/>
            </a:prstGeom>
            <a:solidFill>
              <a:sysClr val="window" lastClr="FFFFFF"/>
            </a:solidFill>
          </p:spPr>
          <p:txBody>
            <a:bodyPr wrap="square" lIns="36000" rtlCol="0">
              <a:spAutoFit/>
            </a:bodyP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Switcher</a:t>
              </a:r>
              <a:endParaRPr kumimoji="0" lang="de-DE" sz="10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Abgerundetes Rechteck 393">
              <a:extLst>
                <a:ext uri="{FF2B5EF4-FFF2-40B4-BE49-F238E27FC236}">
                  <a16:creationId xmlns:a16="http://schemas.microsoft.com/office/drawing/2014/main" id="{35973723-AE69-476F-A699-A815D302E5C0}"/>
                </a:ext>
              </a:extLst>
            </p:cNvPr>
            <p:cNvSpPr/>
            <p:nvPr/>
          </p:nvSpPr>
          <p:spPr>
            <a:xfrm>
              <a:off x="5137493" y="3380882"/>
              <a:ext cx="1137211" cy="240391"/>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0070C0"/>
                  </a:solidFill>
                  <a:effectLst/>
                  <a:uLnTx/>
                  <a:uFillTx/>
                  <a:latin typeface="Arial" panose="020B0604020202020204" pitchFamily="34" charset="0"/>
                  <a:ea typeface="+mn-ea"/>
                  <a:cs typeface="Arial" panose="020B0604020202020204" pitchFamily="34" charset="0"/>
                </a:rPr>
                <a:t>L</a:t>
              </a:r>
            </a:p>
          </p:txBody>
        </p:sp>
        <p:sp>
          <p:nvSpPr>
            <p:cNvPr id="55" name="Abgerundetes Rechteck 394">
              <a:extLst>
                <a:ext uri="{FF2B5EF4-FFF2-40B4-BE49-F238E27FC236}">
                  <a16:creationId xmlns:a16="http://schemas.microsoft.com/office/drawing/2014/main" id="{35968C3A-337F-4615-ABF9-1731BB5057D8}"/>
                </a:ext>
              </a:extLst>
            </p:cNvPr>
            <p:cNvSpPr/>
            <p:nvPr/>
          </p:nvSpPr>
          <p:spPr>
            <a:xfrm>
              <a:off x="5137493" y="3689854"/>
              <a:ext cx="1137211" cy="240391"/>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C00000"/>
                  </a:solidFill>
                  <a:effectLst/>
                  <a:uLnTx/>
                  <a:uFillTx/>
                  <a:latin typeface="Arial" panose="020B0604020202020204" pitchFamily="34" charset="0"/>
                  <a:ea typeface="+mn-ea"/>
                  <a:cs typeface="Arial" panose="020B0604020202020204" pitchFamily="34" charset="0"/>
                </a:rPr>
                <a:t>D</a:t>
              </a:r>
            </a:p>
          </p:txBody>
        </p:sp>
        <p:cxnSp>
          <p:nvCxnSpPr>
            <p:cNvPr id="63" name="Gerade Verbindung mit Pfeil 62">
              <a:extLst>
                <a:ext uri="{FF2B5EF4-FFF2-40B4-BE49-F238E27FC236}">
                  <a16:creationId xmlns:a16="http://schemas.microsoft.com/office/drawing/2014/main" id="{FE1A99DD-5834-468C-8190-535A04938207}"/>
                </a:ext>
              </a:extLst>
            </p:cNvPr>
            <p:cNvCxnSpPr/>
            <p:nvPr/>
          </p:nvCxnSpPr>
          <p:spPr>
            <a:xfrm flipV="1">
              <a:off x="6285404" y="3661741"/>
              <a:ext cx="3672715" cy="4318"/>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cxnSp>
          <p:nvCxnSpPr>
            <p:cNvPr id="64" name="Gerade Verbindung 396">
              <a:extLst>
                <a:ext uri="{FF2B5EF4-FFF2-40B4-BE49-F238E27FC236}">
                  <a16:creationId xmlns:a16="http://schemas.microsoft.com/office/drawing/2014/main" id="{04E61139-922C-4932-A389-7085641AFE29}"/>
                </a:ext>
              </a:extLst>
            </p:cNvPr>
            <p:cNvCxnSpPr/>
            <p:nvPr/>
          </p:nvCxnSpPr>
          <p:spPr>
            <a:xfrm>
              <a:off x="6684969" y="346237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65" name="Gerade Verbindung 397">
              <a:extLst>
                <a:ext uri="{FF2B5EF4-FFF2-40B4-BE49-F238E27FC236}">
                  <a16:creationId xmlns:a16="http://schemas.microsoft.com/office/drawing/2014/main" id="{12EA7D64-C346-493D-81DA-699395D9DD9E}"/>
                </a:ext>
              </a:extLst>
            </p:cNvPr>
            <p:cNvCxnSpPr/>
            <p:nvPr/>
          </p:nvCxnSpPr>
          <p:spPr>
            <a:xfrm>
              <a:off x="6467062"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6" name="Gerade Verbindung 398">
              <a:extLst>
                <a:ext uri="{FF2B5EF4-FFF2-40B4-BE49-F238E27FC236}">
                  <a16:creationId xmlns:a16="http://schemas.microsoft.com/office/drawing/2014/main" id="{40C85A7E-4041-471D-9373-372A91E274AA}"/>
                </a:ext>
              </a:extLst>
            </p:cNvPr>
            <p:cNvCxnSpPr/>
            <p:nvPr/>
          </p:nvCxnSpPr>
          <p:spPr>
            <a:xfrm>
              <a:off x="6758887"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7" name="Gerade Verbindung 399">
              <a:extLst>
                <a:ext uri="{FF2B5EF4-FFF2-40B4-BE49-F238E27FC236}">
                  <a16:creationId xmlns:a16="http://schemas.microsoft.com/office/drawing/2014/main" id="{D2F21322-02F7-4833-804E-B915B225598F}"/>
                </a:ext>
              </a:extLst>
            </p:cNvPr>
            <p:cNvCxnSpPr/>
            <p:nvPr/>
          </p:nvCxnSpPr>
          <p:spPr>
            <a:xfrm>
              <a:off x="6981152"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8" name="Gerade Verbindung 400">
              <a:extLst>
                <a:ext uri="{FF2B5EF4-FFF2-40B4-BE49-F238E27FC236}">
                  <a16:creationId xmlns:a16="http://schemas.microsoft.com/office/drawing/2014/main" id="{BDABF773-0C57-47ED-9D33-B12254F025F0}"/>
                </a:ext>
              </a:extLst>
            </p:cNvPr>
            <p:cNvCxnSpPr/>
            <p:nvPr/>
          </p:nvCxnSpPr>
          <p:spPr>
            <a:xfrm>
              <a:off x="7181151"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9" name="Gerade Verbindung 401">
              <a:extLst>
                <a:ext uri="{FF2B5EF4-FFF2-40B4-BE49-F238E27FC236}">
                  <a16:creationId xmlns:a16="http://schemas.microsoft.com/office/drawing/2014/main" id="{4E57F0A3-6B17-4108-9FFB-1CD713D6DF31}"/>
                </a:ext>
              </a:extLst>
            </p:cNvPr>
            <p:cNvCxnSpPr/>
            <p:nvPr/>
          </p:nvCxnSpPr>
          <p:spPr>
            <a:xfrm>
              <a:off x="7484039" y="346237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0" name="Gerade Verbindung 402">
              <a:extLst>
                <a:ext uri="{FF2B5EF4-FFF2-40B4-BE49-F238E27FC236}">
                  <a16:creationId xmlns:a16="http://schemas.microsoft.com/office/drawing/2014/main" id="{955EE4FF-E1FD-4A37-B469-7740E6A2F0FB}"/>
                </a:ext>
              </a:extLst>
            </p:cNvPr>
            <p:cNvCxnSpPr/>
            <p:nvPr/>
          </p:nvCxnSpPr>
          <p:spPr>
            <a:xfrm>
              <a:off x="7359854" y="3669734"/>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1" name="Gerade Verbindung 403">
              <a:extLst>
                <a:ext uri="{FF2B5EF4-FFF2-40B4-BE49-F238E27FC236}">
                  <a16:creationId xmlns:a16="http://schemas.microsoft.com/office/drawing/2014/main" id="{CEBD109F-9C99-4820-B415-C9BDC95F1813}"/>
                </a:ext>
              </a:extLst>
            </p:cNvPr>
            <p:cNvCxnSpPr/>
            <p:nvPr/>
          </p:nvCxnSpPr>
          <p:spPr>
            <a:xfrm>
              <a:off x="7678183"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2" name="Gerade Verbindung 404">
              <a:extLst>
                <a:ext uri="{FF2B5EF4-FFF2-40B4-BE49-F238E27FC236}">
                  <a16:creationId xmlns:a16="http://schemas.microsoft.com/office/drawing/2014/main" id="{B34B9953-18DC-4F06-B0FE-529CD5C1E50D}"/>
                </a:ext>
              </a:extLst>
            </p:cNvPr>
            <p:cNvCxnSpPr/>
            <p:nvPr/>
          </p:nvCxnSpPr>
          <p:spPr>
            <a:xfrm>
              <a:off x="7853870"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3" name="Gerade Verbindung 405">
              <a:extLst>
                <a:ext uri="{FF2B5EF4-FFF2-40B4-BE49-F238E27FC236}">
                  <a16:creationId xmlns:a16="http://schemas.microsoft.com/office/drawing/2014/main" id="{2BC1D8A2-1382-44A6-9659-047992AE02D4}"/>
                </a:ext>
              </a:extLst>
            </p:cNvPr>
            <p:cNvCxnSpPr/>
            <p:nvPr/>
          </p:nvCxnSpPr>
          <p:spPr>
            <a:xfrm>
              <a:off x="8692654"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4" name="Gerade Verbindung 406">
              <a:extLst>
                <a:ext uri="{FF2B5EF4-FFF2-40B4-BE49-F238E27FC236}">
                  <a16:creationId xmlns:a16="http://schemas.microsoft.com/office/drawing/2014/main" id="{7D562889-3138-4E2F-B16B-78F22AFCE875}"/>
                </a:ext>
              </a:extLst>
            </p:cNvPr>
            <p:cNvCxnSpPr/>
            <p:nvPr/>
          </p:nvCxnSpPr>
          <p:spPr>
            <a:xfrm>
              <a:off x="8193281"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5" name="Gerade Verbindung 407">
              <a:extLst>
                <a:ext uri="{FF2B5EF4-FFF2-40B4-BE49-F238E27FC236}">
                  <a16:creationId xmlns:a16="http://schemas.microsoft.com/office/drawing/2014/main" id="{86112095-B9D4-4FCD-A073-A30BC1ACCA18}"/>
                </a:ext>
              </a:extLst>
            </p:cNvPr>
            <p:cNvCxnSpPr/>
            <p:nvPr/>
          </p:nvCxnSpPr>
          <p:spPr>
            <a:xfrm>
              <a:off x="8369873"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6" name="Gerade Verbindung 408">
              <a:extLst>
                <a:ext uri="{FF2B5EF4-FFF2-40B4-BE49-F238E27FC236}">
                  <a16:creationId xmlns:a16="http://schemas.microsoft.com/office/drawing/2014/main" id="{21C363CF-318F-4DEA-B967-576C547C09D4}"/>
                </a:ext>
              </a:extLst>
            </p:cNvPr>
            <p:cNvCxnSpPr/>
            <p:nvPr/>
          </p:nvCxnSpPr>
          <p:spPr>
            <a:xfrm>
              <a:off x="9287861"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7" name="Gerade Verbindung 409">
              <a:extLst>
                <a:ext uri="{FF2B5EF4-FFF2-40B4-BE49-F238E27FC236}">
                  <a16:creationId xmlns:a16="http://schemas.microsoft.com/office/drawing/2014/main" id="{B71B8CFD-B952-4455-A4FA-0E02E918A999}"/>
                </a:ext>
              </a:extLst>
            </p:cNvPr>
            <p:cNvCxnSpPr/>
            <p:nvPr/>
          </p:nvCxnSpPr>
          <p:spPr>
            <a:xfrm>
              <a:off x="9039958"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8" name="Gerade Verbindung 410">
              <a:extLst>
                <a:ext uri="{FF2B5EF4-FFF2-40B4-BE49-F238E27FC236}">
                  <a16:creationId xmlns:a16="http://schemas.microsoft.com/office/drawing/2014/main" id="{DDC65065-C94E-4306-A124-2E52F288E4E2}"/>
                </a:ext>
              </a:extLst>
            </p:cNvPr>
            <p:cNvCxnSpPr/>
            <p:nvPr/>
          </p:nvCxnSpPr>
          <p:spPr>
            <a:xfrm>
              <a:off x="8634352" y="3671522"/>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9" name="Gerade Verbindung 411">
              <a:extLst>
                <a:ext uri="{FF2B5EF4-FFF2-40B4-BE49-F238E27FC236}">
                  <a16:creationId xmlns:a16="http://schemas.microsoft.com/office/drawing/2014/main" id="{1A6CE55C-A1E1-4ABB-9AFC-57634CE054C3}"/>
                </a:ext>
              </a:extLst>
            </p:cNvPr>
            <p:cNvCxnSpPr/>
            <p:nvPr/>
          </p:nvCxnSpPr>
          <p:spPr>
            <a:xfrm>
              <a:off x="9350749"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80" name="Gerade Verbindung 412">
              <a:extLst>
                <a:ext uri="{FF2B5EF4-FFF2-40B4-BE49-F238E27FC236}">
                  <a16:creationId xmlns:a16="http://schemas.microsoft.com/office/drawing/2014/main" id="{2D97F18B-418D-4C0D-8C7C-60B619F86D9E}"/>
                </a:ext>
              </a:extLst>
            </p:cNvPr>
            <p:cNvCxnSpPr/>
            <p:nvPr/>
          </p:nvCxnSpPr>
          <p:spPr>
            <a:xfrm>
              <a:off x="9550949"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81" name="Gerade Verbindung 413">
              <a:extLst>
                <a:ext uri="{FF2B5EF4-FFF2-40B4-BE49-F238E27FC236}">
                  <a16:creationId xmlns:a16="http://schemas.microsoft.com/office/drawing/2014/main" id="{4E2DBDFA-BA5F-4F77-8E54-45792528D10F}"/>
                </a:ext>
              </a:extLst>
            </p:cNvPr>
            <p:cNvCxnSpPr/>
            <p:nvPr/>
          </p:nvCxnSpPr>
          <p:spPr>
            <a:xfrm>
              <a:off x="7979297" y="3666059"/>
              <a:ext cx="0" cy="198155"/>
            </a:xfrm>
            <a:prstGeom prst="line">
              <a:avLst/>
            </a:prstGeom>
            <a:solidFill>
              <a:sysClr val="window" lastClr="FFFFFF"/>
            </a:solidFill>
            <a:ln w="28575" cap="flat" cmpd="sng" algn="ctr">
              <a:solidFill>
                <a:srgbClr val="C00000"/>
              </a:solidFill>
              <a:prstDash val="solid"/>
              <a:miter lim="800000"/>
            </a:ln>
            <a:effectLst/>
          </p:spPr>
        </p:cxnSp>
        <p:sp>
          <p:nvSpPr>
            <p:cNvPr id="82" name="Textfeld 81">
              <a:extLst>
                <a:ext uri="{FF2B5EF4-FFF2-40B4-BE49-F238E27FC236}">
                  <a16:creationId xmlns:a16="http://schemas.microsoft.com/office/drawing/2014/main" id="{773593CC-FBBA-44BB-BD91-D2840D9C05C7}"/>
                </a:ext>
              </a:extLst>
            </p:cNvPr>
            <p:cNvSpPr txBox="1"/>
            <p:nvPr/>
          </p:nvSpPr>
          <p:spPr>
            <a:xfrm>
              <a:off x="3755264" y="4356365"/>
              <a:ext cx="1359087" cy="677853"/>
            </a:xfrm>
            <a:prstGeom prst="rect">
              <a:avLst/>
            </a:prstGeom>
            <a:noFill/>
          </p:spPr>
          <p:txBody>
            <a:bodyPr wrap="square" lIns="36000" rtlCol="0">
              <a:spAutoFit/>
            </a:bodyP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Response</a:t>
              </a:r>
            </a:p>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Grouper</a:t>
              </a:r>
              <a:endParaRPr kumimoji="0" lang="de-DE" sz="10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3" name="Abgerundetes Rechteck 415">
              <a:extLst>
                <a:ext uri="{FF2B5EF4-FFF2-40B4-BE49-F238E27FC236}">
                  <a16:creationId xmlns:a16="http://schemas.microsoft.com/office/drawing/2014/main" id="{32EA4769-A9A0-4158-870D-E20AF61D8CFC}"/>
                </a:ext>
              </a:extLst>
            </p:cNvPr>
            <p:cNvSpPr/>
            <p:nvPr/>
          </p:nvSpPr>
          <p:spPr>
            <a:xfrm>
              <a:off x="5143372" y="4363732"/>
              <a:ext cx="1137211" cy="240391"/>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0070C0"/>
                  </a:solidFill>
                  <a:effectLst/>
                  <a:uLnTx/>
                  <a:uFillTx/>
                  <a:latin typeface="Arial" panose="020B0604020202020204" pitchFamily="34" charset="0"/>
                  <a:ea typeface="+mn-ea"/>
                  <a:cs typeface="Arial" panose="020B0604020202020204" pitchFamily="34" charset="0"/>
                </a:rPr>
                <a:t>L</a:t>
              </a:r>
            </a:p>
          </p:txBody>
        </p:sp>
        <p:sp>
          <p:nvSpPr>
            <p:cNvPr id="84" name="Abgerundetes Rechteck 416">
              <a:extLst>
                <a:ext uri="{FF2B5EF4-FFF2-40B4-BE49-F238E27FC236}">
                  <a16:creationId xmlns:a16="http://schemas.microsoft.com/office/drawing/2014/main" id="{83D5E35B-A19B-4C0B-9802-895F170B71B4}"/>
                </a:ext>
              </a:extLst>
            </p:cNvPr>
            <p:cNvSpPr/>
            <p:nvPr/>
          </p:nvSpPr>
          <p:spPr>
            <a:xfrm>
              <a:off x="5143372" y="4672704"/>
              <a:ext cx="1137211" cy="240391"/>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C00000"/>
                  </a:solidFill>
                  <a:effectLst/>
                  <a:uLnTx/>
                  <a:uFillTx/>
                  <a:latin typeface="Arial" panose="020B0604020202020204" pitchFamily="34" charset="0"/>
                  <a:ea typeface="+mn-ea"/>
                  <a:cs typeface="Arial" panose="020B0604020202020204" pitchFamily="34" charset="0"/>
                </a:rPr>
                <a:t>D</a:t>
              </a:r>
            </a:p>
          </p:txBody>
        </p:sp>
        <p:cxnSp>
          <p:nvCxnSpPr>
            <p:cNvPr id="85" name="Gerade Verbindung mit Pfeil 84">
              <a:extLst>
                <a:ext uri="{FF2B5EF4-FFF2-40B4-BE49-F238E27FC236}">
                  <a16:creationId xmlns:a16="http://schemas.microsoft.com/office/drawing/2014/main" id="{8AB39FE4-BF37-4E20-BA65-EEAFBD32B0E0}"/>
                </a:ext>
              </a:extLst>
            </p:cNvPr>
            <p:cNvCxnSpPr/>
            <p:nvPr/>
          </p:nvCxnSpPr>
          <p:spPr>
            <a:xfrm>
              <a:off x="6308413" y="4644590"/>
              <a:ext cx="3672715" cy="0"/>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cxnSp>
          <p:nvCxnSpPr>
            <p:cNvPr id="86" name="Gerade Verbindung 418">
              <a:extLst>
                <a:ext uri="{FF2B5EF4-FFF2-40B4-BE49-F238E27FC236}">
                  <a16:creationId xmlns:a16="http://schemas.microsoft.com/office/drawing/2014/main" id="{D2C597BB-EF35-4D89-B3F1-07FA5793A27F}"/>
                </a:ext>
              </a:extLst>
            </p:cNvPr>
            <p:cNvCxnSpPr/>
            <p:nvPr/>
          </p:nvCxnSpPr>
          <p:spPr>
            <a:xfrm>
              <a:off x="6544070"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87" name="Gerade Verbindung 419">
              <a:extLst>
                <a:ext uri="{FF2B5EF4-FFF2-40B4-BE49-F238E27FC236}">
                  <a16:creationId xmlns:a16="http://schemas.microsoft.com/office/drawing/2014/main" id="{AA68A419-E106-4CC5-BF62-1E35E44D8474}"/>
                </a:ext>
              </a:extLst>
            </p:cNvPr>
            <p:cNvCxnSpPr/>
            <p:nvPr/>
          </p:nvCxnSpPr>
          <p:spPr>
            <a:xfrm>
              <a:off x="6950656"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88" name="Gerade Verbindung 420">
              <a:extLst>
                <a:ext uri="{FF2B5EF4-FFF2-40B4-BE49-F238E27FC236}">
                  <a16:creationId xmlns:a16="http://schemas.microsoft.com/office/drawing/2014/main" id="{109AD484-5768-4D0B-BA5D-F99143308AD6}"/>
                </a:ext>
              </a:extLst>
            </p:cNvPr>
            <p:cNvCxnSpPr/>
            <p:nvPr/>
          </p:nvCxnSpPr>
          <p:spPr>
            <a:xfrm>
              <a:off x="6451207" y="46455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89" name="Gerade Verbindung 421">
              <a:extLst>
                <a:ext uri="{FF2B5EF4-FFF2-40B4-BE49-F238E27FC236}">
                  <a16:creationId xmlns:a16="http://schemas.microsoft.com/office/drawing/2014/main" id="{A815C2AE-7DDF-4C54-9F26-DF27185CB628}"/>
                </a:ext>
              </a:extLst>
            </p:cNvPr>
            <p:cNvCxnSpPr/>
            <p:nvPr/>
          </p:nvCxnSpPr>
          <p:spPr>
            <a:xfrm>
              <a:off x="6890134" y="464890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0" name="Gerade Verbindung 422">
              <a:extLst>
                <a:ext uri="{FF2B5EF4-FFF2-40B4-BE49-F238E27FC236}">
                  <a16:creationId xmlns:a16="http://schemas.microsoft.com/office/drawing/2014/main" id="{D40B4F33-BB54-4A5C-884F-56F5E3F2CA76}"/>
                </a:ext>
              </a:extLst>
            </p:cNvPr>
            <p:cNvCxnSpPr/>
            <p:nvPr/>
          </p:nvCxnSpPr>
          <p:spPr>
            <a:xfrm>
              <a:off x="7344835"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1" name="Gerade Verbindung 423">
              <a:extLst>
                <a:ext uri="{FF2B5EF4-FFF2-40B4-BE49-F238E27FC236}">
                  <a16:creationId xmlns:a16="http://schemas.microsoft.com/office/drawing/2014/main" id="{806AD40C-F53D-4AFF-94AD-A0C0F7A31B1F}"/>
                </a:ext>
              </a:extLst>
            </p:cNvPr>
            <p:cNvCxnSpPr/>
            <p:nvPr/>
          </p:nvCxnSpPr>
          <p:spPr>
            <a:xfrm>
              <a:off x="7841976"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2" name="Gerade Verbindung 424">
              <a:extLst>
                <a:ext uri="{FF2B5EF4-FFF2-40B4-BE49-F238E27FC236}">
                  <a16:creationId xmlns:a16="http://schemas.microsoft.com/office/drawing/2014/main" id="{6A2507A3-CB4E-4E2D-8B97-C83832D0945A}"/>
                </a:ext>
              </a:extLst>
            </p:cNvPr>
            <p:cNvCxnSpPr/>
            <p:nvPr/>
          </p:nvCxnSpPr>
          <p:spPr>
            <a:xfrm>
              <a:off x="7251973" y="4645590"/>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3" name="Gerade Verbindung 425">
              <a:extLst>
                <a:ext uri="{FF2B5EF4-FFF2-40B4-BE49-F238E27FC236}">
                  <a16:creationId xmlns:a16="http://schemas.microsoft.com/office/drawing/2014/main" id="{7AB7A4FF-237D-4703-85AC-11783EA1A5F0}"/>
                </a:ext>
              </a:extLst>
            </p:cNvPr>
            <p:cNvCxnSpPr/>
            <p:nvPr/>
          </p:nvCxnSpPr>
          <p:spPr>
            <a:xfrm>
              <a:off x="7781456" y="464890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4" name="Gerade Verbindung 426">
              <a:extLst>
                <a:ext uri="{FF2B5EF4-FFF2-40B4-BE49-F238E27FC236}">
                  <a16:creationId xmlns:a16="http://schemas.microsoft.com/office/drawing/2014/main" id="{4EDC56C4-5CD3-4D2B-ABB8-3D0DA5565778}"/>
                </a:ext>
              </a:extLst>
            </p:cNvPr>
            <p:cNvCxnSpPr/>
            <p:nvPr/>
          </p:nvCxnSpPr>
          <p:spPr>
            <a:xfrm>
              <a:off x="8436731"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5" name="Gerade Verbindung 427">
              <a:extLst>
                <a:ext uri="{FF2B5EF4-FFF2-40B4-BE49-F238E27FC236}">
                  <a16:creationId xmlns:a16="http://schemas.microsoft.com/office/drawing/2014/main" id="{6C366B79-7B3D-4E42-A026-9AF0E61CE791}"/>
                </a:ext>
              </a:extLst>
            </p:cNvPr>
            <p:cNvCxnSpPr/>
            <p:nvPr/>
          </p:nvCxnSpPr>
          <p:spPr>
            <a:xfrm>
              <a:off x="9024141"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6" name="Gerade Verbindung 428">
              <a:extLst>
                <a:ext uri="{FF2B5EF4-FFF2-40B4-BE49-F238E27FC236}">
                  <a16:creationId xmlns:a16="http://schemas.microsoft.com/office/drawing/2014/main" id="{9532E498-EFA8-4D5F-ACB1-B8BE1B659CBC}"/>
                </a:ext>
              </a:extLst>
            </p:cNvPr>
            <p:cNvCxnSpPr/>
            <p:nvPr/>
          </p:nvCxnSpPr>
          <p:spPr>
            <a:xfrm>
              <a:off x="8343871" y="4645590"/>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7" name="Gerade Verbindung 429">
              <a:extLst>
                <a:ext uri="{FF2B5EF4-FFF2-40B4-BE49-F238E27FC236}">
                  <a16:creationId xmlns:a16="http://schemas.microsoft.com/office/drawing/2014/main" id="{123A180C-CB4E-416B-8109-469AACFA75B6}"/>
                </a:ext>
              </a:extLst>
            </p:cNvPr>
            <p:cNvCxnSpPr/>
            <p:nvPr/>
          </p:nvCxnSpPr>
          <p:spPr>
            <a:xfrm>
              <a:off x="8873352" y="464890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8" name="Gerade Verbindung 430">
              <a:extLst>
                <a:ext uri="{FF2B5EF4-FFF2-40B4-BE49-F238E27FC236}">
                  <a16:creationId xmlns:a16="http://schemas.microsoft.com/office/drawing/2014/main" id="{2FED1263-7537-42BF-8BC8-6D4EE611B2C6}"/>
                </a:ext>
              </a:extLst>
            </p:cNvPr>
            <p:cNvCxnSpPr/>
            <p:nvPr/>
          </p:nvCxnSpPr>
          <p:spPr>
            <a:xfrm>
              <a:off x="9596726"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9" name="Gerade Verbindung 431">
              <a:extLst>
                <a:ext uri="{FF2B5EF4-FFF2-40B4-BE49-F238E27FC236}">
                  <a16:creationId xmlns:a16="http://schemas.microsoft.com/office/drawing/2014/main" id="{84C1D26F-5C8C-45DF-AD55-3A3F99BF62B7}"/>
                </a:ext>
              </a:extLst>
            </p:cNvPr>
            <p:cNvCxnSpPr/>
            <p:nvPr/>
          </p:nvCxnSpPr>
          <p:spPr>
            <a:xfrm>
              <a:off x="9500284" y="4653375"/>
              <a:ext cx="0" cy="198155"/>
            </a:xfrm>
            <a:prstGeom prst="line">
              <a:avLst/>
            </a:prstGeom>
            <a:solidFill>
              <a:sysClr val="window" lastClr="FFFFFF"/>
            </a:solidFill>
            <a:ln w="28575" cap="flat" cmpd="sng" algn="ctr">
              <a:solidFill>
                <a:srgbClr val="C00000"/>
              </a:solidFill>
              <a:prstDash val="solid"/>
              <a:miter lim="800000"/>
            </a:ln>
            <a:effectLst/>
          </p:spPr>
        </p:cxnSp>
      </p:grpSp>
      <p:sp>
        <p:nvSpPr>
          <p:cNvPr id="183" name="Textfeld 182">
            <a:extLst>
              <a:ext uri="{FF2B5EF4-FFF2-40B4-BE49-F238E27FC236}">
                <a16:creationId xmlns:a16="http://schemas.microsoft.com/office/drawing/2014/main" id="{78515621-2062-41F4-B63A-396266A4B243}"/>
              </a:ext>
            </a:extLst>
          </p:cNvPr>
          <p:cNvSpPr txBox="1"/>
          <p:nvPr/>
        </p:nvSpPr>
        <p:spPr>
          <a:xfrm>
            <a:off x="752475" y="1033600"/>
            <a:ext cx="44350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75" b="1">
                <a:solidFill>
                  <a:srgbClr val="AD8600"/>
                </a:solidFill>
                <a:latin typeface="Arial"/>
                <a:ea typeface="Arial"/>
                <a:cs typeface="Arial"/>
              </a:defRPr>
            </a:pPr>
            <a:r>
              <a:rPr kumimoji="0" lang="en-US" sz="2000" b="1" i="0" u="none" strike="noStrike" kern="1200" cap="none" spc="0" normalizeH="0" baseline="0" noProof="0">
                <a:ln>
                  <a:noFill/>
                </a:ln>
                <a:solidFill>
                  <a:srgbClr val="AD8600"/>
                </a:solidFill>
                <a:effectLst/>
                <a:uLnTx/>
                <a:uFillTx/>
                <a:latin typeface="Arial"/>
                <a:cs typeface="Arial"/>
              </a:rPr>
              <a:t>FCDT response strategies</a:t>
            </a:r>
          </a:p>
        </p:txBody>
      </p:sp>
      <p:sp>
        <p:nvSpPr>
          <p:cNvPr id="2" name="Textfeld 1">
            <a:extLst>
              <a:ext uri="{FF2B5EF4-FFF2-40B4-BE49-F238E27FC236}">
                <a16:creationId xmlns:a16="http://schemas.microsoft.com/office/drawing/2014/main" id="{EB415EAF-857B-441B-BC6B-363FA98CEFA7}"/>
              </a:ext>
            </a:extLst>
          </p:cNvPr>
          <p:cNvSpPr txBox="1"/>
          <p:nvPr/>
        </p:nvSpPr>
        <p:spPr>
          <a:xfrm>
            <a:off x="5230347" y="1627347"/>
            <a:ext cx="312450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Participants adhere to one of three strategies</a:t>
            </a:r>
          </a:p>
        </p:txBody>
      </p:sp>
      <p:sp>
        <p:nvSpPr>
          <p:cNvPr id="189" name="Textfeld 188">
            <a:extLst>
              <a:ext uri="{FF2B5EF4-FFF2-40B4-BE49-F238E27FC236}">
                <a16:creationId xmlns:a16="http://schemas.microsoft.com/office/drawing/2014/main" id="{E52A5178-6D17-410F-95CA-D6466EDB09F5}"/>
              </a:ext>
            </a:extLst>
          </p:cNvPr>
          <p:cNvSpPr txBox="1"/>
          <p:nvPr/>
        </p:nvSpPr>
        <p:spPr>
          <a:xfrm>
            <a:off x="1489436" y="4028007"/>
            <a:ext cx="6165128"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AD8600"/>
                </a:solidFill>
                <a:effectLst/>
                <a:uLnTx/>
                <a:uFillTx/>
                <a:latin typeface="Arial"/>
                <a:ea typeface="+mn-ea"/>
                <a:cs typeface="Arial"/>
              </a:rPr>
              <a:t>How can we explain the strategies’ formation? </a:t>
            </a:r>
          </a:p>
          <a:p>
            <a:pPr marL="285750" marR="0" lvl="0" indent="-285750" algn="ctr"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Novel experimental work and theoretical approaches</a:t>
            </a:r>
          </a:p>
        </p:txBody>
      </p:sp>
    </p:spTree>
    <p:extLst>
      <p:ext uri="{BB962C8B-B14F-4D97-AF65-F5344CB8AC3E}">
        <p14:creationId xmlns:p14="http://schemas.microsoft.com/office/powerpoint/2010/main" val="4121813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B4B471EB-3919-409C-B1F7-F27E7D00D225}"/>
              </a:ext>
            </a:extLst>
          </p:cNvPr>
          <p:cNvSpPr>
            <a:spLocks noGrp="1"/>
          </p:cNvSpPr>
          <p:nvPr/>
        </p:nvSpPr>
        <p:spPr>
          <a:xfrm>
            <a:off x="752475" y="3137605"/>
            <a:ext cx="7810500" cy="1252581"/>
          </a:xfrm>
          <a:prstGeom prst="rect">
            <a:avLst/>
          </a:prstGeom>
          <a:noFill/>
          <a:ln w="0">
            <a:noFill/>
          </a:ln>
        </p:spPr>
        <p:txBody>
          <a:bodyPr lIns="0" tIns="0" rIns="0" bIns="0" anchor="t">
            <a:no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dirty="0">
                <a:ln>
                  <a:noFill/>
                </a:ln>
                <a:solidFill>
                  <a:srgbClr val="111111"/>
                </a:solidFill>
                <a:effectLst/>
                <a:uLnTx/>
                <a:uFillTx/>
                <a:latin typeface="Arial"/>
                <a:ea typeface="Arial"/>
                <a:cs typeface="Arial"/>
              </a:rPr>
              <a:t>Behavioral assessment of response strategies with experimental manipulations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dirty="0">
                <a:ln>
                  <a:noFill/>
                </a:ln>
                <a:solidFill>
                  <a:srgbClr val="111111"/>
                </a:solidFill>
                <a:effectLst/>
                <a:uLnTx/>
                <a:uFillTx/>
                <a:latin typeface="Arial"/>
                <a:ea typeface="Arial"/>
                <a:cs typeface="Arial"/>
              </a:rPr>
              <a:t>EEG markers of error and reward sensitivity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dirty="0">
                <a:ln>
                  <a:noFill/>
                </a:ln>
                <a:solidFill>
                  <a:srgbClr val="111111"/>
                </a:solidFill>
                <a:effectLst/>
                <a:uLnTx/>
                <a:uFillTx/>
                <a:latin typeface="Arial"/>
                <a:ea typeface="Arial"/>
                <a:cs typeface="Arial"/>
              </a:rPr>
              <a:t>Questionnaires for self-reported preferences, cognitive tasks</a:t>
            </a:r>
          </a:p>
          <a:p>
            <a:pPr marL="0" marR="0" lvl="0" indent="0" algn="l" defTabSz="914400" rtl="0" eaLnBrk="1" fontAlgn="auto" latinLnBrk="0" hangingPunct="1">
              <a:lnSpc>
                <a:spcPct val="100000"/>
              </a:lnSpc>
              <a:spcBef>
                <a:spcPts val="0"/>
              </a:spcBef>
              <a:spcAft>
                <a:spcPts val="0"/>
              </a:spcAft>
              <a:buClrTx/>
              <a:buSzTx/>
              <a:buFontTx/>
              <a:buNone/>
              <a:tabLst/>
              <a:defRPr sz="1875" b="0">
                <a:solidFill>
                  <a:srgbClr val="111111"/>
                </a:solidFill>
                <a:latin typeface="Arial"/>
                <a:ea typeface="Arial"/>
                <a:cs typeface="Arial"/>
              </a:defRPr>
            </a:pPr>
            <a:endParaRPr kumimoji="0" lang="en-US" sz="1875" b="0" i="0" u="none" strike="noStrike" kern="1200" cap="none" spc="0" normalizeH="0" baseline="0" noProof="0" dirty="0">
              <a:ln>
                <a:noFill/>
              </a:ln>
              <a:solidFill>
                <a:srgbClr val="111111"/>
              </a:solidFill>
              <a:effectLst/>
              <a:uLnTx/>
              <a:uFillTx/>
              <a:latin typeface="Arial"/>
              <a:ea typeface="Arial"/>
              <a:cs typeface="Arial"/>
            </a:endParaRPr>
          </a:p>
        </p:txBody>
      </p:sp>
      <p:sp>
        <p:nvSpPr>
          <p:cNvPr id="10" name="Rechteck 9">
            <a:extLst>
              <a:ext uri="{FF2B5EF4-FFF2-40B4-BE49-F238E27FC236}">
                <a16:creationId xmlns:a16="http://schemas.microsoft.com/office/drawing/2014/main" id="{7EBF8906-DCF3-4877-A220-866DCBB95937}"/>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sz="2800" b="0" i="0" u="none" strike="noStrike" kern="1200" cap="none" spc="0" normalizeH="0" baseline="0" noProof="0">
                <a:ln>
                  <a:noFill/>
                </a:ln>
                <a:solidFill>
                  <a:srgbClr val="111111"/>
                </a:solidFill>
                <a:effectLst/>
                <a:uLnTx/>
                <a:uFillTx/>
                <a:latin typeface="Arial"/>
                <a:ea typeface="Arial"/>
                <a:cs typeface="Arial"/>
              </a:rPr>
              <a:t>Candidate </a:t>
            </a:r>
            <a:r>
              <a:rPr kumimoji="0" lang="de-DE" sz="2800" b="0" i="0" u="none" strike="noStrike" kern="1200" cap="none" spc="0" normalizeH="0" baseline="0" noProof="0">
                <a:ln>
                  <a:noFill/>
                </a:ln>
                <a:solidFill>
                  <a:srgbClr val="111111"/>
                </a:solidFill>
                <a:effectLst/>
                <a:uLnTx/>
                <a:uFillTx/>
                <a:latin typeface="Arial"/>
                <a:ea typeface="Arial"/>
                <a:cs typeface="Arial"/>
              </a:rPr>
              <a:t>D</a:t>
            </a:r>
            <a:r>
              <a:rPr kumimoji="0" sz="2800" b="0" i="0" u="none" strike="noStrike" kern="1200" cap="none" spc="0" normalizeH="0" baseline="0" noProof="0" err="1">
                <a:ln>
                  <a:noFill/>
                </a:ln>
                <a:solidFill>
                  <a:srgbClr val="111111"/>
                </a:solidFill>
                <a:effectLst/>
                <a:uLnTx/>
                <a:uFillTx/>
                <a:latin typeface="Arial"/>
                <a:ea typeface="Arial"/>
                <a:cs typeface="Arial"/>
              </a:rPr>
              <a:t>eterminants</a:t>
            </a:r>
            <a:r>
              <a:rPr kumimoji="0" sz="2800" b="0" i="0" u="none" strike="noStrike" kern="1200" cap="none" spc="0" normalizeH="0" baseline="0" noProof="0">
                <a:ln>
                  <a:noFill/>
                </a:ln>
                <a:solidFill>
                  <a:srgbClr val="111111"/>
                </a:solidFill>
                <a:effectLst/>
                <a:uLnTx/>
                <a:uFillTx/>
                <a:latin typeface="Arial"/>
                <a:ea typeface="Arial"/>
                <a:cs typeface="Arial"/>
              </a:rPr>
              <a:t> of </a:t>
            </a:r>
            <a:r>
              <a:rPr kumimoji="0" lang="de-DE" sz="2800" b="0" i="0" u="none" strike="noStrike" kern="1200" cap="none" spc="0" normalizeH="0" baseline="0" noProof="0">
                <a:ln>
                  <a:noFill/>
                </a:ln>
                <a:solidFill>
                  <a:srgbClr val="111111"/>
                </a:solidFill>
                <a:effectLst/>
                <a:uLnTx/>
                <a:uFillTx/>
                <a:latin typeface="Arial"/>
                <a:ea typeface="Arial"/>
                <a:cs typeface="Arial"/>
              </a:rPr>
              <a:t>S</a:t>
            </a:r>
            <a:r>
              <a:rPr kumimoji="0" sz="2800" b="0" i="0" u="none" strike="noStrike" kern="1200" cap="none" spc="0" normalizeH="0" baseline="0" noProof="0" err="1">
                <a:ln>
                  <a:noFill/>
                </a:ln>
                <a:solidFill>
                  <a:srgbClr val="111111"/>
                </a:solidFill>
                <a:effectLst/>
                <a:uLnTx/>
                <a:uFillTx/>
                <a:latin typeface="Arial"/>
                <a:ea typeface="Arial"/>
                <a:cs typeface="Arial"/>
              </a:rPr>
              <a:t>trategy</a:t>
            </a:r>
            <a:r>
              <a:rPr kumimoji="0" sz="2800" b="0" i="0" u="none" strike="noStrike" kern="1200" cap="none" spc="0" normalizeH="0" baseline="0" noProof="0">
                <a:ln>
                  <a:noFill/>
                </a:ln>
                <a:solidFill>
                  <a:srgbClr val="111111"/>
                </a:solidFill>
                <a:effectLst/>
                <a:uLnTx/>
                <a:uFillTx/>
                <a:latin typeface="Arial"/>
                <a:ea typeface="Arial"/>
                <a:cs typeface="Arial"/>
              </a:rPr>
              <a:t> </a:t>
            </a:r>
            <a:r>
              <a:rPr kumimoji="0" lang="de-DE" sz="2800" b="0" i="0" u="none" strike="noStrike" kern="1200" cap="none" spc="0" normalizeH="0" baseline="0" noProof="0">
                <a:ln>
                  <a:noFill/>
                </a:ln>
                <a:solidFill>
                  <a:srgbClr val="111111"/>
                </a:solidFill>
                <a:effectLst/>
                <a:uLnTx/>
                <a:uFillTx/>
                <a:latin typeface="Arial"/>
                <a:ea typeface="Arial"/>
                <a:cs typeface="Arial"/>
              </a:rPr>
              <a:t>F</a:t>
            </a:r>
            <a:r>
              <a:rPr kumimoji="0" sz="2800" b="0" i="0" u="none" strike="noStrike" kern="1200" cap="none" spc="0" normalizeH="0" baseline="0" noProof="0" err="1">
                <a:ln>
                  <a:noFill/>
                </a:ln>
                <a:solidFill>
                  <a:srgbClr val="111111"/>
                </a:solidFill>
                <a:effectLst/>
                <a:uLnTx/>
                <a:uFillTx/>
                <a:latin typeface="Arial"/>
                <a:ea typeface="Arial"/>
                <a:cs typeface="Arial"/>
              </a:rPr>
              <a:t>ormation</a:t>
            </a:r>
            <a:endParaRPr kumimoji="0" sz="2800" b="0" i="0" u="none" strike="noStrike" kern="1200" cap="none" spc="0" normalizeH="0" baseline="0" noProof="0">
              <a:ln>
                <a:noFill/>
              </a:ln>
              <a:solidFill>
                <a:srgbClr val="111111"/>
              </a:solidFill>
              <a:effectLst/>
              <a:uLnTx/>
              <a:uFillTx/>
              <a:latin typeface="Arial"/>
              <a:ea typeface="Arial"/>
              <a:cs typeface="Arial"/>
            </a:endParaRPr>
          </a:p>
        </p:txBody>
      </p:sp>
      <p:sp>
        <p:nvSpPr>
          <p:cNvPr id="2" name="Rechteck 1">
            <a:extLst>
              <a:ext uri="{FF2B5EF4-FFF2-40B4-BE49-F238E27FC236}">
                <a16:creationId xmlns:a16="http://schemas.microsoft.com/office/drawing/2014/main" id="{F9B7FC69-B85E-4249-9DE9-EED447BC7E08}"/>
              </a:ext>
            </a:extLst>
          </p:cNvPr>
          <p:cNvSpPr>
            <a:spLocks noGrp="1"/>
          </p:cNvSpPr>
          <p:nvPr/>
        </p:nvSpPr>
        <p:spPr>
          <a:xfrm>
            <a:off x="752475" y="1100139"/>
            <a:ext cx="7810500" cy="3524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1">
                <a:solidFill>
                  <a:srgbClr val="AD8600"/>
                </a:solidFill>
                <a:latin typeface="Arial"/>
                <a:ea typeface="Arial"/>
                <a:cs typeface="Arial"/>
              </a:defRPr>
            </a:pPr>
            <a:r>
              <a:rPr kumimoji="0" lang="en-US" sz="2100" b="1" i="0" u="none" strike="noStrike" kern="1200" cap="none" spc="0" normalizeH="0" baseline="0" noProof="0">
                <a:ln>
                  <a:noFill/>
                </a:ln>
                <a:solidFill>
                  <a:srgbClr val="AD8600"/>
                </a:solidFill>
                <a:effectLst/>
                <a:uLnTx/>
                <a:uFillTx/>
                <a:latin typeface="Arial"/>
                <a:ea typeface="Arial"/>
                <a:cs typeface="Arial"/>
              </a:rPr>
              <a:t>Objectives</a:t>
            </a:r>
            <a:endParaRPr kumimoji="0" sz="2100" b="1" i="0" u="none" strike="noStrike" kern="1200" cap="none" spc="0" normalizeH="0" baseline="0" noProof="0">
              <a:ln>
                <a:noFill/>
              </a:ln>
              <a:solidFill>
                <a:srgbClr val="AD8600"/>
              </a:solidFill>
              <a:effectLst/>
              <a:uLnTx/>
              <a:uFillTx/>
              <a:latin typeface="Arial"/>
              <a:ea typeface="Arial"/>
              <a:cs typeface="Arial"/>
            </a:endParaRPr>
          </a:p>
        </p:txBody>
      </p:sp>
      <p:sp>
        <p:nvSpPr>
          <p:cNvPr id="3" name="Rechteck 2">
            <a:extLst>
              <a:ext uri="{FF2B5EF4-FFF2-40B4-BE49-F238E27FC236}">
                <a16:creationId xmlns:a16="http://schemas.microsoft.com/office/drawing/2014/main" id="{A9532E6C-0B0C-421F-B8A6-F6F41B90DC9D}"/>
              </a:ext>
            </a:extLst>
          </p:cNvPr>
          <p:cNvSpPr>
            <a:spLocks noGrp="1"/>
          </p:cNvSpPr>
          <p:nvPr/>
        </p:nvSpPr>
        <p:spPr>
          <a:xfrm>
            <a:off x="752475" y="1566847"/>
            <a:ext cx="7810500" cy="900116"/>
          </a:xfrm>
          <a:prstGeom prst="rect">
            <a:avLst/>
          </a:prstGeom>
          <a:noFill/>
          <a:ln w="0">
            <a:noFill/>
          </a:ln>
        </p:spPr>
        <p:txBody>
          <a:bodyPr lIns="0" tIns="0" rIns="0" bIns="0" anchor="t">
            <a:no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a:ln>
                  <a:noFill/>
                </a:ln>
                <a:solidFill>
                  <a:srgbClr val="111111"/>
                </a:solidFill>
                <a:effectLst/>
                <a:uLnTx/>
                <a:uFillTx/>
                <a:latin typeface="Arial"/>
                <a:cs typeface="Arial"/>
              </a:rPr>
              <a:t>Learning and error sensitivity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a:ln>
                  <a:noFill/>
                </a:ln>
                <a:solidFill>
                  <a:srgbClr val="111111"/>
                </a:solidFill>
                <a:effectLst/>
                <a:uLnTx/>
                <a:uFillTx/>
                <a:latin typeface="Arial"/>
                <a:cs typeface="Arial"/>
              </a:rPr>
              <a:t>Motivation and reward sensitivity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a:ln>
                  <a:noFill/>
                </a:ln>
                <a:solidFill>
                  <a:srgbClr val="111111"/>
                </a:solidFill>
                <a:effectLst/>
                <a:uLnTx/>
                <a:uFillTx/>
                <a:latin typeface="Arial"/>
                <a:cs typeface="Arial"/>
              </a:rPr>
              <a:t>Psychological traits, preferences, and cognitive ability</a:t>
            </a:r>
          </a:p>
        </p:txBody>
      </p:sp>
      <p:sp>
        <p:nvSpPr>
          <p:cNvPr id="4" name="Rechteck 3">
            <a:extLst>
              <a:ext uri="{FF2B5EF4-FFF2-40B4-BE49-F238E27FC236}">
                <a16:creationId xmlns:a16="http://schemas.microsoft.com/office/drawing/2014/main" id="{0DC555EE-BC85-4D96-A895-DD5121252171}"/>
              </a:ext>
            </a:extLst>
          </p:cNvPr>
          <p:cNvSpPr>
            <a:spLocks noGrp="1"/>
          </p:cNvSpPr>
          <p:nvPr/>
        </p:nvSpPr>
        <p:spPr>
          <a:xfrm>
            <a:off x="752475" y="2670896"/>
            <a:ext cx="7810500" cy="3524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1">
                <a:solidFill>
                  <a:srgbClr val="AD8600"/>
                </a:solidFill>
                <a:latin typeface="Arial"/>
                <a:ea typeface="Arial"/>
                <a:cs typeface="Arial"/>
              </a:defRPr>
            </a:pPr>
            <a:r>
              <a:rPr kumimoji="0" lang="en-US" sz="2100" b="1" i="0" u="none" strike="noStrike" kern="1200" cap="none" spc="0" normalizeH="0" baseline="0" noProof="0">
                <a:ln>
                  <a:noFill/>
                </a:ln>
                <a:solidFill>
                  <a:srgbClr val="AD8600"/>
                </a:solidFill>
                <a:effectLst/>
                <a:uLnTx/>
                <a:uFillTx/>
                <a:latin typeface="Arial"/>
                <a:ea typeface="Arial"/>
                <a:cs typeface="Arial"/>
              </a:rPr>
              <a:t>Empirical approach </a:t>
            </a:r>
          </a:p>
        </p:txBody>
      </p:sp>
      <p:sp>
        <p:nvSpPr>
          <p:cNvPr id="9" name="Rechteck 8">
            <a:extLst>
              <a:ext uri="{FF2B5EF4-FFF2-40B4-BE49-F238E27FC236}">
                <a16:creationId xmlns:a16="http://schemas.microsoft.com/office/drawing/2014/main" id="{CD643949-5E8E-430B-BF80-9E0C5933124D}"/>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4</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Tree>
    <p:extLst>
      <p:ext uri="{BB962C8B-B14F-4D97-AF65-F5344CB8AC3E}">
        <p14:creationId xmlns:p14="http://schemas.microsoft.com/office/powerpoint/2010/main" val="131494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6D12FFA5-0DDB-4246-8336-0D3FD151A38A}"/>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ea typeface="Arial"/>
                <a:cs typeface="Arial"/>
              </a:rPr>
              <a:t>WP 1.1</a:t>
            </a:r>
            <a:r>
              <a:rPr kumimoji="0" sz="2800" b="0" i="0" u="none" strike="noStrike" kern="1200" cap="none" spc="0" normalizeH="0" baseline="0" noProof="0">
                <a:ln>
                  <a:noFill/>
                </a:ln>
                <a:solidFill>
                  <a:srgbClr val="111111"/>
                </a:solidFill>
                <a:effectLst/>
                <a:uLnTx/>
                <a:uFillTx/>
                <a:latin typeface="Arial"/>
                <a:ea typeface="Arial"/>
                <a:cs typeface="Arial"/>
              </a:rPr>
              <a:t>: </a:t>
            </a:r>
            <a:r>
              <a:rPr kumimoji="0" lang="en-US" sz="2800" b="0" i="0" u="none" strike="noStrike" kern="1200" cap="none" spc="0" normalizeH="0" baseline="0" noProof="0">
                <a:ln>
                  <a:noFill/>
                </a:ln>
                <a:solidFill>
                  <a:srgbClr val="111111"/>
                </a:solidFill>
                <a:effectLst/>
                <a:uLnTx/>
                <a:uFillTx/>
                <a:latin typeface="Arial"/>
                <a:ea typeface="Arial"/>
                <a:cs typeface="Arial"/>
              </a:rPr>
              <a:t>Learning Ability and Error Sensitivity</a:t>
            </a:r>
            <a:endParaRPr kumimoji="0" sz="2800" b="0" i="0" u="none" strike="noStrike" kern="1200" cap="none" spc="0" normalizeH="0" baseline="0" noProof="0">
              <a:ln>
                <a:noFill/>
              </a:ln>
              <a:solidFill>
                <a:srgbClr val="111111"/>
              </a:solidFill>
              <a:effectLst/>
              <a:uLnTx/>
              <a:uFillTx/>
              <a:latin typeface="Arial"/>
              <a:ea typeface="Arial"/>
              <a:cs typeface="Arial"/>
            </a:endParaRPr>
          </a:p>
        </p:txBody>
      </p:sp>
      <p:sp>
        <p:nvSpPr>
          <p:cNvPr id="3" name="Rechteck 2">
            <a:extLst>
              <a:ext uri="{FF2B5EF4-FFF2-40B4-BE49-F238E27FC236}">
                <a16:creationId xmlns:a16="http://schemas.microsoft.com/office/drawing/2014/main" id="{E897C1D7-D451-4651-BDA4-4A955BDD1B58}"/>
              </a:ext>
            </a:extLst>
          </p:cNvPr>
          <p:cNvSpPr>
            <a:spLocks noGrp="1"/>
          </p:cNvSpPr>
          <p:nvPr/>
        </p:nvSpPr>
        <p:spPr>
          <a:xfrm>
            <a:off x="762000" y="1247774"/>
            <a:ext cx="3810000" cy="381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AD8600"/>
                </a:solidFill>
                <a:latin typeface="Arial"/>
                <a:ea typeface="Arial"/>
                <a:cs typeface="Arial"/>
              </a:defRPr>
            </a:pPr>
            <a:r>
              <a:rPr kumimoji="0" lang="de-DE" sz="2000" b="1" i="0" u="none" strike="noStrike" kern="1200" cap="none" spc="0" normalizeH="0" baseline="0" noProof="0" dirty="0" err="1">
                <a:ln>
                  <a:noFill/>
                </a:ln>
                <a:solidFill>
                  <a:srgbClr val="AD8600"/>
                </a:solidFill>
                <a:effectLst/>
                <a:uLnTx/>
                <a:uFillTx/>
                <a:latin typeface="Arial"/>
                <a:ea typeface="Arial"/>
                <a:cs typeface="Arial"/>
              </a:rPr>
              <a:t>Exp</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1a</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Strategy development</a:t>
            </a:r>
          </a:p>
        </p:txBody>
      </p:sp>
      <p:sp>
        <p:nvSpPr>
          <p:cNvPr id="4" name="Rechteck 3">
            <a:extLst>
              <a:ext uri="{FF2B5EF4-FFF2-40B4-BE49-F238E27FC236}">
                <a16:creationId xmlns:a16="http://schemas.microsoft.com/office/drawing/2014/main" id="{E39993EF-4B66-4891-8B5C-51B62B934B2E}"/>
              </a:ext>
            </a:extLst>
          </p:cNvPr>
          <p:cNvSpPr>
            <a:spLocks noGrp="1"/>
          </p:cNvSpPr>
          <p:nvPr/>
        </p:nvSpPr>
        <p:spPr>
          <a:xfrm>
            <a:off x="762000" y="1762124"/>
            <a:ext cx="3667125" cy="136207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Extended FCDT practice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111111"/>
              </a:solidFill>
              <a:effectLst/>
              <a:uLnTx/>
              <a:uFillTx/>
              <a:latin typeface="Arial"/>
              <a:ea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lang="en-US" sz="1800" b="0" i="0" u="none" strike="noStrike" kern="1200" cap="none" spc="0" normalizeH="0" baseline="0" dirty="0">
                <a:ln>
                  <a:noFill/>
                </a:ln>
                <a:solidFill>
                  <a:srgbClr val="111111"/>
                </a:solidFill>
                <a:effectLst/>
                <a:uLnTx/>
                <a:uFillTx/>
                <a:latin typeface="Arial"/>
                <a:ea typeface="Arial"/>
                <a:cs typeface="Arial"/>
              </a:rPr>
              <a:t>Explore</a:t>
            </a:r>
            <a:r>
              <a:rPr kumimoji="0" sz="1800" b="0" i="0" u="none" strike="noStrike" kern="1200" cap="none" spc="0" normalizeH="0" baseline="0" noProof="0" dirty="0">
                <a:ln>
                  <a:noFill/>
                </a:ln>
                <a:solidFill>
                  <a:srgbClr val="111111"/>
                </a:solidFill>
                <a:effectLst/>
                <a:uLnTx/>
                <a:uFillTx/>
                <a:latin typeface="Arial"/>
                <a:ea typeface="Arial"/>
                <a:cs typeface="Arial"/>
              </a:rPr>
              <a:t> changes in response times,</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errors and strategy use</a:t>
            </a:r>
          </a:p>
        </p:txBody>
      </p:sp>
      <p:sp>
        <p:nvSpPr>
          <p:cNvPr id="5" name="Rechteck 4">
            <a:extLst>
              <a:ext uri="{FF2B5EF4-FFF2-40B4-BE49-F238E27FC236}">
                <a16:creationId xmlns:a16="http://schemas.microsoft.com/office/drawing/2014/main" id="{AD4E55F0-2062-4167-A02C-3187DA126A89}"/>
              </a:ext>
            </a:extLst>
          </p:cNvPr>
          <p:cNvSpPr>
            <a:spLocks noGrp="1"/>
          </p:cNvSpPr>
          <p:nvPr/>
        </p:nvSpPr>
        <p:spPr>
          <a:xfrm>
            <a:off x="4995025" y="1247774"/>
            <a:ext cx="3667125" cy="381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AD8600"/>
                </a:solidFill>
                <a:latin typeface="Arial"/>
                <a:ea typeface="Arial"/>
                <a:cs typeface="Arial"/>
              </a:defRPr>
            </a:pPr>
            <a:r>
              <a:rPr kumimoji="0" lang="de-DE" sz="2000" b="1" i="0" u="none" strike="noStrike" kern="1200" cap="none" spc="0" normalizeH="0" baseline="0" noProof="0" dirty="0" err="1">
                <a:ln>
                  <a:noFill/>
                </a:ln>
                <a:solidFill>
                  <a:srgbClr val="AD8600"/>
                </a:solidFill>
                <a:effectLst/>
                <a:uLnTx/>
                <a:uFillTx/>
                <a:latin typeface="Arial"/>
                <a:ea typeface="Arial"/>
                <a:cs typeface="Arial"/>
              </a:rPr>
              <a:t>Exp</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1b</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Task difficulty</a:t>
            </a:r>
          </a:p>
        </p:txBody>
      </p:sp>
      <p:sp>
        <p:nvSpPr>
          <p:cNvPr id="6" name="Rechteck 5">
            <a:extLst>
              <a:ext uri="{FF2B5EF4-FFF2-40B4-BE49-F238E27FC236}">
                <a16:creationId xmlns:a16="http://schemas.microsoft.com/office/drawing/2014/main" id="{A1518690-DCF8-4322-A9B0-7EEAA01D43CB}"/>
              </a:ext>
            </a:extLst>
          </p:cNvPr>
          <p:cNvSpPr>
            <a:spLocks noGrp="1"/>
          </p:cNvSpPr>
          <p:nvPr/>
        </p:nvSpPr>
        <p:spPr>
          <a:xfrm>
            <a:off x="4995025" y="1762124"/>
            <a:ext cx="3667125" cy="147637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Easy versus difficult</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letter and color classifications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111111"/>
              </a:solidFill>
              <a:effectLst/>
              <a:uLnTx/>
              <a:uFillTx/>
              <a:latin typeface="Arial"/>
              <a:ea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Test difficulty × strategy effects</a:t>
            </a:r>
          </a:p>
        </p:txBody>
      </p:sp>
      <p:sp>
        <p:nvSpPr>
          <p:cNvPr id="7" name="Rechteck 6">
            <a:extLst>
              <a:ext uri="{FF2B5EF4-FFF2-40B4-BE49-F238E27FC236}">
                <a16:creationId xmlns:a16="http://schemas.microsoft.com/office/drawing/2014/main" id="{0D01CB00-7B89-4C96-9D01-064ABEC20B6F}"/>
              </a:ext>
            </a:extLst>
          </p:cNvPr>
          <p:cNvSpPr>
            <a:spLocks noGrp="1"/>
          </p:cNvSpPr>
          <p:nvPr/>
        </p:nvSpPr>
        <p:spPr>
          <a:xfrm>
            <a:off x="714372" y="3257549"/>
            <a:ext cx="7858125" cy="582986"/>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r>
              <a:rPr kumimoji="0" sz="1600" b="1" i="0" u="none" strike="noStrike" kern="1200" cap="none" spc="0" normalizeH="0" baseline="0" noProof="0">
                <a:ln>
                  <a:noFill/>
                </a:ln>
                <a:solidFill>
                  <a:srgbClr val="111111"/>
                </a:solidFill>
                <a:effectLst/>
                <a:uLnTx/>
                <a:uFillTx/>
                <a:latin typeface="Arial"/>
                <a:cs typeface="Arial"/>
              </a:rPr>
              <a:t>EEG during FCDT and a separate flanker task</a:t>
            </a:r>
            <a:r>
              <a:rPr kumimoji="0" lang="de-DE" sz="1600" b="1" i="0" u="none" strike="noStrike" kern="1200" cap="none" spc="0" normalizeH="0" baseline="0" noProof="0">
                <a:ln>
                  <a:noFill/>
                </a:ln>
                <a:solidFill>
                  <a:srgbClr val="111111"/>
                </a:solidFill>
                <a:effectLst/>
                <a:uLnTx/>
                <a:uFillTx/>
                <a:latin typeface="Arial"/>
                <a:cs typeface="Arial"/>
              </a:rPr>
              <a:t>; </a:t>
            </a:r>
            <a:r>
              <a:rPr kumimoji="0" lang="de-DE" sz="1600" b="0" i="0" u="none" strike="noStrike" kern="1200" cap="none" spc="0" normalizeH="0" baseline="0" noProof="0">
                <a:ln>
                  <a:noFill/>
                </a:ln>
                <a:solidFill>
                  <a:srgbClr val="111111"/>
                </a:solidFill>
                <a:effectLst/>
                <a:uLnTx/>
                <a:uFillTx/>
                <a:latin typeface="Arial"/>
                <a:cs typeface="Arial"/>
              </a:rPr>
              <a:t>N = 90 per </a:t>
            </a:r>
            <a:r>
              <a:rPr kumimoji="0" lang="en-US" sz="1600" b="0" i="0" u="none" strike="noStrike" kern="1200" cap="none" spc="0" normalizeH="0" baseline="0" noProof="0">
                <a:ln>
                  <a:noFill/>
                </a:ln>
                <a:solidFill>
                  <a:srgbClr val="111111"/>
                </a:solidFill>
                <a:effectLst/>
                <a:uLnTx/>
                <a:uFillTx/>
                <a:latin typeface="Arial"/>
                <a:cs typeface="Arial"/>
              </a:rPr>
              <a:t>experiment</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r>
              <a:rPr kumimoji="0" lang="en-US" sz="1600" b="0" i="0" u="sng" strike="noStrike" kern="1200" cap="none" spc="0" normalizeH="0" baseline="0" noProof="0">
                <a:ln>
                  <a:noFill/>
                </a:ln>
                <a:solidFill>
                  <a:srgbClr val="111111"/>
                </a:solidFill>
                <a:effectLst/>
                <a:uLnTx/>
                <a:uFillTx/>
                <a:latin typeface="Arial"/>
                <a:ea typeface="Arial"/>
                <a:cs typeface="Arial"/>
              </a:rPr>
              <a:t>Key variables:</a:t>
            </a:r>
            <a:r>
              <a:rPr kumimoji="0" lang="en-US" sz="1600" b="0" i="0" u="none" strike="noStrike" kern="1200" cap="none" spc="0" normalizeH="0" baseline="0" noProof="0">
                <a:ln>
                  <a:noFill/>
                </a:ln>
                <a:solidFill>
                  <a:srgbClr val="111111"/>
                </a:solidFill>
                <a:effectLst/>
                <a:uLnTx/>
                <a:uFillTx/>
                <a:latin typeface="Arial"/>
                <a:ea typeface="Arial"/>
                <a:cs typeface="Arial"/>
              </a:rPr>
              <a:t> response times, error rates, error-related negativity</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endParaRPr kumimoji="0" lang="de-DE" sz="1600" b="0" i="0" u="none" strike="noStrike" kern="1200" cap="none" spc="0" normalizeH="0" baseline="0" noProof="0">
              <a:ln>
                <a:noFill/>
              </a:ln>
              <a:solidFill>
                <a:srgbClr val="111111"/>
              </a:solidFill>
              <a:effectLst/>
              <a:uLnTx/>
              <a:uFillTx/>
              <a:latin typeface="Arial"/>
              <a:cs typeface="Arial"/>
            </a:endParaRPr>
          </a:p>
        </p:txBody>
      </p:sp>
      <p:sp>
        <p:nvSpPr>
          <p:cNvPr id="8" name="Rechteck 7">
            <a:extLst>
              <a:ext uri="{FF2B5EF4-FFF2-40B4-BE49-F238E27FC236}">
                <a16:creationId xmlns:a16="http://schemas.microsoft.com/office/drawing/2014/main" id="{1E523913-2979-4A23-A19A-CFB23339034B}"/>
              </a:ext>
            </a:extLst>
          </p:cNvPr>
          <p:cNvSpPr>
            <a:spLocks noGrp="1"/>
          </p:cNvSpPr>
          <p:nvPr/>
        </p:nvSpPr>
        <p:spPr>
          <a:xfrm>
            <a:off x="714372" y="3989014"/>
            <a:ext cx="7858125" cy="582986"/>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AD8600"/>
                </a:solidFill>
                <a:latin typeface="Arial"/>
                <a:ea typeface="Arial"/>
                <a:cs typeface="Arial"/>
              </a:defRPr>
            </a:pPr>
            <a:r>
              <a:rPr kumimoji="0" sz="1600" b="1" i="0" u="none" strike="noStrike" kern="1200" cap="none" spc="0" normalizeH="0" baseline="0" noProof="0">
                <a:ln>
                  <a:noFill/>
                </a:ln>
                <a:solidFill>
                  <a:srgbClr val="AD8600"/>
                </a:solidFill>
                <a:effectLst/>
                <a:uLnTx/>
                <a:uFillTx/>
                <a:latin typeface="Arial"/>
                <a:ea typeface="Arial"/>
                <a:cs typeface="Arial"/>
              </a:rPr>
              <a:t>Prediction: greater learning gains and larger ERN magnitude in </a:t>
            </a:r>
            <a:r>
              <a:rPr kumimoji="0" lang="de-DE" sz="1600" b="1" i="0" u="none" strike="noStrike" kern="1200" cap="none" spc="0" normalizeH="0" baseline="0" noProof="0" err="1">
                <a:ln>
                  <a:noFill/>
                </a:ln>
                <a:solidFill>
                  <a:srgbClr val="AD8600"/>
                </a:solidFill>
                <a:effectLst/>
                <a:uLnTx/>
                <a:uFillTx/>
                <a:latin typeface="Arial"/>
                <a:ea typeface="Arial"/>
                <a:cs typeface="Arial"/>
              </a:rPr>
              <a:t>switchers</a:t>
            </a:r>
            <a:r>
              <a:rPr kumimoji="0" lang="de-DE" sz="1600" b="1" i="0" u="none" strike="noStrike" kern="1200" cap="none" spc="0" normalizeH="0" baseline="0" noProof="0">
                <a:ln>
                  <a:noFill/>
                </a:ln>
                <a:solidFill>
                  <a:srgbClr val="AD8600"/>
                </a:solidFill>
                <a:effectLst/>
                <a:uLnTx/>
                <a:uFillTx/>
                <a:latin typeface="Arial"/>
                <a:ea typeface="Arial"/>
                <a:cs typeface="Arial"/>
              </a:rPr>
              <a:t> and </a:t>
            </a:r>
            <a:r>
              <a:rPr kumimoji="0" lang="de-DE" sz="1600" b="1" i="0" u="none" strike="noStrike" kern="1200" cap="none" spc="0" normalizeH="0" baseline="0" noProof="0" err="1">
                <a:ln>
                  <a:noFill/>
                </a:ln>
                <a:solidFill>
                  <a:srgbClr val="AD8600"/>
                </a:solidFill>
                <a:effectLst/>
                <a:uLnTx/>
                <a:uFillTx/>
                <a:latin typeface="Arial"/>
                <a:ea typeface="Arial"/>
                <a:cs typeface="Arial"/>
              </a:rPr>
              <a:t>response</a:t>
            </a:r>
            <a:r>
              <a:rPr kumimoji="0" lang="de-DE" sz="1600" b="1" i="0" u="none" strike="noStrike" kern="1200" cap="none" spc="0" normalizeH="0" baseline="0" noProof="0">
                <a:ln>
                  <a:noFill/>
                </a:ln>
                <a:solidFill>
                  <a:srgbClr val="AD8600"/>
                </a:solidFill>
                <a:effectLst/>
                <a:uLnTx/>
                <a:uFillTx/>
                <a:latin typeface="Arial"/>
                <a:ea typeface="Arial"/>
                <a:cs typeface="Arial"/>
              </a:rPr>
              <a:t> </a:t>
            </a:r>
            <a:r>
              <a:rPr kumimoji="0" lang="de-DE" sz="1600" b="1" i="0" u="none" strike="noStrike" kern="1200" cap="none" spc="0" normalizeH="0" baseline="0" noProof="0" err="1">
                <a:ln>
                  <a:noFill/>
                </a:ln>
                <a:solidFill>
                  <a:srgbClr val="AD8600"/>
                </a:solidFill>
                <a:effectLst/>
                <a:uLnTx/>
                <a:uFillTx/>
                <a:latin typeface="Arial"/>
                <a:ea typeface="Arial"/>
                <a:cs typeface="Arial"/>
              </a:rPr>
              <a:t>groupers</a:t>
            </a:r>
            <a:r>
              <a:rPr kumimoji="0" sz="1600" b="1" i="0" u="none" strike="noStrike" kern="1200" cap="none" spc="0" normalizeH="0" baseline="0" noProof="0">
                <a:ln>
                  <a:noFill/>
                </a:ln>
                <a:solidFill>
                  <a:srgbClr val="AD8600"/>
                </a:solidFill>
                <a:effectLst/>
                <a:uLnTx/>
                <a:uFillTx/>
                <a:latin typeface="Arial"/>
                <a:ea typeface="Arial"/>
                <a:cs typeface="Arial"/>
              </a:rPr>
              <a:t>.</a:t>
            </a:r>
          </a:p>
        </p:txBody>
      </p:sp>
      <p:sp>
        <p:nvSpPr>
          <p:cNvPr id="10" name="Rechteck 9">
            <a:extLst>
              <a:ext uri="{FF2B5EF4-FFF2-40B4-BE49-F238E27FC236}">
                <a16:creationId xmlns:a16="http://schemas.microsoft.com/office/drawing/2014/main" id="{077887C0-2725-4C3D-A247-410A7AAEDC61}"/>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5</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Tree>
    <p:extLst>
      <p:ext uri="{BB962C8B-B14F-4D97-AF65-F5344CB8AC3E}">
        <p14:creationId xmlns:p14="http://schemas.microsoft.com/office/powerpoint/2010/main" val="4131570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56F47D79-68FC-4EC2-A771-C36A326479CD}"/>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ea typeface="Arial"/>
                <a:cs typeface="Arial"/>
              </a:rPr>
              <a:t>WP 1.2: Motivation and Reward Sensitivity</a:t>
            </a:r>
          </a:p>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endParaRPr kumimoji="0" lang="en-US" sz="2800" b="0" i="0" u="none" strike="noStrike" kern="1200" cap="none" spc="0" normalizeH="0" baseline="0" noProof="0">
              <a:ln>
                <a:noFill/>
              </a:ln>
              <a:solidFill>
                <a:srgbClr val="111111"/>
              </a:solidFill>
              <a:effectLst/>
              <a:uLnTx/>
              <a:uFillTx/>
              <a:latin typeface="Arial"/>
              <a:ea typeface="Arial"/>
              <a:cs typeface="Arial"/>
            </a:endParaRPr>
          </a:p>
        </p:txBody>
      </p:sp>
      <p:sp>
        <p:nvSpPr>
          <p:cNvPr id="3" name="Rechteck 2">
            <a:extLst>
              <a:ext uri="{FF2B5EF4-FFF2-40B4-BE49-F238E27FC236}">
                <a16:creationId xmlns:a16="http://schemas.microsoft.com/office/drawing/2014/main" id="{1E19E568-28E0-4A00-91E2-7D1A688BC426}"/>
              </a:ext>
            </a:extLst>
          </p:cNvPr>
          <p:cNvSpPr>
            <a:spLocks noGrp="1"/>
          </p:cNvSpPr>
          <p:nvPr/>
        </p:nvSpPr>
        <p:spPr>
          <a:xfrm>
            <a:off x="762000" y="1265143"/>
            <a:ext cx="3908612" cy="36195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AD8600"/>
                </a:solidFill>
                <a:latin typeface="Arial"/>
                <a:ea typeface="Arial"/>
                <a:cs typeface="Arial"/>
              </a:defRPr>
            </a:pPr>
            <a:r>
              <a:rPr kumimoji="0" lang="de-DE" sz="2000" b="1" i="0" u="none" strike="noStrike" kern="1200" cap="none" spc="0" normalizeH="0" baseline="0" noProof="0" dirty="0" err="1">
                <a:ln>
                  <a:noFill/>
                </a:ln>
                <a:solidFill>
                  <a:srgbClr val="AD8600"/>
                </a:solidFill>
                <a:effectLst/>
                <a:uLnTx/>
                <a:uFillTx/>
                <a:latin typeface="Arial"/>
                <a:ea typeface="Arial"/>
                <a:cs typeface="Arial"/>
              </a:rPr>
              <a:t>Exp</a:t>
            </a:r>
            <a:r>
              <a:rPr kumimoji="0" lang="de-DE" sz="2000" b="1" i="0" u="none" strike="noStrike" kern="1200" cap="none" spc="0" normalizeH="0" baseline="0" noProof="0" dirty="0">
                <a:ln>
                  <a:noFill/>
                </a:ln>
                <a:solidFill>
                  <a:srgbClr val="AD8600"/>
                </a:solidFill>
                <a:effectLst/>
                <a:uLnTx/>
                <a:uFillTx/>
                <a:latin typeface="Arial"/>
                <a:ea typeface="Arial"/>
                <a:cs typeface="Arial"/>
              </a:rPr>
              <a:t> 2</a:t>
            </a:r>
            <a:r>
              <a:rPr kumimoji="0" sz="2000" b="1" i="0" u="none" strike="noStrike" kern="1200" cap="none" spc="0" normalizeH="0" baseline="0" noProof="0" dirty="0">
                <a:ln>
                  <a:noFill/>
                </a:ln>
                <a:solidFill>
                  <a:srgbClr val="AD8600"/>
                </a:solidFill>
                <a:effectLst/>
                <a:uLnTx/>
                <a:uFillTx/>
                <a:latin typeface="Arial"/>
                <a:ea typeface="Arial"/>
                <a:cs typeface="Arial"/>
              </a:rPr>
              <a:t>a</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Global reward prospect</a:t>
            </a:r>
          </a:p>
        </p:txBody>
      </p:sp>
      <p:sp>
        <p:nvSpPr>
          <p:cNvPr id="4" name="Rechteck 3">
            <a:extLst>
              <a:ext uri="{FF2B5EF4-FFF2-40B4-BE49-F238E27FC236}">
                <a16:creationId xmlns:a16="http://schemas.microsoft.com/office/drawing/2014/main" id="{7DF868F4-D8D3-44EC-B295-A16BA8CAC985}"/>
              </a:ext>
            </a:extLst>
          </p:cNvPr>
          <p:cNvSpPr>
            <a:spLocks noGrp="1"/>
          </p:cNvSpPr>
          <p:nvPr/>
        </p:nvSpPr>
        <p:spPr>
          <a:xfrm>
            <a:off x="762000" y="1779493"/>
            <a:ext cx="3762375" cy="13335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High or low reward for either task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111111"/>
              </a:solidFill>
              <a:effectLst/>
              <a:uLnTx/>
              <a:uFillTx/>
              <a:latin typeface="Arial"/>
              <a:ea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Remain low / increase</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Remain high / decrease</a:t>
            </a:r>
          </a:p>
        </p:txBody>
      </p:sp>
      <p:sp>
        <p:nvSpPr>
          <p:cNvPr id="5" name="Rechteck 4">
            <a:extLst>
              <a:ext uri="{FF2B5EF4-FFF2-40B4-BE49-F238E27FC236}">
                <a16:creationId xmlns:a16="http://schemas.microsoft.com/office/drawing/2014/main" id="{6F136E9B-2D9D-4088-88E8-406DE290BDBB}"/>
              </a:ext>
            </a:extLst>
          </p:cNvPr>
          <p:cNvSpPr>
            <a:spLocks noGrp="1"/>
          </p:cNvSpPr>
          <p:nvPr/>
        </p:nvSpPr>
        <p:spPr>
          <a:xfrm>
            <a:off x="4977095" y="1265143"/>
            <a:ext cx="3695700" cy="36195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AD8600"/>
                </a:solidFill>
                <a:latin typeface="Arial"/>
                <a:ea typeface="Arial"/>
                <a:cs typeface="Arial"/>
              </a:defRPr>
            </a:pPr>
            <a:r>
              <a:rPr kumimoji="0" lang="de-DE" sz="2000" b="1" i="0" u="none" strike="noStrike" kern="1200" cap="none" spc="0" normalizeH="0" baseline="0" noProof="0" dirty="0" err="1">
                <a:ln>
                  <a:noFill/>
                </a:ln>
                <a:solidFill>
                  <a:srgbClr val="AD8600"/>
                </a:solidFill>
                <a:effectLst/>
                <a:uLnTx/>
                <a:uFillTx/>
                <a:latin typeface="Arial"/>
                <a:ea typeface="Arial"/>
                <a:cs typeface="Arial"/>
              </a:rPr>
              <a:t>Exp</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2b</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Bonus for switching</a:t>
            </a:r>
          </a:p>
        </p:txBody>
      </p:sp>
      <p:sp>
        <p:nvSpPr>
          <p:cNvPr id="6" name="Rechteck 5">
            <a:extLst>
              <a:ext uri="{FF2B5EF4-FFF2-40B4-BE49-F238E27FC236}">
                <a16:creationId xmlns:a16="http://schemas.microsoft.com/office/drawing/2014/main" id="{0C0ABD67-7526-4F3D-999D-68E07846FB32}"/>
              </a:ext>
            </a:extLst>
          </p:cNvPr>
          <p:cNvSpPr>
            <a:spLocks noGrp="1"/>
          </p:cNvSpPr>
          <p:nvPr/>
        </p:nvSpPr>
        <p:spPr>
          <a:xfrm>
            <a:off x="4977095" y="1779493"/>
            <a:ext cx="3695700" cy="13335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Reward </a:t>
            </a:r>
            <a:r>
              <a:rPr kumimoji="0" lang="de-DE" sz="1800" b="0" i="0" u="none" strike="noStrike" kern="1200" cap="none" spc="0" normalizeH="0" baseline="0" noProof="0" dirty="0" err="1">
                <a:ln>
                  <a:noFill/>
                </a:ln>
                <a:solidFill>
                  <a:srgbClr val="111111"/>
                </a:solidFill>
                <a:effectLst/>
                <a:uLnTx/>
                <a:uFillTx/>
                <a:latin typeface="Arial"/>
                <a:ea typeface="Arial"/>
                <a:cs typeface="Arial"/>
              </a:rPr>
              <a:t>for</a:t>
            </a:r>
            <a:r>
              <a:rPr kumimoji="0" sz="1800" b="0" i="0" u="none" strike="noStrike" kern="1200" cap="none" spc="0" normalizeH="0" baseline="0" noProof="0" dirty="0">
                <a:ln>
                  <a:noFill/>
                </a:ln>
                <a:solidFill>
                  <a:srgbClr val="111111"/>
                </a:solidFill>
                <a:effectLst/>
                <a:uLnTx/>
                <a:uFillTx/>
                <a:latin typeface="Arial"/>
                <a:ea typeface="Arial"/>
                <a:cs typeface="Arial"/>
              </a:rPr>
              <a:t> the alternative task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111111"/>
              </a:solidFill>
              <a:effectLst/>
              <a:uLnTx/>
              <a:uFillTx/>
              <a:latin typeface="Arial"/>
              <a:ea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Bonus versus no bonus</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for an explicit task switch</a:t>
            </a:r>
          </a:p>
        </p:txBody>
      </p:sp>
      <p:sp>
        <p:nvSpPr>
          <p:cNvPr id="10" name="Rechteck 9">
            <a:extLst>
              <a:ext uri="{FF2B5EF4-FFF2-40B4-BE49-F238E27FC236}">
                <a16:creationId xmlns:a16="http://schemas.microsoft.com/office/drawing/2014/main" id="{67F5E47C-329B-4C9E-9C5E-83D0B78447BB}"/>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6</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12" name="Rechteck 11">
            <a:extLst>
              <a:ext uri="{FF2B5EF4-FFF2-40B4-BE49-F238E27FC236}">
                <a16:creationId xmlns:a16="http://schemas.microsoft.com/office/drawing/2014/main" id="{75C3DB66-8EA1-4A15-98DD-C3E76E471088}"/>
              </a:ext>
            </a:extLst>
          </p:cNvPr>
          <p:cNvSpPr>
            <a:spLocks noGrp="1"/>
          </p:cNvSpPr>
          <p:nvPr/>
        </p:nvSpPr>
        <p:spPr>
          <a:xfrm>
            <a:off x="714372" y="3257549"/>
            <a:ext cx="8077201" cy="508049"/>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r>
              <a:rPr kumimoji="0" sz="1600" b="1" i="0" u="none" strike="noStrike" kern="1200" cap="none" spc="0" normalizeH="0" baseline="0" noProof="0" dirty="0">
                <a:ln>
                  <a:noFill/>
                </a:ln>
                <a:solidFill>
                  <a:srgbClr val="111111"/>
                </a:solidFill>
                <a:effectLst/>
                <a:uLnTx/>
                <a:uFillTx/>
                <a:latin typeface="Arial"/>
                <a:cs typeface="Arial"/>
              </a:rPr>
              <a:t>EEG during FCDT and a separate </a:t>
            </a:r>
            <a:r>
              <a:rPr kumimoji="0" lang="en-US" sz="1600" b="1" i="0" u="none" strike="noStrike" kern="1200" cap="none" spc="0" normalizeH="0" baseline="0" noProof="0" dirty="0">
                <a:ln>
                  <a:noFill/>
                </a:ln>
                <a:solidFill>
                  <a:srgbClr val="111111"/>
                </a:solidFill>
                <a:effectLst/>
                <a:uLnTx/>
                <a:uFillTx/>
                <a:latin typeface="Arial"/>
                <a:cs typeface="Arial"/>
              </a:rPr>
              <a:t>probabilistic learning task</a:t>
            </a:r>
            <a:r>
              <a:rPr kumimoji="0" lang="de-DE" sz="1600" b="1" i="0" u="none" strike="noStrike" kern="1200" cap="none" spc="0" normalizeH="0" baseline="0" noProof="0" dirty="0">
                <a:ln>
                  <a:noFill/>
                </a:ln>
                <a:solidFill>
                  <a:srgbClr val="111111"/>
                </a:solidFill>
                <a:effectLst/>
                <a:uLnTx/>
                <a:uFillTx/>
                <a:latin typeface="Arial"/>
                <a:cs typeface="Arial"/>
              </a:rPr>
              <a:t>; </a:t>
            </a:r>
            <a:r>
              <a:rPr kumimoji="0" lang="de-DE" sz="1600" b="0" i="0" u="none" strike="noStrike" kern="1200" cap="none" spc="0" normalizeH="0" baseline="0" noProof="0" dirty="0">
                <a:ln>
                  <a:noFill/>
                </a:ln>
                <a:solidFill>
                  <a:srgbClr val="111111"/>
                </a:solidFill>
                <a:effectLst/>
                <a:uLnTx/>
                <a:uFillTx/>
                <a:latin typeface="Arial"/>
                <a:cs typeface="Arial"/>
              </a:rPr>
              <a:t>N = 90 per </a:t>
            </a:r>
            <a:r>
              <a:rPr kumimoji="0" lang="de-DE" sz="1600" b="0" i="0" u="none" strike="noStrike" kern="1200" cap="none" spc="0" normalizeH="0" baseline="0" noProof="0" dirty="0" err="1">
                <a:ln>
                  <a:noFill/>
                </a:ln>
                <a:solidFill>
                  <a:srgbClr val="111111"/>
                </a:solidFill>
                <a:effectLst/>
                <a:uLnTx/>
                <a:uFillTx/>
                <a:latin typeface="Arial"/>
                <a:cs typeface="Arial"/>
              </a:rPr>
              <a:t>experiment</a:t>
            </a:r>
            <a:endParaRPr kumimoji="0" lang="de-DE" sz="1600" b="0" i="0" u="none" strike="noStrike" kern="1200" cap="none" spc="0" normalizeH="0" baseline="0" noProof="0" dirty="0">
              <a:ln>
                <a:noFill/>
              </a:ln>
              <a:solidFill>
                <a:srgbClr val="111111"/>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r>
              <a:rPr kumimoji="0" lang="en-US" sz="1600" b="0" i="0" u="sng" strike="noStrike" kern="1200" cap="none" spc="0" normalizeH="0" baseline="0" noProof="0" dirty="0">
                <a:ln>
                  <a:noFill/>
                </a:ln>
                <a:solidFill>
                  <a:srgbClr val="111111"/>
                </a:solidFill>
                <a:effectLst/>
                <a:uLnTx/>
                <a:uFillTx/>
                <a:latin typeface="Arial"/>
                <a:ea typeface="Arial"/>
                <a:cs typeface="Arial"/>
              </a:rPr>
              <a:t>Key variables:</a:t>
            </a:r>
            <a:r>
              <a:rPr kumimoji="0" lang="en-US" sz="1600" b="0" i="0" u="none" strike="noStrike" kern="1200" cap="none" spc="0" normalizeH="0" baseline="0" noProof="0" dirty="0">
                <a:ln>
                  <a:noFill/>
                </a:ln>
                <a:solidFill>
                  <a:srgbClr val="111111"/>
                </a:solidFill>
                <a:effectLst/>
                <a:uLnTx/>
                <a:uFillTx/>
                <a:latin typeface="Arial"/>
                <a:ea typeface="Arial"/>
                <a:cs typeface="Arial"/>
              </a:rPr>
              <a:t> response times, error rates, switch rate, feedback-related negativity</a:t>
            </a:r>
            <a:endParaRPr kumimoji="0" lang="de-DE" sz="1600" b="0" i="0" u="none" strike="noStrike" kern="1200" cap="none" spc="0" normalizeH="0" baseline="0" noProof="0" dirty="0">
              <a:ln>
                <a:noFill/>
              </a:ln>
              <a:solidFill>
                <a:srgbClr val="111111"/>
              </a:solidFill>
              <a:effectLst/>
              <a:uLnTx/>
              <a:uFillTx/>
              <a:latin typeface="Arial"/>
              <a:cs typeface="Arial"/>
            </a:endParaRPr>
          </a:p>
        </p:txBody>
      </p:sp>
      <p:sp>
        <p:nvSpPr>
          <p:cNvPr id="14" name="Rechteck 13">
            <a:extLst>
              <a:ext uri="{FF2B5EF4-FFF2-40B4-BE49-F238E27FC236}">
                <a16:creationId xmlns:a16="http://schemas.microsoft.com/office/drawing/2014/main" id="{5DBC469F-6BA2-4AE8-A11A-724CAECDF32D}"/>
              </a:ext>
            </a:extLst>
          </p:cNvPr>
          <p:cNvSpPr>
            <a:spLocks noGrp="1"/>
          </p:cNvSpPr>
          <p:nvPr/>
        </p:nvSpPr>
        <p:spPr>
          <a:xfrm>
            <a:off x="714372" y="3989014"/>
            <a:ext cx="8169855" cy="582986"/>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AD8600"/>
                </a:solidFill>
                <a:latin typeface="Arial"/>
                <a:ea typeface="Arial"/>
                <a:cs typeface="Arial"/>
              </a:defRPr>
            </a:pPr>
            <a:r>
              <a:rPr kumimoji="0" lang="en-US" sz="1600" b="1" i="0" u="none" strike="noStrike" kern="1200" cap="none" spc="0" normalizeH="0" baseline="0" noProof="0" dirty="0">
                <a:ln>
                  <a:noFill/>
                </a:ln>
                <a:solidFill>
                  <a:srgbClr val="AD8600"/>
                </a:solidFill>
                <a:effectLst/>
                <a:uLnTx/>
                <a:uFillTx/>
                <a:latin typeface="Arial"/>
                <a:ea typeface="Arial"/>
                <a:cs typeface="Arial"/>
              </a:rPr>
              <a:t>Prediction: higher reward sensitivity (</a:t>
            </a:r>
            <a:r>
              <a:rPr kumimoji="0" lang="en-US" sz="1600" b="1" i="0" u="none" strike="noStrike" kern="1200" cap="none" spc="0" normalizeH="0" baseline="0" noProof="0" dirty="0" err="1">
                <a:ln>
                  <a:noFill/>
                </a:ln>
                <a:solidFill>
                  <a:srgbClr val="AD8600"/>
                </a:solidFill>
                <a:effectLst/>
                <a:uLnTx/>
                <a:uFillTx/>
                <a:latin typeface="Arial"/>
                <a:ea typeface="Arial"/>
                <a:cs typeface="Arial"/>
              </a:rPr>
              <a:t>RewP</a:t>
            </a:r>
            <a:r>
              <a:rPr kumimoji="0" lang="en-US" sz="1600" b="1" i="0" u="none" strike="noStrike" kern="1200" cap="none" spc="0" normalizeH="0" baseline="0" noProof="0" dirty="0">
                <a:ln>
                  <a:noFill/>
                </a:ln>
                <a:solidFill>
                  <a:srgbClr val="AD8600"/>
                </a:solidFill>
                <a:effectLst/>
                <a:uLnTx/>
                <a:uFillTx/>
                <a:latin typeface="Arial"/>
                <a:ea typeface="Arial"/>
                <a:cs typeface="Arial"/>
              </a:rPr>
              <a:t>) and stronger modulation of task choices by incentives in switchers and response groupers compared with blockers.</a:t>
            </a:r>
          </a:p>
        </p:txBody>
      </p:sp>
    </p:spTree>
    <p:extLst>
      <p:ext uri="{BB962C8B-B14F-4D97-AF65-F5344CB8AC3E}">
        <p14:creationId xmlns:p14="http://schemas.microsoft.com/office/powerpoint/2010/main" val="1604656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74874484-16AA-4317-A86A-F3EC72D42666}"/>
              </a:ext>
            </a:extLst>
          </p:cNvPr>
          <p:cNvSpPr>
            <a:spLocks noGrp="1"/>
          </p:cNvSpPr>
          <p:nvPr/>
        </p:nvSpPr>
        <p:spPr>
          <a:xfrm>
            <a:off x="714372" y="3988693"/>
            <a:ext cx="7858125" cy="582986"/>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AD8600"/>
                </a:solidFill>
                <a:latin typeface="Arial"/>
                <a:ea typeface="Arial"/>
                <a:cs typeface="Arial"/>
              </a:defRPr>
            </a:pPr>
            <a:r>
              <a:rPr kumimoji="0" lang="en-US" sz="1600" b="1" i="0" u="none" strike="noStrike" kern="1200" cap="none" spc="0" normalizeH="0" baseline="0" noProof="0" dirty="0">
                <a:ln>
                  <a:noFill/>
                </a:ln>
                <a:solidFill>
                  <a:srgbClr val="AD8600"/>
                </a:solidFill>
                <a:effectLst/>
                <a:uLnTx/>
                <a:uFillTx/>
                <a:latin typeface="Arial"/>
                <a:ea typeface="Arial"/>
                <a:cs typeface="Arial"/>
              </a:rPr>
              <a:t>Prediction: higher switch rate is associated with higher need for cognition, persistence, </a:t>
            </a:r>
            <a:r>
              <a:rPr kumimoji="0" lang="en-US" sz="1600" b="1" i="0" u="none" strike="noStrike" kern="1200" cap="none" spc="0" normalizeH="0" baseline="0" noProof="0" dirty="0" err="1">
                <a:ln>
                  <a:noFill/>
                </a:ln>
                <a:solidFill>
                  <a:srgbClr val="AD8600"/>
                </a:solidFill>
                <a:effectLst/>
                <a:uLnTx/>
                <a:uFillTx/>
                <a:latin typeface="Arial"/>
                <a:ea typeface="Arial"/>
                <a:cs typeface="Arial"/>
              </a:rPr>
              <a:t>polychronicity</a:t>
            </a:r>
            <a:r>
              <a:rPr kumimoji="0" lang="en-US" sz="1600" b="1" i="0" u="none" strike="noStrike" kern="1200" cap="none" spc="0" normalizeH="0" baseline="0" noProof="0" dirty="0">
                <a:ln>
                  <a:noFill/>
                </a:ln>
                <a:solidFill>
                  <a:srgbClr val="AD8600"/>
                </a:solidFill>
                <a:effectLst/>
                <a:uLnTx/>
                <a:uFillTx/>
                <a:latin typeface="Arial"/>
                <a:ea typeface="Arial"/>
                <a:cs typeface="Arial"/>
              </a:rPr>
              <a:t>, and reward sensitivity.</a:t>
            </a:r>
          </a:p>
        </p:txBody>
      </p:sp>
      <p:sp>
        <p:nvSpPr>
          <p:cNvPr id="12" name="Rechteck 11">
            <a:extLst>
              <a:ext uri="{FF2B5EF4-FFF2-40B4-BE49-F238E27FC236}">
                <a16:creationId xmlns:a16="http://schemas.microsoft.com/office/drawing/2014/main" id="{39684287-DB2C-49DF-B87B-C72BC602DA82}"/>
              </a:ext>
            </a:extLst>
          </p:cNvPr>
          <p:cNvSpPr>
            <a:spLocks noGrp="1"/>
          </p:cNvSpPr>
          <p:nvPr/>
        </p:nvSpPr>
        <p:spPr>
          <a:xfrm>
            <a:off x="714372" y="3257549"/>
            <a:ext cx="8077201" cy="508049"/>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50" b="0">
                <a:solidFill>
                  <a:srgbClr val="111111"/>
                </a:solidFill>
                <a:latin typeface="Arial"/>
                <a:ea typeface="Arial"/>
                <a:cs typeface="Arial"/>
              </a:defRPr>
            </a:pPr>
            <a:r>
              <a:rPr kumimoji="0" lang="en-US" sz="1600" b="1" i="0" u="none" strike="noStrike" kern="1200" cap="none" spc="0" normalizeH="0" baseline="0" noProof="0" dirty="0">
                <a:ln>
                  <a:noFill/>
                </a:ln>
                <a:solidFill>
                  <a:srgbClr val="111111"/>
                </a:solidFill>
                <a:effectLst/>
                <a:uLnTx/>
                <a:uFillTx/>
                <a:latin typeface="Arial"/>
                <a:cs typeface="Arial"/>
              </a:rPr>
              <a:t>Shared test battery across the whole experimental </a:t>
            </a:r>
            <a:r>
              <a:rPr kumimoji="0" lang="en-US" sz="1600" b="1" i="0" u="none" strike="noStrike" kern="1200" cap="none" spc="0" normalizeH="0" baseline="0" noProof="0" dirty="0" err="1">
                <a:ln>
                  <a:noFill/>
                </a:ln>
                <a:solidFill>
                  <a:srgbClr val="111111"/>
                </a:solidFill>
                <a:effectLst/>
                <a:uLnTx/>
                <a:uFillTx/>
                <a:latin typeface="Arial"/>
                <a:cs typeface="Arial"/>
              </a:rPr>
              <a:t>programme</a:t>
            </a:r>
            <a:r>
              <a:rPr kumimoji="0" lang="de-DE" sz="1600" b="1" i="0" u="none" strike="noStrike" kern="1200" cap="none" spc="0" normalizeH="0" baseline="0" noProof="0" dirty="0">
                <a:ln>
                  <a:noFill/>
                </a:ln>
                <a:solidFill>
                  <a:srgbClr val="111111"/>
                </a:solidFill>
                <a:effectLst/>
                <a:uLnTx/>
                <a:uFillTx/>
                <a:latin typeface="Arial"/>
                <a:cs typeface="Arial"/>
              </a:rPr>
              <a:t>: </a:t>
            </a:r>
            <a:r>
              <a:rPr kumimoji="0" lang="en-US" sz="1600" b="0" i="0" u="none" strike="noStrike" kern="1200" cap="none" spc="0" normalizeH="0" baseline="0" noProof="0" dirty="0">
                <a:ln>
                  <a:noFill/>
                </a:ln>
                <a:solidFill>
                  <a:srgbClr val="111111"/>
                </a:solidFill>
                <a:effectLst/>
                <a:uLnTx/>
                <a:uFillTx/>
                <a:latin typeface="Arial"/>
                <a:ea typeface="Arial"/>
                <a:cs typeface="Arial"/>
              </a:rPr>
              <a:t>4 × 90 participants from 1.1 &amp; 1.2 + 50 from the joint study </a:t>
            </a:r>
            <a:r>
              <a:rPr kumimoji="0" lang="en-US" sz="1600" b="0" i="0" u="none" strike="noStrike" kern="1200" cap="none" spc="0" normalizeH="0" baseline="0" noProof="0" dirty="0">
                <a:ln>
                  <a:noFill/>
                </a:ln>
                <a:solidFill>
                  <a:srgbClr val="111111"/>
                </a:solidFill>
                <a:effectLst/>
                <a:uLnTx/>
                <a:uFillTx/>
                <a:latin typeface="Arial"/>
                <a:ea typeface="Arial"/>
                <a:cs typeface="Arial"/>
                <a:sym typeface="Wingdings" panose="05000000000000000000" pitchFamily="2" charset="2"/>
              </a:rPr>
              <a:t></a:t>
            </a:r>
            <a:r>
              <a:rPr kumimoji="0" lang="en-US" sz="1600" b="0" i="0" u="none" strike="noStrike" kern="1200" cap="none" spc="0" normalizeH="0" baseline="0" noProof="0" dirty="0">
                <a:ln>
                  <a:noFill/>
                </a:ln>
                <a:solidFill>
                  <a:srgbClr val="111111"/>
                </a:solidFill>
                <a:effectLst/>
                <a:uLnTx/>
                <a:uFillTx/>
                <a:latin typeface="Arial"/>
                <a:ea typeface="Arial"/>
                <a:cs typeface="Arial"/>
              </a:rPr>
              <a:t> Planned </a:t>
            </a:r>
            <a:r>
              <a:rPr kumimoji="0" lang="en-US" sz="1600" b="1" i="0" u="none" strike="noStrike" kern="1200" cap="none" spc="0" normalizeH="0" baseline="0" noProof="0" dirty="0">
                <a:ln>
                  <a:noFill/>
                </a:ln>
                <a:solidFill>
                  <a:srgbClr val="111111"/>
                </a:solidFill>
                <a:effectLst/>
                <a:uLnTx/>
                <a:uFillTx/>
                <a:latin typeface="Arial"/>
                <a:ea typeface="Arial"/>
                <a:cs typeface="Arial"/>
              </a:rPr>
              <a:t>N = 410</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endParaRPr kumimoji="0" lang="de-DE" sz="1600" b="0" i="0" u="none" strike="noStrike" kern="1200" cap="none" spc="0" normalizeH="0" baseline="0" noProof="0" dirty="0">
              <a:ln>
                <a:noFill/>
              </a:ln>
              <a:solidFill>
                <a:srgbClr val="111111"/>
              </a:solidFill>
              <a:effectLst/>
              <a:uLnTx/>
              <a:uFillTx/>
              <a:latin typeface="Arial"/>
              <a:cs typeface="Arial"/>
            </a:endParaRPr>
          </a:p>
        </p:txBody>
      </p:sp>
      <p:sp>
        <p:nvSpPr>
          <p:cNvPr id="6" name="Rechteck 5">
            <a:extLst>
              <a:ext uri="{FF2B5EF4-FFF2-40B4-BE49-F238E27FC236}">
                <a16:creationId xmlns:a16="http://schemas.microsoft.com/office/drawing/2014/main" id="{4020202E-A22E-4C77-8ECB-E0FD2ECBEF73}"/>
              </a:ext>
            </a:extLst>
          </p:cNvPr>
          <p:cNvSpPr>
            <a:spLocks noGrp="1"/>
          </p:cNvSpPr>
          <p:nvPr/>
        </p:nvSpPr>
        <p:spPr>
          <a:xfrm>
            <a:off x="4977095" y="1781771"/>
            <a:ext cx="3714750" cy="15716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Big Five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111111"/>
              </a:solidFill>
              <a:effectLst/>
              <a:uLnTx/>
              <a:uFillTx/>
              <a:latin typeface="Arial"/>
              <a:ea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Working memory capacity</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Operation Span</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Symmetry Span</a:t>
            </a:r>
          </a:p>
        </p:txBody>
      </p:sp>
      <p:sp>
        <p:nvSpPr>
          <p:cNvPr id="5" name="Rechteck 4">
            <a:extLst>
              <a:ext uri="{FF2B5EF4-FFF2-40B4-BE49-F238E27FC236}">
                <a16:creationId xmlns:a16="http://schemas.microsoft.com/office/drawing/2014/main" id="{49080474-D61B-4780-BBD5-781E4C2236EA}"/>
              </a:ext>
            </a:extLst>
          </p:cNvPr>
          <p:cNvSpPr>
            <a:spLocks noGrp="1"/>
          </p:cNvSpPr>
          <p:nvPr/>
        </p:nvSpPr>
        <p:spPr>
          <a:xfrm>
            <a:off x="4977095" y="1267645"/>
            <a:ext cx="3714750" cy="381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AD8600"/>
                </a:solidFill>
                <a:latin typeface="Arial"/>
                <a:ea typeface="Arial"/>
                <a:cs typeface="Arial"/>
              </a:defRPr>
            </a:pPr>
            <a:r>
              <a:rPr kumimoji="0" sz="2000" b="1" i="0" u="none" strike="noStrike" kern="1200" cap="none" spc="0" normalizeH="0" baseline="0" noProof="0" dirty="0">
                <a:ln>
                  <a:noFill/>
                </a:ln>
                <a:solidFill>
                  <a:srgbClr val="AD8600"/>
                </a:solidFill>
                <a:effectLst/>
                <a:uLnTx/>
                <a:uFillTx/>
                <a:latin typeface="Arial"/>
                <a:ea typeface="Arial"/>
                <a:cs typeface="Arial"/>
              </a:rPr>
              <a:t>Personality and capacity</a:t>
            </a:r>
          </a:p>
        </p:txBody>
      </p:sp>
      <p:sp>
        <p:nvSpPr>
          <p:cNvPr id="3" name="Rechteck 2">
            <a:extLst>
              <a:ext uri="{FF2B5EF4-FFF2-40B4-BE49-F238E27FC236}">
                <a16:creationId xmlns:a16="http://schemas.microsoft.com/office/drawing/2014/main" id="{A0A88D8E-0685-433E-B6E2-A8C9EAB2AFE3}"/>
              </a:ext>
            </a:extLst>
          </p:cNvPr>
          <p:cNvSpPr>
            <a:spLocks noGrp="1"/>
          </p:cNvSpPr>
          <p:nvPr/>
        </p:nvSpPr>
        <p:spPr>
          <a:xfrm>
            <a:off x="752475" y="1279741"/>
            <a:ext cx="3905250" cy="381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AD8600"/>
                </a:solidFill>
                <a:latin typeface="Arial"/>
                <a:ea typeface="Arial"/>
                <a:cs typeface="Arial"/>
              </a:defRPr>
            </a:pPr>
            <a:r>
              <a:rPr kumimoji="0" sz="2000" b="1" i="0" u="none" strike="noStrike" kern="1200" cap="none" spc="0" normalizeH="0" baseline="0" noProof="0" dirty="0">
                <a:ln>
                  <a:noFill/>
                </a:ln>
                <a:solidFill>
                  <a:srgbClr val="AD8600"/>
                </a:solidFill>
                <a:effectLst/>
                <a:uLnTx/>
                <a:uFillTx/>
                <a:latin typeface="Arial"/>
                <a:ea typeface="Arial"/>
                <a:cs typeface="Arial"/>
              </a:rPr>
              <a:t>Motivation and preferences</a:t>
            </a:r>
          </a:p>
        </p:txBody>
      </p:sp>
      <p:sp>
        <p:nvSpPr>
          <p:cNvPr id="11" name="Rechteck 10">
            <a:extLst>
              <a:ext uri="{FF2B5EF4-FFF2-40B4-BE49-F238E27FC236}">
                <a16:creationId xmlns:a16="http://schemas.microsoft.com/office/drawing/2014/main" id="{1B4B2625-B8F2-43BC-9995-4BEFF7E6D510}"/>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600" b="0" i="0" u="none" strike="noStrike" kern="1200" cap="none" spc="0" normalizeH="0" baseline="0" noProof="0">
                <a:ln>
                  <a:noFill/>
                </a:ln>
                <a:solidFill>
                  <a:srgbClr val="111111"/>
                </a:solidFill>
                <a:effectLst/>
                <a:uLnTx/>
                <a:uFillTx/>
                <a:latin typeface="Arial"/>
                <a:ea typeface="Arial"/>
                <a:cs typeface="Arial"/>
              </a:rPr>
              <a:t>WP 1.3: </a:t>
            </a:r>
            <a:r>
              <a:rPr kumimoji="0" sz="2600" b="0" i="0" u="none" strike="noStrike" kern="1200" cap="none" spc="0" normalizeH="0" baseline="0" noProof="0">
                <a:ln>
                  <a:noFill/>
                </a:ln>
                <a:solidFill>
                  <a:srgbClr val="111111"/>
                </a:solidFill>
                <a:effectLst/>
                <a:uLnTx/>
                <a:uFillTx/>
                <a:latin typeface="Arial"/>
                <a:ea typeface="Arial"/>
                <a:cs typeface="Arial"/>
              </a:rPr>
              <a:t>Personality</a:t>
            </a:r>
            <a:r>
              <a:rPr kumimoji="0" lang="de-DE" sz="2600" b="0" i="0" u="none" strike="noStrike" kern="1200" cap="none" spc="0" normalizeH="0" baseline="0" noProof="0">
                <a:ln>
                  <a:noFill/>
                </a:ln>
                <a:solidFill>
                  <a:srgbClr val="111111"/>
                </a:solidFill>
                <a:effectLst/>
                <a:uLnTx/>
                <a:uFillTx/>
                <a:latin typeface="Arial"/>
                <a:ea typeface="Arial"/>
                <a:cs typeface="Arial"/>
              </a:rPr>
              <a:t>, Preference, </a:t>
            </a:r>
            <a:r>
              <a:rPr kumimoji="0" sz="2600" b="0" i="0" u="none" strike="noStrike" kern="1200" cap="none" spc="0" normalizeH="0" baseline="0" noProof="0">
                <a:ln>
                  <a:noFill/>
                </a:ln>
                <a:solidFill>
                  <a:srgbClr val="111111"/>
                </a:solidFill>
                <a:effectLst/>
                <a:uLnTx/>
                <a:uFillTx/>
                <a:latin typeface="Arial"/>
                <a:ea typeface="Arial"/>
                <a:cs typeface="Arial"/>
              </a:rPr>
              <a:t>and </a:t>
            </a:r>
            <a:r>
              <a:rPr kumimoji="0" lang="de-DE" sz="2600" b="0" i="0" u="none" strike="noStrike" kern="1200" cap="none" spc="0" normalizeH="0" baseline="0" noProof="0">
                <a:ln>
                  <a:noFill/>
                </a:ln>
                <a:solidFill>
                  <a:srgbClr val="111111"/>
                </a:solidFill>
                <a:effectLst/>
                <a:uLnTx/>
                <a:uFillTx/>
                <a:latin typeface="Arial"/>
                <a:ea typeface="Arial"/>
                <a:cs typeface="Arial"/>
              </a:rPr>
              <a:t>C</a:t>
            </a:r>
            <a:r>
              <a:rPr kumimoji="0" sz="2600" b="0" i="0" u="none" strike="noStrike" kern="1200" cap="none" spc="0" normalizeH="0" baseline="0" noProof="0" err="1">
                <a:ln>
                  <a:noFill/>
                </a:ln>
                <a:solidFill>
                  <a:srgbClr val="111111"/>
                </a:solidFill>
                <a:effectLst/>
                <a:uLnTx/>
                <a:uFillTx/>
                <a:latin typeface="Arial"/>
                <a:ea typeface="Arial"/>
                <a:cs typeface="Arial"/>
              </a:rPr>
              <a:t>ognitive</a:t>
            </a:r>
            <a:r>
              <a:rPr kumimoji="0" sz="2600" b="0" i="0" u="none" strike="noStrike" kern="1200" cap="none" spc="0" normalizeH="0" baseline="0" noProof="0">
                <a:ln>
                  <a:noFill/>
                </a:ln>
                <a:solidFill>
                  <a:srgbClr val="111111"/>
                </a:solidFill>
                <a:effectLst/>
                <a:uLnTx/>
                <a:uFillTx/>
                <a:latin typeface="Arial"/>
                <a:ea typeface="Arial"/>
                <a:cs typeface="Arial"/>
              </a:rPr>
              <a:t> </a:t>
            </a:r>
            <a:r>
              <a:rPr kumimoji="0" lang="de-DE" sz="2600" b="0" i="0" u="none" strike="noStrike" kern="1200" cap="none" spc="0" normalizeH="0" baseline="0" noProof="0">
                <a:ln>
                  <a:noFill/>
                </a:ln>
                <a:solidFill>
                  <a:srgbClr val="111111"/>
                </a:solidFill>
                <a:effectLst/>
                <a:uLnTx/>
                <a:uFillTx/>
                <a:latin typeface="Arial"/>
                <a:ea typeface="Arial"/>
                <a:cs typeface="Arial"/>
              </a:rPr>
              <a:t>A</a:t>
            </a:r>
            <a:r>
              <a:rPr kumimoji="0" sz="2600" b="0" i="0" u="none" strike="noStrike" kern="1200" cap="none" spc="0" normalizeH="0" baseline="0" noProof="0" err="1">
                <a:ln>
                  <a:noFill/>
                </a:ln>
                <a:solidFill>
                  <a:srgbClr val="111111"/>
                </a:solidFill>
                <a:effectLst/>
                <a:uLnTx/>
                <a:uFillTx/>
                <a:latin typeface="Arial"/>
                <a:ea typeface="Arial"/>
                <a:cs typeface="Arial"/>
              </a:rPr>
              <a:t>bilit</a:t>
            </a:r>
            <a:r>
              <a:rPr kumimoji="0" lang="de-DE" sz="2600" b="0" i="0" u="none" strike="noStrike" kern="1200" cap="none" spc="0" normalizeH="0" baseline="0" noProof="0">
                <a:ln>
                  <a:noFill/>
                </a:ln>
                <a:solidFill>
                  <a:srgbClr val="111111"/>
                </a:solidFill>
                <a:effectLst/>
                <a:uLnTx/>
                <a:uFillTx/>
                <a:latin typeface="Arial"/>
                <a:ea typeface="Arial"/>
                <a:cs typeface="Arial"/>
              </a:rPr>
              <a:t>y</a:t>
            </a:r>
            <a:endParaRPr kumimoji="0" sz="2600" b="0" i="0" u="none" strike="noStrike" kern="1200" cap="none" spc="0" normalizeH="0" baseline="0" noProof="0">
              <a:ln>
                <a:noFill/>
              </a:ln>
              <a:solidFill>
                <a:srgbClr val="111111"/>
              </a:solidFill>
              <a:effectLst/>
              <a:uLnTx/>
              <a:uFillTx/>
              <a:latin typeface="Arial"/>
              <a:ea typeface="Arial"/>
              <a:cs typeface="Arial"/>
            </a:endParaRPr>
          </a:p>
        </p:txBody>
      </p:sp>
      <p:sp>
        <p:nvSpPr>
          <p:cNvPr id="10" name="Rechteck 9">
            <a:extLst>
              <a:ext uri="{FF2B5EF4-FFF2-40B4-BE49-F238E27FC236}">
                <a16:creationId xmlns:a16="http://schemas.microsoft.com/office/drawing/2014/main" id="{9108CE79-1D2B-477E-82B0-2676FDB00DFC}"/>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7</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7" name="Textfeld 6">
            <a:extLst>
              <a:ext uri="{FF2B5EF4-FFF2-40B4-BE49-F238E27FC236}">
                <a16:creationId xmlns:a16="http://schemas.microsoft.com/office/drawing/2014/main" id="{07B87E6B-5D11-4C6C-959A-5903C9A1848A}"/>
              </a:ext>
            </a:extLst>
          </p:cNvPr>
          <p:cNvSpPr txBox="1"/>
          <p:nvPr/>
        </p:nvSpPr>
        <p:spPr>
          <a:xfrm>
            <a:off x="752475" y="1781771"/>
            <a:ext cx="2108269" cy="147732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lang="en-US" sz="1800" b="0" i="0" u="none" strike="noStrike" kern="1200" cap="none" spc="0" normalizeH="0" baseline="0" noProof="0" dirty="0">
                <a:ln>
                  <a:noFill/>
                </a:ln>
                <a:solidFill>
                  <a:srgbClr val="111111"/>
                </a:solidFill>
                <a:effectLst/>
                <a:uLnTx/>
                <a:uFillTx/>
                <a:latin typeface="Arial"/>
                <a:cs typeface="Arial"/>
              </a:rPr>
              <a:t>Need for Cognition</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lang="en-US" sz="1800" b="0" i="0" u="none" strike="noStrike" kern="1200" cap="none" spc="0" normalizeH="0" baseline="0" noProof="0" dirty="0">
                <a:ln>
                  <a:noFill/>
                </a:ln>
                <a:solidFill>
                  <a:srgbClr val="111111"/>
                </a:solidFill>
                <a:effectLst/>
                <a:uLnTx/>
                <a:uFillTx/>
                <a:latin typeface="Arial"/>
                <a:cs typeface="Arial"/>
              </a:rPr>
              <a:t>Trait Persistence</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lang="en-US" sz="1800" b="0" i="0" u="none" strike="noStrike" kern="1200" cap="none" spc="0" normalizeH="0" baseline="0" noProof="0" dirty="0" err="1">
                <a:ln>
                  <a:noFill/>
                </a:ln>
                <a:solidFill>
                  <a:srgbClr val="111111"/>
                </a:solidFill>
                <a:effectLst/>
                <a:uLnTx/>
                <a:uFillTx/>
                <a:latin typeface="Arial"/>
                <a:cs typeface="Arial"/>
              </a:rPr>
              <a:t>Polychronicity</a:t>
            </a:r>
            <a:endParaRPr kumimoji="0" lang="en-US" sz="1800" b="0" i="0" u="none" strike="noStrike" kern="1200" cap="none" spc="0" normalizeH="0" baseline="0" noProof="0" dirty="0">
              <a:ln>
                <a:noFill/>
              </a:ln>
              <a:solidFill>
                <a:srgbClr val="111111"/>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lang="en-US" sz="1800" b="0" i="0" u="none" strike="noStrike" kern="1200" cap="none" spc="0" normalizeH="0" baseline="0" noProof="0" dirty="0">
                <a:ln>
                  <a:noFill/>
                </a:ln>
                <a:solidFill>
                  <a:srgbClr val="111111"/>
                </a:solidFill>
                <a:effectLst/>
                <a:uLnTx/>
                <a:uFillTx/>
                <a:latin typeface="Arial"/>
                <a:cs typeface="Arial"/>
              </a:rPr>
              <a:t>BIS/BAS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5657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C2501B4A-E074-4337-A8F7-0987EBE7DF6E}"/>
              </a:ext>
            </a:extLst>
          </p:cNvPr>
          <p:cNvSpPr>
            <a:spLocks noGrp="1"/>
          </p:cNvSpPr>
          <p:nvPr/>
        </p:nvSpPr>
        <p:spPr>
          <a:xfrm>
            <a:off x="762000" y="1095375"/>
            <a:ext cx="7905750" cy="33337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AD8600"/>
                </a:solidFill>
                <a:latin typeface="Arial"/>
                <a:ea typeface="Arial"/>
                <a:cs typeface="Arial"/>
              </a:defRPr>
            </a:pPr>
            <a:r>
              <a:rPr kumimoji="0" lang="en-US" sz="2000" b="0" i="0" u="none" strike="noStrike" kern="1200" cap="none" spc="0" normalizeH="0" baseline="0" noProof="0">
                <a:ln>
                  <a:noFill/>
                </a:ln>
                <a:solidFill>
                  <a:srgbClr val="AD8600"/>
                </a:solidFill>
                <a:effectLst/>
                <a:uLnTx/>
                <a:uFillTx/>
                <a:latin typeface="Arial"/>
                <a:ea typeface="Arial"/>
                <a:cs typeface="Arial"/>
              </a:rPr>
              <a:t>Joint experiment with Project 2, Freiburg</a:t>
            </a:r>
          </a:p>
        </p:txBody>
      </p:sp>
      <p:sp>
        <p:nvSpPr>
          <p:cNvPr id="9" name="Rechteck 8">
            <a:extLst>
              <a:ext uri="{FF2B5EF4-FFF2-40B4-BE49-F238E27FC236}">
                <a16:creationId xmlns:a16="http://schemas.microsoft.com/office/drawing/2014/main" id="{1D1CB6C4-2040-481F-909E-D6A60ED93E72}"/>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ea typeface="Arial"/>
                <a:cs typeface="Arial"/>
              </a:rPr>
              <a:t>WP 3: </a:t>
            </a:r>
            <a:r>
              <a:rPr kumimoji="0" sz="2800" b="0" i="0" u="none" strike="noStrike" kern="1200" cap="none" spc="0" normalizeH="0" baseline="0" noProof="0">
                <a:ln>
                  <a:noFill/>
                </a:ln>
                <a:solidFill>
                  <a:srgbClr val="111111"/>
                </a:solidFill>
                <a:effectLst/>
                <a:uLnTx/>
                <a:uFillTx/>
                <a:latin typeface="Arial"/>
                <a:ea typeface="Arial"/>
                <a:cs typeface="Arial"/>
              </a:rPr>
              <a:t>Generalization across paradigms</a:t>
            </a:r>
          </a:p>
        </p:txBody>
      </p:sp>
      <p:sp>
        <p:nvSpPr>
          <p:cNvPr id="3" name="Rechteck 2">
            <a:extLst>
              <a:ext uri="{FF2B5EF4-FFF2-40B4-BE49-F238E27FC236}">
                <a16:creationId xmlns:a16="http://schemas.microsoft.com/office/drawing/2014/main" id="{A717A396-2BCF-476C-9159-E7EE2CCF6766}"/>
              </a:ext>
            </a:extLst>
          </p:cNvPr>
          <p:cNvSpPr>
            <a:spLocks noGrp="1"/>
          </p:cNvSpPr>
          <p:nvPr/>
        </p:nvSpPr>
        <p:spPr>
          <a:xfrm>
            <a:off x="762000" y="1809750"/>
            <a:ext cx="7905750" cy="381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75" b="1">
                <a:solidFill>
                  <a:srgbClr val="111111"/>
                </a:solidFill>
                <a:latin typeface="Arial"/>
                <a:ea typeface="Arial"/>
                <a:cs typeface="Arial"/>
              </a:defRPr>
            </a:pPr>
            <a:r>
              <a:rPr kumimoji="0" sz="2175" b="1" i="0" u="none" strike="noStrike" kern="1200" cap="none" spc="0" normalizeH="0" baseline="0" noProof="0">
                <a:ln>
                  <a:noFill/>
                </a:ln>
                <a:solidFill>
                  <a:srgbClr val="111111"/>
                </a:solidFill>
                <a:effectLst/>
                <a:uLnTx/>
                <a:uFillTx/>
                <a:latin typeface="Arial"/>
                <a:ea typeface="Arial"/>
                <a:cs typeface="Arial"/>
              </a:rPr>
              <a:t>The same participants complete both paradigms</a:t>
            </a:r>
          </a:p>
        </p:txBody>
      </p:sp>
      <p:sp>
        <p:nvSpPr>
          <p:cNvPr id="4" name="Rechteck 3">
            <a:extLst>
              <a:ext uri="{FF2B5EF4-FFF2-40B4-BE49-F238E27FC236}">
                <a16:creationId xmlns:a16="http://schemas.microsoft.com/office/drawing/2014/main" id="{7706500D-4491-47FC-B021-389CDE491385}"/>
              </a:ext>
            </a:extLst>
          </p:cNvPr>
          <p:cNvSpPr>
            <a:spLocks noGrp="1"/>
          </p:cNvSpPr>
          <p:nvPr/>
        </p:nvSpPr>
        <p:spPr>
          <a:xfrm>
            <a:off x="762000" y="2505075"/>
            <a:ext cx="3667125" cy="762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111111"/>
                </a:solidFill>
                <a:latin typeface="Arial"/>
                <a:ea typeface="Arial"/>
                <a:cs typeface="Arial"/>
              </a:defRPr>
            </a:pPr>
            <a:r>
              <a:rPr kumimoji="0" sz="2025" b="0" i="0" u="none" strike="noStrike" kern="1200" cap="none" spc="0" normalizeH="0" baseline="0" noProof="0">
                <a:ln>
                  <a:noFill/>
                </a:ln>
                <a:solidFill>
                  <a:srgbClr val="111111"/>
                </a:solidFill>
                <a:effectLst/>
                <a:uLnTx/>
                <a:uFillTx/>
                <a:latin typeface="Arial"/>
                <a:ea typeface="Arial"/>
                <a:cs typeface="Arial"/>
              </a:rPr>
              <a:t>FCDT</a:t>
            </a: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111111"/>
                </a:solidFill>
                <a:latin typeface="Arial"/>
                <a:ea typeface="Arial"/>
                <a:cs typeface="Arial"/>
              </a:defRPr>
            </a:pPr>
            <a:r>
              <a:rPr kumimoji="0" sz="2025" b="0" i="0" u="none" strike="noStrike" kern="1200" cap="none" spc="0" normalizeH="0" baseline="0" noProof="0">
                <a:ln>
                  <a:noFill/>
                </a:ln>
                <a:solidFill>
                  <a:srgbClr val="111111"/>
                </a:solidFill>
                <a:effectLst/>
                <a:uLnTx/>
                <a:uFillTx/>
                <a:latin typeface="Arial"/>
                <a:ea typeface="Arial"/>
                <a:cs typeface="Arial"/>
              </a:rPr>
              <a:t>Continuous stimulus preview</a:t>
            </a:r>
          </a:p>
        </p:txBody>
      </p:sp>
      <p:sp>
        <p:nvSpPr>
          <p:cNvPr id="5" name="Rechteck 4">
            <a:extLst>
              <a:ext uri="{FF2B5EF4-FFF2-40B4-BE49-F238E27FC236}">
                <a16:creationId xmlns:a16="http://schemas.microsoft.com/office/drawing/2014/main" id="{7849D5EF-AC22-4792-945F-75804C8AEF5C}"/>
              </a:ext>
            </a:extLst>
          </p:cNvPr>
          <p:cNvSpPr>
            <a:spLocks noGrp="1"/>
          </p:cNvSpPr>
          <p:nvPr/>
        </p:nvSpPr>
        <p:spPr>
          <a:xfrm>
            <a:off x="4905375" y="2505075"/>
            <a:ext cx="3714750" cy="762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111111"/>
                </a:solidFill>
                <a:latin typeface="Arial"/>
                <a:ea typeface="Arial"/>
                <a:cs typeface="Arial"/>
              </a:defRPr>
            </a:pPr>
            <a:r>
              <a:rPr kumimoji="0" sz="2025" b="0" i="0" u="none" strike="noStrike" kern="1200" cap="none" spc="0" normalizeH="0" baseline="0" noProof="0">
                <a:ln>
                  <a:noFill/>
                </a:ln>
                <a:solidFill>
                  <a:srgbClr val="111111"/>
                </a:solidFill>
                <a:effectLst/>
                <a:uLnTx/>
                <a:uFillTx/>
                <a:latin typeface="Arial"/>
                <a:ea typeface="Arial"/>
                <a:cs typeface="Arial"/>
              </a:rPr>
              <a:t>Self-organized task switching</a:t>
            </a: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111111"/>
                </a:solidFill>
                <a:latin typeface="Arial"/>
                <a:ea typeface="Arial"/>
                <a:cs typeface="Arial"/>
              </a:defRPr>
            </a:pPr>
            <a:r>
              <a:rPr kumimoji="0" sz="2025" b="0" i="0" u="none" strike="noStrike" kern="1200" cap="none" spc="0" normalizeH="0" baseline="0" noProof="0">
                <a:ln>
                  <a:noFill/>
                </a:ln>
                <a:solidFill>
                  <a:srgbClr val="111111"/>
                </a:solidFill>
                <a:effectLst/>
                <a:uLnTx/>
                <a:uFillTx/>
                <a:latin typeface="Arial"/>
                <a:ea typeface="Arial"/>
                <a:cs typeface="Arial"/>
              </a:rPr>
              <a:t>Waiting times between trials</a:t>
            </a:r>
          </a:p>
        </p:txBody>
      </p:sp>
      <p:sp>
        <p:nvSpPr>
          <p:cNvPr id="6" name="Rechteck 5">
            <a:extLst>
              <a:ext uri="{FF2B5EF4-FFF2-40B4-BE49-F238E27FC236}">
                <a16:creationId xmlns:a16="http://schemas.microsoft.com/office/drawing/2014/main" id="{1871EBD7-EB18-4D9D-A7EA-D213FCF28E42}"/>
              </a:ext>
            </a:extLst>
          </p:cNvPr>
          <p:cNvSpPr>
            <a:spLocks noGrp="1"/>
          </p:cNvSpPr>
          <p:nvPr/>
        </p:nvSpPr>
        <p:spPr>
          <a:xfrm>
            <a:off x="762000" y="3619500"/>
            <a:ext cx="7905750" cy="71437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75" b="1">
                <a:solidFill>
                  <a:srgbClr val="AD8600"/>
                </a:solidFill>
                <a:latin typeface="Arial"/>
                <a:ea typeface="Arial"/>
                <a:cs typeface="Arial"/>
              </a:defRPr>
            </a:pPr>
            <a:r>
              <a:rPr kumimoji="0" sz="2000" b="1" i="0" u="none" strike="noStrike" kern="1200" cap="none" spc="0" normalizeH="0" baseline="0" noProof="0">
                <a:ln>
                  <a:noFill/>
                </a:ln>
                <a:solidFill>
                  <a:srgbClr val="AD8600"/>
                </a:solidFill>
                <a:effectLst/>
                <a:uLnTx/>
                <a:uFillTx/>
                <a:latin typeface="Arial"/>
                <a:ea typeface="Arial"/>
                <a:cs typeface="Arial"/>
              </a:rPr>
              <a:t>Do switch frequencies and strategy preferences correspond?</a:t>
            </a:r>
          </a:p>
        </p:txBody>
      </p:sp>
      <p:sp>
        <p:nvSpPr>
          <p:cNvPr id="8" name="Rechteck 7">
            <a:extLst>
              <a:ext uri="{FF2B5EF4-FFF2-40B4-BE49-F238E27FC236}">
                <a16:creationId xmlns:a16="http://schemas.microsoft.com/office/drawing/2014/main" id="{B2068422-181E-4037-86CD-F0B31D77161F}"/>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8</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11" name="Rechteck 10">
            <a:extLst>
              <a:ext uri="{FF2B5EF4-FFF2-40B4-BE49-F238E27FC236}">
                <a16:creationId xmlns:a16="http://schemas.microsoft.com/office/drawing/2014/main" id="{CBB171B3-9355-42CA-A092-5AA6D9585747}"/>
              </a:ext>
            </a:extLst>
          </p:cNvPr>
          <p:cNvSpPr>
            <a:spLocks noGrp="1"/>
          </p:cNvSpPr>
          <p:nvPr/>
        </p:nvSpPr>
        <p:spPr>
          <a:xfrm>
            <a:off x="752475" y="4079850"/>
            <a:ext cx="8077201" cy="508049"/>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50" b="0">
                <a:solidFill>
                  <a:srgbClr val="111111"/>
                </a:solidFill>
                <a:latin typeface="Arial"/>
                <a:ea typeface="Arial"/>
                <a:cs typeface="Arial"/>
              </a:defRPr>
            </a:pPr>
            <a:r>
              <a:rPr kumimoji="0" lang="en-US" sz="1600" b="1" i="0" u="none" strike="noStrike" kern="1200" cap="none" spc="0" normalizeH="0" baseline="0" noProof="0" dirty="0">
                <a:ln>
                  <a:noFill/>
                </a:ln>
                <a:solidFill>
                  <a:srgbClr val="111111"/>
                </a:solidFill>
                <a:effectLst/>
                <a:uLnTx/>
                <a:uFillTx/>
                <a:latin typeface="Arial"/>
                <a:cs typeface="Arial"/>
              </a:rPr>
              <a:t>Counterbalanced paradigm order</a:t>
            </a:r>
            <a:r>
              <a:rPr kumimoji="0" lang="de-DE" sz="1600" b="1" i="0" u="none" strike="noStrike" kern="1200" cap="none" spc="0" normalizeH="0" baseline="0" noProof="0" dirty="0">
                <a:ln>
                  <a:noFill/>
                </a:ln>
                <a:solidFill>
                  <a:srgbClr val="111111"/>
                </a:solidFill>
                <a:effectLst/>
                <a:uLnTx/>
                <a:uFillTx/>
                <a:latin typeface="Arial"/>
                <a:cs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sz="1650" b="0">
                <a:solidFill>
                  <a:srgbClr val="111111"/>
                </a:solidFill>
                <a:latin typeface="Arial"/>
                <a:ea typeface="Arial"/>
                <a:cs typeface="Arial"/>
              </a:defRPr>
            </a:pPr>
            <a:r>
              <a:rPr kumimoji="0" lang="en-US" sz="1600" b="0" i="0" u="none" strike="noStrike" kern="1200" cap="none" spc="0" normalizeH="0" baseline="0" noProof="0" dirty="0">
                <a:ln>
                  <a:noFill/>
                </a:ln>
                <a:solidFill>
                  <a:srgbClr val="111111"/>
                </a:solidFill>
                <a:effectLst/>
                <a:uLnTx/>
                <a:uFillTx/>
                <a:latin typeface="Arial"/>
                <a:ea typeface="Arial"/>
                <a:cs typeface="Arial"/>
              </a:rPr>
              <a:t>50 participants from each study site </a:t>
            </a:r>
            <a:r>
              <a:rPr kumimoji="0" lang="en-US" sz="1600" b="0" i="0" u="none" strike="noStrike" kern="1200" cap="none" spc="0" normalizeH="0" baseline="0" noProof="0" dirty="0">
                <a:ln>
                  <a:noFill/>
                </a:ln>
                <a:solidFill>
                  <a:srgbClr val="111111"/>
                </a:solidFill>
                <a:effectLst/>
                <a:uLnTx/>
                <a:uFillTx/>
                <a:latin typeface="Arial"/>
                <a:ea typeface="Arial"/>
                <a:cs typeface="Arial"/>
                <a:sym typeface="Wingdings" panose="05000000000000000000" pitchFamily="2" charset="2"/>
              </a:rPr>
              <a:t></a:t>
            </a:r>
            <a:r>
              <a:rPr kumimoji="0" lang="en-US" sz="1600" b="0" i="0" u="none" strike="noStrike" kern="1200" cap="none" spc="0" normalizeH="0" baseline="0" noProof="0" dirty="0">
                <a:ln>
                  <a:noFill/>
                </a:ln>
                <a:solidFill>
                  <a:srgbClr val="111111"/>
                </a:solidFill>
                <a:effectLst/>
                <a:uLnTx/>
                <a:uFillTx/>
                <a:latin typeface="Arial"/>
                <a:ea typeface="Arial"/>
                <a:cs typeface="Arial"/>
              </a:rPr>
              <a:t> Planned N = 100</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endParaRPr kumimoji="0" lang="de-DE" sz="1600" b="0" i="0" u="none" strike="noStrike" kern="1200" cap="none" spc="0" normalizeH="0" baseline="0" noProof="0" dirty="0">
              <a:ln>
                <a:noFill/>
              </a:ln>
              <a:solidFill>
                <a:srgbClr val="111111"/>
              </a:solidFill>
              <a:effectLst/>
              <a:uLnTx/>
              <a:uFillTx/>
              <a:latin typeface="Arial"/>
              <a:cs typeface="Arial"/>
            </a:endParaRPr>
          </a:p>
        </p:txBody>
      </p:sp>
    </p:spTree>
    <p:extLst>
      <p:ext uri="{BB962C8B-B14F-4D97-AF65-F5344CB8AC3E}">
        <p14:creationId xmlns:p14="http://schemas.microsoft.com/office/powerpoint/2010/main" val="4172176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080FE4-DDB2-6779-9434-4BD8223F1D22}"/>
              </a:ext>
            </a:extLst>
          </p:cNvPr>
          <p:cNvSpPr>
            <a:spLocks noGrp="1"/>
          </p:cNvSpPr>
          <p:nvPr>
            <p:ph type="title"/>
          </p:nvPr>
        </p:nvSpPr>
        <p:spPr/>
        <p:txBody>
          <a:bodyPr>
            <a:normAutofit/>
          </a:bodyPr>
          <a:lstStyle/>
          <a:p>
            <a:r>
              <a:rPr lang="de-DE" sz="2400" b="0" dirty="0" err="1">
                <a:latin typeface="Arial"/>
                <a:cs typeface="Arial"/>
              </a:rPr>
              <a:t>Theoretical</a:t>
            </a:r>
            <a:r>
              <a:rPr lang="de-DE" sz="2400" b="0" dirty="0">
                <a:latin typeface="Arial"/>
                <a:cs typeface="Arial"/>
              </a:rPr>
              <a:t> </a:t>
            </a:r>
            <a:r>
              <a:rPr lang="de-DE" sz="2400" b="0" dirty="0" err="1">
                <a:latin typeface="Arial"/>
                <a:cs typeface="Arial"/>
              </a:rPr>
              <a:t>proposal</a:t>
            </a:r>
            <a:endParaRPr lang="de-DE" sz="2400" b="0" dirty="0">
              <a:latin typeface="Arial"/>
              <a:cs typeface="Arial"/>
            </a:endParaRPr>
          </a:p>
        </p:txBody>
      </p:sp>
      <p:sp>
        <p:nvSpPr>
          <p:cNvPr id="4" name="Foliennummernplatzhalter 3">
            <a:extLst>
              <a:ext uri="{FF2B5EF4-FFF2-40B4-BE49-F238E27FC236}">
                <a16:creationId xmlns:a16="http://schemas.microsoft.com/office/drawing/2014/main" id="{7473FA14-4378-2B6D-FF0E-0390C37CAF0F}"/>
              </a:ext>
            </a:extLst>
          </p:cNvPr>
          <p:cNvSpPr>
            <a:spLocks noGrp="1"/>
          </p:cNvSpPr>
          <p:nvPr>
            <p:ph type="sldNum" sz="quarter" idx="12"/>
          </p:nvPr>
        </p:nvSpPr>
        <p:spPr/>
        <p:txBody>
          <a:bodyPr/>
          <a:lstStyle/>
          <a:p>
            <a:fld id="{5CD88B4E-D815-417B-99FD-41D66E5C06D4}" type="slidenum">
              <a:rPr lang="de-DE" smtClean="0">
                <a:latin typeface="Arial"/>
                <a:cs typeface="Arial"/>
              </a:rPr>
              <a:pPr/>
              <a:t>10</a:t>
            </a:fld>
            <a:endParaRPr lang="de-DE">
              <a:latin typeface="Arial"/>
              <a:cs typeface="Arial"/>
            </a:endParaRPr>
          </a:p>
        </p:txBody>
      </p:sp>
      <p:sp>
        <p:nvSpPr>
          <p:cNvPr id="5" name="Rechteck: abgerundete Ecken 4">
            <a:extLst>
              <a:ext uri="{FF2B5EF4-FFF2-40B4-BE49-F238E27FC236}">
                <a16:creationId xmlns:a16="http://schemas.microsoft.com/office/drawing/2014/main" id="{911574AB-781E-C8CA-EF5D-B0ED9BDF63FD}"/>
              </a:ext>
            </a:extLst>
          </p:cNvPr>
          <p:cNvSpPr/>
          <p:nvPr/>
        </p:nvSpPr>
        <p:spPr>
          <a:xfrm>
            <a:off x="1014056" y="2583119"/>
            <a:ext cx="2444952" cy="362403"/>
          </a:xfrm>
          <a:prstGeom prst="roundRect">
            <a:avLst>
              <a:gd name="adj" fmla="val 19363"/>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r>
              <a:rPr lang="en-US" sz="1000" dirty="0">
                <a:solidFill>
                  <a:schemeClr val="tx1"/>
                </a:solidFill>
                <a:latin typeface="Arial" panose="020B0604020202020204" pitchFamily="34" charset="0"/>
                <a:ea typeface="Arial Unicode MS" panose="020B0604020202020204"/>
                <a:cs typeface="Arial" panose="020B0604020202020204" pitchFamily="34" charset="0"/>
              </a:rPr>
              <a:t>Subjective cost functions</a:t>
            </a:r>
          </a:p>
        </p:txBody>
      </p:sp>
      <p:sp>
        <p:nvSpPr>
          <p:cNvPr id="7" name="Textfeld 6">
            <a:extLst>
              <a:ext uri="{FF2B5EF4-FFF2-40B4-BE49-F238E27FC236}">
                <a16:creationId xmlns:a16="http://schemas.microsoft.com/office/drawing/2014/main" id="{CFCDC315-09FA-6C03-075D-0486B08BD8B3}"/>
              </a:ext>
            </a:extLst>
          </p:cNvPr>
          <p:cNvSpPr txBox="1"/>
          <p:nvPr/>
        </p:nvSpPr>
        <p:spPr>
          <a:xfrm>
            <a:off x="3707904" y="1378549"/>
            <a:ext cx="5616624" cy="261610"/>
          </a:xfrm>
          <a:prstGeom prst="rect">
            <a:avLst/>
          </a:prstGeom>
          <a:noFill/>
        </p:spPr>
        <p:txBody>
          <a:bodyPr wrap="square" rtlCol="0">
            <a:spAutoFit/>
          </a:bodyPr>
          <a:lstStyle/>
          <a:p>
            <a:r>
              <a:rPr lang="de-DE" sz="1100" dirty="0">
                <a:latin typeface="Arial" panose="020B0604020202020204" pitchFamily="34" charset="0"/>
                <a:ea typeface="Arial Unicode MS" panose="020B0604020202020204"/>
                <a:cs typeface="Arial" panose="020B0604020202020204" pitchFamily="34" charset="0"/>
              </a:rPr>
              <a:t>Proof </a:t>
            </a:r>
            <a:r>
              <a:rPr lang="de-DE" sz="1100" dirty="0" err="1">
                <a:latin typeface="Arial" panose="020B0604020202020204" pitchFamily="34" charset="0"/>
                <a:ea typeface="Arial Unicode MS" panose="020B0604020202020204"/>
                <a:cs typeface="Arial" panose="020B0604020202020204" pitchFamily="34" charset="0"/>
              </a:rPr>
              <a:t>of</a:t>
            </a:r>
            <a:r>
              <a:rPr lang="de-DE" sz="1100" dirty="0">
                <a:latin typeface="Arial" panose="020B0604020202020204" pitchFamily="34" charset="0"/>
                <a:ea typeface="Arial Unicode MS" panose="020B0604020202020204"/>
                <a:cs typeface="Arial" panose="020B0604020202020204" pitchFamily="34" charset="0"/>
              </a:rPr>
              <a:t> </a:t>
            </a:r>
            <a:r>
              <a:rPr lang="de-DE" sz="1100" dirty="0" err="1">
                <a:latin typeface="Arial" panose="020B0604020202020204" pitchFamily="34" charset="0"/>
                <a:ea typeface="Arial Unicode MS" panose="020B0604020202020204"/>
                <a:cs typeface="Arial" panose="020B0604020202020204" pitchFamily="34" charset="0"/>
              </a:rPr>
              <a:t>principle</a:t>
            </a:r>
            <a:r>
              <a:rPr lang="de-DE" sz="1100" dirty="0">
                <a:latin typeface="Arial" panose="020B0604020202020204" pitchFamily="34" charset="0"/>
                <a:ea typeface="Arial Unicode MS" panose="020B0604020202020204"/>
                <a:cs typeface="Arial" panose="020B0604020202020204" pitchFamily="34" charset="0"/>
              </a:rPr>
              <a:t> (</a:t>
            </a:r>
            <a:r>
              <a:rPr lang="de-DE" sz="1100" dirty="0">
                <a:solidFill>
                  <a:schemeClr val="accent1">
                    <a:lumMod val="75000"/>
                  </a:schemeClr>
                </a:solidFill>
                <a:latin typeface="Arial" panose="020B0604020202020204" pitchFamily="34" charset="0"/>
                <a:ea typeface="Arial Unicode MS" panose="020B0604020202020204"/>
                <a:cs typeface="Arial" panose="020B0604020202020204" pitchFamily="34" charset="0"/>
                <a:hlinkClick r:id="rId3">
                  <a:extLst>
                    <a:ext uri="{A12FA001-AC4F-418D-AE19-62706E023703}">
                      <ahyp:hlinkClr xmlns:ahyp="http://schemas.microsoft.com/office/drawing/2018/hyperlinkcolor" val="tx"/>
                    </a:ext>
                  </a:extLst>
                </a:hlinkClick>
              </a:rPr>
              <a:t>osf.io/6vspq</a:t>
            </a:r>
            <a:r>
              <a:rPr lang="de-DE" sz="1100" dirty="0">
                <a:latin typeface="Arial" panose="020B0604020202020204" pitchFamily="34" charset="0"/>
                <a:ea typeface="Arial Unicode MS" panose="020B0604020202020204"/>
                <a:cs typeface="Arial" panose="020B0604020202020204" pitchFamily="34" charset="0"/>
              </a:rPr>
              <a:t>) | </a:t>
            </a:r>
            <a:r>
              <a:rPr lang="de-DE" sz="1100" dirty="0" err="1">
                <a:latin typeface="Arial" panose="020B0604020202020204" pitchFamily="34" charset="0"/>
                <a:ea typeface="Arial Unicode MS" panose="020B0604020202020204"/>
                <a:cs typeface="Arial" panose="020B0604020202020204" pitchFamily="34" charset="0"/>
              </a:rPr>
              <a:t>Parameterized</a:t>
            </a:r>
            <a:r>
              <a:rPr lang="de-DE" sz="1100" dirty="0">
                <a:latin typeface="Arial" panose="020B0604020202020204" pitchFamily="34" charset="0"/>
                <a:ea typeface="Arial Unicode MS" panose="020B0604020202020204"/>
                <a:cs typeface="Arial" panose="020B0604020202020204" pitchFamily="34" charset="0"/>
              </a:rPr>
              <a:t> switch and </a:t>
            </a:r>
            <a:r>
              <a:rPr lang="de-DE" sz="1100" dirty="0" err="1">
                <a:latin typeface="Arial" panose="020B0604020202020204" pitchFamily="34" charset="0"/>
                <a:ea typeface="Arial Unicode MS" panose="020B0604020202020204"/>
                <a:cs typeface="Arial" panose="020B0604020202020204" pitchFamily="34" charset="0"/>
              </a:rPr>
              <a:t>task</a:t>
            </a:r>
            <a:r>
              <a:rPr lang="de-DE" sz="1100" dirty="0">
                <a:latin typeface="Arial" panose="020B0604020202020204" pitchFamily="34" charset="0"/>
                <a:ea typeface="Arial Unicode MS" panose="020B0604020202020204"/>
                <a:cs typeface="Arial" panose="020B0604020202020204" pitchFamily="34" charset="0"/>
              </a:rPr>
              <a:t> </a:t>
            </a:r>
            <a:r>
              <a:rPr lang="de-DE" sz="1100" dirty="0" err="1">
                <a:latin typeface="Arial" panose="020B0604020202020204" pitchFamily="34" charset="0"/>
                <a:ea typeface="Arial Unicode MS" panose="020B0604020202020204"/>
                <a:cs typeface="Arial" panose="020B0604020202020204" pitchFamily="34" charset="0"/>
              </a:rPr>
              <a:t>imbalance</a:t>
            </a:r>
            <a:r>
              <a:rPr lang="de-DE" sz="1100" dirty="0">
                <a:latin typeface="Arial" panose="020B0604020202020204" pitchFamily="34" charset="0"/>
                <a:ea typeface="Arial Unicode MS" panose="020B0604020202020204"/>
                <a:cs typeface="Arial" panose="020B0604020202020204" pitchFamily="34" charset="0"/>
              </a:rPr>
              <a:t> </a:t>
            </a:r>
            <a:r>
              <a:rPr lang="de-DE" sz="1100" dirty="0" err="1">
                <a:latin typeface="Arial" panose="020B0604020202020204" pitchFamily="34" charset="0"/>
                <a:ea typeface="Arial Unicode MS" panose="020B0604020202020204"/>
                <a:cs typeface="Arial" panose="020B0604020202020204" pitchFamily="34" charset="0"/>
              </a:rPr>
              <a:t>cost</a:t>
            </a:r>
            <a:endParaRPr lang="de-DE" sz="1100" dirty="0">
              <a:latin typeface="Arial" panose="020B0604020202020204" pitchFamily="34" charset="0"/>
              <a:ea typeface="Arial Unicode MS" panose="020B0604020202020204"/>
              <a:cs typeface="Arial" panose="020B0604020202020204" pitchFamily="34" charset="0"/>
            </a:endParaRPr>
          </a:p>
        </p:txBody>
      </p:sp>
      <p:sp>
        <p:nvSpPr>
          <p:cNvPr id="8" name="Rechteck: abgerundete Ecken 7">
            <a:extLst>
              <a:ext uri="{FF2B5EF4-FFF2-40B4-BE49-F238E27FC236}">
                <a16:creationId xmlns:a16="http://schemas.microsoft.com/office/drawing/2014/main" id="{519553F8-98CB-7D51-4374-4734E4360518}"/>
              </a:ext>
            </a:extLst>
          </p:cNvPr>
          <p:cNvSpPr/>
          <p:nvPr/>
        </p:nvSpPr>
        <p:spPr>
          <a:xfrm>
            <a:off x="896620" y="1405437"/>
            <a:ext cx="2679824" cy="3182537"/>
          </a:xfrm>
          <a:prstGeom prst="roundRect">
            <a:avLst>
              <a:gd name="adj" fmla="val 2403"/>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r>
              <a:rPr lang="de-DE" sz="1200">
                <a:solidFill>
                  <a:schemeClr val="tx1"/>
                </a:solidFill>
                <a:latin typeface="Arial" panose="020B0604020202020204" pitchFamily="34" charset="0"/>
                <a:ea typeface="Arial Unicode MS" panose="020B0604020202020204"/>
                <a:cs typeface="Arial" panose="020B0604020202020204" pitchFamily="34" charset="0"/>
              </a:rPr>
              <a:t> </a:t>
            </a:r>
          </a:p>
        </p:txBody>
      </p:sp>
      <p:sp>
        <p:nvSpPr>
          <p:cNvPr id="9" name="Rechteck: abgerundete Ecken 8">
            <a:extLst>
              <a:ext uri="{FF2B5EF4-FFF2-40B4-BE49-F238E27FC236}">
                <a16:creationId xmlns:a16="http://schemas.microsoft.com/office/drawing/2014/main" id="{5A4CF246-DE1A-60ED-8C05-9A67E894E1AB}"/>
              </a:ext>
            </a:extLst>
          </p:cNvPr>
          <p:cNvSpPr/>
          <p:nvPr/>
        </p:nvSpPr>
        <p:spPr>
          <a:xfrm>
            <a:off x="899592" y="1405437"/>
            <a:ext cx="2679824" cy="34376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200">
                <a:latin typeface="Arial" panose="020B0604020202020204" pitchFamily="34" charset="0"/>
                <a:ea typeface="Arial Unicode MS" panose="020B0604020202020204"/>
                <a:cs typeface="Arial" panose="020B0604020202020204" pitchFamily="34" charset="0"/>
              </a:rPr>
              <a:t>Rational </a:t>
            </a:r>
            <a:r>
              <a:rPr lang="de-DE" sz="1200" err="1">
                <a:latin typeface="Arial" panose="020B0604020202020204" pitchFamily="34" charset="0"/>
                <a:ea typeface="Arial Unicode MS" panose="020B0604020202020204"/>
                <a:cs typeface="Arial" panose="020B0604020202020204" pitchFamily="34" charset="0"/>
              </a:rPr>
              <a:t>analysis</a:t>
            </a:r>
            <a:endParaRPr lang="en-US" sz="1200">
              <a:latin typeface="Arial" panose="020B0604020202020204" pitchFamily="34" charset="0"/>
              <a:ea typeface="Arial Unicode MS" panose="020B0604020202020204"/>
              <a:cs typeface="Arial" panose="020B0604020202020204" pitchFamily="34" charset="0"/>
            </a:endParaRPr>
          </a:p>
        </p:txBody>
      </p:sp>
      <p:sp>
        <p:nvSpPr>
          <p:cNvPr id="12" name="Rechteck: abgerundete Ecken 11">
            <a:extLst>
              <a:ext uri="{FF2B5EF4-FFF2-40B4-BE49-F238E27FC236}">
                <a16:creationId xmlns:a16="http://schemas.microsoft.com/office/drawing/2014/main" id="{C78D81F5-2DE2-AC86-41B2-6C1D19B292C1}"/>
              </a:ext>
            </a:extLst>
          </p:cNvPr>
          <p:cNvSpPr/>
          <p:nvPr/>
        </p:nvSpPr>
        <p:spPr>
          <a:xfrm>
            <a:off x="1017028" y="4108276"/>
            <a:ext cx="2444952" cy="343762"/>
          </a:xfrm>
          <a:prstGeom prst="round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de-DE" sz="1000" dirty="0">
                <a:solidFill>
                  <a:schemeClr val="tx1"/>
                </a:solidFill>
                <a:latin typeface="Arial" panose="020B0604020202020204" pitchFamily="34" charset="0"/>
                <a:ea typeface="Arial Unicode MS" panose="020B0604020202020204"/>
                <a:cs typeface="Arial" panose="020B0604020202020204" pitchFamily="34" charset="0"/>
              </a:rPr>
              <a:t>Optimal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response</a:t>
            </a:r>
            <a:r>
              <a:rPr lang="de-DE" sz="1000" dirty="0">
                <a:solidFill>
                  <a:schemeClr val="tx1"/>
                </a:solidFill>
                <a:latin typeface="Arial" panose="020B0604020202020204" pitchFamily="34" charset="0"/>
                <a:ea typeface="Arial Unicode MS" panose="020B0604020202020204"/>
                <a:cs typeface="Arial" panose="020B0604020202020204" pitchFamily="34" charset="0"/>
              </a:rPr>
              <a:t>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sequences</a:t>
            </a:r>
            <a:endParaRPr lang="en-US" sz="1000" dirty="0">
              <a:solidFill>
                <a:schemeClr val="tx1"/>
              </a:solidFill>
              <a:latin typeface="Arial" panose="020B0604020202020204" pitchFamily="34" charset="0"/>
              <a:ea typeface="Arial Unicode MS" panose="020B0604020202020204"/>
              <a:cs typeface="Arial" panose="020B0604020202020204" pitchFamily="34" charset="0"/>
            </a:endParaRPr>
          </a:p>
        </p:txBody>
      </p:sp>
      <p:sp>
        <p:nvSpPr>
          <p:cNvPr id="13" name="Pfeil: nach rechts 12">
            <a:extLst>
              <a:ext uri="{FF2B5EF4-FFF2-40B4-BE49-F238E27FC236}">
                <a16:creationId xmlns:a16="http://schemas.microsoft.com/office/drawing/2014/main" id="{5AFD518C-FBCB-E16C-90D3-357CF8E2AC09}"/>
              </a:ext>
            </a:extLst>
          </p:cNvPr>
          <p:cNvSpPr/>
          <p:nvPr/>
        </p:nvSpPr>
        <p:spPr>
          <a:xfrm rot="5400000">
            <a:off x="966724" y="3419108"/>
            <a:ext cx="1162755" cy="215583"/>
          </a:xfrm>
          <a:prstGeom prst="rightArrow">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1200">
              <a:latin typeface="Arial" panose="020B0604020202020204" pitchFamily="34" charset="0"/>
              <a:ea typeface="Arial Unicode MS" panose="020B0604020202020204"/>
              <a:cs typeface="Arial" panose="020B0604020202020204" pitchFamily="34" charset="0"/>
            </a:endParaRPr>
          </a:p>
        </p:txBody>
      </p:sp>
      <p:sp>
        <p:nvSpPr>
          <p:cNvPr id="14" name="Pfeil: nach rechts 13">
            <a:extLst>
              <a:ext uri="{FF2B5EF4-FFF2-40B4-BE49-F238E27FC236}">
                <a16:creationId xmlns:a16="http://schemas.microsoft.com/office/drawing/2014/main" id="{77FD62BC-3967-3BCC-6BBB-478471EF1DE5}"/>
              </a:ext>
            </a:extLst>
          </p:cNvPr>
          <p:cNvSpPr/>
          <p:nvPr/>
        </p:nvSpPr>
        <p:spPr>
          <a:xfrm rot="16200000">
            <a:off x="2298218" y="3419107"/>
            <a:ext cx="1162754" cy="215583"/>
          </a:xfrm>
          <a:prstGeom prst="rightArrow">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1200">
              <a:latin typeface="Arial" panose="020B0604020202020204" pitchFamily="34" charset="0"/>
              <a:ea typeface="Arial Unicode MS" panose="020B0604020202020204"/>
              <a:cs typeface="Arial" panose="020B0604020202020204" pitchFamily="34" charset="0"/>
            </a:endParaRPr>
          </a:p>
        </p:txBody>
      </p:sp>
      <p:sp>
        <p:nvSpPr>
          <p:cNvPr id="15" name="Rechteck: abgerundete Ecken 14">
            <a:extLst>
              <a:ext uri="{FF2B5EF4-FFF2-40B4-BE49-F238E27FC236}">
                <a16:creationId xmlns:a16="http://schemas.microsoft.com/office/drawing/2014/main" id="{6D2802B0-1B77-6CC7-45D2-D9F395B016E7}"/>
              </a:ext>
            </a:extLst>
          </p:cNvPr>
          <p:cNvSpPr/>
          <p:nvPr/>
        </p:nvSpPr>
        <p:spPr>
          <a:xfrm>
            <a:off x="1014056" y="3579623"/>
            <a:ext cx="2444952" cy="343762"/>
          </a:xfrm>
          <a:prstGeom prst="roundRect">
            <a:avLst/>
          </a:prstGeom>
          <a:solidFill>
            <a:schemeClr val="bg1"/>
          </a:solid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Bellman</a:t>
            </a:r>
            <a:r>
              <a:rPr lang="de-DE" sz="1000" dirty="0">
                <a:solidFill>
                  <a:schemeClr val="tx1"/>
                </a:solidFill>
                <a:latin typeface="Arial" panose="020B0604020202020204" pitchFamily="34" charset="0"/>
                <a:ea typeface="Arial Unicode MS" panose="020B0604020202020204"/>
                <a:cs typeface="Arial" panose="020B0604020202020204" pitchFamily="34" charset="0"/>
              </a:rPr>
              <a:t>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equation</a:t>
            </a:r>
            <a:r>
              <a:rPr lang="de-DE" sz="1000" dirty="0">
                <a:solidFill>
                  <a:schemeClr val="tx1"/>
                </a:solidFill>
                <a:latin typeface="Arial" panose="020B0604020202020204" pitchFamily="34" charset="0"/>
                <a:ea typeface="Arial Unicode MS" panose="020B0604020202020204"/>
                <a:cs typeface="Arial" panose="020B0604020202020204" pitchFamily="34" charset="0"/>
              </a:rPr>
              <a:t>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solution</a:t>
            </a:r>
            <a:endParaRPr lang="en-US" sz="1000" dirty="0">
              <a:solidFill>
                <a:schemeClr val="tx1"/>
              </a:solidFill>
              <a:latin typeface="Arial" panose="020B0604020202020204" pitchFamily="34" charset="0"/>
              <a:ea typeface="Arial Unicode MS" panose="020B0604020202020204"/>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feld 15">
                <a:extLst>
                  <a:ext uri="{FF2B5EF4-FFF2-40B4-BE49-F238E27FC236}">
                    <a16:creationId xmlns:a16="http://schemas.microsoft.com/office/drawing/2014/main" id="{085B0364-698E-F26B-E578-AF4EF0192B71}"/>
                  </a:ext>
                </a:extLst>
              </p:cNvPr>
              <p:cNvSpPr txBox="1"/>
              <p:nvPr/>
            </p:nvSpPr>
            <p:spPr>
              <a:xfrm>
                <a:off x="1108741" y="1867184"/>
                <a:ext cx="2317301" cy="553998"/>
              </a:xfrm>
              <a:prstGeom prst="rect">
                <a:avLst/>
              </a:prstGeom>
              <a:noFill/>
            </p:spPr>
            <p:txBody>
              <a:bodyPr wrap="none" rtlCol="0">
                <a:spAutoFit/>
              </a:bodyPr>
              <a:lstStyle/>
              <a:p>
                <a:pPr algn="ctr">
                  <a:lnSpc>
                    <a:spcPts val="1800"/>
                  </a:lnSpc>
                </a:pPr>
                <a:r>
                  <a:rPr lang="de-DE" sz="1100" dirty="0">
                    <a:latin typeface="Arial" panose="020B0604020202020204" pitchFamily="34" charset="0"/>
                    <a:cs typeface="Arial" panose="020B0604020202020204" pitchFamily="34" charset="0"/>
                  </a:rPr>
                  <a:t>Markov </a:t>
                </a:r>
                <a:r>
                  <a:rPr lang="de-DE" sz="1100" dirty="0" err="1">
                    <a:latin typeface="Arial" panose="020B0604020202020204" pitchFamily="34" charset="0"/>
                    <a:cs typeface="Arial" panose="020B0604020202020204" pitchFamily="34" charset="0"/>
                  </a:rPr>
                  <a:t>Decision</a:t>
                </a:r>
                <a:r>
                  <a:rPr lang="de-DE" sz="1100" dirty="0">
                    <a:latin typeface="Arial" panose="020B0604020202020204" pitchFamily="34" charset="0"/>
                    <a:cs typeface="Arial" panose="020B0604020202020204" pitchFamily="34" charset="0"/>
                  </a:rPr>
                  <a:t> </a:t>
                </a:r>
                <a:r>
                  <a:rPr lang="de-DE" sz="1100" dirty="0" err="1">
                    <a:latin typeface="Arial" panose="020B0604020202020204" pitchFamily="34" charset="0"/>
                    <a:cs typeface="Arial" panose="020B0604020202020204" pitchFamily="34" charset="0"/>
                  </a:rPr>
                  <a:t>Processes</a:t>
                </a:r>
                <a:endParaRPr lang="de-DE" sz="1100" dirty="0">
                  <a:latin typeface="Arial" panose="020B0604020202020204" pitchFamily="34" charset="0"/>
                  <a:cs typeface="Arial" panose="020B0604020202020204" pitchFamily="34" charset="0"/>
                </a:endParaRPr>
              </a:p>
              <a:p>
                <a:pPr algn="ctr">
                  <a:lnSpc>
                    <a:spcPts val="1800"/>
                  </a:lnSpc>
                </a:pPr>
                <a14:m>
                  <m:oMathPara xmlns:m="http://schemas.openxmlformats.org/officeDocument/2006/math">
                    <m:oMath>
                      <m:d>
                        <m:dPr>
                          <m:ctrlPr>
                            <a:rPr lang="de-DE" sz="1100" i="1">
                              <a:latin typeface="Cambria Math" panose="02040503050406030204" pitchFamily="18" charset="0"/>
                            </a:rPr>
                          </m:ctrlPr>
                        </m:dPr>
                        <m:e>
                          <m:r>
                            <a:rPr lang="de-DE" sz="1100" i="1">
                              <a:latin typeface="Cambria Math" panose="02040503050406030204" pitchFamily="18" charset="0"/>
                            </a:rPr>
                            <m:t>𝑆</m:t>
                          </m:r>
                          <m:r>
                            <a:rPr lang="de-DE" sz="1100" i="1">
                              <a:latin typeface="Cambria Math" panose="02040503050406030204" pitchFamily="18" charset="0"/>
                            </a:rPr>
                            <m:t>,</m:t>
                          </m:r>
                          <m:r>
                            <a:rPr lang="de-DE" sz="1100" i="1">
                              <a:latin typeface="Cambria Math" panose="02040503050406030204" pitchFamily="18" charset="0"/>
                            </a:rPr>
                            <m:t>𝐴</m:t>
                          </m:r>
                          <m:r>
                            <a:rPr lang="de-DE" sz="1100" i="1">
                              <a:latin typeface="Cambria Math" panose="02040503050406030204" pitchFamily="18" charset="0"/>
                            </a:rPr>
                            <m:t>,</m:t>
                          </m:r>
                          <m:r>
                            <a:rPr lang="de-DE" sz="1100" i="1">
                              <a:latin typeface="Cambria Math" panose="02040503050406030204" pitchFamily="18" charset="0"/>
                            </a:rPr>
                            <m:t>𝑝</m:t>
                          </m:r>
                          <m:d>
                            <m:dPr>
                              <m:ctrlPr>
                                <a:rPr lang="de-DE" sz="1100" i="1">
                                  <a:latin typeface="Cambria Math" panose="02040503050406030204" pitchFamily="18" charset="0"/>
                                </a:rPr>
                              </m:ctrlPr>
                            </m:dPr>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1</m:t>
                                  </m:r>
                                </m:sub>
                              </m:sSub>
                            </m:e>
                          </m:d>
                          <m:r>
                            <a:rPr lang="de-DE" sz="1100" i="1">
                              <a:latin typeface="Cambria Math" panose="02040503050406030204" pitchFamily="18" charset="0"/>
                            </a:rPr>
                            <m:t>, </m:t>
                          </m:r>
                          <m:r>
                            <a:rPr lang="de-DE" sz="1100" i="1">
                              <a:latin typeface="Cambria Math" panose="02040503050406030204" pitchFamily="18" charset="0"/>
                            </a:rPr>
                            <m:t>𝑝</m:t>
                          </m:r>
                          <m:d>
                            <m:dPr>
                              <m:ctrlPr>
                                <a:rPr lang="de-DE" sz="1100" i="1">
                                  <a:latin typeface="Cambria Math" panose="02040503050406030204" pitchFamily="18" charset="0"/>
                                </a:rPr>
                              </m:ctrlPr>
                            </m:dPr>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𝑡</m:t>
                                  </m:r>
                                  <m:r>
                                    <a:rPr lang="de-DE" sz="1100" i="1">
                                      <a:latin typeface="Cambria Math" panose="02040503050406030204" pitchFamily="18" charset="0"/>
                                    </a:rPr>
                                    <m:t>+1</m:t>
                                  </m:r>
                                </m:sub>
                              </m:sSub>
                            </m:e>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𝑡</m:t>
                                  </m:r>
                                </m:sub>
                              </m:sSub>
                              <m:r>
                                <a:rPr lang="de-DE" sz="1100" i="1">
                                  <a:latin typeface="Cambria Math" panose="02040503050406030204" pitchFamily="18" charset="0"/>
                                </a:rPr>
                                <m:t>,</m:t>
                              </m:r>
                              <m:sSub>
                                <m:sSubPr>
                                  <m:ctrlPr>
                                    <a:rPr lang="de-DE" sz="1100" i="1">
                                      <a:latin typeface="Cambria Math" panose="02040503050406030204" pitchFamily="18" charset="0"/>
                                    </a:rPr>
                                  </m:ctrlPr>
                                </m:sSubPr>
                                <m:e>
                                  <m:r>
                                    <a:rPr lang="de-DE" sz="1100" i="1">
                                      <a:latin typeface="Cambria Math" panose="02040503050406030204" pitchFamily="18" charset="0"/>
                                    </a:rPr>
                                    <m:t>𝑎</m:t>
                                  </m:r>
                                </m:e>
                                <m:sub>
                                  <m:r>
                                    <a:rPr lang="de-DE" sz="1100" i="1">
                                      <a:latin typeface="Cambria Math" panose="02040503050406030204" pitchFamily="18" charset="0"/>
                                    </a:rPr>
                                    <m:t>𝑡</m:t>
                                  </m:r>
                                </m:sub>
                              </m:sSub>
                            </m:e>
                          </m:d>
                          <m:r>
                            <a:rPr lang="de-DE" sz="1100" i="1">
                              <a:latin typeface="Cambria Math" panose="02040503050406030204" pitchFamily="18" charset="0"/>
                            </a:rPr>
                            <m:t>, </m:t>
                          </m:r>
                          <m:r>
                            <a:rPr lang="de-DE" sz="1100" i="1">
                              <a:latin typeface="Cambria Math" panose="02040503050406030204" pitchFamily="18" charset="0"/>
                            </a:rPr>
                            <m:t>𝑟</m:t>
                          </m:r>
                          <m:d>
                            <m:dPr>
                              <m:ctrlPr>
                                <a:rPr lang="de-DE" sz="1100" i="1">
                                  <a:latin typeface="Cambria Math" panose="02040503050406030204" pitchFamily="18" charset="0"/>
                                </a:rPr>
                              </m:ctrlPr>
                            </m:dPr>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𝑡</m:t>
                                  </m:r>
                                </m:sub>
                              </m:sSub>
                              <m:r>
                                <a:rPr lang="de-DE" sz="1100" i="1">
                                  <a:latin typeface="Cambria Math" panose="02040503050406030204" pitchFamily="18" charset="0"/>
                                </a:rPr>
                                <m:t>,</m:t>
                              </m:r>
                              <m:sSub>
                                <m:sSubPr>
                                  <m:ctrlPr>
                                    <a:rPr lang="de-DE" sz="1100" i="1">
                                      <a:latin typeface="Cambria Math" panose="02040503050406030204" pitchFamily="18" charset="0"/>
                                    </a:rPr>
                                  </m:ctrlPr>
                                </m:sSubPr>
                                <m:e>
                                  <m:r>
                                    <a:rPr lang="de-DE" sz="1100" i="1">
                                      <a:latin typeface="Cambria Math" panose="02040503050406030204" pitchFamily="18" charset="0"/>
                                    </a:rPr>
                                    <m:t>𝑎</m:t>
                                  </m:r>
                                </m:e>
                                <m:sub>
                                  <m:r>
                                    <a:rPr lang="de-DE" sz="1100" i="1">
                                      <a:latin typeface="Cambria Math" panose="02040503050406030204" pitchFamily="18" charset="0"/>
                                    </a:rPr>
                                    <m:t>𝑡</m:t>
                                  </m:r>
                                </m:sub>
                              </m:sSub>
                            </m:e>
                          </m:d>
                        </m:e>
                      </m:d>
                    </m:oMath>
                  </m:oMathPara>
                </a14:m>
                <a:endParaRPr lang="de-DE" sz="1100" dirty="0"/>
              </a:p>
            </p:txBody>
          </p:sp>
        </mc:Choice>
        <mc:Fallback xmlns="">
          <p:sp>
            <p:nvSpPr>
              <p:cNvPr id="16" name="Textfeld 15">
                <a:extLst>
                  <a:ext uri="{FF2B5EF4-FFF2-40B4-BE49-F238E27FC236}">
                    <a16:creationId xmlns:a16="http://schemas.microsoft.com/office/drawing/2014/main" id="{085B0364-698E-F26B-E578-AF4EF0192B71}"/>
                  </a:ext>
                </a:extLst>
              </p:cNvPr>
              <p:cNvSpPr txBox="1">
                <a:spLocks noRot="1" noChangeAspect="1" noMove="1" noResize="1" noEditPoints="1" noAdjustHandles="1" noChangeArrowheads="1" noChangeShapeType="1" noTextEdit="1"/>
              </p:cNvSpPr>
              <p:nvPr/>
            </p:nvSpPr>
            <p:spPr>
              <a:xfrm>
                <a:off x="1108741" y="1867184"/>
                <a:ext cx="2317301" cy="553998"/>
              </a:xfrm>
              <a:prstGeom prst="rect">
                <a:avLst/>
              </a:prstGeom>
              <a:blipFill>
                <a:blip r:embed="rId4"/>
                <a:stretch>
                  <a:fillRect/>
                </a:stretch>
              </a:blipFill>
            </p:spPr>
            <p:txBody>
              <a:bodyPr/>
              <a:lstStyle/>
              <a:p>
                <a:r>
                  <a:rPr lang="de-DE">
                    <a:noFill/>
                  </a:rPr>
                  <a:t> </a:t>
                </a:r>
              </a:p>
            </p:txBody>
          </p:sp>
        </mc:Fallback>
      </mc:AlternateContent>
      <p:sp>
        <p:nvSpPr>
          <p:cNvPr id="17" name="Textfeld 16">
            <a:extLst>
              <a:ext uri="{FF2B5EF4-FFF2-40B4-BE49-F238E27FC236}">
                <a16:creationId xmlns:a16="http://schemas.microsoft.com/office/drawing/2014/main" id="{CCC7BE55-5FB9-FC87-625D-107345C690A8}"/>
              </a:ext>
            </a:extLst>
          </p:cNvPr>
          <p:cNvSpPr txBox="1"/>
          <p:nvPr/>
        </p:nvSpPr>
        <p:spPr>
          <a:xfrm>
            <a:off x="1108741" y="929127"/>
            <a:ext cx="7776864" cy="338554"/>
          </a:xfrm>
          <a:prstGeom prst="rect">
            <a:avLst/>
          </a:prstGeom>
          <a:noFill/>
        </p:spPr>
        <p:txBody>
          <a:bodyPr wrap="square" rtlCol="0">
            <a:spAutoFit/>
          </a:bodyPr>
          <a:lstStyle/>
          <a:p>
            <a:r>
              <a:rPr lang="de-DE" sz="1600">
                <a:latin typeface="Arial" panose="020B0604020202020204" pitchFamily="34" charset="0"/>
                <a:cs typeface="Arial" panose="020B0604020202020204" pitchFamily="34" charset="0"/>
              </a:rPr>
              <a:t>FCDT </a:t>
            </a:r>
            <a:r>
              <a:rPr lang="de-DE" sz="1600" err="1">
                <a:latin typeface="Arial" panose="020B0604020202020204" pitchFamily="34" charset="0"/>
                <a:cs typeface="Arial" panose="020B0604020202020204" pitchFamily="34" charset="0"/>
              </a:rPr>
              <a:t>response</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strategies</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as</a:t>
            </a:r>
            <a:r>
              <a:rPr lang="de-DE" sz="1600">
                <a:latin typeface="Arial" panose="020B0604020202020204" pitchFamily="34" charset="0"/>
                <a:cs typeface="Arial" panose="020B0604020202020204" pitchFamily="34" charset="0"/>
              </a:rPr>
              <a:t> optimal </a:t>
            </a:r>
            <a:r>
              <a:rPr lang="de-DE" sz="1600" err="1">
                <a:latin typeface="Arial" panose="020B0604020202020204" pitchFamily="34" charset="0"/>
                <a:cs typeface="Arial" panose="020B0604020202020204" pitchFamily="34" charset="0"/>
              </a:rPr>
              <a:t>policies</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under</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subjective</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cost</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functions</a:t>
            </a:r>
            <a:endParaRPr lang="de-DE" sz="1600">
              <a:latin typeface="Arial" panose="020B0604020202020204" pitchFamily="34" charset="0"/>
              <a:cs typeface="Arial" panose="020B0604020202020204" pitchFamily="34" charset="0"/>
            </a:endParaRPr>
          </a:p>
        </p:txBody>
      </p:sp>
      <p:sp>
        <p:nvSpPr>
          <p:cNvPr id="18" name="Rechteck: abgerundete Ecken 17">
            <a:extLst>
              <a:ext uri="{FF2B5EF4-FFF2-40B4-BE49-F238E27FC236}">
                <a16:creationId xmlns:a16="http://schemas.microsoft.com/office/drawing/2014/main" id="{A4143FE7-06AD-8B6E-550F-87A29C161A95}"/>
              </a:ext>
            </a:extLst>
          </p:cNvPr>
          <p:cNvSpPr/>
          <p:nvPr/>
        </p:nvSpPr>
        <p:spPr>
          <a:xfrm>
            <a:off x="397869" y="1839920"/>
            <a:ext cx="715416" cy="348215"/>
          </a:xfrm>
          <a:prstGeom prst="roundRect">
            <a:avLst/>
          </a:prstGeom>
          <a:solidFill>
            <a:srgbClr val="E8D6EF"/>
          </a:solidFill>
          <a:ln>
            <a:solidFill>
              <a:srgbClr val="6B53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Freiburg</a:t>
            </a:r>
            <a:endParaRPr lang="en-US">
              <a:solidFill>
                <a:schemeClr val="tx1"/>
              </a:solidFill>
              <a:latin typeface="Arial" panose="020B0604020202020204" pitchFamily="34" charset="0"/>
              <a:cs typeface="Arial" panose="020B0604020202020204" pitchFamily="34" charset="0"/>
            </a:endParaRPr>
          </a:p>
        </p:txBody>
      </p:sp>
      <p:pic>
        <p:nvPicPr>
          <p:cNvPr id="10" name="Grafik 9" descr="Ein Bild, das Text, Diagramm, Reihe, Screenshot enthält.&#10;&#10;KI-generierte Inhalte können fehlerhaft sein.">
            <a:extLst>
              <a:ext uri="{FF2B5EF4-FFF2-40B4-BE49-F238E27FC236}">
                <a16:creationId xmlns:a16="http://schemas.microsoft.com/office/drawing/2014/main" id="{9472D8FB-B0C0-1530-0A38-F3826B80EC1B}"/>
              </a:ext>
            </a:extLst>
          </p:cNvPr>
          <p:cNvPicPr>
            <a:picLocks noChangeAspect="1"/>
          </p:cNvPicPr>
          <p:nvPr/>
        </p:nvPicPr>
        <p:blipFill>
          <a:blip r:embed="rId5"/>
          <a:stretch>
            <a:fillRect/>
          </a:stretch>
        </p:blipFill>
        <p:spPr>
          <a:xfrm>
            <a:off x="3801938" y="1742055"/>
            <a:ext cx="4743875" cy="2846325"/>
          </a:xfrm>
          <a:prstGeom prst="rect">
            <a:avLst/>
          </a:prstGeom>
        </p:spPr>
      </p:pic>
      <p:sp>
        <p:nvSpPr>
          <p:cNvPr id="11" name="Rechteck: abgerundete Ecken 10">
            <a:extLst>
              <a:ext uri="{FF2B5EF4-FFF2-40B4-BE49-F238E27FC236}">
                <a16:creationId xmlns:a16="http://schemas.microsoft.com/office/drawing/2014/main" id="{83AE57F4-23E4-1022-6A5A-018928EA0E40}"/>
              </a:ext>
            </a:extLst>
          </p:cNvPr>
          <p:cNvSpPr/>
          <p:nvPr/>
        </p:nvSpPr>
        <p:spPr>
          <a:xfrm>
            <a:off x="1014056" y="3112776"/>
            <a:ext cx="2444952" cy="343762"/>
          </a:xfrm>
          <a:prstGeom prst="roundRect">
            <a:avLst/>
          </a:prstGeom>
          <a:solidFill>
            <a:schemeClr val="bg1"/>
          </a:solid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t"/>
          <a:lstStyle/>
          <a:p>
            <a:pPr algn="ctr">
              <a:lnSpc>
                <a:spcPct val="150000"/>
              </a:lnSpc>
            </a:pPr>
            <a:r>
              <a:rPr lang="en-US" sz="1000" dirty="0">
                <a:solidFill>
                  <a:schemeClr val="tx1"/>
                </a:solidFill>
                <a:latin typeface="Arial" panose="020B0604020202020204" pitchFamily="34" charset="0"/>
                <a:ea typeface="Arial Unicode MS" panose="020B0604020202020204"/>
                <a:cs typeface="Arial" panose="020B0604020202020204" pitchFamily="34" charset="0"/>
              </a:rPr>
              <a:t>Expected reward maximization</a:t>
            </a:r>
          </a:p>
        </p:txBody>
      </p:sp>
    </p:spTree>
    <p:extLst>
      <p:ext uri="{BB962C8B-B14F-4D97-AF65-F5344CB8AC3E}">
        <p14:creationId xmlns:p14="http://schemas.microsoft.com/office/powerpoint/2010/main" val="2028753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188A6D-D34A-9B62-860B-ADEFD1A17E50}"/>
              </a:ext>
            </a:extLst>
          </p:cNvPr>
          <p:cNvSpPr>
            <a:spLocks noGrp="1"/>
          </p:cNvSpPr>
          <p:nvPr>
            <p:ph type="title"/>
          </p:nvPr>
        </p:nvSpPr>
        <p:spPr/>
        <p:txBody>
          <a:bodyPr>
            <a:normAutofit/>
          </a:bodyPr>
          <a:lstStyle/>
          <a:p>
            <a:r>
              <a:rPr lang="de-DE" sz="2400" b="0" dirty="0">
                <a:latin typeface="Arial" panose="020B0604020202020204" pitchFamily="34" charset="0"/>
                <a:cs typeface="Arial" panose="020B0604020202020204" pitchFamily="34" charset="0"/>
              </a:rPr>
              <a:t>First-stage </a:t>
            </a:r>
            <a:r>
              <a:rPr lang="de-DE" sz="2400" b="0" dirty="0" err="1">
                <a:latin typeface="Arial" panose="020B0604020202020204" pitchFamily="34" charset="0"/>
                <a:cs typeface="Arial" panose="020B0604020202020204" pitchFamily="34" charset="0"/>
              </a:rPr>
              <a:t>implementation</a:t>
            </a:r>
            <a:endParaRPr lang="de-DE" sz="2400" b="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AD62F993-3240-E5AA-D831-81BD3539D33F}"/>
              </a:ext>
            </a:extLst>
          </p:cNvPr>
          <p:cNvSpPr>
            <a:spLocks noGrp="1"/>
          </p:cNvSpPr>
          <p:nvPr>
            <p:ph idx="1"/>
          </p:nvPr>
        </p:nvSpPr>
        <p:spPr>
          <a:xfrm>
            <a:off x="457200" y="1100747"/>
            <a:ext cx="8229600" cy="3541188"/>
          </a:xfrm>
        </p:spPr>
        <p:txBody>
          <a:bodyPr>
            <a:normAutofit fontScale="77500" lnSpcReduction="20000"/>
          </a:bodyPr>
          <a:lstStyle/>
          <a:p>
            <a:pPr>
              <a:lnSpc>
                <a:spcPct val="160000"/>
              </a:lnSpc>
            </a:pPr>
            <a:r>
              <a:rPr lang="de-DE" sz="1600" dirty="0" err="1"/>
              <a:t>Application</a:t>
            </a:r>
            <a:r>
              <a:rPr lang="de-DE" sz="1600" dirty="0"/>
              <a:t> to Brüning, </a:t>
            </a:r>
            <a:r>
              <a:rPr lang="de-DE" sz="1600" dirty="0" err="1"/>
              <a:t>Manzey</a:t>
            </a:r>
            <a:r>
              <a:rPr lang="de-DE" sz="1600" dirty="0"/>
              <a:t> (2020) </a:t>
            </a:r>
            <a:r>
              <a:rPr lang="de-DE" sz="1600" dirty="0" err="1"/>
              <a:t>data</a:t>
            </a:r>
            <a:r>
              <a:rPr lang="de-DE" sz="1600" dirty="0"/>
              <a:t> </a:t>
            </a:r>
            <a:r>
              <a:rPr lang="de-DE" sz="1600" dirty="0" err="1"/>
              <a:t>subset</a:t>
            </a:r>
            <a:r>
              <a:rPr lang="de-DE" sz="1600" dirty="0"/>
              <a:t> (</a:t>
            </a:r>
            <a:r>
              <a:rPr lang="de-DE" sz="1600" dirty="0">
                <a:hlinkClick r:id="rId2"/>
              </a:rPr>
              <a:t>osf.io/x6n58</a:t>
            </a:r>
            <a:r>
              <a:rPr lang="de-DE" sz="1600" dirty="0"/>
              <a:t>)</a:t>
            </a:r>
          </a:p>
          <a:p>
            <a:pPr>
              <a:lnSpc>
                <a:spcPct val="160000"/>
              </a:lnSpc>
            </a:pPr>
            <a:r>
              <a:rPr lang="de-DE" sz="1600" dirty="0"/>
              <a:t>Full </a:t>
            </a:r>
            <a:r>
              <a:rPr lang="de-DE" sz="1600" dirty="0" err="1"/>
              <a:t>theoretical</a:t>
            </a:r>
            <a:r>
              <a:rPr lang="de-DE" sz="1600" dirty="0"/>
              <a:t> and </a:t>
            </a:r>
            <a:r>
              <a:rPr lang="de-DE" sz="1600" dirty="0" err="1"/>
              <a:t>implementational</a:t>
            </a:r>
            <a:r>
              <a:rPr lang="de-DE" sz="1600" dirty="0"/>
              <a:t> </a:t>
            </a:r>
            <a:r>
              <a:rPr lang="de-DE" sz="1600" dirty="0" err="1"/>
              <a:t>details</a:t>
            </a:r>
            <a:r>
              <a:rPr lang="de-DE" sz="1600" dirty="0"/>
              <a:t> on </a:t>
            </a:r>
            <a:r>
              <a:rPr lang="de-DE" sz="1600" dirty="0">
                <a:hlinkClick r:id="rId3"/>
              </a:rPr>
              <a:t>GitHub</a:t>
            </a:r>
            <a:r>
              <a:rPr lang="de-DE" sz="1600" dirty="0"/>
              <a:t>, </a:t>
            </a:r>
            <a:r>
              <a:rPr lang="de-DE" sz="1600" dirty="0" err="1"/>
              <a:t>including</a:t>
            </a:r>
            <a:r>
              <a:rPr lang="de-DE" sz="1600" dirty="0"/>
              <a:t> an extensive </a:t>
            </a:r>
            <a:r>
              <a:rPr lang="de-DE" sz="1600" dirty="0" err="1"/>
              <a:t>report</a:t>
            </a:r>
            <a:r>
              <a:rPr lang="de-DE" sz="1600" dirty="0"/>
              <a:t> (</a:t>
            </a:r>
            <a:r>
              <a:rPr lang="de-DE" sz="1600" dirty="0">
                <a:hlinkClick r:id="rId4"/>
              </a:rPr>
              <a:t>.</a:t>
            </a:r>
            <a:r>
              <a:rPr lang="de-DE" sz="1600" dirty="0" err="1">
                <a:hlinkClick r:id="rId4"/>
              </a:rPr>
              <a:t>pdf</a:t>
            </a:r>
            <a:r>
              <a:rPr lang="de-DE" sz="1600" dirty="0"/>
              <a:t>)</a:t>
            </a:r>
          </a:p>
          <a:p>
            <a:pPr>
              <a:lnSpc>
                <a:spcPct val="160000"/>
              </a:lnSpc>
            </a:pPr>
            <a:r>
              <a:rPr lang="de-DE" sz="1600" dirty="0"/>
              <a:t>Proof of </a:t>
            </a:r>
            <a:r>
              <a:rPr lang="de-DE" sz="1600" dirty="0" err="1"/>
              <a:t>principle</a:t>
            </a:r>
            <a:r>
              <a:rPr lang="de-DE" sz="1600" dirty="0"/>
              <a:t> </a:t>
            </a:r>
            <a:r>
              <a:rPr lang="de-DE" sz="1600" dirty="0" err="1"/>
              <a:t>shortcomings</a:t>
            </a:r>
            <a:endParaRPr lang="de-DE" sz="1600" dirty="0"/>
          </a:p>
          <a:p>
            <a:pPr lvl="1">
              <a:lnSpc>
                <a:spcPct val="160000"/>
              </a:lnSpc>
              <a:buFont typeface="Courier New" panose="02070309020205020404" pitchFamily="49" charset="0"/>
              <a:buChar char="o"/>
            </a:pPr>
            <a:r>
              <a:rPr lang="de-DE" sz="1600" dirty="0"/>
              <a:t>Generative </a:t>
            </a:r>
            <a:r>
              <a:rPr lang="de-DE" sz="1600" dirty="0" err="1"/>
              <a:t>simulations</a:t>
            </a:r>
            <a:r>
              <a:rPr lang="de-DE" sz="1600" dirty="0"/>
              <a:t> of </a:t>
            </a:r>
            <a:r>
              <a:rPr lang="de-DE" sz="1600" dirty="0" err="1"/>
              <a:t>restricted</a:t>
            </a:r>
            <a:r>
              <a:rPr lang="de-DE" sz="1600" dirty="0"/>
              <a:t> FCDT </a:t>
            </a:r>
            <a:r>
              <a:rPr lang="de-DE" sz="1600" dirty="0" err="1"/>
              <a:t>paradigm</a:t>
            </a:r>
            <a:r>
              <a:rPr lang="de-DE" sz="1600" dirty="0"/>
              <a:t>, </a:t>
            </a:r>
            <a:r>
              <a:rPr lang="de-DE" sz="1600" dirty="0" err="1"/>
              <a:t>no</a:t>
            </a:r>
            <a:r>
              <a:rPr lang="de-DE" sz="1600" dirty="0"/>
              <a:t> </a:t>
            </a:r>
            <a:r>
              <a:rPr lang="de-DE" sz="1600" dirty="0" err="1"/>
              <a:t>application</a:t>
            </a:r>
            <a:r>
              <a:rPr lang="de-DE" sz="1600" dirty="0"/>
              <a:t> to </a:t>
            </a:r>
            <a:r>
              <a:rPr lang="de-DE" sz="1600" dirty="0" err="1"/>
              <a:t>empirical</a:t>
            </a:r>
            <a:r>
              <a:rPr lang="de-DE" sz="1600" dirty="0"/>
              <a:t> </a:t>
            </a:r>
            <a:r>
              <a:rPr lang="de-DE" sz="1600" dirty="0" err="1"/>
              <a:t>data</a:t>
            </a:r>
            <a:endParaRPr lang="de-DE" sz="1600" dirty="0"/>
          </a:p>
          <a:p>
            <a:pPr lvl="1">
              <a:lnSpc>
                <a:spcPct val="160000"/>
              </a:lnSpc>
              <a:buFont typeface="Courier New" panose="02070309020205020404" pitchFamily="49" charset="0"/>
              <a:buChar char="o"/>
            </a:pPr>
            <a:r>
              <a:rPr lang="de-DE" sz="1600" dirty="0" err="1"/>
              <a:t>Reward-discounted</a:t>
            </a:r>
            <a:r>
              <a:rPr lang="de-DE" sz="1600" dirty="0"/>
              <a:t> infinite-</a:t>
            </a:r>
            <a:r>
              <a:rPr lang="de-DE" sz="1600" dirty="0" err="1"/>
              <a:t>horizon</a:t>
            </a:r>
            <a:r>
              <a:rPr lang="de-DE" sz="1600" dirty="0"/>
              <a:t> MDP </a:t>
            </a:r>
            <a:r>
              <a:rPr lang="de-DE" sz="1600" dirty="0" err="1"/>
              <a:t>approximation</a:t>
            </a:r>
            <a:r>
              <a:rPr lang="de-DE" sz="1600" dirty="0"/>
              <a:t> </a:t>
            </a:r>
            <a:r>
              <a:rPr lang="de-DE" sz="1600" dirty="0" err="1"/>
              <a:t>based</a:t>
            </a:r>
            <a:r>
              <a:rPr lang="de-DE" sz="1600" dirty="0"/>
              <a:t> on </a:t>
            </a:r>
            <a:r>
              <a:rPr lang="de-DE" sz="1600" dirty="0" err="1"/>
              <a:t>policy</a:t>
            </a:r>
            <a:r>
              <a:rPr lang="de-DE" sz="1600" dirty="0"/>
              <a:t> </a:t>
            </a:r>
            <a:r>
              <a:rPr lang="de-DE" sz="1600" dirty="0" err="1"/>
              <a:t>iteration</a:t>
            </a:r>
            <a:endParaRPr lang="de-DE" sz="1600" dirty="0"/>
          </a:p>
          <a:p>
            <a:pPr>
              <a:lnSpc>
                <a:spcPct val="160000"/>
              </a:lnSpc>
            </a:pPr>
            <a:r>
              <a:rPr lang="de-DE" sz="1600" dirty="0"/>
              <a:t>First-stage </a:t>
            </a:r>
            <a:r>
              <a:rPr lang="de-DE" sz="1600" dirty="0" err="1"/>
              <a:t>implementation</a:t>
            </a:r>
            <a:r>
              <a:rPr lang="de-DE" sz="1600" dirty="0"/>
              <a:t> </a:t>
            </a:r>
            <a:r>
              <a:rPr lang="de-DE" sz="1600" dirty="0" err="1"/>
              <a:t>advances</a:t>
            </a:r>
            <a:endParaRPr lang="de-DE" sz="1600" dirty="0"/>
          </a:p>
          <a:p>
            <a:pPr lvl="1">
              <a:lnSpc>
                <a:spcPct val="160000"/>
              </a:lnSpc>
              <a:buFont typeface="Courier New" panose="02070309020205020404" pitchFamily="49" charset="0"/>
              <a:buChar char="o"/>
            </a:pPr>
            <a:r>
              <a:rPr lang="de-DE" sz="1600" dirty="0" err="1"/>
              <a:t>Application</a:t>
            </a:r>
            <a:r>
              <a:rPr lang="de-DE" sz="1600" dirty="0"/>
              <a:t> to </a:t>
            </a:r>
            <a:r>
              <a:rPr lang="de-DE" sz="1600" dirty="0" err="1"/>
              <a:t>rich</a:t>
            </a:r>
            <a:r>
              <a:rPr lang="de-DE" sz="1600" dirty="0"/>
              <a:t> </a:t>
            </a:r>
            <a:r>
              <a:rPr lang="de-DE" sz="1600" dirty="0" err="1"/>
              <a:t>empirical</a:t>
            </a:r>
            <a:r>
              <a:rPr lang="de-DE" sz="1600" dirty="0"/>
              <a:t> </a:t>
            </a:r>
            <a:r>
              <a:rPr lang="de-DE" sz="1600" dirty="0" err="1"/>
              <a:t>data</a:t>
            </a:r>
            <a:r>
              <a:rPr lang="de-DE" sz="1600" dirty="0"/>
              <a:t> in the </a:t>
            </a:r>
            <a:r>
              <a:rPr lang="de-DE" sz="1600" dirty="0" err="1"/>
              <a:t>agentic</a:t>
            </a:r>
            <a:r>
              <a:rPr lang="de-DE" sz="1600" dirty="0"/>
              <a:t> behavioral </a:t>
            </a:r>
            <a:r>
              <a:rPr lang="de-DE" sz="1600" dirty="0" err="1"/>
              <a:t>modeling</a:t>
            </a:r>
            <a:r>
              <a:rPr lang="de-DE" sz="1600" dirty="0"/>
              <a:t> </a:t>
            </a:r>
            <a:r>
              <a:rPr lang="de-DE" sz="1600" dirty="0" err="1"/>
              <a:t>framework</a:t>
            </a:r>
            <a:r>
              <a:rPr lang="de-DE" sz="1600" dirty="0"/>
              <a:t> (</a:t>
            </a:r>
            <a:r>
              <a:rPr lang="de-DE" sz="1600" dirty="0">
                <a:hlinkClick r:id="rId5"/>
              </a:rPr>
              <a:t>Ostwald et al. (2026)</a:t>
            </a:r>
            <a:r>
              <a:rPr lang="de-DE" sz="1600" dirty="0"/>
              <a:t>) </a:t>
            </a:r>
          </a:p>
          <a:p>
            <a:pPr lvl="1">
              <a:lnSpc>
                <a:spcPct val="160000"/>
              </a:lnSpc>
              <a:buFont typeface="Courier New" panose="02070309020205020404" pitchFamily="49" charset="0"/>
              <a:buChar char="o"/>
            </a:pPr>
            <a:r>
              <a:rPr lang="de-DE" sz="1600" dirty="0"/>
              <a:t>Finite </a:t>
            </a:r>
            <a:r>
              <a:rPr lang="de-DE" sz="1600" dirty="0" err="1"/>
              <a:t>horizon</a:t>
            </a:r>
            <a:r>
              <a:rPr lang="de-DE" sz="1600" dirty="0"/>
              <a:t> MDP </a:t>
            </a:r>
            <a:r>
              <a:rPr lang="de-DE" sz="1600" dirty="0" err="1"/>
              <a:t>without</a:t>
            </a:r>
            <a:r>
              <a:rPr lang="de-DE" sz="1600" dirty="0"/>
              <a:t> </a:t>
            </a:r>
            <a:r>
              <a:rPr lang="de-DE" sz="1600" dirty="0" err="1"/>
              <a:t>reward</a:t>
            </a:r>
            <a:r>
              <a:rPr lang="de-DE" sz="1600" dirty="0"/>
              <a:t> </a:t>
            </a:r>
            <a:r>
              <a:rPr lang="de-DE" sz="1600" dirty="0" err="1"/>
              <a:t>discounting</a:t>
            </a:r>
            <a:r>
              <a:rPr lang="de-DE" sz="1600" dirty="0"/>
              <a:t> </a:t>
            </a:r>
            <a:r>
              <a:rPr lang="de-DE" sz="1600" dirty="0" err="1"/>
              <a:t>solved</a:t>
            </a:r>
            <a:r>
              <a:rPr lang="de-DE" sz="1600" dirty="0"/>
              <a:t> by </a:t>
            </a:r>
            <a:r>
              <a:rPr lang="de-DE" sz="1600" dirty="0" err="1"/>
              <a:t>backward</a:t>
            </a:r>
            <a:r>
              <a:rPr lang="de-DE" sz="1600" dirty="0"/>
              <a:t> </a:t>
            </a:r>
            <a:r>
              <a:rPr lang="de-DE" sz="1600" dirty="0" err="1"/>
              <a:t>induction</a:t>
            </a:r>
            <a:endParaRPr lang="de-DE" sz="1600" dirty="0"/>
          </a:p>
          <a:p>
            <a:pPr>
              <a:lnSpc>
                <a:spcPct val="160000"/>
              </a:lnSpc>
            </a:pPr>
            <a:r>
              <a:rPr lang="de-DE" sz="1600" dirty="0"/>
              <a:t>First-stage </a:t>
            </a:r>
            <a:r>
              <a:rPr lang="de-DE" sz="1600" dirty="0" err="1"/>
              <a:t>implementation</a:t>
            </a:r>
            <a:r>
              <a:rPr lang="de-DE" sz="1600" dirty="0"/>
              <a:t> </a:t>
            </a:r>
            <a:r>
              <a:rPr lang="de-DE" sz="1600" dirty="0" err="1"/>
              <a:t>shortcomings</a:t>
            </a:r>
            <a:endParaRPr lang="de-DE" sz="1600" dirty="0"/>
          </a:p>
          <a:p>
            <a:pPr lvl="1">
              <a:lnSpc>
                <a:spcPct val="160000"/>
              </a:lnSpc>
              <a:buFont typeface="Courier New" panose="02070309020205020404" pitchFamily="49" charset="0"/>
              <a:buChar char="o"/>
            </a:pPr>
            <a:r>
              <a:rPr lang="de-DE" sz="1600" dirty="0"/>
              <a:t>Focus on </a:t>
            </a:r>
            <a:r>
              <a:rPr lang="de-DE" sz="1600" dirty="0" err="1"/>
              <a:t>response</a:t>
            </a:r>
            <a:r>
              <a:rPr lang="de-DE" sz="1600" dirty="0"/>
              <a:t> </a:t>
            </a:r>
            <a:r>
              <a:rPr lang="de-DE" sz="1600" dirty="0" err="1"/>
              <a:t>data</a:t>
            </a:r>
            <a:r>
              <a:rPr lang="de-DE" sz="1600" dirty="0"/>
              <a:t>, not </a:t>
            </a:r>
            <a:r>
              <a:rPr lang="de-DE" sz="1600" dirty="0" err="1"/>
              <a:t>reaction</a:t>
            </a:r>
            <a:r>
              <a:rPr lang="de-DE" sz="1600" dirty="0"/>
              <a:t> </a:t>
            </a:r>
            <a:r>
              <a:rPr lang="de-DE" sz="1600" dirty="0" err="1"/>
              <a:t>times</a:t>
            </a:r>
            <a:r>
              <a:rPr lang="de-DE" sz="1600" dirty="0"/>
              <a:t> in a semi-MDP </a:t>
            </a:r>
            <a:r>
              <a:rPr lang="de-DE" sz="1600" dirty="0" err="1"/>
              <a:t>extension</a:t>
            </a:r>
            <a:endParaRPr lang="de-DE" sz="1600" dirty="0"/>
          </a:p>
          <a:p>
            <a:pPr lvl="1">
              <a:lnSpc>
                <a:spcPct val="160000"/>
              </a:lnSpc>
              <a:buFont typeface="Courier New" panose="02070309020205020404" pitchFamily="49" charset="0"/>
              <a:buChar char="o"/>
            </a:pPr>
            <a:r>
              <a:rPr lang="de-DE" sz="1600" dirty="0" err="1"/>
              <a:t>No</a:t>
            </a:r>
            <a:r>
              <a:rPr lang="de-DE" sz="1600" dirty="0"/>
              <a:t> </a:t>
            </a:r>
            <a:r>
              <a:rPr lang="de-DE" sz="1600" dirty="0" err="1"/>
              <a:t>consideration</a:t>
            </a:r>
            <a:r>
              <a:rPr lang="de-DE" sz="1600" dirty="0"/>
              <a:t> of dual-task </a:t>
            </a:r>
            <a:r>
              <a:rPr lang="de-DE" sz="1600" dirty="0" err="1"/>
              <a:t>efficiency</a:t>
            </a:r>
            <a:r>
              <a:rPr lang="de-DE" sz="1600" dirty="0"/>
              <a:t> </a:t>
            </a:r>
            <a:r>
              <a:rPr lang="de-DE" sz="1600" dirty="0" err="1"/>
              <a:t>or</a:t>
            </a:r>
            <a:r>
              <a:rPr lang="de-DE" sz="1600" dirty="0"/>
              <a:t> domain-</a:t>
            </a:r>
            <a:r>
              <a:rPr lang="de-DE" sz="1600" dirty="0" err="1"/>
              <a:t>specific</a:t>
            </a:r>
            <a:r>
              <a:rPr lang="de-DE" sz="1600" dirty="0"/>
              <a:t> </a:t>
            </a:r>
            <a:r>
              <a:rPr lang="de-DE" sz="1600" dirty="0" err="1"/>
              <a:t>cognitive</a:t>
            </a:r>
            <a:r>
              <a:rPr lang="de-DE" sz="1600" dirty="0"/>
              <a:t> </a:t>
            </a:r>
            <a:r>
              <a:rPr lang="de-DE" sz="1600" dirty="0" err="1"/>
              <a:t>processing</a:t>
            </a:r>
            <a:r>
              <a:rPr lang="de-DE" sz="1600" dirty="0"/>
              <a:t> </a:t>
            </a:r>
            <a:endParaRPr lang="de-DE" sz="1700" dirty="0"/>
          </a:p>
        </p:txBody>
      </p:sp>
      <p:sp>
        <p:nvSpPr>
          <p:cNvPr id="4" name="Foliennummernplatzhalter 3">
            <a:extLst>
              <a:ext uri="{FF2B5EF4-FFF2-40B4-BE49-F238E27FC236}">
                <a16:creationId xmlns:a16="http://schemas.microsoft.com/office/drawing/2014/main" id="{C1F5C49A-D8F8-DCC1-09BE-615300921DA7}"/>
              </a:ext>
            </a:extLst>
          </p:cNvPr>
          <p:cNvSpPr>
            <a:spLocks noGrp="1"/>
          </p:cNvSpPr>
          <p:nvPr>
            <p:ph type="sldNum" idx="12"/>
          </p:nvPr>
        </p:nvSpPr>
        <p:spPr/>
        <p:txBody>
          <a:bodyPr/>
          <a:lstStyle/>
          <a:p>
            <a:fld id="{5CD88B4E-D815-417B-99FD-41D66E5C06D4}" type="slidenum">
              <a:rPr lang="de-DE" smtClean="0"/>
              <a:t>11</a:t>
            </a:fld>
            <a:endParaRPr lang="de-DE"/>
          </a:p>
        </p:txBody>
      </p:sp>
      <mc:AlternateContent xmlns:mc="http://schemas.openxmlformats.org/markup-compatibility/2006" xmlns:a14="http://schemas.microsoft.com/office/drawing/2010/main">
        <mc:Choice Requires="a14">
          <p:sp>
            <p:nvSpPr>
              <p:cNvPr id="5" name="Textfeld 4">
                <a:extLst>
                  <a:ext uri="{FF2B5EF4-FFF2-40B4-BE49-F238E27FC236}">
                    <a16:creationId xmlns:a16="http://schemas.microsoft.com/office/drawing/2014/main" id="{0D958D6F-CD8E-51BF-149F-122193F5D98E}"/>
                  </a:ext>
                </a:extLst>
              </p:cNvPr>
              <p:cNvSpPr txBox="1"/>
              <p:nvPr/>
            </p:nvSpPr>
            <p:spPr>
              <a:xfrm>
                <a:off x="3562705" y="4426491"/>
                <a:ext cx="5124095" cy="215444"/>
              </a:xfrm>
              <a:prstGeom prst="rect">
                <a:avLst/>
              </a:prstGeom>
              <a:noFill/>
            </p:spPr>
            <p:txBody>
              <a:bodyPr wrap="none" lIns="0" tIns="0" rIns="0" bIns="0" rtlCol="0">
                <a:spAutoFit/>
              </a:bodyPr>
              <a:lstStyle/>
              <a:p>
                <a14:m>
                  <m:oMath xmlns:m="http://schemas.openxmlformats.org/officeDocument/2006/math">
                    <m:r>
                      <a:rPr lang="de-DE" sz="1400" b="0" i="1" smtClean="0">
                        <a:latin typeface="Cambria Math" panose="02040503050406030204" pitchFamily="18" charset="0"/>
                      </a:rPr>
                      <m:t>⇒</m:t>
                    </m:r>
                  </m:oMath>
                </a14:m>
                <a:r>
                  <a:rPr lang="de-DE" sz="1400" dirty="0">
                    <a:latin typeface="Arial" panose="020B0604020202020204" pitchFamily="34" charset="0"/>
                    <a:cs typeface="Arial" panose="020B0604020202020204" pitchFamily="34" charset="0"/>
                  </a:rPr>
                  <a:t> </a:t>
                </a:r>
                <a:r>
                  <a:rPr lang="de-DE" sz="1400" dirty="0">
                    <a:solidFill>
                      <a:srgbClr val="00B050"/>
                    </a:solidFill>
                    <a:latin typeface="Arial" panose="020B0604020202020204" pitchFamily="34" charset="0"/>
                    <a:cs typeface="Arial" panose="020B0604020202020204" pitchFamily="34" charset="0"/>
                  </a:rPr>
                  <a:t>Technical </a:t>
                </a:r>
                <a:r>
                  <a:rPr lang="de-DE" sz="1400" dirty="0" err="1">
                    <a:solidFill>
                      <a:srgbClr val="00B050"/>
                    </a:solidFill>
                    <a:latin typeface="Arial" panose="020B0604020202020204" pitchFamily="34" charset="0"/>
                    <a:cs typeface="Arial" panose="020B0604020202020204" pitchFamily="34" charset="0"/>
                  </a:rPr>
                  <a:t>advance</a:t>
                </a:r>
                <a:r>
                  <a:rPr lang="de-DE" sz="1400" dirty="0">
                    <a:solidFill>
                      <a:srgbClr val="00B050"/>
                    </a:solidFill>
                    <a:latin typeface="Arial" panose="020B0604020202020204" pitchFamily="34" charset="0"/>
                    <a:cs typeface="Arial" panose="020B0604020202020204" pitchFamily="34" charset="0"/>
                  </a:rPr>
                  <a:t> </a:t>
                </a:r>
                <a:r>
                  <a:rPr lang="de-DE" sz="1400" dirty="0">
                    <a:solidFill>
                      <a:srgbClr val="00B050"/>
                    </a:solidFill>
                    <a:latin typeface="Arial" panose="020B0604020202020204" pitchFamily="34" charset="0"/>
                    <a:cs typeface="Arial" panose="020B0604020202020204" pitchFamily="34" charset="0"/>
                    <a:sym typeface="Wingdings" panose="05000000000000000000" pitchFamily="2" charset="2"/>
                  </a:rPr>
                  <a:t> </a:t>
                </a:r>
                <a:r>
                  <a:rPr lang="de-DE" sz="1400" dirty="0">
                    <a:solidFill>
                      <a:schemeClr val="accent6">
                        <a:lumMod val="50000"/>
                      </a:schemeClr>
                    </a:solidFill>
                    <a:latin typeface="Arial" panose="020B0604020202020204" pitchFamily="34" charset="0"/>
                    <a:cs typeface="Arial" panose="020B0604020202020204" pitchFamily="34" charset="0"/>
                  </a:rPr>
                  <a:t>Psychological-</a:t>
                </a:r>
                <a:r>
                  <a:rPr lang="de-DE" sz="1400" dirty="0" err="1">
                    <a:solidFill>
                      <a:schemeClr val="accent6">
                        <a:lumMod val="50000"/>
                      </a:schemeClr>
                    </a:solidFill>
                    <a:latin typeface="Arial" panose="020B0604020202020204" pitchFamily="34" charset="0"/>
                    <a:cs typeface="Arial" panose="020B0604020202020204" pitchFamily="34" charset="0"/>
                  </a:rPr>
                  <a:t>neurocognitive</a:t>
                </a:r>
                <a:r>
                  <a:rPr lang="de-DE" sz="1400" dirty="0">
                    <a:solidFill>
                      <a:schemeClr val="accent6">
                        <a:lumMod val="50000"/>
                      </a:schemeClr>
                    </a:solidFill>
                    <a:latin typeface="Arial" panose="020B0604020202020204" pitchFamily="34" charset="0"/>
                    <a:cs typeface="Arial" panose="020B0604020202020204" pitchFamily="34" charset="0"/>
                  </a:rPr>
                  <a:t> </a:t>
                </a:r>
                <a:r>
                  <a:rPr lang="de-DE" sz="1400" dirty="0" err="1">
                    <a:solidFill>
                      <a:schemeClr val="accent6">
                        <a:lumMod val="50000"/>
                      </a:schemeClr>
                    </a:solidFill>
                    <a:latin typeface="Arial" panose="020B0604020202020204" pitchFamily="34" charset="0"/>
                    <a:cs typeface="Arial" panose="020B0604020202020204" pitchFamily="34" charset="0"/>
                  </a:rPr>
                  <a:t>advance</a:t>
                </a:r>
                <a:r>
                  <a:rPr lang="de-DE" sz="1400" dirty="0">
                    <a:solidFill>
                      <a:schemeClr val="accent6">
                        <a:lumMod val="50000"/>
                      </a:schemeClr>
                    </a:solidFill>
                    <a:latin typeface="Arial" panose="020B0604020202020204" pitchFamily="34" charset="0"/>
                    <a:cs typeface="Arial" panose="020B0604020202020204" pitchFamily="34" charset="0"/>
                  </a:rPr>
                  <a:t> </a:t>
                </a:r>
                <a:r>
                  <a:rPr lang="de-DE" sz="1400" dirty="0">
                    <a:solidFill>
                      <a:schemeClr val="accent6">
                        <a:lumMod val="50000"/>
                      </a:schemeClr>
                    </a:solidFill>
                    <a:latin typeface="Arial" panose="020B0604020202020204" pitchFamily="34" charset="0"/>
                    <a:cs typeface="Arial" panose="020B0604020202020204" pitchFamily="34" charset="0"/>
                    <a:sym typeface="Wingdings" panose="05000000000000000000" pitchFamily="2" charset="2"/>
                  </a:rPr>
                  <a:t></a:t>
                </a:r>
                <a:endParaRPr lang="de-DE" sz="1400" dirty="0">
                  <a:solidFill>
                    <a:schemeClr val="accent6">
                      <a:lumMod val="50000"/>
                    </a:schemeClr>
                  </a:solidFill>
                  <a:latin typeface="Arial" panose="020B0604020202020204" pitchFamily="34" charset="0"/>
                  <a:cs typeface="Arial" panose="020B0604020202020204" pitchFamily="34" charset="0"/>
                </a:endParaRPr>
              </a:p>
            </p:txBody>
          </p:sp>
        </mc:Choice>
        <mc:Fallback xmlns="">
          <p:sp>
            <p:nvSpPr>
              <p:cNvPr id="5" name="Textfeld 4">
                <a:extLst>
                  <a:ext uri="{FF2B5EF4-FFF2-40B4-BE49-F238E27FC236}">
                    <a16:creationId xmlns:a16="http://schemas.microsoft.com/office/drawing/2014/main" id="{0D958D6F-CD8E-51BF-149F-122193F5D98E}"/>
                  </a:ext>
                </a:extLst>
              </p:cNvPr>
              <p:cNvSpPr txBox="1">
                <a:spLocks noRot="1" noChangeAspect="1" noMove="1" noResize="1" noEditPoints="1" noAdjustHandles="1" noChangeArrowheads="1" noChangeShapeType="1" noTextEdit="1"/>
              </p:cNvSpPr>
              <p:nvPr/>
            </p:nvSpPr>
            <p:spPr>
              <a:xfrm>
                <a:off x="3562705" y="4426491"/>
                <a:ext cx="5124095" cy="215444"/>
              </a:xfrm>
              <a:prstGeom prst="rect">
                <a:avLst/>
              </a:prstGeom>
              <a:blipFill>
                <a:blip r:embed="rId6"/>
                <a:stretch>
                  <a:fillRect l="-951" t="-25714" r="-1070" b="-51429"/>
                </a:stretch>
              </a:blipFill>
            </p:spPr>
            <p:txBody>
              <a:bodyPr/>
              <a:lstStyle/>
              <a:p>
                <a:r>
                  <a:rPr lang="de-DE">
                    <a:noFill/>
                  </a:rPr>
                  <a:t> </a:t>
                </a:r>
              </a:p>
            </p:txBody>
          </p:sp>
        </mc:Fallback>
      </mc:AlternateContent>
    </p:spTree>
    <p:extLst>
      <p:ext uri="{BB962C8B-B14F-4D97-AF65-F5344CB8AC3E}">
        <p14:creationId xmlns:p14="http://schemas.microsoft.com/office/powerpoint/2010/main" val="322874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648F-1946-047A-EC11-1A546F6A995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4991C5E-7E98-3982-6E0F-3330563D19C1}"/>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sp>
        <p:nvSpPr>
          <p:cNvPr id="4" name="Foliennummernplatzhalter 3">
            <a:extLst>
              <a:ext uri="{FF2B5EF4-FFF2-40B4-BE49-F238E27FC236}">
                <a16:creationId xmlns:a16="http://schemas.microsoft.com/office/drawing/2014/main" id="{B999576A-0D22-1D16-6046-F234E59FAD4C}"/>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12</a:t>
            </a:fld>
            <a:endParaRPr lang="de-DE"/>
          </a:p>
        </p:txBody>
      </p:sp>
      <p:sp>
        <p:nvSpPr>
          <p:cNvPr id="16" name="Textfeld 15">
            <a:extLst>
              <a:ext uri="{FF2B5EF4-FFF2-40B4-BE49-F238E27FC236}">
                <a16:creationId xmlns:a16="http://schemas.microsoft.com/office/drawing/2014/main" id="{F2484787-F4B8-D35E-E37C-0C2402EFA3BA}"/>
              </a:ext>
            </a:extLst>
          </p:cNvPr>
          <p:cNvSpPr txBox="1"/>
          <p:nvPr/>
        </p:nvSpPr>
        <p:spPr>
          <a:xfrm>
            <a:off x="1132928" y="4379962"/>
            <a:ext cx="6753452" cy="215444"/>
          </a:xfrm>
          <a:prstGeom prst="rect">
            <a:avLst/>
          </a:prstGeom>
          <a:noFill/>
        </p:spPr>
        <p:txBody>
          <a:bodyPr wrap="none" lIns="0" tIns="0" rIns="0" bIns="0" rtlCol="0">
            <a:spAutoFit/>
          </a:bodyPr>
          <a:lstStyle/>
          <a:p>
            <a:r>
              <a:rPr lang="de-DE" sz="1400" dirty="0" err="1">
                <a:latin typeface="Arial" panose="020B0604020202020204" pitchFamily="34" charset="0"/>
                <a:cs typeface="Arial" panose="020B0604020202020204" pitchFamily="34" charset="0"/>
              </a:rPr>
              <a:t>Instructions</a:t>
            </a:r>
            <a:r>
              <a:rPr lang="de-DE" sz="1400" dirty="0">
                <a:latin typeface="Arial" panose="020B0604020202020204" pitchFamily="34" charset="0"/>
                <a:cs typeface="Arial" panose="020B0604020202020204" pitchFamily="34" charset="0"/>
              </a:rPr>
              <a:t> | </a:t>
            </a:r>
            <a:r>
              <a:rPr lang="de-DE" sz="1400" dirty="0" err="1">
                <a:latin typeface="Arial" panose="020B0604020202020204" pitchFamily="34" charset="0"/>
                <a:cs typeface="Arial" panose="020B0604020202020204" pitchFamily="34" charset="0"/>
              </a:rPr>
              <a:t>Balanced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task</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performance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with</a:t>
            </a:r>
            <a:r>
              <a:rPr lang="de-DE" sz="1400" dirty="0">
                <a:latin typeface="Arial" panose="020B0604020202020204" pitchFamily="34" charset="0"/>
                <a:cs typeface="Arial" panose="020B0604020202020204" pitchFamily="34" charset="0"/>
              </a:rPr>
              <a:t> high </a:t>
            </a:r>
            <a:r>
              <a:rPr lang="de-DE" sz="1400" dirty="0" err="1">
                <a:latin typeface="Arial" panose="020B0604020202020204" pitchFamily="34" charset="0"/>
                <a:cs typeface="Arial" panose="020B0604020202020204" pitchFamily="34" charset="0"/>
              </a:rPr>
              <a:t>accuracy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within</a:t>
            </a:r>
            <a:r>
              <a:rPr lang="de-DE" sz="1400" dirty="0">
                <a:latin typeface="Arial" panose="020B0604020202020204" pitchFamily="34" charset="0"/>
                <a:cs typeface="Arial" panose="020B0604020202020204" pitchFamily="34" charset="0"/>
              </a:rPr>
              <a:t> a </a:t>
            </a:r>
            <a:r>
              <a:rPr lang="de-DE" sz="1400" dirty="0" err="1">
                <a:latin typeface="Arial" panose="020B0604020202020204" pitchFamily="34" charset="0"/>
                <a:cs typeface="Arial" panose="020B0604020202020204" pitchFamily="34" charset="0"/>
              </a:rPr>
              <a:t>given</a:t>
            </a:r>
            <a:r>
              <a:rPr lang="de-DE" sz="1400" dirty="0">
                <a:latin typeface="Arial" panose="020B0604020202020204" pitchFamily="34" charset="0"/>
                <a:cs typeface="Arial" panose="020B0604020202020204" pitchFamily="34" charset="0"/>
              </a:rPr>
              <a:t> time </a:t>
            </a:r>
            <a:r>
              <a:rPr lang="de-DE" sz="1400" dirty="0" err="1">
                <a:latin typeface="Arial" panose="020B0604020202020204" pitchFamily="34" charset="0"/>
                <a:cs typeface="Arial" panose="020B0604020202020204" pitchFamily="34" charset="0"/>
              </a:rPr>
              <a:t>limit</a:t>
            </a:r>
            <a:r>
              <a:rPr lang="de-DE" sz="1400" dirty="0">
                <a:latin typeface="Arial" panose="020B0604020202020204" pitchFamily="34" charset="0"/>
                <a:cs typeface="Arial" panose="020B0604020202020204" pitchFamily="34" charset="0"/>
              </a:rPr>
              <a:t>  </a:t>
            </a:r>
          </a:p>
        </p:txBody>
      </p:sp>
      <p:pic>
        <p:nvPicPr>
          <p:cNvPr id="22" name="Grafik 21">
            <a:extLst>
              <a:ext uri="{FF2B5EF4-FFF2-40B4-BE49-F238E27FC236}">
                <a16:creationId xmlns:a16="http://schemas.microsoft.com/office/drawing/2014/main" id="{AFAC9A91-51B3-DC1F-9FC8-ED4D04A82083}"/>
              </a:ext>
            </a:extLst>
          </p:cNvPr>
          <p:cNvPicPr>
            <a:picLocks noChangeAspect="1"/>
          </p:cNvPicPr>
          <p:nvPr/>
        </p:nvPicPr>
        <p:blipFill>
          <a:blip r:embed="rId2">
            <a:extLst>
              <a:ext uri="{28A0092B-C50C-407E-A947-70E740481C1C}">
                <a14:useLocalDpi xmlns:a14="http://schemas.microsoft.com/office/drawing/2010/main" val="0"/>
              </a:ext>
            </a:extLst>
          </a:blip>
          <a:srcRect l="6894" t="2676" b="4005"/>
          <a:stretch>
            <a:fillRect/>
          </a:stretch>
        </p:blipFill>
        <p:spPr>
          <a:xfrm>
            <a:off x="1605305" y="972457"/>
            <a:ext cx="5933389" cy="3345159"/>
          </a:xfrm>
          <a:prstGeom prst="rect">
            <a:avLst/>
          </a:prstGeom>
        </p:spPr>
      </p:pic>
    </p:spTree>
    <p:extLst>
      <p:ext uri="{BB962C8B-B14F-4D97-AF65-F5344CB8AC3E}">
        <p14:creationId xmlns:p14="http://schemas.microsoft.com/office/powerpoint/2010/main" val="2511929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0C717-1EC3-29FD-AD17-7AC420FF632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7098E9A-1C5F-DFF3-900B-E55E9EB3C68F}"/>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pic>
        <p:nvPicPr>
          <p:cNvPr id="5" name="Grafik 4">
            <a:extLst>
              <a:ext uri="{FF2B5EF4-FFF2-40B4-BE49-F238E27FC236}">
                <a16:creationId xmlns:a16="http://schemas.microsoft.com/office/drawing/2014/main" id="{36B3953C-7EB2-7C87-751C-1CAF1FCFBE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3885" y="810491"/>
            <a:ext cx="5676229" cy="3803072"/>
          </a:xfrm>
          <a:prstGeom prst="rect">
            <a:avLst/>
          </a:prstGeom>
          <a:noFill/>
        </p:spPr>
      </p:pic>
      <p:sp>
        <p:nvSpPr>
          <p:cNvPr id="4" name="Foliennummernplatzhalter 3">
            <a:extLst>
              <a:ext uri="{FF2B5EF4-FFF2-40B4-BE49-F238E27FC236}">
                <a16:creationId xmlns:a16="http://schemas.microsoft.com/office/drawing/2014/main" id="{C2EAEB96-9BA7-9EEB-D8EA-0CF4AB09403B}"/>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13</a:t>
            </a:fld>
            <a:endParaRPr lang="de-DE"/>
          </a:p>
        </p:txBody>
      </p:sp>
    </p:spTree>
    <p:extLst>
      <p:ext uri="{BB962C8B-B14F-4D97-AF65-F5344CB8AC3E}">
        <p14:creationId xmlns:p14="http://schemas.microsoft.com/office/powerpoint/2010/main" val="4149499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9E3A6-F850-2B55-2E1F-E18DF88FC4A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7F3FE71-C1F0-A271-4424-F859B8A83D00}"/>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pic>
        <p:nvPicPr>
          <p:cNvPr id="5" name="Grafik 4">
            <a:extLst>
              <a:ext uri="{FF2B5EF4-FFF2-40B4-BE49-F238E27FC236}">
                <a16:creationId xmlns:a16="http://schemas.microsoft.com/office/drawing/2014/main" id="{780B590C-1FC6-8CA1-E708-7C321145CC1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733885" y="810491"/>
            <a:ext cx="5676229" cy="3803072"/>
          </a:xfrm>
          <a:prstGeom prst="rect">
            <a:avLst/>
          </a:prstGeom>
          <a:noFill/>
        </p:spPr>
      </p:pic>
      <p:sp>
        <p:nvSpPr>
          <p:cNvPr id="4" name="Foliennummernplatzhalter 3">
            <a:extLst>
              <a:ext uri="{FF2B5EF4-FFF2-40B4-BE49-F238E27FC236}">
                <a16:creationId xmlns:a16="http://schemas.microsoft.com/office/drawing/2014/main" id="{4F261BA5-DDE2-356A-E6D9-79D8CB223123}"/>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14</a:t>
            </a:fld>
            <a:endParaRPr lang="de-DE"/>
          </a:p>
        </p:txBody>
      </p:sp>
    </p:spTree>
    <p:extLst>
      <p:ext uri="{BB962C8B-B14F-4D97-AF65-F5344CB8AC3E}">
        <p14:creationId xmlns:p14="http://schemas.microsoft.com/office/powerpoint/2010/main" val="1735992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9AF0E-8A93-1805-C387-D6DFF18B2A7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0894C5A-34CE-0FFA-EE0A-10C3DEE2ABFA}"/>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pic>
        <p:nvPicPr>
          <p:cNvPr id="5" name="Grafik 4">
            <a:extLst>
              <a:ext uri="{FF2B5EF4-FFF2-40B4-BE49-F238E27FC236}">
                <a16:creationId xmlns:a16="http://schemas.microsoft.com/office/drawing/2014/main" id="{497A04FB-CCBB-9CF8-B9BC-7E73340DCD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733885" y="810491"/>
            <a:ext cx="5676229" cy="3803072"/>
          </a:xfrm>
          <a:prstGeom prst="rect">
            <a:avLst/>
          </a:prstGeom>
          <a:noFill/>
        </p:spPr>
      </p:pic>
      <p:sp>
        <p:nvSpPr>
          <p:cNvPr id="4" name="Foliennummernplatzhalter 3">
            <a:extLst>
              <a:ext uri="{FF2B5EF4-FFF2-40B4-BE49-F238E27FC236}">
                <a16:creationId xmlns:a16="http://schemas.microsoft.com/office/drawing/2014/main" id="{62E0850A-FF23-ED31-732F-C94508FDD266}"/>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15</a:t>
            </a:fld>
            <a:endParaRPr lang="de-DE"/>
          </a:p>
        </p:txBody>
      </p:sp>
    </p:spTree>
    <p:extLst>
      <p:ext uri="{BB962C8B-B14F-4D97-AF65-F5344CB8AC3E}">
        <p14:creationId xmlns:p14="http://schemas.microsoft.com/office/powerpoint/2010/main" val="1906868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D1717-0D0E-8653-0A2C-9B6B6EDBC7F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40B6766-07BD-B12F-FEE4-4CF15885369A}"/>
              </a:ext>
            </a:extLst>
          </p:cNvPr>
          <p:cNvSpPr>
            <a:spLocks noGrp="1"/>
          </p:cNvSpPr>
          <p:nvPr>
            <p:ph type="title"/>
          </p:nvPr>
        </p:nvSpPr>
        <p:spPr/>
        <p:txBody>
          <a:bodyPr>
            <a:normAutofit/>
          </a:bodyPr>
          <a:lstStyle/>
          <a:p>
            <a:r>
              <a:rPr lang="de-DE" sz="2300" b="0" dirty="0" err="1">
                <a:latin typeface="Arial" panose="020B0604020202020204" pitchFamily="34" charset="0"/>
                <a:cs typeface="Arial" panose="020B0604020202020204" pitchFamily="34" charset="0"/>
              </a:rPr>
              <a:t>Agentic</a:t>
            </a:r>
            <a:r>
              <a:rPr lang="de-DE" sz="2300" b="0" dirty="0">
                <a:latin typeface="Arial" panose="020B0604020202020204" pitchFamily="34" charset="0"/>
                <a:cs typeface="Arial" panose="020B0604020202020204" pitchFamily="34" charset="0"/>
              </a:rPr>
              <a:t> behavioral </a:t>
            </a:r>
            <a:r>
              <a:rPr lang="de-DE" sz="2300" b="0" dirty="0" err="1">
                <a:latin typeface="Arial" panose="020B0604020202020204" pitchFamily="34" charset="0"/>
                <a:cs typeface="Arial" panose="020B0604020202020204" pitchFamily="34" charset="0"/>
              </a:rPr>
              <a:t>model</a:t>
            </a:r>
            <a:endParaRPr lang="de-DE" sz="2300" b="0" dirty="0">
              <a:latin typeface="Arial" panose="020B0604020202020204" pitchFamily="34" charset="0"/>
              <a:cs typeface="Arial" panose="020B0604020202020204" pitchFamily="34" charset="0"/>
            </a:endParaRPr>
          </a:p>
        </p:txBody>
      </p:sp>
      <p:sp>
        <p:nvSpPr>
          <p:cNvPr id="4" name="Foliennummernplatzhalter 3">
            <a:extLst>
              <a:ext uri="{FF2B5EF4-FFF2-40B4-BE49-F238E27FC236}">
                <a16:creationId xmlns:a16="http://schemas.microsoft.com/office/drawing/2014/main" id="{136D5393-E2C0-3719-E339-3E20FA958587}"/>
              </a:ext>
            </a:extLst>
          </p:cNvPr>
          <p:cNvSpPr>
            <a:spLocks noGrp="1"/>
          </p:cNvSpPr>
          <p:nvPr>
            <p:ph type="sldNum" idx="12"/>
          </p:nvPr>
        </p:nvSpPr>
        <p:spPr/>
        <p:txBody>
          <a:bodyPr/>
          <a:lstStyle/>
          <a:p>
            <a:fld id="{5CD88B4E-D815-417B-99FD-41D66E5C06D4}" type="slidenum">
              <a:rPr lang="de-DE" smtClean="0">
                <a:latin typeface="Arial" panose="020B0604020202020204" pitchFamily="34" charset="0"/>
                <a:cs typeface="Arial" panose="020B0604020202020204" pitchFamily="34" charset="0"/>
              </a:rPr>
              <a:t>16</a:t>
            </a:fld>
            <a:endParaRPr lang="de-DE">
              <a:latin typeface="Arial" panose="020B0604020202020204" pitchFamily="34" charset="0"/>
              <a:cs typeface="Arial" panose="020B0604020202020204" pitchFamily="34" charset="0"/>
            </a:endParaRPr>
          </a:p>
        </p:txBody>
      </p:sp>
      <p:pic>
        <p:nvPicPr>
          <p:cNvPr id="3" name="Grafik 2" descr="Ein Bild, das Gehirn enthält.&#10;&#10;KI-generierte Inhalte können fehlerhaft sein.">
            <a:extLst>
              <a:ext uri="{FF2B5EF4-FFF2-40B4-BE49-F238E27FC236}">
                <a16:creationId xmlns:a16="http://schemas.microsoft.com/office/drawing/2014/main" id="{BAB5A743-26A0-166D-1EE3-ADDACBEF5749}"/>
              </a:ext>
            </a:extLst>
          </p:cNvPr>
          <p:cNvPicPr>
            <a:picLocks noChangeAspect="1"/>
          </p:cNvPicPr>
          <p:nvPr/>
        </p:nvPicPr>
        <p:blipFill>
          <a:blip r:embed="rId2">
            <a:duotone>
              <a:schemeClr val="accent3">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rot="469041" flipH="1">
            <a:off x="4716118" y="1088783"/>
            <a:ext cx="3724912" cy="2418172"/>
          </a:xfrm>
          <a:prstGeom prst="rect">
            <a:avLst/>
          </a:prstGeom>
        </p:spPr>
      </p:pic>
      <p:sp>
        <p:nvSpPr>
          <p:cNvPr id="6" name="Rechteck: abgerundete Ecken 5">
            <a:extLst>
              <a:ext uri="{FF2B5EF4-FFF2-40B4-BE49-F238E27FC236}">
                <a16:creationId xmlns:a16="http://schemas.microsoft.com/office/drawing/2014/main" id="{B5DEA955-7667-AC8B-FCFC-D1406F73CC45}"/>
              </a:ext>
            </a:extLst>
          </p:cNvPr>
          <p:cNvSpPr/>
          <p:nvPr/>
        </p:nvSpPr>
        <p:spPr>
          <a:xfrm>
            <a:off x="900879" y="1246777"/>
            <a:ext cx="3218109" cy="3295486"/>
          </a:xfrm>
          <a:prstGeom prst="roundRect">
            <a:avLst>
              <a:gd name="adj" fmla="val 2994"/>
            </a:avLst>
          </a:prstGeom>
          <a:solidFill>
            <a:schemeClr val="bg1">
              <a:alpha val="80000"/>
            </a:schemeClr>
          </a:solidFill>
          <a:ln w="9525">
            <a:solidFill>
              <a:schemeClr val="bg1">
                <a:lumMod val="65000"/>
              </a:schemeClr>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C7EA569A-3181-9B77-A7E0-0DACF8D5B128}"/>
                  </a:ext>
                </a:extLst>
              </p:cNvPr>
              <p:cNvSpPr txBox="1"/>
              <p:nvPr/>
            </p:nvSpPr>
            <p:spPr>
              <a:xfrm>
                <a:off x="910971" y="1892954"/>
                <a:ext cx="3277500" cy="307777"/>
              </a:xfrm>
              <a:prstGeom prst="rect">
                <a:avLst/>
              </a:prstGeom>
              <a:noFill/>
            </p:spPr>
            <p:txBody>
              <a:bodyPr wrap="none" rtlCol="0">
                <a:spAutoFit/>
              </a:bodyPr>
              <a:lstStyle/>
              <a:p>
                <a:pPr algn="ctr"/>
                <a14:m>
                  <m:oMathPara xmlns:m="http://schemas.openxmlformats.org/officeDocument/2006/math">
                    <m:oMath>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r>
                        <a:rPr lang="de-DE" sz="1400" i="1">
                          <a:latin typeface="Cambria Math" panose="02040503050406030204" pitchFamily="18" charset="0"/>
                        </a:rPr>
                        <m:t>(</m:t>
                      </m:r>
                      <m:r>
                        <m:rPr>
                          <m:sty m:val="p"/>
                        </m:rPr>
                        <a:rPr lang="de-DE" sz="1400" b="0" i="0" smtClean="0">
                          <a:latin typeface="Cambria Math" panose="02040503050406030204" pitchFamily="18" charset="0"/>
                        </a:rPr>
                        <m:t>Stimuli</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Label</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Switch</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Imbalance</m:t>
                      </m:r>
                      <m:r>
                        <a:rPr lang="de-DE" sz="1400" i="1">
                          <a:latin typeface="Cambria Math" panose="02040503050406030204" pitchFamily="18" charset="0"/>
                        </a:rPr>
                        <m:t>)</m:t>
                      </m:r>
                    </m:oMath>
                  </m:oMathPara>
                </a14:m>
                <a:endParaRPr lang="de-DE" sz="1400" dirty="0">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7" name="Textfeld 6">
                <a:extLst>
                  <a:ext uri="{FF2B5EF4-FFF2-40B4-BE49-F238E27FC236}">
                    <a16:creationId xmlns:a16="http://schemas.microsoft.com/office/drawing/2014/main" id="{C7EA569A-3181-9B77-A7E0-0DACF8D5B128}"/>
                  </a:ext>
                </a:extLst>
              </p:cNvPr>
              <p:cNvSpPr txBox="1">
                <a:spLocks noRot="1" noChangeAspect="1" noMove="1" noResize="1" noEditPoints="1" noAdjustHandles="1" noChangeArrowheads="1" noChangeShapeType="1" noTextEdit="1"/>
              </p:cNvSpPr>
              <p:nvPr/>
            </p:nvSpPr>
            <p:spPr>
              <a:xfrm>
                <a:off x="910971" y="1892954"/>
                <a:ext cx="3277500" cy="307777"/>
              </a:xfrm>
              <a:prstGeom prst="rect">
                <a:avLst/>
              </a:prstGeom>
              <a:blipFill>
                <a:blip r:embed="rId3"/>
                <a:stretch>
                  <a:fillRect b="-10000"/>
                </a:stretch>
              </a:blipFill>
            </p:spPr>
            <p:txBody>
              <a:bodyPr/>
              <a:lstStyle/>
              <a:p>
                <a:r>
                  <a:rPr lang="de-DE">
                    <a:noFill/>
                  </a:rPr>
                  <a:t> </a:t>
                </a:r>
              </a:p>
            </p:txBody>
          </p:sp>
        </mc:Fallback>
      </mc:AlternateContent>
      <p:sp>
        <p:nvSpPr>
          <p:cNvPr id="8" name="Rechteck: abgerundete Ecken 7">
            <a:extLst>
              <a:ext uri="{FF2B5EF4-FFF2-40B4-BE49-F238E27FC236}">
                <a16:creationId xmlns:a16="http://schemas.microsoft.com/office/drawing/2014/main" id="{A346B1F1-8197-E7D5-6A27-D3BCA1D19377}"/>
              </a:ext>
            </a:extLst>
          </p:cNvPr>
          <p:cNvSpPr/>
          <p:nvPr/>
        </p:nvSpPr>
        <p:spPr>
          <a:xfrm>
            <a:off x="755576" y="846696"/>
            <a:ext cx="7832601" cy="3806402"/>
          </a:xfrm>
          <a:prstGeom prst="roundRect">
            <a:avLst>
              <a:gd name="adj" fmla="val 1343"/>
            </a:avLst>
          </a:prstGeom>
          <a:noFill/>
          <a:ln w="9525">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Arial" panose="020B0604020202020204" pitchFamily="34" charset="0"/>
              <a:cs typeface="Arial" panose="020B0604020202020204" pitchFamily="34" charset="0"/>
            </a:endParaRPr>
          </a:p>
        </p:txBody>
      </p:sp>
      <p:sp>
        <p:nvSpPr>
          <p:cNvPr id="9" name="Rechteck: abgerundete Ecken 8">
            <a:extLst>
              <a:ext uri="{FF2B5EF4-FFF2-40B4-BE49-F238E27FC236}">
                <a16:creationId xmlns:a16="http://schemas.microsoft.com/office/drawing/2014/main" id="{D41B1D8C-4E85-FE47-3244-EA52C1F2B160}"/>
              </a:ext>
            </a:extLst>
          </p:cNvPr>
          <p:cNvSpPr/>
          <p:nvPr/>
        </p:nvSpPr>
        <p:spPr>
          <a:xfrm>
            <a:off x="4837183" y="1246776"/>
            <a:ext cx="3543242" cy="2581157"/>
          </a:xfrm>
          <a:prstGeom prst="roundRect">
            <a:avLst>
              <a:gd name="adj" fmla="val 2555"/>
            </a:avLst>
          </a:prstGeom>
          <a:solidFill>
            <a:schemeClr val="bg1">
              <a:alpha val="36000"/>
            </a:schemeClr>
          </a:solidFill>
          <a:ln w="9525">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sz="1200" dirty="0">
              <a:solidFill>
                <a:schemeClr val="bg1">
                  <a:lumMod val="65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46608798-7518-0586-0E49-FD2D44D4B803}"/>
                  </a:ext>
                </a:extLst>
              </p:cNvPr>
              <p:cNvSpPr txBox="1"/>
              <p:nvPr/>
            </p:nvSpPr>
            <p:spPr>
              <a:xfrm>
                <a:off x="4960993" y="3481581"/>
                <a:ext cx="3488712" cy="278153"/>
              </a:xfrm>
              <a:prstGeom prst="rect">
                <a:avLst/>
              </a:prstGeom>
              <a:noFill/>
            </p:spPr>
            <p:txBody>
              <a:bodyPr wrap="none" rtlCol="0">
                <a:spAutoFit/>
              </a:bodyPr>
              <a:lstStyle/>
              <a:p>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Optimal </a:t>
                </a:r>
                <a:r>
                  <a:rPr lang="de-DE" sz="1100" dirty="0" err="1">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action</a:t>
                </a:r>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r>
                  <a:rPr lang="de-DE" sz="1100" dirty="0" err="1">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value</a:t>
                </a:r>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r>
                  <a:rPr lang="de-DE" sz="1100" dirty="0" err="1">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functions</a:t>
                </a:r>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14:m>
                  <m:oMath xmlns:m="http://schemas.openxmlformats.org/officeDocument/2006/math">
                    <m:sSubSup>
                      <m:sSubSupPr>
                        <m:ctrlP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ctrlPr>
                      </m:sSubSupPr>
                      <m:e>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𝑞</m:t>
                        </m:r>
                      </m:e>
                      <m:sub>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𝜒</m:t>
                        </m:r>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m:t>
                        </m:r>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𝑡</m:t>
                        </m:r>
                      </m:sub>
                      <m:sup>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m:t>
                        </m:r>
                      </m:sup>
                    </m:sSubSup>
                  </m:oMath>
                </a14:m>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and decisions </a:t>
                </a:r>
                <a14:m>
                  <m:oMath xmlns:m="http://schemas.openxmlformats.org/officeDocument/2006/math">
                    <m:sSubSup>
                      <m:sSubSupPr>
                        <m:ctrlP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ctrlPr>
                      </m:sSubSupPr>
                      <m:e>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𝑑</m:t>
                        </m:r>
                      </m:e>
                      <m:sub>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𝜒</m:t>
                        </m:r>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m:t>
                        </m:r>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𝑡</m:t>
                        </m:r>
                      </m:sub>
                      <m:sup>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m:t>
                        </m:r>
                      </m:sup>
                    </m:sSubSup>
                  </m:oMath>
                </a14:m>
                <a:endPar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11" name="Textfeld 10">
                <a:extLst>
                  <a:ext uri="{FF2B5EF4-FFF2-40B4-BE49-F238E27FC236}">
                    <a16:creationId xmlns:a16="http://schemas.microsoft.com/office/drawing/2014/main" id="{46608798-7518-0586-0E49-FD2D44D4B803}"/>
                  </a:ext>
                </a:extLst>
              </p:cNvPr>
              <p:cNvSpPr txBox="1">
                <a:spLocks noRot="1" noChangeAspect="1" noMove="1" noResize="1" noEditPoints="1" noAdjustHandles="1" noChangeArrowheads="1" noChangeShapeType="1" noTextEdit="1"/>
              </p:cNvSpPr>
              <p:nvPr/>
            </p:nvSpPr>
            <p:spPr>
              <a:xfrm>
                <a:off x="4960993" y="3481581"/>
                <a:ext cx="3488712" cy="278153"/>
              </a:xfrm>
              <a:prstGeom prst="rect">
                <a:avLst/>
              </a:prstGeom>
              <a:blipFill>
                <a:blip r:embed="rId4"/>
                <a:stretch>
                  <a:fillRect t="-2174" b="-652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95EE46C6-B6B6-7F69-189A-1E1624311B65}"/>
                  </a:ext>
                </a:extLst>
              </p:cNvPr>
              <p:cNvSpPr txBox="1"/>
              <p:nvPr/>
            </p:nvSpPr>
            <p:spPr>
              <a:xfrm>
                <a:off x="5150083" y="2458282"/>
                <a:ext cx="3110532" cy="324512"/>
              </a:xfrm>
              <a:prstGeom prst="rect">
                <a:avLst/>
              </a:prstGeom>
              <a:noFill/>
            </p:spPr>
            <p:txBody>
              <a:bodyPr wrap="none" rtlCol="0">
                <a:spAutoFit/>
              </a:bodyPr>
              <a:lstStyle/>
              <a:p>
                <a:r>
                  <a:rPr lang="de-DE" sz="1300" dirty="0" err="1">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Subjective</a:t>
                </a:r>
                <a:r>
                  <a:rPr lang="de-DE" sz="1300" dirty="0">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 </a:t>
                </a:r>
                <a:r>
                  <a:rPr lang="de-DE" sz="1300" dirty="0" err="1">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reward</a:t>
                </a:r>
                <a:r>
                  <a:rPr lang="de-DE" sz="1300" dirty="0">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 </a:t>
                </a:r>
                <a:r>
                  <a:rPr lang="de-DE" sz="1300" dirty="0" err="1">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function</a:t>
                </a:r>
                <a:r>
                  <a:rPr lang="de-DE" sz="1300" dirty="0">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 </a:t>
                </a:r>
                <a14:m>
                  <m:oMath xmlns:m="http://schemas.openxmlformats.org/officeDocument/2006/math">
                    <m:sSub>
                      <m:sSubPr>
                        <m:ctrlPr>
                          <a:rPr lang="de-DE" sz="1300" b="0" i="1" smtClean="0">
                            <a:solidFill>
                              <a:schemeClr val="bg1">
                                <a:lumMod val="65000"/>
                              </a:schemeClr>
                            </a:solidFill>
                            <a:latin typeface="Cambria Math" panose="02040503050406030204" pitchFamily="18" charset="0"/>
                          </a:rPr>
                        </m:ctrlPr>
                      </m:sSubPr>
                      <m:e>
                        <m:r>
                          <a:rPr lang="de-DE" sz="1300" b="0" i="1" smtClean="0">
                            <a:solidFill>
                              <a:schemeClr val="bg1">
                                <a:lumMod val="65000"/>
                              </a:schemeClr>
                            </a:solidFill>
                            <a:latin typeface="Cambria Math" panose="02040503050406030204" pitchFamily="18" charset="0"/>
                          </a:rPr>
                          <m:t>𝜌</m:t>
                        </m:r>
                      </m:e>
                      <m:sub>
                        <m:r>
                          <a:rPr lang="de-DE" sz="1300" b="0" i="1" smtClean="0">
                            <a:solidFill>
                              <a:schemeClr val="bg1">
                                <a:lumMod val="65000"/>
                              </a:schemeClr>
                            </a:solidFill>
                            <a:latin typeface="Cambria Math" panose="02040503050406030204" pitchFamily="18" charset="0"/>
                          </a:rPr>
                          <m:t>𝛽</m:t>
                        </m:r>
                        <m:r>
                          <a:rPr lang="de-DE" sz="1300" b="0" i="1" smtClean="0">
                            <a:solidFill>
                              <a:schemeClr val="bg1">
                                <a:lumMod val="65000"/>
                              </a:schemeClr>
                            </a:solidFill>
                            <a:latin typeface="Cambria Math" panose="02040503050406030204" pitchFamily="18" charset="0"/>
                          </a:rPr>
                          <m:t>,</m:t>
                        </m:r>
                        <m:r>
                          <a:rPr lang="de-DE" sz="1300" b="0" i="1" smtClean="0">
                            <a:solidFill>
                              <a:schemeClr val="bg1">
                                <a:lumMod val="65000"/>
                              </a:schemeClr>
                            </a:solidFill>
                            <a:latin typeface="Cambria Math" panose="02040503050406030204" pitchFamily="18" charset="0"/>
                          </a:rPr>
                          <m:t>𝜎</m:t>
                        </m:r>
                      </m:sub>
                    </m:sSub>
                    <m:d>
                      <m:dPr>
                        <m:ctrlPr>
                          <a:rPr lang="de-DE" sz="1300" b="0" i="1" smtClean="0">
                            <a:solidFill>
                              <a:schemeClr val="bg1">
                                <a:lumMod val="65000"/>
                              </a:schemeClr>
                            </a:solidFill>
                            <a:latin typeface="Cambria Math" panose="02040503050406030204" pitchFamily="18" charset="0"/>
                          </a:rPr>
                        </m:ctrlPr>
                      </m:dPr>
                      <m:e>
                        <m:sSubSup>
                          <m:sSubSupPr>
                            <m:ctrlPr>
                              <a:rPr lang="de-DE" sz="1300" b="0" i="1" smtClean="0">
                                <a:solidFill>
                                  <a:schemeClr val="bg1">
                                    <a:lumMod val="65000"/>
                                  </a:schemeClr>
                                </a:solidFill>
                                <a:latin typeface="Cambria Math" panose="02040503050406030204" pitchFamily="18" charset="0"/>
                              </a:rPr>
                            </m:ctrlPr>
                          </m:sSubSupPr>
                          <m:e>
                            <m:r>
                              <a:rPr lang="de-DE" sz="1300" b="0" i="1" smtClean="0">
                                <a:solidFill>
                                  <a:schemeClr val="bg1">
                                    <a:lumMod val="65000"/>
                                  </a:schemeClr>
                                </a:solidFill>
                                <a:latin typeface="Cambria Math" panose="02040503050406030204" pitchFamily="18" charset="0"/>
                              </a:rPr>
                              <m:t>𝑠</m:t>
                            </m:r>
                          </m:e>
                          <m:sub>
                            <m:r>
                              <a:rPr lang="de-DE" sz="1300" b="0" i="1" smtClean="0">
                                <a:solidFill>
                                  <a:schemeClr val="bg1">
                                    <a:lumMod val="65000"/>
                                  </a:schemeClr>
                                </a:solidFill>
                                <a:latin typeface="Cambria Math" panose="02040503050406030204" pitchFamily="18" charset="0"/>
                              </a:rPr>
                              <m:t>𝑡</m:t>
                            </m:r>
                          </m:sub>
                          <m:sup>
                            <m:r>
                              <a:rPr lang="de-DE" sz="1300" b="0" i="1" smtClean="0">
                                <a:solidFill>
                                  <a:schemeClr val="bg1">
                                    <a:lumMod val="65000"/>
                                  </a:schemeClr>
                                </a:solidFill>
                                <a:latin typeface="Cambria Math" panose="02040503050406030204" pitchFamily="18" charset="0"/>
                              </a:rPr>
                              <m:t>𝜒</m:t>
                            </m:r>
                          </m:sup>
                        </m:sSubSup>
                        <m:r>
                          <a:rPr lang="de-DE" sz="1300" b="0" i="1" smtClean="0">
                            <a:solidFill>
                              <a:schemeClr val="bg1">
                                <a:lumMod val="65000"/>
                              </a:schemeClr>
                            </a:solidFill>
                            <a:latin typeface="Cambria Math" panose="02040503050406030204" pitchFamily="18" charset="0"/>
                          </a:rPr>
                          <m:t>,</m:t>
                        </m:r>
                        <m:sSubSup>
                          <m:sSubSupPr>
                            <m:ctrlPr>
                              <a:rPr lang="de-DE" sz="1300" b="0" i="1" smtClean="0">
                                <a:solidFill>
                                  <a:schemeClr val="bg1">
                                    <a:lumMod val="65000"/>
                                  </a:schemeClr>
                                </a:solidFill>
                                <a:latin typeface="Cambria Math" panose="02040503050406030204" pitchFamily="18" charset="0"/>
                              </a:rPr>
                            </m:ctrlPr>
                          </m:sSubSupPr>
                          <m:e>
                            <m:r>
                              <a:rPr lang="de-DE" sz="1300" b="0" i="1" smtClean="0">
                                <a:solidFill>
                                  <a:schemeClr val="bg1">
                                    <a:lumMod val="65000"/>
                                  </a:schemeClr>
                                </a:solidFill>
                                <a:latin typeface="Cambria Math" panose="02040503050406030204" pitchFamily="18" charset="0"/>
                              </a:rPr>
                              <m:t>𝑎</m:t>
                            </m:r>
                          </m:e>
                          <m:sub>
                            <m:r>
                              <a:rPr lang="de-DE" sz="1300" b="0" i="1" smtClean="0">
                                <a:solidFill>
                                  <a:schemeClr val="bg1">
                                    <a:lumMod val="65000"/>
                                  </a:schemeClr>
                                </a:solidFill>
                                <a:latin typeface="Cambria Math" panose="02040503050406030204" pitchFamily="18" charset="0"/>
                              </a:rPr>
                              <m:t>𝑡</m:t>
                            </m:r>
                          </m:sub>
                          <m:sup>
                            <m:r>
                              <a:rPr lang="de-DE" sz="1300" b="0" i="1" smtClean="0">
                                <a:solidFill>
                                  <a:schemeClr val="bg1">
                                    <a:lumMod val="65000"/>
                                  </a:schemeClr>
                                </a:solidFill>
                                <a:latin typeface="Cambria Math" panose="02040503050406030204" pitchFamily="18" charset="0"/>
                              </a:rPr>
                              <m:t>𝜒</m:t>
                            </m:r>
                          </m:sup>
                        </m:sSubSup>
                      </m:e>
                    </m:d>
                  </m:oMath>
                </a14:m>
                <a:r>
                  <a:rPr lang="de-DE" sz="13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p>
            </p:txBody>
          </p:sp>
        </mc:Choice>
        <mc:Fallback xmlns="">
          <p:sp>
            <p:nvSpPr>
              <p:cNvPr id="12" name="Textfeld 11">
                <a:extLst>
                  <a:ext uri="{FF2B5EF4-FFF2-40B4-BE49-F238E27FC236}">
                    <a16:creationId xmlns:a16="http://schemas.microsoft.com/office/drawing/2014/main" id="{95EE46C6-B6B6-7F69-189A-1E1624311B65}"/>
                  </a:ext>
                </a:extLst>
              </p:cNvPr>
              <p:cNvSpPr txBox="1">
                <a:spLocks noRot="1" noChangeAspect="1" noMove="1" noResize="1" noEditPoints="1" noAdjustHandles="1" noChangeArrowheads="1" noChangeShapeType="1" noTextEdit="1"/>
              </p:cNvSpPr>
              <p:nvPr/>
            </p:nvSpPr>
            <p:spPr>
              <a:xfrm>
                <a:off x="5150083" y="2458282"/>
                <a:ext cx="3110532" cy="324512"/>
              </a:xfrm>
              <a:prstGeom prst="rect">
                <a:avLst/>
              </a:prstGeom>
              <a:blipFill>
                <a:blip r:embed="rId5"/>
                <a:stretch>
                  <a:fillRect l="-392" b="-943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EFEB8B81-7EF8-A4C2-9097-D6E038FC73AE}"/>
                  </a:ext>
                </a:extLst>
              </p:cNvPr>
              <p:cNvSpPr txBox="1"/>
              <p:nvPr/>
            </p:nvSpPr>
            <p:spPr>
              <a:xfrm>
                <a:off x="5058809" y="4102885"/>
                <a:ext cx="3293081" cy="326949"/>
              </a:xfrm>
              <a:prstGeom prst="rect">
                <a:avLst/>
              </a:prstGeom>
              <a:noFill/>
            </p:spPr>
            <p:txBody>
              <a:bodyPr wrap="none" rtlCol="0">
                <a:spAutoFit/>
              </a:bodyPr>
              <a:lstStyle/>
              <a:p>
                <a:r>
                  <a:rPr lang="de-DE" sz="1400" dirty="0">
                    <a:effectLst/>
                    <a:latin typeface="Arial" panose="020B0604020202020204" pitchFamily="34" charset="0"/>
                    <a:ea typeface="CMU Serif" panose="02000603000000000000" pitchFamily="2" charset="0"/>
                    <a:cs typeface="Arial" panose="020B0604020202020204" pitchFamily="34" charset="0"/>
                  </a:rPr>
                  <a:t>Action </a:t>
                </a:r>
                <a14:m>
                  <m:oMath xmlns:m="http://schemas.openxmlformats.org/officeDocument/2006/math">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𝑝</m:t>
                        </m:r>
                      </m:e>
                      <m:sub>
                        <m:r>
                          <a:rPr lang="de-DE" sz="1400" b="0" i="1" smtClean="0">
                            <a:latin typeface="Cambria Math" panose="02040503050406030204" pitchFamily="18" charset="0"/>
                          </a:rPr>
                          <m:t>𝛽</m:t>
                        </m:r>
                        <m:r>
                          <a:rPr lang="de-DE" sz="1400" b="0" i="1" smtClean="0">
                            <a:latin typeface="Cambria Math" panose="02040503050406030204" pitchFamily="18" charset="0"/>
                          </a:rPr>
                          <m:t>, </m:t>
                        </m:r>
                        <m:r>
                          <a:rPr lang="de-DE" sz="1400" b="0" i="1" smtClean="0">
                            <a:latin typeface="Cambria Math" panose="02040503050406030204" pitchFamily="18" charset="0"/>
                          </a:rPr>
                          <m:t>𝜎</m:t>
                        </m:r>
                        <m:r>
                          <a:rPr lang="de-DE" sz="1400" b="0" i="1" smtClean="0">
                            <a:latin typeface="Cambria Math" panose="02040503050406030204" pitchFamily="18" charset="0"/>
                          </a:rPr>
                          <m:t>,</m:t>
                        </m:r>
                        <m:r>
                          <a:rPr lang="de-DE" sz="1400" b="0" i="1" smtClean="0">
                            <a:latin typeface="Cambria Math" panose="02040503050406030204" pitchFamily="18" charset="0"/>
                          </a:rPr>
                          <m:t>𝜏</m:t>
                        </m:r>
                      </m:sub>
                    </m:sSub>
                    <m:r>
                      <a:rPr lang="de-DE" sz="1400" i="1">
                        <a:latin typeface="Cambria Math" panose="02040503050406030204" pitchFamily="18" charset="0"/>
                      </a:rPr>
                      <m:t>(</m:t>
                    </m:r>
                    <m:r>
                      <m:rPr>
                        <m:sty m:val="p"/>
                      </m:rPr>
                      <a:rPr lang="de-DE" sz="1400" b="0" i="0" smtClean="0">
                        <a:latin typeface="Cambria Math" panose="02040503050406030204" pitchFamily="18" charset="0"/>
                      </a:rPr>
                      <m:t>PTD</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RMC</m:t>
                    </m:r>
                    <m:r>
                      <a:rPr lang="de-DE" sz="1400" b="0" i="0" smtClean="0">
                        <a:latin typeface="Cambria Math" panose="02040503050406030204" pitchFamily="18" charset="0"/>
                      </a:rPr>
                      <m:t>, </m:t>
                    </m:r>
                    <m:r>
                      <m:rPr>
                        <m:sty m:val="p"/>
                      </m:rPr>
                      <a:rPr lang="de-DE" sz="1400" b="0" i="0" smtClean="0">
                        <a:latin typeface="Cambria Math" panose="02040503050406030204" pitchFamily="18" charset="0"/>
                      </a:rPr>
                      <m:t>Yes</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No</m:t>
                    </m:r>
                    <m:r>
                      <a:rPr lang="de-DE" sz="1400" i="1">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i="1">
                            <a:latin typeface="Cambria Math" panose="02040503050406030204" pitchFamily="18" charset="0"/>
                          </a:rPr>
                          <m:t>𝑡</m:t>
                        </m:r>
                      </m:sub>
                    </m:sSub>
                    <m:r>
                      <a:rPr lang="de-DE" sz="1400" i="1">
                        <a:latin typeface="Cambria Math" panose="02040503050406030204" pitchFamily="18" charset="0"/>
                      </a:rPr>
                      <m:t>)</m:t>
                    </m:r>
                  </m:oMath>
                </a14:m>
                <a:endParaRPr lang="de-DE" sz="1400" i="1" dirty="0">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13" name="Textfeld 12">
                <a:extLst>
                  <a:ext uri="{FF2B5EF4-FFF2-40B4-BE49-F238E27FC236}">
                    <a16:creationId xmlns:a16="http://schemas.microsoft.com/office/drawing/2014/main" id="{EFEB8B81-7EF8-A4C2-9097-D6E038FC73AE}"/>
                  </a:ext>
                </a:extLst>
              </p:cNvPr>
              <p:cNvSpPr txBox="1">
                <a:spLocks noRot="1" noChangeAspect="1" noMove="1" noResize="1" noEditPoints="1" noAdjustHandles="1" noChangeArrowheads="1" noChangeShapeType="1" noTextEdit="1"/>
              </p:cNvSpPr>
              <p:nvPr/>
            </p:nvSpPr>
            <p:spPr>
              <a:xfrm>
                <a:off x="5058809" y="4102885"/>
                <a:ext cx="3293081" cy="326949"/>
              </a:xfrm>
              <a:prstGeom prst="rect">
                <a:avLst/>
              </a:prstGeom>
              <a:blipFill>
                <a:blip r:embed="rId6"/>
                <a:stretch>
                  <a:fillRect l="-556" t="-3704" b="-1296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6060388E-6834-D4AF-C934-3B102E20D759}"/>
                  </a:ext>
                </a:extLst>
              </p:cNvPr>
              <p:cNvSpPr txBox="1"/>
              <p:nvPr/>
            </p:nvSpPr>
            <p:spPr>
              <a:xfrm>
                <a:off x="894720" y="855097"/>
                <a:ext cx="3134063" cy="414729"/>
              </a:xfrm>
              <a:prstGeom prst="rect">
                <a:avLst/>
              </a:prstGeom>
              <a:noFill/>
            </p:spPr>
            <p:txBody>
              <a:bodyPr wrap="none" rtlCol="0">
                <a:spAutoFit/>
              </a:bodyPr>
              <a:lstStyle/>
              <a:p>
                <a:r>
                  <a:rPr lang="de-DE" sz="1400" dirty="0">
                    <a:latin typeface="Arial" panose="020B0604020202020204" pitchFamily="34" charset="0"/>
                    <a:ea typeface="CMU Serif" panose="02000603000000000000" pitchFamily="2" charset="0"/>
                    <a:cs typeface="Arial" panose="020B0604020202020204" pitchFamily="34" charset="0"/>
                  </a:rPr>
                  <a:t>Data </a:t>
                </a:r>
                <a:r>
                  <a:rPr lang="de-DE" sz="1400" dirty="0" err="1">
                    <a:latin typeface="Arial" panose="020B0604020202020204" pitchFamily="34" charset="0"/>
                    <a:ea typeface="CMU Serif" panose="02000603000000000000" pitchFamily="2" charset="0"/>
                    <a:cs typeface="Arial" panose="020B0604020202020204" pitchFamily="34" charset="0"/>
                  </a:rPr>
                  <a:t>model</a:t>
                </a:r>
                <a:r>
                  <a:rPr lang="de-DE" sz="1400" dirty="0">
                    <a:latin typeface="Arial" panose="020B0604020202020204" pitchFamily="34" charset="0"/>
                    <a:ea typeface="CMU Serif" panose="02000603000000000000" pitchFamily="2" charset="0"/>
                    <a:cs typeface="Arial" panose="020B0604020202020204" pitchFamily="34" charset="0"/>
                  </a:rPr>
                  <a:t> </a:t>
                </a:r>
                <a14:m>
                  <m:oMath xmlns:m="http://schemas.openxmlformats.org/officeDocument/2006/math">
                    <m:r>
                      <a:rPr lang="de-DE" sz="1400" b="0" i="1" smtClean="0">
                        <a:latin typeface="Cambria Math" panose="02040503050406030204" pitchFamily="18" charset="0"/>
                        <a:ea typeface="CMU Serif" panose="02000603000000000000" pitchFamily="2" charset="0"/>
                        <a:cs typeface="CMU Serif" panose="02000603000000000000" pitchFamily="2" charset="0"/>
                      </a:rPr>
                      <m:t>𝒟</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d>
                      <m:d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dPr>
                      <m:e>
                        <m:r>
                          <a:rPr lang="de-DE" sz="1400" b="0" i="1" smtClean="0">
                            <a:latin typeface="Cambria Math" panose="02040503050406030204" pitchFamily="18" charset="0"/>
                            <a:ea typeface="CMU Serif" panose="02000603000000000000" pitchFamily="2" charset="0"/>
                            <a:cs typeface="CMU Serif" panose="02000603000000000000" pitchFamily="2" charset="0"/>
                          </a:rPr>
                          <m:t>𝒯</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r>
                          <a:rPr lang="de-DE" sz="1400" b="0" i="1" smtClean="0">
                            <a:latin typeface="Cambria Math" panose="02040503050406030204" pitchFamily="18" charset="0"/>
                            <a:ea typeface="CMU Serif" panose="02000603000000000000" pitchFamily="2" charset="0"/>
                            <a:cs typeface="CMU Serif" panose="02000603000000000000" pitchFamily="2" charset="0"/>
                          </a:rPr>
                          <m:t>𝒜</m:t>
                        </m:r>
                        <m:r>
                          <a:rPr lang="de-DE" sz="1400" b="0" i="1" smtClean="0">
                            <a:latin typeface="Cambria Math" panose="02040503050406030204" pitchFamily="18" charset="0"/>
                            <a:ea typeface="CMU Serif" panose="02000603000000000000" pitchFamily="2" charset="0"/>
                            <a:cs typeface="CMU Serif" panose="02000603000000000000" pitchFamily="2" charset="0"/>
                          </a:rPr>
                          <m:t>, </m:t>
                        </m:r>
                        <m:sSub>
                          <m:sSub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400" b="0" i="1" smtClean="0">
                                <a:latin typeface="Cambria Math" panose="02040503050406030204" pitchFamily="18" charset="0"/>
                                <a:ea typeface="CMU Serif" panose="02000603000000000000" pitchFamily="2" charset="0"/>
                                <a:cs typeface="CMU Serif" panose="02000603000000000000" pitchFamily="2" charset="0"/>
                              </a:rPr>
                              <m:t>𝑝</m:t>
                            </m:r>
                          </m:e>
                          <m:sub>
                            <m:r>
                              <a:rPr lang="de-DE" sz="1400" b="0" i="1" smtClean="0">
                                <a:latin typeface="Cambria Math" panose="02040503050406030204" pitchFamily="18" charset="0"/>
                                <a:ea typeface="CMU Serif" panose="02000603000000000000" pitchFamily="2" charset="0"/>
                                <a:cs typeface="CMU Serif" panose="02000603000000000000" pitchFamily="2" charset="0"/>
                              </a:rPr>
                              <m:t>𝛽</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r>
                              <a:rPr lang="de-DE" sz="1400" b="0" i="1" smtClean="0">
                                <a:latin typeface="Cambria Math" panose="02040503050406030204" pitchFamily="18" charset="0"/>
                                <a:ea typeface="CMU Serif" panose="02000603000000000000" pitchFamily="2" charset="0"/>
                                <a:cs typeface="CMU Serif" panose="02000603000000000000" pitchFamily="2" charset="0"/>
                              </a:rPr>
                              <m:t>𝜎</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r>
                              <a:rPr lang="de-DE" sz="1400" b="0" i="1" smtClean="0">
                                <a:latin typeface="Cambria Math" panose="02040503050406030204" pitchFamily="18" charset="0"/>
                                <a:ea typeface="CMU Serif" panose="02000603000000000000" pitchFamily="2" charset="0"/>
                                <a:cs typeface="CMU Serif" panose="02000603000000000000" pitchFamily="2" charset="0"/>
                              </a:rPr>
                              <m:t>𝜏</m:t>
                            </m:r>
                          </m:sub>
                        </m:sSub>
                        <m:d>
                          <m:d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400" b="0" i="1" smtClean="0">
                                    <a:latin typeface="Cambria Math" panose="02040503050406030204" pitchFamily="18" charset="0"/>
                                    <a:ea typeface="CMU Serif" panose="02000603000000000000" pitchFamily="2" charset="0"/>
                                    <a:cs typeface="CMU Serif" panose="02000603000000000000" pitchFamily="2" charset="0"/>
                                  </a:rPr>
                                  <m:t>𝑎</m:t>
                                </m:r>
                              </m:e>
                              <m:sub>
                                <m:r>
                                  <a:rPr lang="de-DE" sz="1400" b="0" i="1" smtClean="0">
                                    <a:latin typeface="Cambria Math" panose="02040503050406030204" pitchFamily="18" charset="0"/>
                                    <a:ea typeface="CMU Serif" panose="02000603000000000000" pitchFamily="2" charset="0"/>
                                    <a:cs typeface="CMU Serif" panose="02000603000000000000" pitchFamily="2" charset="0"/>
                                  </a:rPr>
                                  <m:t>𝑡</m:t>
                                </m:r>
                              </m:sub>
                            </m:sSub>
                          </m:e>
                          <m:e>
                            <m:sSub>
                              <m:sSub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4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400" b="0" i="1" smtClean="0">
                                    <a:latin typeface="Cambria Math" panose="02040503050406030204" pitchFamily="18" charset="0"/>
                                    <a:ea typeface="CMU Serif" panose="02000603000000000000" pitchFamily="2" charset="0"/>
                                    <a:cs typeface="CMU Serif" panose="02000603000000000000" pitchFamily="2" charset="0"/>
                                  </a:rPr>
                                  <m:t>𝑡</m:t>
                                </m:r>
                              </m:sub>
                            </m:sSub>
                          </m:e>
                        </m:d>
                      </m:e>
                    </m:d>
                  </m:oMath>
                </a14:m>
                <a:r>
                  <a:rPr lang="de-DE" sz="1400" dirty="0">
                    <a:latin typeface="Arial" panose="020B0604020202020204" pitchFamily="34" charset="0"/>
                    <a:ea typeface="CMU Serif" panose="02000603000000000000" pitchFamily="2" charset="0"/>
                    <a:cs typeface="Arial" panose="020B0604020202020204" pitchFamily="34" charset="0"/>
                  </a:rPr>
                  <a:t> </a:t>
                </a:r>
              </a:p>
            </p:txBody>
          </p:sp>
        </mc:Choice>
        <mc:Fallback xmlns="">
          <p:sp>
            <p:nvSpPr>
              <p:cNvPr id="14" name="Textfeld 13">
                <a:extLst>
                  <a:ext uri="{FF2B5EF4-FFF2-40B4-BE49-F238E27FC236}">
                    <a16:creationId xmlns:a16="http://schemas.microsoft.com/office/drawing/2014/main" id="{6060388E-6834-D4AF-C934-3B102E20D759}"/>
                  </a:ext>
                </a:extLst>
              </p:cNvPr>
              <p:cNvSpPr txBox="1">
                <a:spLocks noRot="1" noChangeAspect="1" noMove="1" noResize="1" noEditPoints="1" noAdjustHandles="1" noChangeArrowheads="1" noChangeShapeType="1" noTextEdit="1"/>
              </p:cNvSpPr>
              <p:nvPr/>
            </p:nvSpPr>
            <p:spPr>
              <a:xfrm>
                <a:off x="894720" y="855097"/>
                <a:ext cx="3134063" cy="414729"/>
              </a:xfrm>
              <a:prstGeom prst="rect">
                <a:avLst/>
              </a:prstGeom>
              <a:blipFill>
                <a:blip r:embed="rId7"/>
                <a:stretch>
                  <a:fillRect l="-584" b="-2941"/>
                </a:stretch>
              </a:blipFill>
            </p:spPr>
            <p:txBody>
              <a:bodyPr/>
              <a:lstStyle/>
              <a:p>
                <a:r>
                  <a:rPr lang="de-DE">
                    <a:noFill/>
                  </a:rPr>
                  <a:t> </a:t>
                </a:r>
              </a:p>
            </p:txBody>
          </p:sp>
        </mc:Fallback>
      </mc:AlternateContent>
      <p:sp>
        <p:nvSpPr>
          <p:cNvPr id="15" name="Textfeld 14">
            <a:extLst>
              <a:ext uri="{FF2B5EF4-FFF2-40B4-BE49-F238E27FC236}">
                <a16:creationId xmlns:a16="http://schemas.microsoft.com/office/drawing/2014/main" id="{B642B268-6F75-02CF-8F3E-E30B9BD231F5}"/>
              </a:ext>
            </a:extLst>
          </p:cNvPr>
          <p:cNvSpPr txBox="1"/>
          <p:nvPr/>
        </p:nvSpPr>
        <p:spPr>
          <a:xfrm>
            <a:off x="910593" y="1301509"/>
            <a:ext cx="1089722" cy="307777"/>
          </a:xfrm>
          <a:prstGeom prst="rect">
            <a:avLst/>
          </a:prstGeom>
          <a:noFill/>
        </p:spPr>
        <p:txBody>
          <a:bodyPr wrap="none" rtlCol="0">
            <a:spAutoFit/>
          </a:bodyPr>
          <a:lstStyle/>
          <a:p>
            <a:r>
              <a:rPr lang="de-DE" sz="1400" dirty="0">
                <a:latin typeface="Arial" panose="020B0604020202020204" pitchFamily="34" charset="0"/>
                <a:ea typeface="CMU Serif" panose="02000603000000000000" pitchFamily="2" charset="0"/>
                <a:cs typeface="Arial" panose="020B0604020202020204" pitchFamily="34" charset="0"/>
              </a:rPr>
              <a:t>Task </a:t>
            </a:r>
            <a:r>
              <a:rPr lang="de-DE" sz="1400" dirty="0" err="1">
                <a:latin typeface="Arial" panose="020B0604020202020204" pitchFamily="34" charset="0"/>
                <a:ea typeface="CMU Serif" panose="02000603000000000000" pitchFamily="2" charset="0"/>
                <a:cs typeface="Arial" panose="020B0604020202020204" pitchFamily="34" charset="0"/>
              </a:rPr>
              <a:t>model</a:t>
            </a:r>
            <a:endParaRPr lang="de-DE" sz="1400" dirty="0">
              <a:latin typeface="Arial" panose="020B0604020202020204" pitchFamily="34" charset="0"/>
              <a:ea typeface="CMU Serif" panose="02000603000000000000" pitchFamily="2" charset="0"/>
              <a:cs typeface="Arial" panose="020B0604020202020204" pitchFamily="34" charset="0"/>
            </a:endParaRPr>
          </a:p>
        </p:txBody>
      </p:sp>
      <p:sp>
        <p:nvSpPr>
          <p:cNvPr id="16" name="Textfeld 15">
            <a:extLst>
              <a:ext uri="{FF2B5EF4-FFF2-40B4-BE49-F238E27FC236}">
                <a16:creationId xmlns:a16="http://schemas.microsoft.com/office/drawing/2014/main" id="{595EFD39-ED02-7009-860B-7B132A3FF729}"/>
              </a:ext>
            </a:extLst>
          </p:cNvPr>
          <p:cNvSpPr txBox="1"/>
          <p:nvPr/>
        </p:nvSpPr>
        <p:spPr>
          <a:xfrm>
            <a:off x="4859024" y="1294885"/>
            <a:ext cx="1189749" cy="307777"/>
          </a:xfrm>
          <a:prstGeom prst="rect">
            <a:avLst/>
          </a:prstGeom>
          <a:noFill/>
        </p:spPr>
        <p:txBody>
          <a:bodyPr wrap="none" rtlCol="0">
            <a:spAutoFit/>
          </a:bodyPr>
          <a:lstStyle/>
          <a:p>
            <a:r>
              <a:rPr lang="de-DE" sz="1400" dirty="0">
                <a:latin typeface="Arial" panose="020B0604020202020204" pitchFamily="34" charset="0"/>
                <a:ea typeface="CMU Serif" panose="02000603000000000000" pitchFamily="2" charset="0"/>
                <a:cs typeface="Arial" panose="020B0604020202020204" pitchFamily="34" charset="0"/>
              </a:rPr>
              <a:t>Agent </a:t>
            </a:r>
            <a:r>
              <a:rPr lang="de-DE" sz="1400" dirty="0" err="1">
                <a:latin typeface="Arial" panose="020B0604020202020204" pitchFamily="34" charset="0"/>
                <a:ea typeface="CMU Serif" panose="02000603000000000000" pitchFamily="2" charset="0"/>
                <a:cs typeface="Arial" panose="020B0604020202020204" pitchFamily="34" charset="0"/>
              </a:rPr>
              <a:t>model</a:t>
            </a:r>
            <a:endParaRPr lang="de-DE" sz="1400" dirty="0">
              <a:latin typeface="Arial" panose="020B0604020202020204" pitchFamily="34" charset="0"/>
              <a:ea typeface="CMU Serif" panose="02000603000000000000" pitchFamily="2" charset="0"/>
              <a:cs typeface="Arial" panose="020B0604020202020204" pitchFamily="34" charset="0"/>
            </a:endParaRPr>
          </a:p>
        </p:txBody>
      </p:sp>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B0C431EE-69BA-F37C-5A5D-003625AE469D}"/>
                  </a:ext>
                </a:extLst>
              </p:cNvPr>
              <p:cNvSpPr txBox="1"/>
              <p:nvPr/>
            </p:nvSpPr>
            <p:spPr>
              <a:xfrm>
                <a:off x="1307939" y="2942770"/>
                <a:ext cx="2483565" cy="307777"/>
              </a:xfrm>
              <a:prstGeom prst="rect">
                <a:avLst/>
              </a:prstGeom>
              <a:noFill/>
            </p:spPr>
            <p:txBody>
              <a:bodyPr wrap="none" rtlCol="0">
                <a:spAutoFit/>
              </a:bodyPr>
              <a:lstStyle/>
              <a:p>
                <a:pPr algn="ctr"/>
                <a:r>
                  <a:rPr lang="de-DE" sz="1400" dirty="0">
                    <a:latin typeface="Arial" panose="020B0604020202020204" pitchFamily="34" charset="0"/>
                    <a:cs typeface="Arial" panose="020B0604020202020204" pitchFamily="34" charset="0"/>
                  </a:rPr>
                  <a:t>State </a:t>
                </a:r>
                <a:r>
                  <a:rPr lang="de-DE" sz="1400" dirty="0" err="1">
                    <a:latin typeface="Arial" panose="020B0604020202020204" pitchFamily="34" charset="0"/>
                    <a:cs typeface="Arial" panose="020B0604020202020204" pitchFamily="34" charset="0"/>
                  </a:rPr>
                  <a:t>transition</a:t>
                </a:r>
                <a:r>
                  <a:rPr lang="de-DE" sz="1400" dirty="0">
                    <a:latin typeface="Arial" panose="020B0604020202020204" pitchFamily="34" charset="0"/>
                    <a:cs typeface="Arial" panose="020B0604020202020204" pitchFamily="34" charset="0"/>
                  </a:rPr>
                  <a:t> </a:t>
                </a:r>
                <a14:m>
                  <m:oMath xmlns:m="http://schemas.openxmlformats.org/officeDocument/2006/math">
                    <m:r>
                      <a:rPr lang="de-DE" sz="1400" i="1">
                        <a:latin typeface="Cambria Math" panose="02040503050406030204" pitchFamily="18" charset="0"/>
                      </a:rPr>
                      <m:t>𝑝</m:t>
                    </m:r>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𝑡</m:t>
                        </m:r>
                        <m:r>
                          <a:rPr lang="de-DE" sz="1400" b="0" i="1" smtClean="0">
                            <a:latin typeface="Cambria Math" panose="02040503050406030204" pitchFamily="18" charset="0"/>
                          </a:rPr>
                          <m:t>+1</m:t>
                        </m:r>
                      </m:sub>
                    </m:sSub>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r>
                      <a:rPr lang="de-DE" sz="1400" i="1">
                        <a:latin typeface="Cambria Math" panose="02040503050406030204" pitchFamily="18" charset="0"/>
                      </a:rPr>
                      <m:t>)</m:t>
                    </m:r>
                  </m:oMath>
                </a14:m>
                <a:r>
                  <a:rPr lang="de-DE" sz="1400" dirty="0">
                    <a:effectLst/>
                    <a:latin typeface="Arial" panose="020B0604020202020204" pitchFamily="34" charset="0"/>
                    <a:ea typeface="CMU Serif" panose="02000603000000000000" pitchFamily="2" charset="0"/>
                    <a:cs typeface="Arial" panose="020B0604020202020204" pitchFamily="34" charset="0"/>
                  </a:rPr>
                  <a:t> </a:t>
                </a:r>
              </a:p>
            </p:txBody>
          </p:sp>
        </mc:Choice>
        <mc:Fallback xmlns="">
          <p:sp>
            <p:nvSpPr>
              <p:cNvPr id="17" name="Textfeld 16">
                <a:extLst>
                  <a:ext uri="{FF2B5EF4-FFF2-40B4-BE49-F238E27FC236}">
                    <a16:creationId xmlns:a16="http://schemas.microsoft.com/office/drawing/2014/main" id="{B0C431EE-69BA-F37C-5A5D-003625AE469D}"/>
                  </a:ext>
                </a:extLst>
              </p:cNvPr>
              <p:cNvSpPr txBox="1">
                <a:spLocks noRot="1" noChangeAspect="1" noMove="1" noResize="1" noEditPoints="1" noAdjustHandles="1" noChangeArrowheads="1" noChangeShapeType="1" noTextEdit="1"/>
              </p:cNvSpPr>
              <p:nvPr/>
            </p:nvSpPr>
            <p:spPr>
              <a:xfrm>
                <a:off x="1307939" y="2942770"/>
                <a:ext cx="2483565" cy="307777"/>
              </a:xfrm>
              <a:prstGeom prst="rect">
                <a:avLst/>
              </a:prstGeom>
              <a:blipFill>
                <a:blip r:embed="rId8"/>
                <a:stretch>
                  <a:fillRect l="-246" t="-4000" b="-20000"/>
                </a:stretch>
              </a:blipFill>
            </p:spPr>
            <p:txBody>
              <a:bodyPr/>
              <a:lstStyle/>
              <a:p>
                <a:r>
                  <a:rPr lang="de-DE">
                    <a:noFill/>
                  </a:rPr>
                  <a:t> </a:t>
                </a:r>
              </a:p>
            </p:txBody>
          </p:sp>
        </mc:Fallback>
      </mc:AlternateContent>
      <p:cxnSp>
        <p:nvCxnSpPr>
          <p:cNvPr id="18" name="Gerade Verbindung mit Pfeil 17">
            <a:extLst>
              <a:ext uri="{FF2B5EF4-FFF2-40B4-BE49-F238E27FC236}">
                <a16:creationId xmlns:a16="http://schemas.microsoft.com/office/drawing/2014/main" id="{68F17912-D719-9B28-5127-58EC4D06A6AB}"/>
              </a:ext>
            </a:extLst>
          </p:cNvPr>
          <p:cNvCxnSpPr>
            <a:cxnSpLocks/>
            <a:stCxn id="41" idx="2"/>
            <a:endCxn id="12" idx="0"/>
          </p:cNvCxnSpPr>
          <p:nvPr/>
        </p:nvCxnSpPr>
        <p:spPr>
          <a:xfrm flipH="1">
            <a:off x="6705349" y="2184672"/>
            <a:ext cx="1" cy="27361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EF345BAE-7551-0A9E-C646-5C6FD5ED7C5F}"/>
              </a:ext>
            </a:extLst>
          </p:cNvPr>
          <p:cNvCxnSpPr>
            <a:cxnSpLocks/>
            <a:stCxn id="11" idx="2"/>
            <a:endCxn id="13" idx="0"/>
          </p:cNvCxnSpPr>
          <p:nvPr/>
        </p:nvCxnSpPr>
        <p:spPr>
          <a:xfrm>
            <a:off x="6705349" y="3759734"/>
            <a:ext cx="1" cy="343151"/>
          </a:xfrm>
          <a:prstGeom prst="straightConnector1">
            <a:avLst/>
          </a:prstGeom>
          <a:ln w="3175">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7621A82F-FB52-2E82-8807-B7B854D72E2B}"/>
              </a:ext>
            </a:extLst>
          </p:cNvPr>
          <p:cNvCxnSpPr>
            <a:cxnSpLocks/>
            <a:stCxn id="17" idx="0"/>
            <a:endCxn id="7" idx="2"/>
          </p:cNvCxnSpPr>
          <p:nvPr/>
        </p:nvCxnSpPr>
        <p:spPr>
          <a:xfrm flipH="1" flipV="1">
            <a:off x="2549721" y="2200731"/>
            <a:ext cx="1" cy="742039"/>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4E026B0F-3331-D300-43C0-A1F38B11B930}"/>
              </a:ext>
            </a:extLst>
          </p:cNvPr>
          <p:cNvCxnSpPr>
            <a:cxnSpLocks/>
            <a:stCxn id="17" idx="2"/>
            <a:endCxn id="25" idx="0"/>
          </p:cNvCxnSpPr>
          <p:nvPr/>
        </p:nvCxnSpPr>
        <p:spPr>
          <a:xfrm flipH="1">
            <a:off x="2541541" y="3250547"/>
            <a:ext cx="8181" cy="861924"/>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feld 24">
                <a:extLst>
                  <a:ext uri="{FF2B5EF4-FFF2-40B4-BE49-F238E27FC236}">
                    <a16:creationId xmlns:a16="http://schemas.microsoft.com/office/drawing/2014/main" id="{97E49FEF-6E59-41D0-9387-16D8CC1E91C9}"/>
                  </a:ext>
                </a:extLst>
              </p:cNvPr>
              <p:cNvSpPr txBox="1"/>
              <p:nvPr/>
            </p:nvSpPr>
            <p:spPr>
              <a:xfrm>
                <a:off x="1631900" y="4112471"/>
                <a:ext cx="1819281" cy="307777"/>
              </a:xfrm>
              <a:prstGeom prst="rect">
                <a:avLst/>
              </a:prstGeom>
              <a:noFill/>
            </p:spPr>
            <p:txBody>
              <a:bodyPr wrap="none" rtlCol="0">
                <a:spAutoFit/>
              </a:bodyPr>
              <a:lstStyle/>
              <a:p>
                <a:pPr algn="ctr"/>
                <a:r>
                  <a:rPr lang="de-DE" sz="1400" dirty="0">
                    <a:effectLst/>
                    <a:latin typeface="Arial" panose="020B0604020202020204" pitchFamily="34" charset="0"/>
                    <a:ea typeface="CMU Serif" panose="02000603000000000000" pitchFamily="2" charset="0"/>
                    <a:cs typeface="Arial" panose="020B0604020202020204" pitchFamily="34" charset="0"/>
                  </a:rPr>
                  <a:t>Task reward</a:t>
                </a:r>
                <a14:m>
                  <m:oMath xmlns:m="http://schemas.openxmlformats.org/officeDocument/2006/math">
                    <m:r>
                      <a:rPr lang="de-DE" sz="1400" b="0" i="0" smtClean="0">
                        <a:effectLst/>
                        <a:latin typeface="Cambria Math" panose="02040503050406030204" pitchFamily="18" charset="0"/>
                        <a:ea typeface="CMU Serif" panose="02000603000000000000" pitchFamily="2" charset="0"/>
                        <a:cs typeface="CMU Serif" panose="02000603000000000000" pitchFamily="2" charset="0"/>
                      </a:rPr>
                      <m:t> </m:t>
                    </m:r>
                    <m:r>
                      <a:rPr lang="de-DE" sz="1400" i="1" smtClean="0">
                        <a:latin typeface="Cambria Math" panose="02040503050406030204" pitchFamily="18" charset="0"/>
                      </a:rPr>
                      <m:t>𝜚</m:t>
                    </m:r>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oMath>
                </a14:m>
                <a:endParaRPr lang="de-DE" sz="1400" dirty="0">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25" name="Textfeld 24">
                <a:extLst>
                  <a:ext uri="{FF2B5EF4-FFF2-40B4-BE49-F238E27FC236}">
                    <a16:creationId xmlns:a16="http://schemas.microsoft.com/office/drawing/2014/main" id="{97E49FEF-6E59-41D0-9387-16D8CC1E91C9}"/>
                  </a:ext>
                </a:extLst>
              </p:cNvPr>
              <p:cNvSpPr txBox="1">
                <a:spLocks noRot="1" noChangeAspect="1" noMove="1" noResize="1" noEditPoints="1" noAdjustHandles="1" noChangeArrowheads="1" noChangeShapeType="1" noTextEdit="1"/>
              </p:cNvSpPr>
              <p:nvPr/>
            </p:nvSpPr>
            <p:spPr>
              <a:xfrm>
                <a:off x="1631900" y="4112471"/>
                <a:ext cx="1819281" cy="307777"/>
              </a:xfrm>
              <a:prstGeom prst="rect">
                <a:avLst/>
              </a:prstGeom>
              <a:blipFill>
                <a:blip r:embed="rId9"/>
                <a:stretch>
                  <a:fillRect l="-671" t="-4000" b="-20000"/>
                </a:stretch>
              </a:blipFill>
            </p:spPr>
            <p:txBody>
              <a:bodyPr/>
              <a:lstStyle/>
              <a:p>
                <a:r>
                  <a:rPr lang="de-DE">
                    <a:noFill/>
                  </a:rPr>
                  <a:t> </a:t>
                </a:r>
              </a:p>
            </p:txBody>
          </p:sp>
        </mc:Fallback>
      </mc:AlternateContent>
      <p:sp>
        <p:nvSpPr>
          <p:cNvPr id="26" name="Textfeld 25">
            <a:extLst>
              <a:ext uri="{FF2B5EF4-FFF2-40B4-BE49-F238E27FC236}">
                <a16:creationId xmlns:a16="http://schemas.microsoft.com/office/drawing/2014/main" id="{D1D6E3F5-DB0C-88FF-D1E5-B310CA3D4709}"/>
              </a:ext>
            </a:extLst>
          </p:cNvPr>
          <p:cNvSpPr txBox="1"/>
          <p:nvPr/>
        </p:nvSpPr>
        <p:spPr>
          <a:xfrm>
            <a:off x="5612231" y="3867797"/>
            <a:ext cx="1030799" cy="261610"/>
          </a:xfrm>
          <a:prstGeom prst="rect">
            <a:avLst/>
          </a:prstGeom>
          <a:noFill/>
        </p:spPr>
        <p:txBody>
          <a:bodyPr wrap="square" rtlCol="0">
            <a:spAutoFit/>
          </a:bodyPr>
          <a:lstStyle/>
          <a:p>
            <a:r>
              <a:rPr lang="de-DE" sz="1100" dirty="0">
                <a:latin typeface="Arial" panose="020B0604020202020204" pitchFamily="34" charset="0"/>
                <a:ea typeface="CMU Serif" panose="02000603000000000000" pitchFamily="2" charset="0"/>
                <a:cs typeface="Arial" panose="020B0604020202020204" pitchFamily="34" charset="0"/>
              </a:rPr>
              <a:t>Action </a:t>
            </a:r>
            <a:r>
              <a:rPr lang="de-DE" sz="1100" dirty="0" err="1">
                <a:latin typeface="Arial" panose="020B0604020202020204" pitchFamily="34" charset="0"/>
                <a:ea typeface="CMU Serif" panose="02000603000000000000" pitchFamily="2" charset="0"/>
                <a:cs typeface="Arial" panose="020B0604020202020204" pitchFamily="34" charset="0"/>
              </a:rPr>
              <a:t>lifting</a:t>
            </a:r>
            <a:endParaRPr lang="de-DE" sz="1100" dirty="0">
              <a:latin typeface="Arial" panose="020B0604020202020204" pitchFamily="34" charset="0"/>
              <a:ea typeface="CMU Serif" panose="02000603000000000000" pitchFamily="2" charset="0"/>
              <a:cs typeface="Arial" panose="020B0604020202020204" pitchFamily="34" charset="0"/>
            </a:endParaRPr>
          </a:p>
        </p:txBody>
      </p:sp>
      <p:cxnSp>
        <p:nvCxnSpPr>
          <p:cNvPr id="29" name="Gerade Verbindung mit Pfeil 28">
            <a:extLst>
              <a:ext uri="{FF2B5EF4-FFF2-40B4-BE49-F238E27FC236}">
                <a16:creationId xmlns:a16="http://schemas.microsoft.com/office/drawing/2014/main" id="{7034D96A-B6DA-C589-9C47-2C836FE0971E}"/>
              </a:ext>
            </a:extLst>
          </p:cNvPr>
          <p:cNvCxnSpPr>
            <a:cxnSpLocks/>
          </p:cNvCxnSpPr>
          <p:nvPr/>
        </p:nvCxnSpPr>
        <p:spPr>
          <a:xfrm flipV="1">
            <a:off x="4223481" y="2034994"/>
            <a:ext cx="838723" cy="1"/>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EBB453DC-48EF-7730-C583-5C4AA70BCE97}"/>
              </a:ext>
            </a:extLst>
          </p:cNvPr>
          <p:cNvCxnSpPr>
            <a:cxnSpLocks/>
            <a:stCxn id="13" idx="1"/>
            <a:endCxn id="25" idx="3"/>
          </p:cNvCxnSpPr>
          <p:nvPr/>
        </p:nvCxnSpPr>
        <p:spPr>
          <a:xfrm flipH="1">
            <a:off x="3451181" y="4266360"/>
            <a:ext cx="1607628" cy="0"/>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7691A608-6C91-A8FA-5064-E38F08646ABB}"/>
                  </a:ext>
                </a:extLst>
              </p:cNvPr>
              <p:cNvSpPr txBox="1"/>
              <p:nvPr/>
            </p:nvSpPr>
            <p:spPr>
              <a:xfrm>
                <a:off x="7271104" y="878669"/>
                <a:ext cx="1171154" cy="338554"/>
              </a:xfrm>
              <a:prstGeom prst="rect">
                <a:avLst/>
              </a:prstGeom>
              <a:noFill/>
            </p:spPr>
            <p:txBody>
              <a:bodyPr wrap="none" rtlCol="0">
                <a:spAutoFit/>
              </a:bodyPr>
              <a:lstStyle/>
              <a:p>
                <a:pPr/>
                <a14:m>
                  <m:oMathPara xmlns:m="http://schemas.openxmlformats.org/officeDocument/2006/math">
                    <m:oMath>
                      <m:r>
                        <a:rPr lang="de-DE" sz="1600" b="0" i="1" dirty="0" smtClean="0">
                          <a:latin typeface="Cambria Math" panose="02040503050406030204" pitchFamily="18" charset="0"/>
                          <a:ea typeface="CMU Serif" panose="02000603000000000000" pitchFamily="2" charset="0"/>
                          <a:cs typeface="CMU Serif" panose="02000603000000000000" pitchFamily="2" charset="0"/>
                        </a:rPr>
                        <m:t>𝑡</m:t>
                      </m:r>
                      <m:r>
                        <a:rPr lang="de-DE" sz="1600" i="1" dirty="0" smtClean="0">
                          <a:latin typeface="Cambria Math" panose="02040503050406030204" pitchFamily="18" charset="0"/>
                          <a:ea typeface="CMU Serif" panose="02000603000000000000" pitchFamily="2" charset="0"/>
                          <a:cs typeface="CMU Serif" panose="02000603000000000000" pitchFamily="2" charset="0"/>
                        </a:rPr>
                        <m:t>=</m:t>
                      </m:r>
                      <m:r>
                        <a:rPr lang="de-DE" sz="1600" b="0" i="1" dirty="0" smtClean="0">
                          <a:latin typeface="Cambria Math" panose="02040503050406030204" pitchFamily="18" charset="0"/>
                          <a:ea typeface="CMU Serif" panose="02000603000000000000" pitchFamily="2" charset="0"/>
                          <a:cs typeface="CMU Serif" panose="02000603000000000000" pitchFamily="2" charset="0"/>
                        </a:rPr>
                        <m:t>0</m:t>
                      </m:r>
                      <m:r>
                        <a:rPr lang="de-DE" sz="1600" i="1" dirty="0" smtClean="0">
                          <a:latin typeface="Cambria Math" panose="02040503050406030204" pitchFamily="18" charset="0"/>
                          <a:ea typeface="CMU Serif" panose="02000603000000000000" pitchFamily="2" charset="0"/>
                          <a:cs typeface="CMU Serif" panose="02000603000000000000" pitchFamily="2" charset="0"/>
                        </a:rPr>
                        <m:t>,…,</m:t>
                      </m:r>
                      <m:r>
                        <a:rPr lang="de-DE" sz="1600" b="0" i="1" dirty="0" smtClean="0">
                          <a:latin typeface="Cambria Math" panose="02040503050406030204" pitchFamily="18" charset="0"/>
                          <a:ea typeface="CMU Serif" panose="02000603000000000000" pitchFamily="2" charset="0"/>
                          <a:cs typeface="CMU Serif" panose="02000603000000000000" pitchFamily="2" charset="0"/>
                        </a:rPr>
                        <m:t>𝑛</m:t>
                      </m:r>
                    </m:oMath>
                  </m:oMathPara>
                </a14:m>
                <a:endParaRPr lang="de-DE" sz="1600" dirty="0">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31" name="Textfeld 30">
                <a:extLst>
                  <a:ext uri="{FF2B5EF4-FFF2-40B4-BE49-F238E27FC236}">
                    <a16:creationId xmlns:a16="http://schemas.microsoft.com/office/drawing/2014/main" id="{7691A608-6C91-A8FA-5064-E38F08646ABB}"/>
                  </a:ext>
                </a:extLst>
              </p:cNvPr>
              <p:cNvSpPr txBox="1">
                <a:spLocks noRot="1" noChangeAspect="1" noMove="1" noResize="1" noEditPoints="1" noAdjustHandles="1" noChangeArrowheads="1" noChangeShapeType="1" noTextEdit="1"/>
              </p:cNvSpPr>
              <p:nvPr/>
            </p:nvSpPr>
            <p:spPr>
              <a:xfrm>
                <a:off x="7271104" y="878669"/>
                <a:ext cx="1171154" cy="338554"/>
              </a:xfrm>
              <a:prstGeom prst="rect">
                <a:avLst/>
              </a:prstGeom>
              <a:blipFill>
                <a:blip r:embed="rId10"/>
                <a:stretch>
                  <a:fillRect/>
                </a:stretch>
              </a:blipFill>
            </p:spPr>
            <p:txBody>
              <a:bodyPr/>
              <a:lstStyle/>
              <a:p>
                <a:r>
                  <a:rPr lang="de-DE">
                    <a:noFill/>
                  </a:rPr>
                  <a:t> </a:t>
                </a:r>
              </a:p>
            </p:txBody>
          </p:sp>
        </mc:Fallback>
      </mc:AlternateContent>
      <p:sp>
        <p:nvSpPr>
          <p:cNvPr id="32" name="Textfeld 31">
            <a:extLst>
              <a:ext uri="{FF2B5EF4-FFF2-40B4-BE49-F238E27FC236}">
                <a16:creationId xmlns:a16="http://schemas.microsoft.com/office/drawing/2014/main" id="{9D1AEBE1-FD87-E267-3651-01EE5B9FD571}"/>
              </a:ext>
            </a:extLst>
          </p:cNvPr>
          <p:cNvSpPr txBox="1"/>
          <p:nvPr/>
        </p:nvSpPr>
        <p:spPr>
          <a:xfrm>
            <a:off x="7755272" y="3704606"/>
            <a:ext cx="354219" cy="307777"/>
          </a:xfrm>
          <a:prstGeom prst="rect">
            <a:avLst/>
          </a:prstGeom>
          <a:noFill/>
        </p:spPr>
        <p:txBody>
          <a:bodyPr wrap="square">
            <a:spAutoFit/>
          </a:bodyPr>
          <a:lstStyle/>
          <a:p>
            <a:r>
              <a:rPr lang="de-DE" sz="1400" dirty="0">
                <a:solidFill>
                  <a:schemeClr val="tx1"/>
                </a:solidFill>
                <a:latin typeface="Arial" panose="020B0604020202020204" pitchFamily="34" charset="0"/>
                <a:cs typeface="Arial" panose="020B0604020202020204" pitchFamily="34" charset="0"/>
              </a:rPr>
              <a:t> </a:t>
            </a:r>
          </a:p>
        </p:txBody>
      </p:sp>
      <p:cxnSp>
        <p:nvCxnSpPr>
          <p:cNvPr id="34" name="Verbinder: gewinkelt 33">
            <a:extLst>
              <a:ext uri="{FF2B5EF4-FFF2-40B4-BE49-F238E27FC236}">
                <a16:creationId xmlns:a16="http://schemas.microsoft.com/office/drawing/2014/main" id="{38171AB2-6338-7757-1813-0497F5141691}"/>
              </a:ext>
            </a:extLst>
          </p:cNvPr>
          <p:cNvCxnSpPr>
            <a:cxnSpLocks/>
            <a:endCxn id="17" idx="3"/>
          </p:cNvCxnSpPr>
          <p:nvPr/>
        </p:nvCxnSpPr>
        <p:spPr>
          <a:xfrm rot="16200000" flipV="1">
            <a:off x="3519560" y="3368603"/>
            <a:ext cx="1169700" cy="62581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feld 40">
                <a:extLst>
                  <a:ext uri="{FF2B5EF4-FFF2-40B4-BE49-F238E27FC236}">
                    <a16:creationId xmlns:a16="http://schemas.microsoft.com/office/drawing/2014/main" id="{25AAA040-5559-4EFC-C4FD-CD77037EE781}"/>
                  </a:ext>
                </a:extLst>
              </p:cNvPr>
              <p:cNvSpPr txBox="1"/>
              <p:nvPr/>
            </p:nvSpPr>
            <p:spPr>
              <a:xfrm>
                <a:off x="5125782" y="1869906"/>
                <a:ext cx="3159135" cy="314766"/>
              </a:xfrm>
              <a:prstGeom prst="rect">
                <a:avLst/>
              </a:prstGeom>
              <a:noFill/>
            </p:spPr>
            <p:txBody>
              <a:bodyPr wrap="none" rtlCol="0">
                <a:spAutoFit/>
              </a:bodyPr>
              <a:lstStyle/>
              <a:p>
                <a:pPr algn="ctr"/>
                <a:r>
                  <a:rPr lang="de-DE" sz="1300" b="0" dirty="0">
                    <a:solidFill>
                      <a:schemeClr val="bg1">
                        <a:lumMod val="65000"/>
                      </a:schemeClr>
                    </a:solidFill>
                    <a:latin typeface="Arial" panose="020B0604020202020204" pitchFamily="34" charset="0"/>
                    <a:cs typeface="Arial" panose="020B0604020202020204" pitchFamily="34" charset="0"/>
                  </a:rPr>
                  <a:t>Reduced </a:t>
                </a:r>
                <a:r>
                  <a:rPr lang="de-DE" sz="1300" b="0" dirty="0" err="1">
                    <a:solidFill>
                      <a:schemeClr val="bg1">
                        <a:lumMod val="65000"/>
                      </a:schemeClr>
                    </a:solidFill>
                    <a:latin typeface="Arial" panose="020B0604020202020204" pitchFamily="34" charset="0"/>
                    <a:cs typeface="Arial" panose="020B0604020202020204" pitchFamily="34" charset="0"/>
                  </a:rPr>
                  <a:t>state</a:t>
                </a:r>
                <a:r>
                  <a:rPr lang="de-DE" sz="1300" b="0" dirty="0">
                    <a:solidFill>
                      <a:schemeClr val="bg1">
                        <a:lumMod val="65000"/>
                      </a:schemeClr>
                    </a:solidFill>
                    <a:latin typeface="Arial" panose="020B0604020202020204" pitchFamily="34" charset="0"/>
                    <a:cs typeface="Arial" panose="020B0604020202020204" pitchFamily="34" charset="0"/>
                  </a:rPr>
                  <a:t> </a:t>
                </a:r>
                <a14:m>
                  <m:oMath xmlns:m="http://schemas.openxmlformats.org/officeDocument/2006/math">
                    <m:sSubSup>
                      <m:sSubSupPr>
                        <m:ctrlPr>
                          <a:rPr lang="de-DE" sz="1300" b="0" i="1" smtClean="0">
                            <a:solidFill>
                              <a:schemeClr val="bg1">
                                <a:lumMod val="65000"/>
                              </a:schemeClr>
                            </a:solidFill>
                            <a:latin typeface="Cambria Math" panose="02040503050406030204" pitchFamily="18" charset="0"/>
                          </a:rPr>
                        </m:ctrlPr>
                      </m:sSubSupPr>
                      <m:e>
                        <m:r>
                          <a:rPr lang="de-DE" sz="1300" b="0" i="1" smtClean="0">
                            <a:solidFill>
                              <a:schemeClr val="bg1">
                                <a:lumMod val="65000"/>
                              </a:schemeClr>
                            </a:solidFill>
                            <a:latin typeface="Cambria Math" panose="02040503050406030204" pitchFamily="18" charset="0"/>
                          </a:rPr>
                          <m:t>𝑠</m:t>
                        </m:r>
                      </m:e>
                      <m:sub>
                        <m:r>
                          <a:rPr lang="de-DE" sz="1300" b="0" i="1" smtClean="0">
                            <a:solidFill>
                              <a:schemeClr val="bg1">
                                <a:lumMod val="65000"/>
                              </a:schemeClr>
                            </a:solidFill>
                            <a:latin typeface="Cambria Math" panose="02040503050406030204" pitchFamily="18" charset="0"/>
                          </a:rPr>
                          <m:t>𝑡</m:t>
                        </m:r>
                      </m:sub>
                      <m:sup>
                        <m:r>
                          <a:rPr lang="de-DE" sz="1300" b="0" i="1" smtClean="0">
                            <a:solidFill>
                              <a:schemeClr val="bg1">
                                <a:lumMod val="65000"/>
                              </a:schemeClr>
                            </a:solidFill>
                            <a:latin typeface="Cambria Math" panose="02040503050406030204" pitchFamily="18" charset="0"/>
                          </a:rPr>
                          <m:t>𝜒</m:t>
                        </m:r>
                      </m:sup>
                    </m:sSubSup>
                    <m:r>
                      <a:rPr lang="de-DE" sz="1300" b="0" i="1" smtClean="0">
                        <a:solidFill>
                          <a:schemeClr val="bg1">
                            <a:lumMod val="65000"/>
                          </a:schemeClr>
                        </a:solidFill>
                        <a:latin typeface="Cambria Math" panose="02040503050406030204" pitchFamily="18" charset="0"/>
                      </a:rPr>
                      <m:t>≔</m:t>
                    </m:r>
                    <m:r>
                      <a:rPr lang="de-DE" sz="1300" i="1">
                        <a:solidFill>
                          <a:schemeClr val="bg1">
                            <a:lumMod val="65000"/>
                          </a:schemeClr>
                        </a:solidFill>
                        <a:latin typeface="Cambria Math" panose="02040503050406030204" pitchFamily="18" charset="0"/>
                      </a:rPr>
                      <m:t>(</m:t>
                    </m:r>
                    <m:r>
                      <m:rPr>
                        <m:sty m:val="p"/>
                      </m:rPr>
                      <a:rPr lang="de-DE" sz="1300" b="0" i="0" smtClean="0">
                        <a:solidFill>
                          <a:schemeClr val="bg1">
                            <a:lumMod val="65000"/>
                          </a:schemeClr>
                        </a:solidFill>
                        <a:latin typeface="Cambria Math" panose="02040503050406030204" pitchFamily="18" charset="0"/>
                      </a:rPr>
                      <m:t>Switch</m:t>
                    </m:r>
                    <m:r>
                      <a:rPr lang="de-DE" sz="1300" b="0" i="0" smtClean="0">
                        <a:solidFill>
                          <a:schemeClr val="bg1">
                            <a:lumMod val="65000"/>
                          </a:schemeClr>
                        </a:solidFill>
                        <a:latin typeface="Cambria Math" panose="02040503050406030204" pitchFamily="18" charset="0"/>
                      </a:rPr>
                      <m:t>,</m:t>
                    </m:r>
                    <m:r>
                      <m:rPr>
                        <m:sty m:val="p"/>
                      </m:rPr>
                      <a:rPr lang="de-DE" sz="1300" b="0" i="0" smtClean="0">
                        <a:solidFill>
                          <a:schemeClr val="bg1">
                            <a:lumMod val="65000"/>
                          </a:schemeClr>
                        </a:solidFill>
                        <a:latin typeface="Cambria Math" panose="02040503050406030204" pitchFamily="18" charset="0"/>
                      </a:rPr>
                      <m:t>Imbalance</m:t>
                    </m:r>
                    <m:r>
                      <a:rPr lang="de-DE" sz="1300" i="1">
                        <a:solidFill>
                          <a:schemeClr val="bg1">
                            <a:lumMod val="65000"/>
                          </a:schemeClr>
                        </a:solidFill>
                        <a:latin typeface="Cambria Math" panose="02040503050406030204" pitchFamily="18" charset="0"/>
                      </a:rPr>
                      <m:t>)</m:t>
                    </m:r>
                  </m:oMath>
                </a14:m>
                <a:endParaRPr lang="de-DE" sz="13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41" name="Textfeld 40">
                <a:extLst>
                  <a:ext uri="{FF2B5EF4-FFF2-40B4-BE49-F238E27FC236}">
                    <a16:creationId xmlns:a16="http://schemas.microsoft.com/office/drawing/2014/main" id="{25AAA040-5559-4EFC-C4FD-CD77037EE781}"/>
                  </a:ext>
                </a:extLst>
              </p:cNvPr>
              <p:cNvSpPr txBox="1">
                <a:spLocks noRot="1" noChangeAspect="1" noMove="1" noResize="1" noEditPoints="1" noAdjustHandles="1" noChangeArrowheads="1" noChangeShapeType="1" noTextEdit="1"/>
              </p:cNvSpPr>
              <p:nvPr/>
            </p:nvSpPr>
            <p:spPr>
              <a:xfrm>
                <a:off x="5125782" y="1869906"/>
                <a:ext cx="3159135" cy="314766"/>
              </a:xfrm>
              <a:prstGeom prst="rect">
                <a:avLst/>
              </a:prstGeom>
              <a:blipFill>
                <a:blip r:embed="rId11"/>
                <a:stretch>
                  <a:fillRect b="-13725"/>
                </a:stretch>
              </a:blipFill>
            </p:spPr>
            <p:txBody>
              <a:bodyPr/>
              <a:lstStyle/>
              <a:p>
                <a:r>
                  <a:rPr lang="de-DE">
                    <a:noFill/>
                  </a:rPr>
                  <a:t> </a:t>
                </a:r>
              </a:p>
            </p:txBody>
          </p:sp>
        </mc:Fallback>
      </mc:AlternateContent>
      <p:sp>
        <p:nvSpPr>
          <p:cNvPr id="57" name="Textfeld 56">
            <a:extLst>
              <a:ext uri="{FF2B5EF4-FFF2-40B4-BE49-F238E27FC236}">
                <a16:creationId xmlns:a16="http://schemas.microsoft.com/office/drawing/2014/main" id="{12C3D6F2-08E4-39F2-0FA9-A36BD4DED39B}"/>
              </a:ext>
            </a:extLst>
          </p:cNvPr>
          <p:cNvSpPr txBox="1"/>
          <p:nvPr/>
        </p:nvSpPr>
        <p:spPr>
          <a:xfrm>
            <a:off x="5010815" y="2980054"/>
            <a:ext cx="3389069" cy="292388"/>
          </a:xfrm>
          <a:prstGeom prst="rect">
            <a:avLst/>
          </a:prstGeom>
          <a:noFill/>
        </p:spPr>
        <p:txBody>
          <a:bodyPr wrap="none" rtlCol="0">
            <a:spAutoFit/>
          </a:bodyPr>
          <a:lstStyle/>
          <a:p>
            <a:r>
              <a:rPr lang="de-DE" sz="1300" dirty="0">
                <a:solidFill>
                  <a:schemeClr val="bg1">
                    <a:lumMod val="65000"/>
                  </a:schemeClr>
                </a:solidFill>
                <a:latin typeface="Arial" panose="020B0604020202020204" pitchFamily="34" charset="0"/>
                <a:cs typeface="Arial" panose="020B0604020202020204" pitchFamily="34" charset="0"/>
              </a:rPr>
              <a:t>Dynamic </a:t>
            </a:r>
            <a:r>
              <a:rPr lang="de-DE" sz="1300" dirty="0" err="1">
                <a:solidFill>
                  <a:schemeClr val="bg1">
                    <a:lumMod val="65000"/>
                  </a:schemeClr>
                </a:solidFill>
                <a:latin typeface="Arial" panose="020B0604020202020204" pitchFamily="34" charset="0"/>
                <a:cs typeface="Arial" panose="020B0604020202020204" pitchFamily="34" charset="0"/>
              </a:rPr>
              <a:t>programming</a:t>
            </a:r>
            <a:r>
              <a:rPr lang="de-DE" sz="1300" dirty="0">
                <a:solidFill>
                  <a:schemeClr val="bg1">
                    <a:lumMod val="65000"/>
                  </a:schemeClr>
                </a:solidFill>
                <a:latin typeface="Arial" panose="020B0604020202020204" pitchFamily="34" charset="0"/>
                <a:cs typeface="Arial" panose="020B0604020202020204" pitchFamily="34" charset="0"/>
              </a:rPr>
              <a:t> </a:t>
            </a:r>
            <a:r>
              <a:rPr lang="de-DE" sz="1300" dirty="0" err="1">
                <a:solidFill>
                  <a:schemeClr val="bg1">
                    <a:lumMod val="65000"/>
                  </a:schemeClr>
                </a:solidFill>
                <a:latin typeface="Arial" panose="020B0604020202020204" pitchFamily="34" charset="0"/>
                <a:cs typeface="Arial" panose="020B0604020202020204" pitchFamily="34" charset="0"/>
              </a:rPr>
              <a:t>backward</a:t>
            </a:r>
            <a:r>
              <a:rPr lang="de-DE" sz="1300" dirty="0">
                <a:solidFill>
                  <a:schemeClr val="bg1">
                    <a:lumMod val="65000"/>
                  </a:schemeClr>
                </a:solidFill>
                <a:latin typeface="Arial" panose="020B0604020202020204" pitchFamily="34" charset="0"/>
                <a:cs typeface="Arial" panose="020B0604020202020204" pitchFamily="34" charset="0"/>
              </a:rPr>
              <a:t> </a:t>
            </a:r>
            <a:r>
              <a:rPr lang="de-DE" sz="1300" dirty="0" err="1">
                <a:solidFill>
                  <a:schemeClr val="bg1">
                    <a:lumMod val="65000"/>
                  </a:schemeClr>
                </a:solidFill>
                <a:latin typeface="Arial" panose="020B0604020202020204" pitchFamily="34" charset="0"/>
                <a:cs typeface="Arial" panose="020B0604020202020204" pitchFamily="34" charset="0"/>
              </a:rPr>
              <a:t>induction</a:t>
            </a:r>
            <a:endParaRPr lang="de-DE" sz="13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endParaRPr>
          </a:p>
        </p:txBody>
      </p:sp>
      <p:cxnSp>
        <p:nvCxnSpPr>
          <p:cNvPr id="58" name="Gerade Verbindung mit Pfeil 57">
            <a:extLst>
              <a:ext uri="{FF2B5EF4-FFF2-40B4-BE49-F238E27FC236}">
                <a16:creationId xmlns:a16="http://schemas.microsoft.com/office/drawing/2014/main" id="{E42D293E-9DFB-197D-BE80-8A21A80001FC}"/>
              </a:ext>
            </a:extLst>
          </p:cNvPr>
          <p:cNvCxnSpPr>
            <a:cxnSpLocks/>
            <a:stCxn id="12" idx="2"/>
            <a:endCxn id="57" idx="0"/>
          </p:cNvCxnSpPr>
          <p:nvPr/>
        </p:nvCxnSpPr>
        <p:spPr>
          <a:xfrm>
            <a:off x="6705349" y="2782794"/>
            <a:ext cx="1" cy="19726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Gerade Verbindung mit Pfeil 58">
            <a:extLst>
              <a:ext uri="{FF2B5EF4-FFF2-40B4-BE49-F238E27FC236}">
                <a16:creationId xmlns:a16="http://schemas.microsoft.com/office/drawing/2014/main" id="{F0AF94C2-8F42-F1DB-75FE-AC5ED34B7325}"/>
              </a:ext>
            </a:extLst>
          </p:cNvPr>
          <p:cNvCxnSpPr>
            <a:cxnSpLocks/>
            <a:stCxn id="57" idx="2"/>
            <a:endCxn id="11" idx="0"/>
          </p:cNvCxnSpPr>
          <p:nvPr/>
        </p:nvCxnSpPr>
        <p:spPr>
          <a:xfrm flipH="1">
            <a:off x="6705349" y="3272442"/>
            <a:ext cx="1" cy="209139"/>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48447DC3-4379-5AF9-2E32-061CAB3B53A5}"/>
              </a:ext>
            </a:extLst>
          </p:cNvPr>
          <p:cNvSpPr txBox="1"/>
          <p:nvPr/>
        </p:nvSpPr>
        <p:spPr>
          <a:xfrm>
            <a:off x="6737738" y="3867797"/>
            <a:ext cx="1690550" cy="261610"/>
          </a:xfrm>
          <a:prstGeom prst="rect">
            <a:avLst/>
          </a:prstGeom>
          <a:noFill/>
        </p:spPr>
        <p:txBody>
          <a:bodyPr wrap="square" rtlCol="0">
            <a:spAutoFit/>
          </a:bodyPr>
          <a:lstStyle/>
          <a:p>
            <a:r>
              <a:rPr lang="de-DE" sz="1100" dirty="0">
                <a:latin typeface="Arial" panose="020B0604020202020204" pitchFamily="34" charset="0"/>
                <a:ea typeface="CMU Serif" panose="02000603000000000000" pitchFamily="2" charset="0"/>
                <a:cs typeface="Arial" panose="020B0604020202020204" pitchFamily="34" charset="0"/>
              </a:rPr>
              <a:t>Post-</a:t>
            </a:r>
            <a:r>
              <a:rPr lang="de-DE" sz="1100" dirty="0" err="1">
                <a:latin typeface="Arial" panose="020B0604020202020204" pitchFamily="34" charset="0"/>
                <a:ea typeface="CMU Serif" panose="02000603000000000000" pitchFamily="2" charset="0"/>
                <a:cs typeface="Arial" panose="020B0604020202020204" pitchFamily="34" charset="0"/>
              </a:rPr>
              <a:t>decision</a:t>
            </a:r>
            <a:r>
              <a:rPr lang="de-DE" sz="1100" dirty="0">
                <a:latin typeface="Arial" panose="020B0604020202020204" pitchFamily="34" charset="0"/>
                <a:ea typeface="CMU Serif" panose="02000603000000000000" pitchFamily="2" charset="0"/>
                <a:cs typeface="Arial" panose="020B0604020202020204" pitchFamily="34" charset="0"/>
              </a:rPr>
              <a:t> </a:t>
            </a:r>
            <a:r>
              <a:rPr lang="de-DE" sz="1100" dirty="0" err="1">
                <a:latin typeface="Arial" panose="020B0604020202020204" pitchFamily="34" charset="0"/>
                <a:ea typeface="CMU Serif" panose="02000603000000000000" pitchFamily="2" charset="0"/>
                <a:cs typeface="Arial" panose="020B0604020202020204" pitchFamily="34" charset="0"/>
              </a:rPr>
              <a:t>noise</a:t>
            </a:r>
            <a:endParaRPr lang="de-DE" sz="1100" dirty="0">
              <a:latin typeface="Arial" panose="020B0604020202020204" pitchFamily="34" charset="0"/>
              <a:ea typeface="CMU Serif" panose="02000603000000000000" pitchFamily="2" charset="0"/>
              <a:cs typeface="Arial" panose="020B0604020202020204" pitchFamily="34" charset="0"/>
            </a:endParaRPr>
          </a:p>
        </p:txBody>
      </p:sp>
      <mc:AlternateContent xmlns:mc="http://schemas.openxmlformats.org/markup-compatibility/2006" xmlns:a14="http://schemas.microsoft.com/office/drawing/2010/main">
        <mc:Choice Requires="a14">
          <p:sp>
            <p:nvSpPr>
              <p:cNvPr id="71" name="Textfeld 70">
                <a:extLst>
                  <a:ext uri="{FF2B5EF4-FFF2-40B4-BE49-F238E27FC236}">
                    <a16:creationId xmlns:a16="http://schemas.microsoft.com/office/drawing/2014/main" id="{9F821925-19F8-EC5F-11B1-958741699A94}"/>
                  </a:ext>
                </a:extLst>
              </p:cNvPr>
              <p:cNvSpPr txBox="1"/>
              <p:nvPr/>
            </p:nvSpPr>
            <p:spPr>
              <a:xfrm>
                <a:off x="998474" y="1593990"/>
                <a:ext cx="3014113" cy="308161"/>
              </a:xfrm>
              <a:prstGeom prst="rect">
                <a:avLst/>
              </a:prstGeom>
              <a:noFill/>
            </p:spPr>
            <p:txBody>
              <a:bodyPr wrap="square">
                <a:spAutoFit/>
              </a:bodyPr>
              <a:lstStyle/>
              <a:p>
                <a:pPr/>
                <a14:m>
                  <m:oMathPara xmlns:m="http://schemas.openxmlformats.org/officeDocument/2006/math">
                    <m:oMath>
                      <m:r>
                        <a:rPr lang="de-DE" sz="1200" b="0" i="1" smtClean="0">
                          <a:latin typeface="Cambria Math" panose="02040503050406030204" pitchFamily="18" charset="0"/>
                          <a:ea typeface="CMU Serif" panose="02000603000000000000" pitchFamily="2" charset="0"/>
                          <a:cs typeface="CMU Serif" panose="02000603000000000000" pitchFamily="2" charset="0"/>
                        </a:rPr>
                        <m:t>𝒯</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d>
                        <m:d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dPr>
                        <m:e>
                          <m:r>
                            <a:rPr lang="de-DE" sz="1200" b="0" i="1" smtClean="0">
                              <a:latin typeface="Cambria Math" panose="02040503050406030204" pitchFamily="18" charset="0"/>
                              <a:ea typeface="CMU Serif" panose="02000603000000000000" pitchFamily="2" charset="0"/>
                              <a:cs typeface="CMU Serif" panose="02000603000000000000" pitchFamily="2" charset="0"/>
                            </a:rPr>
                            <m:t>𝐽</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r>
                            <a:rPr lang="de-DE" sz="1200" b="0" i="1" smtClean="0">
                              <a:latin typeface="Cambria Math" panose="02040503050406030204" pitchFamily="18" charset="0"/>
                              <a:ea typeface="CMU Serif" panose="02000603000000000000" pitchFamily="2" charset="0"/>
                              <a:cs typeface="CMU Serif" panose="02000603000000000000" pitchFamily="2" charset="0"/>
                            </a:rPr>
                            <m:t>𝑆</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r>
                            <a:rPr lang="de-DE" sz="1200" b="0" i="1" smtClean="0">
                              <a:latin typeface="Cambria Math" panose="02040503050406030204" pitchFamily="18" charset="0"/>
                              <a:ea typeface="CMU Serif" panose="02000603000000000000" pitchFamily="2" charset="0"/>
                              <a:cs typeface="CMU Serif" panose="02000603000000000000" pitchFamily="2" charset="0"/>
                            </a:rPr>
                            <m:t>𝐴</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𝑅</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𝒯</m:t>
                                  </m:r>
                                </m:sub>
                              </m:sSub>
                            </m:e>
                            <m:sub>
                              <m:r>
                                <a:rPr lang="de-DE" sz="1200" b="0" i="1" smtClean="0">
                                  <a:latin typeface="Cambria Math" panose="02040503050406030204" pitchFamily="18" charset="0"/>
                                  <a:ea typeface="CMU Serif" panose="02000603000000000000" pitchFamily="2" charset="0"/>
                                  <a:cs typeface="CMU Serif" panose="02000603000000000000" pitchFamily="2" charset="0"/>
                                </a:rPr>
                                <m:t> </m:t>
                              </m:r>
                            </m:sub>
                          </m:sSub>
                          <m:r>
                            <a:rPr lang="de-DE" sz="1200" b="0" i="1" smtClean="0">
                              <a:latin typeface="Cambria Math" panose="02040503050406030204" pitchFamily="18" charset="0"/>
                              <a:ea typeface="CMU Serif" panose="02000603000000000000" pitchFamily="2" charset="0"/>
                              <a:cs typeface="CMU Serif" panose="02000603000000000000" pitchFamily="2" charset="0"/>
                            </a:rPr>
                            <m:t>, </m:t>
                          </m:r>
                          <m:r>
                            <a:rPr lang="de-DE" sz="1200" b="0" i="1" smtClean="0">
                              <a:latin typeface="Cambria Math" panose="02040503050406030204" pitchFamily="18" charset="0"/>
                              <a:ea typeface="CMU Serif" panose="02000603000000000000" pitchFamily="2" charset="0"/>
                              <a:cs typeface="CMU Serif" panose="02000603000000000000" pitchFamily="2" charset="0"/>
                            </a:rPr>
                            <m:t>𝑝</m:t>
                          </m:r>
                          <m:d>
                            <m:d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0</m:t>
                                  </m:r>
                                </m:sub>
                              </m:sSub>
                            </m:e>
                          </m:d>
                          <m:r>
                            <a:rPr lang="de-DE" sz="1200" b="0" i="1" smtClean="0">
                              <a:latin typeface="Cambria Math" panose="02040503050406030204" pitchFamily="18" charset="0"/>
                              <a:ea typeface="CMU Serif" panose="02000603000000000000" pitchFamily="2" charset="0"/>
                              <a:cs typeface="CMU Serif" panose="02000603000000000000" pitchFamily="2" charset="0"/>
                            </a:rPr>
                            <m:t>, </m:t>
                          </m:r>
                          <m:r>
                            <a:rPr lang="de-DE" sz="1200" b="0" i="1" smtClean="0">
                              <a:latin typeface="Cambria Math" panose="02040503050406030204" pitchFamily="18" charset="0"/>
                              <a:ea typeface="CMU Serif" panose="02000603000000000000" pitchFamily="2" charset="0"/>
                              <a:cs typeface="CMU Serif" panose="02000603000000000000" pitchFamily="2" charset="0"/>
                            </a:rPr>
                            <m:t>𝑝</m:t>
                          </m:r>
                          <m:d>
                            <m:d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𝑡</m:t>
                                  </m:r>
                                  <m:r>
                                    <a:rPr lang="de-DE" sz="1200" b="0" i="1" smtClean="0">
                                      <a:latin typeface="Cambria Math" panose="02040503050406030204" pitchFamily="18" charset="0"/>
                                      <a:ea typeface="CMU Serif" panose="02000603000000000000" pitchFamily="2" charset="0"/>
                                      <a:cs typeface="CMU Serif" panose="02000603000000000000" pitchFamily="2" charset="0"/>
                                    </a:rPr>
                                    <m:t>+1</m:t>
                                  </m:r>
                                </m:sub>
                              </m:sSub>
                            </m:e>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𝑡</m:t>
                                  </m:r>
                                </m:sub>
                              </m:sSub>
                              <m:r>
                                <a:rPr lang="de-DE" sz="1200" b="0" i="1" smtClean="0">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𝑎</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𝑡</m:t>
                                  </m:r>
                                </m:sub>
                              </m:sSub>
                            </m:e>
                          </m:d>
                          <m:r>
                            <a:rPr lang="de-DE" sz="1200" b="0" i="1" smtClean="0">
                              <a:latin typeface="Cambria Math" panose="02040503050406030204" pitchFamily="18" charset="0"/>
                              <a:ea typeface="CMU Serif" panose="02000603000000000000" pitchFamily="2" charset="0"/>
                              <a:cs typeface="CMU Serif" panose="02000603000000000000" pitchFamily="2" charset="0"/>
                            </a:rPr>
                            <m:t>,</m:t>
                          </m:r>
                          <m:r>
                            <m:rPr>
                              <m:sty m:val="p"/>
                            </m:rPr>
                            <a:rPr lang="de-DE" sz="1200" b="0" i="1" smtClean="0">
                              <a:latin typeface="Cambria Math" panose="02040503050406030204" pitchFamily="18" charset="0"/>
                              <a:ea typeface="CMU Serif" panose="02000603000000000000" pitchFamily="2" charset="0"/>
                              <a:cs typeface="CMU Serif" panose="02000603000000000000" pitchFamily="2" charset="0"/>
                            </a:rPr>
                            <m:t>ϱ</m:t>
                          </m:r>
                        </m:e>
                      </m:d>
                    </m:oMath>
                  </m:oMathPara>
                </a14:m>
                <a:endParaRPr lang="de-DE" sz="1200" b="0" i="1" dirty="0">
                  <a:latin typeface="Cambria Math" panose="02040503050406030204" pitchFamily="18" charset="0"/>
                  <a:ea typeface="CMU Serif" panose="02000603000000000000" pitchFamily="2" charset="0"/>
                  <a:cs typeface="CMU Serif" panose="02000603000000000000" pitchFamily="2" charset="0"/>
                </a:endParaRPr>
              </a:p>
            </p:txBody>
          </p:sp>
        </mc:Choice>
        <mc:Fallback xmlns="">
          <p:sp>
            <p:nvSpPr>
              <p:cNvPr id="71" name="Textfeld 70">
                <a:extLst>
                  <a:ext uri="{FF2B5EF4-FFF2-40B4-BE49-F238E27FC236}">
                    <a16:creationId xmlns:a16="http://schemas.microsoft.com/office/drawing/2014/main" id="{9F821925-19F8-EC5F-11B1-958741699A94}"/>
                  </a:ext>
                </a:extLst>
              </p:cNvPr>
              <p:cNvSpPr txBox="1">
                <a:spLocks noRot="1" noChangeAspect="1" noMove="1" noResize="1" noEditPoints="1" noAdjustHandles="1" noChangeArrowheads="1" noChangeShapeType="1" noTextEdit="1"/>
              </p:cNvSpPr>
              <p:nvPr/>
            </p:nvSpPr>
            <p:spPr>
              <a:xfrm>
                <a:off x="998474" y="1593990"/>
                <a:ext cx="3014113" cy="308161"/>
              </a:xfrm>
              <a:prstGeom prst="rect">
                <a:avLst/>
              </a:prstGeom>
              <a:blipFill>
                <a:blip r:embed="rId12"/>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3" name="Textfeld 72">
                <a:extLst>
                  <a:ext uri="{FF2B5EF4-FFF2-40B4-BE49-F238E27FC236}">
                    <a16:creationId xmlns:a16="http://schemas.microsoft.com/office/drawing/2014/main" id="{72938CC2-DFFE-5565-A2C4-714A7E9EC19A}"/>
                  </a:ext>
                </a:extLst>
              </p:cNvPr>
              <p:cNvSpPr txBox="1"/>
              <p:nvPr/>
            </p:nvSpPr>
            <p:spPr>
              <a:xfrm>
                <a:off x="5357985" y="1594659"/>
                <a:ext cx="2574396" cy="306687"/>
              </a:xfrm>
              <a:prstGeom prst="rect">
                <a:avLst/>
              </a:prstGeom>
              <a:noFill/>
            </p:spPr>
            <p:txBody>
              <a:bodyPr wrap="square">
                <a:spAutoFit/>
              </a:bodyPr>
              <a:lstStyle/>
              <a:p>
                <a:pPr/>
                <a14:m>
                  <m:oMathPara xmlns:m="http://schemas.openxmlformats.org/officeDocument/2006/math">
                    <m:oMath>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𝒜</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d>
                        <m:d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d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𝐽</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ℳ</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𝜒</m:t>
                              </m:r>
                            </m:sub>
                          </m:s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𝐷</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𝑝</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𝛽</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𝜎</m:t>
                              </m:r>
                            </m:sub>
                          </m:sSub>
                          <m:d>
                            <m:d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𝑑</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𝑡</m:t>
                                  </m:r>
                                </m:sub>
                              </m:sSub>
                            </m:e>
                            <m:e>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𝑡</m:t>
                                  </m:r>
                                </m:sub>
                              </m:sSub>
                            </m:e>
                          </m:d>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𝜌</m:t>
                          </m:r>
                        </m:e>
                      </m:d>
                    </m:oMath>
                  </m:oMathPara>
                </a14:m>
                <a:endParaRPr lang="de-DE" sz="1200" b="0" i="1" dirty="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endParaRPr>
              </a:p>
            </p:txBody>
          </p:sp>
        </mc:Choice>
        <mc:Fallback xmlns="">
          <p:sp>
            <p:nvSpPr>
              <p:cNvPr id="73" name="Textfeld 72">
                <a:extLst>
                  <a:ext uri="{FF2B5EF4-FFF2-40B4-BE49-F238E27FC236}">
                    <a16:creationId xmlns:a16="http://schemas.microsoft.com/office/drawing/2014/main" id="{72938CC2-DFFE-5565-A2C4-714A7E9EC19A}"/>
                  </a:ext>
                </a:extLst>
              </p:cNvPr>
              <p:cNvSpPr txBox="1">
                <a:spLocks noRot="1" noChangeAspect="1" noMove="1" noResize="1" noEditPoints="1" noAdjustHandles="1" noChangeArrowheads="1" noChangeShapeType="1" noTextEdit="1"/>
              </p:cNvSpPr>
              <p:nvPr/>
            </p:nvSpPr>
            <p:spPr>
              <a:xfrm>
                <a:off x="5357985" y="1594659"/>
                <a:ext cx="2574396" cy="306687"/>
              </a:xfrm>
              <a:prstGeom prst="rect">
                <a:avLst/>
              </a:prstGeom>
              <a:blipFill>
                <a:blip r:embed="rId13"/>
                <a:stretch>
                  <a:fillRect b="-2000"/>
                </a:stretch>
              </a:blipFill>
            </p:spPr>
            <p:txBody>
              <a:bodyPr/>
              <a:lstStyle/>
              <a:p>
                <a:r>
                  <a:rPr lang="de-DE">
                    <a:noFill/>
                  </a:rPr>
                  <a:t> </a:t>
                </a:r>
              </a:p>
            </p:txBody>
          </p:sp>
        </mc:Fallback>
      </mc:AlternateContent>
    </p:spTree>
    <p:extLst>
      <p:ext uri="{BB962C8B-B14F-4D97-AF65-F5344CB8AC3E}">
        <p14:creationId xmlns:p14="http://schemas.microsoft.com/office/powerpoint/2010/main" val="2903427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C2D0AA-045F-789C-DFC4-25A3EDE5DEF5}"/>
              </a:ext>
            </a:extLst>
          </p:cNvPr>
          <p:cNvSpPr>
            <a:spLocks noGrp="1"/>
          </p:cNvSpPr>
          <p:nvPr>
            <p:ph type="title"/>
          </p:nvPr>
        </p:nvSpPr>
        <p:spPr/>
        <p:txBody>
          <a:bodyPr>
            <a:normAutofit/>
          </a:bodyPr>
          <a:lstStyle/>
          <a:p>
            <a:r>
              <a:rPr lang="de-DE" sz="2200" b="0" dirty="0">
                <a:latin typeface="Arial" panose="020B0604020202020204" pitchFamily="34" charset="0"/>
                <a:cs typeface="Arial" panose="020B0604020202020204" pitchFamily="34" charset="0"/>
              </a:rPr>
              <a:t>Dynamic </a:t>
            </a:r>
            <a:r>
              <a:rPr lang="de-DE" sz="2200" b="0" dirty="0" err="1">
                <a:latin typeface="Arial" panose="020B0604020202020204" pitchFamily="34" charset="0"/>
                <a:cs typeface="Arial" panose="020B0604020202020204" pitchFamily="34" charset="0"/>
              </a:rPr>
              <a:t>programming</a:t>
            </a:r>
            <a:r>
              <a:rPr lang="de-DE" sz="2200" b="0" dirty="0">
                <a:latin typeface="Arial" panose="020B0604020202020204" pitchFamily="34" charset="0"/>
                <a:cs typeface="Arial" panose="020B0604020202020204" pitchFamily="34" charset="0"/>
              </a:rPr>
              <a:t> </a:t>
            </a:r>
            <a:r>
              <a:rPr lang="de-DE" sz="2200" b="0" dirty="0" err="1">
                <a:latin typeface="Arial" panose="020B0604020202020204" pitchFamily="34" charset="0"/>
                <a:cs typeface="Arial" panose="020B0604020202020204" pitchFamily="34" charset="0"/>
              </a:rPr>
              <a:t>backward</a:t>
            </a:r>
            <a:r>
              <a:rPr lang="de-DE" sz="2200" b="0" dirty="0">
                <a:latin typeface="Arial" panose="020B0604020202020204" pitchFamily="34" charset="0"/>
                <a:cs typeface="Arial" panose="020B0604020202020204" pitchFamily="34" charset="0"/>
              </a:rPr>
              <a:t> </a:t>
            </a:r>
            <a:r>
              <a:rPr lang="de-DE" sz="2200" b="0" dirty="0" err="1">
                <a:latin typeface="Arial" panose="020B0604020202020204" pitchFamily="34" charset="0"/>
                <a:cs typeface="Arial" panose="020B0604020202020204" pitchFamily="34" charset="0"/>
              </a:rPr>
              <a:t>induction</a:t>
            </a:r>
            <a:endParaRPr lang="de-DE" sz="2200" b="0" dirty="0">
              <a:latin typeface="Arial" panose="020B0604020202020204" pitchFamily="34" charset="0"/>
              <a:cs typeface="Arial" panose="020B0604020202020204" pitchFamily="34" charset="0"/>
            </a:endParaRPr>
          </a:p>
        </p:txBody>
      </p:sp>
      <p:sp>
        <p:nvSpPr>
          <p:cNvPr id="4" name="Foliennummernplatzhalter 3">
            <a:extLst>
              <a:ext uri="{FF2B5EF4-FFF2-40B4-BE49-F238E27FC236}">
                <a16:creationId xmlns:a16="http://schemas.microsoft.com/office/drawing/2014/main" id="{7E0408ED-CF39-66E4-FBBF-9C6E8F97BFFD}"/>
              </a:ext>
            </a:extLst>
          </p:cNvPr>
          <p:cNvSpPr>
            <a:spLocks noGrp="1"/>
          </p:cNvSpPr>
          <p:nvPr>
            <p:ph type="sldNum" idx="12"/>
          </p:nvPr>
        </p:nvSpPr>
        <p:spPr/>
        <p:txBody>
          <a:bodyPr/>
          <a:lstStyle/>
          <a:p>
            <a:fld id="{5CD88B4E-D815-417B-99FD-41D66E5C06D4}" type="slidenum">
              <a:rPr lang="de-DE" smtClean="0"/>
              <a:t>17</a:t>
            </a:fld>
            <a:endParaRPr lang="de-DE"/>
          </a:p>
        </p:txBody>
      </p:sp>
      <p:sp>
        <p:nvSpPr>
          <p:cNvPr id="5" name="Textfeld 4">
            <a:extLst>
              <a:ext uri="{FF2B5EF4-FFF2-40B4-BE49-F238E27FC236}">
                <a16:creationId xmlns:a16="http://schemas.microsoft.com/office/drawing/2014/main" id="{58BC1476-3561-09DF-51A4-8680B89D8165}"/>
              </a:ext>
            </a:extLst>
          </p:cNvPr>
          <p:cNvSpPr txBox="1"/>
          <p:nvPr/>
        </p:nvSpPr>
        <p:spPr>
          <a:xfrm>
            <a:off x="731648" y="925059"/>
            <a:ext cx="3337773" cy="307777"/>
          </a:xfrm>
          <a:prstGeom prst="rect">
            <a:avLst/>
          </a:prstGeom>
          <a:noFill/>
        </p:spPr>
        <p:txBody>
          <a:bodyPr wrap="none" rtlCol="0">
            <a:spAutoFit/>
          </a:bodyPr>
          <a:lstStyle/>
          <a:p>
            <a:r>
              <a:rPr lang="de-DE" sz="1400" dirty="0" err="1">
                <a:latin typeface="Arial" panose="020B0604020202020204" pitchFamily="34" charset="0"/>
                <a:cs typeface="Arial" panose="020B0604020202020204" pitchFamily="34" charset="0"/>
              </a:rPr>
              <a:t>Subjective</a:t>
            </a:r>
            <a:r>
              <a:rPr lang="de-DE" sz="1400" dirty="0">
                <a:latin typeface="Arial" panose="020B0604020202020204" pitchFamily="34" charset="0"/>
                <a:cs typeface="Arial" panose="020B0604020202020204" pitchFamily="34" charset="0"/>
              </a:rPr>
              <a:t> non-</a:t>
            </a:r>
            <a:r>
              <a:rPr lang="de-DE" sz="1400" dirty="0" err="1">
                <a:latin typeface="Arial" panose="020B0604020202020204" pitchFamily="34" charset="0"/>
                <a:cs typeface="Arial" panose="020B0604020202020204" pitchFamily="34" charset="0"/>
              </a:rPr>
              <a:t>reduced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reward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function</a:t>
            </a:r>
            <a:endParaRPr lang="de-DE" sz="1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feld 5">
                <a:extLst>
                  <a:ext uri="{FF2B5EF4-FFF2-40B4-BE49-F238E27FC236}">
                    <a16:creationId xmlns:a16="http://schemas.microsoft.com/office/drawing/2014/main" id="{BDA8004F-73E3-B3A1-7312-800EED80F182}"/>
                  </a:ext>
                </a:extLst>
              </p:cNvPr>
              <p:cNvSpPr txBox="1"/>
              <p:nvPr/>
            </p:nvSpPr>
            <p:spPr>
              <a:xfrm>
                <a:off x="2216579" y="1391798"/>
                <a:ext cx="5281574" cy="326949"/>
              </a:xfrm>
              <a:prstGeom prst="rect">
                <a:avLst/>
              </a:prstGeom>
              <a:noFill/>
            </p:spPr>
            <p:txBody>
              <a:bodyPr wrap="none" rtlCol="0">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𝜌</m:t>
                          </m:r>
                        </m:e>
                        <m:sub>
                          <m:r>
                            <a:rPr lang="de-DE" sz="1400" b="0" i="1" smtClean="0">
                              <a:latin typeface="Cambria Math" panose="02040503050406030204" pitchFamily="18" charset="0"/>
                            </a:rPr>
                            <m:t>𝛽</m:t>
                          </m:r>
                          <m:r>
                            <a:rPr lang="de-DE" sz="1400" b="0" i="1" smtClean="0">
                              <a:latin typeface="Cambria Math" panose="02040503050406030204" pitchFamily="18" charset="0"/>
                            </a:rPr>
                            <m:t>,</m:t>
                          </m:r>
                          <m:r>
                            <a:rPr lang="de-DE" sz="1400" b="0" i="1" smtClean="0">
                              <a:latin typeface="Cambria Math" panose="02040503050406030204" pitchFamily="18" charset="0"/>
                            </a:rPr>
                            <m:t>𝜎</m:t>
                          </m:r>
                        </m:sub>
                      </m:sSub>
                      <m:r>
                        <a:rPr lang="de-DE" sz="1400" b="0" i="1" smtClean="0">
                          <a:latin typeface="Cambria Math" panose="02040503050406030204" pitchFamily="18" charset="0"/>
                        </a:rPr>
                        <m:t>:</m:t>
                      </m:r>
                      <m:r>
                        <a:rPr lang="de-DE" sz="1400" b="0" i="1" smtClean="0">
                          <a:latin typeface="Cambria Math" panose="02040503050406030204" pitchFamily="18" charset="0"/>
                        </a:rPr>
                        <m:t>𝑆</m:t>
                      </m:r>
                      <m:r>
                        <a:rPr lang="de-DE" sz="1400" b="0" i="1" smtClean="0">
                          <a:latin typeface="Cambria Math" panose="02040503050406030204" pitchFamily="18" charset="0"/>
                        </a:rPr>
                        <m:t>×</m:t>
                      </m:r>
                      <m:r>
                        <a:rPr lang="de-DE" sz="1400" b="0" i="1" smtClean="0">
                          <a:latin typeface="Cambria Math" panose="02040503050406030204" pitchFamily="18" charset="0"/>
                        </a:rPr>
                        <m:t>𝐴</m:t>
                      </m:r>
                      <m:r>
                        <a:rPr lang="de-DE" sz="1400" b="0" i="1" smtClean="0">
                          <a:latin typeface="Cambria Math" panose="02040503050406030204" pitchFamily="18" charset="0"/>
                        </a:rPr>
                        <m:t>→</m:t>
                      </m:r>
                      <m:r>
                        <a:rPr lang="de-DE" sz="1400" b="0" i="1" smtClean="0">
                          <a:latin typeface="Cambria Math" panose="02040503050406030204" pitchFamily="18" charset="0"/>
                        </a:rPr>
                        <m:t>ℝ</m:t>
                      </m:r>
                      <m:r>
                        <a:rPr lang="de-DE" sz="1400" b="0" i="1" smtClean="0">
                          <a:latin typeface="Cambria Math" panose="02040503050406030204" pitchFamily="18" charset="0"/>
                        </a:rPr>
                        <m:t>, </m:t>
                      </m:r>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𝑠</m:t>
                          </m:r>
                          <m:r>
                            <a:rPr lang="de-DE" sz="1400" b="0" i="1" smtClean="0">
                              <a:latin typeface="Cambria Math" panose="02040503050406030204" pitchFamily="18" charset="0"/>
                            </a:rPr>
                            <m:t>,</m:t>
                          </m:r>
                          <m:r>
                            <a:rPr lang="de-DE" sz="1400" b="0" i="1" smtClean="0">
                              <a:latin typeface="Cambria Math" panose="02040503050406030204" pitchFamily="18" charset="0"/>
                            </a:rPr>
                            <m:t>𝑎</m:t>
                          </m:r>
                        </m:e>
                      </m:d>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𝜌</m:t>
                          </m:r>
                        </m:e>
                        <m:sub>
                          <m:r>
                            <a:rPr lang="de-DE" sz="1400" b="0" i="1" smtClean="0">
                              <a:latin typeface="Cambria Math" panose="02040503050406030204" pitchFamily="18" charset="0"/>
                            </a:rPr>
                            <m:t>𝛽</m:t>
                          </m:r>
                          <m:r>
                            <a:rPr lang="de-DE" sz="1400" b="0" i="1" smtClean="0">
                              <a:latin typeface="Cambria Math" panose="02040503050406030204" pitchFamily="18" charset="0"/>
                            </a:rPr>
                            <m:t>,</m:t>
                          </m:r>
                          <m:r>
                            <a:rPr lang="de-DE" sz="1400" b="0" i="1" smtClean="0">
                              <a:latin typeface="Cambria Math" panose="02040503050406030204" pitchFamily="18" charset="0"/>
                            </a:rPr>
                            <m:t>𝜎</m:t>
                          </m:r>
                        </m:sub>
                      </m:sSub>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𝑠</m:t>
                          </m:r>
                          <m:r>
                            <a:rPr lang="de-DE" sz="1400" b="0" i="1" smtClean="0">
                              <a:latin typeface="Cambria Math" panose="02040503050406030204" pitchFamily="18" charset="0"/>
                            </a:rPr>
                            <m:t>,</m:t>
                          </m:r>
                          <m:r>
                            <a:rPr lang="de-DE" sz="1400" b="0" i="1" smtClean="0">
                              <a:latin typeface="Cambria Math" panose="02040503050406030204" pitchFamily="18" charset="0"/>
                            </a:rPr>
                            <m:t>𝑎</m:t>
                          </m:r>
                        </m:e>
                      </m:d>
                      <m:r>
                        <a:rPr lang="de-DE" sz="1400" b="0" i="1" smtClean="0">
                          <a:latin typeface="Cambria Math" panose="02040503050406030204" pitchFamily="18" charset="0"/>
                        </a:rPr>
                        <m:t>≔</m:t>
                      </m:r>
                      <m:r>
                        <a:rPr lang="de-DE" sz="1400" b="0" i="1" smtClean="0">
                          <a:solidFill>
                            <a:srgbClr val="00B050"/>
                          </a:solidFill>
                          <a:latin typeface="Cambria Math" panose="02040503050406030204" pitchFamily="18" charset="0"/>
                        </a:rPr>
                        <m:t>𝜌</m:t>
                      </m:r>
                      <m:d>
                        <m:dPr>
                          <m:ctrlPr>
                            <a:rPr lang="de-DE" sz="1400" b="0" i="1" smtClean="0">
                              <a:solidFill>
                                <a:srgbClr val="00B050"/>
                              </a:solidFill>
                              <a:latin typeface="Cambria Math" panose="02040503050406030204" pitchFamily="18" charset="0"/>
                            </a:rPr>
                          </m:ctrlPr>
                        </m:dPr>
                        <m:e>
                          <m:r>
                            <a:rPr lang="de-DE" sz="1400" b="0" i="1" smtClean="0">
                              <a:solidFill>
                                <a:srgbClr val="00B050"/>
                              </a:solidFill>
                              <a:latin typeface="Cambria Math" panose="02040503050406030204" pitchFamily="18" charset="0"/>
                            </a:rPr>
                            <m:t>𝑠</m:t>
                          </m:r>
                          <m:r>
                            <a:rPr lang="de-DE" sz="1400" b="0" i="1" smtClean="0">
                              <a:solidFill>
                                <a:srgbClr val="00B050"/>
                              </a:solidFill>
                              <a:latin typeface="Cambria Math" panose="02040503050406030204" pitchFamily="18" charset="0"/>
                            </a:rPr>
                            <m:t>,</m:t>
                          </m:r>
                          <m:r>
                            <a:rPr lang="de-DE" sz="1400" b="0" i="1" smtClean="0">
                              <a:solidFill>
                                <a:srgbClr val="00B050"/>
                              </a:solidFill>
                              <a:latin typeface="Cambria Math" panose="02040503050406030204" pitchFamily="18" charset="0"/>
                            </a:rPr>
                            <m:t>𝑎</m:t>
                          </m:r>
                        </m:e>
                      </m:d>
                      <m:r>
                        <a:rPr lang="de-DE" sz="1400" b="0" i="1" smtClean="0">
                          <a:latin typeface="Cambria Math" panose="02040503050406030204" pitchFamily="18" charset="0"/>
                        </a:rPr>
                        <m:t>+</m:t>
                      </m:r>
                      <m:sSub>
                        <m:sSubPr>
                          <m:ctrlPr>
                            <a:rPr lang="de-DE" sz="1400" b="0" i="1" smtClean="0">
                              <a:solidFill>
                                <a:schemeClr val="accent2">
                                  <a:lumMod val="75000"/>
                                </a:schemeClr>
                              </a:solidFill>
                              <a:latin typeface="Cambria Math" panose="02040503050406030204" pitchFamily="18" charset="0"/>
                            </a:rPr>
                          </m:ctrlPr>
                        </m:sSubPr>
                        <m:e>
                          <m:r>
                            <a:rPr lang="de-DE" sz="1400" b="0" i="1" smtClean="0">
                              <a:solidFill>
                                <a:schemeClr val="accent2">
                                  <a:lumMod val="75000"/>
                                </a:schemeClr>
                              </a:solidFill>
                              <a:latin typeface="Cambria Math" panose="02040503050406030204" pitchFamily="18" charset="0"/>
                            </a:rPr>
                            <m:t>𝜌</m:t>
                          </m:r>
                        </m:e>
                        <m:sub>
                          <m:r>
                            <a:rPr lang="de-DE" sz="1400" b="0" i="1" smtClean="0">
                              <a:solidFill>
                                <a:schemeClr val="accent2">
                                  <a:lumMod val="75000"/>
                                </a:schemeClr>
                              </a:solidFill>
                              <a:latin typeface="Cambria Math" panose="02040503050406030204" pitchFamily="18" charset="0"/>
                            </a:rPr>
                            <m:t>𝛽</m:t>
                          </m:r>
                        </m:sub>
                      </m:sSub>
                      <m:d>
                        <m:dPr>
                          <m:ctrlPr>
                            <a:rPr lang="de-DE" sz="1400" b="0" i="1" smtClean="0">
                              <a:solidFill>
                                <a:schemeClr val="accent2">
                                  <a:lumMod val="75000"/>
                                </a:schemeClr>
                              </a:solidFill>
                              <a:latin typeface="Cambria Math" panose="02040503050406030204" pitchFamily="18" charset="0"/>
                            </a:rPr>
                          </m:ctrlPr>
                        </m:dPr>
                        <m:e>
                          <m:r>
                            <a:rPr lang="de-DE" sz="1400" b="0" i="1" smtClean="0">
                              <a:solidFill>
                                <a:schemeClr val="accent2">
                                  <a:lumMod val="75000"/>
                                </a:schemeClr>
                              </a:solidFill>
                              <a:latin typeface="Cambria Math" panose="02040503050406030204" pitchFamily="18" charset="0"/>
                            </a:rPr>
                            <m:t>𝑠</m:t>
                          </m:r>
                          <m:r>
                            <a:rPr lang="de-DE" sz="1400" b="0" i="1" smtClean="0">
                              <a:solidFill>
                                <a:schemeClr val="accent2">
                                  <a:lumMod val="75000"/>
                                </a:schemeClr>
                              </a:solidFill>
                              <a:latin typeface="Cambria Math" panose="02040503050406030204" pitchFamily="18" charset="0"/>
                            </a:rPr>
                            <m:t>,</m:t>
                          </m:r>
                          <m:r>
                            <a:rPr lang="de-DE" sz="1400" b="0" i="1" smtClean="0">
                              <a:solidFill>
                                <a:schemeClr val="accent2">
                                  <a:lumMod val="75000"/>
                                </a:schemeClr>
                              </a:solidFill>
                              <a:latin typeface="Cambria Math" panose="02040503050406030204" pitchFamily="18" charset="0"/>
                            </a:rPr>
                            <m:t>𝑎</m:t>
                          </m:r>
                        </m:e>
                      </m:d>
                      <m:r>
                        <a:rPr lang="de-DE" sz="1400" b="0" i="1" smtClean="0">
                          <a:solidFill>
                            <a:schemeClr val="accent2">
                              <a:lumMod val="75000"/>
                            </a:schemeClr>
                          </a:solidFill>
                          <a:latin typeface="Cambria Math" panose="02040503050406030204" pitchFamily="18" charset="0"/>
                        </a:rPr>
                        <m:t>+</m:t>
                      </m:r>
                      <m:sSub>
                        <m:sSubPr>
                          <m:ctrlPr>
                            <a:rPr lang="de-DE" sz="1400" b="0" i="1" smtClean="0">
                              <a:solidFill>
                                <a:srgbClr val="FF0000"/>
                              </a:solidFill>
                              <a:latin typeface="Cambria Math" panose="02040503050406030204" pitchFamily="18" charset="0"/>
                            </a:rPr>
                          </m:ctrlPr>
                        </m:sSubPr>
                        <m:e>
                          <m:r>
                            <a:rPr lang="de-DE" sz="1400" b="0" i="1" smtClean="0">
                              <a:solidFill>
                                <a:srgbClr val="FF0000"/>
                              </a:solidFill>
                              <a:latin typeface="Cambria Math" panose="02040503050406030204" pitchFamily="18" charset="0"/>
                            </a:rPr>
                            <m:t>𝜌</m:t>
                          </m:r>
                        </m:e>
                        <m:sub>
                          <m:r>
                            <a:rPr lang="de-DE" sz="1400" b="0" i="1" smtClean="0">
                              <a:solidFill>
                                <a:srgbClr val="FF0000"/>
                              </a:solidFill>
                              <a:latin typeface="Cambria Math" panose="02040503050406030204" pitchFamily="18" charset="0"/>
                            </a:rPr>
                            <m:t>𝜎</m:t>
                          </m:r>
                        </m:sub>
                      </m:sSub>
                      <m:r>
                        <a:rPr lang="de-DE" sz="1400" b="0" i="1" smtClean="0">
                          <a:solidFill>
                            <a:srgbClr val="FF0000"/>
                          </a:solidFill>
                          <a:latin typeface="Cambria Math" panose="02040503050406030204" pitchFamily="18" charset="0"/>
                        </a:rPr>
                        <m:t>(</m:t>
                      </m:r>
                      <m:r>
                        <a:rPr lang="de-DE" sz="1400" b="0" i="1" smtClean="0">
                          <a:solidFill>
                            <a:srgbClr val="FF0000"/>
                          </a:solidFill>
                          <a:latin typeface="Cambria Math" panose="02040503050406030204" pitchFamily="18" charset="0"/>
                        </a:rPr>
                        <m:t>𝑠</m:t>
                      </m:r>
                      <m:r>
                        <a:rPr lang="de-DE" sz="1400" b="0" i="1" smtClean="0">
                          <a:solidFill>
                            <a:srgbClr val="FF0000"/>
                          </a:solidFill>
                          <a:latin typeface="Cambria Math" panose="02040503050406030204" pitchFamily="18" charset="0"/>
                        </a:rPr>
                        <m:t>,</m:t>
                      </m:r>
                      <m:r>
                        <a:rPr lang="de-DE" sz="1400" b="0" i="1" smtClean="0">
                          <a:solidFill>
                            <a:srgbClr val="FF0000"/>
                          </a:solidFill>
                          <a:latin typeface="Cambria Math" panose="02040503050406030204" pitchFamily="18" charset="0"/>
                        </a:rPr>
                        <m:t>𝑎</m:t>
                      </m:r>
                      <m:r>
                        <a:rPr lang="de-DE" sz="1400" b="0" i="1" smtClean="0">
                          <a:solidFill>
                            <a:srgbClr val="FF0000"/>
                          </a:solidFill>
                          <a:latin typeface="Cambria Math" panose="02040503050406030204" pitchFamily="18" charset="0"/>
                        </a:rPr>
                        <m:t>)</m:t>
                      </m:r>
                    </m:oMath>
                  </m:oMathPara>
                </a14:m>
                <a:endParaRPr lang="de-DE" sz="1400" dirty="0">
                  <a:latin typeface="Arial" panose="020B0604020202020204" pitchFamily="34" charset="0"/>
                  <a:cs typeface="Arial" panose="020B0604020202020204" pitchFamily="34" charset="0"/>
                </a:endParaRPr>
              </a:p>
            </p:txBody>
          </p:sp>
        </mc:Choice>
        <mc:Fallback xmlns="">
          <p:sp>
            <p:nvSpPr>
              <p:cNvPr id="6" name="Textfeld 5">
                <a:extLst>
                  <a:ext uri="{FF2B5EF4-FFF2-40B4-BE49-F238E27FC236}">
                    <a16:creationId xmlns:a16="http://schemas.microsoft.com/office/drawing/2014/main" id="{BDA8004F-73E3-B3A1-7312-800EED80F182}"/>
                  </a:ext>
                </a:extLst>
              </p:cNvPr>
              <p:cNvSpPr txBox="1">
                <a:spLocks noRot="1" noChangeAspect="1" noMove="1" noResize="1" noEditPoints="1" noAdjustHandles="1" noChangeArrowheads="1" noChangeShapeType="1" noTextEdit="1"/>
              </p:cNvSpPr>
              <p:nvPr/>
            </p:nvSpPr>
            <p:spPr>
              <a:xfrm>
                <a:off x="2216579" y="1391798"/>
                <a:ext cx="5281574" cy="326949"/>
              </a:xfrm>
              <a:prstGeom prst="rect">
                <a:avLst/>
              </a:prstGeom>
              <a:blipFill>
                <a:blip r:embed="rId2"/>
                <a:stretch>
                  <a:fillRect b="-370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9A7BF60D-6E5E-A33D-AA46-0CC5D77232A7}"/>
                  </a:ext>
                </a:extLst>
              </p:cNvPr>
              <p:cNvSpPr txBox="1"/>
              <p:nvPr/>
            </p:nvSpPr>
            <p:spPr>
              <a:xfrm>
                <a:off x="1858816" y="1854757"/>
                <a:ext cx="5997100" cy="237950"/>
              </a:xfrm>
              <a:prstGeom prst="rect">
                <a:avLst/>
              </a:prstGeom>
              <a:noFill/>
            </p:spPr>
            <p:txBody>
              <a:bodyPr wrap="square" lIns="0" tIns="0" rIns="0" bIns="0" rtlCol="0">
                <a:spAutoFit/>
              </a:bodyPr>
              <a:lstStyle/>
              <a:p>
                <a:r>
                  <a:rPr lang="de-DE" sz="1400" dirty="0">
                    <a:solidFill>
                      <a:srgbClr val="00B050"/>
                    </a:solidFill>
                    <a:latin typeface="Arial" panose="020B0604020202020204" pitchFamily="34" charset="0"/>
                    <a:cs typeface="Arial" panose="020B0604020202020204" pitchFamily="34" charset="0"/>
                  </a:rPr>
                  <a:t>Accuray </a:t>
                </a:r>
                <a:r>
                  <a:rPr lang="de-DE" sz="1400" dirty="0" err="1">
                    <a:solidFill>
                      <a:srgbClr val="00B050"/>
                    </a:solidFill>
                    <a:latin typeface="Arial" panose="020B0604020202020204" pitchFamily="34" charset="0"/>
                    <a:cs typeface="Arial" panose="020B0604020202020204" pitchFamily="34" charset="0"/>
                  </a:rPr>
                  <a:t>reward </a:t>
                </a:r>
                <a14:m>
                  <m:oMath xmlns:m="http://schemas.openxmlformats.org/officeDocument/2006/math">
                    <m:r>
                      <a:rPr lang="de-DE" sz="1400" i="1" smtClean="0">
                        <a:solidFill>
                          <a:srgbClr val="00B050"/>
                        </a:solidFill>
                        <a:latin typeface="Cambria Math" panose="02040503050406030204" pitchFamily="18" charset="0"/>
                      </a:rPr>
                      <m:t>𝜌</m:t>
                    </m:r>
                    <m:d>
                      <m:dPr>
                        <m:ctrlPr>
                          <a:rPr lang="de-DE" sz="1400" i="1">
                            <a:solidFill>
                              <a:srgbClr val="00B050"/>
                            </a:solidFill>
                            <a:latin typeface="Cambria Math" panose="02040503050406030204" pitchFamily="18" charset="0"/>
                          </a:rPr>
                        </m:ctrlPr>
                      </m:dPr>
                      <m:e>
                        <m:r>
                          <a:rPr lang="de-DE" sz="1400" i="1">
                            <a:solidFill>
                              <a:srgbClr val="00B050"/>
                            </a:solidFill>
                            <a:latin typeface="Cambria Math" panose="02040503050406030204" pitchFamily="18" charset="0"/>
                          </a:rPr>
                          <m:t>𝑠</m:t>
                        </m:r>
                        <m:r>
                          <a:rPr lang="de-DE" sz="1400" i="1">
                            <a:solidFill>
                              <a:srgbClr val="00B050"/>
                            </a:solidFill>
                            <a:latin typeface="Cambria Math" panose="02040503050406030204" pitchFamily="18" charset="0"/>
                          </a:rPr>
                          <m:t>,</m:t>
                        </m:r>
                        <m:r>
                          <a:rPr lang="de-DE" sz="1400" i="1">
                            <a:solidFill>
                              <a:srgbClr val="00B050"/>
                            </a:solidFill>
                            <a:latin typeface="Cambria Math" panose="02040503050406030204" pitchFamily="18" charset="0"/>
                          </a:rPr>
                          <m:t>𝑎</m:t>
                        </m:r>
                      </m:e>
                    </m:d>
                    <m:r>
                      <m:rPr>
                        <m:nor/>
                      </m:rPr>
                      <a:rPr lang="de-DE" sz="1400" b="0" i="0" smtClean="0">
                        <a:solidFill>
                          <a:srgbClr val="00B050"/>
                        </a:solidFill>
                        <a:latin typeface="Cambria Math" panose="02040503050406030204" pitchFamily="18" charset="0"/>
                      </a:rPr>
                      <m:t>          </m:t>
                    </m:r>
                    <m:r>
                      <m:rPr>
                        <m:nor/>
                      </m:rPr>
                      <a:rPr lang="de-DE" sz="1400" i="0" dirty="0" smtClean="0">
                        <a:solidFill>
                          <a:schemeClr val="accent2">
                            <a:lumMod val="75000"/>
                          </a:schemeClr>
                        </a:solidFill>
                        <a:latin typeface="Arial" panose="020B0604020202020204" pitchFamily="34" charset="0"/>
                        <a:cs typeface="Arial" panose="020B0604020202020204" pitchFamily="34" charset="0"/>
                      </a:rPr>
                      <m:t>Imbalance cost </m:t>
                    </m:r>
                    <m:sSub>
                      <m:sSubPr>
                        <m:ctrlPr>
                          <a:rPr lang="de-DE" sz="1400" i="1">
                            <a:solidFill>
                              <a:schemeClr val="accent2">
                                <a:lumMod val="75000"/>
                              </a:schemeClr>
                            </a:solidFill>
                            <a:latin typeface="Cambria Math" panose="02040503050406030204" pitchFamily="18" charset="0"/>
                          </a:rPr>
                        </m:ctrlPr>
                      </m:sSubPr>
                      <m:e>
                        <m:r>
                          <a:rPr lang="de-DE" sz="1400" i="1">
                            <a:solidFill>
                              <a:schemeClr val="accent2">
                                <a:lumMod val="75000"/>
                              </a:schemeClr>
                            </a:solidFill>
                            <a:latin typeface="Cambria Math" panose="02040503050406030204" pitchFamily="18" charset="0"/>
                          </a:rPr>
                          <m:t>𝜌</m:t>
                        </m:r>
                      </m:e>
                      <m:sub>
                        <m:r>
                          <a:rPr lang="de-DE" sz="1400" i="1">
                            <a:solidFill>
                              <a:schemeClr val="accent2">
                                <a:lumMod val="75000"/>
                              </a:schemeClr>
                            </a:solidFill>
                            <a:latin typeface="Cambria Math" panose="02040503050406030204" pitchFamily="18" charset="0"/>
                          </a:rPr>
                          <m:t>𝛽</m:t>
                        </m:r>
                      </m:sub>
                    </m:sSub>
                    <m:d>
                      <m:dPr>
                        <m:ctrlPr>
                          <a:rPr lang="de-DE" sz="1400" i="1">
                            <a:solidFill>
                              <a:schemeClr val="accent2">
                                <a:lumMod val="75000"/>
                              </a:schemeClr>
                            </a:solidFill>
                            <a:latin typeface="Cambria Math" panose="02040503050406030204" pitchFamily="18" charset="0"/>
                          </a:rPr>
                        </m:ctrlPr>
                      </m:dPr>
                      <m:e>
                        <m:r>
                          <a:rPr lang="de-DE" sz="1400" i="1">
                            <a:solidFill>
                              <a:schemeClr val="accent2">
                                <a:lumMod val="75000"/>
                              </a:schemeClr>
                            </a:solidFill>
                            <a:latin typeface="Cambria Math" panose="02040503050406030204" pitchFamily="18" charset="0"/>
                          </a:rPr>
                          <m:t>𝑠</m:t>
                        </m:r>
                        <m:r>
                          <a:rPr lang="de-DE" sz="1400" i="1">
                            <a:solidFill>
                              <a:schemeClr val="accent2">
                                <a:lumMod val="75000"/>
                              </a:schemeClr>
                            </a:solidFill>
                            <a:latin typeface="Cambria Math" panose="02040503050406030204" pitchFamily="18" charset="0"/>
                          </a:rPr>
                          <m:t>,</m:t>
                        </m:r>
                        <m:r>
                          <a:rPr lang="de-DE" sz="1400" i="1">
                            <a:solidFill>
                              <a:schemeClr val="accent2">
                                <a:lumMod val="75000"/>
                              </a:schemeClr>
                            </a:solidFill>
                            <a:latin typeface="Cambria Math" panose="02040503050406030204" pitchFamily="18" charset="0"/>
                          </a:rPr>
                          <m:t>𝑎</m:t>
                        </m:r>
                      </m:e>
                    </m:d>
                    <m:r>
                      <a:rPr lang="de-DE" sz="1400" i="1">
                        <a:solidFill>
                          <a:schemeClr val="accent2">
                            <a:lumMod val="75000"/>
                          </a:schemeClr>
                        </a:solidFill>
                        <a:latin typeface="Cambria Math" panose="02040503050406030204" pitchFamily="18" charset="0"/>
                      </a:rPr>
                      <m:t>≔−</m:t>
                    </m:r>
                    <m:r>
                      <a:rPr lang="de-DE" sz="1400" i="1">
                        <a:solidFill>
                          <a:schemeClr val="accent2">
                            <a:lumMod val="75000"/>
                          </a:schemeClr>
                        </a:solidFill>
                        <a:latin typeface="Cambria Math" panose="02040503050406030204" pitchFamily="18" charset="0"/>
                      </a:rPr>
                      <m:t>𝛽</m:t>
                    </m:r>
                    <m:r>
                      <a:rPr lang="de-DE" sz="1400" i="1">
                        <a:solidFill>
                          <a:schemeClr val="accent2">
                            <a:lumMod val="75000"/>
                          </a:schemeClr>
                        </a:solidFill>
                        <a:latin typeface="Cambria Math" panose="02040503050406030204" pitchFamily="18" charset="0"/>
                      </a:rPr>
                      <m:t> ⋅|</m:t>
                    </m:r>
                    <m:sSup>
                      <m:sSupPr>
                        <m:ctrlPr>
                          <a:rPr lang="de-DE" sz="1400" i="1">
                            <a:solidFill>
                              <a:schemeClr val="accent2">
                                <a:lumMod val="75000"/>
                              </a:schemeClr>
                            </a:solidFill>
                            <a:latin typeface="Cambria Math" panose="02040503050406030204" pitchFamily="18" charset="0"/>
                          </a:rPr>
                        </m:ctrlPr>
                      </m:sSupPr>
                      <m:e>
                        <m:r>
                          <a:rPr lang="de-DE" sz="1400" i="1">
                            <a:solidFill>
                              <a:schemeClr val="accent2">
                                <a:lumMod val="75000"/>
                              </a:schemeClr>
                            </a:solidFill>
                            <a:latin typeface="Cambria Math" panose="02040503050406030204" pitchFamily="18" charset="0"/>
                          </a:rPr>
                          <m:t>𝑠</m:t>
                        </m:r>
                      </m:e>
                      <m:sup>
                        <m:r>
                          <a:rPr lang="de-DE" sz="1400" i="1">
                            <a:solidFill>
                              <a:schemeClr val="accent2">
                                <a:lumMod val="75000"/>
                              </a:schemeClr>
                            </a:solidFill>
                            <a:latin typeface="Cambria Math" panose="02040503050406030204" pitchFamily="18" charset="0"/>
                          </a:rPr>
                          <m:t>4</m:t>
                        </m:r>
                      </m:sup>
                    </m:sSup>
                    <m:r>
                      <a:rPr lang="de-DE" sz="1400" i="1">
                        <a:solidFill>
                          <a:schemeClr val="accent2">
                            <a:lumMod val="75000"/>
                          </a:schemeClr>
                        </a:solidFill>
                        <a:latin typeface="Cambria Math" panose="02040503050406030204" pitchFamily="18" charset="0"/>
                      </a:rPr>
                      <m:t>+</m:t>
                    </m:r>
                    <m:r>
                      <m:rPr>
                        <m:sty m:val="p"/>
                      </m:rPr>
                      <a:rPr lang="de-DE" sz="1400">
                        <a:solidFill>
                          <a:schemeClr val="accent2">
                            <a:lumMod val="75000"/>
                          </a:schemeClr>
                        </a:solidFill>
                        <a:latin typeface="Cambria Math" panose="02040503050406030204" pitchFamily="18" charset="0"/>
                      </a:rPr>
                      <m:t>Δ</m:t>
                    </m:r>
                    <m:r>
                      <a:rPr lang="de-DE" sz="1400" i="1">
                        <a:solidFill>
                          <a:schemeClr val="accent2">
                            <a:lumMod val="75000"/>
                          </a:schemeClr>
                        </a:solidFill>
                        <a:latin typeface="Cambria Math" panose="02040503050406030204" pitchFamily="18" charset="0"/>
                      </a:rPr>
                      <m:t>(</m:t>
                    </m:r>
                    <m:r>
                      <a:rPr lang="de-DE" sz="1400" i="1">
                        <a:solidFill>
                          <a:schemeClr val="accent2">
                            <a:lumMod val="75000"/>
                          </a:schemeClr>
                        </a:solidFill>
                        <a:latin typeface="Cambria Math" panose="02040503050406030204" pitchFamily="18" charset="0"/>
                      </a:rPr>
                      <m:t>𝑎</m:t>
                    </m:r>
                    <m:r>
                      <a:rPr lang="de-DE" sz="1400" i="1">
                        <a:solidFill>
                          <a:schemeClr val="accent2">
                            <a:lumMod val="75000"/>
                          </a:schemeClr>
                        </a:solidFill>
                        <a:latin typeface="Cambria Math" panose="02040503050406030204" pitchFamily="18" charset="0"/>
                      </a:rPr>
                      <m:t>)|</m:t>
                    </m:r>
                  </m:oMath>
                </a14:m>
                <a:endParaRPr lang="de-DE" sz="1400" dirty="0">
                  <a:latin typeface="Arial" panose="020B0604020202020204" pitchFamily="34" charset="0"/>
                  <a:cs typeface="Arial" panose="020B0604020202020204" pitchFamily="34" charset="0"/>
                </a:endParaRPr>
              </a:p>
            </p:txBody>
          </p:sp>
        </mc:Choice>
        <mc:Fallback xmlns="">
          <p:sp>
            <p:nvSpPr>
              <p:cNvPr id="7" name="Textfeld 6">
                <a:extLst>
                  <a:ext uri="{FF2B5EF4-FFF2-40B4-BE49-F238E27FC236}">
                    <a16:creationId xmlns:a16="http://schemas.microsoft.com/office/drawing/2014/main" id="{9A7BF60D-6E5E-A33D-AA46-0CC5D77232A7}"/>
                  </a:ext>
                </a:extLst>
              </p:cNvPr>
              <p:cNvSpPr txBox="1">
                <a:spLocks noRot="1" noChangeAspect="1" noMove="1" noResize="1" noEditPoints="1" noAdjustHandles="1" noChangeArrowheads="1" noChangeShapeType="1" noTextEdit="1"/>
              </p:cNvSpPr>
              <p:nvPr/>
            </p:nvSpPr>
            <p:spPr>
              <a:xfrm>
                <a:off x="1858816" y="1854757"/>
                <a:ext cx="5997100" cy="237950"/>
              </a:xfrm>
              <a:prstGeom prst="rect">
                <a:avLst/>
              </a:prstGeom>
              <a:blipFill>
                <a:blip r:embed="rId3"/>
                <a:stretch>
                  <a:fillRect l="-1829" t="-23077" b="-3589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F3208D30-2E26-5514-C31B-6F39AD82E9D9}"/>
                  </a:ext>
                </a:extLst>
              </p:cNvPr>
              <p:cNvSpPr txBox="1"/>
              <p:nvPr/>
            </p:nvSpPr>
            <p:spPr>
              <a:xfrm>
                <a:off x="2062563" y="2247686"/>
                <a:ext cx="5018873" cy="215444"/>
              </a:xfrm>
              <a:prstGeom prst="rect">
                <a:avLst/>
              </a:prstGeom>
              <a:noFill/>
            </p:spPr>
            <p:txBody>
              <a:bodyPr wrap="none" lIns="0" tIns="0" rIns="0" bIns="0" rtlCol="0">
                <a:spAutoFit/>
              </a:bodyPr>
              <a:lstStyle/>
              <a:p>
                <a:pPr/>
                <a14:m>
                  <m:oMathPara xmlns:m="http://schemas.openxmlformats.org/officeDocument/2006/math">
                    <m:oMath>
                      <m:r>
                        <m:rPr>
                          <m:nor/>
                        </m:rPr>
                        <a:rPr lang="de-DE" sz="1400" i="0" dirty="0" smtClean="0">
                          <a:solidFill>
                            <a:srgbClr val="FF0000"/>
                          </a:solidFill>
                          <a:latin typeface="Arial" panose="020B0604020202020204" pitchFamily="34" charset="0"/>
                          <a:cs typeface="Arial" panose="020B0604020202020204" pitchFamily="34" charset="0"/>
                        </a:rPr>
                        <m:t>Switch cost</m:t>
                      </m:r>
                      <m:r>
                        <m:rPr>
                          <m:nor/>
                        </m:rPr>
                        <a:rPr lang="de-DE" sz="1400" b="0" i="0" dirty="0" smtClean="0">
                          <a:solidFill>
                            <a:srgbClr val="FF0000"/>
                          </a:solidFill>
                          <a:latin typeface="Arial" panose="020B0604020202020204" pitchFamily="34" charset="0"/>
                          <a:cs typeface="Arial" panose="020B0604020202020204" pitchFamily="34" charset="0"/>
                        </a:rPr>
                        <m:t> </m:t>
                      </m:r>
                      <m:sSub>
                        <m:sSubPr>
                          <m:ctrlPr>
                            <a:rPr lang="de-DE" sz="1400" i="1" smtClean="0">
                              <a:solidFill>
                                <a:srgbClr val="FF0000"/>
                              </a:solidFill>
                              <a:latin typeface="Cambria Math" panose="02040503050406030204" pitchFamily="18" charset="0"/>
                            </a:rPr>
                          </m:ctrlPr>
                        </m:sSubPr>
                        <m:e>
                          <m:r>
                            <a:rPr lang="de-DE" sz="1400" i="1" smtClean="0">
                              <a:solidFill>
                                <a:srgbClr val="FF0000"/>
                              </a:solidFill>
                              <a:latin typeface="Cambria Math" panose="02040503050406030204" pitchFamily="18" charset="0"/>
                            </a:rPr>
                            <m:t>𝜌</m:t>
                          </m:r>
                        </m:e>
                        <m:sub>
                          <m:r>
                            <a:rPr lang="de-DE" sz="1400" b="0" i="1" smtClean="0">
                              <a:solidFill>
                                <a:srgbClr val="FF0000"/>
                              </a:solidFill>
                              <a:latin typeface="Cambria Math" panose="02040503050406030204" pitchFamily="18" charset="0"/>
                            </a:rPr>
                            <m:t>𝜎</m:t>
                          </m:r>
                        </m:sub>
                      </m:sSub>
                      <m:d>
                        <m:dPr>
                          <m:ctrlPr>
                            <a:rPr lang="de-DE" sz="1400" i="1">
                              <a:solidFill>
                                <a:srgbClr val="FF0000"/>
                              </a:solidFill>
                              <a:latin typeface="Cambria Math" panose="02040503050406030204" pitchFamily="18" charset="0"/>
                            </a:rPr>
                          </m:ctrlPr>
                        </m:dPr>
                        <m:e>
                          <m:r>
                            <a:rPr lang="de-DE" sz="1400" i="1">
                              <a:solidFill>
                                <a:srgbClr val="FF0000"/>
                              </a:solidFill>
                              <a:latin typeface="Cambria Math" panose="02040503050406030204" pitchFamily="18" charset="0"/>
                            </a:rPr>
                            <m:t>𝑠</m:t>
                          </m:r>
                          <m:r>
                            <a:rPr lang="de-DE" sz="1400" i="1">
                              <a:solidFill>
                                <a:srgbClr val="FF0000"/>
                              </a:solidFill>
                              <a:latin typeface="Cambria Math" panose="02040503050406030204" pitchFamily="18" charset="0"/>
                            </a:rPr>
                            <m:t>,</m:t>
                          </m:r>
                          <m:r>
                            <a:rPr lang="de-DE" sz="1400" i="1">
                              <a:solidFill>
                                <a:srgbClr val="FF0000"/>
                              </a:solidFill>
                              <a:latin typeface="Cambria Math" panose="02040503050406030204" pitchFamily="18" charset="0"/>
                            </a:rPr>
                            <m:t>𝑎</m:t>
                          </m:r>
                        </m:e>
                      </m:d>
                      <m:r>
                        <a:rPr lang="de-DE" sz="1400" b="0" i="1" smtClean="0">
                          <a:solidFill>
                            <a:srgbClr val="FF0000"/>
                          </a:solidFill>
                          <a:latin typeface="Cambria Math" panose="02040503050406030204" pitchFamily="18" charset="0"/>
                        </a:rPr>
                        <m:t>≔−</m:t>
                      </m:r>
                      <m:r>
                        <a:rPr lang="de-DE" sz="1400" i="1">
                          <a:solidFill>
                            <a:srgbClr val="FF0000"/>
                          </a:solidFill>
                          <a:latin typeface="Cambria Math" panose="02040503050406030204" pitchFamily="18" charset="0"/>
                        </a:rPr>
                        <m:t>𝜎</m:t>
                      </m:r>
                      <m:r>
                        <a:rPr lang="de-DE" sz="1400" i="1">
                          <a:solidFill>
                            <a:srgbClr val="FF0000"/>
                          </a:solidFill>
                          <a:latin typeface="Cambria Math" panose="02040503050406030204" pitchFamily="18" charset="0"/>
                        </a:rPr>
                        <m:t>⋅</m:t>
                      </m:r>
                      <m:d>
                        <m:dPr>
                          <m:begChr m:val="⟦"/>
                          <m:endChr m:val="⟧"/>
                          <m:ctrlPr>
                            <a:rPr lang="de-DE" sz="1400" b="0" i="1" smtClean="0">
                              <a:solidFill>
                                <a:srgbClr val="FF0000"/>
                              </a:solidFill>
                              <a:latin typeface="Cambria Math" panose="02040503050406030204" pitchFamily="18" charset="0"/>
                            </a:rPr>
                          </m:ctrlPr>
                        </m:dPr>
                        <m:e>
                          <m:d>
                            <m:dPr>
                              <m:ctrlPr>
                                <a:rPr lang="de-DE" sz="1400" b="0" i="1" smtClean="0">
                                  <a:solidFill>
                                    <a:srgbClr val="FF0000"/>
                                  </a:solidFill>
                                  <a:latin typeface="Cambria Math" panose="02040503050406030204" pitchFamily="18" charset="0"/>
                                </a:rPr>
                              </m:ctrlPr>
                            </m:dPr>
                            <m:e>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𝑠</m:t>
                                  </m:r>
                                </m:e>
                                <m:sup>
                                  <m:r>
                                    <a:rPr lang="de-DE" sz="1400" b="0" i="1" smtClean="0">
                                      <a:solidFill>
                                        <a:srgbClr val="FF0000"/>
                                      </a:solidFill>
                                      <a:latin typeface="Cambria Math" panose="02040503050406030204" pitchFamily="18" charset="0"/>
                                    </a:rPr>
                                    <m:t>3</m:t>
                                  </m:r>
                                </m:sup>
                              </m:sSup>
                              <m:r>
                                <a:rPr lang="de-DE" sz="1400" b="0" i="1" smtClean="0">
                                  <a:solidFill>
                                    <a:srgbClr val="FF0000"/>
                                  </a:solidFill>
                                  <a:latin typeface="Cambria Math" panose="02040503050406030204" pitchFamily="18" charset="0"/>
                                </a:rPr>
                                <m:t>=1∧</m:t>
                              </m:r>
                              <m:r>
                                <a:rPr lang="de-DE" sz="1400" b="0" i="1" smtClean="0">
                                  <a:solidFill>
                                    <a:srgbClr val="FF0000"/>
                                  </a:solidFill>
                                  <a:latin typeface="Cambria Math" panose="02040503050406030204" pitchFamily="18" charset="0"/>
                                </a:rPr>
                                <m:t>𝑎</m:t>
                              </m:r>
                              <m:r>
                                <a:rPr lang="de-DE" sz="1400" b="0" i="1" smtClean="0">
                                  <a:solidFill>
                                    <a:srgbClr val="FF0000"/>
                                  </a:solidFill>
                                  <a:latin typeface="Cambria Math" panose="02040503050406030204" pitchFamily="18" charset="0"/>
                                </a:rPr>
                                <m:t>∈</m:t>
                              </m:r>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𝐴</m:t>
                                  </m:r>
                                </m:e>
                                <m:sup>
                                  <m:r>
                                    <a:rPr lang="de-DE" sz="1400" b="0" i="1" smtClean="0">
                                      <a:solidFill>
                                        <a:srgbClr val="FF0000"/>
                                      </a:solidFill>
                                      <a:latin typeface="Cambria Math" panose="02040503050406030204" pitchFamily="18" charset="0"/>
                                    </a:rPr>
                                    <m:t>2</m:t>
                                  </m:r>
                                </m:sup>
                              </m:sSup>
                            </m:e>
                          </m:d>
                          <m:r>
                            <a:rPr lang="de-DE" sz="1400" b="0" i="1" smtClean="0">
                              <a:solidFill>
                                <a:srgbClr val="FF0000"/>
                              </a:solidFill>
                              <a:latin typeface="Cambria Math" panose="02040503050406030204" pitchFamily="18" charset="0"/>
                            </a:rPr>
                            <m:t>∨</m:t>
                          </m:r>
                          <m:d>
                            <m:dPr>
                              <m:ctrlPr>
                                <a:rPr lang="de-DE" sz="1400" b="0" i="1" smtClean="0">
                                  <a:solidFill>
                                    <a:srgbClr val="FF0000"/>
                                  </a:solidFill>
                                  <a:latin typeface="Cambria Math" panose="02040503050406030204" pitchFamily="18" charset="0"/>
                                </a:rPr>
                              </m:ctrlPr>
                            </m:dPr>
                            <m:e>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𝑠</m:t>
                                  </m:r>
                                </m:e>
                                <m:sup>
                                  <m:r>
                                    <a:rPr lang="de-DE" sz="1400" b="0" i="1" smtClean="0">
                                      <a:solidFill>
                                        <a:srgbClr val="FF0000"/>
                                      </a:solidFill>
                                      <a:latin typeface="Cambria Math" panose="02040503050406030204" pitchFamily="18" charset="0"/>
                                    </a:rPr>
                                    <m:t>3</m:t>
                                  </m:r>
                                </m:sup>
                              </m:sSup>
                              <m:r>
                                <a:rPr lang="de-DE" sz="1400" b="0" i="1" smtClean="0">
                                  <a:solidFill>
                                    <a:srgbClr val="FF0000"/>
                                  </a:solidFill>
                                  <a:latin typeface="Cambria Math" panose="02040503050406030204" pitchFamily="18" charset="0"/>
                                </a:rPr>
                                <m:t>=2∧</m:t>
                              </m:r>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𝐴</m:t>
                                  </m:r>
                                </m:e>
                                <m:sup>
                                  <m:r>
                                    <a:rPr lang="de-DE" sz="1400" b="0" i="1" smtClean="0">
                                      <a:solidFill>
                                        <a:srgbClr val="FF0000"/>
                                      </a:solidFill>
                                      <a:latin typeface="Cambria Math" panose="02040503050406030204" pitchFamily="18" charset="0"/>
                                    </a:rPr>
                                    <m:t>1</m:t>
                                  </m:r>
                                </m:sup>
                              </m:sSup>
                            </m:e>
                          </m:d>
                          <m:r>
                            <a:rPr lang="de-DE" sz="1400" b="0" i="1" smtClean="0">
                              <a:solidFill>
                                <a:srgbClr val="FF0000"/>
                              </a:solidFill>
                              <a:latin typeface="Cambria Math" panose="02040503050406030204" pitchFamily="18" charset="0"/>
                            </a:rPr>
                            <m:t> </m:t>
                          </m:r>
                        </m:e>
                      </m:d>
                    </m:oMath>
                  </m:oMathPara>
                </a14:m>
                <a:endParaRPr lang="de-DE" sz="1400" dirty="0">
                  <a:latin typeface="Arial" panose="020B0604020202020204" pitchFamily="34" charset="0"/>
                  <a:cs typeface="Arial" panose="020B0604020202020204" pitchFamily="34" charset="0"/>
                </a:endParaRPr>
              </a:p>
            </p:txBody>
          </p:sp>
        </mc:Choice>
        <mc:Fallback xmlns="">
          <p:sp>
            <p:nvSpPr>
              <p:cNvPr id="11" name="Textfeld 10">
                <a:extLst>
                  <a:ext uri="{FF2B5EF4-FFF2-40B4-BE49-F238E27FC236}">
                    <a16:creationId xmlns:a16="http://schemas.microsoft.com/office/drawing/2014/main" id="{F3208D30-2E26-5514-C31B-6F39AD82E9D9}"/>
                  </a:ext>
                </a:extLst>
              </p:cNvPr>
              <p:cNvSpPr txBox="1">
                <a:spLocks noRot="1" noChangeAspect="1" noMove="1" noResize="1" noEditPoints="1" noAdjustHandles="1" noChangeArrowheads="1" noChangeShapeType="1" noTextEdit="1"/>
              </p:cNvSpPr>
              <p:nvPr/>
            </p:nvSpPr>
            <p:spPr>
              <a:xfrm>
                <a:off x="2062563" y="2247686"/>
                <a:ext cx="5018873" cy="215444"/>
              </a:xfrm>
              <a:prstGeom prst="rect">
                <a:avLst/>
              </a:prstGeom>
              <a:blipFill>
                <a:blip r:embed="rId4"/>
                <a:stretch>
                  <a:fillRect l="-364" b="-2571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2B21CF57-8C54-64AA-0038-DD3122022BB6}"/>
                  </a:ext>
                </a:extLst>
              </p:cNvPr>
              <p:cNvSpPr txBox="1"/>
              <p:nvPr/>
            </p:nvSpPr>
            <p:spPr>
              <a:xfrm>
                <a:off x="731648" y="2631616"/>
                <a:ext cx="3018199" cy="307777"/>
              </a:xfrm>
              <a:prstGeom prst="rect">
                <a:avLst/>
              </a:prstGeom>
              <a:noFill/>
            </p:spPr>
            <p:txBody>
              <a:bodyPr wrap="none" rtlCol="0">
                <a:spAutoFit/>
              </a:bodyPr>
              <a:lstStyle/>
              <a:p>
                <a:r>
                  <a:rPr lang="de-DE" sz="1400" dirty="0">
                    <a:latin typeface="Arial" panose="020B0604020202020204" pitchFamily="34" charset="0"/>
                    <a:cs typeface="Arial" panose="020B0604020202020204" pitchFamily="34" charset="0"/>
                  </a:rPr>
                  <a:t>Backward </a:t>
                </a:r>
                <a:r>
                  <a:rPr lang="de-DE" sz="1400" dirty="0" err="1">
                    <a:latin typeface="Arial" panose="020B0604020202020204" pitchFamily="34" charset="0"/>
                    <a:cs typeface="Arial" panose="020B0604020202020204" pitchFamily="34" charset="0"/>
                  </a:rPr>
                  <a:t>induction</a:t>
                </a:r>
                <a:r>
                  <a:rPr lang="de-DE" sz="1400" dirty="0">
                    <a:latin typeface="Arial" panose="020B0604020202020204" pitchFamily="34" charset="0"/>
                    <a:cs typeface="Arial" panose="020B0604020202020204" pitchFamily="34" charset="0"/>
                  </a:rPr>
                  <a:t> </a:t>
                </a:r>
                <a14:m>
                  <m:oMath xmlns:m="http://schemas.openxmlformats.org/officeDocument/2006/math">
                    <m:r>
                      <a:rPr lang="de-DE" sz="1400" b="0" i="1" smtClean="0">
                        <a:latin typeface="Cambria Math" panose="02040503050406030204" pitchFamily="18" charset="0"/>
                        <a:cs typeface="Arial" panose="020B0604020202020204" pitchFamily="34" charset="0"/>
                      </a:rPr>
                      <m:t>(</m:t>
                    </m:r>
                    <m:r>
                      <a:rPr lang="de-DE" sz="1400" b="0" i="1" smtClean="0">
                        <a:latin typeface="Cambria Math" panose="02040503050406030204" pitchFamily="18" charset="0"/>
                        <a:cs typeface="Arial" panose="020B0604020202020204" pitchFamily="34" charset="0"/>
                      </a:rPr>
                      <m:t>𝛾</m:t>
                    </m:r>
                    <m:r>
                      <a:rPr lang="de-DE" sz="1400" b="0" i="1" smtClean="0">
                        <a:latin typeface="Cambria Math" panose="02040503050406030204" pitchFamily="18" charset="0"/>
                        <a:cs typeface="Arial" panose="020B0604020202020204" pitchFamily="34" charset="0"/>
                      </a:rPr>
                      <m:t>≔1, </m:t>
                    </m:r>
                    <m:sSubSup>
                      <m:sSubSupPr>
                        <m:ctrlPr>
                          <a:rPr lang="de-DE" sz="1400" b="0" i="1" smtClean="0">
                            <a:latin typeface="Cambria Math" panose="02040503050406030204" pitchFamily="18" charset="0"/>
                            <a:cs typeface="Arial" panose="020B0604020202020204" pitchFamily="34" charset="0"/>
                          </a:rPr>
                        </m:ctrlPr>
                      </m:sSubSupPr>
                      <m:e>
                        <m:r>
                          <a:rPr lang="de-DE" sz="1400" b="0" i="1" smtClean="0">
                            <a:latin typeface="Cambria Math" panose="02040503050406030204" pitchFamily="18" charset="0"/>
                            <a:cs typeface="Arial" panose="020B0604020202020204" pitchFamily="34" charset="0"/>
                          </a:rPr>
                          <m:t>𝑣</m:t>
                        </m:r>
                      </m:e>
                      <m:sub>
                        <m:r>
                          <a:rPr lang="de-DE" sz="1400" b="0" i="1" smtClean="0">
                            <a:latin typeface="Cambria Math" panose="02040503050406030204" pitchFamily="18" charset="0"/>
                            <a:cs typeface="Arial" panose="020B0604020202020204" pitchFamily="34" charset="0"/>
                          </a:rPr>
                          <m:t>𝑛</m:t>
                        </m:r>
                      </m:sub>
                      <m:sup>
                        <m:r>
                          <a:rPr lang="de-DE" sz="1400" b="0" i="1" smtClean="0">
                            <a:latin typeface="Cambria Math" panose="02040503050406030204" pitchFamily="18" charset="0"/>
                            <a:cs typeface="Arial" panose="020B0604020202020204" pitchFamily="34" charset="0"/>
                          </a:rPr>
                          <m:t>∗</m:t>
                        </m:r>
                      </m:sup>
                    </m:sSubSup>
                    <m:r>
                      <a:rPr lang="de-DE" sz="1400" b="0" i="1" smtClean="0">
                        <a:latin typeface="Cambria Math" panose="02040503050406030204" pitchFamily="18" charset="0"/>
                        <a:cs typeface="Arial" panose="020B0604020202020204" pitchFamily="34" charset="0"/>
                      </a:rPr>
                      <m:t>≔0)</m:t>
                    </m:r>
                  </m:oMath>
                </a14:m>
                <a:endParaRPr lang="de-DE" sz="1400" dirty="0">
                  <a:latin typeface="Arial" panose="020B0604020202020204" pitchFamily="34" charset="0"/>
                  <a:cs typeface="Arial" panose="020B0604020202020204" pitchFamily="34" charset="0"/>
                </a:endParaRPr>
              </a:p>
            </p:txBody>
          </p:sp>
        </mc:Choice>
        <mc:Fallback xmlns="">
          <p:sp>
            <p:nvSpPr>
              <p:cNvPr id="13" name="Textfeld 12">
                <a:extLst>
                  <a:ext uri="{FF2B5EF4-FFF2-40B4-BE49-F238E27FC236}">
                    <a16:creationId xmlns:a16="http://schemas.microsoft.com/office/drawing/2014/main" id="{2B21CF57-8C54-64AA-0038-DD3122022BB6}"/>
                  </a:ext>
                </a:extLst>
              </p:cNvPr>
              <p:cNvSpPr txBox="1">
                <a:spLocks noRot="1" noChangeAspect="1" noMove="1" noResize="1" noEditPoints="1" noAdjustHandles="1" noChangeArrowheads="1" noChangeShapeType="1" noTextEdit="1"/>
              </p:cNvSpPr>
              <p:nvPr/>
            </p:nvSpPr>
            <p:spPr>
              <a:xfrm>
                <a:off x="731648" y="2631616"/>
                <a:ext cx="3018199" cy="307777"/>
              </a:xfrm>
              <a:prstGeom prst="rect">
                <a:avLst/>
              </a:prstGeom>
              <a:blipFill>
                <a:blip r:embed="rId5"/>
                <a:stretch>
                  <a:fillRect l="-606" t="-4000" b="-2000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75AF0117-CD2F-B9E1-957B-9C9A9F6B28C5}"/>
                  </a:ext>
                </a:extLst>
              </p:cNvPr>
              <p:cNvSpPr txBox="1"/>
              <p:nvPr/>
            </p:nvSpPr>
            <p:spPr>
              <a:xfrm>
                <a:off x="1037466" y="3414184"/>
                <a:ext cx="3819900" cy="294568"/>
              </a:xfrm>
              <a:prstGeom prst="rect">
                <a:avLst/>
              </a:prstGeom>
              <a:noFill/>
            </p:spPr>
            <p:txBody>
              <a:bodyPr wrap="square" rtlCol="0">
                <a:spAutoFit/>
              </a:bodyPr>
              <a:lstStyle/>
              <a:p>
                <a14:m>
                  <m:oMath xmlns:m="http://schemas.openxmlformats.org/officeDocument/2006/math">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𝑞</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r>
                      <a:rPr lang="de-DE" sz="1200" b="0" i="1" smtClean="0">
                        <a:latin typeface="Cambria Math" panose="02040503050406030204" pitchFamily="18" charset="0"/>
                      </a:rPr>
                      <m:t>𝜌</m:t>
                    </m:r>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r>
                      <a:rPr lang="de-DE" sz="1200" b="0" i="1" smtClean="0">
                        <a:latin typeface="Cambria Math" panose="02040503050406030204" pitchFamily="18" charset="0"/>
                      </a:rPr>
                      <m:t>𝛾</m:t>
                    </m:r>
                    <m:nary>
                      <m:naryPr>
                        <m:chr m:val="∑"/>
                        <m:supHide m:val="on"/>
                        <m:ctrlPr>
                          <a:rPr lang="de-DE" sz="1200" b="0" i="1" smtClean="0">
                            <a:latin typeface="Cambria Math" panose="02040503050406030204" pitchFamily="18" charset="0"/>
                          </a:rPr>
                        </m:ctrlPr>
                      </m:naryPr>
                      <m:sub>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Sub>
                      </m:sub>
                      <m:sup/>
                      <m:e>
                        <m:r>
                          <a:rPr lang="de-DE" sz="1200" b="0" i="1" smtClean="0">
                            <a:latin typeface="Cambria Math" panose="02040503050406030204" pitchFamily="18" charset="0"/>
                          </a:rPr>
                          <m:t>𝑝</m:t>
                        </m:r>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Sub>
                          </m:e>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 </m:t>
                            </m:r>
                          </m:e>
                        </m:d>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𝑣</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Sub>
                          </m:e>
                        </m:d>
                        <m:r>
                          <a:rPr lang="de-DE" sz="1200" b="0" i="1" smtClean="0">
                            <a:latin typeface="Cambria Math" panose="02040503050406030204" pitchFamily="18" charset="0"/>
                          </a:rPr>
                          <m:t> </m:t>
                        </m:r>
                      </m:e>
                    </m:nary>
                  </m:oMath>
                </a14:m>
                <a:r>
                  <a:rPr lang="de-DE" sz="1200" dirty="0">
                    <a:latin typeface="Arial" panose="020B0604020202020204" pitchFamily="34" charset="0"/>
                    <a:cs typeface="Arial" panose="020B0604020202020204" pitchFamily="34" charset="0"/>
                  </a:rPr>
                  <a:t> </a:t>
                </a:r>
              </a:p>
            </p:txBody>
          </p:sp>
        </mc:Choice>
        <mc:Fallback xmlns="">
          <p:sp>
            <p:nvSpPr>
              <p:cNvPr id="15" name="Textfeld 14">
                <a:extLst>
                  <a:ext uri="{FF2B5EF4-FFF2-40B4-BE49-F238E27FC236}">
                    <a16:creationId xmlns:a16="http://schemas.microsoft.com/office/drawing/2014/main" id="{75AF0117-CD2F-B9E1-957B-9C9A9F6B28C5}"/>
                  </a:ext>
                </a:extLst>
              </p:cNvPr>
              <p:cNvSpPr txBox="1">
                <a:spLocks noRot="1" noChangeAspect="1" noMove="1" noResize="1" noEditPoints="1" noAdjustHandles="1" noChangeArrowheads="1" noChangeShapeType="1" noTextEdit="1"/>
              </p:cNvSpPr>
              <p:nvPr/>
            </p:nvSpPr>
            <p:spPr>
              <a:xfrm>
                <a:off x="1037466" y="3414184"/>
                <a:ext cx="3819900" cy="294568"/>
              </a:xfrm>
              <a:prstGeom prst="rect">
                <a:avLst/>
              </a:prstGeom>
              <a:blipFill>
                <a:blip r:embed="rId6"/>
                <a:stretch>
                  <a:fillRect t="-91667" b="-14583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DFD0D6BB-3F73-4D89-D839-52461DE63B23}"/>
                  </a:ext>
                </a:extLst>
              </p:cNvPr>
              <p:cNvSpPr txBox="1"/>
              <p:nvPr/>
            </p:nvSpPr>
            <p:spPr>
              <a:xfrm>
                <a:off x="814776" y="3046049"/>
                <a:ext cx="1553971" cy="276999"/>
              </a:xfrm>
              <a:prstGeom prst="rect">
                <a:avLst/>
              </a:prstGeom>
              <a:noFill/>
            </p:spPr>
            <p:txBody>
              <a:bodyPr wrap="square">
                <a:spAutoFit/>
              </a:bodyPr>
              <a:lstStyle/>
              <a:p>
                <a:r>
                  <a:rPr lang="de-DE" sz="1200" b="0" dirty="0"/>
                  <a:t>For </a:t>
                </a:r>
                <a14:m>
                  <m:oMath xmlns:m="http://schemas.openxmlformats.org/officeDocument/2006/math">
                    <m:r>
                      <a:rPr lang="de-DE" sz="1200" b="0" i="1" smtClean="0">
                        <a:latin typeface="Cambria Math" panose="02040503050406030204" pitchFamily="18" charset="0"/>
                      </a:rPr>
                      <m:t>𝑡</m:t>
                    </m:r>
                    <m:r>
                      <a:rPr lang="de-DE" sz="1200" b="0" i="1" smtClean="0">
                        <a:latin typeface="Cambria Math" panose="02040503050406030204" pitchFamily="18" charset="0"/>
                      </a:rPr>
                      <m:t>=</m:t>
                    </m:r>
                    <m:r>
                      <a:rPr lang="de-DE" sz="1200" b="0" i="1" smtClean="0">
                        <a:latin typeface="Cambria Math" panose="02040503050406030204" pitchFamily="18" charset="0"/>
                      </a:rPr>
                      <m:t>𝑛</m:t>
                    </m:r>
                    <m:r>
                      <a:rPr lang="de-DE" sz="1200" b="0" i="1" smtClean="0">
                        <a:latin typeface="Cambria Math" panose="02040503050406030204" pitchFamily="18" charset="0"/>
                      </a:rPr>
                      <m:t>−1,…,0</m:t>
                    </m:r>
                  </m:oMath>
                </a14:m>
                <a:endParaRPr lang="de-DE" sz="1200" dirty="0"/>
              </a:p>
            </p:txBody>
          </p:sp>
        </mc:Choice>
        <mc:Fallback xmlns="">
          <p:sp>
            <p:nvSpPr>
              <p:cNvPr id="17" name="Textfeld 16">
                <a:extLst>
                  <a:ext uri="{FF2B5EF4-FFF2-40B4-BE49-F238E27FC236}">
                    <a16:creationId xmlns:a16="http://schemas.microsoft.com/office/drawing/2014/main" id="{DFD0D6BB-3F73-4D89-D839-52461DE63B23}"/>
                  </a:ext>
                </a:extLst>
              </p:cNvPr>
              <p:cNvSpPr txBox="1">
                <a:spLocks noRot="1" noChangeAspect="1" noMove="1" noResize="1" noEditPoints="1" noAdjustHandles="1" noChangeArrowheads="1" noChangeShapeType="1" noTextEdit="1"/>
              </p:cNvSpPr>
              <p:nvPr/>
            </p:nvSpPr>
            <p:spPr>
              <a:xfrm>
                <a:off x="814776" y="3046049"/>
                <a:ext cx="1553971" cy="276999"/>
              </a:xfrm>
              <a:prstGeom prst="rect">
                <a:avLst/>
              </a:prstGeom>
              <a:blipFill>
                <a:blip r:embed="rId7"/>
                <a:stretch>
                  <a:fillRect l="-392" t="-2222" b="-17778"/>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9" name="Textfeld 18">
                <a:extLst>
                  <a:ext uri="{FF2B5EF4-FFF2-40B4-BE49-F238E27FC236}">
                    <a16:creationId xmlns:a16="http://schemas.microsoft.com/office/drawing/2014/main" id="{5A8B7F76-A224-FF6F-8519-DAB4B8D79779}"/>
                  </a:ext>
                </a:extLst>
              </p:cNvPr>
              <p:cNvSpPr txBox="1"/>
              <p:nvPr/>
            </p:nvSpPr>
            <p:spPr>
              <a:xfrm>
                <a:off x="1037466" y="4157422"/>
                <a:ext cx="2519332" cy="389209"/>
              </a:xfrm>
              <a:prstGeom prst="rect">
                <a:avLst/>
              </a:prstGeom>
              <a:noFill/>
            </p:spPr>
            <p:txBody>
              <a:bodyPr wrap="square" rtlCol="0">
                <a:spAutoFit/>
              </a:bodyPr>
              <a:lstStyle/>
              <a:p>
                <a14:m>
                  <m:oMath xmlns:m="http://schemas.openxmlformats.org/officeDocument/2006/math">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𝑑</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func>
                      <m:funcPr>
                        <m:ctrlPr>
                          <a:rPr lang="de-DE" sz="1200" b="0" i="1" smtClean="0">
                            <a:latin typeface="Cambria Math" panose="02040503050406030204" pitchFamily="18" charset="0"/>
                          </a:rPr>
                        </m:ctrlPr>
                      </m:funcPr>
                      <m:fName>
                        <m:limLow>
                          <m:limLowPr>
                            <m:ctrlPr>
                              <a:rPr lang="de-DE" sz="1200" b="0" i="0" smtClean="0">
                                <a:latin typeface="Cambria Math" panose="02040503050406030204" pitchFamily="18" charset="0"/>
                              </a:rPr>
                            </m:ctrlPr>
                          </m:limLowPr>
                          <m:e>
                            <m:r>
                              <m:rPr>
                                <m:sty m:val="p"/>
                              </m:rPr>
                              <a:rPr lang="de-DE" sz="1200" b="0" i="0" smtClean="0">
                                <a:latin typeface="Cambria Math" panose="02040503050406030204" pitchFamily="18" charset="0"/>
                              </a:rPr>
                              <m:t>argmax</m:t>
                            </m:r>
                          </m:e>
                          <m:lim>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r>
                              <a:rPr lang="de-DE" sz="1200" b="0" i="1" smtClean="0">
                                <a:latin typeface="Cambria Math" panose="02040503050406030204" pitchFamily="18" charset="0"/>
                              </a:rPr>
                              <m:t>𝐴</m:t>
                            </m:r>
                          </m:lim>
                        </m:limLow>
                      </m:fName>
                      <m:e>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𝑞</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e>
                    </m:func>
                  </m:oMath>
                </a14:m>
                <a:r>
                  <a:rPr lang="de-DE" sz="1200" dirty="0">
                    <a:latin typeface="Arial" panose="020B0604020202020204" pitchFamily="34" charset="0"/>
                    <a:cs typeface="Arial" panose="020B0604020202020204" pitchFamily="34" charset="0"/>
                  </a:rPr>
                  <a:t>   </a:t>
                </a:r>
              </a:p>
            </p:txBody>
          </p:sp>
        </mc:Choice>
        <mc:Fallback xmlns="">
          <p:sp>
            <p:nvSpPr>
              <p:cNvPr id="19" name="Textfeld 18">
                <a:extLst>
                  <a:ext uri="{FF2B5EF4-FFF2-40B4-BE49-F238E27FC236}">
                    <a16:creationId xmlns:a16="http://schemas.microsoft.com/office/drawing/2014/main" id="{5A8B7F76-A224-FF6F-8519-DAB4B8D79779}"/>
                  </a:ext>
                </a:extLst>
              </p:cNvPr>
              <p:cNvSpPr txBox="1">
                <a:spLocks noRot="1" noChangeAspect="1" noMove="1" noResize="1" noEditPoints="1" noAdjustHandles="1" noChangeArrowheads="1" noChangeShapeType="1" noTextEdit="1"/>
              </p:cNvSpPr>
              <p:nvPr/>
            </p:nvSpPr>
            <p:spPr>
              <a:xfrm>
                <a:off x="1037466" y="4157422"/>
                <a:ext cx="2519332" cy="389209"/>
              </a:xfrm>
              <a:prstGeom prst="rect">
                <a:avLst/>
              </a:prstGeom>
              <a:blipFill>
                <a:blip r:embed="rId8"/>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Textfeld 20">
                <a:extLst>
                  <a:ext uri="{FF2B5EF4-FFF2-40B4-BE49-F238E27FC236}">
                    <a16:creationId xmlns:a16="http://schemas.microsoft.com/office/drawing/2014/main" id="{EB6F9B29-5D93-0CE1-79F7-903D3D17AE9C}"/>
                  </a:ext>
                </a:extLst>
              </p:cNvPr>
              <p:cNvSpPr txBox="1"/>
              <p:nvPr/>
            </p:nvSpPr>
            <p:spPr>
              <a:xfrm>
                <a:off x="1037466" y="3799888"/>
                <a:ext cx="2519332" cy="356829"/>
              </a:xfrm>
              <a:prstGeom prst="rect">
                <a:avLst/>
              </a:prstGeom>
              <a:noFill/>
            </p:spPr>
            <p:txBody>
              <a:bodyPr wrap="square" rtlCol="0">
                <a:spAutoFit/>
              </a:bodyPr>
              <a:lstStyle/>
              <a:p>
                <a14:m>
                  <m:oMath xmlns:m="http://schemas.openxmlformats.org/officeDocument/2006/math">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𝑣</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func>
                      <m:funcPr>
                        <m:ctrlPr>
                          <a:rPr lang="de-DE" sz="1200" b="0" i="1" smtClean="0">
                            <a:latin typeface="Cambria Math" panose="02040503050406030204" pitchFamily="18" charset="0"/>
                          </a:rPr>
                        </m:ctrlPr>
                      </m:funcPr>
                      <m:fName>
                        <m:limLow>
                          <m:limLowPr>
                            <m:ctrlPr>
                              <a:rPr lang="de-DE" sz="1200" b="0" i="0" smtClean="0">
                                <a:latin typeface="Cambria Math" panose="02040503050406030204" pitchFamily="18" charset="0"/>
                              </a:rPr>
                            </m:ctrlPr>
                          </m:limLowPr>
                          <m:e>
                            <m:r>
                              <m:rPr>
                                <m:sty m:val="p"/>
                              </m:rPr>
                              <a:rPr lang="de-DE" sz="1200" b="0" i="0" smtClean="0">
                                <a:latin typeface="Cambria Math" panose="02040503050406030204" pitchFamily="18" charset="0"/>
                              </a:rPr>
                              <m:t>max</m:t>
                            </m:r>
                          </m:e>
                          <m:lim>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r>
                              <a:rPr lang="de-DE" sz="1200" b="0" i="1" smtClean="0">
                                <a:latin typeface="Cambria Math" panose="02040503050406030204" pitchFamily="18" charset="0"/>
                              </a:rPr>
                              <m:t>𝐴</m:t>
                            </m:r>
                          </m:lim>
                        </m:limLow>
                      </m:fName>
                      <m:e>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𝑞</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e>
                    </m:func>
                  </m:oMath>
                </a14:m>
                <a:r>
                  <a:rPr lang="de-DE" sz="1200" dirty="0">
                    <a:latin typeface="Arial" panose="020B0604020202020204" pitchFamily="34" charset="0"/>
                    <a:cs typeface="Arial" panose="020B0604020202020204" pitchFamily="34" charset="0"/>
                  </a:rPr>
                  <a:t>   </a:t>
                </a:r>
              </a:p>
            </p:txBody>
          </p:sp>
        </mc:Choice>
        <mc:Fallback xmlns="">
          <p:sp>
            <p:nvSpPr>
              <p:cNvPr id="21" name="Textfeld 20">
                <a:extLst>
                  <a:ext uri="{FF2B5EF4-FFF2-40B4-BE49-F238E27FC236}">
                    <a16:creationId xmlns:a16="http://schemas.microsoft.com/office/drawing/2014/main" id="{EB6F9B29-5D93-0CE1-79F7-903D3D17AE9C}"/>
                  </a:ext>
                </a:extLst>
              </p:cNvPr>
              <p:cNvSpPr txBox="1">
                <a:spLocks noRot="1" noChangeAspect="1" noMove="1" noResize="1" noEditPoints="1" noAdjustHandles="1" noChangeArrowheads="1" noChangeShapeType="1" noTextEdit="1"/>
              </p:cNvSpPr>
              <p:nvPr/>
            </p:nvSpPr>
            <p:spPr>
              <a:xfrm>
                <a:off x="1037466" y="3799888"/>
                <a:ext cx="2519332" cy="356829"/>
              </a:xfrm>
              <a:prstGeom prst="rect">
                <a:avLst/>
              </a:prstGeom>
              <a:blipFill>
                <a:blip r:embed="rId9"/>
                <a:stretch>
                  <a:fillRect/>
                </a:stretch>
              </a:blipFill>
            </p:spPr>
            <p:txBody>
              <a:bodyPr/>
              <a:lstStyle/>
              <a:p>
                <a:r>
                  <a:rPr lang="de-DE">
                    <a:noFill/>
                  </a:rPr>
                  <a:t> </a:t>
                </a:r>
              </a:p>
            </p:txBody>
          </p:sp>
        </mc:Fallback>
      </mc:AlternateContent>
      <p:pic>
        <p:nvPicPr>
          <p:cNvPr id="25" name="Grafik 24">
            <a:extLst>
              <a:ext uri="{FF2B5EF4-FFF2-40B4-BE49-F238E27FC236}">
                <a16:creationId xmlns:a16="http://schemas.microsoft.com/office/drawing/2014/main" id="{5220168F-7A5E-8770-81E9-A3478252CFC3}"/>
              </a:ext>
            </a:extLst>
          </p:cNvPr>
          <p:cNvPicPr>
            <a:picLocks noChangeAspect="1"/>
          </p:cNvPicPr>
          <p:nvPr/>
        </p:nvPicPr>
        <p:blipFill>
          <a:blip r:embed="rId10"/>
          <a:stretch>
            <a:fillRect/>
          </a:stretch>
        </p:blipFill>
        <p:spPr>
          <a:xfrm>
            <a:off x="5012635" y="3157848"/>
            <a:ext cx="3525240" cy="1284080"/>
          </a:xfrm>
          <a:prstGeom prst="rect">
            <a:avLst/>
          </a:prstGeom>
          <a:ln>
            <a:solidFill>
              <a:schemeClr val="bg1">
                <a:lumMod val="65000"/>
              </a:schemeClr>
            </a:solidFill>
          </a:ln>
        </p:spPr>
      </p:pic>
    </p:spTree>
    <p:extLst>
      <p:ext uri="{BB962C8B-B14F-4D97-AF65-F5344CB8AC3E}">
        <p14:creationId xmlns:p14="http://schemas.microsoft.com/office/powerpoint/2010/main" val="2656606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579AB-CE1A-D2A2-C405-EBC24E8169B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CC2AB0E-713F-607F-13F1-A79532E352D6}"/>
              </a:ext>
            </a:extLst>
          </p:cNvPr>
          <p:cNvSpPr>
            <a:spLocks noGrp="1"/>
          </p:cNvSpPr>
          <p:nvPr>
            <p:ph type="title"/>
          </p:nvPr>
        </p:nvSpPr>
        <p:spPr/>
        <p:txBody>
          <a:bodyPr>
            <a:normAutofit/>
          </a:bodyPr>
          <a:lstStyle/>
          <a:p>
            <a:r>
              <a:rPr lang="de-DE" sz="2200" b="0" dirty="0" err="1"/>
              <a:t>Sequential</a:t>
            </a:r>
            <a:r>
              <a:rPr lang="de-DE" sz="2200" b="0" dirty="0"/>
              <a:t> </a:t>
            </a:r>
            <a:r>
              <a:rPr lang="de-DE" sz="2200" b="0" dirty="0" err="1"/>
              <a:t>conditional</a:t>
            </a:r>
            <a:r>
              <a:rPr lang="de-DE" sz="2200" b="0" dirty="0"/>
              <a:t> log </a:t>
            </a:r>
            <a:r>
              <a:rPr lang="de-DE" sz="2200" b="0" dirty="0" err="1"/>
              <a:t>likelihood</a:t>
            </a:r>
            <a:r>
              <a:rPr lang="de-DE" sz="2200" b="0" dirty="0"/>
              <a:t> </a:t>
            </a:r>
            <a:r>
              <a:rPr lang="de-DE" sz="2200" b="0" dirty="0" err="1"/>
              <a:t>maximization</a:t>
            </a:r>
            <a:endParaRPr lang="de-DE" sz="2200" b="0" dirty="0"/>
          </a:p>
        </p:txBody>
      </p:sp>
      <p:sp>
        <p:nvSpPr>
          <p:cNvPr id="4" name="Foliennummernplatzhalter 3">
            <a:extLst>
              <a:ext uri="{FF2B5EF4-FFF2-40B4-BE49-F238E27FC236}">
                <a16:creationId xmlns:a16="http://schemas.microsoft.com/office/drawing/2014/main" id="{9AE22114-52FC-0C43-B4D1-7EA3CB259372}"/>
              </a:ext>
            </a:extLst>
          </p:cNvPr>
          <p:cNvSpPr>
            <a:spLocks noGrp="1"/>
          </p:cNvSpPr>
          <p:nvPr>
            <p:ph type="sldNum" idx="12"/>
          </p:nvPr>
        </p:nvSpPr>
        <p:spPr/>
        <p:txBody>
          <a:bodyPr/>
          <a:lstStyle/>
          <a:p>
            <a:fld id="{5CD88B4E-D815-417B-99FD-41D66E5C06D4}" type="slidenum">
              <a:rPr lang="de-DE" smtClean="0"/>
              <a:t>18</a:t>
            </a:fld>
            <a:endParaRPr lang="de-DE"/>
          </a:p>
        </p:txBody>
      </p:sp>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ED3E8CCD-F0EE-9CAF-1547-97AD1F6823DF}"/>
                  </a:ext>
                </a:extLst>
              </p:cNvPr>
              <p:cNvSpPr txBox="1"/>
              <p:nvPr/>
            </p:nvSpPr>
            <p:spPr>
              <a:xfrm>
                <a:off x="1386279" y="3821935"/>
                <a:ext cx="6669817" cy="357918"/>
              </a:xfrm>
              <a:prstGeom prst="rect">
                <a:avLst/>
              </a:prstGeom>
              <a:noFill/>
            </p:spPr>
            <p:txBody>
              <a:bodyPr wrap="square">
                <a:spAutoFit/>
              </a:bodyPr>
              <a:lstStyle/>
              <a:p>
                <a14:m>
                  <m:oMath xmlns:m="http://schemas.openxmlformats.org/officeDocument/2006/math">
                    <m:r>
                      <m:rPr>
                        <m:sty m:val="p"/>
                      </m:rPr>
                      <a:rPr lang="de-DE" sz="1400" b="0" i="1" smtClean="0">
                        <a:latin typeface="Cambria Math" panose="02040503050406030204" pitchFamily="18" charset="0"/>
                      </a:rPr>
                      <m:t>ℓ</m:t>
                    </m:r>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𝛽</m:t>
                        </m:r>
                        <m:r>
                          <a:rPr lang="de-DE" sz="1400" b="0" i="1" smtClean="0">
                            <a:latin typeface="Cambria Math" panose="02040503050406030204" pitchFamily="18" charset="0"/>
                          </a:rPr>
                          <m:t>,</m:t>
                        </m:r>
                        <m:r>
                          <a:rPr lang="de-DE" sz="1400" b="0" i="1" smtClean="0">
                            <a:latin typeface="Cambria Math" panose="02040503050406030204" pitchFamily="18" charset="0"/>
                          </a:rPr>
                          <m:t>𝜎</m:t>
                        </m:r>
                        <m:r>
                          <a:rPr lang="de-DE" sz="1400" b="0" i="1" smtClean="0">
                            <a:latin typeface="Cambria Math" panose="02040503050406030204" pitchFamily="18" charset="0"/>
                          </a:rPr>
                          <m:t>,</m:t>
                        </m:r>
                        <m:r>
                          <a:rPr lang="de-DE" sz="1400" b="0" i="1" smtClean="0">
                            <a:latin typeface="Cambria Math" panose="02040503050406030204" pitchFamily="18" charset="0"/>
                          </a:rPr>
                          <m:t>𝜏</m:t>
                        </m:r>
                      </m:e>
                    </m:d>
                    <m:r>
                      <a:rPr lang="de-DE" sz="1400" b="0" i="1" smtClean="0">
                        <a:latin typeface="Cambria Math" panose="02040503050406030204" pitchFamily="18" charset="0"/>
                      </a:rPr>
                      <m:t>=</m:t>
                    </m:r>
                    <m:nary>
                      <m:naryPr>
                        <m:chr m:val="∑"/>
                        <m:ctrlPr>
                          <a:rPr lang="de-DE" sz="1400" b="0" i="1" smtClean="0">
                            <a:latin typeface="Cambria Math" panose="02040503050406030204" pitchFamily="18" charset="0"/>
                          </a:rPr>
                        </m:ctrlPr>
                      </m:naryPr>
                      <m:sub>
                        <m:r>
                          <a:rPr lang="de-DE" sz="1400" b="0" i="1" smtClean="0">
                            <a:latin typeface="Cambria Math" panose="02040503050406030204" pitchFamily="18" charset="0"/>
                          </a:rPr>
                          <m:t>𝑏</m:t>
                        </m:r>
                        <m:r>
                          <a:rPr lang="de-DE" sz="1400" b="0" i="1" smtClean="0">
                            <a:latin typeface="Cambria Math" panose="02040503050406030204" pitchFamily="18" charset="0"/>
                          </a:rPr>
                          <m:t>=1</m:t>
                        </m:r>
                      </m:sub>
                      <m:sup>
                        <m:r>
                          <a:rPr lang="de-DE" sz="1400" b="0" i="1" smtClean="0">
                            <a:latin typeface="Cambria Math" panose="02040503050406030204" pitchFamily="18" charset="0"/>
                          </a:rPr>
                          <m:t>𝑚</m:t>
                        </m:r>
                      </m:sup>
                      <m:e>
                        <m:nary>
                          <m:naryPr>
                            <m:chr m:val="∑"/>
                            <m:ctrlPr>
                              <a:rPr lang="de-DE" sz="1400" b="0" i="1" smtClean="0">
                                <a:latin typeface="Cambria Math" panose="02040503050406030204" pitchFamily="18" charset="0"/>
                              </a:rPr>
                            </m:ctrlPr>
                          </m:naryPr>
                          <m:sub>
                            <m:r>
                              <a:rPr lang="de-DE" sz="1400" b="0" i="1" smtClean="0">
                                <a:latin typeface="Cambria Math" panose="02040503050406030204" pitchFamily="18" charset="0"/>
                              </a:rPr>
                              <m:t>𝑡</m:t>
                            </m:r>
                            <m:r>
                              <a:rPr lang="de-DE" sz="1400" b="0" i="1" smtClean="0">
                                <a:latin typeface="Cambria Math" panose="02040503050406030204" pitchFamily="18" charset="0"/>
                              </a:rPr>
                              <m:t>=0</m:t>
                            </m:r>
                          </m:sub>
                          <m:sup>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𝑛</m:t>
                                </m:r>
                              </m:e>
                              <m:sub>
                                <m:r>
                                  <a:rPr lang="de-DE" sz="1400" b="0" i="1" smtClean="0">
                                    <a:latin typeface="Cambria Math" panose="02040503050406030204" pitchFamily="18" charset="0"/>
                                  </a:rPr>
                                  <m:t>𝑏</m:t>
                                </m:r>
                              </m:sub>
                            </m:sSub>
                          </m:sup>
                          <m:e>
                            <m:d>
                              <m:dPr>
                                <m:ctrlPr>
                                  <a:rPr lang="de-DE" sz="1400" i="1">
                                    <a:latin typeface="Cambria Math" panose="02040503050406030204" pitchFamily="18" charset="0"/>
                                  </a:rPr>
                                </m:ctrlPr>
                              </m:dPr>
                              <m:e>
                                <m:sSubSup>
                                  <m:sSubSupPr>
                                    <m:ctrlPr>
                                      <a:rPr lang="de-DE" sz="1400" i="1">
                                        <a:latin typeface="Cambria Math" panose="02040503050406030204" pitchFamily="18" charset="0"/>
                                      </a:rPr>
                                    </m:ctrlPr>
                                  </m:sSubSupPr>
                                  <m:e>
                                    <m:r>
                                      <a:rPr lang="de-DE" sz="1400" i="1">
                                        <a:latin typeface="Cambria Math" panose="02040503050406030204" pitchFamily="18" charset="0"/>
                                      </a:rPr>
                                      <m:t>𝑞</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up>
                                    <m:r>
                                      <a:rPr lang="de-DE" sz="1400" i="1">
                                        <a:latin typeface="Cambria Math" panose="02040503050406030204" pitchFamily="18"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r>
                                  <a:rPr lang="de-DE" sz="1400" b="0" i="1" smtClean="0">
                                    <a:latin typeface="Cambria Math" panose="02040503050406030204" pitchFamily="18" charset="0"/>
                                  </a:rPr>
                                  <m:t>/</m:t>
                                </m:r>
                                <m:r>
                                  <a:rPr lang="de-DE" sz="1400" b="0" i="1" smtClean="0">
                                    <a:latin typeface="Cambria Math" panose="02040503050406030204" pitchFamily="18" charset="0"/>
                                  </a:rPr>
                                  <m:t>𝜏</m:t>
                                </m:r>
                                <m:r>
                                  <a:rPr lang="de-DE" sz="1400" b="0" i="1" smtClean="0">
                                    <a:latin typeface="Cambria Math" panose="02040503050406030204" pitchFamily="18" charset="0"/>
                                  </a:rPr>
                                  <m:t>−</m:t>
                                </m:r>
                                <m:func>
                                  <m:funcPr>
                                    <m:ctrlPr>
                                      <a:rPr lang="de-DE" sz="1400" b="0" i="0" smtClean="0">
                                        <a:latin typeface="Cambria Math" panose="02040503050406030204" pitchFamily="18" charset="0"/>
                                      </a:rPr>
                                    </m:ctrlPr>
                                  </m:funcPr>
                                  <m:fName>
                                    <m:r>
                                      <m:rPr>
                                        <m:sty m:val="p"/>
                                      </m:rPr>
                                      <a:rPr lang="de-DE" sz="1400" b="0" i="0" smtClean="0">
                                        <a:latin typeface="Cambria Math" panose="02040503050406030204" pitchFamily="18" charset="0"/>
                                      </a:rPr>
                                      <m:t>ln</m:t>
                                    </m:r>
                                  </m:fName>
                                  <m:e>
                                    <m:d>
                                      <m:dPr>
                                        <m:ctrlPr>
                                          <a:rPr lang="de-DE" sz="1400" i="1">
                                            <a:latin typeface="Cambria Math" panose="02040503050406030204" pitchFamily="18" charset="0"/>
                                          </a:rPr>
                                        </m:ctrlPr>
                                      </m:dPr>
                                      <m:e>
                                        <m:nary>
                                          <m:naryPr>
                                            <m:chr m:val="∑"/>
                                            <m:supHide m:val="on"/>
                                            <m:ctrlPr>
                                              <a:rPr lang="de-DE" sz="1400" i="1">
                                                <a:latin typeface="Cambria Math" panose="02040503050406030204" pitchFamily="18" charset="0"/>
                                              </a:rPr>
                                            </m:ctrlPr>
                                          </m:naryPr>
                                          <m:sub>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b="0" i="1" smtClean="0">
                                                    <a:latin typeface="Cambria Math" panose="02040503050406030204" pitchFamily="18" charset="0"/>
                                                  </a:rPr>
                                                  <m:t>𝑏</m:t>
                                                </m:r>
                                                <m:r>
                                                  <a:rPr lang="de-DE" sz="1400" b="0" i="1" smtClean="0">
                                                    <a:latin typeface="Cambria Math" panose="02040503050406030204" pitchFamily="18" charset="0"/>
                                                  </a:rPr>
                                                  <m:t>,</m:t>
                                                </m:r>
                                                <m:r>
                                                  <a:rPr lang="de-DE" sz="1400" b="0" i="1" smtClean="0">
                                                    <a:latin typeface="Cambria Math" panose="02040503050406030204" pitchFamily="18" charset="0"/>
                                                  </a:rPr>
                                                  <m:t>𝑡</m:t>
                                                </m:r>
                                                <m:r>
                                                  <a:rPr lang="de-DE" sz="1400" b="0" i="1" smtClean="0">
                                                    <a:latin typeface="Cambria Math" panose="02040503050406030204" pitchFamily="18" charset="0"/>
                                                  </a:rPr>
                                                  <m:t> </m:t>
                                                </m:r>
                                              </m:sub>
                                            </m:sSub>
                                          </m:sub>
                                          <m:sup/>
                                          <m:e>
                                            <m:func>
                                              <m:funcPr>
                                                <m:ctrlPr>
                                                  <a:rPr lang="de-DE" sz="1400">
                                                    <a:latin typeface="Cambria Math" panose="02040503050406030204" pitchFamily="18" charset="0"/>
                                                  </a:rPr>
                                                </m:ctrlPr>
                                              </m:funcPr>
                                              <m:fName>
                                                <m:r>
                                                  <m:rPr>
                                                    <m:sty m:val="p"/>
                                                  </m:rPr>
                                                  <a:rPr lang="de-DE" sz="1400">
                                                    <a:latin typeface="Cambria Math" panose="02040503050406030204" pitchFamily="18" charset="0"/>
                                                  </a:rPr>
                                                  <m:t>exp</m:t>
                                                </m:r>
                                              </m:fName>
                                              <m:e>
                                                <m:d>
                                                  <m:dPr>
                                                    <m:ctrlPr>
                                                      <a:rPr lang="de-DE" sz="1400" i="1">
                                                        <a:latin typeface="Cambria Math" panose="02040503050406030204" pitchFamily="18" charset="0"/>
                                                      </a:rPr>
                                                    </m:ctrlPr>
                                                  </m:dPr>
                                                  <m:e>
                                                    <m:sSubSup>
                                                      <m:sSubSupPr>
                                                        <m:ctrlPr>
                                                          <a:rPr lang="de-DE" sz="1400" i="1">
                                                            <a:latin typeface="Cambria Math" panose="02040503050406030204" pitchFamily="18" charset="0"/>
                                                          </a:rPr>
                                                        </m:ctrlPr>
                                                      </m:sSubSupPr>
                                                      <m:e>
                                                        <m:r>
                                                          <a:rPr lang="de-DE" sz="1400" i="1">
                                                            <a:latin typeface="Cambria Math" panose="02040503050406030204" pitchFamily="18" charset="0"/>
                                                          </a:rPr>
                                                          <m:t>𝑞</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up>
                                                        <m:r>
                                                          <a:rPr lang="de-DE" sz="1400" i="1">
                                                            <a:latin typeface="Cambria Math" panose="02040503050406030204" pitchFamily="18"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r>
                                                      <a:rPr lang="de-DE" sz="1400" b="0" i="1" smtClean="0">
                                                        <a:latin typeface="Cambria Math" panose="02040503050406030204" pitchFamily="18" charset="0"/>
                                                      </a:rPr>
                                                      <m:t>/</m:t>
                                                    </m:r>
                                                    <m:r>
                                                      <a:rPr lang="de-DE" sz="1400" b="0" i="1" smtClean="0">
                                                        <a:latin typeface="Cambria Math" panose="02040503050406030204" pitchFamily="18" charset="0"/>
                                                      </a:rPr>
                                                      <m:t>𝜏</m:t>
                                                    </m:r>
                                                  </m:e>
                                                </m:d>
                                              </m:e>
                                            </m:func>
                                          </m:e>
                                        </m:nary>
                                      </m:e>
                                    </m:d>
                                  </m:e>
                                </m:func>
                              </m:e>
                            </m:d>
                            <m:r>
                              <a:rPr lang="de-DE" sz="1400" b="0" i="1" smtClean="0">
                                <a:latin typeface="Cambria Math" panose="02040503050406030204" pitchFamily="18" charset="0"/>
                              </a:rPr>
                              <m:t> </m:t>
                            </m:r>
                          </m:e>
                        </m:nary>
                      </m:e>
                    </m:nary>
                  </m:oMath>
                </a14:m>
                <a:r>
                  <a:rPr lang="de-DE" sz="1400" dirty="0"/>
                  <a:t> </a:t>
                </a:r>
              </a:p>
            </p:txBody>
          </p:sp>
        </mc:Choice>
        <mc:Fallback xmlns="">
          <p:sp>
            <p:nvSpPr>
              <p:cNvPr id="8" name="Textfeld 7">
                <a:extLst>
                  <a:ext uri="{FF2B5EF4-FFF2-40B4-BE49-F238E27FC236}">
                    <a16:creationId xmlns:a16="http://schemas.microsoft.com/office/drawing/2014/main" id="{ED3E8CCD-F0EE-9CAF-1547-97AD1F6823DF}"/>
                  </a:ext>
                </a:extLst>
              </p:cNvPr>
              <p:cNvSpPr txBox="1">
                <a:spLocks noRot="1" noChangeAspect="1" noMove="1" noResize="1" noEditPoints="1" noAdjustHandles="1" noChangeArrowheads="1" noChangeShapeType="1" noTextEdit="1"/>
              </p:cNvSpPr>
              <p:nvPr/>
            </p:nvSpPr>
            <p:spPr>
              <a:xfrm>
                <a:off x="1386279" y="3821935"/>
                <a:ext cx="6669817" cy="357918"/>
              </a:xfrm>
              <a:prstGeom prst="rect">
                <a:avLst/>
              </a:prstGeom>
              <a:blipFill>
                <a:blip r:embed="rId2"/>
                <a:stretch>
                  <a:fillRect t="-83051" b="-127119"/>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7ABCB11E-E975-AC83-D570-6309B4C28992}"/>
                  </a:ext>
                </a:extLst>
              </p:cNvPr>
              <p:cNvSpPr txBox="1"/>
              <p:nvPr/>
            </p:nvSpPr>
            <p:spPr>
              <a:xfrm>
                <a:off x="618772" y="2012953"/>
                <a:ext cx="5722913" cy="292388"/>
              </a:xfrm>
              <a:prstGeom prst="rect">
                <a:avLst/>
              </a:prstGeom>
              <a:noFill/>
            </p:spPr>
            <p:txBody>
              <a:bodyPr wrap="none" rtlCol="0">
                <a:spAutoFit/>
              </a:bodyPr>
              <a:lstStyle/>
              <a:p>
                <a:r>
                  <a:rPr lang="de-DE" sz="1300" dirty="0">
                    <a:latin typeface="Arial" panose="020B0604020202020204" pitchFamily="34" charset="0"/>
                    <a:cs typeface="Arial" panose="020B0604020202020204" pitchFamily="34" charset="0"/>
                  </a:rPr>
                  <a:t>Agentic behavioral </a:t>
                </a:r>
                <a:r>
                  <a:rPr lang="de-DE" sz="1300" dirty="0" err="1">
                    <a:latin typeface="Arial" panose="020B0604020202020204" pitchFamily="34" charset="0"/>
                    <a:cs typeface="Arial" panose="020B0604020202020204" pitchFamily="34" charset="0"/>
                  </a:rPr>
                  <a:t>model</a:t>
                </a:r>
                <a:r>
                  <a:rPr lang="de-DE" sz="1300" dirty="0">
                    <a:latin typeface="Arial" panose="020B0604020202020204" pitchFamily="34" charset="0"/>
                    <a:cs typeface="Arial" panose="020B0604020202020204" pitchFamily="34" charset="0"/>
                  </a:rPr>
                  <a:t> (</a:t>
                </a:r>
                <a14:m>
                  <m:oMath xmlns:m="http://schemas.openxmlformats.org/officeDocument/2006/math">
                    <m:r>
                      <a:rPr lang="de-DE" sz="1300" b="0" i="1" smtClean="0">
                        <a:latin typeface="Cambria Math" panose="02040503050406030204" pitchFamily="18" charset="0"/>
                        <a:cs typeface="Arial" panose="020B0604020202020204" pitchFamily="34" charset="0"/>
                      </a:rPr>
                      <m:t>𝑏</m:t>
                    </m:r>
                    <m:r>
                      <a:rPr lang="de-DE" sz="1300" b="0" i="1" smtClean="0">
                        <a:latin typeface="Cambria Math" panose="02040503050406030204" pitchFamily="18" charset="0"/>
                        <a:cs typeface="Arial" panose="020B0604020202020204" pitchFamily="34" charset="0"/>
                      </a:rPr>
                      <m:t>=</m:t>
                    </m:r>
                    <m:r>
                      <m:rPr>
                        <m:sty m:val="p"/>
                      </m:rPr>
                      <a:rPr lang="de-DE" sz="1300" b="0" i="0" smtClean="0">
                        <a:latin typeface="Cambria Math" panose="02040503050406030204" pitchFamily="18" charset="0"/>
                        <a:cs typeface="Arial" panose="020B0604020202020204" pitchFamily="34" charset="0"/>
                      </a:rPr>
                      <m:t>block</m:t>
                    </m:r>
                    <m:r>
                      <a:rPr lang="de-DE" sz="1300" b="0" i="1" smtClean="0">
                        <a:latin typeface="Cambria Math" panose="02040503050406030204" pitchFamily="18" charset="0"/>
                        <a:cs typeface="Arial" panose="020B0604020202020204" pitchFamily="34" charset="0"/>
                      </a:rPr>
                      <m:t>, </m:t>
                    </m:r>
                    <m:r>
                      <a:rPr lang="de-DE" sz="1300" b="0" i="1" smtClean="0">
                        <a:latin typeface="Cambria Math" panose="02040503050406030204" pitchFamily="18" charset="0"/>
                        <a:cs typeface="Arial" panose="020B0604020202020204" pitchFamily="34" charset="0"/>
                      </a:rPr>
                      <m:t>𝑡</m:t>
                    </m:r>
                    <m:r>
                      <a:rPr lang="de-DE" sz="1300" b="0" i="1" smtClean="0">
                        <a:latin typeface="Cambria Math" panose="02040503050406030204" pitchFamily="18" charset="0"/>
                        <a:cs typeface="Arial" panose="020B0604020202020204" pitchFamily="34" charset="0"/>
                      </a:rPr>
                      <m:t>=</m:t>
                    </m:r>
                    <m:r>
                      <m:rPr>
                        <m:sty m:val="p"/>
                      </m:rPr>
                      <a:rPr lang="de-DE" sz="1300" b="0" i="0" smtClean="0">
                        <a:latin typeface="Cambria Math" panose="02040503050406030204" pitchFamily="18" charset="0"/>
                        <a:cs typeface="Arial" panose="020B0604020202020204" pitchFamily="34" charset="0"/>
                      </a:rPr>
                      <m:t>trial</m:t>
                    </m:r>
                    <m:r>
                      <a:rPr lang="de-DE" sz="1300" b="0" i="1" smtClean="0">
                        <a:latin typeface="Cambria Math" panose="02040503050406030204" pitchFamily="18" charset="0"/>
                        <a:cs typeface="Arial" panose="020B0604020202020204" pitchFamily="34" charset="0"/>
                      </a:rPr>
                      <m:t>, </m:t>
                    </m:r>
                    <m:sSub>
                      <m:sSubPr>
                        <m:ctrlPr>
                          <a:rPr lang="de-DE" sz="1300" b="0" i="1" smtClean="0">
                            <a:latin typeface="Cambria Math" panose="02040503050406030204" pitchFamily="18" charset="0"/>
                            <a:cs typeface="Arial" panose="020B0604020202020204" pitchFamily="34" charset="0"/>
                          </a:rPr>
                        </m:ctrlPr>
                      </m:sSubPr>
                      <m:e>
                        <m:r>
                          <a:rPr lang="de-DE" sz="1300" b="0" i="1" smtClean="0">
                            <a:latin typeface="Cambria Math" panose="02040503050406030204" pitchFamily="18" charset="0"/>
                            <a:cs typeface="Arial" panose="020B0604020202020204" pitchFamily="34" charset="0"/>
                          </a:rPr>
                          <m:t>𝑛</m:t>
                        </m:r>
                      </m:e>
                      <m:sub>
                        <m:r>
                          <a:rPr lang="de-DE" sz="1300" b="0" i="1" smtClean="0">
                            <a:latin typeface="Cambria Math" panose="02040503050406030204" pitchFamily="18" charset="0"/>
                            <a:cs typeface="Arial" panose="020B0604020202020204" pitchFamily="34" charset="0"/>
                          </a:rPr>
                          <m:t>𝑏</m:t>
                        </m:r>
                      </m:sub>
                    </m:sSub>
                    <m:r>
                      <a:rPr lang="de-DE" sz="1300" b="0" i="1" smtClean="0">
                        <a:latin typeface="Cambria Math" panose="02040503050406030204" pitchFamily="18" charset="0"/>
                        <a:cs typeface="Arial" panose="020B0604020202020204" pitchFamily="34" charset="0"/>
                      </a:rPr>
                      <m:t>=</m:t>
                    </m:r>
                    <m:r>
                      <m:rPr>
                        <m:sty m:val="p"/>
                      </m:rPr>
                      <a:rPr lang="de-DE" sz="1300" b="0" i="0" smtClean="0">
                        <a:latin typeface="Cambria Math" panose="02040503050406030204" pitchFamily="18" charset="0"/>
                        <a:cs typeface="Arial" panose="020B0604020202020204" pitchFamily="34" charset="0"/>
                      </a:rPr>
                      <m:t>number</m:t>
                    </m:r>
                    <m:r>
                      <a:rPr lang="de-DE" sz="1300" b="0" i="0" smtClean="0">
                        <a:latin typeface="Cambria Math" panose="02040503050406030204" pitchFamily="18" charset="0"/>
                        <a:cs typeface="Arial" panose="020B0604020202020204" pitchFamily="34" charset="0"/>
                      </a:rPr>
                      <m:t> </m:t>
                    </m:r>
                    <m:r>
                      <m:rPr>
                        <m:sty m:val="p"/>
                      </m:rPr>
                      <a:rPr lang="de-DE" sz="1300" b="0" i="0" smtClean="0">
                        <a:latin typeface="Cambria Math" panose="02040503050406030204" pitchFamily="18" charset="0"/>
                        <a:cs typeface="Arial" panose="020B0604020202020204" pitchFamily="34" charset="0"/>
                      </a:rPr>
                      <m:t>of</m:t>
                    </m:r>
                    <m:r>
                      <a:rPr lang="de-DE" sz="1300" b="0" i="0" smtClean="0">
                        <a:latin typeface="Cambria Math" panose="02040503050406030204" pitchFamily="18" charset="0"/>
                        <a:cs typeface="Arial" panose="020B0604020202020204" pitchFamily="34" charset="0"/>
                      </a:rPr>
                      <m:t> </m:t>
                    </m:r>
                    <m:r>
                      <m:rPr>
                        <m:sty m:val="p"/>
                      </m:rPr>
                      <a:rPr lang="de-DE" sz="1300" b="0" i="0" smtClean="0">
                        <a:latin typeface="Cambria Math" panose="02040503050406030204" pitchFamily="18" charset="0"/>
                        <a:cs typeface="Arial" panose="020B0604020202020204" pitchFamily="34" charset="0"/>
                      </a:rPr>
                      <m:t>trials</m:t>
                    </m:r>
                    <m:r>
                      <a:rPr lang="de-DE" sz="1300" b="0" i="0" smtClean="0">
                        <a:latin typeface="Cambria Math" panose="02040503050406030204" pitchFamily="18" charset="0"/>
                        <a:cs typeface="Arial" panose="020B0604020202020204" pitchFamily="34" charset="0"/>
                      </a:rPr>
                      <m:t> </m:t>
                    </m:r>
                    <m:r>
                      <m:rPr>
                        <m:sty m:val="p"/>
                      </m:rPr>
                      <a:rPr lang="de-DE" sz="1300" b="0" i="0" smtClean="0">
                        <a:latin typeface="Cambria Math" panose="02040503050406030204" pitchFamily="18" charset="0"/>
                        <a:cs typeface="Arial" panose="020B0604020202020204" pitchFamily="34" charset="0"/>
                      </a:rPr>
                      <m:t>in</m:t>
                    </m:r>
                    <m:r>
                      <a:rPr lang="de-DE" sz="1300" b="0" i="0" smtClean="0">
                        <a:latin typeface="Cambria Math" panose="02040503050406030204" pitchFamily="18" charset="0"/>
                        <a:cs typeface="Arial" panose="020B0604020202020204" pitchFamily="34" charset="0"/>
                      </a:rPr>
                      <m:t> </m:t>
                    </m:r>
                    <m:r>
                      <a:rPr lang="de-DE" sz="1300" b="0" i="1" smtClean="0">
                        <a:latin typeface="Cambria Math" panose="02040503050406030204" pitchFamily="18" charset="0"/>
                        <a:cs typeface="Arial" panose="020B0604020202020204" pitchFamily="34" charset="0"/>
                      </a:rPr>
                      <m:t>𝑏</m:t>
                    </m:r>
                  </m:oMath>
                </a14:m>
                <a:r>
                  <a:rPr lang="de-DE" sz="1300" dirty="0">
                    <a:latin typeface="Arial" panose="020B0604020202020204" pitchFamily="34" charset="0"/>
                    <a:cs typeface="Arial" panose="020B0604020202020204" pitchFamily="34" charset="0"/>
                  </a:rPr>
                  <a:t> )</a:t>
                </a:r>
              </a:p>
            </p:txBody>
          </p:sp>
        </mc:Choice>
        <mc:Fallback xmlns="">
          <p:sp>
            <p:nvSpPr>
              <p:cNvPr id="11" name="Textfeld 10">
                <a:extLst>
                  <a:ext uri="{FF2B5EF4-FFF2-40B4-BE49-F238E27FC236}">
                    <a16:creationId xmlns:a16="http://schemas.microsoft.com/office/drawing/2014/main" id="{7ABCB11E-E975-AC83-D570-6309B4C28992}"/>
                  </a:ext>
                </a:extLst>
              </p:cNvPr>
              <p:cNvSpPr txBox="1">
                <a:spLocks noRot="1" noChangeAspect="1" noMove="1" noResize="1" noEditPoints="1" noAdjustHandles="1" noChangeArrowheads="1" noChangeShapeType="1" noTextEdit="1"/>
              </p:cNvSpPr>
              <p:nvPr/>
            </p:nvSpPr>
            <p:spPr>
              <a:xfrm>
                <a:off x="618772" y="2012953"/>
                <a:ext cx="5722913" cy="292388"/>
              </a:xfrm>
              <a:prstGeom prst="rect">
                <a:avLst/>
              </a:prstGeom>
              <a:blipFill>
                <a:blip r:embed="rId3"/>
                <a:stretch>
                  <a:fillRect l="-213" t="-2083" b="-16667"/>
                </a:stretch>
              </a:blipFill>
            </p:spPr>
            <p:txBody>
              <a:bodyPr/>
              <a:lstStyle/>
              <a:p>
                <a:r>
                  <a:rPr lang="de-DE">
                    <a:noFill/>
                  </a:rPr>
                  <a:t> </a:t>
                </a:r>
              </a:p>
            </p:txBody>
          </p:sp>
        </mc:Fallback>
      </mc:AlternateContent>
      <p:sp>
        <p:nvSpPr>
          <p:cNvPr id="13" name="Textfeld 12">
            <a:extLst>
              <a:ext uri="{FF2B5EF4-FFF2-40B4-BE49-F238E27FC236}">
                <a16:creationId xmlns:a16="http://schemas.microsoft.com/office/drawing/2014/main" id="{EF947837-1447-B901-0E92-FFE79C680398}"/>
              </a:ext>
            </a:extLst>
          </p:cNvPr>
          <p:cNvSpPr txBox="1"/>
          <p:nvPr/>
        </p:nvSpPr>
        <p:spPr>
          <a:xfrm>
            <a:off x="618772" y="3420300"/>
            <a:ext cx="2829621" cy="292388"/>
          </a:xfrm>
          <a:prstGeom prst="rect">
            <a:avLst/>
          </a:prstGeom>
          <a:noFill/>
        </p:spPr>
        <p:txBody>
          <a:bodyPr wrap="none" rtlCol="0">
            <a:spAutoFit/>
          </a:bodyPr>
          <a:lstStyle/>
          <a:p>
            <a:r>
              <a:rPr lang="de-DE" sz="1300" dirty="0" err="1">
                <a:latin typeface="Arial" panose="020B0604020202020204" pitchFamily="34" charset="0"/>
                <a:cs typeface="Arial" panose="020B0604020202020204" pitchFamily="34" charset="0"/>
              </a:rPr>
              <a:t>Sequential</a:t>
            </a:r>
            <a:r>
              <a:rPr lang="de-DE" sz="1300" dirty="0">
                <a:latin typeface="Arial" panose="020B0604020202020204" pitchFamily="34" charset="0"/>
                <a:cs typeface="Arial" panose="020B0604020202020204" pitchFamily="34" charset="0"/>
              </a:rPr>
              <a:t> </a:t>
            </a:r>
            <a:r>
              <a:rPr lang="de-DE" sz="1300" dirty="0" err="1">
                <a:latin typeface="Arial" panose="020B0604020202020204" pitchFamily="34" charset="0"/>
                <a:cs typeface="Arial" panose="020B0604020202020204" pitchFamily="34" charset="0"/>
              </a:rPr>
              <a:t>conditional</a:t>
            </a:r>
            <a:r>
              <a:rPr lang="de-DE" sz="1300" dirty="0">
                <a:latin typeface="Arial" panose="020B0604020202020204" pitchFamily="34" charset="0"/>
                <a:cs typeface="Arial" panose="020B0604020202020204" pitchFamily="34" charset="0"/>
              </a:rPr>
              <a:t> log </a:t>
            </a:r>
            <a:r>
              <a:rPr lang="de-DE" sz="1300" dirty="0" err="1">
                <a:latin typeface="Arial" panose="020B0604020202020204" pitchFamily="34" charset="0"/>
                <a:cs typeface="Arial" panose="020B0604020202020204" pitchFamily="34" charset="0"/>
              </a:rPr>
              <a:t>likelihood</a:t>
            </a:r>
            <a:endParaRPr lang="de-DE" sz="13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BB47569E-3AE6-9A5C-877B-4B108D360CE9}"/>
                  </a:ext>
                </a:extLst>
              </p:cNvPr>
              <p:cNvSpPr txBox="1"/>
              <p:nvPr/>
            </p:nvSpPr>
            <p:spPr>
              <a:xfrm>
                <a:off x="1181521" y="4179853"/>
                <a:ext cx="6780958" cy="379848"/>
              </a:xfrm>
              <a:prstGeom prst="rect">
                <a:avLst/>
              </a:prstGeom>
              <a:noFill/>
            </p:spPr>
            <p:txBody>
              <a:bodyPr wrap="square" rtlCol="0">
                <a:spAutoFit/>
              </a:bodyPr>
              <a:lstStyle/>
              <a:p>
                <a:pPr>
                  <a:lnSpc>
                    <a:spcPct val="150000"/>
                  </a:lnSpc>
                </a:pPr>
                <a:r>
                  <a:rPr lang="de-DE" sz="1200" dirty="0">
                    <a:latin typeface="Arial" panose="020B0604020202020204" pitchFamily="34" charset="0"/>
                    <a:cs typeface="Arial" panose="020B0604020202020204" pitchFamily="34" charset="0"/>
                  </a:rPr>
                  <a:t>Adaptive Nelder-Mead </a:t>
                </a:r>
                <a:r>
                  <a:rPr lang="de-DE" sz="1200" dirty="0" err="1">
                    <a:latin typeface="Arial" panose="020B0604020202020204" pitchFamily="34" charset="0"/>
                    <a:cs typeface="Arial" panose="020B0604020202020204" pitchFamily="34" charset="0"/>
                  </a:rPr>
                  <a:t>optimization</a:t>
                </a:r>
                <a:r>
                  <a:rPr lang="de-DE" sz="1200" dirty="0">
                    <a:latin typeface="Arial" panose="020B0604020202020204" pitchFamily="34" charset="0"/>
                    <a:cs typeface="Arial" panose="020B0604020202020204" pitchFamily="34" charset="0"/>
                  </a:rPr>
                  <a:t> (</a:t>
                </a:r>
                <a:r>
                  <a:rPr lang="de-DE" sz="1200" dirty="0" err="1">
                    <a:latin typeface="Arial" panose="020B0604020202020204" pitchFamily="34" charset="0"/>
                    <a:cs typeface="Arial" panose="020B0604020202020204" pitchFamily="34" charset="0"/>
                  </a:rPr>
                  <a:t>scipy.optimize.minimize</a:t>
                </a:r>
                <a:r>
                  <a:rPr lang="de-DE" sz="1200" dirty="0">
                    <a:latin typeface="Arial" panose="020B0604020202020204" pitchFamily="34" charset="0"/>
                    <a:cs typeface="Arial" panose="020B0604020202020204" pitchFamily="34" charset="0"/>
                  </a:rPr>
                  <a:t>) </a:t>
                </a:r>
                <a:r>
                  <a:rPr lang="de-DE" sz="1200" dirty="0" err="1">
                    <a:latin typeface="Arial" panose="020B0604020202020204" pitchFamily="34" charset="0"/>
                    <a:cs typeface="Arial" panose="020B0604020202020204" pitchFamily="34" charset="0"/>
                  </a:rPr>
                  <a:t>with</a:t>
                </a:r>
                <a14:m>
                  <m:oMath xmlns:m="http://schemas.openxmlformats.org/officeDocument/2006/math">
                    <m:r>
                      <a:rPr lang="de-DE" sz="1200" b="0" i="0" smtClean="0">
                        <a:latin typeface="Cambria Math" panose="02040503050406030204" pitchFamily="18" charset="0"/>
                      </a:rPr>
                      <m:t> </m:t>
                    </m:r>
                    <m:d>
                      <m:dPr>
                        <m:ctrlPr>
                          <a:rPr lang="de-DE" sz="1200" i="1">
                            <a:latin typeface="Cambria Math" panose="02040503050406030204" pitchFamily="18" charset="0"/>
                          </a:rPr>
                        </m:ctrlPr>
                      </m:dPr>
                      <m:e>
                        <m:sSup>
                          <m:sSupPr>
                            <m:ctrlPr>
                              <a:rPr lang="de-DE" sz="1200" i="1">
                                <a:latin typeface="Cambria Math" panose="02040503050406030204" pitchFamily="18" charset="0"/>
                              </a:rPr>
                            </m:ctrlPr>
                          </m:sSupPr>
                          <m:e>
                            <m:r>
                              <a:rPr lang="de-DE" sz="1200" i="1">
                                <a:latin typeface="Cambria Math" panose="02040503050406030204" pitchFamily="18" charset="0"/>
                              </a:rPr>
                              <m:t>𝛽</m:t>
                            </m:r>
                          </m:e>
                          <m:sup>
                            <m:d>
                              <m:dPr>
                                <m:ctrlPr>
                                  <a:rPr lang="de-DE" sz="1200" b="0" i="1" smtClean="0">
                                    <a:latin typeface="Cambria Math" panose="02040503050406030204" pitchFamily="18" charset="0"/>
                                  </a:rPr>
                                </m:ctrlPr>
                              </m:dPr>
                              <m:e>
                                <m:r>
                                  <a:rPr lang="de-DE" sz="1200" b="0" i="1" smtClean="0">
                                    <a:latin typeface="Cambria Math" panose="02040503050406030204" pitchFamily="18" charset="0"/>
                                  </a:rPr>
                                  <m:t>0</m:t>
                                </m:r>
                              </m:e>
                            </m:d>
                          </m:sup>
                        </m:sSup>
                        <m:r>
                          <a:rPr lang="de-DE" sz="1200" i="1">
                            <a:latin typeface="Cambria Math" panose="02040503050406030204" pitchFamily="18" charset="0"/>
                          </a:rPr>
                          <m:t>,</m:t>
                        </m:r>
                        <m:sSup>
                          <m:sSupPr>
                            <m:ctrlPr>
                              <a:rPr lang="de-DE" sz="1200" i="1">
                                <a:latin typeface="Cambria Math" panose="02040503050406030204" pitchFamily="18" charset="0"/>
                              </a:rPr>
                            </m:ctrlPr>
                          </m:sSupPr>
                          <m:e>
                            <m:r>
                              <a:rPr lang="de-DE" sz="1200" i="1">
                                <a:latin typeface="Cambria Math" panose="02040503050406030204" pitchFamily="18" charset="0"/>
                              </a:rPr>
                              <m:t>𝜎</m:t>
                            </m:r>
                          </m:e>
                          <m:sup>
                            <m:d>
                              <m:dPr>
                                <m:ctrlPr>
                                  <a:rPr lang="de-DE" sz="1200" b="0" i="1" smtClean="0">
                                    <a:latin typeface="Cambria Math" panose="02040503050406030204" pitchFamily="18" charset="0"/>
                                  </a:rPr>
                                </m:ctrlPr>
                              </m:dPr>
                              <m:e>
                                <m:r>
                                  <a:rPr lang="de-DE" sz="1200" b="0" i="1" smtClean="0">
                                    <a:latin typeface="Cambria Math" panose="02040503050406030204" pitchFamily="18" charset="0"/>
                                  </a:rPr>
                                  <m:t>0</m:t>
                                </m:r>
                              </m:e>
                            </m:d>
                          </m:sup>
                        </m:sSup>
                        <m:r>
                          <a:rPr lang="de-DE" sz="1200" i="1">
                            <a:latin typeface="Cambria Math" panose="02040503050406030204" pitchFamily="18" charset="0"/>
                          </a:rPr>
                          <m:t>,</m:t>
                        </m:r>
                        <m:sSup>
                          <m:sSupPr>
                            <m:ctrlPr>
                              <a:rPr lang="de-DE" sz="1200" i="1">
                                <a:latin typeface="Cambria Math" panose="02040503050406030204" pitchFamily="18" charset="0"/>
                              </a:rPr>
                            </m:ctrlPr>
                          </m:sSupPr>
                          <m:e>
                            <m:r>
                              <a:rPr lang="de-DE" sz="1200" i="1">
                                <a:latin typeface="Cambria Math" panose="02040503050406030204" pitchFamily="18" charset="0"/>
                              </a:rPr>
                              <m:t>𝜏</m:t>
                            </m:r>
                          </m:e>
                          <m:sup>
                            <m:d>
                              <m:dPr>
                                <m:ctrlPr>
                                  <a:rPr lang="de-DE" sz="1200" b="0" i="1" smtClean="0">
                                    <a:latin typeface="Cambria Math" panose="02040503050406030204" pitchFamily="18" charset="0"/>
                                  </a:rPr>
                                </m:ctrlPr>
                              </m:dPr>
                              <m:e>
                                <m:r>
                                  <a:rPr lang="de-DE" sz="1200" b="0" i="1" smtClean="0">
                                    <a:latin typeface="Cambria Math" panose="02040503050406030204" pitchFamily="18" charset="0"/>
                                  </a:rPr>
                                  <m:t>0</m:t>
                                </m:r>
                              </m:e>
                            </m:d>
                          </m:sup>
                        </m:sSup>
                      </m:e>
                    </m:d>
                    <m:r>
                      <a:rPr lang="de-DE" sz="1200" b="0" i="1" smtClean="0">
                        <a:latin typeface="Cambria Math" panose="02040503050406030204" pitchFamily="18" charset="0"/>
                      </a:rPr>
                      <m:t>≔(0.01,0.1,0.3)</m:t>
                    </m:r>
                  </m:oMath>
                </a14:m>
                <a:endParaRPr lang="de-DE" sz="1200" dirty="0">
                  <a:latin typeface="Arial" panose="020B0604020202020204" pitchFamily="34" charset="0"/>
                  <a:cs typeface="Arial" panose="020B0604020202020204" pitchFamily="34" charset="0"/>
                </a:endParaRPr>
              </a:p>
            </p:txBody>
          </p:sp>
        </mc:Choice>
        <mc:Fallback xmlns="">
          <p:sp>
            <p:nvSpPr>
              <p:cNvPr id="15" name="Textfeld 14">
                <a:extLst>
                  <a:ext uri="{FF2B5EF4-FFF2-40B4-BE49-F238E27FC236}">
                    <a16:creationId xmlns:a16="http://schemas.microsoft.com/office/drawing/2014/main" id="{BB47569E-3AE6-9A5C-877B-4B108D360CE9}"/>
                  </a:ext>
                </a:extLst>
              </p:cNvPr>
              <p:cNvSpPr txBox="1">
                <a:spLocks noRot="1" noChangeAspect="1" noMove="1" noResize="1" noEditPoints="1" noAdjustHandles="1" noChangeArrowheads="1" noChangeShapeType="1" noTextEdit="1"/>
              </p:cNvSpPr>
              <p:nvPr/>
            </p:nvSpPr>
            <p:spPr>
              <a:xfrm>
                <a:off x="1181521" y="4179853"/>
                <a:ext cx="6780958" cy="379848"/>
              </a:xfrm>
              <a:prstGeom prst="rect">
                <a:avLst/>
              </a:prstGeom>
              <a:blipFill>
                <a:blip r:embed="rId4"/>
                <a:stretch>
                  <a:fillRect l="-90" b="-8065"/>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DCB9EB60-3274-561C-B418-9225CEB087DF}"/>
                  </a:ext>
                </a:extLst>
              </p:cNvPr>
              <p:cNvSpPr txBox="1"/>
              <p:nvPr/>
            </p:nvSpPr>
            <p:spPr>
              <a:xfrm>
                <a:off x="1571198" y="1380420"/>
                <a:ext cx="6299980" cy="528093"/>
              </a:xfrm>
              <a:prstGeom prst="rect">
                <a:avLst/>
              </a:prstGeom>
              <a:noFill/>
            </p:spPr>
            <p:txBody>
              <a:bodyPr wrap="square" rtlCol="0">
                <a:spAutoFit/>
              </a:bodyPr>
              <a:lstStyle/>
              <a:p>
                <a14:m>
                  <m:oMath xmlns:m="http://schemas.openxmlformats.org/officeDocument/2006/math">
                    <m:sSub>
                      <m:sSubPr>
                        <m:ctrlPr>
                          <a:rPr lang="de-DE" sz="1400" b="0" i="1" smtClean="0">
                            <a:latin typeface="Cambria Math" panose="02040503050406030204" pitchFamily="18" charset="0"/>
                            <a:cs typeface="Arial" panose="020B0604020202020204" pitchFamily="34" charset="0"/>
                          </a:rPr>
                        </m:ctrlPr>
                      </m:sSubPr>
                      <m:e>
                        <m:r>
                          <a:rPr lang="de-DE" sz="1400" b="0" i="1" smtClean="0">
                            <a:latin typeface="Cambria Math" panose="02040503050406030204" pitchFamily="18" charset="0"/>
                            <a:cs typeface="Arial" panose="020B0604020202020204" pitchFamily="34" charset="0"/>
                          </a:rPr>
                          <m:t>𝑝</m:t>
                        </m:r>
                      </m:e>
                      <m:sub>
                        <m:r>
                          <a:rPr lang="de-DE" sz="1400" b="0" i="1" smtClean="0">
                            <a:latin typeface="Cambria Math" panose="02040503050406030204" pitchFamily="18" charset="0"/>
                            <a:cs typeface="Arial" panose="020B0604020202020204" pitchFamily="34" charset="0"/>
                          </a:rPr>
                          <m:t>𝛽</m:t>
                        </m:r>
                        <m:r>
                          <a:rPr lang="de-DE" sz="1400" b="0" i="1" smtClean="0">
                            <a:latin typeface="Cambria Math" panose="02040503050406030204" pitchFamily="18" charset="0"/>
                            <a:cs typeface="Arial" panose="020B0604020202020204" pitchFamily="34" charset="0"/>
                          </a:rPr>
                          <m:t>,</m:t>
                        </m:r>
                        <m:r>
                          <a:rPr lang="de-DE" sz="1400" b="0" i="1" smtClean="0">
                            <a:latin typeface="Cambria Math" panose="02040503050406030204" pitchFamily="18" charset="0"/>
                            <a:cs typeface="Arial" panose="020B0604020202020204" pitchFamily="34" charset="0"/>
                          </a:rPr>
                          <m:t>𝜎</m:t>
                        </m:r>
                        <m:r>
                          <a:rPr lang="de-DE" sz="1400" b="0" i="1" smtClean="0">
                            <a:latin typeface="Cambria Math" panose="02040503050406030204" pitchFamily="18" charset="0"/>
                            <a:cs typeface="Arial" panose="020B0604020202020204" pitchFamily="34" charset="0"/>
                          </a:rPr>
                          <m:t>,</m:t>
                        </m:r>
                        <m:r>
                          <a:rPr lang="de-DE" sz="1400" b="0" i="1" smtClean="0">
                            <a:latin typeface="Cambria Math" panose="02040503050406030204" pitchFamily="18" charset="0"/>
                            <a:cs typeface="Arial" panose="020B0604020202020204" pitchFamily="34" charset="0"/>
                          </a:rPr>
                          <m:t>𝜏</m:t>
                        </m:r>
                      </m:sub>
                    </m:sSub>
                    <m:d>
                      <m:dPr>
                        <m:ctrlPr>
                          <a:rPr lang="de-DE" sz="1400" b="0" i="1" smtClean="0">
                            <a:latin typeface="Cambria Math" panose="02040503050406030204" pitchFamily="18" charset="0"/>
                            <a:cs typeface="Arial" panose="020B0604020202020204" pitchFamily="34" charset="0"/>
                          </a:rPr>
                        </m:ctrlPr>
                      </m:dPr>
                      <m:e>
                        <m:sSub>
                          <m:sSubPr>
                            <m:ctrlPr>
                              <a:rPr lang="de-DE" sz="1400" b="0" i="1" smtClean="0">
                                <a:latin typeface="Cambria Math" panose="02040503050406030204" pitchFamily="18" charset="0"/>
                                <a:cs typeface="Arial" panose="020B0604020202020204" pitchFamily="34" charset="0"/>
                              </a:rPr>
                            </m:ctrlPr>
                          </m:sSubPr>
                          <m:e>
                            <m:r>
                              <a:rPr lang="de-DE" sz="1400" b="0" i="1" smtClean="0">
                                <a:latin typeface="Cambria Math" panose="02040503050406030204" pitchFamily="18" charset="0"/>
                                <a:cs typeface="Arial" panose="020B0604020202020204" pitchFamily="34" charset="0"/>
                              </a:rPr>
                              <m:t>𝑎</m:t>
                            </m:r>
                          </m:e>
                          <m:sub>
                            <m:r>
                              <a:rPr lang="de-DE" sz="1400" b="0" i="1" smtClean="0">
                                <a:latin typeface="Cambria Math" panose="02040503050406030204" pitchFamily="18" charset="0"/>
                                <a:cs typeface="Arial" panose="020B0604020202020204" pitchFamily="34" charset="0"/>
                              </a:rPr>
                              <m:t>𝑡</m:t>
                            </m:r>
                          </m:sub>
                        </m:sSub>
                      </m:e>
                      <m:e>
                        <m:sSub>
                          <m:sSubPr>
                            <m:ctrlPr>
                              <a:rPr lang="de-DE" sz="1400" b="0" i="1" smtClean="0">
                                <a:latin typeface="Cambria Math" panose="02040503050406030204" pitchFamily="18" charset="0"/>
                                <a:cs typeface="Arial" panose="020B0604020202020204" pitchFamily="34" charset="0"/>
                              </a:rPr>
                            </m:ctrlPr>
                          </m:sSubPr>
                          <m:e>
                            <m:r>
                              <a:rPr lang="de-DE" sz="1400" b="0" i="1" smtClean="0">
                                <a:latin typeface="Cambria Math" panose="02040503050406030204" pitchFamily="18" charset="0"/>
                                <a:cs typeface="Arial" panose="020B0604020202020204" pitchFamily="34" charset="0"/>
                              </a:rPr>
                              <m:t>𝑠</m:t>
                            </m:r>
                          </m:e>
                          <m:sub>
                            <m:r>
                              <a:rPr lang="de-DE" sz="1400" b="0" i="1" smtClean="0">
                                <a:latin typeface="Cambria Math" panose="02040503050406030204" pitchFamily="18" charset="0"/>
                                <a:cs typeface="Arial" panose="020B0604020202020204" pitchFamily="34" charset="0"/>
                              </a:rPr>
                              <m:t>𝑡</m:t>
                            </m:r>
                          </m:sub>
                        </m:sSub>
                      </m:e>
                    </m:d>
                    <m:r>
                      <a:rPr lang="de-DE" sz="1400" b="0" i="1" smtClean="0">
                        <a:latin typeface="Cambria Math" panose="02040503050406030204" pitchFamily="18" charset="0"/>
                        <a:cs typeface="Arial" panose="020B0604020202020204" pitchFamily="34" charset="0"/>
                      </a:rPr>
                      <m:t>≔</m:t>
                    </m:r>
                    <m:f>
                      <m:fPr>
                        <m:ctrlPr>
                          <a:rPr lang="de-DE" sz="1400" b="0" i="1" smtClean="0">
                            <a:latin typeface="Cambria Math" panose="02040503050406030204" pitchFamily="18" charset="0"/>
                            <a:cs typeface="Arial" panose="020B0604020202020204" pitchFamily="34" charset="0"/>
                          </a:rPr>
                        </m:ctrlPr>
                      </m:fPr>
                      <m:num>
                        <m:r>
                          <m:rPr>
                            <m:sty m:val="p"/>
                          </m:rPr>
                          <a:rPr lang="de-DE" sz="1400" b="0" i="1" smtClean="0">
                            <a:latin typeface="Cambria Math" panose="02040503050406030204" pitchFamily="18" charset="0"/>
                            <a:cs typeface="Arial" panose="020B0604020202020204" pitchFamily="34" charset="0"/>
                          </a:rPr>
                          <m:t>exp</m:t>
                        </m:r>
                        <m:d>
                          <m:dPr>
                            <m:ctrlPr>
                              <a:rPr lang="de-DE" sz="1400" b="0" i="1" smtClean="0">
                                <a:latin typeface="Cambria Math" panose="02040503050406030204" pitchFamily="18" charset="0"/>
                                <a:cs typeface="Arial" panose="020B0604020202020204" pitchFamily="34" charset="0"/>
                              </a:rPr>
                            </m:ctrlPr>
                          </m:dPr>
                          <m:e>
                            <m:sSubSup>
                              <m:sSubSupPr>
                                <m:ctrlPr>
                                  <a:rPr lang="de-DE" sz="1400" b="0" i="1" smtClean="0">
                                    <a:latin typeface="Cambria Math" panose="02040503050406030204" pitchFamily="18" charset="0"/>
                                    <a:cs typeface="Arial" panose="020B0604020202020204" pitchFamily="34" charset="0"/>
                                  </a:rPr>
                                </m:ctrlPr>
                              </m:sSubSupPr>
                              <m:e>
                                <m:r>
                                  <a:rPr lang="de-DE" sz="1400" b="0" i="1" smtClean="0">
                                    <a:latin typeface="Cambria Math" panose="02040503050406030204" pitchFamily="18" charset="0"/>
                                    <a:cs typeface="Arial" panose="020B0604020202020204" pitchFamily="34" charset="0"/>
                                  </a:rPr>
                                  <m:t>𝑞</m:t>
                                </m:r>
                              </m:e>
                              <m:sub>
                                <m:r>
                                  <a:rPr lang="de-DE" sz="1400" b="0" i="1" smtClean="0">
                                    <a:latin typeface="Cambria Math" panose="02040503050406030204" pitchFamily="18" charset="0"/>
                                    <a:cs typeface="Arial" panose="020B0604020202020204" pitchFamily="34" charset="0"/>
                                  </a:rPr>
                                  <m:t>𝑡</m:t>
                                </m:r>
                              </m:sub>
                              <m:sup>
                                <m:r>
                                  <a:rPr lang="de-DE" sz="1400" b="0" i="1" smtClean="0">
                                    <a:latin typeface="Cambria Math" panose="02040503050406030204" pitchFamily="18" charset="0"/>
                                    <a:cs typeface="Arial" panose="020B0604020202020204" pitchFamily="34"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e>
                        </m:d>
                      </m:num>
                      <m:den>
                        <m:nary>
                          <m:naryPr>
                            <m:chr m:val="∑"/>
                            <m:supHide m:val="on"/>
                            <m:ctrlPr>
                              <a:rPr lang="de-DE" sz="1400" b="0" i="1" smtClean="0">
                                <a:latin typeface="Cambria Math" panose="02040503050406030204" pitchFamily="18" charset="0"/>
                              </a:rPr>
                            </m:ctrlPr>
                          </m:naryPr>
                          <m:sub>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sub>
                          <m:sup/>
                          <m:e>
                            <m:r>
                              <m:rPr>
                                <m:sty m:val="p"/>
                              </m:rPr>
                              <a:rPr lang="de-DE" sz="1400" i="1">
                                <a:latin typeface="Cambria Math" panose="02040503050406030204" pitchFamily="18" charset="0"/>
                                <a:cs typeface="Arial" panose="020B0604020202020204" pitchFamily="34" charset="0"/>
                              </a:rPr>
                              <m:t>exp</m:t>
                            </m:r>
                            <m:d>
                              <m:dPr>
                                <m:ctrlPr>
                                  <a:rPr lang="de-DE" sz="1400" i="1">
                                    <a:latin typeface="Cambria Math" panose="02040503050406030204" pitchFamily="18" charset="0"/>
                                  </a:rPr>
                                </m:ctrlPr>
                              </m:dPr>
                              <m:e>
                                <m:sSubSup>
                                  <m:sSubSupPr>
                                    <m:ctrlPr>
                                      <a:rPr lang="de-DE" sz="1400" i="1">
                                        <a:latin typeface="Cambria Math" panose="02040503050406030204" pitchFamily="18" charset="0"/>
                                      </a:rPr>
                                    </m:ctrlPr>
                                  </m:sSubSupPr>
                                  <m:e>
                                    <m:r>
                                      <a:rPr lang="de-DE" sz="1400" i="1">
                                        <a:latin typeface="Cambria Math" panose="02040503050406030204" pitchFamily="18" charset="0"/>
                                      </a:rPr>
                                      <m:t>𝑞</m:t>
                                    </m:r>
                                  </m:e>
                                  <m:sub>
                                    <m:r>
                                      <a:rPr lang="de-DE" sz="1400" i="1">
                                        <a:latin typeface="Cambria Math" panose="02040503050406030204" pitchFamily="18" charset="0"/>
                                      </a:rPr>
                                      <m:t>𝑡</m:t>
                                    </m:r>
                                  </m:sub>
                                  <m:sup>
                                    <m:r>
                                      <a:rPr lang="de-DE" sz="1400" i="1">
                                        <a:latin typeface="Cambria Math" panose="02040503050406030204" pitchFamily="18"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e>
                            </m:d>
                          </m:e>
                        </m:nary>
                      </m:den>
                    </m:f>
                    <m:r>
                      <a:rPr lang="de-DE" sz="1400" i="1">
                        <a:latin typeface="Cambria Math" panose="02040503050406030204" pitchFamily="18" charset="0"/>
                      </a:rPr>
                      <m:t>⇒</m:t>
                    </m:r>
                  </m:oMath>
                </a14:m>
                <a:r>
                  <a:rPr lang="de-DE" sz="1400" dirty="0"/>
                  <a:t> </a:t>
                </a:r>
                <a:r>
                  <a:rPr lang="de-DE" sz="1400" dirty="0">
                    <a:latin typeface="Arial" panose="020B0604020202020204" pitchFamily="34" charset="0"/>
                    <a:cs typeface="Arial" panose="020B0604020202020204" pitchFamily="34" charset="0"/>
                  </a:rPr>
                  <a:t>Action as </a:t>
                </a:r>
                <a:r>
                  <a:rPr lang="de-DE" sz="1400" dirty="0" err="1">
                    <a:latin typeface="Arial" panose="020B0604020202020204" pitchFamily="34" charset="0"/>
                    <a:cs typeface="Arial" panose="020B0604020202020204" pitchFamily="34" charset="0"/>
                  </a:rPr>
                  <a:t>noisy</a:t>
                </a:r>
                <a:r>
                  <a:rPr lang="de-DE" sz="1400" dirty="0">
                    <a:latin typeface="Arial" panose="020B0604020202020204" pitchFamily="34" charset="0"/>
                    <a:cs typeface="Arial" panose="020B0604020202020204" pitchFamily="34" charset="0"/>
                  </a:rPr>
                  <a:t> (soft-</a:t>
                </a:r>
                <a:r>
                  <a:rPr lang="de-DE" sz="1400" dirty="0" err="1">
                    <a:latin typeface="Arial" panose="020B0604020202020204" pitchFamily="34" charset="0"/>
                    <a:cs typeface="Arial" panose="020B0604020202020204" pitchFamily="34" charset="0"/>
                  </a:rPr>
                  <a:t>maximizing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decision</a:t>
                </a:r>
                <a:endParaRPr lang="de-DE" sz="1400" dirty="0">
                  <a:latin typeface="Arial" panose="020B0604020202020204" pitchFamily="34" charset="0"/>
                  <a:cs typeface="Arial" panose="020B0604020202020204" pitchFamily="34" charset="0"/>
                </a:endParaRPr>
              </a:p>
            </p:txBody>
          </p:sp>
        </mc:Choice>
        <mc:Fallback xmlns="">
          <p:sp>
            <p:nvSpPr>
              <p:cNvPr id="17" name="Textfeld 16">
                <a:extLst>
                  <a:ext uri="{FF2B5EF4-FFF2-40B4-BE49-F238E27FC236}">
                    <a16:creationId xmlns:a16="http://schemas.microsoft.com/office/drawing/2014/main" id="{DCB9EB60-3274-561C-B418-9225CEB087DF}"/>
                  </a:ext>
                </a:extLst>
              </p:cNvPr>
              <p:cNvSpPr txBox="1">
                <a:spLocks noRot="1" noChangeAspect="1" noMove="1" noResize="1" noEditPoints="1" noAdjustHandles="1" noChangeArrowheads="1" noChangeShapeType="1" noTextEdit="1"/>
              </p:cNvSpPr>
              <p:nvPr/>
            </p:nvSpPr>
            <p:spPr>
              <a:xfrm>
                <a:off x="1571198" y="1380420"/>
                <a:ext cx="6299980" cy="528093"/>
              </a:xfrm>
              <a:prstGeom prst="rect">
                <a:avLst/>
              </a:prstGeom>
              <a:blipFill>
                <a:blip r:embed="rId5"/>
                <a:stretch>
                  <a:fillRect b="-59770"/>
                </a:stretch>
              </a:blipFill>
            </p:spPr>
            <p:txBody>
              <a:bodyPr/>
              <a:lstStyle/>
              <a:p>
                <a:r>
                  <a:rPr lang="de-DE">
                    <a:noFill/>
                  </a:rPr>
                  <a:t> </a:t>
                </a:r>
              </a:p>
            </p:txBody>
          </p:sp>
        </mc:Fallback>
      </mc:AlternateContent>
      <p:sp>
        <p:nvSpPr>
          <p:cNvPr id="19" name="Textfeld 18">
            <a:extLst>
              <a:ext uri="{FF2B5EF4-FFF2-40B4-BE49-F238E27FC236}">
                <a16:creationId xmlns:a16="http://schemas.microsoft.com/office/drawing/2014/main" id="{61627905-10F9-2A03-FE97-7C6DB41C22AE}"/>
              </a:ext>
            </a:extLst>
          </p:cNvPr>
          <p:cNvSpPr txBox="1"/>
          <p:nvPr/>
        </p:nvSpPr>
        <p:spPr>
          <a:xfrm>
            <a:off x="618772" y="1088032"/>
            <a:ext cx="1399720" cy="292388"/>
          </a:xfrm>
          <a:prstGeom prst="rect">
            <a:avLst/>
          </a:prstGeom>
          <a:noFill/>
        </p:spPr>
        <p:txBody>
          <a:bodyPr wrap="square">
            <a:spAutoFit/>
          </a:bodyPr>
          <a:lstStyle/>
          <a:p>
            <a:r>
              <a:rPr lang="de-DE" sz="1300" dirty="0">
                <a:latin typeface="Arial" panose="020B0604020202020204" pitchFamily="34" charset="0"/>
                <a:cs typeface="Arial" panose="020B0604020202020204" pitchFamily="34" charset="0"/>
              </a:rPr>
              <a:t>Data </a:t>
            </a:r>
            <a:r>
              <a:rPr lang="de-DE" sz="1300" dirty="0" err="1">
                <a:latin typeface="Arial" panose="020B0604020202020204" pitchFamily="34" charset="0"/>
                <a:cs typeface="Arial" panose="020B0604020202020204" pitchFamily="34" charset="0"/>
              </a:rPr>
              <a:t>model</a:t>
            </a:r>
            <a:endParaRPr lang="de-DE" sz="1300" dirty="0"/>
          </a:p>
        </p:txBody>
      </p:sp>
      <p:pic>
        <p:nvPicPr>
          <p:cNvPr id="5" name="Grafik 4">
            <a:extLst>
              <a:ext uri="{FF2B5EF4-FFF2-40B4-BE49-F238E27FC236}">
                <a16:creationId xmlns:a16="http://schemas.microsoft.com/office/drawing/2014/main" id="{DB34F578-40DE-7B08-AF49-497A4CBD5D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7059" y="2409781"/>
            <a:ext cx="7931223" cy="899631"/>
          </a:xfrm>
          <a:prstGeom prst="rect">
            <a:avLst/>
          </a:prstGeom>
        </p:spPr>
      </p:pic>
    </p:spTree>
    <p:extLst>
      <p:ext uri="{BB962C8B-B14F-4D97-AF65-F5344CB8AC3E}">
        <p14:creationId xmlns:p14="http://schemas.microsoft.com/office/powerpoint/2010/main" val="2387473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4206E013-74B9-2E90-19ED-A76F5F08090B}"/>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buNone/>
              <a:defRPr sz="975" b="0">
                <a:solidFill>
                  <a:srgbClr val="888888"/>
                </a:solidFill>
                <a:latin typeface="Arial"/>
                <a:ea typeface="Arial"/>
                <a:cs typeface="Arial"/>
              </a:defRPr>
            </a:pPr>
            <a:r>
              <a:rPr sz="975" b="0">
                <a:solidFill>
                  <a:srgbClr val="888888"/>
                </a:solidFill>
                <a:latin typeface="Arial"/>
                <a:ea typeface="Arial"/>
                <a:cs typeface="Arial"/>
              </a:rPr>
              <a:t>9</a:t>
            </a:r>
          </a:p>
        </p:txBody>
      </p:sp>
      <mc:AlternateContent xmlns:mc="http://schemas.openxmlformats.org/markup-compatibility/2006" xmlns:a14="http://schemas.microsoft.com/office/drawing/2010/main">
        <mc:Choice Requires="a14">
          <p:sp>
            <p:nvSpPr>
              <p:cNvPr id="10" name="BIC result">
                <a:extLst>
                  <a:ext uri="{FF2B5EF4-FFF2-40B4-BE49-F238E27FC236}">
                    <a16:creationId xmlns:a16="http://schemas.microsoft.com/office/drawing/2014/main" id="{DBFE0C61-21F8-41EF-8CEA-93A7F5BC0823}"/>
                  </a:ext>
                </a:extLst>
              </p:cNvPr>
              <p:cNvSpPr>
                <a:spLocks noGrp="1"/>
              </p:cNvSpPr>
              <p:nvPr/>
            </p:nvSpPr>
            <p:spPr>
              <a:xfrm>
                <a:off x="932584" y="824933"/>
                <a:ext cx="7810500" cy="361950"/>
              </a:xfrm>
              <a:prstGeom prst="rect">
                <a:avLst/>
              </a:prstGeom>
              <a:noFill/>
              <a:ln w="0">
                <a:noFill/>
              </a:ln>
            </p:spPr>
            <p:txBody>
              <a:bodyPr lIns="0" tIns="0" rIns="0" bIns="0" anchor="ctr">
                <a:normAutofit/>
              </a:bodyPr>
              <a:lstStyle/>
              <a:p>
                <a:pPr marL="114300">
                  <a:spcAft>
                    <a:spcPts val="0"/>
                  </a:spcAft>
                  <a:defRPr sz="1500">
                    <a:solidFill>
                      <a:srgbClr val="111111"/>
                    </a:solidFill>
                    <a:latin typeface="Arial"/>
                    <a:ea typeface="Arial"/>
                    <a:cs typeface="Arial"/>
                  </a:defRPr>
                </a:pPr>
                <a14:m>
                  <m:oMath xmlns:m="http://schemas.openxmlformats.org/officeDocument/2006/math">
                    <m:r>
                      <a:rPr lang="en-US" sz="1300" b="0" i="1" smtClean="0">
                        <a:solidFill>
                          <a:srgbClr val="111111"/>
                        </a:solidFill>
                        <a:latin typeface="Cambria Math" panose="02040503050406030204" pitchFamily="18" charset="0"/>
                        <a:ea typeface="Arial"/>
                        <a:cs typeface="Arial"/>
                      </a:rPr>
                      <m:t>𝒜</m:t>
                    </m:r>
                    <m:r>
                      <a:rPr lang="de-DE" sz="1300" b="0" i="1" smtClean="0">
                        <a:solidFill>
                          <a:srgbClr val="111111"/>
                        </a:solidFill>
                        <a:latin typeface="Cambria Math" panose="02040503050406030204" pitchFamily="18" charset="0"/>
                        <a:ea typeface="Arial"/>
                        <a:cs typeface="Arial"/>
                      </a:rPr>
                      <m:t> </m:t>
                    </m:r>
                  </m:oMath>
                </a14:m>
                <a:r>
                  <a:rPr lang="en-US" sz="1300" dirty="0">
                    <a:solidFill>
                      <a:srgbClr val="111111"/>
                    </a:solidFill>
                    <a:latin typeface="Arial"/>
                    <a:ea typeface="Arial"/>
                    <a:cs typeface="Arial"/>
                  </a:rPr>
                  <a:t>had a higher BIC than a </a:t>
                </a:r>
                <a:r>
                  <a:rPr lang="en-US" sz="1300" dirty="0" err="1">
                    <a:solidFill>
                      <a:srgbClr val="111111"/>
                    </a:solidFill>
                    <a:latin typeface="Arial"/>
                    <a:ea typeface="Arial"/>
                    <a:cs typeface="Arial"/>
                  </a:rPr>
                  <a:t>random</a:t>
                </a:r>
                <a:r>
                  <a:rPr lang="en-US" sz="1300" dirty="0">
                    <a:solidFill>
                      <a:srgbClr val="111111"/>
                    </a:solidFill>
                    <a:latin typeface="Arial"/>
                    <a:ea typeface="Arial"/>
                    <a:cs typeface="Arial"/>
                  </a:rPr>
                  <a:t> </a:t>
                </a:r>
                <a:r>
                  <a:rPr lang="en-US" sz="1300" dirty="0" err="1">
                    <a:solidFill>
                      <a:srgbClr val="111111"/>
                    </a:solidFill>
                    <a:latin typeface="Arial"/>
                    <a:ea typeface="Arial"/>
                    <a:cs typeface="Arial"/>
                  </a:rPr>
                  <a:t>choice</a:t>
                </a:r>
                <a:r>
                  <a:rPr lang="en-US" sz="1300" dirty="0">
                    <a:solidFill>
                      <a:srgbClr val="111111"/>
                    </a:solidFill>
                    <a:latin typeface="Arial"/>
                    <a:ea typeface="Arial"/>
                    <a:cs typeface="Arial"/>
                  </a:rPr>
                  <a:t> </a:t>
                </a:r>
                <a:r>
                  <a:rPr lang="en-US" sz="1300" dirty="0" err="1">
                    <a:solidFill>
                      <a:srgbClr val="111111"/>
                    </a:solidFill>
                    <a:latin typeface="Arial"/>
                    <a:ea typeface="Arial"/>
                    <a:cs typeface="Arial"/>
                  </a:rPr>
                  <a:t>model</a:t>
                </a:r>
                <a:r>
                  <a:rPr lang="en-US" sz="1300" dirty="0">
                    <a:solidFill>
                      <a:srgbClr val="111111"/>
                    </a:solidFill>
                    <a:latin typeface="Arial"/>
                    <a:ea typeface="Arial"/>
                    <a:cs typeface="Arial"/>
                  </a:rPr>
                  <a:t> for all 49 participants (ΔBIC: 475.19 to 1374.70)</a:t>
                </a:r>
                <a:endParaRPr lang="de-DE" sz="1300" dirty="0">
                  <a:solidFill>
                    <a:srgbClr val="111111"/>
                  </a:solidFill>
                  <a:latin typeface="Arial"/>
                  <a:ea typeface="Arial"/>
                  <a:cs typeface="Arial"/>
                </a:endParaRPr>
              </a:p>
            </p:txBody>
          </p:sp>
        </mc:Choice>
        <mc:Fallback xmlns="">
          <p:sp>
            <p:nvSpPr>
              <p:cNvPr id="10" name="BIC result">
                <a:extLst>
                  <a:ext uri="{FF2B5EF4-FFF2-40B4-BE49-F238E27FC236}">
                    <a16:creationId xmlns:a16="http://schemas.microsoft.com/office/drawing/2014/main" id="{DBFE0C61-21F8-41EF-8CEA-93A7F5BC0823}"/>
                  </a:ext>
                </a:extLst>
              </p:cNvPr>
              <p:cNvSpPr>
                <a:spLocks noGrp="1" noRot="1" noChangeAspect="1" noMove="1" noResize="1" noEditPoints="1" noAdjustHandles="1" noChangeArrowheads="1" noChangeShapeType="1" noTextEdit="1"/>
              </p:cNvSpPr>
              <p:nvPr/>
            </p:nvSpPr>
            <p:spPr>
              <a:xfrm>
                <a:off x="932584" y="824933"/>
                <a:ext cx="7810500" cy="361950"/>
              </a:xfrm>
              <a:prstGeom prst="rect">
                <a:avLst/>
              </a:prstGeom>
              <a:blipFill>
                <a:blip r:embed="rId3"/>
                <a:stretch>
                  <a:fillRect b="-3333"/>
                </a:stretch>
              </a:blipFill>
              <a:ln w="0">
                <a:noFill/>
              </a:ln>
            </p:spPr>
            <p:txBody>
              <a:bodyPr/>
              <a:lstStyle/>
              <a:p>
                <a:r>
                  <a:rPr lang="de-DE">
                    <a:noFill/>
                  </a:rPr>
                  <a:t> </a:t>
                </a:r>
              </a:p>
            </p:txBody>
          </p:sp>
        </mc:Fallback>
      </mc:AlternateContent>
      <p:pic>
        <p:nvPicPr>
          <p:cNvPr id="3" name="Grafik 2">
            <a:extLst>
              <a:ext uri="{FF2B5EF4-FFF2-40B4-BE49-F238E27FC236}">
                <a16:creationId xmlns:a16="http://schemas.microsoft.com/office/drawing/2014/main" id="{A034D822-A6D0-08CF-B814-810C8B8E30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8064" y="1159305"/>
            <a:ext cx="5399661" cy="3528596"/>
          </a:xfrm>
          <a:prstGeom prst="rect">
            <a:avLst/>
          </a:prstGeom>
        </p:spPr>
      </p:pic>
      <p:sp>
        <p:nvSpPr>
          <p:cNvPr id="13" name="Textfeld 12">
            <a:extLst>
              <a:ext uri="{FF2B5EF4-FFF2-40B4-BE49-F238E27FC236}">
                <a16:creationId xmlns:a16="http://schemas.microsoft.com/office/drawing/2014/main" id="{6005D5E2-A5C1-DC29-9984-CDA360627B11}"/>
              </a:ext>
            </a:extLst>
          </p:cNvPr>
          <p:cNvSpPr txBox="1"/>
          <p:nvPr/>
        </p:nvSpPr>
        <p:spPr>
          <a:xfrm>
            <a:off x="408708" y="1606695"/>
            <a:ext cx="2722419" cy="955518"/>
          </a:xfrm>
          <a:prstGeom prst="rect">
            <a:avLst/>
          </a:prstGeom>
          <a:noFill/>
        </p:spPr>
        <p:txBody>
          <a:bodyPr wrap="square" rtlCol="0">
            <a:spAutoFit/>
          </a:bodyPr>
          <a:lstStyle/>
          <a:p>
            <a:pPr algn="ctr">
              <a:lnSpc>
                <a:spcPct val="150000"/>
              </a:lnSpc>
            </a:pPr>
            <a:r>
              <a:rPr lang="de-DE" sz="1300" dirty="0" err="1">
                <a:latin typeface="Arial" panose="020B0604020202020204" pitchFamily="34" charset="0"/>
                <a:cs typeface="Arial" panose="020B0604020202020204" pitchFamily="34" charset="0"/>
              </a:rPr>
              <a:t>Sequential</a:t>
            </a:r>
            <a:r>
              <a:rPr lang="de-DE" sz="1300" dirty="0">
                <a:latin typeface="Arial" panose="020B0604020202020204" pitchFamily="34" charset="0"/>
                <a:cs typeface="Arial" panose="020B0604020202020204" pitchFamily="34" charset="0"/>
              </a:rPr>
              <a:t> </a:t>
            </a:r>
            <a:r>
              <a:rPr lang="de-DE" sz="1300" dirty="0" err="1">
                <a:latin typeface="Arial" panose="020B0604020202020204" pitchFamily="34" charset="0"/>
                <a:cs typeface="Arial" panose="020B0604020202020204" pitchFamily="34" charset="0"/>
              </a:rPr>
              <a:t>conditional</a:t>
            </a:r>
            <a:endParaRPr lang="de-DE" sz="1300" dirty="0">
              <a:latin typeface="Arial" panose="020B0604020202020204" pitchFamily="34" charset="0"/>
              <a:cs typeface="Arial" panose="020B0604020202020204" pitchFamily="34" charset="0"/>
            </a:endParaRPr>
          </a:p>
          <a:p>
            <a:pPr algn="ctr">
              <a:lnSpc>
                <a:spcPct val="150000"/>
              </a:lnSpc>
            </a:pPr>
            <a:r>
              <a:rPr lang="de-DE" sz="1300" dirty="0">
                <a:latin typeface="Arial" panose="020B0604020202020204" pitchFamily="34" charset="0"/>
                <a:cs typeface="Arial" panose="020B0604020202020204" pitchFamily="34" charset="0"/>
              </a:rPr>
              <a:t>log </a:t>
            </a:r>
            <a:r>
              <a:rPr lang="de-DE" sz="1300" dirty="0" err="1">
                <a:latin typeface="Arial" panose="020B0604020202020204" pitchFamily="34" charset="0"/>
                <a:cs typeface="Arial" panose="020B0604020202020204" pitchFamily="34" charset="0"/>
              </a:rPr>
              <a:t>likelihood</a:t>
            </a:r>
            <a:r>
              <a:rPr lang="de-DE" sz="1300" dirty="0">
                <a:latin typeface="Arial" panose="020B0604020202020204" pitchFamily="34" charset="0"/>
                <a:cs typeface="Arial" panose="020B0604020202020204" pitchFamily="34" charset="0"/>
              </a:rPr>
              <a:t> </a:t>
            </a:r>
            <a:r>
              <a:rPr lang="de-DE" sz="1300" dirty="0" err="1">
                <a:latin typeface="Arial" panose="020B0604020202020204" pitchFamily="34" charset="0"/>
                <a:cs typeface="Arial" panose="020B0604020202020204" pitchFamily="34" charset="0"/>
              </a:rPr>
              <a:t>Surfaces</a:t>
            </a:r>
            <a:endParaRPr lang="de-DE" sz="1300" dirty="0">
              <a:latin typeface="Arial" panose="020B0604020202020204" pitchFamily="34" charset="0"/>
              <a:cs typeface="Arial" panose="020B0604020202020204" pitchFamily="34" charset="0"/>
            </a:endParaRPr>
          </a:p>
          <a:p>
            <a:pPr algn="ctr">
              <a:lnSpc>
                <a:spcPct val="150000"/>
              </a:lnSpc>
            </a:pPr>
            <a:r>
              <a:rPr lang="de-DE" sz="1300" dirty="0">
                <a:latin typeface="Arial" panose="020B0604020202020204" pitchFamily="34" charset="0"/>
                <a:cs typeface="Arial" panose="020B0604020202020204" pitchFamily="34" charset="0"/>
              </a:rPr>
              <a:t>(N = 3)</a:t>
            </a:r>
          </a:p>
        </p:txBody>
      </p:sp>
      <p:sp>
        <p:nvSpPr>
          <p:cNvPr id="15" name="Textfeld 14">
            <a:extLst>
              <a:ext uri="{FF2B5EF4-FFF2-40B4-BE49-F238E27FC236}">
                <a16:creationId xmlns:a16="http://schemas.microsoft.com/office/drawing/2014/main" id="{26FD7E59-7AE2-CECB-1922-99984A8DA1F8}"/>
              </a:ext>
            </a:extLst>
          </p:cNvPr>
          <p:cNvSpPr txBox="1"/>
          <p:nvPr/>
        </p:nvSpPr>
        <p:spPr>
          <a:xfrm>
            <a:off x="569767" y="3101149"/>
            <a:ext cx="2400300" cy="955518"/>
          </a:xfrm>
          <a:prstGeom prst="rect">
            <a:avLst/>
          </a:prstGeom>
          <a:noFill/>
        </p:spPr>
        <p:txBody>
          <a:bodyPr wrap="square" rtlCol="0">
            <a:spAutoFit/>
          </a:bodyPr>
          <a:lstStyle/>
          <a:p>
            <a:pPr algn="ctr">
              <a:lnSpc>
                <a:spcPct val="150000"/>
              </a:lnSpc>
            </a:pPr>
            <a:r>
              <a:rPr lang="de-DE" sz="1300" dirty="0">
                <a:latin typeface="Arial" panose="020B0604020202020204" pitchFamily="34" charset="0"/>
                <a:cs typeface="Arial" panose="020B0604020202020204" pitchFamily="34" charset="0"/>
              </a:rPr>
              <a:t>Parameter </a:t>
            </a:r>
            <a:r>
              <a:rPr lang="de-DE" sz="1300" dirty="0" err="1">
                <a:latin typeface="Arial" panose="020B0604020202020204" pitchFamily="34" charset="0"/>
                <a:cs typeface="Arial" panose="020B0604020202020204" pitchFamily="34" charset="0"/>
              </a:rPr>
              <a:t>estimate</a:t>
            </a:r>
            <a:endParaRPr lang="de-DE" sz="1300" dirty="0">
              <a:latin typeface="Arial" panose="020B0604020202020204" pitchFamily="34" charset="0"/>
              <a:cs typeface="Arial" panose="020B0604020202020204" pitchFamily="34" charset="0"/>
            </a:endParaRPr>
          </a:p>
          <a:p>
            <a:pPr algn="ctr">
              <a:lnSpc>
                <a:spcPct val="150000"/>
              </a:lnSpc>
            </a:pPr>
            <a:r>
              <a:rPr lang="de-DE" sz="1300" dirty="0" err="1">
                <a:latin typeface="Arial" panose="020B0604020202020204" pitchFamily="34" charset="0"/>
                <a:cs typeface="Arial" panose="020B0604020202020204" pitchFamily="34" charset="0"/>
              </a:rPr>
              <a:t>projections</a:t>
            </a:r>
            <a:endParaRPr lang="de-DE" sz="1300" dirty="0">
              <a:latin typeface="Arial" panose="020B0604020202020204" pitchFamily="34" charset="0"/>
              <a:cs typeface="Arial" panose="020B0604020202020204" pitchFamily="34" charset="0"/>
            </a:endParaRPr>
          </a:p>
          <a:p>
            <a:pPr algn="ctr">
              <a:lnSpc>
                <a:spcPct val="150000"/>
              </a:lnSpc>
            </a:pPr>
            <a:r>
              <a:rPr lang="de-DE" sz="1300" dirty="0">
                <a:latin typeface="Arial" panose="020B0604020202020204" pitchFamily="34" charset="0"/>
                <a:cs typeface="Arial" panose="020B0604020202020204" pitchFamily="34" charset="0"/>
              </a:rPr>
              <a:t>(N = 49)</a:t>
            </a:r>
          </a:p>
        </p:txBody>
      </p:sp>
      <p:sp>
        <p:nvSpPr>
          <p:cNvPr id="16" name="Titel 1">
            <a:extLst>
              <a:ext uri="{FF2B5EF4-FFF2-40B4-BE49-F238E27FC236}">
                <a16:creationId xmlns:a16="http://schemas.microsoft.com/office/drawing/2014/main" id="{B18F3487-45CC-06B7-B5F2-7C0048AFFBEE}"/>
              </a:ext>
            </a:extLst>
          </p:cNvPr>
          <p:cNvSpPr>
            <a:spLocks noGrp="1"/>
          </p:cNvSpPr>
          <p:nvPr>
            <p:ph type="title"/>
          </p:nvPr>
        </p:nvSpPr>
        <p:spPr>
          <a:xfrm>
            <a:off x="755577" y="205979"/>
            <a:ext cx="7931223" cy="857250"/>
          </a:xfrm>
        </p:spPr>
        <p:txBody>
          <a:bodyPr>
            <a:normAutofit/>
          </a:bodyPr>
          <a:lstStyle/>
          <a:p>
            <a:r>
              <a:rPr lang="de-DE" sz="2200" b="0" dirty="0"/>
              <a:t>Model </a:t>
            </a:r>
            <a:r>
              <a:rPr lang="de-DE" sz="2200" b="0" dirty="0" err="1"/>
              <a:t>comparison</a:t>
            </a:r>
            <a:r>
              <a:rPr lang="de-DE" sz="2200" b="0" dirty="0"/>
              <a:t> and </a:t>
            </a:r>
            <a:r>
              <a:rPr lang="de-DE" sz="2200" b="0" dirty="0" err="1"/>
              <a:t>parameter</a:t>
            </a:r>
            <a:r>
              <a:rPr lang="de-DE" sz="2200" b="0" dirty="0"/>
              <a:t> </a:t>
            </a:r>
            <a:r>
              <a:rPr lang="de-DE" sz="2200" b="0" dirty="0" err="1"/>
              <a:t>estimates</a:t>
            </a:r>
            <a:endParaRPr lang="de-DE" sz="2200" b="0" dirty="0"/>
          </a:p>
        </p:txBody>
      </p:sp>
    </p:spTree>
    <p:extLst>
      <p:ext uri="{BB962C8B-B14F-4D97-AF65-F5344CB8AC3E}">
        <p14:creationId xmlns:p14="http://schemas.microsoft.com/office/powerpoint/2010/main" val="2721985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D4A93424-992C-949A-F2A2-9FC3469513C7}"/>
              </a:ext>
            </a:extLst>
          </p:cNvPr>
          <p:cNvSpPr txBox="1"/>
          <p:nvPr/>
        </p:nvSpPr>
        <p:spPr>
          <a:xfrm>
            <a:off x="496586" y="2241778"/>
            <a:ext cx="4812026"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 Package 2.2 | Agent-</a:t>
            </a:r>
            <a:r>
              <a:rPr lang="de-DE" sz="1400" dirty="0" err="1">
                <a:latin typeface="Arial" panose="020B0604020202020204" pitchFamily="34" charset="0"/>
                <a:cs typeface="Arial" panose="020B0604020202020204" pitchFamily="34" charset="0"/>
              </a:rPr>
              <a:t>based</a:t>
            </a:r>
            <a:r>
              <a:rPr lang="de-DE" sz="1400" dirty="0">
                <a:latin typeface="Arial" panose="020B0604020202020204" pitchFamily="34" charset="0"/>
                <a:cs typeface="Arial" panose="020B0604020202020204" pitchFamily="34" charset="0"/>
              </a:rPr>
              <a:t> behavioral </a:t>
            </a:r>
            <a:r>
              <a:rPr lang="de-DE" sz="1400" dirty="0" err="1">
                <a:latin typeface="Arial" panose="020B0604020202020204" pitchFamily="34" charset="0"/>
                <a:cs typeface="Arial" panose="020B0604020202020204" pitchFamily="34" charset="0"/>
              </a:rPr>
              <a:t>modeling</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Statistical </a:t>
            </a:r>
            <a:r>
              <a:rPr lang="de-DE" sz="1400" dirty="0" err="1">
                <a:latin typeface="Arial" panose="020B0604020202020204" pitchFamily="34" charset="0"/>
                <a:cs typeface="Arial" panose="020B0604020202020204" pitchFamily="34" charset="0"/>
              </a:rPr>
              <a:t>model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embedding</a:t>
            </a:r>
            <a:r>
              <a:rPr lang="de-DE" sz="1400" dirty="0">
                <a:latin typeface="Arial" panose="020B0604020202020204" pitchFamily="34" charset="0"/>
                <a:cs typeface="Arial" panose="020B0604020202020204" pitchFamily="34" charset="0"/>
              </a:rPr>
              <a:t> and </a:t>
            </a:r>
            <a:r>
              <a:rPr lang="de-DE" sz="1400" dirty="0" err="1">
                <a:latin typeface="Arial" panose="020B0604020202020204" pitchFamily="34" charset="0"/>
                <a:cs typeface="Arial" panose="020B0604020202020204" pitchFamily="34" charset="0"/>
              </a:rPr>
              <a:t>inference</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Model and </a:t>
            </a:r>
            <a:r>
              <a:rPr lang="de-DE" sz="1400" dirty="0" err="1">
                <a:latin typeface="Arial" panose="020B0604020202020204" pitchFamily="34" charset="0"/>
                <a:cs typeface="Arial" panose="020B0604020202020204" pitchFamily="34" charset="0"/>
              </a:rPr>
              <a:t>parameter</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recovery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validation</a:t>
            </a:r>
            <a:endParaRPr lang="de-DE" sz="1400" dirty="0">
              <a:latin typeface="Arial" panose="020B0604020202020204" pitchFamily="34" charset="0"/>
              <a:cs typeface="Arial" panose="020B0604020202020204" pitchFamily="34" charset="0"/>
            </a:endParaRPr>
          </a:p>
        </p:txBody>
      </p:sp>
      <p:sp>
        <p:nvSpPr>
          <p:cNvPr id="2" name="Titel 1">
            <a:extLst>
              <a:ext uri="{FF2B5EF4-FFF2-40B4-BE49-F238E27FC236}">
                <a16:creationId xmlns:a16="http://schemas.microsoft.com/office/drawing/2014/main" id="{8C796E9C-8FCE-97F3-235C-AB7CC0047404}"/>
              </a:ext>
            </a:extLst>
          </p:cNvPr>
          <p:cNvSpPr>
            <a:spLocks noGrp="1"/>
          </p:cNvSpPr>
          <p:nvPr>
            <p:ph type="title"/>
          </p:nvPr>
        </p:nvSpPr>
        <p:spPr/>
        <p:txBody>
          <a:bodyPr>
            <a:normAutofit/>
          </a:bodyPr>
          <a:lstStyle/>
          <a:p>
            <a:r>
              <a:rPr lang="de-DE" sz="2600" b="0" err="1">
                <a:latin typeface="Arial"/>
                <a:cs typeface="Arial"/>
              </a:rPr>
              <a:t>Theoretical</a:t>
            </a:r>
            <a:r>
              <a:rPr lang="de-DE" sz="2600" b="0">
                <a:latin typeface="Arial"/>
                <a:cs typeface="Arial"/>
              </a:rPr>
              <a:t> </a:t>
            </a:r>
            <a:r>
              <a:rPr lang="de-DE" sz="2600" b="0" err="1">
                <a:latin typeface="Arial"/>
                <a:cs typeface="Arial"/>
              </a:rPr>
              <a:t>work</a:t>
            </a:r>
            <a:r>
              <a:rPr lang="de-DE" sz="2600" b="0">
                <a:latin typeface="Arial"/>
                <a:cs typeface="Arial"/>
              </a:rPr>
              <a:t> </a:t>
            </a:r>
            <a:r>
              <a:rPr lang="de-DE" sz="2600" b="0" err="1">
                <a:latin typeface="Arial"/>
                <a:cs typeface="Arial"/>
              </a:rPr>
              <a:t>packages</a:t>
            </a:r>
            <a:endParaRPr lang="de-DE" sz="2600" b="0">
              <a:latin typeface="Arial"/>
              <a:cs typeface="Arial"/>
            </a:endParaRPr>
          </a:p>
        </p:txBody>
      </p:sp>
      <p:sp>
        <p:nvSpPr>
          <p:cNvPr id="4" name="Foliennummernplatzhalter 3">
            <a:extLst>
              <a:ext uri="{FF2B5EF4-FFF2-40B4-BE49-F238E27FC236}">
                <a16:creationId xmlns:a16="http://schemas.microsoft.com/office/drawing/2014/main" id="{F2188B60-43E7-25FA-0477-F9CFB0938E86}"/>
              </a:ext>
            </a:extLst>
          </p:cNvPr>
          <p:cNvSpPr>
            <a:spLocks noGrp="1"/>
          </p:cNvSpPr>
          <p:nvPr>
            <p:ph type="sldNum" sz="quarter" idx="12"/>
          </p:nvPr>
        </p:nvSpPr>
        <p:spPr/>
        <p:txBody>
          <a:bodyPr/>
          <a:lstStyle/>
          <a:p>
            <a:fld id="{5CD88B4E-D815-417B-99FD-41D66E5C06D4}" type="slidenum">
              <a:rPr lang="de-DE" smtClean="0">
                <a:latin typeface="Arial"/>
                <a:cs typeface="Arial"/>
              </a:rPr>
              <a:pPr/>
              <a:t>20</a:t>
            </a:fld>
            <a:endParaRPr lang="de-DE">
              <a:latin typeface="Arial"/>
              <a:cs typeface="Arial"/>
            </a:endParaRPr>
          </a:p>
        </p:txBody>
      </p:sp>
      <p:sp>
        <p:nvSpPr>
          <p:cNvPr id="10" name="Textfeld 9">
            <a:extLst>
              <a:ext uri="{FF2B5EF4-FFF2-40B4-BE49-F238E27FC236}">
                <a16:creationId xmlns:a16="http://schemas.microsoft.com/office/drawing/2014/main" id="{CB6D906D-F193-6F1C-A21B-9DDF0E2A540F}"/>
              </a:ext>
            </a:extLst>
          </p:cNvPr>
          <p:cNvSpPr txBox="1"/>
          <p:nvPr/>
        </p:nvSpPr>
        <p:spPr>
          <a:xfrm>
            <a:off x="496586" y="1063229"/>
            <a:ext cx="4812025"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 Package 2.1 | Offline and online rational </a:t>
            </a:r>
            <a:r>
              <a:rPr lang="de-DE" sz="1400" dirty="0" err="1">
                <a:latin typeface="Arial" panose="020B0604020202020204" pitchFamily="34" charset="0"/>
                <a:cs typeface="Arial" panose="020B0604020202020204" pitchFamily="34" charset="0"/>
              </a:rPr>
              <a:t>analysis</a:t>
            </a:r>
            <a:r>
              <a:rPr lang="de-DE" sz="1400" dirty="0">
                <a:latin typeface="Arial" panose="020B0604020202020204" pitchFamily="34" charset="0"/>
                <a:cs typeface="Arial" panose="020B0604020202020204" pitchFamily="34" charset="0"/>
              </a:rPr>
              <a:t>  </a:t>
            </a: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Error- and </a:t>
            </a:r>
            <a:r>
              <a:rPr lang="de-DE" sz="1400" dirty="0" err="1">
                <a:latin typeface="Arial" panose="020B0604020202020204" pitchFamily="34" charset="0"/>
                <a:cs typeface="Arial" panose="020B0604020202020204" pitchFamily="34" charset="0"/>
              </a:rPr>
              <a:t>reward-sensitivity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parameterization</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Temporal, </a:t>
            </a:r>
            <a:r>
              <a:rPr lang="de-DE" sz="1400" dirty="0" err="1">
                <a:latin typeface="Arial" panose="020B0604020202020204" pitchFamily="34" charset="0"/>
                <a:cs typeface="Arial" panose="020B0604020202020204" pitchFamily="34" charset="0"/>
              </a:rPr>
              <a:t>hierarchical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concurrent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characteristics</a:t>
            </a:r>
            <a:endParaRPr lang="de-DE" sz="1400" dirty="0">
              <a:latin typeface="Arial" panose="020B0604020202020204" pitchFamily="34" charset="0"/>
              <a:cs typeface="Arial" panose="020B0604020202020204" pitchFamily="34" charset="0"/>
            </a:endParaRPr>
          </a:p>
        </p:txBody>
      </p:sp>
      <p:sp>
        <p:nvSpPr>
          <p:cNvPr id="6" name="Textfeld 5">
            <a:extLst>
              <a:ext uri="{FF2B5EF4-FFF2-40B4-BE49-F238E27FC236}">
                <a16:creationId xmlns:a16="http://schemas.microsoft.com/office/drawing/2014/main" id="{59E6FD6A-B703-C7C3-4124-7B661FDF6CC9}"/>
              </a:ext>
            </a:extLst>
          </p:cNvPr>
          <p:cNvSpPr txBox="1"/>
          <p:nvPr/>
        </p:nvSpPr>
        <p:spPr>
          <a:xfrm>
            <a:off x="496586" y="3406373"/>
            <a:ext cx="6425603"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 Package 2.3 | ERN and FRN </a:t>
            </a:r>
            <a:r>
              <a:rPr lang="de-DE" sz="1400" dirty="0" err="1">
                <a:latin typeface="Arial" panose="020B0604020202020204" pitchFamily="34" charset="0"/>
                <a:cs typeface="Arial" panose="020B0604020202020204" pitchFamily="34" charset="0"/>
              </a:rPr>
              <a:t>integration</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err="1">
                <a:latin typeface="Arial" panose="020B0604020202020204" pitchFamily="34" charset="0"/>
                <a:cs typeface="Arial" panose="020B0604020202020204" pitchFamily="34" charset="0"/>
              </a:rPr>
              <a:t>Neural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mass</a:t>
            </a:r>
            <a:r>
              <a:rPr lang="de-DE" sz="1400" dirty="0">
                <a:latin typeface="Arial" panose="020B0604020202020204" pitchFamily="34" charset="0"/>
                <a:cs typeface="Arial" panose="020B0604020202020204" pitchFamily="34" charset="0"/>
              </a:rPr>
              <a:t> and EEG </a:t>
            </a:r>
            <a:r>
              <a:rPr lang="de-DE" sz="1400" dirty="0" err="1">
                <a:latin typeface="Arial" panose="020B0604020202020204" pitchFamily="34" charset="0"/>
                <a:cs typeface="Arial" panose="020B0604020202020204" pitchFamily="34" charset="0"/>
              </a:rPr>
              <a:t>forward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model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augmentation</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Error/</a:t>
            </a:r>
            <a:r>
              <a:rPr lang="de-DE" sz="1400" dirty="0" err="1">
                <a:latin typeface="Arial" panose="020B0604020202020204" pitchFamily="34" charset="0"/>
                <a:cs typeface="Arial" panose="020B0604020202020204" pitchFamily="34" charset="0"/>
              </a:rPr>
              <a:t>reward</a:t>
            </a:r>
            <a:r>
              <a:rPr lang="de-DE" sz="1400" dirty="0">
                <a:latin typeface="Arial" panose="020B0604020202020204" pitchFamily="34" charset="0"/>
                <a:cs typeface="Arial" panose="020B0604020202020204" pitchFamily="34" charset="0"/>
              </a:rPr>
              <a:t> index-</a:t>
            </a:r>
            <a:r>
              <a:rPr lang="de-DE" sz="1400" dirty="0" err="1">
                <a:latin typeface="Arial" panose="020B0604020202020204" pitchFamily="34" charset="0"/>
                <a:cs typeface="Arial" panose="020B0604020202020204" pitchFamily="34" charset="0"/>
              </a:rPr>
              <a:t>dependent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effective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connectivity</a:t>
            </a:r>
            <a:endParaRPr lang="de-DE" sz="1400" dirty="0">
              <a:latin typeface="Arial" panose="020B0604020202020204" pitchFamily="34" charset="0"/>
              <a:cs typeface="Arial" panose="020B0604020202020204" pitchFamily="34" charset="0"/>
            </a:endParaRPr>
          </a:p>
        </p:txBody>
      </p:sp>
      <p:sp>
        <p:nvSpPr>
          <p:cNvPr id="11" name="Rechteck: abgerundete Ecken 10">
            <a:extLst>
              <a:ext uri="{FF2B5EF4-FFF2-40B4-BE49-F238E27FC236}">
                <a16:creationId xmlns:a16="http://schemas.microsoft.com/office/drawing/2014/main" id="{7F6470BF-8274-3BDF-1435-7AE59585704D}"/>
              </a:ext>
            </a:extLst>
          </p:cNvPr>
          <p:cNvSpPr/>
          <p:nvPr/>
        </p:nvSpPr>
        <p:spPr>
          <a:xfrm>
            <a:off x="5104903" y="2571750"/>
            <a:ext cx="1032936" cy="437783"/>
          </a:xfrm>
          <a:prstGeom prst="roundRect">
            <a:avLst/>
          </a:prstGeom>
          <a:solidFill>
            <a:srgbClr val="F6D9D7"/>
          </a:solidFill>
          <a:ln>
            <a:solidFill>
              <a:srgbClr val="D66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Tübingen</a:t>
            </a:r>
            <a:endParaRPr lang="en-US" sz="1000">
              <a:solidFill>
                <a:schemeClr val="tx1"/>
              </a:solidFill>
              <a:latin typeface="Arial" panose="020B0604020202020204" pitchFamily="34" charset="0"/>
              <a:cs typeface="Arial" panose="020B0604020202020204" pitchFamily="34" charset="0"/>
            </a:endParaRPr>
          </a:p>
        </p:txBody>
      </p:sp>
      <p:sp>
        <p:nvSpPr>
          <p:cNvPr id="13" name="Rechteck: abgerundete Ecken 12">
            <a:extLst>
              <a:ext uri="{FF2B5EF4-FFF2-40B4-BE49-F238E27FC236}">
                <a16:creationId xmlns:a16="http://schemas.microsoft.com/office/drawing/2014/main" id="{0650930A-4016-8846-548F-473400007458}"/>
              </a:ext>
            </a:extLst>
          </p:cNvPr>
          <p:cNvSpPr/>
          <p:nvPr/>
        </p:nvSpPr>
        <p:spPr>
          <a:xfrm>
            <a:off x="5004049" y="1322045"/>
            <a:ext cx="1088063" cy="447761"/>
          </a:xfrm>
          <a:prstGeom prst="roundRect">
            <a:avLst/>
          </a:prstGeom>
          <a:solidFill>
            <a:srgbClr val="CFE2F3"/>
          </a:solidFill>
          <a:ln>
            <a:solidFill>
              <a:srgbClr val="0B79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Köln</a:t>
            </a:r>
            <a:endParaRPr lang="en-US" sz="1000">
              <a:solidFill>
                <a:schemeClr val="tx1"/>
              </a:solidFill>
              <a:latin typeface="Arial" panose="020B0604020202020204" pitchFamily="34" charset="0"/>
              <a:cs typeface="Arial" panose="020B0604020202020204" pitchFamily="34" charset="0"/>
            </a:endParaRPr>
          </a:p>
        </p:txBody>
      </p:sp>
      <p:pic>
        <p:nvPicPr>
          <p:cNvPr id="14" name="Grafik 13" descr="Computer Silhouette">
            <a:extLst>
              <a:ext uri="{FF2B5EF4-FFF2-40B4-BE49-F238E27FC236}">
                <a16:creationId xmlns:a16="http://schemas.microsoft.com/office/drawing/2014/main" id="{B828AC9A-9B23-396B-3092-755A928100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45071" y="2342058"/>
            <a:ext cx="914400" cy="914400"/>
          </a:xfrm>
          <a:prstGeom prst="rect">
            <a:avLst/>
          </a:prstGeom>
        </p:spPr>
      </p:pic>
      <p:pic>
        <p:nvPicPr>
          <p:cNvPr id="16" name="Grafik 15" descr="Kopf mit Zahnrädern Silhouette">
            <a:extLst>
              <a:ext uri="{FF2B5EF4-FFF2-40B4-BE49-F238E27FC236}">
                <a16:creationId xmlns:a16="http://schemas.microsoft.com/office/drawing/2014/main" id="{D28C15D5-8573-0E72-0E4E-728AB5015C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85415" y="1225211"/>
            <a:ext cx="857250" cy="857250"/>
          </a:xfrm>
          <a:prstGeom prst="rect">
            <a:avLst/>
          </a:prstGeom>
        </p:spPr>
      </p:pic>
      <p:pic>
        <p:nvPicPr>
          <p:cNvPr id="24" name="Grafik 23">
            <a:extLst>
              <a:ext uri="{FF2B5EF4-FFF2-40B4-BE49-F238E27FC236}">
                <a16:creationId xmlns:a16="http://schemas.microsoft.com/office/drawing/2014/main" id="{3BCC8E38-AC47-7BA7-04B9-07D136ED4CA7}"/>
              </a:ext>
            </a:extLst>
          </p:cNvPr>
          <p:cNvPicPr>
            <a:picLocks noChangeAspect="1"/>
          </p:cNvPicPr>
          <p:nvPr/>
        </p:nvPicPr>
        <p:blipFill>
          <a:blip r:embed="rId5"/>
          <a:stretch>
            <a:fillRect/>
          </a:stretch>
        </p:blipFill>
        <p:spPr>
          <a:xfrm>
            <a:off x="7265245" y="1444860"/>
            <a:ext cx="1498216" cy="463210"/>
          </a:xfrm>
          <a:prstGeom prst="rect">
            <a:avLst/>
          </a:prstGeom>
        </p:spPr>
      </p:pic>
      <p:pic>
        <p:nvPicPr>
          <p:cNvPr id="26" name="Grafik 25">
            <a:extLst>
              <a:ext uri="{FF2B5EF4-FFF2-40B4-BE49-F238E27FC236}">
                <a16:creationId xmlns:a16="http://schemas.microsoft.com/office/drawing/2014/main" id="{7A738835-00FC-DC65-0639-5378B75545D0}"/>
              </a:ext>
            </a:extLst>
          </p:cNvPr>
          <p:cNvPicPr>
            <a:picLocks noChangeAspect="1"/>
          </p:cNvPicPr>
          <p:nvPr/>
        </p:nvPicPr>
        <p:blipFill>
          <a:blip r:embed="rId6"/>
          <a:stretch>
            <a:fillRect/>
          </a:stretch>
        </p:blipFill>
        <p:spPr>
          <a:xfrm>
            <a:off x="7271996" y="2443584"/>
            <a:ext cx="1484714" cy="624239"/>
          </a:xfrm>
          <a:prstGeom prst="rect">
            <a:avLst/>
          </a:prstGeom>
        </p:spPr>
      </p:pic>
      <p:sp>
        <p:nvSpPr>
          <p:cNvPr id="8" name="Rechteck: abgerundete Ecken 7">
            <a:extLst>
              <a:ext uri="{FF2B5EF4-FFF2-40B4-BE49-F238E27FC236}">
                <a16:creationId xmlns:a16="http://schemas.microsoft.com/office/drawing/2014/main" id="{45C4374F-4B95-4C3D-48E7-CD7564E5B4F1}"/>
              </a:ext>
            </a:extLst>
          </p:cNvPr>
          <p:cNvSpPr/>
          <p:nvPr/>
        </p:nvSpPr>
        <p:spPr>
          <a:xfrm>
            <a:off x="5124000" y="1646674"/>
            <a:ext cx="1109355" cy="447761"/>
          </a:xfrm>
          <a:prstGeom prst="roundRect">
            <a:avLst/>
          </a:prstGeom>
          <a:solidFill>
            <a:srgbClr val="E8D6EF"/>
          </a:solidFill>
          <a:ln>
            <a:solidFill>
              <a:srgbClr val="6B53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Freiburg</a:t>
            </a:r>
            <a:endParaRPr lang="en-US">
              <a:solidFill>
                <a:schemeClr val="tx1"/>
              </a:solidFill>
              <a:latin typeface="Arial" panose="020B0604020202020204" pitchFamily="34" charset="0"/>
              <a:cs typeface="Arial" panose="020B0604020202020204" pitchFamily="34" charset="0"/>
            </a:endParaRPr>
          </a:p>
        </p:txBody>
      </p:sp>
      <p:grpSp>
        <p:nvGrpSpPr>
          <p:cNvPr id="22" name="Gruppieren 21">
            <a:extLst>
              <a:ext uri="{FF2B5EF4-FFF2-40B4-BE49-F238E27FC236}">
                <a16:creationId xmlns:a16="http://schemas.microsoft.com/office/drawing/2014/main" id="{D286514F-BEE7-4F59-A679-DDE57A061A84}"/>
              </a:ext>
            </a:extLst>
          </p:cNvPr>
          <p:cNvGrpSpPr/>
          <p:nvPr/>
        </p:nvGrpSpPr>
        <p:grpSpPr>
          <a:xfrm>
            <a:off x="7010597" y="3485452"/>
            <a:ext cx="1673449" cy="996704"/>
            <a:chOff x="7099686" y="3516055"/>
            <a:chExt cx="1673449" cy="996704"/>
          </a:xfrm>
        </p:grpSpPr>
        <p:sp>
          <p:nvSpPr>
            <p:cNvPr id="15" name="Rechteck 14">
              <a:extLst>
                <a:ext uri="{FF2B5EF4-FFF2-40B4-BE49-F238E27FC236}">
                  <a16:creationId xmlns:a16="http://schemas.microsoft.com/office/drawing/2014/main" id="{F125DA24-171C-3D32-750C-F00D9D4027CE}"/>
                </a:ext>
              </a:extLst>
            </p:cNvPr>
            <p:cNvSpPr/>
            <p:nvPr/>
          </p:nvSpPr>
          <p:spPr>
            <a:xfrm>
              <a:off x="8136731" y="4214813"/>
              <a:ext cx="119569" cy="1092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20" name="Gruppieren 19">
              <a:extLst>
                <a:ext uri="{FF2B5EF4-FFF2-40B4-BE49-F238E27FC236}">
                  <a16:creationId xmlns:a16="http://schemas.microsoft.com/office/drawing/2014/main" id="{647C771E-B215-F278-2796-F7292B20FC19}"/>
                </a:ext>
              </a:extLst>
            </p:cNvPr>
            <p:cNvGrpSpPr/>
            <p:nvPr/>
          </p:nvGrpSpPr>
          <p:grpSpPr>
            <a:xfrm>
              <a:off x="7099686" y="3516055"/>
              <a:ext cx="1673449" cy="996704"/>
              <a:chOff x="7099686" y="3516055"/>
              <a:chExt cx="1673449" cy="996704"/>
            </a:xfrm>
          </p:grpSpPr>
          <p:pic>
            <p:nvPicPr>
              <p:cNvPr id="12" name="Grafik 11">
                <a:extLst>
                  <a:ext uri="{FF2B5EF4-FFF2-40B4-BE49-F238E27FC236}">
                    <a16:creationId xmlns:a16="http://schemas.microsoft.com/office/drawing/2014/main" id="{427AE364-7CA9-521F-14DE-CCF9079BDF93}"/>
                  </a:ext>
                </a:extLst>
              </p:cNvPr>
              <p:cNvPicPr>
                <a:picLocks noChangeAspect="1"/>
              </p:cNvPicPr>
              <p:nvPr/>
            </p:nvPicPr>
            <p:blipFill>
              <a:blip r:embed="rId7"/>
              <a:stretch>
                <a:fillRect/>
              </a:stretch>
            </p:blipFill>
            <p:spPr>
              <a:xfrm>
                <a:off x="7739465" y="3598359"/>
                <a:ext cx="1033670" cy="914400"/>
              </a:xfrm>
              <a:prstGeom prst="rect">
                <a:avLst/>
              </a:prstGeom>
            </p:spPr>
          </p:pic>
          <p:pic>
            <p:nvPicPr>
              <p:cNvPr id="18" name="Grafik 17">
                <a:extLst>
                  <a:ext uri="{FF2B5EF4-FFF2-40B4-BE49-F238E27FC236}">
                    <a16:creationId xmlns:a16="http://schemas.microsoft.com/office/drawing/2014/main" id="{6BBDA8A3-3495-BA56-6F67-7BC7F180FBB7}"/>
                  </a:ext>
                </a:extLst>
              </p:cNvPr>
              <p:cNvPicPr>
                <a:picLocks noChangeAspect="1"/>
              </p:cNvPicPr>
              <p:nvPr/>
            </p:nvPicPr>
            <p:blipFill>
              <a:blip r:embed="rId8"/>
              <a:stretch>
                <a:fillRect/>
              </a:stretch>
            </p:blipFill>
            <p:spPr>
              <a:xfrm>
                <a:off x="7136955" y="3544458"/>
                <a:ext cx="656458" cy="914401"/>
              </a:xfrm>
              <a:prstGeom prst="rect">
                <a:avLst/>
              </a:prstGeom>
            </p:spPr>
          </p:pic>
          <p:sp>
            <p:nvSpPr>
              <p:cNvPr id="19" name="Rechteck 18">
                <a:extLst>
                  <a:ext uri="{FF2B5EF4-FFF2-40B4-BE49-F238E27FC236}">
                    <a16:creationId xmlns:a16="http://schemas.microsoft.com/office/drawing/2014/main" id="{7C32DC97-2EB3-6B57-9E0D-B96216E7F4A1}"/>
                  </a:ext>
                </a:extLst>
              </p:cNvPr>
              <p:cNvSpPr/>
              <p:nvPr/>
            </p:nvSpPr>
            <p:spPr>
              <a:xfrm>
                <a:off x="7099686" y="3516055"/>
                <a:ext cx="119569" cy="1092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21" name="Rechteck 20">
              <a:extLst>
                <a:ext uri="{FF2B5EF4-FFF2-40B4-BE49-F238E27FC236}">
                  <a16:creationId xmlns:a16="http://schemas.microsoft.com/office/drawing/2014/main" id="{EE6AF23C-5253-550B-E094-94AEB2411FEC}"/>
                </a:ext>
              </a:extLst>
            </p:cNvPr>
            <p:cNvSpPr/>
            <p:nvPr/>
          </p:nvSpPr>
          <p:spPr>
            <a:xfrm>
              <a:off x="8136731" y="4214813"/>
              <a:ext cx="119569" cy="1092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9" name="Grafik 8">
            <a:extLst>
              <a:ext uri="{FF2B5EF4-FFF2-40B4-BE49-F238E27FC236}">
                <a16:creationId xmlns:a16="http://schemas.microsoft.com/office/drawing/2014/main" id="{6C8BCF83-050A-F22C-071E-39CB9BE3FBBD}"/>
              </a:ext>
            </a:extLst>
          </p:cNvPr>
          <p:cNvPicPr>
            <a:picLocks noChangeAspect="1"/>
          </p:cNvPicPr>
          <p:nvPr/>
        </p:nvPicPr>
        <p:blipFill rotWithShape="1">
          <a:blip r:embed="rId9"/>
          <a:srcRect l="115" r="115"/>
          <a:stretch/>
        </p:blipFill>
        <p:spPr>
          <a:xfrm flipH="1">
            <a:off x="5701166" y="3551333"/>
            <a:ext cx="1017053" cy="806525"/>
          </a:xfrm>
          <a:prstGeom prst="rect">
            <a:avLst/>
          </a:prstGeom>
          <a:noFill/>
          <a:ln w="9525" cap="flat" cmpd="sng" algn="ctr">
            <a:noFill/>
            <a:prstDash val="solid"/>
            <a:round/>
            <a:headEnd type="none" w="med" len="med"/>
            <a:tailEnd type="none" w="med" len="med"/>
          </a:ln>
        </p:spPr>
      </p:pic>
    </p:spTree>
    <p:extLst>
      <p:ext uri="{BB962C8B-B14F-4D97-AF65-F5344CB8AC3E}">
        <p14:creationId xmlns:p14="http://schemas.microsoft.com/office/powerpoint/2010/main" val="4242650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C123D-C115-8553-7221-82BBBE231B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22A526B-4CC8-53C1-8ACE-44E9FC96F770}"/>
              </a:ext>
            </a:extLst>
          </p:cNvPr>
          <p:cNvSpPr>
            <a:spLocks noGrp="1"/>
          </p:cNvSpPr>
          <p:nvPr>
            <p:ph type="title"/>
          </p:nvPr>
        </p:nvSpPr>
        <p:spPr/>
        <p:txBody>
          <a:bodyPr>
            <a:normAutofit/>
          </a:bodyPr>
          <a:lstStyle/>
          <a:p>
            <a:r>
              <a:rPr lang="de-DE" sz="2600" b="0">
                <a:latin typeface="Arial"/>
                <a:cs typeface="Arial"/>
              </a:rPr>
              <a:t>Summary</a:t>
            </a:r>
          </a:p>
        </p:txBody>
      </p:sp>
      <p:sp>
        <p:nvSpPr>
          <p:cNvPr id="4" name="Foliennummernplatzhalter 3">
            <a:extLst>
              <a:ext uri="{FF2B5EF4-FFF2-40B4-BE49-F238E27FC236}">
                <a16:creationId xmlns:a16="http://schemas.microsoft.com/office/drawing/2014/main" id="{84426E88-A212-CBF1-02D2-B20786B07242}"/>
              </a:ext>
            </a:extLst>
          </p:cNvPr>
          <p:cNvSpPr>
            <a:spLocks noGrp="1"/>
          </p:cNvSpPr>
          <p:nvPr>
            <p:ph type="sldNum" sz="quarter" idx="12"/>
          </p:nvPr>
        </p:nvSpPr>
        <p:spPr>
          <a:xfrm>
            <a:off x="8256300" y="4684284"/>
            <a:ext cx="636180" cy="273844"/>
          </a:xfrm>
        </p:spPr>
        <p:txBody>
          <a:bodyPr/>
          <a:lstStyle/>
          <a:p>
            <a:fld id="{5CD88B4E-D815-417B-99FD-41D66E5C06D4}" type="slidenum">
              <a:rPr lang="de-DE" smtClean="0">
                <a:latin typeface="Arial"/>
                <a:cs typeface="Arial"/>
              </a:rPr>
              <a:pPr/>
              <a:t>21</a:t>
            </a:fld>
            <a:endParaRPr lang="de-DE">
              <a:latin typeface="Arial"/>
              <a:cs typeface="Arial"/>
            </a:endParaRPr>
          </a:p>
        </p:txBody>
      </p:sp>
      <p:sp>
        <p:nvSpPr>
          <p:cNvPr id="3" name="Textfeld 2">
            <a:extLst>
              <a:ext uri="{FF2B5EF4-FFF2-40B4-BE49-F238E27FC236}">
                <a16:creationId xmlns:a16="http://schemas.microsoft.com/office/drawing/2014/main" id="{75BF64B1-230F-DC86-AC1E-CAC52EF65A53}"/>
              </a:ext>
            </a:extLst>
          </p:cNvPr>
          <p:cNvSpPr txBox="1"/>
          <p:nvPr/>
        </p:nvSpPr>
        <p:spPr>
          <a:xfrm>
            <a:off x="788426" y="2202720"/>
            <a:ext cx="8280920"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Working </a:t>
            </a:r>
            <a:r>
              <a:rPr lang="de-DE" sz="1400" dirty="0" err="1">
                <a:latin typeface="Arial" panose="020B0604020202020204" pitchFamily="34" charset="0"/>
                <a:cs typeface="Arial" panose="020B0604020202020204" pitchFamily="34" charset="0"/>
              </a:rPr>
              <a:t>hypotheses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Task </a:t>
            </a:r>
            <a:r>
              <a:rPr lang="de-DE" sz="1400" dirty="0" err="1">
                <a:latin typeface="Arial" panose="020B0604020202020204" pitchFamily="34" charset="0"/>
                <a:cs typeface="Arial" panose="020B0604020202020204" pitchFamily="34" charset="0"/>
              </a:rPr>
              <a:t>switching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as</a:t>
            </a:r>
            <a:r>
              <a:rPr lang="de-DE" sz="1400" dirty="0">
                <a:latin typeface="Arial" panose="020B0604020202020204" pitchFamily="34" charset="0"/>
                <a:cs typeface="Arial" panose="020B0604020202020204" pitchFamily="34" charset="0"/>
              </a:rPr>
              <a:t> optimal </a:t>
            </a:r>
            <a:r>
              <a:rPr lang="de-DE" sz="1400" dirty="0" err="1">
                <a:latin typeface="Arial" panose="020B0604020202020204" pitchFamily="34" charset="0"/>
                <a:cs typeface="Arial" panose="020B0604020202020204" pitchFamily="34" charset="0"/>
              </a:rPr>
              <a:t>behavior</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under</a:t>
            </a:r>
            <a:r>
              <a:rPr lang="de-DE" sz="1400" dirty="0">
                <a:latin typeface="Arial" panose="020B0604020202020204" pitchFamily="34" charset="0"/>
                <a:cs typeface="Arial" panose="020B0604020202020204" pitchFamily="34" charset="0"/>
              </a:rPr>
              <a:t> individual </a:t>
            </a:r>
            <a:r>
              <a:rPr lang="de-DE" sz="1400" dirty="0" err="1">
                <a:latin typeface="Arial" panose="020B0604020202020204" pitchFamily="34" charset="0"/>
                <a:cs typeface="Arial" panose="020B0604020202020204" pitchFamily="34" charset="0"/>
              </a:rPr>
              <a:t>subjective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cost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functions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Individual </a:t>
            </a:r>
            <a:r>
              <a:rPr lang="de-DE" sz="1400" dirty="0" err="1">
                <a:latin typeface="Arial" panose="020B0604020202020204" pitchFamily="34" charset="0"/>
                <a:cs typeface="Arial" panose="020B0604020202020204" pitchFamily="34" charset="0"/>
              </a:rPr>
              <a:t>error</a:t>
            </a:r>
            <a:r>
              <a:rPr lang="de-DE" sz="1400" dirty="0">
                <a:latin typeface="Arial" panose="020B0604020202020204" pitchFamily="34" charset="0"/>
                <a:cs typeface="Arial" panose="020B0604020202020204" pitchFamily="34" charset="0"/>
              </a:rPr>
              <a:t> and </a:t>
            </a:r>
            <a:r>
              <a:rPr lang="de-DE" sz="1400" dirty="0" err="1">
                <a:latin typeface="Arial" panose="020B0604020202020204" pitchFamily="34" charset="0"/>
                <a:cs typeface="Arial" panose="020B0604020202020204" pitchFamily="34" charset="0"/>
              </a:rPr>
              <a:t>reward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sensitivities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modulators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of</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subjective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cost</a:t>
            </a:r>
            <a:endParaRPr lang="de-DE" sz="1400" dirty="0">
              <a:latin typeface="Arial" panose="020B0604020202020204" pitchFamily="34" charset="0"/>
              <a:cs typeface="Arial" panose="020B0604020202020204" pitchFamily="34" charset="0"/>
            </a:endParaRPr>
          </a:p>
        </p:txBody>
      </p:sp>
      <p:sp>
        <p:nvSpPr>
          <p:cNvPr id="7" name="Textfeld 6">
            <a:extLst>
              <a:ext uri="{FF2B5EF4-FFF2-40B4-BE49-F238E27FC236}">
                <a16:creationId xmlns:a16="http://schemas.microsoft.com/office/drawing/2014/main" id="{8A3B6414-67BC-8648-7B71-E040221C808E}"/>
              </a:ext>
            </a:extLst>
          </p:cNvPr>
          <p:cNvSpPr txBox="1"/>
          <p:nvPr/>
        </p:nvSpPr>
        <p:spPr>
          <a:xfrm>
            <a:off x="788426" y="963094"/>
            <a:ext cx="7776864"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Research </a:t>
            </a:r>
            <a:r>
              <a:rPr lang="de-DE" sz="1400" dirty="0" err="1">
                <a:latin typeface="Arial" panose="020B0604020202020204" pitchFamily="34" charset="0"/>
                <a:cs typeface="Arial" panose="020B0604020202020204" pitchFamily="34" charset="0"/>
              </a:rPr>
              <a:t>questions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Computational </a:t>
            </a:r>
            <a:r>
              <a:rPr lang="de-DE" sz="1400" dirty="0" err="1">
                <a:latin typeface="Arial" panose="020B0604020202020204" pitchFamily="34" charset="0"/>
                <a:cs typeface="Arial" panose="020B0604020202020204" pitchFamily="34" charset="0"/>
              </a:rPr>
              <a:t>mechanisms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of</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experimentally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established</a:t>
            </a:r>
            <a:r>
              <a:rPr lang="de-DE" sz="1400" dirty="0">
                <a:latin typeface="Arial" panose="020B0604020202020204" pitchFamily="34" charset="0"/>
                <a:cs typeface="Arial" panose="020B0604020202020204" pitchFamily="34" charset="0"/>
              </a:rPr>
              <a:t> FCDT </a:t>
            </a:r>
            <a:r>
              <a:rPr lang="de-DE" sz="1400" dirty="0" err="1">
                <a:latin typeface="Arial" panose="020B0604020202020204" pitchFamily="34" charset="0"/>
                <a:cs typeface="Arial" panose="020B0604020202020204" pitchFamily="34" charset="0"/>
              </a:rPr>
              <a:t>response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strategies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Individual </a:t>
            </a:r>
            <a:r>
              <a:rPr lang="de-DE" sz="1400" dirty="0" err="1">
                <a:latin typeface="Arial" panose="020B0604020202020204" pitchFamily="34" charset="0"/>
                <a:cs typeface="Arial" panose="020B0604020202020204" pitchFamily="34" charset="0"/>
              </a:rPr>
              <a:t>determinants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of</a:t>
            </a:r>
            <a:r>
              <a:rPr lang="de-DE" sz="1400" dirty="0">
                <a:latin typeface="Arial" panose="020B0604020202020204" pitchFamily="34" charset="0"/>
                <a:cs typeface="Arial" panose="020B0604020202020204" pitchFamily="34" charset="0"/>
              </a:rPr>
              <a:t> FCDT </a:t>
            </a:r>
            <a:r>
              <a:rPr lang="de-DE" sz="1400" dirty="0" err="1">
                <a:latin typeface="Arial" panose="020B0604020202020204" pitchFamily="34" charset="0"/>
                <a:cs typeface="Arial" panose="020B0604020202020204" pitchFamily="34" charset="0"/>
              </a:rPr>
              <a:t>response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strategy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formation</a:t>
            </a:r>
            <a:r>
              <a:rPr lang="de-DE" sz="1400" dirty="0">
                <a:latin typeface="Arial" panose="020B0604020202020204" pitchFamily="34" charset="0"/>
                <a:cs typeface="Arial" panose="020B0604020202020204" pitchFamily="34" charset="0"/>
              </a:rPr>
              <a:t> </a:t>
            </a:r>
          </a:p>
        </p:txBody>
      </p:sp>
      <p:sp>
        <p:nvSpPr>
          <p:cNvPr id="11" name="Rechteck: abgerundete Ecken 10">
            <a:extLst>
              <a:ext uri="{FF2B5EF4-FFF2-40B4-BE49-F238E27FC236}">
                <a16:creationId xmlns:a16="http://schemas.microsoft.com/office/drawing/2014/main" id="{26448C50-3E88-424C-5CCD-008AC30DC088}"/>
              </a:ext>
            </a:extLst>
          </p:cNvPr>
          <p:cNvSpPr/>
          <p:nvPr/>
        </p:nvSpPr>
        <p:spPr>
          <a:xfrm>
            <a:off x="711246" y="2214017"/>
            <a:ext cx="7931223" cy="1088311"/>
          </a:xfrm>
          <a:prstGeom prst="roundRect">
            <a:avLst>
              <a:gd name="adj" fmla="val 6334"/>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endParaRPr lang="en-US" sz="1000">
              <a:solidFill>
                <a:schemeClr val="tx1"/>
              </a:solidFill>
              <a:latin typeface="Arial" panose="020B0604020202020204" pitchFamily="34" charset="0"/>
              <a:ea typeface="Arial Unicode MS" panose="020B0604020202020204"/>
              <a:cs typeface="Arial" panose="020B0604020202020204" pitchFamily="34" charset="0"/>
            </a:endParaRPr>
          </a:p>
        </p:txBody>
      </p:sp>
      <p:sp>
        <p:nvSpPr>
          <p:cNvPr id="8" name="Rechteck: abgerundete Ecken 7">
            <a:extLst>
              <a:ext uri="{FF2B5EF4-FFF2-40B4-BE49-F238E27FC236}">
                <a16:creationId xmlns:a16="http://schemas.microsoft.com/office/drawing/2014/main" id="{294D5CBF-AD82-2732-249A-9D1D469405A9}"/>
              </a:ext>
            </a:extLst>
          </p:cNvPr>
          <p:cNvSpPr/>
          <p:nvPr/>
        </p:nvSpPr>
        <p:spPr>
          <a:xfrm>
            <a:off x="711246" y="965063"/>
            <a:ext cx="7931223" cy="1088311"/>
          </a:xfrm>
          <a:prstGeom prst="roundRect">
            <a:avLst>
              <a:gd name="adj" fmla="val 6334"/>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endParaRPr lang="en-US" sz="1000">
              <a:solidFill>
                <a:schemeClr val="tx1"/>
              </a:solidFill>
              <a:latin typeface="Arial" panose="020B0604020202020204" pitchFamily="34" charset="0"/>
              <a:ea typeface="Arial Unicode MS" panose="020B0604020202020204"/>
              <a:cs typeface="Arial" panose="020B0604020202020204" pitchFamily="34" charset="0"/>
            </a:endParaRPr>
          </a:p>
        </p:txBody>
      </p:sp>
      <p:sp>
        <p:nvSpPr>
          <p:cNvPr id="5" name="Textfeld 4">
            <a:extLst>
              <a:ext uri="{FF2B5EF4-FFF2-40B4-BE49-F238E27FC236}">
                <a16:creationId xmlns:a16="http://schemas.microsoft.com/office/drawing/2014/main" id="{37326886-527B-964D-2DAA-1B754D798290}"/>
              </a:ext>
            </a:extLst>
          </p:cNvPr>
          <p:cNvSpPr txBox="1"/>
          <p:nvPr/>
        </p:nvSpPr>
        <p:spPr>
          <a:xfrm>
            <a:off x="788426" y="3492359"/>
            <a:ext cx="8280920"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Research </a:t>
            </a:r>
            <a:r>
              <a:rPr lang="de-DE" sz="1400" dirty="0" err="1">
                <a:latin typeface="Arial" panose="020B0604020202020204" pitchFamily="34" charset="0"/>
                <a:cs typeface="Arial" panose="020B0604020202020204" pitchFamily="34" charset="0"/>
              </a:rPr>
              <a:t>unit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contributions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FCDT </a:t>
            </a:r>
            <a:r>
              <a:rPr lang="de-DE" sz="1400" dirty="0" err="1">
                <a:latin typeface="Arial" panose="020B0604020202020204" pitchFamily="34" charset="0"/>
                <a:cs typeface="Arial" panose="020B0604020202020204" pitchFamily="34" charset="0"/>
              </a:rPr>
              <a:t>paradigm</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as</a:t>
            </a:r>
            <a:r>
              <a:rPr lang="de-DE" sz="1400" dirty="0">
                <a:latin typeface="Arial" panose="020B0604020202020204" pitchFamily="34" charset="0"/>
                <a:cs typeface="Arial" panose="020B0604020202020204" pitchFamily="34" charset="0"/>
              </a:rPr>
              <a:t> experimental </a:t>
            </a:r>
            <a:r>
              <a:rPr lang="de-DE" sz="1400" dirty="0" err="1">
                <a:latin typeface="Arial" panose="020B0604020202020204" pitchFamily="34" charset="0"/>
                <a:cs typeface="Arial" panose="020B0604020202020204" pitchFamily="34" charset="0"/>
              </a:rPr>
              <a:t>testbed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for</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studying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task</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switching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behavior</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Rational </a:t>
            </a:r>
            <a:r>
              <a:rPr lang="de-DE" sz="1400" dirty="0" err="1">
                <a:latin typeface="Arial" panose="020B0604020202020204" pitchFamily="34" charset="0"/>
                <a:cs typeface="Arial" panose="020B0604020202020204" pitchFamily="34" charset="0"/>
              </a:rPr>
              <a:t>analysis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perspective</a:t>
            </a:r>
            <a:r>
              <a:rPr lang="de-DE" sz="1400" dirty="0">
                <a:latin typeface="Arial" panose="020B0604020202020204" pitchFamily="34" charset="0"/>
                <a:cs typeface="Arial" panose="020B0604020202020204" pitchFamily="34" charset="0"/>
              </a:rPr>
              <a:t> and </a:t>
            </a:r>
            <a:r>
              <a:rPr lang="de-DE" sz="1400" dirty="0" err="1">
                <a:latin typeface="Arial" panose="020B0604020202020204" pitchFamily="34" charset="0"/>
                <a:cs typeface="Arial" panose="020B0604020202020204" pitchFamily="34" charset="0"/>
              </a:rPr>
              <a:t>agent-based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neurobehavioral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modeling</a:t>
            </a:r>
            <a:r>
              <a:rPr lang="de-DE" sz="1400" dirty="0">
                <a:latin typeface="Arial" panose="020B0604020202020204" pitchFamily="34" charset="0"/>
                <a:cs typeface="Arial" panose="020B0604020202020204" pitchFamily="34" charset="0"/>
              </a:rPr>
              <a:t>  </a:t>
            </a:r>
          </a:p>
        </p:txBody>
      </p:sp>
      <p:sp>
        <p:nvSpPr>
          <p:cNvPr id="6" name="Rechteck: abgerundete Ecken 5">
            <a:extLst>
              <a:ext uri="{FF2B5EF4-FFF2-40B4-BE49-F238E27FC236}">
                <a16:creationId xmlns:a16="http://schemas.microsoft.com/office/drawing/2014/main" id="{90EBA53F-7F65-0493-9FA0-F42F92840063}"/>
              </a:ext>
            </a:extLst>
          </p:cNvPr>
          <p:cNvSpPr/>
          <p:nvPr/>
        </p:nvSpPr>
        <p:spPr>
          <a:xfrm>
            <a:off x="711246" y="3496512"/>
            <a:ext cx="7931223" cy="1088311"/>
          </a:xfrm>
          <a:prstGeom prst="roundRect">
            <a:avLst>
              <a:gd name="adj" fmla="val 6334"/>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endParaRPr lang="en-US" sz="1000">
              <a:solidFill>
                <a:schemeClr val="tx1"/>
              </a:solidFill>
              <a:latin typeface="Arial" panose="020B0604020202020204" pitchFamily="34" charset="0"/>
              <a:ea typeface="Arial Unicode MS" panose="020B0604020202020204"/>
              <a:cs typeface="Arial" panose="020B0604020202020204" pitchFamily="34" charset="0"/>
            </a:endParaRPr>
          </a:p>
        </p:txBody>
      </p:sp>
    </p:spTree>
    <p:extLst>
      <p:ext uri="{BB962C8B-B14F-4D97-AF65-F5344CB8AC3E}">
        <p14:creationId xmlns:p14="http://schemas.microsoft.com/office/powerpoint/2010/main" val="976863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DDFB1545-6EAD-30C4-1FDB-B788CF70C7D5}"/>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22</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Tree>
    <p:extLst>
      <p:ext uri="{BB962C8B-B14F-4D97-AF65-F5344CB8AC3E}">
        <p14:creationId xmlns:p14="http://schemas.microsoft.com/office/powerpoint/2010/main" val="2455846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97F1F7-0296-447D-9028-05E58D5A236D}"/>
              </a:ext>
            </a:extLst>
          </p:cNvPr>
          <p:cNvSpPr>
            <a:spLocks noGrp="1"/>
          </p:cNvSpPr>
          <p:nvPr>
            <p:ph type="title"/>
          </p:nvPr>
        </p:nvSpPr>
        <p:spPr/>
        <p:txBody>
          <a:bodyPr/>
          <a:lstStyle/>
          <a:p>
            <a:r>
              <a:rPr lang="de-DE" sz="2100" b="0" err="1">
                <a:solidFill>
                  <a:prstClr val="black"/>
                </a:solidFill>
              </a:rPr>
              <a:t>Empirical</a:t>
            </a:r>
            <a:r>
              <a:rPr lang="de-DE" sz="2100" b="0">
                <a:solidFill>
                  <a:prstClr val="black"/>
                </a:solidFill>
              </a:rPr>
              <a:t> </a:t>
            </a:r>
            <a:r>
              <a:rPr lang="de-DE" sz="2100" b="0" err="1">
                <a:solidFill>
                  <a:prstClr val="black"/>
                </a:solidFill>
              </a:rPr>
              <a:t>Objective</a:t>
            </a:r>
            <a:r>
              <a:rPr lang="de-DE" sz="2100" b="0">
                <a:solidFill>
                  <a:prstClr val="black"/>
                </a:solidFill>
              </a:rPr>
              <a:t> 1: </a:t>
            </a:r>
            <a:r>
              <a:rPr lang="en-US" sz="2100" b="0">
                <a:solidFill>
                  <a:prstClr val="black"/>
                </a:solidFill>
              </a:rPr>
              <a:t>Influence of </a:t>
            </a:r>
            <a:r>
              <a:rPr lang="en-US" sz="2100" b="0">
                <a:solidFill>
                  <a:srgbClr val="B99212"/>
                </a:solidFill>
              </a:rPr>
              <a:t>learning ability </a:t>
            </a:r>
            <a:r>
              <a:rPr lang="en-US" sz="2100" b="0">
                <a:solidFill>
                  <a:prstClr val="black"/>
                </a:solidFill>
              </a:rPr>
              <a:t>and </a:t>
            </a:r>
            <a:r>
              <a:rPr lang="en-US" sz="2100" b="0">
                <a:solidFill>
                  <a:srgbClr val="B99212"/>
                </a:solidFill>
              </a:rPr>
              <a:t>error sensitivity </a:t>
            </a:r>
            <a:r>
              <a:rPr lang="en-US" sz="2100" b="0">
                <a:solidFill>
                  <a:prstClr val="black"/>
                </a:solidFill>
              </a:rPr>
              <a:t>on </a:t>
            </a:r>
            <a:r>
              <a:rPr lang="en-US" sz="2100" b="0">
                <a:solidFill>
                  <a:srgbClr val="B99212"/>
                </a:solidFill>
              </a:rPr>
              <a:t>response strategy </a:t>
            </a:r>
            <a:r>
              <a:rPr lang="en-US" sz="2100" b="0">
                <a:solidFill>
                  <a:prstClr val="black"/>
                </a:solidFill>
              </a:rPr>
              <a:t>formation</a:t>
            </a:r>
            <a:endParaRPr lang="en-US"/>
          </a:p>
        </p:txBody>
      </p:sp>
      <p:sp>
        <p:nvSpPr>
          <p:cNvPr id="4" name="Foliennummernplatzhalter 3">
            <a:extLst>
              <a:ext uri="{FF2B5EF4-FFF2-40B4-BE49-F238E27FC236}">
                <a16:creationId xmlns:a16="http://schemas.microsoft.com/office/drawing/2014/main" id="{278DCD06-D416-43A4-B063-4AAE59C282B7}"/>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23</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pSp>
        <p:nvGrpSpPr>
          <p:cNvPr id="33" name="Gruppieren 32">
            <a:extLst>
              <a:ext uri="{FF2B5EF4-FFF2-40B4-BE49-F238E27FC236}">
                <a16:creationId xmlns:a16="http://schemas.microsoft.com/office/drawing/2014/main" id="{38A804D6-34B3-4A33-9B09-DBFAB64A76B4}"/>
              </a:ext>
            </a:extLst>
          </p:cNvPr>
          <p:cNvGrpSpPr/>
          <p:nvPr/>
        </p:nvGrpSpPr>
        <p:grpSpPr>
          <a:xfrm>
            <a:off x="872677" y="2482810"/>
            <a:ext cx="7880527" cy="2145512"/>
            <a:chOff x="9330490" y="3216735"/>
            <a:chExt cx="2734720" cy="1930328"/>
          </a:xfrm>
        </p:grpSpPr>
        <p:sp>
          <p:nvSpPr>
            <p:cNvPr id="34" name="Rechteck: abgerundete Ecken 33">
              <a:extLst>
                <a:ext uri="{FF2B5EF4-FFF2-40B4-BE49-F238E27FC236}">
                  <a16:creationId xmlns:a16="http://schemas.microsoft.com/office/drawing/2014/main" id="{498B4A03-890C-4C6B-A128-52AB57462E59}"/>
                </a:ext>
              </a:extLst>
            </p:cNvPr>
            <p:cNvSpPr/>
            <p:nvPr/>
          </p:nvSpPr>
          <p:spPr>
            <a:xfrm>
              <a:off x="9330490" y="3216736"/>
              <a:ext cx="2734720" cy="1930327"/>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35" name="Rechteck: abgerundete Ecken 34">
              <a:extLst>
                <a:ext uri="{FF2B5EF4-FFF2-40B4-BE49-F238E27FC236}">
                  <a16:creationId xmlns:a16="http://schemas.microsoft.com/office/drawing/2014/main" id="{33CC627E-09BF-42FC-B712-45E915E7406D}"/>
                </a:ext>
              </a:extLst>
            </p:cNvPr>
            <p:cNvSpPr/>
            <p:nvPr/>
          </p:nvSpPr>
          <p:spPr>
            <a:xfrm>
              <a:off x="9330490" y="3216735"/>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prstClr val="white"/>
                  </a:solidFill>
                  <a:effectLst/>
                  <a:uLnTx/>
                  <a:uFillTx/>
                  <a:latin typeface="Calibri"/>
                  <a:ea typeface="+mn-ea"/>
                  <a:cs typeface="+mn-cs"/>
                </a:rPr>
                <a:t>Work Package 1.1 – </a:t>
              </a:r>
              <a:r>
                <a:rPr kumimoji="0" lang="de-DE" sz="1050" b="1" i="0" u="none" strike="noStrike" kern="1200" cap="none" spc="0" normalizeH="0" baseline="0" noProof="0">
                  <a:ln>
                    <a:noFill/>
                  </a:ln>
                  <a:solidFill>
                    <a:prstClr val="white"/>
                  </a:solidFill>
                  <a:effectLst/>
                  <a:uLnTx/>
                  <a:uFillTx/>
                  <a:latin typeface="Calibri"/>
                  <a:ea typeface="+mn-ea"/>
                  <a:cs typeface="+mn-cs"/>
                </a:rPr>
                <a:t>Experiment 1a</a:t>
              </a:r>
              <a:r>
                <a:rPr kumimoji="0" lang="de-DE" sz="1050" b="0" i="0" u="none" strike="noStrike" kern="1200" cap="none" spc="0" normalizeH="0" baseline="0" noProof="0">
                  <a:ln>
                    <a:noFill/>
                  </a:ln>
                  <a:solidFill>
                    <a:prstClr val="white"/>
                  </a:solidFill>
                  <a:effectLst/>
                  <a:uLnTx/>
                  <a:uFillTx/>
                  <a:latin typeface="Calibri"/>
                  <a:ea typeface="+mn-ea"/>
                  <a:cs typeface="+mn-cs"/>
                </a:rPr>
                <a:t>, n = 90 </a:t>
              </a:r>
              <a:r>
                <a:rPr kumimoji="0" lang="de-DE" sz="1050" b="0" i="0" u="none" strike="noStrike" kern="1200" cap="none" spc="0" normalizeH="0" baseline="0" noProof="0" err="1">
                  <a:ln>
                    <a:noFill/>
                  </a:ln>
                  <a:solidFill>
                    <a:prstClr val="white"/>
                  </a:solidFill>
                  <a:effectLst/>
                  <a:uLnTx/>
                  <a:uFillTx/>
                  <a:latin typeface="Calibri"/>
                  <a:ea typeface="+mn-ea"/>
                  <a:cs typeface="+mn-cs"/>
                </a:rPr>
                <a:t>participants</a:t>
              </a:r>
              <a:endParaRPr kumimoji="0" lang="en-US" sz="10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69" name="Grafik 68">
            <a:extLst>
              <a:ext uri="{FF2B5EF4-FFF2-40B4-BE49-F238E27FC236}">
                <a16:creationId xmlns:a16="http://schemas.microsoft.com/office/drawing/2014/main" id="{A2D8A705-6CDD-4C27-958B-54E682AF5807}"/>
              </a:ext>
            </a:extLst>
          </p:cNvPr>
          <p:cNvPicPr>
            <a:picLocks noChangeAspect="1"/>
          </p:cNvPicPr>
          <p:nvPr/>
        </p:nvPicPr>
        <p:blipFill>
          <a:blip r:embed="rId3"/>
          <a:stretch>
            <a:fillRect/>
          </a:stretch>
        </p:blipFill>
        <p:spPr>
          <a:xfrm>
            <a:off x="4085946" y="1205403"/>
            <a:ext cx="4848771" cy="1032618"/>
          </a:xfrm>
          <a:prstGeom prst="rect">
            <a:avLst/>
          </a:prstGeom>
        </p:spPr>
      </p:pic>
      <p:pic>
        <p:nvPicPr>
          <p:cNvPr id="30" name="Inhaltsplatzhalter 5">
            <a:extLst>
              <a:ext uri="{FF2B5EF4-FFF2-40B4-BE49-F238E27FC236}">
                <a16:creationId xmlns:a16="http://schemas.microsoft.com/office/drawing/2014/main" id="{33EE3581-AFDE-41E9-BDED-354D1D80B2C3}"/>
              </a:ext>
            </a:extLst>
          </p:cNvPr>
          <p:cNvPicPr>
            <a:picLocks noGrp="1" noChangeAspect="1"/>
          </p:cNvPicPr>
          <p:nvPr>
            <p:ph idx="1"/>
          </p:nvPr>
        </p:nvPicPr>
        <p:blipFill rotWithShape="1">
          <a:blip r:embed="rId4" cstate="print">
            <a:extLst>
              <a:ext uri="{28A0092B-C50C-407E-A947-70E740481C1C}">
                <a14:useLocalDpi xmlns:a14="http://schemas.microsoft.com/office/drawing/2010/main" val="0"/>
              </a:ext>
            </a:extLst>
          </a:blip>
          <a:srcRect l="1839" t="10314" r="64293" b="62885"/>
          <a:stretch/>
        </p:blipFill>
        <p:spPr>
          <a:xfrm>
            <a:off x="1271803" y="3512019"/>
            <a:ext cx="612897" cy="434541"/>
          </a:xfrm>
        </p:spPr>
      </p:pic>
      <p:sp>
        <p:nvSpPr>
          <p:cNvPr id="31" name="Textfeld 30">
            <a:extLst>
              <a:ext uri="{FF2B5EF4-FFF2-40B4-BE49-F238E27FC236}">
                <a16:creationId xmlns:a16="http://schemas.microsoft.com/office/drawing/2014/main" id="{5C87D906-780E-4B85-826F-75C028430B1F}"/>
              </a:ext>
            </a:extLst>
          </p:cNvPr>
          <p:cNvSpPr txBox="1"/>
          <p:nvPr/>
        </p:nvSpPr>
        <p:spPr>
          <a:xfrm>
            <a:off x="3167844" y="3232339"/>
            <a:ext cx="561278" cy="193027"/>
          </a:xfrm>
          <a:prstGeom prst="rect">
            <a:avLst/>
          </a:prstGeom>
          <a:noFill/>
          <a:ln w="12700">
            <a:noFill/>
          </a:ln>
        </p:spPr>
        <p:txBody>
          <a:bodyPr wrap="square" tIns="27000" bIns="27000" rtlCol="0">
            <a:noAutofit/>
          </a:bodyPr>
          <a:lstStyle>
            <a:defPPr>
              <a:defRPr lang="de-DE"/>
            </a:defPPr>
            <a:lvl1pPr algn="ct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err="1">
                <a:ln>
                  <a:noFill/>
                </a:ln>
                <a:solidFill>
                  <a:prstClr val="black"/>
                </a:solidFill>
                <a:effectLst/>
                <a:uLnTx/>
                <a:uFillTx/>
                <a:latin typeface="Calibri"/>
                <a:ea typeface="+mn-ea"/>
                <a:cs typeface="+mn-cs"/>
              </a:rPr>
              <a:t>Flanker</a:t>
            </a:r>
            <a:endParaRPr kumimoji="0" lang="de-DE" sz="9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Task</a:t>
            </a:r>
          </a:p>
        </p:txBody>
      </p:sp>
      <p:sp>
        <p:nvSpPr>
          <p:cNvPr id="32" name="Textfeld 31">
            <a:extLst>
              <a:ext uri="{FF2B5EF4-FFF2-40B4-BE49-F238E27FC236}">
                <a16:creationId xmlns:a16="http://schemas.microsoft.com/office/drawing/2014/main" id="{F4337AF7-2471-4963-92E9-E01AD24EE5FB}"/>
              </a:ext>
            </a:extLst>
          </p:cNvPr>
          <p:cNvSpPr txBox="1"/>
          <p:nvPr/>
        </p:nvSpPr>
        <p:spPr>
          <a:xfrm>
            <a:off x="3196620" y="3609889"/>
            <a:ext cx="561372"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a:ln>
                  <a:noFill/>
                </a:ln>
                <a:solidFill>
                  <a:prstClr val="black"/>
                </a:solidFill>
                <a:effectLst/>
                <a:uLnTx/>
                <a:uFillTx/>
                <a:latin typeface="Calibri"/>
                <a:ea typeface="+mn-ea"/>
                <a:cs typeface="+mn-cs"/>
                <a:sym typeface="Wingdings" panose="05000000000000000000" pitchFamily="2" charset="2"/>
              </a:rPr>
              <a:t></a:t>
            </a:r>
            <a:endParaRPr kumimoji="0" lang="en-US" sz="600" b="0" i="0" u="none" strike="noStrike" kern="1200" cap="none" spc="0" normalizeH="0" baseline="0" noProof="0">
              <a:ln>
                <a:noFill/>
              </a:ln>
              <a:solidFill>
                <a:prstClr val="black"/>
              </a:solidFill>
              <a:effectLst/>
              <a:uLnTx/>
              <a:uFillTx/>
              <a:latin typeface="Calibri"/>
              <a:ea typeface="+mn-ea"/>
              <a:cs typeface="+mn-cs"/>
            </a:endParaRPr>
          </a:p>
        </p:txBody>
      </p:sp>
      <p:sp>
        <p:nvSpPr>
          <p:cNvPr id="40" name="Rechteck: abgerundete Ecken 39">
            <a:extLst>
              <a:ext uri="{FF2B5EF4-FFF2-40B4-BE49-F238E27FC236}">
                <a16:creationId xmlns:a16="http://schemas.microsoft.com/office/drawing/2014/main" id="{94BEA94F-5D5E-409C-BC36-287BF2D62196}"/>
              </a:ext>
            </a:extLst>
          </p:cNvPr>
          <p:cNvSpPr/>
          <p:nvPr/>
        </p:nvSpPr>
        <p:spPr>
          <a:xfrm>
            <a:off x="1205177" y="3232336"/>
            <a:ext cx="1904453" cy="828125"/>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feld 40">
            <a:extLst>
              <a:ext uri="{FF2B5EF4-FFF2-40B4-BE49-F238E27FC236}">
                <a16:creationId xmlns:a16="http://schemas.microsoft.com/office/drawing/2014/main" id="{F730E234-7107-4F22-9CBB-D00E70699B84}"/>
              </a:ext>
            </a:extLst>
          </p:cNvPr>
          <p:cNvSpPr txBox="1"/>
          <p:nvPr/>
        </p:nvSpPr>
        <p:spPr>
          <a:xfrm>
            <a:off x="1204989" y="3232338"/>
            <a:ext cx="1904662"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Free </a:t>
            </a:r>
            <a:r>
              <a:rPr kumimoji="0" lang="de-DE" sz="900" b="0" i="0" u="none" strike="noStrike" kern="1200" cap="none" spc="0" normalizeH="0" baseline="0" noProof="0" err="1">
                <a:ln>
                  <a:noFill/>
                </a:ln>
                <a:solidFill>
                  <a:prstClr val="black"/>
                </a:solidFill>
                <a:effectLst/>
                <a:uLnTx/>
                <a:uFillTx/>
                <a:latin typeface="Calibri"/>
                <a:ea typeface="+mn-ea"/>
                <a:cs typeface="+mn-cs"/>
              </a:rPr>
              <a:t>Concurrent</a:t>
            </a:r>
            <a:r>
              <a:rPr kumimoji="0" lang="de-DE" sz="900" b="0" i="0" u="none" strike="noStrike" kern="1200" cap="none" spc="0" normalizeH="0" baseline="0" noProof="0">
                <a:ln>
                  <a:noFill/>
                </a:ln>
                <a:solidFill>
                  <a:prstClr val="black"/>
                </a:solidFill>
                <a:effectLst/>
                <a:uLnTx/>
                <a:uFillTx/>
                <a:latin typeface="Calibri"/>
                <a:ea typeface="+mn-ea"/>
                <a:cs typeface="+mn-cs"/>
              </a:rPr>
              <a:t> Dual-</a:t>
            </a:r>
            <a:r>
              <a:rPr kumimoji="0" lang="de-DE" sz="900" b="0" i="0" u="none" strike="noStrike" kern="1200" cap="none" spc="0" normalizeH="0" baseline="0" noProof="0" err="1">
                <a:ln>
                  <a:noFill/>
                </a:ln>
                <a:solidFill>
                  <a:prstClr val="black"/>
                </a:solidFill>
                <a:effectLst/>
                <a:uLnTx/>
                <a:uFillTx/>
                <a:latin typeface="Calibri"/>
                <a:ea typeface="+mn-ea"/>
                <a:cs typeface="+mn-cs"/>
              </a:rPr>
              <a:t>Tasking</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2" name="Rechteck: abgerundete Ecken 41">
            <a:extLst>
              <a:ext uri="{FF2B5EF4-FFF2-40B4-BE49-F238E27FC236}">
                <a16:creationId xmlns:a16="http://schemas.microsoft.com/office/drawing/2014/main" id="{3885E62C-BB6E-4C95-AF39-69F00C749F0A}"/>
              </a:ext>
            </a:extLst>
          </p:cNvPr>
          <p:cNvSpPr/>
          <p:nvPr/>
        </p:nvSpPr>
        <p:spPr>
          <a:xfrm>
            <a:off x="3192566" y="3232337"/>
            <a:ext cx="513000" cy="828124"/>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pic>
        <p:nvPicPr>
          <p:cNvPr id="43" name="Grafik 42">
            <a:extLst>
              <a:ext uri="{FF2B5EF4-FFF2-40B4-BE49-F238E27FC236}">
                <a16:creationId xmlns:a16="http://schemas.microsoft.com/office/drawing/2014/main" id="{3E55E33A-A05F-47E7-BF1B-8C774BA7C7F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602" t="24729" r="1076" b="12759"/>
          <a:stretch/>
        </p:blipFill>
        <p:spPr>
          <a:xfrm>
            <a:off x="1906735" y="3489787"/>
            <a:ext cx="1193087" cy="499868"/>
          </a:xfrm>
          <a:prstGeom prst="rect">
            <a:avLst/>
          </a:prstGeom>
        </p:spPr>
      </p:pic>
      <p:sp>
        <p:nvSpPr>
          <p:cNvPr id="44" name="Textfeld 43">
            <a:extLst>
              <a:ext uri="{FF2B5EF4-FFF2-40B4-BE49-F238E27FC236}">
                <a16:creationId xmlns:a16="http://schemas.microsoft.com/office/drawing/2014/main" id="{0AB45178-5D3B-46E1-A2E5-908ED463362F}"/>
              </a:ext>
            </a:extLst>
          </p:cNvPr>
          <p:cNvSpPr txBox="1"/>
          <p:nvPr/>
        </p:nvSpPr>
        <p:spPr>
          <a:xfrm>
            <a:off x="1204989" y="2795366"/>
            <a:ext cx="26884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Performance-based Factors: response strategies, error sensitivity &amp; learning ability</a:t>
            </a:r>
          </a:p>
        </p:txBody>
      </p:sp>
      <p:pic>
        <p:nvPicPr>
          <p:cNvPr id="24" name="Grafik 23">
            <a:extLst>
              <a:ext uri="{FF2B5EF4-FFF2-40B4-BE49-F238E27FC236}">
                <a16:creationId xmlns:a16="http://schemas.microsoft.com/office/drawing/2014/main" id="{591D250F-FB33-41CD-8906-D407A7FEADA7}"/>
              </a:ext>
            </a:extLst>
          </p:cNvPr>
          <p:cNvPicPr>
            <a:picLocks noChangeAspect="1"/>
          </p:cNvPicPr>
          <p:nvPr/>
        </p:nvPicPr>
        <p:blipFill rotWithShape="1">
          <a:blip r:embed="rId6"/>
          <a:srcRect l="115" r="115"/>
          <a:stretch/>
        </p:blipFill>
        <p:spPr>
          <a:xfrm>
            <a:off x="928989" y="3875515"/>
            <a:ext cx="872771" cy="692109"/>
          </a:xfrm>
          <a:prstGeom prst="rect">
            <a:avLst/>
          </a:prstGeom>
          <a:noFill/>
          <a:ln w="9525" cap="flat" cmpd="sng" algn="ctr">
            <a:noFill/>
            <a:prstDash val="solid"/>
            <a:round/>
            <a:headEnd type="none" w="med" len="med"/>
            <a:tailEnd type="none" w="med" len="med"/>
          </a:ln>
        </p:spPr>
      </p:pic>
      <p:sp>
        <p:nvSpPr>
          <p:cNvPr id="8" name="Pfeil: nach rechts 7">
            <a:extLst>
              <a:ext uri="{FF2B5EF4-FFF2-40B4-BE49-F238E27FC236}">
                <a16:creationId xmlns:a16="http://schemas.microsoft.com/office/drawing/2014/main" id="{92E6BD49-5428-4F62-949F-2A30528204B9}"/>
              </a:ext>
            </a:extLst>
          </p:cNvPr>
          <p:cNvSpPr/>
          <p:nvPr/>
        </p:nvSpPr>
        <p:spPr>
          <a:xfrm>
            <a:off x="3815916" y="3616774"/>
            <a:ext cx="302857" cy="149993"/>
          </a:xfrm>
          <a:prstGeom prst="rightArrow">
            <a:avLst/>
          </a:prstGeom>
          <a:solidFill>
            <a:srgbClr val="CCA326"/>
          </a:solid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nvGrpSpPr>
          <p:cNvPr id="9" name="Gruppieren 8">
            <a:extLst>
              <a:ext uri="{FF2B5EF4-FFF2-40B4-BE49-F238E27FC236}">
                <a16:creationId xmlns:a16="http://schemas.microsoft.com/office/drawing/2014/main" id="{F9F0DCC3-0797-4EA8-971E-02C3804C334F}"/>
              </a:ext>
            </a:extLst>
          </p:cNvPr>
          <p:cNvGrpSpPr/>
          <p:nvPr/>
        </p:nvGrpSpPr>
        <p:grpSpPr>
          <a:xfrm>
            <a:off x="7119960" y="2858881"/>
            <a:ext cx="1566840" cy="1723557"/>
            <a:chOff x="9667618" y="3811841"/>
            <a:chExt cx="2089120" cy="2298076"/>
          </a:xfrm>
        </p:grpSpPr>
        <p:sp>
          <p:nvSpPr>
            <p:cNvPr id="12" name="Freihandform: Form 11">
              <a:extLst>
                <a:ext uri="{FF2B5EF4-FFF2-40B4-BE49-F238E27FC236}">
                  <a16:creationId xmlns:a16="http://schemas.microsoft.com/office/drawing/2014/main" id="{9A5A7154-F169-4308-98A4-4226A70DAB1C}"/>
                </a:ext>
              </a:extLst>
            </p:cNvPr>
            <p:cNvSpPr/>
            <p:nvPr/>
          </p:nvSpPr>
          <p:spPr>
            <a:xfrm>
              <a:off x="10845800" y="4486772"/>
              <a:ext cx="716280" cy="797965"/>
            </a:xfrm>
            <a:custGeom>
              <a:avLst/>
              <a:gdLst>
                <a:gd name="connsiteX0" fmla="*/ 0 w 716280"/>
                <a:gd name="connsiteY0" fmla="*/ 514711 h 797965"/>
                <a:gd name="connsiteX1" fmla="*/ 55880 w 716280"/>
                <a:gd name="connsiteY1" fmla="*/ 616311 h 797965"/>
                <a:gd name="connsiteX2" fmla="*/ 101600 w 716280"/>
                <a:gd name="connsiteY2" fmla="*/ 611231 h 797965"/>
                <a:gd name="connsiteX3" fmla="*/ 167640 w 716280"/>
                <a:gd name="connsiteY3" fmla="*/ 540111 h 797965"/>
                <a:gd name="connsiteX4" fmla="*/ 223520 w 716280"/>
                <a:gd name="connsiteY4" fmla="*/ 595991 h 797965"/>
                <a:gd name="connsiteX5" fmla="*/ 335280 w 716280"/>
                <a:gd name="connsiteY5" fmla="*/ 52431 h 797965"/>
                <a:gd name="connsiteX6" fmla="*/ 350520 w 716280"/>
                <a:gd name="connsiteY6" fmla="*/ 21951 h 797965"/>
                <a:gd name="connsiteX7" fmla="*/ 396240 w 716280"/>
                <a:gd name="connsiteY7" fmla="*/ 57511 h 797965"/>
                <a:gd name="connsiteX8" fmla="*/ 406400 w 716280"/>
                <a:gd name="connsiteY8" fmla="*/ 67671 h 797965"/>
                <a:gd name="connsiteX9" fmla="*/ 533400 w 716280"/>
                <a:gd name="connsiteY9" fmla="*/ 783951 h 797965"/>
                <a:gd name="connsiteX10" fmla="*/ 716280 w 716280"/>
                <a:gd name="connsiteY10" fmla="*/ 560431 h 797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6280" h="797965">
                  <a:moveTo>
                    <a:pt x="0" y="514711"/>
                  </a:moveTo>
                  <a:cubicBezTo>
                    <a:pt x="19473" y="557467"/>
                    <a:pt x="38947" y="600224"/>
                    <a:pt x="55880" y="616311"/>
                  </a:cubicBezTo>
                  <a:cubicBezTo>
                    <a:pt x="72813" y="632398"/>
                    <a:pt x="82973" y="623931"/>
                    <a:pt x="101600" y="611231"/>
                  </a:cubicBezTo>
                  <a:cubicBezTo>
                    <a:pt x="120227" y="598531"/>
                    <a:pt x="147320" y="542651"/>
                    <a:pt x="167640" y="540111"/>
                  </a:cubicBezTo>
                  <a:cubicBezTo>
                    <a:pt x="187960" y="537571"/>
                    <a:pt x="195580" y="677271"/>
                    <a:pt x="223520" y="595991"/>
                  </a:cubicBezTo>
                  <a:cubicBezTo>
                    <a:pt x="251460" y="514711"/>
                    <a:pt x="314113" y="148104"/>
                    <a:pt x="335280" y="52431"/>
                  </a:cubicBezTo>
                  <a:cubicBezTo>
                    <a:pt x="356447" y="-43242"/>
                    <a:pt x="340360" y="21104"/>
                    <a:pt x="350520" y="21951"/>
                  </a:cubicBezTo>
                  <a:cubicBezTo>
                    <a:pt x="360680" y="22798"/>
                    <a:pt x="396240" y="57511"/>
                    <a:pt x="396240" y="57511"/>
                  </a:cubicBezTo>
                  <a:cubicBezTo>
                    <a:pt x="405553" y="65131"/>
                    <a:pt x="383540" y="-53402"/>
                    <a:pt x="406400" y="67671"/>
                  </a:cubicBezTo>
                  <a:cubicBezTo>
                    <a:pt x="429260" y="188744"/>
                    <a:pt x="481753" y="701824"/>
                    <a:pt x="533400" y="783951"/>
                  </a:cubicBezTo>
                  <a:cubicBezTo>
                    <a:pt x="585047" y="866078"/>
                    <a:pt x="716280" y="560431"/>
                    <a:pt x="716280" y="560431"/>
                  </a:cubicBezTo>
                </a:path>
              </a:pathLst>
            </a:custGeom>
            <a:noFill/>
            <a:ln>
              <a:solidFill>
                <a:srgbClr val="CCA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cxnSp>
          <p:nvCxnSpPr>
            <p:cNvPr id="57" name="Gerader Verbinder 56">
              <a:extLst>
                <a:ext uri="{FF2B5EF4-FFF2-40B4-BE49-F238E27FC236}">
                  <a16:creationId xmlns:a16="http://schemas.microsoft.com/office/drawing/2014/main" id="{4F6CCBBA-C0C3-46D7-A0C9-1F1B43125EE5}"/>
                </a:ext>
              </a:extLst>
            </p:cNvPr>
            <p:cNvCxnSpPr>
              <a:cxnSpLocks/>
            </p:cNvCxnSpPr>
            <p:nvPr/>
          </p:nvCxnSpPr>
          <p:spPr>
            <a:xfrm>
              <a:off x="10072269" y="4282417"/>
              <a:ext cx="0" cy="1212850"/>
            </a:xfrm>
            <a:prstGeom prst="line">
              <a:avLst/>
            </a:prstGeom>
            <a:noFill/>
            <a:ln w="28575" cap="flat" cmpd="sng" algn="ctr">
              <a:solidFill>
                <a:schemeClr val="tx1"/>
              </a:solidFill>
              <a:prstDash val="solid"/>
              <a:miter lim="800000"/>
            </a:ln>
            <a:effectLst/>
          </p:spPr>
        </p:cxnSp>
        <p:sp>
          <p:nvSpPr>
            <p:cNvPr id="58" name="Textfeld 57">
              <a:extLst>
                <a:ext uri="{FF2B5EF4-FFF2-40B4-BE49-F238E27FC236}">
                  <a16:creationId xmlns:a16="http://schemas.microsoft.com/office/drawing/2014/main" id="{EECC32F9-7552-4206-A5E5-EF71FA86448A}"/>
                </a:ext>
              </a:extLst>
            </p:cNvPr>
            <p:cNvSpPr txBox="1"/>
            <p:nvPr/>
          </p:nvSpPr>
          <p:spPr>
            <a:xfrm>
              <a:off x="9667618" y="4187502"/>
              <a:ext cx="461665" cy="1323910"/>
            </a:xfrm>
            <a:prstGeom prst="rect">
              <a:avLst/>
            </a:prstGeom>
            <a:noFill/>
          </p:spPr>
          <p:txBody>
            <a:bodyPr vert="vert270"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prstClr val="black"/>
                  </a:solidFill>
                  <a:effectLst/>
                  <a:uLnTx/>
                  <a:uFillTx/>
                  <a:latin typeface="Quicksand"/>
                  <a:ea typeface="Quicksand"/>
                  <a:cs typeface="Quicksand"/>
                  <a:sym typeface="Arial"/>
                </a:rPr>
                <a:t>RTs/ERs/ERN</a:t>
              </a:r>
            </a:p>
          </p:txBody>
        </p:sp>
        <p:cxnSp>
          <p:nvCxnSpPr>
            <p:cNvPr id="59" name="Gerader Verbinder 58">
              <a:extLst>
                <a:ext uri="{FF2B5EF4-FFF2-40B4-BE49-F238E27FC236}">
                  <a16:creationId xmlns:a16="http://schemas.microsoft.com/office/drawing/2014/main" id="{34C12C5A-C7A2-4755-BAAB-EA62CC350445}"/>
                </a:ext>
              </a:extLst>
            </p:cNvPr>
            <p:cNvCxnSpPr>
              <a:cxnSpLocks/>
            </p:cNvCxnSpPr>
            <p:nvPr/>
          </p:nvCxnSpPr>
          <p:spPr>
            <a:xfrm flipH="1">
              <a:off x="10072272" y="5495267"/>
              <a:ext cx="1334614" cy="0"/>
            </a:xfrm>
            <a:prstGeom prst="line">
              <a:avLst/>
            </a:prstGeom>
            <a:noFill/>
            <a:ln w="28575" cap="flat" cmpd="sng" algn="ctr">
              <a:solidFill>
                <a:schemeClr val="tx1"/>
              </a:solidFill>
              <a:prstDash val="solid"/>
              <a:miter lim="800000"/>
            </a:ln>
            <a:effectLst/>
          </p:spPr>
        </p:cxnSp>
        <p:sp>
          <p:nvSpPr>
            <p:cNvPr id="66" name="Rechteck 65">
              <a:extLst>
                <a:ext uri="{FF2B5EF4-FFF2-40B4-BE49-F238E27FC236}">
                  <a16:creationId xmlns:a16="http://schemas.microsoft.com/office/drawing/2014/main" id="{4D702A3F-BB7B-4FCE-97C1-77883AF655E7}"/>
                </a:ext>
              </a:extLst>
            </p:cNvPr>
            <p:cNvSpPr/>
            <p:nvPr/>
          </p:nvSpPr>
          <p:spPr>
            <a:xfrm>
              <a:off x="11137205" y="4966401"/>
              <a:ext cx="133469" cy="503266"/>
            </a:xfrm>
            <a:prstGeom prst="rect">
              <a:avLst/>
            </a:prstGeom>
            <a:solidFill>
              <a:sysClr val="windowText" lastClr="000000"/>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7" name="Rechteck 66">
              <a:extLst>
                <a:ext uri="{FF2B5EF4-FFF2-40B4-BE49-F238E27FC236}">
                  <a16:creationId xmlns:a16="http://schemas.microsoft.com/office/drawing/2014/main" id="{88440EBE-E6DA-4965-9B72-8A67A0F84517}"/>
                </a:ext>
              </a:extLst>
            </p:cNvPr>
            <p:cNvSpPr/>
            <p:nvPr/>
          </p:nvSpPr>
          <p:spPr>
            <a:xfrm>
              <a:off x="10414938" y="4641127"/>
              <a:ext cx="119138" cy="833639"/>
            </a:xfrm>
            <a:prstGeom prst="rect">
              <a:avLst/>
            </a:prstGeom>
            <a:solidFill>
              <a:srgbClr val="666666"/>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86" name="Textfeld 85">
              <a:extLst>
                <a:ext uri="{FF2B5EF4-FFF2-40B4-BE49-F238E27FC236}">
                  <a16:creationId xmlns:a16="http://schemas.microsoft.com/office/drawing/2014/main" id="{507047BF-F3D6-4F3B-921D-45FABBDACF09}"/>
                </a:ext>
              </a:extLst>
            </p:cNvPr>
            <p:cNvSpPr txBox="1"/>
            <p:nvPr/>
          </p:nvSpPr>
          <p:spPr>
            <a:xfrm>
              <a:off x="10855298" y="5501801"/>
              <a:ext cx="901440" cy="6081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Switcher, Response </a:t>
              </a:r>
              <a:r>
                <a:rPr kumimoji="0" lang="de-DE" sz="788"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grouper</a:t>
              </a:r>
              <a:endParaRPr kumimoji="0" lang="en-US"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Textfeld 86">
              <a:extLst>
                <a:ext uri="{FF2B5EF4-FFF2-40B4-BE49-F238E27FC236}">
                  <a16:creationId xmlns:a16="http://schemas.microsoft.com/office/drawing/2014/main" id="{ACC53F22-092F-4EB1-AEFA-6B62D8D59AB3}"/>
                </a:ext>
              </a:extLst>
            </p:cNvPr>
            <p:cNvSpPr txBox="1"/>
            <p:nvPr/>
          </p:nvSpPr>
          <p:spPr>
            <a:xfrm>
              <a:off x="10140145" y="5501801"/>
              <a:ext cx="815640" cy="284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endParaRPr kumimoji="0" lang="en-US"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Freihandform: Form 10">
              <a:extLst>
                <a:ext uri="{FF2B5EF4-FFF2-40B4-BE49-F238E27FC236}">
                  <a16:creationId xmlns:a16="http://schemas.microsoft.com/office/drawing/2014/main" id="{99A080B4-7F89-48A4-AF99-C111932E3904}"/>
                </a:ext>
              </a:extLst>
            </p:cNvPr>
            <p:cNvSpPr/>
            <p:nvPr/>
          </p:nvSpPr>
          <p:spPr>
            <a:xfrm>
              <a:off x="10099040" y="4806583"/>
              <a:ext cx="619760" cy="478154"/>
            </a:xfrm>
            <a:custGeom>
              <a:avLst/>
              <a:gdLst>
                <a:gd name="connsiteX0" fmla="*/ 0 w 619760"/>
                <a:gd name="connsiteY0" fmla="*/ 242937 h 478154"/>
                <a:gd name="connsiteX1" fmla="*/ 81280 w 619760"/>
                <a:gd name="connsiteY1" fmla="*/ 339457 h 478154"/>
                <a:gd name="connsiteX2" fmla="*/ 172720 w 619760"/>
                <a:gd name="connsiteY2" fmla="*/ 268337 h 478154"/>
                <a:gd name="connsiteX3" fmla="*/ 228600 w 619760"/>
                <a:gd name="connsiteY3" fmla="*/ 298817 h 478154"/>
                <a:gd name="connsiteX4" fmla="*/ 355600 w 619760"/>
                <a:gd name="connsiteY4" fmla="*/ 34657 h 478154"/>
                <a:gd name="connsiteX5" fmla="*/ 391160 w 619760"/>
                <a:gd name="connsiteY5" fmla="*/ 4177 h 478154"/>
                <a:gd name="connsiteX6" fmla="*/ 396240 w 619760"/>
                <a:gd name="connsiteY6" fmla="*/ 44817 h 478154"/>
                <a:gd name="connsiteX7" fmla="*/ 421640 w 619760"/>
                <a:gd name="connsiteY7" fmla="*/ 44817 h 478154"/>
                <a:gd name="connsiteX8" fmla="*/ 513080 w 619760"/>
                <a:gd name="connsiteY8" fmla="*/ 466457 h 478154"/>
                <a:gd name="connsiteX9" fmla="*/ 619760 w 619760"/>
                <a:gd name="connsiteY9" fmla="*/ 319137 h 47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760" h="478154">
                  <a:moveTo>
                    <a:pt x="0" y="242937"/>
                  </a:moveTo>
                  <a:cubicBezTo>
                    <a:pt x="26246" y="289080"/>
                    <a:pt x="52493" y="335224"/>
                    <a:pt x="81280" y="339457"/>
                  </a:cubicBezTo>
                  <a:cubicBezTo>
                    <a:pt x="110067" y="343690"/>
                    <a:pt x="148167" y="275110"/>
                    <a:pt x="172720" y="268337"/>
                  </a:cubicBezTo>
                  <a:cubicBezTo>
                    <a:pt x="197273" y="261564"/>
                    <a:pt x="198120" y="337764"/>
                    <a:pt x="228600" y="298817"/>
                  </a:cubicBezTo>
                  <a:cubicBezTo>
                    <a:pt x="259080" y="259870"/>
                    <a:pt x="328507" y="83764"/>
                    <a:pt x="355600" y="34657"/>
                  </a:cubicBezTo>
                  <a:cubicBezTo>
                    <a:pt x="382693" y="-14450"/>
                    <a:pt x="384387" y="2484"/>
                    <a:pt x="391160" y="4177"/>
                  </a:cubicBezTo>
                  <a:cubicBezTo>
                    <a:pt x="397933" y="5870"/>
                    <a:pt x="391160" y="38044"/>
                    <a:pt x="396240" y="44817"/>
                  </a:cubicBezTo>
                  <a:cubicBezTo>
                    <a:pt x="401320" y="51590"/>
                    <a:pt x="402167" y="-25456"/>
                    <a:pt x="421640" y="44817"/>
                  </a:cubicBezTo>
                  <a:cubicBezTo>
                    <a:pt x="441113" y="115090"/>
                    <a:pt x="480060" y="420737"/>
                    <a:pt x="513080" y="466457"/>
                  </a:cubicBezTo>
                  <a:cubicBezTo>
                    <a:pt x="546100" y="512177"/>
                    <a:pt x="582930" y="415657"/>
                    <a:pt x="619760" y="319137"/>
                  </a:cubicBezTo>
                </a:path>
              </a:pathLst>
            </a:custGeom>
            <a:no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46" name="Textfeld 45">
              <a:extLst>
                <a:ext uri="{FF2B5EF4-FFF2-40B4-BE49-F238E27FC236}">
                  <a16:creationId xmlns:a16="http://schemas.microsoft.com/office/drawing/2014/main" id="{32FE66AD-8B6B-4433-811D-820054D33B5E}"/>
                </a:ext>
              </a:extLst>
            </p:cNvPr>
            <p:cNvSpPr txBox="1"/>
            <p:nvPr/>
          </p:nvSpPr>
          <p:spPr>
            <a:xfrm>
              <a:off x="10174314" y="3811841"/>
              <a:ext cx="1130531" cy="30777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Expectations</a:t>
              </a:r>
            </a:p>
          </p:txBody>
        </p:sp>
      </p:grpSp>
      <p:grpSp>
        <p:nvGrpSpPr>
          <p:cNvPr id="6" name="Gruppieren 5">
            <a:extLst>
              <a:ext uri="{FF2B5EF4-FFF2-40B4-BE49-F238E27FC236}">
                <a16:creationId xmlns:a16="http://schemas.microsoft.com/office/drawing/2014/main" id="{9025D935-413C-41DE-A48E-BB0F3E08CD3B}"/>
              </a:ext>
            </a:extLst>
          </p:cNvPr>
          <p:cNvGrpSpPr/>
          <p:nvPr/>
        </p:nvGrpSpPr>
        <p:grpSpPr>
          <a:xfrm>
            <a:off x="4139952" y="2802250"/>
            <a:ext cx="2988020" cy="1749208"/>
            <a:chOff x="5719890" y="3736334"/>
            <a:chExt cx="3984026" cy="2332277"/>
          </a:xfrm>
        </p:grpSpPr>
        <p:sp>
          <p:nvSpPr>
            <p:cNvPr id="47" name="Textfeld 46">
              <a:extLst>
                <a:ext uri="{FF2B5EF4-FFF2-40B4-BE49-F238E27FC236}">
                  <a16:creationId xmlns:a16="http://schemas.microsoft.com/office/drawing/2014/main" id="{A1468B76-3FD1-4324-9908-B097581D1BB7}"/>
                </a:ext>
              </a:extLst>
            </p:cNvPr>
            <p:cNvSpPr txBox="1"/>
            <p:nvPr/>
          </p:nvSpPr>
          <p:spPr>
            <a:xfrm>
              <a:off x="5719890" y="3736334"/>
              <a:ext cx="3984026"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Behavioral Outcomes: Response times, Error Rates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EEG Outcomes: Error-related negativity</a:t>
              </a:r>
            </a:p>
          </p:txBody>
        </p:sp>
        <p:pic>
          <p:nvPicPr>
            <p:cNvPr id="45" name="Grafik 44">
              <a:extLst>
                <a:ext uri="{FF2B5EF4-FFF2-40B4-BE49-F238E27FC236}">
                  <a16:creationId xmlns:a16="http://schemas.microsoft.com/office/drawing/2014/main" id="{50245031-DDE5-4911-B0D6-9A0C1898EFDA}"/>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5784382" y="4338908"/>
              <a:ext cx="1409185" cy="1496498"/>
            </a:xfrm>
            <a:prstGeom prst="rect">
              <a:avLst/>
            </a:prstGeom>
          </p:spPr>
        </p:pic>
        <p:sp>
          <p:nvSpPr>
            <p:cNvPr id="5" name="Rechteck: abgerundete Ecken 4">
              <a:extLst>
                <a:ext uri="{FF2B5EF4-FFF2-40B4-BE49-F238E27FC236}">
                  <a16:creationId xmlns:a16="http://schemas.microsoft.com/office/drawing/2014/main" id="{322F2688-3FC5-4F6A-AADA-07D898477DD7}"/>
                </a:ext>
              </a:extLst>
            </p:cNvPr>
            <p:cNvSpPr/>
            <p:nvPr/>
          </p:nvSpPr>
          <p:spPr>
            <a:xfrm>
              <a:off x="6948076" y="4309781"/>
              <a:ext cx="300075" cy="63138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nvGrpSpPr>
            <p:cNvPr id="49" name="Gruppieren 48">
              <a:extLst>
                <a:ext uri="{FF2B5EF4-FFF2-40B4-BE49-F238E27FC236}">
                  <a16:creationId xmlns:a16="http://schemas.microsoft.com/office/drawing/2014/main" id="{EF0F1E90-1581-400B-80D1-B6D33DBF9451}"/>
                </a:ext>
              </a:extLst>
            </p:cNvPr>
            <p:cNvGrpSpPr/>
            <p:nvPr/>
          </p:nvGrpSpPr>
          <p:grpSpPr>
            <a:xfrm>
              <a:off x="7069238" y="4266834"/>
              <a:ext cx="2402394" cy="1801777"/>
              <a:chOff x="8947315" y="4242162"/>
              <a:chExt cx="2621293" cy="2004028"/>
            </a:xfrm>
          </p:grpSpPr>
          <p:sp>
            <p:nvSpPr>
              <p:cNvPr id="51" name="Textfeld 50">
                <a:extLst>
                  <a:ext uri="{FF2B5EF4-FFF2-40B4-BE49-F238E27FC236}">
                    <a16:creationId xmlns:a16="http://schemas.microsoft.com/office/drawing/2014/main" id="{FB866F3C-6395-47AF-97A1-A7D0F0B9E1C0}"/>
                  </a:ext>
                </a:extLst>
              </p:cNvPr>
              <p:cNvSpPr txBox="1"/>
              <p:nvPr/>
            </p:nvSpPr>
            <p:spPr>
              <a:xfrm>
                <a:off x="10166625" y="5938098"/>
                <a:ext cx="679102" cy="30809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2" name="Textfeld 51">
                <a:extLst>
                  <a:ext uri="{FF2B5EF4-FFF2-40B4-BE49-F238E27FC236}">
                    <a16:creationId xmlns:a16="http://schemas.microsoft.com/office/drawing/2014/main" id="{8745EF31-82F2-40D4-9D23-927B8248AD50}"/>
                  </a:ext>
                </a:extLst>
              </p:cNvPr>
              <p:cNvSpPr txBox="1"/>
              <p:nvPr/>
            </p:nvSpPr>
            <p:spPr>
              <a:xfrm rot="16200000">
                <a:off x="8597784" y="4857454"/>
                <a:ext cx="1001300" cy="3022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Error Rates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50" name="Grafik 49">
                <a:extLst>
                  <a:ext uri="{FF2B5EF4-FFF2-40B4-BE49-F238E27FC236}">
                    <a16:creationId xmlns:a16="http://schemas.microsoft.com/office/drawing/2014/main" id="{D819B429-366F-4961-814D-907DD304F285}"/>
                  </a:ext>
                </a:extLst>
              </p:cNvPr>
              <p:cNvPicPr>
                <a:picLocks noChangeAspect="1"/>
              </p:cNvPicPr>
              <p:nvPr/>
            </p:nvPicPr>
            <p:blipFill rotWithShape="1">
              <a:blip r:embed="rId8"/>
              <a:srcRect l="8324" t="2966" b="9289"/>
              <a:stretch/>
            </p:blipFill>
            <p:spPr>
              <a:xfrm>
                <a:off x="9221544" y="4242162"/>
                <a:ext cx="2347064" cy="1759836"/>
              </a:xfrm>
              <a:prstGeom prst="rect">
                <a:avLst/>
              </a:prstGeom>
            </p:spPr>
          </p:pic>
        </p:grpSp>
      </p:grpSp>
      <p:sp>
        <p:nvSpPr>
          <p:cNvPr id="48" name="Textfeld 47">
            <a:extLst>
              <a:ext uri="{FF2B5EF4-FFF2-40B4-BE49-F238E27FC236}">
                <a16:creationId xmlns:a16="http://schemas.microsoft.com/office/drawing/2014/main" id="{8A373B30-EF3D-4069-8AE5-1DC17441E88B}"/>
              </a:ext>
            </a:extLst>
          </p:cNvPr>
          <p:cNvSpPr txBox="1"/>
          <p:nvPr/>
        </p:nvSpPr>
        <p:spPr>
          <a:xfrm>
            <a:off x="1968824" y="1378332"/>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53" name="Pfeil: nach rechts 52">
            <a:extLst>
              <a:ext uri="{FF2B5EF4-FFF2-40B4-BE49-F238E27FC236}">
                <a16:creationId xmlns:a16="http://schemas.microsoft.com/office/drawing/2014/main" id="{3787BF2C-1AFD-4B15-ADED-425FB2192CEE}"/>
              </a:ext>
            </a:extLst>
          </p:cNvPr>
          <p:cNvSpPr/>
          <p:nvPr/>
        </p:nvSpPr>
        <p:spPr>
          <a:xfrm>
            <a:off x="1687428" y="183612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4" name="Pfeil: nach rechts 53">
            <a:extLst>
              <a:ext uri="{FF2B5EF4-FFF2-40B4-BE49-F238E27FC236}">
                <a16:creationId xmlns:a16="http://schemas.microsoft.com/office/drawing/2014/main" id="{88259B80-DC7B-451E-9F4A-031F3EAA5448}"/>
              </a:ext>
            </a:extLst>
          </p:cNvPr>
          <p:cNvSpPr/>
          <p:nvPr/>
        </p:nvSpPr>
        <p:spPr>
          <a:xfrm>
            <a:off x="1687428" y="1985838"/>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5" name="Textfeld 54">
            <a:extLst>
              <a:ext uri="{FF2B5EF4-FFF2-40B4-BE49-F238E27FC236}">
                <a16:creationId xmlns:a16="http://schemas.microsoft.com/office/drawing/2014/main" id="{6F8B74F1-CDD7-4495-81CF-55E0D4596CF3}"/>
              </a:ext>
            </a:extLst>
          </p:cNvPr>
          <p:cNvSpPr txBox="1"/>
          <p:nvPr/>
        </p:nvSpPr>
        <p:spPr>
          <a:xfrm>
            <a:off x="527374" y="1431712"/>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56" name="Pfeil: nach rechts 55">
            <a:extLst>
              <a:ext uri="{FF2B5EF4-FFF2-40B4-BE49-F238E27FC236}">
                <a16:creationId xmlns:a16="http://schemas.microsoft.com/office/drawing/2014/main" id="{717F1F56-7933-4B3A-9A69-32002164EA64}"/>
              </a:ext>
            </a:extLst>
          </p:cNvPr>
          <p:cNvSpPr/>
          <p:nvPr/>
        </p:nvSpPr>
        <p:spPr>
          <a:xfrm>
            <a:off x="1687428" y="148159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0" name="Pfeil: nach rechts 59">
            <a:extLst>
              <a:ext uri="{FF2B5EF4-FFF2-40B4-BE49-F238E27FC236}">
                <a16:creationId xmlns:a16="http://schemas.microsoft.com/office/drawing/2014/main" id="{C1CD0058-7C47-44FC-BFF9-9FC56E56C4CD}"/>
              </a:ext>
            </a:extLst>
          </p:cNvPr>
          <p:cNvSpPr/>
          <p:nvPr/>
        </p:nvSpPr>
        <p:spPr>
          <a:xfrm>
            <a:off x="1687428" y="1631304"/>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3" name="Textfeld 12">
            <a:extLst>
              <a:ext uri="{FF2B5EF4-FFF2-40B4-BE49-F238E27FC236}">
                <a16:creationId xmlns:a16="http://schemas.microsoft.com/office/drawing/2014/main" id="{E4C6B332-2D7B-778B-D6CA-894E3056F3B8}"/>
              </a:ext>
            </a:extLst>
          </p:cNvPr>
          <p:cNvSpPr txBox="1"/>
          <p:nvPr/>
        </p:nvSpPr>
        <p:spPr>
          <a:xfrm>
            <a:off x="584200" y="1073150"/>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a:ln>
                  <a:noFill/>
                </a:ln>
                <a:solidFill>
                  <a:prstClr val="black"/>
                </a:solidFill>
                <a:effectLst/>
                <a:uLnTx/>
                <a:uFillTx/>
                <a:latin typeface="Arial"/>
                <a:ea typeface="+mn-ea"/>
                <a:cs typeface="+mn-cs"/>
              </a:rPr>
              <a:t>​</a:t>
            </a:r>
          </a:p>
        </p:txBody>
      </p:sp>
      <p:sp>
        <p:nvSpPr>
          <p:cNvPr id="61" name="Textfeld 60">
            <a:extLst>
              <a:ext uri="{FF2B5EF4-FFF2-40B4-BE49-F238E27FC236}">
                <a16:creationId xmlns:a16="http://schemas.microsoft.com/office/drawing/2014/main" id="{2CCC7616-9BF0-482D-ABBE-42EF792B7944}"/>
              </a:ext>
            </a:extLst>
          </p:cNvPr>
          <p:cNvSpPr txBox="1"/>
          <p:nvPr/>
        </p:nvSpPr>
        <p:spPr>
          <a:xfrm>
            <a:off x="804461" y="4748709"/>
            <a:ext cx="782460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Ackerman</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1986; Brüning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2018; Brüning et al., 2021, Ramsey et al., 2003; Rogers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Monsell</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1995; Ullsperger et al., 2014 </a:t>
            </a:r>
          </a:p>
        </p:txBody>
      </p:sp>
    </p:spTree>
    <p:extLst>
      <p:ext uri="{BB962C8B-B14F-4D97-AF65-F5344CB8AC3E}">
        <p14:creationId xmlns:p14="http://schemas.microsoft.com/office/powerpoint/2010/main" val="1885382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97F1F7-0296-447D-9028-05E58D5A236D}"/>
              </a:ext>
            </a:extLst>
          </p:cNvPr>
          <p:cNvSpPr>
            <a:spLocks noGrp="1"/>
          </p:cNvSpPr>
          <p:nvPr>
            <p:ph type="title"/>
          </p:nvPr>
        </p:nvSpPr>
        <p:spPr/>
        <p:txBody>
          <a:bodyPr/>
          <a:lstStyle/>
          <a:p>
            <a:r>
              <a:rPr lang="de-DE" sz="2100" b="0" err="1">
                <a:solidFill>
                  <a:prstClr val="black"/>
                </a:solidFill>
              </a:rPr>
              <a:t>Empirical</a:t>
            </a:r>
            <a:r>
              <a:rPr lang="de-DE" sz="2100" b="0">
                <a:solidFill>
                  <a:prstClr val="black"/>
                </a:solidFill>
              </a:rPr>
              <a:t> </a:t>
            </a:r>
            <a:r>
              <a:rPr lang="de-DE" sz="2100" b="0" err="1">
                <a:solidFill>
                  <a:prstClr val="black"/>
                </a:solidFill>
              </a:rPr>
              <a:t>Objective</a:t>
            </a:r>
            <a:r>
              <a:rPr lang="de-DE" sz="2100" b="0">
                <a:solidFill>
                  <a:prstClr val="black"/>
                </a:solidFill>
              </a:rPr>
              <a:t> 1: </a:t>
            </a:r>
            <a:r>
              <a:rPr lang="en-US" sz="2100" b="0">
                <a:solidFill>
                  <a:prstClr val="black"/>
                </a:solidFill>
              </a:rPr>
              <a:t>Influence of </a:t>
            </a:r>
            <a:r>
              <a:rPr lang="en-US" sz="2100" b="0">
                <a:solidFill>
                  <a:srgbClr val="B99212"/>
                </a:solidFill>
              </a:rPr>
              <a:t>learning ability </a:t>
            </a:r>
            <a:r>
              <a:rPr lang="en-US" sz="2100" b="0">
                <a:solidFill>
                  <a:prstClr val="black"/>
                </a:solidFill>
              </a:rPr>
              <a:t>and </a:t>
            </a:r>
            <a:r>
              <a:rPr lang="en-US" sz="2100" b="0">
                <a:solidFill>
                  <a:srgbClr val="B99212"/>
                </a:solidFill>
              </a:rPr>
              <a:t>error sensitivity </a:t>
            </a:r>
            <a:r>
              <a:rPr lang="en-US" sz="2100" b="0">
                <a:solidFill>
                  <a:prstClr val="black"/>
                </a:solidFill>
              </a:rPr>
              <a:t>on </a:t>
            </a:r>
            <a:r>
              <a:rPr lang="en-US" sz="2100" b="0">
                <a:solidFill>
                  <a:srgbClr val="B99212"/>
                </a:solidFill>
              </a:rPr>
              <a:t>response strategy </a:t>
            </a:r>
            <a:r>
              <a:rPr lang="en-US" sz="2100" b="0">
                <a:solidFill>
                  <a:prstClr val="black"/>
                </a:solidFill>
              </a:rPr>
              <a:t>formation</a:t>
            </a:r>
            <a:endParaRPr lang="en-US"/>
          </a:p>
        </p:txBody>
      </p:sp>
      <p:sp>
        <p:nvSpPr>
          <p:cNvPr id="4" name="Foliennummernplatzhalter 3">
            <a:extLst>
              <a:ext uri="{FF2B5EF4-FFF2-40B4-BE49-F238E27FC236}">
                <a16:creationId xmlns:a16="http://schemas.microsoft.com/office/drawing/2014/main" id="{278DCD06-D416-43A4-B063-4AAE59C282B7}"/>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24</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pSp>
        <p:nvGrpSpPr>
          <p:cNvPr id="33" name="Gruppieren 32">
            <a:extLst>
              <a:ext uri="{FF2B5EF4-FFF2-40B4-BE49-F238E27FC236}">
                <a16:creationId xmlns:a16="http://schemas.microsoft.com/office/drawing/2014/main" id="{38A804D6-34B3-4A33-9B09-DBFAB64A76B4}"/>
              </a:ext>
            </a:extLst>
          </p:cNvPr>
          <p:cNvGrpSpPr/>
          <p:nvPr/>
        </p:nvGrpSpPr>
        <p:grpSpPr>
          <a:xfrm>
            <a:off x="872677" y="2409733"/>
            <a:ext cx="7880527" cy="2268251"/>
            <a:chOff x="9330490" y="3150987"/>
            <a:chExt cx="2734720" cy="1996076"/>
          </a:xfrm>
        </p:grpSpPr>
        <p:sp>
          <p:nvSpPr>
            <p:cNvPr id="34" name="Rechteck: abgerundete Ecken 33">
              <a:extLst>
                <a:ext uri="{FF2B5EF4-FFF2-40B4-BE49-F238E27FC236}">
                  <a16:creationId xmlns:a16="http://schemas.microsoft.com/office/drawing/2014/main" id="{498B4A03-890C-4C6B-A128-52AB57462E59}"/>
                </a:ext>
              </a:extLst>
            </p:cNvPr>
            <p:cNvSpPr/>
            <p:nvPr/>
          </p:nvSpPr>
          <p:spPr>
            <a:xfrm>
              <a:off x="9330490" y="3216736"/>
              <a:ext cx="2734720" cy="1930327"/>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35" name="Rechteck: abgerundete Ecken 34">
              <a:extLst>
                <a:ext uri="{FF2B5EF4-FFF2-40B4-BE49-F238E27FC236}">
                  <a16:creationId xmlns:a16="http://schemas.microsoft.com/office/drawing/2014/main" id="{33CC627E-09BF-42FC-B712-45E915E7406D}"/>
                </a:ext>
              </a:extLst>
            </p:cNvPr>
            <p:cNvSpPr/>
            <p:nvPr/>
          </p:nvSpPr>
          <p:spPr>
            <a:xfrm>
              <a:off x="9330490" y="3150987"/>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prstClr val="white"/>
                  </a:solidFill>
                  <a:effectLst/>
                  <a:uLnTx/>
                  <a:uFillTx/>
                  <a:latin typeface="Calibri"/>
                  <a:ea typeface="+mn-ea"/>
                  <a:cs typeface="+mn-cs"/>
                </a:rPr>
                <a:t>Work Package 1.1 – </a:t>
              </a:r>
              <a:r>
                <a:rPr kumimoji="0" lang="de-DE" sz="1050" b="1" i="0" u="none" strike="noStrike" kern="1200" cap="none" spc="0" normalizeH="0" baseline="0" noProof="0">
                  <a:ln>
                    <a:noFill/>
                  </a:ln>
                  <a:solidFill>
                    <a:prstClr val="white"/>
                  </a:solidFill>
                  <a:effectLst/>
                  <a:uLnTx/>
                  <a:uFillTx/>
                  <a:latin typeface="Calibri"/>
                  <a:ea typeface="+mn-ea"/>
                  <a:cs typeface="+mn-cs"/>
                </a:rPr>
                <a:t>Experiment 1b</a:t>
              </a:r>
              <a:r>
                <a:rPr kumimoji="0" lang="de-DE" sz="1050" b="0" i="0" u="none" strike="noStrike" kern="1200" cap="none" spc="0" normalizeH="0" baseline="0" noProof="0">
                  <a:ln>
                    <a:noFill/>
                  </a:ln>
                  <a:solidFill>
                    <a:prstClr val="white"/>
                  </a:solidFill>
                  <a:effectLst/>
                  <a:uLnTx/>
                  <a:uFillTx/>
                  <a:latin typeface="Calibri"/>
                  <a:ea typeface="+mn-ea"/>
                  <a:cs typeface="+mn-cs"/>
                </a:rPr>
                <a:t>, n = 90 </a:t>
              </a:r>
              <a:r>
                <a:rPr kumimoji="0" lang="de-DE" sz="1050" b="0" i="0" u="none" strike="noStrike" kern="1200" cap="none" spc="0" normalizeH="0" baseline="0" noProof="0" err="1">
                  <a:ln>
                    <a:noFill/>
                  </a:ln>
                  <a:solidFill>
                    <a:prstClr val="white"/>
                  </a:solidFill>
                  <a:effectLst/>
                  <a:uLnTx/>
                  <a:uFillTx/>
                  <a:latin typeface="Calibri"/>
                  <a:ea typeface="+mn-ea"/>
                  <a:cs typeface="+mn-cs"/>
                </a:rPr>
                <a:t>participants</a:t>
              </a:r>
              <a:endParaRPr kumimoji="0" lang="en-US" sz="10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69" name="Grafik 68">
            <a:extLst>
              <a:ext uri="{FF2B5EF4-FFF2-40B4-BE49-F238E27FC236}">
                <a16:creationId xmlns:a16="http://schemas.microsoft.com/office/drawing/2014/main" id="{A2D8A705-6CDD-4C27-958B-54E682AF5807}"/>
              </a:ext>
            </a:extLst>
          </p:cNvPr>
          <p:cNvPicPr>
            <a:picLocks noChangeAspect="1"/>
          </p:cNvPicPr>
          <p:nvPr/>
        </p:nvPicPr>
        <p:blipFill>
          <a:blip r:embed="rId3"/>
          <a:stretch>
            <a:fillRect/>
          </a:stretch>
        </p:blipFill>
        <p:spPr>
          <a:xfrm>
            <a:off x="4085946" y="1205403"/>
            <a:ext cx="4848771" cy="1032618"/>
          </a:xfrm>
          <a:prstGeom prst="rect">
            <a:avLst/>
          </a:prstGeom>
        </p:spPr>
      </p:pic>
      <p:sp>
        <p:nvSpPr>
          <p:cNvPr id="40" name="Rechteck: abgerundete Ecken 39">
            <a:extLst>
              <a:ext uri="{FF2B5EF4-FFF2-40B4-BE49-F238E27FC236}">
                <a16:creationId xmlns:a16="http://schemas.microsoft.com/office/drawing/2014/main" id="{94BEA94F-5D5E-409C-BC36-287BF2D62196}"/>
              </a:ext>
            </a:extLst>
          </p:cNvPr>
          <p:cNvSpPr/>
          <p:nvPr/>
        </p:nvSpPr>
        <p:spPr>
          <a:xfrm>
            <a:off x="1205178" y="3140626"/>
            <a:ext cx="2508653" cy="1483352"/>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feld 40">
            <a:extLst>
              <a:ext uri="{FF2B5EF4-FFF2-40B4-BE49-F238E27FC236}">
                <a16:creationId xmlns:a16="http://schemas.microsoft.com/office/drawing/2014/main" id="{F730E234-7107-4F22-9CBB-D00E70699B84}"/>
              </a:ext>
            </a:extLst>
          </p:cNvPr>
          <p:cNvSpPr txBox="1"/>
          <p:nvPr/>
        </p:nvSpPr>
        <p:spPr>
          <a:xfrm>
            <a:off x="1549362" y="3134808"/>
            <a:ext cx="1904662"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Free </a:t>
            </a:r>
            <a:r>
              <a:rPr kumimoji="0" lang="de-DE" sz="900" b="0" i="0" u="none" strike="noStrike" kern="1200" cap="none" spc="0" normalizeH="0" baseline="0" noProof="0" err="1">
                <a:ln>
                  <a:noFill/>
                </a:ln>
                <a:solidFill>
                  <a:prstClr val="black"/>
                </a:solidFill>
                <a:effectLst/>
                <a:uLnTx/>
                <a:uFillTx/>
                <a:latin typeface="Calibri"/>
                <a:ea typeface="+mn-ea"/>
                <a:cs typeface="+mn-cs"/>
              </a:rPr>
              <a:t>Concurrent</a:t>
            </a:r>
            <a:r>
              <a:rPr kumimoji="0" lang="de-DE" sz="900" b="0" i="0" u="none" strike="noStrike" kern="1200" cap="none" spc="0" normalizeH="0" baseline="0" noProof="0">
                <a:ln>
                  <a:noFill/>
                </a:ln>
                <a:solidFill>
                  <a:prstClr val="black"/>
                </a:solidFill>
                <a:effectLst/>
                <a:uLnTx/>
                <a:uFillTx/>
                <a:latin typeface="Calibri"/>
                <a:ea typeface="+mn-ea"/>
                <a:cs typeface="+mn-cs"/>
              </a:rPr>
              <a:t> Dual-</a:t>
            </a:r>
            <a:r>
              <a:rPr kumimoji="0" lang="de-DE" sz="900" b="0" i="0" u="none" strike="noStrike" kern="1200" cap="none" spc="0" normalizeH="0" baseline="0" noProof="0" err="1">
                <a:ln>
                  <a:noFill/>
                </a:ln>
                <a:solidFill>
                  <a:prstClr val="black"/>
                </a:solidFill>
                <a:effectLst/>
                <a:uLnTx/>
                <a:uFillTx/>
                <a:latin typeface="Calibri"/>
                <a:ea typeface="+mn-ea"/>
                <a:cs typeface="+mn-cs"/>
              </a:rPr>
              <a:t>Tasking</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grpSp>
        <p:nvGrpSpPr>
          <p:cNvPr id="9" name="Gruppieren 8">
            <a:extLst>
              <a:ext uri="{FF2B5EF4-FFF2-40B4-BE49-F238E27FC236}">
                <a16:creationId xmlns:a16="http://schemas.microsoft.com/office/drawing/2014/main" id="{725266C4-09B2-4EB5-B94D-D19B627CE8C2}"/>
              </a:ext>
            </a:extLst>
          </p:cNvPr>
          <p:cNvGrpSpPr/>
          <p:nvPr/>
        </p:nvGrpSpPr>
        <p:grpSpPr>
          <a:xfrm>
            <a:off x="3176581" y="4090904"/>
            <a:ext cx="583406" cy="532556"/>
            <a:chOff x="4223792" y="5454538"/>
            <a:chExt cx="777874" cy="710075"/>
          </a:xfrm>
        </p:grpSpPr>
        <p:sp>
          <p:nvSpPr>
            <p:cNvPr id="31" name="Textfeld 30">
              <a:extLst>
                <a:ext uri="{FF2B5EF4-FFF2-40B4-BE49-F238E27FC236}">
                  <a16:creationId xmlns:a16="http://schemas.microsoft.com/office/drawing/2014/main" id="{5C87D906-780E-4B85-826F-75C028430B1F}"/>
                </a:ext>
              </a:extLst>
            </p:cNvPr>
            <p:cNvSpPr txBox="1"/>
            <p:nvPr/>
          </p:nvSpPr>
          <p:spPr>
            <a:xfrm>
              <a:off x="4223792" y="5517232"/>
              <a:ext cx="748370" cy="408343"/>
            </a:xfrm>
            <a:prstGeom prst="rect">
              <a:avLst/>
            </a:prstGeom>
            <a:noFill/>
            <a:ln w="12700">
              <a:noFill/>
            </a:ln>
          </p:spPr>
          <p:txBody>
            <a:bodyPr wrap="square" tIns="27000" bIns="27000" rtlCol="0">
              <a:noAutofit/>
            </a:bodyPr>
            <a:lstStyle>
              <a:defPPr>
                <a:defRPr lang="de-DE"/>
              </a:defPPr>
              <a:lvl1pPr algn="ct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err="1">
                  <a:ln>
                    <a:noFill/>
                  </a:ln>
                  <a:solidFill>
                    <a:prstClr val="black"/>
                  </a:solidFill>
                  <a:effectLst/>
                  <a:uLnTx/>
                  <a:uFillTx/>
                  <a:latin typeface="Calibri"/>
                  <a:ea typeface="+mn-ea"/>
                  <a:cs typeface="+mn-cs"/>
                </a:rPr>
                <a:t>Flanker</a:t>
              </a:r>
              <a:endParaRPr kumimoji="0" lang="de-DE" sz="9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Task</a:t>
              </a:r>
            </a:p>
          </p:txBody>
        </p:sp>
        <p:sp>
          <p:nvSpPr>
            <p:cNvPr id="32" name="Textfeld 31">
              <a:extLst>
                <a:ext uri="{FF2B5EF4-FFF2-40B4-BE49-F238E27FC236}">
                  <a16:creationId xmlns:a16="http://schemas.microsoft.com/office/drawing/2014/main" id="{F4337AF7-2471-4963-92E9-E01AD24EE5FB}"/>
                </a:ext>
              </a:extLst>
            </p:cNvPr>
            <p:cNvSpPr txBox="1"/>
            <p:nvPr/>
          </p:nvSpPr>
          <p:spPr>
            <a:xfrm>
              <a:off x="4253171" y="5916353"/>
              <a:ext cx="74849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a:ln>
                    <a:noFill/>
                  </a:ln>
                  <a:solidFill>
                    <a:prstClr val="black"/>
                  </a:solidFill>
                  <a:effectLst/>
                  <a:uLnTx/>
                  <a:uFillTx/>
                  <a:latin typeface="Calibri"/>
                  <a:ea typeface="+mn-ea"/>
                  <a:cs typeface="+mn-cs"/>
                  <a:sym typeface="Wingdings" panose="05000000000000000000" pitchFamily="2" charset="2"/>
                </a:rPr>
                <a:t></a:t>
              </a:r>
              <a:endParaRPr kumimoji="0" lang="en-US" sz="600" b="0" i="0" u="none" strike="noStrike" kern="1200" cap="none" spc="0" normalizeH="0" baseline="0" noProof="0">
                <a:ln>
                  <a:noFill/>
                </a:ln>
                <a:solidFill>
                  <a:prstClr val="black"/>
                </a:solidFill>
                <a:effectLst/>
                <a:uLnTx/>
                <a:uFillTx/>
                <a:latin typeface="Calibri"/>
                <a:ea typeface="+mn-ea"/>
                <a:cs typeface="+mn-cs"/>
              </a:endParaRPr>
            </a:p>
          </p:txBody>
        </p:sp>
        <p:sp>
          <p:nvSpPr>
            <p:cNvPr id="42" name="Rechteck: abgerundete Ecken 41">
              <a:extLst>
                <a:ext uri="{FF2B5EF4-FFF2-40B4-BE49-F238E27FC236}">
                  <a16:creationId xmlns:a16="http://schemas.microsoft.com/office/drawing/2014/main" id="{3885E62C-BB6E-4C95-AF39-69F00C749F0A}"/>
                </a:ext>
              </a:extLst>
            </p:cNvPr>
            <p:cNvSpPr/>
            <p:nvPr/>
          </p:nvSpPr>
          <p:spPr>
            <a:xfrm>
              <a:off x="4255977" y="5454538"/>
              <a:ext cx="684000" cy="710075"/>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43" name="Grafik 42">
            <a:extLst>
              <a:ext uri="{FF2B5EF4-FFF2-40B4-BE49-F238E27FC236}">
                <a16:creationId xmlns:a16="http://schemas.microsoft.com/office/drawing/2014/main" id="{3E55E33A-A05F-47E7-BF1B-8C774BA7C7F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02" t="24729" r="1076" b="12759"/>
          <a:stretch/>
        </p:blipFill>
        <p:spPr>
          <a:xfrm>
            <a:off x="1905149" y="4068938"/>
            <a:ext cx="1193087" cy="499868"/>
          </a:xfrm>
          <a:prstGeom prst="rect">
            <a:avLst/>
          </a:prstGeom>
        </p:spPr>
      </p:pic>
      <p:sp>
        <p:nvSpPr>
          <p:cNvPr id="44" name="Textfeld 43">
            <a:extLst>
              <a:ext uri="{FF2B5EF4-FFF2-40B4-BE49-F238E27FC236}">
                <a16:creationId xmlns:a16="http://schemas.microsoft.com/office/drawing/2014/main" id="{0AB45178-5D3B-46E1-A2E5-908ED463362F}"/>
              </a:ext>
            </a:extLst>
          </p:cNvPr>
          <p:cNvSpPr txBox="1"/>
          <p:nvPr/>
        </p:nvSpPr>
        <p:spPr>
          <a:xfrm>
            <a:off x="1204989" y="2733768"/>
            <a:ext cx="26884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Performance-based Factors: response strategies, error sensitivity &amp; learning ability</a:t>
            </a:r>
          </a:p>
        </p:txBody>
      </p:sp>
      <p:pic>
        <p:nvPicPr>
          <p:cNvPr id="24" name="Grafik 23">
            <a:extLst>
              <a:ext uri="{FF2B5EF4-FFF2-40B4-BE49-F238E27FC236}">
                <a16:creationId xmlns:a16="http://schemas.microsoft.com/office/drawing/2014/main" id="{591D250F-FB33-41CD-8906-D407A7FEADA7}"/>
              </a:ext>
            </a:extLst>
          </p:cNvPr>
          <p:cNvPicPr>
            <a:picLocks noChangeAspect="1"/>
          </p:cNvPicPr>
          <p:nvPr/>
        </p:nvPicPr>
        <p:blipFill rotWithShape="1">
          <a:blip r:embed="rId5"/>
          <a:srcRect l="115" r="115"/>
          <a:stretch/>
        </p:blipFill>
        <p:spPr>
          <a:xfrm>
            <a:off x="951415" y="3897155"/>
            <a:ext cx="846972" cy="671651"/>
          </a:xfrm>
          <a:prstGeom prst="rect">
            <a:avLst/>
          </a:prstGeom>
          <a:noFill/>
          <a:ln w="9525" cap="flat" cmpd="sng" algn="ctr">
            <a:noFill/>
            <a:prstDash val="solid"/>
            <a:round/>
            <a:headEnd type="none" w="med" len="med"/>
            <a:tailEnd type="none" w="med" len="med"/>
          </a:ln>
        </p:spPr>
      </p:pic>
      <p:sp>
        <p:nvSpPr>
          <p:cNvPr id="46" name="Textfeld 45">
            <a:extLst>
              <a:ext uri="{FF2B5EF4-FFF2-40B4-BE49-F238E27FC236}">
                <a16:creationId xmlns:a16="http://schemas.microsoft.com/office/drawing/2014/main" id="{9A0EAC01-9F09-45E5-A6B4-00EFBE59C62B}"/>
              </a:ext>
            </a:extLst>
          </p:cNvPr>
          <p:cNvSpPr txBox="1"/>
          <p:nvPr/>
        </p:nvSpPr>
        <p:spPr>
          <a:xfrm>
            <a:off x="1618006" y="3296392"/>
            <a:ext cx="394379"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Easy</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feld 47">
            <a:extLst>
              <a:ext uri="{FF2B5EF4-FFF2-40B4-BE49-F238E27FC236}">
                <a16:creationId xmlns:a16="http://schemas.microsoft.com/office/drawing/2014/main" id="{A8BA00C9-707E-437B-B12A-69D27067F6C8}"/>
              </a:ext>
            </a:extLst>
          </p:cNvPr>
          <p:cNvSpPr txBox="1"/>
          <p:nvPr/>
        </p:nvSpPr>
        <p:spPr>
          <a:xfrm>
            <a:off x="2929744" y="3296392"/>
            <a:ext cx="448424"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Hard</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pic>
        <p:nvPicPr>
          <p:cNvPr id="53" name="Grafik 52">
            <a:extLst>
              <a:ext uri="{FF2B5EF4-FFF2-40B4-BE49-F238E27FC236}">
                <a16:creationId xmlns:a16="http://schemas.microsoft.com/office/drawing/2014/main" id="{680CD85B-0071-4285-A1BF-B3EC5B14181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332173" y="3388444"/>
            <a:ext cx="1037099" cy="675000"/>
          </a:xfrm>
          <a:prstGeom prst="rect">
            <a:avLst/>
          </a:prstGeom>
        </p:spPr>
      </p:pic>
      <p:pic>
        <p:nvPicPr>
          <p:cNvPr id="55" name="Grafik 54">
            <a:extLst>
              <a:ext uri="{FF2B5EF4-FFF2-40B4-BE49-F238E27FC236}">
                <a16:creationId xmlns:a16="http://schemas.microsoft.com/office/drawing/2014/main" id="{4F4C5C52-CD77-4C3E-961F-EB4644DE79CD}"/>
              </a:ext>
            </a:extLst>
          </p:cNvPr>
          <p:cNvPicPr>
            <a:picLocks noChangeAspect="1"/>
          </p:cNvPicPr>
          <p:nvPr/>
        </p:nvPicPr>
        <p:blipFill>
          <a:blip r:embed="rId7"/>
          <a:stretch>
            <a:fillRect/>
          </a:stretch>
        </p:blipFill>
        <p:spPr>
          <a:xfrm>
            <a:off x="2545112" y="3455960"/>
            <a:ext cx="1042815" cy="607484"/>
          </a:xfrm>
          <a:prstGeom prst="rect">
            <a:avLst/>
          </a:prstGeom>
        </p:spPr>
      </p:pic>
      <p:sp>
        <p:nvSpPr>
          <p:cNvPr id="60" name="Pfeil: nach rechts 59">
            <a:extLst>
              <a:ext uri="{FF2B5EF4-FFF2-40B4-BE49-F238E27FC236}">
                <a16:creationId xmlns:a16="http://schemas.microsoft.com/office/drawing/2014/main" id="{4E272567-7BED-419C-A066-4431B4DA9781}"/>
              </a:ext>
            </a:extLst>
          </p:cNvPr>
          <p:cNvSpPr/>
          <p:nvPr/>
        </p:nvSpPr>
        <p:spPr>
          <a:xfrm>
            <a:off x="3815916" y="3616774"/>
            <a:ext cx="302857" cy="149993"/>
          </a:xfrm>
          <a:prstGeom prst="rightArrow">
            <a:avLst/>
          </a:prstGeom>
          <a:solidFill>
            <a:srgbClr val="CCA326"/>
          </a:solid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2" name="Textfeld 61">
            <a:extLst>
              <a:ext uri="{FF2B5EF4-FFF2-40B4-BE49-F238E27FC236}">
                <a16:creationId xmlns:a16="http://schemas.microsoft.com/office/drawing/2014/main" id="{F4FEA433-346D-4C42-962B-21722505ECD0}"/>
              </a:ext>
            </a:extLst>
          </p:cNvPr>
          <p:cNvSpPr txBox="1"/>
          <p:nvPr/>
        </p:nvSpPr>
        <p:spPr>
          <a:xfrm>
            <a:off x="4139952" y="2802251"/>
            <a:ext cx="298802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Behavioral Outcomes: Response times, Error Rates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EEG Outcomes: Error-related negativity</a:t>
            </a:r>
          </a:p>
        </p:txBody>
      </p:sp>
      <p:pic>
        <p:nvPicPr>
          <p:cNvPr id="63" name="Grafik 62">
            <a:extLst>
              <a:ext uri="{FF2B5EF4-FFF2-40B4-BE49-F238E27FC236}">
                <a16:creationId xmlns:a16="http://schemas.microsoft.com/office/drawing/2014/main" id="{B3BAF750-01D2-4631-84EA-FC14E5C566F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4188321" y="3254181"/>
            <a:ext cx="1056889" cy="1122374"/>
          </a:xfrm>
          <a:prstGeom prst="rect">
            <a:avLst/>
          </a:prstGeom>
        </p:spPr>
      </p:pic>
      <p:sp>
        <p:nvSpPr>
          <p:cNvPr id="64" name="Rechteck: abgerundete Ecken 63">
            <a:extLst>
              <a:ext uri="{FF2B5EF4-FFF2-40B4-BE49-F238E27FC236}">
                <a16:creationId xmlns:a16="http://schemas.microsoft.com/office/drawing/2014/main" id="{C5D6FB36-822E-489A-8AB2-6E0ACF63978C}"/>
              </a:ext>
            </a:extLst>
          </p:cNvPr>
          <p:cNvSpPr/>
          <p:nvPr/>
        </p:nvSpPr>
        <p:spPr>
          <a:xfrm>
            <a:off x="5061092" y="3232336"/>
            <a:ext cx="225056" cy="47354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nvGrpSpPr>
          <p:cNvPr id="65" name="Gruppieren 64">
            <a:extLst>
              <a:ext uri="{FF2B5EF4-FFF2-40B4-BE49-F238E27FC236}">
                <a16:creationId xmlns:a16="http://schemas.microsoft.com/office/drawing/2014/main" id="{F281B91C-2EE7-4849-BC8E-5861D6528EDB}"/>
              </a:ext>
            </a:extLst>
          </p:cNvPr>
          <p:cNvGrpSpPr/>
          <p:nvPr/>
        </p:nvGrpSpPr>
        <p:grpSpPr>
          <a:xfrm>
            <a:off x="5151964" y="3200125"/>
            <a:ext cx="1801796" cy="1351332"/>
            <a:chOff x="8947315" y="4242162"/>
            <a:chExt cx="2621293" cy="2004028"/>
          </a:xfrm>
        </p:grpSpPr>
        <p:sp>
          <p:nvSpPr>
            <p:cNvPr id="68" name="Textfeld 67">
              <a:extLst>
                <a:ext uri="{FF2B5EF4-FFF2-40B4-BE49-F238E27FC236}">
                  <a16:creationId xmlns:a16="http://schemas.microsoft.com/office/drawing/2014/main" id="{17550242-77C5-4A18-855F-3E2426A51F66}"/>
                </a:ext>
              </a:extLst>
            </p:cNvPr>
            <p:cNvSpPr txBox="1"/>
            <p:nvPr/>
          </p:nvSpPr>
          <p:spPr>
            <a:xfrm>
              <a:off x="10166625" y="5938098"/>
              <a:ext cx="679102" cy="30809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0" name="Textfeld 69">
              <a:extLst>
                <a:ext uri="{FF2B5EF4-FFF2-40B4-BE49-F238E27FC236}">
                  <a16:creationId xmlns:a16="http://schemas.microsoft.com/office/drawing/2014/main" id="{D1249897-7383-432C-95F6-D9F3EB4D7CA7}"/>
                </a:ext>
              </a:extLst>
            </p:cNvPr>
            <p:cNvSpPr txBox="1"/>
            <p:nvPr/>
          </p:nvSpPr>
          <p:spPr>
            <a:xfrm rot="16200000">
              <a:off x="8597783" y="4857455"/>
              <a:ext cx="1001301" cy="3022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Error Rates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76" name="Grafik 75">
              <a:extLst>
                <a:ext uri="{FF2B5EF4-FFF2-40B4-BE49-F238E27FC236}">
                  <a16:creationId xmlns:a16="http://schemas.microsoft.com/office/drawing/2014/main" id="{C55A4687-C234-4594-A4A3-CB6EE273C74D}"/>
                </a:ext>
              </a:extLst>
            </p:cNvPr>
            <p:cNvPicPr>
              <a:picLocks noChangeAspect="1"/>
            </p:cNvPicPr>
            <p:nvPr/>
          </p:nvPicPr>
          <p:blipFill rotWithShape="1">
            <a:blip r:embed="rId9"/>
            <a:srcRect l="8324" t="2966" b="9289"/>
            <a:stretch/>
          </p:blipFill>
          <p:spPr>
            <a:xfrm>
              <a:off x="9221544" y="4242162"/>
              <a:ext cx="2347064" cy="1759836"/>
            </a:xfrm>
            <a:prstGeom prst="rect">
              <a:avLst/>
            </a:prstGeom>
          </p:spPr>
        </p:pic>
      </p:grpSp>
      <p:sp>
        <p:nvSpPr>
          <p:cNvPr id="78" name="Freihandform: Form 77">
            <a:extLst>
              <a:ext uri="{FF2B5EF4-FFF2-40B4-BE49-F238E27FC236}">
                <a16:creationId xmlns:a16="http://schemas.microsoft.com/office/drawing/2014/main" id="{95DDCF89-B31E-40ED-8A0B-43C2FD93F6B7}"/>
              </a:ext>
            </a:extLst>
          </p:cNvPr>
          <p:cNvSpPr/>
          <p:nvPr/>
        </p:nvSpPr>
        <p:spPr>
          <a:xfrm>
            <a:off x="8003597" y="3365079"/>
            <a:ext cx="537210" cy="598474"/>
          </a:xfrm>
          <a:custGeom>
            <a:avLst/>
            <a:gdLst>
              <a:gd name="connsiteX0" fmla="*/ 0 w 716280"/>
              <a:gd name="connsiteY0" fmla="*/ 514711 h 797965"/>
              <a:gd name="connsiteX1" fmla="*/ 55880 w 716280"/>
              <a:gd name="connsiteY1" fmla="*/ 616311 h 797965"/>
              <a:gd name="connsiteX2" fmla="*/ 101600 w 716280"/>
              <a:gd name="connsiteY2" fmla="*/ 611231 h 797965"/>
              <a:gd name="connsiteX3" fmla="*/ 167640 w 716280"/>
              <a:gd name="connsiteY3" fmla="*/ 540111 h 797965"/>
              <a:gd name="connsiteX4" fmla="*/ 223520 w 716280"/>
              <a:gd name="connsiteY4" fmla="*/ 595991 h 797965"/>
              <a:gd name="connsiteX5" fmla="*/ 335280 w 716280"/>
              <a:gd name="connsiteY5" fmla="*/ 52431 h 797965"/>
              <a:gd name="connsiteX6" fmla="*/ 350520 w 716280"/>
              <a:gd name="connsiteY6" fmla="*/ 21951 h 797965"/>
              <a:gd name="connsiteX7" fmla="*/ 396240 w 716280"/>
              <a:gd name="connsiteY7" fmla="*/ 57511 h 797965"/>
              <a:gd name="connsiteX8" fmla="*/ 406400 w 716280"/>
              <a:gd name="connsiteY8" fmla="*/ 67671 h 797965"/>
              <a:gd name="connsiteX9" fmla="*/ 533400 w 716280"/>
              <a:gd name="connsiteY9" fmla="*/ 783951 h 797965"/>
              <a:gd name="connsiteX10" fmla="*/ 716280 w 716280"/>
              <a:gd name="connsiteY10" fmla="*/ 560431 h 797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6280" h="797965">
                <a:moveTo>
                  <a:pt x="0" y="514711"/>
                </a:moveTo>
                <a:cubicBezTo>
                  <a:pt x="19473" y="557467"/>
                  <a:pt x="38947" y="600224"/>
                  <a:pt x="55880" y="616311"/>
                </a:cubicBezTo>
                <a:cubicBezTo>
                  <a:pt x="72813" y="632398"/>
                  <a:pt x="82973" y="623931"/>
                  <a:pt x="101600" y="611231"/>
                </a:cubicBezTo>
                <a:cubicBezTo>
                  <a:pt x="120227" y="598531"/>
                  <a:pt x="147320" y="542651"/>
                  <a:pt x="167640" y="540111"/>
                </a:cubicBezTo>
                <a:cubicBezTo>
                  <a:pt x="187960" y="537571"/>
                  <a:pt x="195580" y="677271"/>
                  <a:pt x="223520" y="595991"/>
                </a:cubicBezTo>
                <a:cubicBezTo>
                  <a:pt x="251460" y="514711"/>
                  <a:pt x="314113" y="148104"/>
                  <a:pt x="335280" y="52431"/>
                </a:cubicBezTo>
                <a:cubicBezTo>
                  <a:pt x="356447" y="-43242"/>
                  <a:pt x="340360" y="21104"/>
                  <a:pt x="350520" y="21951"/>
                </a:cubicBezTo>
                <a:cubicBezTo>
                  <a:pt x="360680" y="22798"/>
                  <a:pt x="396240" y="57511"/>
                  <a:pt x="396240" y="57511"/>
                </a:cubicBezTo>
                <a:cubicBezTo>
                  <a:pt x="405553" y="65131"/>
                  <a:pt x="383540" y="-53402"/>
                  <a:pt x="406400" y="67671"/>
                </a:cubicBezTo>
                <a:cubicBezTo>
                  <a:pt x="429260" y="188744"/>
                  <a:pt x="481753" y="701824"/>
                  <a:pt x="533400" y="783951"/>
                </a:cubicBezTo>
                <a:cubicBezTo>
                  <a:pt x="585047" y="866078"/>
                  <a:pt x="716280" y="560431"/>
                  <a:pt x="716280" y="560431"/>
                </a:cubicBezTo>
              </a:path>
            </a:pathLst>
          </a:custGeom>
          <a:noFill/>
          <a:ln>
            <a:solidFill>
              <a:srgbClr val="CCA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cxnSp>
        <p:nvCxnSpPr>
          <p:cNvPr id="79" name="Gerader Verbinder 78">
            <a:extLst>
              <a:ext uri="{FF2B5EF4-FFF2-40B4-BE49-F238E27FC236}">
                <a16:creationId xmlns:a16="http://schemas.microsoft.com/office/drawing/2014/main" id="{34C4388F-9003-485B-8DEA-3F7A3A9270A7}"/>
              </a:ext>
            </a:extLst>
          </p:cNvPr>
          <p:cNvCxnSpPr>
            <a:cxnSpLocks/>
          </p:cNvCxnSpPr>
          <p:nvPr/>
        </p:nvCxnSpPr>
        <p:spPr>
          <a:xfrm>
            <a:off x="7423448" y="3211813"/>
            <a:ext cx="0" cy="909638"/>
          </a:xfrm>
          <a:prstGeom prst="line">
            <a:avLst/>
          </a:prstGeom>
          <a:noFill/>
          <a:ln w="28575" cap="flat" cmpd="sng" algn="ctr">
            <a:solidFill>
              <a:schemeClr val="tx1"/>
            </a:solidFill>
            <a:prstDash val="solid"/>
            <a:miter lim="800000"/>
          </a:ln>
          <a:effectLst/>
        </p:spPr>
      </p:cxnSp>
      <p:sp>
        <p:nvSpPr>
          <p:cNvPr id="80" name="Textfeld 79">
            <a:extLst>
              <a:ext uri="{FF2B5EF4-FFF2-40B4-BE49-F238E27FC236}">
                <a16:creationId xmlns:a16="http://schemas.microsoft.com/office/drawing/2014/main" id="{9B9C6B80-DA52-49FA-AADD-696DBE7D0541}"/>
              </a:ext>
            </a:extLst>
          </p:cNvPr>
          <p:cNvSpPr txBox="1"/>
          <p:nvPr/>
        </p:nvSpPr>
        <p:spPr>
          <a:xfrm>
            <a:off x="7119960" y="3140627"/>
            <a:ext cx="346249" cy="992932"/>
          </a:xfrm>
          <a:prstGeom prst="rect">
            <a:avLst/>
          </a:prstGeom>
          <a:noFill/>
        </p:spPr>
        <p:txBody>
          <a:bodyPr vert="vert270"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prstClr val="black"/>
                </a:solidFill>
                <a:effectLst/>
                <a:uLnTx/>
                <a:uFillTx/>
                <a:latin typeface="Quicksand"/>
                <a:ea typeface="Quicksand"/>
                <a:cs typeface="Quicksand"/>
                <a:sym typeface="Arial"/>
              </a:rPr>
              <a:t>RTs/ERs/ERN</a:t>
            </a:r>
          </a:p>
        </p:txBody>
      </p:sp>
      <p:cxnSp>
        <p:nvCxnSpPr>
          <p:cNvPr id="81" name="Gerader Verbinder 80">
            <a:extLst>
              <a:ext uri="{FF2B5EF4-FFF2-40B4-BE49-F238E27FC236}">
                <a16:creationId xmlns:a16="http://schemas.microsoft.com/office/drawing/2014/main" id="{92F124CA-FE8F-4282-BDA7-64AE4E2E97C7}"/>
              </a:ext>
            </a:extLst>
          </p:cNvPr>
          <p:cNvCxnSpPr>
            <a:cxnSpLocks/>
          </p:cNvCxnSpPr>
          <p:nvPr/>
        </p:nvCxnSpPr>
        <p:spPr>
          <a:xfrm flipH="1">
            <a:off x="7423450" y="4121450"/>
            <a:ext cx="1000961" cy="0"/>
          </a:xfrm>
          <a:prstGeom prst="line">
            <a:avLst/>
          </a:prstGeom>
          <a:noFill/>
          <a:ln w="28575" cap="flat" cmpd="sng" algn="ctr">
            <a:solidFill>
              <a:schemeClr val="tx1"/>
            </a:solidFill>
            <a:prstDash val="solid"/>
            <a:miter lim="800000"/>
          </a:ln>
          <a:effectLst/>
        </p:spPr>
      </p:cxnSp>
      <p:sp>
        <p:nvSpPr>
          <p:cNvPr id="82" name="Rechteck 81">
            <a:extLst>
              <a:ext uri="{FF2B5EF4-FFF2-40B4-BE49-F238E27FC236}">
                <a16:creationId xmlns:a16="http://schemas.microsoft.com/office/drawing/2014/main" id="{0BDBB46F-A72D-449F-A257-22709B7EC178}"/>
              </a:ext>
            </a:extLst>
          </p:cNvPr>
          <p:cNvSpPr/>
          <p:nvPr/>
        </p:nvSpPr>
        <p:spPr>
          <a:xfrm>
            <a:off x="8222151" y="3724801"/>
            <a:ext cx="100102" cy="377450"/>
          </a:xfrm>
          <a:prstGeom prst="rect">
            <a:avLst/>
          </a:prstGeom>
          <a:solidFill>
            <a:sysClr val="windowText" lastClr="000000"/>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83" name="Rechteck 82">
            <a:extLst>
              <a:ext uri="{FF2B5EF4-FFF2-40B4-BE49-F238E27FC236}">
                <a16:creationId xmlns:a16="http://schemas.microsoft.com/office/drawing/2014/main" id="{72FA45B7-80B7-4BE5-B15E-20E85BE397F5}"/>
              </a:ext>
            </a:extLst>
          </p:cNvPr>
          <p:cNvSpPr/>
          <p:nvPr/>
        </p:nvSpPr>
        <p:spPr>
          <a:xfrm>
            <a:off x="7680450" y="3480846"/>
            <a:ext cx="89354" cy="625229"/>
          </a:xfrm>
          <a:prstGeom prst="rect">
            <a:avLst/>
          </a:prstGeom>
          <a:solidFill>
            <a:srgbClr val="666666"/>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84" name="Textfeld 83">
            <a:extLst>
              <a:ext uri="{FF2B5EF4-FFF2-40B4-BE49-F238E27FC236}">
                <a16:creationId xmlns:a16="http://schemas.microsoft.com/office/drawing/2014/main" id="{6FE26D47-FB80-4C32-A9F4-FCE2E1AA1AAE}"/>
              </a:ext>
            </a:extLst>
          </p:cNvPr>
          <p:cNvSpPr txBox="1"/>
          <p:nvPr/>
        </p:nvSpPr>
        <p:spPr>
          <a:xfrm>
            <a:off x="8005172" y="4120803"/>
            <a:ext cx="678311" cy="4560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Switcher, Response </a:t>
            </a:r>
            <a:r>
              <a:rPr kumimoji="0" lang="de-DE" sz="788"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grouper</a:t>
            </a:r>
            <a:endParaRPr kumimoji="0" lang="en-US"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5" name="Textfeld 84">
            <a:extLst>
              <a:ext uri="{FF2B5EF4-FFF2-40B4-BE49-F238E27FC236}">
                <a16:creationId xmlns:a16="http://schemas.microsoft.com/office/drawing/2014/main" id="{411D834A-5E5B-470C-A0C7-40C1598D04A3}"/>
              </a:ext>
            </a:extLst>
          </p:cNvPr>
          <p:cNvSpPr txBox="1"/>
          <p:nvPr/>
        </p:nvSpPr>
        <p:spPr>
          <a:xfrm>
            <a:off x="7474355" y="4126351"/>
            <a:ext cx="611730" cy="2135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endParaRPr kumimoji="0" lang="en-US"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8" name="Freihandform: Form 87">
            <a:extLst>
              <a:ext uri="{FF2B5EF4-FFF2-40B4-BE49-F238E27FC236}">
                <a16:creationId xmlns:a16="http://schemas.microsoft.com/office/drawing/2014/main" id="{773EA256-8AE4-459C-B711-CCA233293959}"/>
              </a:ext>
            </a:extLst>
          </p:cNvPr>
          <p:cNvSpPr/>
          <p:nvPr/>
        </p:nvSpPr>
        <p:spPr>
          <a:xfrm>
            <a:off x="7443527" y="3604937"/>
            <a:ext cx="464820" cy="358616"/>
          </a:xfrm>
          <a:custGeom>
            <a:avLst/>
            <a:gdLst>
              <a:gd name="connsiteX0" fmla="*/ 0 w 619760"/>
              <a:gd name="connsiteY0" fmla="*/ 242937 h 478154"/>
              <a:gd name="connsiteX1" fmla="*/ 81280 w 619760"/>
              <a:gd name="connsiteY1" fmla="*/ 339457 h 478154"/>
              <a:gd name="connsiteX2" fmla="*/ 172720 w 619760"/>
              <a:gd name="connsiteY2" fmla="*/ 268337 h 478154"/>
              <a:gd name="connsiteX3" fmla="*/ 228600 w 619760"/>
              <a:gd name="connsiteY3" fmla="*/ 298817 h 478154"/>
              <a:gd name="connsiteX4" fmla="*/ 355600 w 619760"/>
              <a:gd name="connsiteY4" fmla="*/ 34657 h 478154"/>
              <a:gd name="connsiteX5" fmla="*/ 391160 w 619760"/>
              <a:gd name="connsiteY5" fmla="*/ 4177 h 478154"/>
              <a:gd name="connsiteX6" fmla="*/ 396240 w 619760"/>
              <a:gd name="connsiteY6" fmla="*/ 44817 h 478154"/>
              <a:gd name="connsiteX7" fmla="*/ 421640 w 619760"/>
              <a:gd name="connsiteY7" fmla="*/ 44817 h 478154"/>
              <a:gd name="connsiteX8" fmla="*/ 513080 w 619760"/>
              <a:gd name="connsiteY8" fmla="*/ 466457 h 478154"/>
              <a:gd name="connsiteX9" fmla="*/ 619760 w 619760"/>
              <a:gd name="connsiteY9" fmla="*/ 319137 h 47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760" h="478154">
                <a:moveTo>
                  <a:pt x="0" y="242937"/>
                </a:moveTo>
                <a:cubicBezTo>
                  <a:pt x="26246" y="289080"/>
                  <a:pt x="52493" y="335224"/>
                  <a:pt x="81280" y="339457"/>
                </a:cubicBezTo>
                <a:cubicBezTo>
                  <a:pt x="110067" y="343690"/>
                  <a:pt x="148167" y="275110"/>
                  <a:pt x="172720" y="268337"/>
                </a:cubicBezTo>
                <a:cubicBezTo>
                  <a:pt x="197273" y="261564"/>
                  <a:pt x="198120" y="337764"/>
                  <a:pt x="228600" y="298817"/>
                </a:cubicBezTo>
                <a:cubicBezTo>
                  <a:pt x="259080" y="259870"/>
                  <a:pt x="328507" y="83764"/>
                  <a:pt x="355600" y="34657"/>
                </a:cubicBezTo>
                <a:cubicBezTo>
                  <a:pt x="382693" y="-14450"/>
                  <a:pt x="384387" y="2484"/>
                  <a:pt x="391160" y="4177"/>
                </a:cubicBezTo>
                <a:cubicBezTo>
                  <a:pt x="397933" y="5870"/>
                  <a:pt x="391160" y="38044"/>
                  <a:pt x="396240" y="44817"/>
                </a:cubicBezTo>
                <a:cubicBezTo>
                  <a:pt x="401320" y="51590"/>
                  <a:pt x="402167" y="-25456"/>
                  <a:pt x="421640" y="44817"/>
                </a:cubicBezTo>
                <a:cubicBezTo>
                  <a:pt x="441113" y="115090"/>
                  <a:pt x="480060" y="420737"/>
                  <a:pt x="513080" y="466457"/>
                </a:cubicBezTo>
                <a:cubicBezTo>
                  <a:pt x="546100" y="512177"/>
                  <a:pt x="582930" y="415657"/>
                  <a:pt x="619760" y="319137"/>
                </a:cubicBezTo>
              </a:path>
            </a:pathLst>
          </a:custGeom>
          <a:no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9" name="Textfeld 88">
            <a:extLst>
              <a:ext uri="{FF2B5EF4-FFF2-40B4-BE49-F238E27FC236}">
                <a16:creationId xmlns:a16="http://schemas.microsoft.com/office/drawing/2014/main" id="{7A32B2C8-F9AD-4908-823B-6C7EC15FE14C}"/>
              </a:ext>
            </a:extLst>
          </p:cNvPr>
          <p:cNvSpPr txBox="1"/>
          <p:nvPr/>
        </p:nvSpPr>
        <p:spPr>
          <a:xfrm>
            <a:off x="7499982" y="2858881"/>
            <a:ext cx="847898"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Expectations</a:t>
            </a:r>
          </a:p>
        </p:txBody>
      </p:sp>
      <p:sp>
        <p:nvSpPr>
          <p:cNvPr id="6" name="Textfeld 5">
            <a:extLst>
              <a:ext uri="{FF2B5EF4-FFF2-40B4-BE49-F238E27FC236}">
                <a16:creationId xmlns:a16="http://schemas.microsoft.com/office/drawing/2014/main" id="{55A36AB2-9A9E-56D3-349D-5CEB4A9D5E0A}"/>
              </a:ext>
            </a:extLst>
          </p:cNvPr>
          <p:cNvSpPr txBox="1"/>
          <p:nvPr/>
        </p:nvSpPr>
        <p:spPr>
          <a:xfrm>
            <a:off x="1968824" y="1378332"/>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8" name="Pfeil: nach rechts 7">
            <a:extLst>
              <a:ext uri="{FF2B5EF4-FFF2-40B4-BE49-F238E27FC236}">
                <a16:creationId xmlns:a16="http://schemas.microsoft.com/office/drawing/2014/main" id="{0A0276C6-13A0-39AB-F950-C86753B93B34}"/>
              </a:ext>
            </a:extLst>
          </p:cNvPr>
          <p:cNvSpPr/>
          <p:nvPr/>
        </p:nvSpPr>
        <p:spPr>
          <a:xfrm>
            <a:off x="1687428" y="183612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1" name="Pfeil: nach rechts 10">
            <a:extLst>
              <a:ext uri="{FF2B5EF4-FFF2-40B4-BE49-F238E27FC236}">
                <a16:creationId xmlns:a16="http://schemas.microsoft.com/office/drawing/2014/main" id="{9CE5C97E-722F-D5E5-8218-8D36C0BFAB12}"/>
              </a:ext>
            </a:extLst>
          </p:cNvPr>
          <p:cNvSpPr/>
          <p:nvPr/>
        </p:nvSpPr>
        <p:spPr>
          <a:xfrm>
            <a:off x="1687428" y="1985838"/>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3" name="Textfeld 12">
            <a:extLst>
              <a:ext uri="{FF2B5EF4-FFF2-40B4-BE49-F238E27FC236}">
                <a16:creationId xmlns:a16="http://schemas.microsoft.com/office/drawing/2014/main" id="{8AD2365D-01D5-20BF-B508-CD6CE23E9F5E}"/>
              </a:ext>
            </a:extLst>
          </p:cNvPr>
          <p:cNvSpPr txBox="1"/>
          <p:nvPr/>
        </p:nvSpPr>
        <p:spPr>
          <a:xfrm>
            <a:off x="527374" y="1431712"/>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15" name="Pfeil: nach rechts 14">
            <a:extLst>
              <a:ext uri="{FF2B5EF4-FFF2-40B4-BE49-F238E27FC236}">
                <a16:creationId xmlns:a16="http://schemas.microsoft.com/office/drawing/2014/main" id="{F10677BB-08DB-A965-7E76-78D4ACA93CF6}"/>
              </a:ext>
            </a:extLst>
          </p:cNvPr>
          <p:cNvSpPr/>
          <p:nvPr/>
        </p:nvSpPr>
        <p:spPr>
          <a:xfrm>
            <a:off x="1687428" y="148159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7" name="Pfeil: nach rechts 16">
            <a:extLst>
              <a:ext uri="{FF2B5EF4-FFF2-40B4-BE49-F238E27FC236}">
                <a16:creationId xmlns:a16="http://schemas.microsoft.com/office/drawing/2014/main" id="{D1765A88-2FFE-CEDC-CB9A-45EF03928A9C}"/>
              </a:ext>
            </a:extLst>
          </p:cNvPr>
          <p:cNvSpPr/>
          <p:nvPr/>
        </p:nvSpPr>
        <p:spPr>
          <a:xfrm>
            <a:off x="1687428" y="1631304"/>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9" name="Textfeld 18">
            <a:extLst>
              <a:ext uri="{FF2B5EF4-FFF2-40B4-BE49-F238E27FC236}">
                <a16:creationId xmlns:a16="http://schemas.microsoft.com/office/drawing/2014/main" id="{CC2E8E18-420A-2B07-3C19-2DF62C000418}"/>
              </a:ext>
            </a:extLst>
          </p:cNvPr>
          <p:cNvSpPr txBox="1"/>
          <p:nvPr/>
        </p:nvSpPr>
        <p:spPr>
          <a:xfrm>
            <a:off x="584200" y="1073150"/>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a:ln>
                  <a:noFill/>
                </a:ln>
                <a:solidFill>
                  <a:prstClr val="black"/>
                </a:solidFill>
                <a:effectLst/>
                <a:uLnTx/>
                <a:uFillTx/>
                <a:latin typeface="Arial"/>
                <a:ea typeface="+mn-ea"/>
                <a:cs typeface="+mn-cs"/>
              </a:rPr>
              <a:t>​</a:t>
            </a:r>
          </a:p>
        </p:txBody>
      </p:sp>
      <p:pic>
        <p:nvPicPr>
          <p:cNvPr id="47" name="Grafik 46">
            <a:extLst>
              <a:ext uri="{FF2B5EF4-FFF2-40B4-BE49-F238E27FC236}">
                <a16:creationId xmlns:a16="http://schemas.microsoft.com/office/drawing/2014/main" id="{D84A1860-84FD-4514-ACA5-8CFC6F6829FC}"/>
              </a:ext>
            </a:extLst>
          </p:cNvPr>
          <p:cNvPicPr>
            <a:picLocks noChangeAspect="1"/>
          </p:cNvPicPr>
          <p:nvPr/>
        </p:nvPicPr>
        <p:blipFill rotWithShape="1">
          <a:blip r:embed="rId10"/>
          <a:srcRect b="13312"/>
          <a:stretch/>
        </p:blipFill>
        <p:spPr>
          <a:xfrm>
            <a:off x="3339901" y="3190999"/>
            <a:ext cx="304276" cy="259467"/>
          </a:xfrm>
          <a:prstGeom prst="rect">
            <a:avLst/>
          </a:prstGeom>
        </p:spPr>
      </p:pic>
      <p:sp>
        <p:nvSpPr>
          <p:cNvPr id="49" name="Textfeld 48">
            <a:extLst>
              <a:ext uri="{FF2B5EF4-FFF2-40B4-BE49-F238E27FC236}">
                <a16:creationId xmlns:a16="http://schemas.microsoft.com/office/drawing/2014/main" id="{3983CB69-8733-4A19-8D7C-ED6F64C9C4EF}"/>
              </a:ext>
            </a:extLst>
          </p:cNvPr>
          <p:cNvSpPr txBox="1"/>
          <p:nvPr/>
        </p:nvSpPr>
        <p:spPr>
          <a:xfrm>
            <a:off x="804461" y="4748709"/>
            <a:ext cx="782460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Ackerman</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1986; Brüning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2018; Brüning et al., 2021, Ramsey et al., 2003; Rogers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Monsell</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1995; Ullsperger et al., 2014 </a:t>
            </a:r>
          </a:p>
        </p:txBody>
      </p:sp>
    </p:spTree>
    <p:extLst>
      <p:ext uri="{BB962C8B-B14F-4D97-AF65-F5344CB8AC3E}">
        <p14:creationId xmlns:p14="http://schemas.microsoft.com/office/powerpoint/2010/main" val="970582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848FDE-0705-4B4F-A21F-7984AEB2201C}"/>
              </a:ext>
            </a:extLst>
          </p:cNvPr>
          <p:cNvSpPr>
            <a:spLocks noGrp="1"/>
          </p:cNvSpPr>
          <p:nvPr>
            <p:ph type="title"/>
          </p:nvPr>
        </p:nvSpPr>
        <p:spPr/>
        <p:txBody>
          <a:bodyPr/>
          <a:lstStyle/>
          <a:p>
            <a:r>
              <a:rPr lang="de-DE" sz="2100" b="0" err="1">
                <a:solidFill>
                  <a:prstClr val="black"/>
                </a:solidFill>
              </a:rPr>
              <a:t>Empirical</a:t>
            </a:r>
            <a:r>
              <a:rPr lang="de-DE" sz="2100" b="0">
                <a:solidFill>
                  <a:prstClr val="black"/>
                </a:solidFill>
              </a:rPr>
              <a:t> </a:t>
            </a:r>
            <a:r>
              <a:rPr lang="de-DE" sz="2100" b="0" err="1">
                <a:solidFill>
                  <a:prstClr val="black"/>
                </a:solidFill>
              </a:rPr>
              <a:t>Objective</a:t>
            </a:r>
            <a:r>
              <a:rPr lang="de-DE" sz="2100" b="0">
                <a:solidFill>
                  <a:prstClr val="black"/>
                </a:solidFill>
              </a:rPr>
              <a:t> 2: </a:t>
            </a:r>
            <a:r>
              <a:rPr lang="en-US" sz="2100" b="0">
                <a:solidFill>
                  <a:prstClr val="black"/>
                </a:solidFill>
              </a:rPr>
              <a:t>Relationship between </a:t>
            </a:r>
            <a:r>
              <a:rPr lang="en-US" sz="2100" b="0">
                <a:solidFill>
                  <a:srgbClr val="B99212"/>
                </a:solidFill>
              </a:rPr>
              <a:t>response strategies</a:t>
            </a:r>
            <a:r>
              <a:rPr lang="en-US" sz="2100" b="0">
                <a:solidFill>
                  <a:prstClr val="black"/>
                </a:solidFill>
              </a:rPr>
              <a:t>, </a:t>
            </a:r>
            <a:r>
              <a:rPr lang="en-US" sz="2100" b="0">
                <a:solidFill>
                  <a:srgbClr val="B99212"/>
                </a:solidFill>
              </a:rPr>
              <a:t>reward</a:t>
            </a:r>
            <a:r>
              <a:rPr lang="en-US" sz="2100" b="0">
                <a:solidFill>
                  <a:prstClr val="black"/>
                </a:solidFill>
              </a:rPr>
              <a:t>, and </a:t>
            </a:r>
            <a:r>
              <a:rPr lang="en-US" sz="2100" b="0">
                <a:solidFill>
                  <a:srgbClr val="B99212"/>
                </a:solidFill>
              </a:rPr>
              <a:t>reward sensitivity</a:t>
            </a:r>
            <a:endParaRPr lang="en-US"/>
          </a:p>
        </p:txBody>
      </p:sp>
      <p:sp>
        <p:nvSpPr>
          <p:cNvPr id="4" name="Foliennummernplatzhalter 3">
            <a:extLst>
              <a:ext uri="{FF2B5EF4-FFF2-40B4-BE49-F238E27FC236}">
                <a16:creationId xmlns:a16="http://schemas.microsoft.com/office/drawing/2014/main" id="{F73431F1-2799-41C2-BB77-787EF51CB8D5}"/>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25</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pic>
        <p:nvPicPr>
          <p:cNvPr id="5" name="Grafik 4">
            <a:extLst>
              <a:ext uri="{FF2B5EF4-FFF2-40B4-BE49-F238E27FC236}">
                <a16:creationId xmlns:a16="http://schemas.microsoft.com/office/drawing/2014/main" id="{8E81382F-4433-434D-BBE7-68BEB71FE33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033798" y="1163595"/>
            <a:ext cx="4985297" cy="1031942"/>
          </a:xfrm>
          <a:prstGeom prst="rect">
            <a:avLst/>
          </a:prstGeom>
        </p:spPr>
      </p:pic>
      <p:sp>
        <p:nvSpPr>
          <p:cNvPr id="6" name="Textfeld 5">
            <a:extLst>
              <a:ext uri="{FF2B5EF4-FFF2-40B4-BE49-F238E27FC236}">
                <a16:creationId xmlns:a16="http://schemas.microsoft.com/office/drawing/2014/main" id="{6612F34C-8A52-D54E-26FA-DA1AA62B3324}"/>
              </a:ext>
            </a:extLst>
          </p:cNvPr>
          <p:cNvSpPr txBox="1"/>
          <p:nvPr/>
        </p:nvSpPr>
        <p:spPr>
          <a:xfrm>
            <a:off x="1968824" y="1378332"/>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8" name="Pfeil: nach rechts 7">
            <a:extLst>
              <a:ext uri="{FF2B5EF4-FFF2-40B4-BE49-F238E27FC236}">
                <a16:creationId xmlns:a16="http://schemas.microsoft.com/office/drawing/2014/main" id="{969524CA-9340-613B-96C3-A3F9630BC915}"/>
              </a:ext>
            </a:extLst>
          </p:cNvPr>
          <p:cNvSpPr/>
          <p:nvPr/>
        </p:nvSpPr>
        <p:spPr>
          <a:xfrm>
            <a:off x="1687428" y="183612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0" name="Pfeil: nach rechts 9">
            <a:extLst>
              <a:ext uri="{FF2B5EF4-FFF2-40B4-BE49-F238E27FC236}">
                <a16:creationId xmlns:a16="http://schemas.microsoft.com/office/drawing/2014/main" id="{A45D5D65-82B4-F750-78F3-59D70AB3E94B}"/>
              </a:ext>
            </a:extLst>
          </p:cNvPr>
          <p:cNvSpPr/>
          <p:nvPr/>
        </p:nvSpPr>
        <p:spPr>
          <a:xfrm>
            <a:off x="1687428" y="1985838"/>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2" name="Textfeld 11">
            <a:extLst>
              <a:ext uri="{FF2B5EF4-FFF2-40B4-BE49-F238E27FC236}">
                <a16:creationId xmlns:a16="http://schemas.microsoft.com/office/drawing/2014/main" id="{46CCFB86-89CD-3D48-1B53-30FE61FAF1CA}"/>
              </a:ext>
            </a:extLst>
          </p:cNvPr>
          <p:cNvSpPr txBox="1"/>
          <p:nvPr/>
        </p:nvSpPr>
        <p:spPr>
          <a:xfrm>
            <a:off x="527374" y="1431712"/>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14" name="Pfeil: nach rechts 13">
            <a:extLst>
              <a:ext uri="{FF2B5EF4-FFF2-40B4-BE49-F238E27FC236}">
                <a16:creationId xmlns:a16="http://schemas.microsoft.com/office/drawing/2014/main" id="{FDD67369-9827-0D69-F432-CB8B0FB84EB7}"/>
              </a:ext>
            </a:extLst>
          </p:cNvPr>
          <p:cNvSpPr/>
          <p:nvPr/>
        </p:nvSpPr>
        <p:spPr>
          <a:xfrm>
            <a:off x="1687428" y="148159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6" name="Pfeil: nach rechts 15">
            <a:extLst>
              <a:ext uri="{FF2B5EF4-FFF2-40B4-BE49-F238E27FC236}">
                <a16:creationId xmlns:a16="http://schemas.microsoft.com/office/drawing/2014/main" id="{F7654BA9-037F-BAAA-B542-77823F59F1CA}"/>
              </a:ext>
            </a:extLst>
          </p:cNvPr>
          <p:cNvSpPr/>
          <p:nvPr/>
        </p:nvSpPr>
        <p:spPr>
          <a:xfrm>
            <a:off x="1687428" y="1631304"/>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8" name="Textfeld 17">
            <a:extLst>
              <a:ext uri="{FF2B5EF4-FFF2-40B4-BE49-F238E27FC236}">
                <a16:creationId xmlns:a16="http://schemas.microsoft.com/office/drawing/2014/main" id="{D16BAA31-D773-80DF-5DFC-DC7A5349D91D}"/>
              </a:ext>
            </a:extLst>
          </p:cNvPr>
          <p:cNvSpPr txBox="1"/>
          <p:nvPr/>
        </p:nvSpPr>
        <p:spPr>
          <a:xfrm>
            <a:off x="584200" y="1073150"/>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a:ln>
                  <a:noFill/>
                </a:ln>
                <a:solidFill>
                  <a:prstClr val="black"/>
                </a:solidFill>
                <a:effectLst/>
                <a:uLnTx/>
                <a:uFillTx/>
                <a:latin typeface="Arial"/>
                <a:ea typeface="+mn-ea"/>
                <a:cs typeface="+mn-cs"/>
              </a:rPr>
              <a:t>​</a:t>
            </a:r>
          </a:p>
        </p:txBody>
      </p:sp>
      <p:grpSp>
        <p:nvGrpSpPr>
          <p:cNvPr id="11" name="Gruppieren 10">
            <a:extLst>
              <a:ext uri="{FF2B5EF4-FFF2-40B4-BE49-F238E27FC236}">
                <a16:creationId xmlns:a16="http://schemas.microsoft.com/office/drawing/2014/main" id="{67F93329-F0A4-62C2-4D99-3E9A9AA13E8A}"/>
              </a:ext>
            </a:extLst>
          </p:cNvPr>
          <p:cNvGrpSpPr/>
          <p:nvPr/>
        </p:nvGrpSpPr>
        <p:grpSpPr>
          <a:xfrm>
            <a:off x="872677" y="2409733"/>
            <a:ext cx="7880527" cy="2268251"/>
            <a:chOff x="9330490" y="3150987"/>
            <a:chExt cx="2734720" cy="1996076"/>
          </a:xfrm>
        </p:grpSpPr>
        <p:sp>
          <p:nvSpPr>
            <p:cNvPr id="7" name="Rechteck: abgerundete Ecken 6">
              <a:extLst>
                <a:ext uri="{FF2B5EF4-FFF2-40B4-BE49-F238E27FC236}">
                  <a16:creationId xmlns:a16="http://schemas.microsoft.com/office/drawing/2014/main" id="{0690DAFF-CF20-1F70-2FD6-B7E2489D4044}"/>
                </a:ext>
              </a:extLst>
            </p:cNvPr>
            <p:cNvSpPr/>
            <p:nvPr/>
          </p:nvSpPr>
          <p:spPr>
            <a:xfrm>
              <a:off x="9330490" y="3216736"/>
              <a:ext cx="2734720" cy="1930327"/>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9" name="Rechteck: abgerundete Ecken 8">
              <a:extLst>
                <a:ext uri="{FF2B5EF4-FFF2-40B4-BE49-F238E27FC236}">
                  <a16:creationId xmlns:a16="http://schemas.microsoft.com/office/drawing/2014/main" id="{09D32B15-8C59-9239-DD9A-38C2DA4B37E6}"/>
                </a:ext>
              </a:extLst>
            </p:cNvPr>
            <p:cNvSpPr/>
            <p:nvPr/>
          </p:nvSpPr>
          <p:spPr>
            <a:xfrm>
              <a:off x="9330490" y="3150987"/>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dirty="0">
                  <a:ln>
                    <a:noFill/>
                  </a:ln>
                  <a:solidFill>
                    <a:prstClr val="white"/>
                  </a:solidFill>
                  <a:effectLst/>
                  <a:uLnTx/>
                  <a:uFillTx/>
                  <a:latin typeface="Calibri"/>
                  <a:ea typeface="+mn-ea"/>
                  <a:cs typeface="+mn-cs"/>
                </a:rPr>
                <a:t>Work Package 1.2 – </a:t>
              </a:r>
              <a:r>
                <a:rPr kumimoji="0" lang="de-DE" sz="1050" b="1" i="0" u="none" strike="noStrike" kern="1200" cap="none" spc="0" normalizeH="0" baseline="0" noProof="0" dirty="0">
                  <a:ln>
                    <a:noFill/>
                  </a:ln>
                  <a:solidFill>
                    <a:prstClr val="white"/>
                  </a:solidFill>
                  <a:effectLst/>
                  <a:uLnTx/>
                  <a:uFillTx/>
                  <a:latin typeface="Calibri"/>
                  <a:ea typeface="+mn-ea"/>
                  <a:cs typeface="+mn-cs"/>
                </a:rPr>
                <a:t>Experiment 2a</a:t>
              </a:r>
              <a:r>
                <a:rPr kumimoji="0" lang="de-DE" sz="1050" b="0" i="0" u="none" strike="noStrike" kern="1200" cap="none" spc="0" normalizeH="0" baseline="0" noProof="0" dirty="0">
                  <a:ln>
                    <a:noFill/>
                  </a:ln>
                  <a:solidFill>
                    <a:prstClr val="white"/>
                  </a:solidFill>
                  <a:effectLst/>
                  <a:uLnTx/>
                  <a:uFillTx/>
                  <a:latin typeface="Calibri"/>
                  <a:ea typeface="+mn-ea"/>
                  <a:cs typeface="+mn-cs"/>
                </a:rPr>
                <a:t>, n = 90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participants</a:t>
              </a:r>
              <a:endParaRPr kumimoji="0" lang="en-US" sz="105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5" name="Rechteck: abgerundete Ecken 14">
            <a:extLst>
              <a:ext uri="{FF2B5EF4-FFF2-40B4-BE49-F238E27FC236}">
                <a16:creationId xmlns:a16="http://schemas.microsoft.com/office/drawing/2014/main" id="{A34546B4-1534-5262-9813-669EA48D9F9E}"/>
              </a:ext>
            </a:extLst>
          </p:cNvPr>
          <p:cNvSpPr/>
          <p:nvPr/>
        </p:nvSpPr>
        <p:spPr>
          <a:xfrm>
            <a:off x="1203268" y="3140626"/>
            <a:ext cx="2510563" cy="1483352"/>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feld 18">
            <a:extLst>
              <a:ext uri="{FF2B5EF4-FFF2-40B4-BE49-F238E27FC236}">
                <a16:creationId xmlns:a16="http://schemas.microsoft.com/office/drawing/2014/main" id="{66216714-27C0-8099-6877-4D5BFE272767}"/>
              </a:ext>
            </a:extLst>
          </p:cNvPr>
          <p:cNvSpPr txBox="1"/>
          <p:nvPr/>
        </p:nvSpPr>
        <p:spPr>
          <a:xfrm>
            <a:off x="1549362" y="3134808"/>
            <a:ext cx="1904662"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Free </a:t>
            </a:r>
            <a:r>
              <a:rPr kumimoji="0" lang="de-DE" sz="900" b="0" i="0" u="none" strike="noStrike" kern="1200" cap="none" spc="0" normalizeH="0" baseline="0" noProof="0" err="1">
                <a:ln>
                  <a:noFill/>
                </a:ln>
                <a:solidFill>
                  <a:prstClr val="black"/>
                </a:solidFill>
                <a:effectLst/>
                <a:uLnTx/>
                <a:uFillTx/>
                <a:latin typeface="Calibri"/>
                <a:ea typeface="+mn-ea"/>
                <a:cs typeface="+mn-cs"/>
              </a:rPr>
              <a:t>Concurrent</a:t>
            </a:r>
            <a:r>
              <a:rPr kumimoji="0" lang="de-DE" sz="900" b="0" i="0" u="none" strike="noStrike" kern="1200" cap="none" spc="0" normalizeH="0" baseline="0" noProof="0">
                <a:ln>
                  <a:noFill/>
                </a:ln>
                <a:solidFill>
                  <a:prstClr val="black"/>
                </a:solidFill>
                <a:effectLst/>
                <a:uLnTx/>
                <a:uFillTx/>
                <a:latin typeface="Calibri"/>
                <a:ea typeface="+mn-ea"/>
                <a:cs typeface="+mn-cs"/>
              </a:rPr>
              <a:t> Dual-</a:t>
            </a:r>
            <a:r>
              <a:rPr kumimoji="0" lang="de-DE" sz="900" b="0" i="0" u="none" strike="noStrike" kern="1200" cap="none" spc="0" normalizeH="0" baseline="0" noProof="0" err="1">
                <a:ln>
                  <a:noFill/>
                </a:ln>
                <a:solidFill>
                  <a:prstClr val="black"/>
                </a:solidFill>
                <a:effectLst/>
                <a:uLnTx/>
                <a:uFillTx/>
                <a:latin typeface="Calibri"/>
                <a:ea typeface="+mn-ea"/>
                <a:cs typeface="+mn-cs"/>
              </a:rPr>
              <a:t>Tasking</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feld 27">
            <a:extLst>
              <a:ext uri="{FF2B5EF4-FFF2-40B4-BE49-F238E27FC236}">
                <a16:creationId xmlns:a16="http://schemas.microsoft.com/office/drawing/2014/main" id="{1AD1FBF5-4138-C5D6-A5BC-68A778F72DDA}"/>
              </a:ext>
            </a:extLst>
          </p:cNvPr>
          <p:cNvSpPr txBox="1"/>
          <p:nvPr/>
        </p:nvSpPr>
        <p:spPr>
          <a:xfrm>
            <a:off x="1204989" y="2733768"/>
            <a:ext cx="2688473"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rPr>
              <a:t>Performance-based Factors: </a:t>
            </a:r>
            <a:endParaRPr kumimoji="0" lang="de-DE"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rPr>
              <a:t>response strategies &amp; reward sensitivity</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0" name="Grafik 29">
            <a:extLst>
              <a:ext uri="{FF2B5EF4-FFF2-40B4-BE49-F238E27FC236}">
                <a16:creationId xmlns:a16="http://schemas.microsoft.com/office/drawing/2014/main" id="{9466CD39-D772-8426-966B-9B528BE36ADF}"/>
              </a:ext>
            </a:extLst>
          </p:cNvPr>
          <p:cNvPicPr>
            <a:picLocks noChangeAspect="1"/>
          </p:cNvPicPr>
          <p:nvPr/>
        </p:nvPicPr>
        <p:blipFill rotWithShape="1">
          <a:blip r:embed="rId4"/>
          <a:srcRect l="115" r="115"/>
          <a:stretch/>
        </p:blipFill>
        <p:spPr>
          <a:xfrm>
            <a:off x="915969" y="3880346"/>
            <a:ext cx="846972" cy="671651"/>
          </a:xfrm>
          <a:prstGeom prst="rect">
            <a:avLst/>
          </a:prstGeom>
          <a:noFill/>
          <a:ln w="9525" cap="flat" cmpd="sng" algn="ctr">
            <a:noFill/>
            <a:prstDash val="solid"/>
            <a:round/>
            <a:headEnd type="none" w="med" len="med"/>
            <a:tailEnd type="none" w="med" len="med"/>
          </a:ln>
        </p:spPr>
      </p:pic>
      <p:sp>
        <p:nvSpPr>
          <p:cNvPr id="32" name="Textfeld 31">
            <a:extLst>
              <a:ext uri="{FF2B5EF4-FFF2-40B4-BE49-F238E27FC236}">
                <a16:creationId xmlns:a16="http://schemas.microsoft.com/office/drawing/2014/main" id="{AF8340A6-36C8-4838-892B-480A0665C2F4}"/>
              </a:ext>
            </a:extLst>
          </p:cNvPr>
          <p:cNvSpPr txBox="1"/>
          <p:nvPr/>
        </p:nvSpPr>
        <p:spPr>
          <a:xfrm>
            <a:off x="1203268" y="3270371"/>
            <a:ext cx="521146" cy="187424"/>
          </a:xfrm>
          <a:prstGeom prst="rect">
            <a:avLst/>
          </a:prstGeom>
          <a:noFill/>
          <a:ln w="12700">
            <a:noFill/>
          </a:ln>
        </p:spPr>
        <p:txBody>
          <a:bodyPr wrap="square" lIns="91440" tIns="27000" rIns="91440" bIns="27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Calibri"/>
                <a:ea typeface="+mn-ea"/>
                <a:cs typeface="+mn-cs"/>
              </a:rPr>
              <a:t>Global</a:t>
            </a:r>
            <a:endParaRPr kumimoji="0" lang="en-US" sz="9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 name="Pfeil: nach rechts 39">
            <a:extLst>
              <a:ext uri="{FF2B5EF4-FFF2-40B4-BE49-F238E27FC236}">
                <a16:creationId xmlns:a16="http://schemas.microsoft.com/office/drawing/2014/main" id="{A6C32834-8675-0190-683E-DE28D58EBFE1}"/>
              </a:ext>
            </a:extLst>
          </p:cNvPr>
          <p:cNvSpPr/>
          <p:nvPr/>
        </p:nvSpPr>
        <p:spPr>
          <a:xfrm>
            <a:off x="3815916" y="3616774"/>
            <a:ext cx="302857" cy="149993"/>
          </a:xfrm>
          <a:prstGeom prst="rightArrow">
            <a:avLst/>
          </a:prstGeom>
          <a:solidFill>
            <a:srgbClr val="CCA326"/>
          </a:solid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42" name="Textfeld 41">
            <a:extLst>
              <a:ext uri="{FF2B5EF4-FFF2-40B4-BE49-F238E27FC236}">
                <a16:creationId xmlns:a16="http://schemas.microsoft.com/office/drawing/2014/main" id="{EB2913DA-9932-EA1A-5CDB-6AC273447146}"/>
              </a:ext>
            </a:extLst>
          </p:cNvPr>
          <p:cNvSpPr txBox="1"/>
          <p:nvPr/>
        </p:nvSpPr>
        <p:spPr>
          <a:xfrm>
            <a:off x="4139952" y="2802251"/>
            <a:ext cx="2988020"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Behavioral Outcomes: RTs, ERs, Switch Rates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a:ea typeface="+mn-ea"/>
                <a:cs typeface="Arial"/>
              </a:rPr>
              <a:t>EEG Outcomes: Feedback-related negativity</a:t>
            </a:r>
          </a:p>
        </p:txBody>
      </p:sp>
      <p:pic>
        <p:nvPicPr>
          <p:cNvPr id="44" name="Grafik 43" descr="Ein Bild, das Diagramm, Farbigkeit, Kreis, Reihe enthält.&#10;&#10;KI-generierte Inhalte können fehlerhaft sein.">
            <a:extLst>
              <a:ext uri="{FF2B5EF4-FFF2-40B4-BE49-F238E27FC236}">
                <a16:creationId xmlns:a16="http://schemas.microsoft.com/office/drawing/2014/main" id="{6064E933-93EF-017E-0BF2-197D4E4916D6}"/>
              </a:ext>
            </a:extLst>
          </p:cNvPr>
          <p:cNvPicPr>
            <a:picLocks noChangeAspect="1"/>
          </p:cNvPicPr>
          <p:nvPr/>
        </p:nvPicPr>
        <p:blipFill>
          <a:blip r:embed="rId5"/>
          <a:srcRect/>
          <a:stretch/>
        </p:blipFill>
        <p:spPr>
          <a:xfrm>
            <a:off x="4142804" y="3287642"/>
            <a:ext cx="1102406" cy="1030164"/>
          </a:xfrm>
          <a:prstGeom prst="rect">
            <a:avLst/>
          </a:prstGeom>
        </p:spPr>
      </p:pic>
      <p:grpSp>
        <p:nvGrpSpPr>
          <p:cNvPr id="89" name="Gruppieren 88">
            <a:extLst>
              <a:ext uri="{FF2B5EF4-FFF2-40B4-BE49-F238E27FC236}">
                <a16:creationId xmlns:a16="http://schemas.microsoft.com/office/drawing/2014/main" id="{8B0F3A1B-CB0A-E53E-C3FB-3C937610AD9A}"/>
              </a:ext>
            </a:extLst>
          </p:cNvPr>
          <p:cNvGrpSpPr/>
          <p:nvPr/>
        </p:nvGrpSpPr>
        <p:grpSpPr>
          <a:xfrm>
            <a:off x="5243006" y="3205184"/>
            <a:ext cx="1801798" cy="1351333"/>
            <a:chOff x="8947315" y="4242162"/>
            <a:chExt cx="2621293" cy="2004028"/>
          </a:xfrm>
        </p:grpSpPr>
        <p:sp>
          <p:nvSpPr>
            <p:cNvPr id="86" name="Textfeld 85">
              <a:extLst>
                <a:ext uri="{FF2B5EF4-FFF2-40B4-BE49-F238E27FC236}">
                  <a16:creationId xmlns:a16="http://schemas.microsoft.com/office/drawing/2014/main" id="{124AC46D-FDEC-52F7-7F87-D29427A2D3BA}"/>
                </a:ext>
              </a:extLst>
            </p:cNvPr>
            <p:cNvSpPr txBox="1"/>
            <p:nvPr/>
          </p:nvSpPr>
          <p:spPr>
            <a:xfrm>
              <a:off x="10166625" y="5938098"/>
              <a:ext cx="679102" cy="30809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Textfeld 86">
              <a:extLst>
                <a:ext uri="{FF2B5EF4-FFF2-40B4-BE49-F238E27FC236}">
                  <a16:creationId xmlns:a16="http://schemas.microsoft.com/office/drawing/2014/main" id="{288F1B65-B363-B6B8-D136-CF3B2FD3FA32}"/>
                </a:ext>
              </a:extLst>
            </p:cNvPr>
            <p:cNvSpPr txBox="1"/>
            <p:nvPr/>
          </p:nvSpPr>
          <p:spPr>
            <a:xfrm rot="16200000">
              <a:off x="8597783" y="4857455"/>
              <a:ext cx="1001301" cy="3022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Error Rates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88" name="Grafik 87">
              <a:extLst>
                <a:ext uri="{FF2B5EF4-FFF2-40B4-BE49-F238E27FC236}">
                  <a16:creationId xmlns:a16="http://schemas.microsoft.com/office/drawing/2014/main" id="{426DDB5A-98D4-1894-AB95-028558843484}"/>
                </a:ext>
              </a:extLst>
            </p:cNvPr>
            <p:cNvPicPr>
              <a:picLocks noChangeAspect="1"/>
            </p:cNvPicPr>
            <p:nvPr/>
          </p:nvPicPr>
          <p:blipFill rotWithShape="1">
            <a:blip r:embed="rId6"/>
            <a:srcRect l="8324" t="2966" b="9289"/>
            <a:stretch/>
          </p:blipFill>
          <p:spPr>
            <a:xfrm>
              <a:off x="9221544" y="4242162"/>
              <a:ext cx="2347064" cy="1759836"/>
            </a:xfrm>
            <a:prstGeom prst="rect">
              <a:avLst/>
            </a:prstGeom>
          </p:spPr>
        </p:pic>
      </p:grpSp>
      <p:cxnSp>
        <p:nvCxnSpPr>
          <p:cNvPr id="93" name="Gerader Verbinder 92">
            <a:extLst>
              <a:ext uri="{FF2B5EF4-FFF2-40B4-BE49-F238E27FC236}">
                <a16:creationId xmlns:a16="http://schemas.microsoft.com/office/drawing/2014/main" id="{F80158F9-CECD-0CC3-AEDC-D1D495EF5E24}"/>
              </a:ext>
            </a:extLst>
          </p:cNvPr>
          <p:cNvCxnSpPr>
            <a:cxnSpLocks/>
          </p:cNvCxnSpPr>
          <p:nvPr/>
        </p:nvCxnSpPr>
        <p:spPr>
          <a:xfrm>
            <a:off x="7423448" y="3211813"/>
            <a:ext cx="0" cy="909638"/>
          </a:xfrm>
          <a:prstGeom prst="line">
            <a:avLst/>
          </a:prstGeom>
          <a:noFill/>
          <a:ln w="28575" cap="flat" cmpd="sng" algn="ctr">
            <a:solidFill>
              <a:schemeClr val="tx1"/>
            </a:solidFill>
            <a:prstDash val="solid"/>
            <a:miter lim="800000"/>
          </a:ln>
          <a:effectLst/>
        </p:spPr>
      </p:cxnSp>
      <p:sp>
        <p:nvSpPr>
          <p:cNvPr id="95" name="Textfeld 94">
            <a:extLst>
              <a:ext uri="{FF2B5EF4-FFF2-40B4-BE49-F238E27FC236}">
                <a16:creationId xmlns:a16="http://schemas.microsoft.com/office/drawing/2014/main" id="{8E631063-7BD1-0D79-9B44-BF7FB4F51CBC}"/>
              </a:ext>
            </a:extLst>
          </p:cNvPr>
          <p:cNvSpPr txBox="1"/>
          <p:nvPr/>
        </p:nvSpPr>
        <p:spPr>
          <a:xfrm>
            <a:off x="7119960" y="3140626"/>
            <a:ext cx="307777" cy="1042991"/>
          </a:xfrm>
          <a:prstGeom prst="rect">
            <a:avLst/>
          </a:prstGeom>
          <a:noFill/>
        </p:spPr>
        <p:txBody>
          <a:bodyPr vert="vert270"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Switch Rates / FRN</a:t>
            </a:r>
          </a:p>
        </p:txBody>
      </p:sp>
      <p:cxnSp>
        <p:nvCxnSpPr>
          <p:cNvPr id="97" name="Gerader Verbinder 96">
            <a:extLst>
              <a:ext uri="{FF2B5EF4-FFF2-40B4-BE49-F238E27FC236}">
                <a16:creationId xmlns:a16="http://schemas.microsoft.com/office/drawing/2014/main" id="{6728927F-2AF0-5C0B-3413-92EF23AC4776}"/>
              </a:ext>
            </a:extLst>
          </p:cNvPr>
          <p:cNvCxnSpPr>
            <a:cxnSpLocks/>
          </p:cNvCxnSpPr>
          <p:nvPr/>
        </p:nvCxnSpPr>
        <p:spPr>
          <a:xfrm flipH="1">
            <a:off x="7423451" y="4121450"/>
            <a:ext cx="1080000" cy="0"/>
          </a:xfrm>
          <a:prstGeom prst="line">
            <a:avLst/>
          </a:prstGeom>
          <a:noFill/>
          <a:ln w="28575" cap="flat" cmpd="sng" algn="ctr">
            <a:solidFill>
              <a:schemeClr val="tx1"/>
            </a:solidFill>
            <a:prstDash val="solid"/>
            <a:miter lim="800000"/>
          </a:ln>
          <a:effectLst/>
        </p:spPr>
      </p:cxnSp>
      <p:sp>
        <p:nvSpPr>
          <p:cNvPr id="99" name="Rechteck 98">
            <a:extLst>
              <a:ext uri="{FF2B5EF4-FFF2-40B4-BE49-F238E27FC236}">
                <a16:creationId xmlns:a16="http://schemas.microsoft.com/office/drawing/2014/main" id="{9B735013-8E0E-98A6-4042-FD19723F4EAF}"/>
              </a:ext>
            </a:extLst>
          </p:cNvPr>
          <p:cNvSpPr/>
          <p:nvPr/>
        </p:nvSpPr>
        <p:spPr>
          <a:xfrm>
            <a:off x="8234310" y="3599682"/>
            <a:ext cx="72000" cy="515878"/>
          </a:xfrm>
          <a:prstGeom prst="rect">
            <a:avLst/>
          </a:prstGeom>
          <a:solidFill>
            <a:srgbClr val="808080"/>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101" name="Rechteck 100">
            <a:extLst>
              <a:ext uri="{FF2B5EF4-FFF2-40B4-BE49-F238E27FC236}">
                <a16:creationId xmlns:a16="http://schemas.microsoft.com/office/drawing/2014/main" id="{347813F9-9D25-A774-C51B-6328F455BAFA}"/>
              </a:ext>
            </a:extLst>
          </p:cNvPr>
          <p:cNvSpPr/>
          <p:nvPr/>
        </p:nvSpPr>
        <p:spPr>
          <a:xfrm>
            <a:off x="7599859" y="3954106"/>
            <a:ext cx="72000" cy="161454"/>
          </a:xfrm>
          <a:prstGeom prst="rect">
            <a:avLst/>
          </a:prstGeom>
          <a:solidFill>
            <a:srgbClr val="2E75B6"/>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103" name="Textfeld 102">
            <a:extLst>
              <a:ext uri="{FF2B5EF4-FFF2-40B4-BE49-F238E27FC236}">
                <a16:creationId xmlns:a16="http://schemas.microsoft.com/office/drawing/2014/main" id="{3DB1A589-E8CD-903F-64AF-6D448B57ADB5}"/>
              </a:ext>
            </a:extLst>
          </p:cNvPr>
          <p:cNvSpPr txBox="1"/>
          <p:nvPr/>
        </p:nvSpPr>
        <p:spPr>
          <a:xfrm>
            <a:off x="8010719" y="4126351"/>
            <a:ext cx="640619" cy="4560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Switcher, Response </a:t>
            </a:r>
            <a:r>
              <a:rPr kumimoji="0" lang="de-DE" sz="788"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grouper</a:t>
            </a:r>
            <a:endParaRPr kumimoji="0" lang="en-US"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5" name="Textfeld 104">
            <a:extLst>
              <a:ext uri="{FF2B5EF4-FFF2-40B4-BE49-F238E27FC236}">
                <a16:creationId xmlns:a16="http://schemas.microsoft.com/office/drawing/2014/main" id="{27099FDB-BA79-6A18-AF43-54EFB8E108A0}"/>
              </a:ext>
            </a:extLst>
          </p:cNvPr>
          <p:cNvSpPr txBox="1"/>
          <p:nvPr/>
        </p:nvSpPr>
        <p:spPr>
          <a:xfrm>
            <a:off x="7474355" y="4126351"/>
            <a:ext cx="611730" cy="2135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Blocker</a:t>
            </a:r>
            <a:endParaRPr kumimoji="0" lang="en-US"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9" name="Textfeld 108">
            <a:extLst>
              <a:ext uri="{FF2B5EF4-FFF2-40B4-BE49-F238E27FC236}">
                <a16:creationId xmlns:a16="http://schemas.microsoft.com/office/drawing/2014/main" id="{54E07DFE-37F2-C185-18DF-04E96364509F}"/>
              </a:ext>
            </a:extLst>
          </p:cNvPr>
          <p:cNvSpPr txBox="1"/>
          <p:nvPr/>
        </p:nvSpPr>
        <p:spPr>
          <a:xfrm>
            <a:off x="7499982" y="2858881"/>
            <a:ext cx="847898"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Expectations</a:t>
            </a:r>
          </a:p>
        </p:txBody>
      </p:sp>
      <p:pic>
        <p:nvPicPr>
          <p:cNvPr id="13" name="Grafik 12">
            <a:extLst>
              <a:ext uri="{FF2B5EF4-FFF2-40B4-BE49-F238E27FC236}">
                <a16:creationId xmlns:a16="http://schemas.microsoft.com/office/drawing/2014/main" id="{79D46BFB-146C-171E-247C-FA9BD4B405DB}"/>
              </a:ext>
            </a:extLst>
          </p:cNvPr>
          <p:cNvPicPr>
            <a:picLocks noChangeAspect="1"/>
          </p:cNvPicPr>
          <p:nvPr/>
        </p:nvPicPr>
        <p:blipFill rotWithShape="1">
          <a:blip r:embed="rId7"/>
          <a:srcRect r="8346" b="49643"/>
          <a:stretch/>
        </p:blipFill>
        <p:spPr>
          <a:xfrm>
            <a:off x="2978983" y="4351481"/>
            <a:ext cx="323932" cy="199214"/>
          </a:xfrm>
          <a:prstGeom prst="rect">
            <a:avLst/>
          </a:prstGeom>
        </p:spPr>
      </p:pic>
      <p:pic>
        <p:nvPicPr>
          <p:cNvPr id="17" name="Grafik 16">
            <a:extLst>
              <a:ext uri="{FF2B5EF4-FFF2-40B4-BE49-F238E27FC236}">
                <a16:creationId xmlns:a16="http://schemas.microsoft.com/office/drawing/2014/main" id="{393162E1-06B4-ABC8-1D99-BE4C2A1ECB69}"/>
              </a:ext>
            </a:extLst>
          </p:cNvPr>
          <p:cNvPicPr>
            <a:picLocks noChangeAspect="1"/>
          </p:cNvPicPr>
          <p:nvPr/>
        </p:nvPicPr>
        <p:blipFill rotWithShape="1">
          <a:blip r:embed="rId7"/>
          <a:srcRect l="11561" t="51068" b="1988"/>
          <a:stretch/>
        </p:blipFill>
        <p:spPr>
          <a:xfrm>
            <a:off x="3335662" y="4353796"/>
            <a:ext cx="335291" cy="199214"/>
          </a:xfrm>
          <a:prstGeom prst="rect">
            <a:avLst/>
          </a:prstGeom>
        </p:spPr>
      </p:pic>
      <p:sp>
        <p:nvSpPr>
          <p:cNvPr id="20" name="Rechteck: abgerundete Ecken 19">
            <a:extLst>
              <a:ext uri="{FF2B5EF4-FFF2-40B4-BE49-F238E27FC236}">
                <a16:creationId xmlns:a16="http://schemas.microsoft.com/office/drawing/2014/main" id="{BB83078F-D8E3-A6EC-1B6F-7CC4EE5F4B56}"/>
              </a:ext>
            </a:extLst>
          </p:cNvPr>
          <p:cNvSpPr/>
          <p:nvPr/>
        </p:nvSpPr>
        <p:spPr>
          <a:xfrm>
            <a:off x="2941656" y="4078562"/>
            <a:ext cx="770197" cy="545416"/>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Arial"/>
            </a:endParaRPr>
          </a:p>
        </p:txBody>
      </p:sp>
      <p:sp>
        <p:nvSpPr>
          <p:cNvPr id="25" name="Textfeld 24">
            <a:extLst>
              <a:ext uri="{FF2B5EF4-FFF2-40B4-BE49-F238E27FC236}">
                <a16:creationId xmlns:a16="http://schemas.microsoft.com/office/drawing/2014/main" id="{5946888F-087A-CD34-CB02-587E0DB3D6C5}"/>
              </a:ext>
            </a:extLst>
          </p:cNvPr>
          <p:cNvSpPr txBox="1"/>
          <p:nvPr/>
        </p:nvSpPr>
        <p:spPr>
          <a:xfrm>
            <a:off x="2969894" y="4092798"/>
            <a:ext cx="692142" cy="242153"/>
          </a:xfrm>
          <a:prstGeom prst="rect">
            <a:avLst/>
          </a:prstGeom>
          <a:noFill/>
          <a:ln w="12700">
            <a:noFill/>
          </a:ln>
        </p:spPr>
        <p:txBody>
          <a:bodyPr wrap="square" lIns="91440" tIns="27000" rIns="91440" bIns="27000" rtlCol="0" anchor="t">
            <a:noAutofit/>
          </a:bodyPr>
          <a:lstStyle>
            <a:defPPr>
              <a:defRPr lang="de-DE"/>
            </a:defPPr>
            <a:lvl1pPr algn="ct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err="1">
                <a:ln>
                  <a:noFill/>
                </a:ln>
                <a:solidFill>
                  <a:prstClr val="black"/>
                </a:solidFill>
                <a:effectLst/>
                <a:uLnTx/>
                <a:uFillTx/>
                <a:latin typeface="Arial"/>
                <a:ea typeface="+mn-ea"/>
                <a:cs typeface="Arial"/>
              </a:rPr>
              <a:t>Probabilistic</a:t>
            </a:r>
            <a:r>
              <a:rPr kumimoji="0" lang="de-DE" sz="700" b="0" i="0" u="none" strike="noStrike" kern="1200" cap="none" spc="0" normalizeH="0" baseline="0" noProof="0" dirty="0">
                <a:ln>
                  <a:noFill/>
                </a:ln>
                <a:solidFill>
                  <a:prstClr val="black"/>
                </a:solidFill>
                <a:effectLst/>
                <a:uLnTx/>
                <a:uFillTx/>
                <a:latin typeface="Arial"/>
                <a:ea typeface="+mn-ea"/>
                <a:cs typeface="Arial"/>
              </a:rPr>
              <a:t> </a:t>
            </a:r>
            <a:r>
              <a:rPr kumimoji="0" lang="de-DE" sz="700" b="0" i="0" u="none" strike="noStrike" kern="1200" cap="none" spc="0" normalizeH="0" baseline="0" noProof="0" dirty="0" err="1">
                <a:ln>
                  <a:noFill/>
                </a:ln>
                <a:solidFill>
                  <a:prstClr val="black"/>
                </a:solidFill>
                <a:effectLst/>
                <a:uLnTx/>
                <a:uFillTx/>
                <a:latin typeface="Arial"/>
                <a:ea typeface="+mn-ea"/>
                <a:cs typeface="Arial"/>
              </a:rPr>
              <a:t>learning</a:t>
            </a:r>
            <a:endParaRPr kumimoji="0" lang="de-DE" sz="700" b="0" i="0" u="none" strike="noStrike" kern="1200" cap="none" spc="0" normalizeH="0" baseline="0" noProof="0" dirty="0">
              <a:ln>
                <a:noFill/>
              </a:ln>
              <a:solidFill>
                <a:prstClr val="black"/>
              </a:solidFill>
              <a:effectLst/>
              <a:uLnTx/>
              <a:uFillTx/>
              <a:latin typeface="Arial"/>
              <a:ea typeface="+mn-ea"/>
              <a:cs typeface="Arial"/>
            </a:endParaRPr>
          </a:p>
        </p:txBody>
      </p:sp>
      <p:sp>
        <p:nvSpPr>
          <p:cNvPr id="29" name="Textfeld 28">
            <a:extLst>
              <a:ext uri="{FF2B5EF4-FFF2-40B4-BE49-F238E27FC236}">
                <a16:creationId xmlns:a16="http://schemas.microsoft.com/office/drawing/2014/main" id="{8903689E-1D0D-A309-429E-9792CF066E85}"/>
              </a:ext>
            </a:extLst>
          </p:cNvPr>
          <p:cNvSpPr txBox="1"/>
          <p:nvPr/>
        </p:nvSpPr>
        <p:spPr>
          <a:xfrm>
            <a:off x="4348074" y="4025837"/>
            <a:ext cx="474008"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err="1">
                <a:ln>
                  <a:noFill/>
                </a:ln>
                <a:solidFill>
                  <a:prstClr val="black"/>
                </a:solidFill>
                <a:effectLst/>
                <a:uLnTx/>
                <a:uFillTx/>
                <a:latin typeface="Arial Narrow" panose="020B0606020202030204" pitchFamily="34" charset="0"/>
                <a:ea typeface="Calibri"/>
                <a:cs typeface="Arial" panose="020B0604020202020204" pitchFamily="34" charset="0"/>
              </a:rPr>
              <a:t>RewP</a:t>
            </a:r>
            <a:endParaRPr kumimoji="0" lang="de-DE" sz="900" b="1" i="0" u="none" strike="noStrike" kern="1200" cap="none" spc="0" normalizeH="0" baseline="0" noProof="0" dirty="0">
              <a:ln>
                <a:noFill/>
              </a:ln>
              <a:solidFill>
                <a:prstClr val="black"/>
              </a:solidFill>
              <a:effectLst/>
              <a:uLnTx/>
              <a:uFillTx/>
              <a:latin typeface="Arial Narrow" panose="020B0606020202030204" pitchFamily="34" charset="0"/>
              <a:ea typeface="Calibri"/>
              <a:cs typeface="Arial" panose="020B0604020202020204" pitchFamily="34" charset="0"/>
            </a:endParaRPr>
          </a:p>
        </p:txBody>
      </p:sp>
      <p:pic>
        <p:nvPicPr>
          <p:cNvPr id="21" name="Inhaltsplatzhalter 5">
            <a:extLst>
              <a:ext uri="{FF2B5EF4-FFF2-40B4-BE49-F238E27FC236}">
                <a16:creationId xmlns:a16="http://schemas.microsoft.com/office/drawing/2014/main" id="{0851F4FF-6121-35DE-3FCF-D319A6C549B7}"/>
              </a:ext>
            </a:extLst>
          </p:cNvPr>
          <p:cNvPicPr>
            <a:picLocks noGrp="1" noChangeAspect="1"/>
          </p:cNvPicPr>
          <p:nvPr>
            <p:ph idx="1"/>
          </p:nvPr>
        </p:nvPicPr>
        <p:blipFill rotWithShape="1">
          <a:blip r:embed="rId8">
            <a:extLst>
              <a:ext uri="{28A0092B-C50C-407E-A947-70E740481C1C}">
                <a14:useLocalDpi xmlns:a14="http://schemas.microsoft.com/office/drawing/2010/main" val="0"/>
              </a:ext>
            </a:extLst>
          </a:blip>
          <a:srcRect t="66" b="66"/>
          <a:stretch/>
        </p:blipFill>
        <p:spPr>
          <a:xfrm>
            <a:off x="1283308" y="3424744"/>
            <a:ext cx="1144680" cy="648000"/>
          </a:xfrm>
        </p:spPr>
      </p:pic>
      <p:pic>
        <p:nvPicPr>
          <p:cNvPr id="23" name="Inhaltsplatzhalter 5">
            <a:extLst>
              <a:ext uri="{FF2B5EF4-FFF2-40B4-BE49-F238E27FC236}">
                <a16:creationId xmlns:a16="http://schemas.microsoft.com/office/drawing/2014/main" id="{FC66A410-0327-0926-F3AB-D26D1DAF69BA}"/>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805" b="805"/>
          <a:stretch/>
        </p:blipFill>
        <p:spPr>
          <a:xfrm>
            <a:off x="2483725" y="3424744"/>
            <a:ext cx="1136410" cy="648000"/>
          </a:xfrm>
          <a:prstGeom prst="rect">
            <a:avLst/>
          </a:prstGeom>
        </p:spPr>
      </p:pic>
      <p:sp>
        <p:nvSpPr>
          <p:cNvPr id="34" name="Textfeld 33">
            <a:extLst>
              <a:ext uri="{FF2B5EF4-FFF2-40B4-BE49-F238E27FC236}">
                <a16:creationId xmlns:a16="http://schemas.microsoft.com/office/drawing/2014/main" id="{ACF5F10B-9F52-0B9D-0DAD-A0A6D0BD8FE9}"/>
              </a:ext>
            </a:extLst>
          </p:cNvPr>
          <p:cNvSpPr txBox="1"/>
          <p:nvPr/>
        </p:nvSpPr>
        <p:spPr>
          <a:xfrm>
            <a:off x="2399554" y="3266634"/>
            <a:ext cx="765078" cy="187424"/>
          </a:xfrm>
          <a:prstGeom prst="rect">
            <a:avLst/>
          </a:prstGeom>
          <a:noFill/>
          <a:ln w="12700">
            <a:noFill/>
          </a:ln>
        </p:spPr>
        <p:txBody>
          <a:bodyPr wrap="square" lIns="91440" tIns="27000" rIns="91440" bIns="27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Calibri"/>
                <a:ea typeface="+mn-ea"/>
                <a:cs typeface="+mn-cs"/>
              </a:rPr>
              <a:t>High vs. Low</a:t>
            </a:r>
            <a:endParaRPr kumimoji="0" lang="en-US" sz="900" b="0" i="0" u="none" strike="noStrike" kern="1200" cap="none" spc="0" normalizeH="0" baseline="0" noProof="0" dirty="0">
              <a:ln>
                <a:noFill/>
              </a:ln>
              <a:solidFill>
                <a:prstClr val="black"/>
              </a:solidFill>
              <a:effectLst/>
              <a:uLnTx/>
              <a:uFillTx/>
              <a:latin typeface="Calibri"/>
              <a:ea typeface="+mn-ea"/>
              <a:cs typeface="+mn-cs"/>
            </a:endParaRPr>
          </a:p>
        </p:txBody>
      </p:sp>
      <p:sp>
        <p:nvSpPr>
          <p:cNvPr id="49" name="Rechteck 48">
            <a:extLst>
              <a:ext uri="{FF2B5EF4-FFF2-40B4-BE49-F238E27FC236}">
                <a16:creationId xmlns:a16="http://schemas.microsoft.com/office/drawing/2014/main" id="{E3B7BC95-7ADE-4F5E-9A42-E599CAA97A94}"/>
              </a:ext>
            </a:extLst>
          </p:cNvPr>
          <p:cNvSpPr/>
          <p:nvPr/>
        </p:nvSpPr>
        <p:spPr>
          <a:xfrm>
            <a:off x="7703158" y="3935560"/>
            <a:ext cx="72000" cy="180000"/>
          </a:xfrm>
          <a:prstGeom prst="rect">
            <a:avLst/>
          </a:prstGeom>
          <a:solidFill>
            <a:srgbClr val="808080"/>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50" name="Rechteck 49">
            <a:extLst>
              <a:ext uri="{FF2B5EF4-FFF2-40B4-BE49-F238E27FC236}">
                <a16:creationId xmlns:a16="http://schemas.microsoft.com/office/drawing/2014/main" id="{E98A1AA6-1015-4E2F-B98D-C293EE682106}"/>
              </a:ext>
            </a:extLst>
          </p:cNvPr>
          <p:cNvSpPr/>
          <p:nvPr/>
        </p:nvSpPr>
        <p:spPr>
          <a:xfrm>
            <a:off x="8121731" y="3737717"/>
            <a:ext cx="72000" cy="377843"/>
          </a:xfrm>
          <a:prstGeom prst="rect">
            <a:avLst/>
          </a:prstGeom>
          <a:solidFill>
            <a:srgbClr val="2E75B6"/>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51" name="Rechteck 50">
            <a:extLst>
              <a:ext uri="{FF2B5EF4-FFF2-40B4-BE49-F238E27FC236}">
                <a16:creationId xmlns:a16="http://schemas.microsoft.com/office/drawing/2014/main" id="{990DA4B0-202E-4B28-AF06-34B337FABD96}"/>
              </a:ext>
            </a:extLst>
          </p:cNvPr>
          <p:cNvSpPr/>
          <p:nvPr/>
        </p:nvSpPr>
        <p:spPr>
          <a:xfrm>
            <a:off x="8341618" y="3492575"/>
            <a:ext cx="72000" cy="622985"/>
          </a:xfrm>
          <a:prstGeom prst="rect">
            <a:avLst/>
          </a:prstGeom>
          <a:solidFill>
            <a:srgbClr val="C55A11"/>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52" name="Rechteck 51">
            <a:extLst>
              <a:ext uri="{FF2B5EF4-FFF2-40B4-BE49-F238E27FC236}">
                <a16:creationId xmlns:a16="http://schemas.microsoft.com/office/drawing/2014/main" id="{153F8151-6C73-4A8B-A6A5-F365E448B504}"/>
              </a:ext>
            </a:extLst>
          </p:cNvPr>
          <p:cNvSpPr/>
          <p:nvPr/>
        </p:nvSpPr>
        <p:spPr>
          <a:xfrm>
            <a:off x="7810466" y="3918507"/>
            <a:ext cx="72000" cy="197053"/>
          </a:xfrm>
          <a:prstGeom prst="rect">
            <a:avLst/>
          </a:prstGeom>
          <a:solidFill>
            <a:srgbClr val="C55A11"/>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91" name="Freihandform: Form 90">
            <a:extLst>
              <a:ext uri="{FF2B5EF4-FFF2-40B4-BE49-F238E27FC236}">
                <a16:creationId xmlns:a16="http://schemas.microsoft.com/office/drawing/2014/main" id="{785A9DD3-022A-6035-C994-3E85A79F6D05}"/>
              </a:ext>
            </a:extLst>
          </p:cNvPr>
          <p:cNvSpPr/>
          <p:nvPr/>
        </p:nvSpPr>
        <p:spPr>
          <a:xfrm>
            <a:off x="8003597" y="3365079"/>
            <a:ext cx="537210" cy="598474"/>
          </a:xfrm>
          <a:custGeom>
            <a:avLst/>
            <a:gdLst>
              <a:gd name="connsiteX0" fmla="*/ 0 w 716280"/>
              <a:gd name="connsiteY0" fmla="*/ 514711 h 797965"/>
              <a:gd name="connsiteX1" fmla="*/ 55880 w 716280"/>
              <a:gd name="connsiteY1" fmla="*/ 616311 h 797965"/>
              <a:gd name="connsiteX2" fmla="*/ 101600 w 716280"/>
              <a:gd name="connsiteY2" fmla="*/ 611231 h 797965"/>
              <a:gd name="connsiteX3" fmla="*/ 167640 w 716280"/>
              <a:gd name="connsiteY3" fmla="*/ 540111 h 797965"/>
              <a:gd name="connsiteX4" fmla="*/ 223520 w 716280"/>
              <a:gd name="connsiteY4" fmla="*/ 595991 h 797965"/>
              <a:gd name="connsiteX5" fmla="*/ 335280 w 716280"/>
              <a:gd name="connsiteY5" fmla="*/ 52431 h 797965"/>
              <a:gd name="connsiteX6" fmla="*/ 350520 w 716280"/>
              <a:gd name="connsiteY6" fmla="*/ 21951 h 797965"/>
              <a:gd name="connsiteX7" fmla="*/ 396240 w 716280"/>
              <a:gd name="connsiteY7" fmla="*/ 57511 h 797965"/>
              <a:gd name="connsiteX8" fmla="*/ 406400 w 716280"/>
              <a:gd name="connsiteY8" fmla="*/ 67671 h 797965"/>
              <a:gd name="connsiteX9" fmla="*/ 533400 w 716280"/>
              <a:gd name="connsiteY9" fmla="*/ 783951 h 797965"/>
              <a:gd name="connsiteX10" fmla="*/ 716280 w 716280"/>
              <a:gd name="connsiteY10" fmla="*/ 560431 h 797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6280" h="797965">
                <a:moveTo>
                  <a:pt x="0" y="514711"/>
                </a:moveTo>
                <a:cubicBezTo>
                  <a:pt x="19473" y="557467"/>
                  <a:pt x="38947" y="600224"/>
                  <a:pt x="55880" y="616311"/>
                </a:cubicBezTo>
                <a:cubicBezTo>
                  <a:pt x="72813" y="632398"/>
                  <a:pt x="82973" y="623931"/>
                  <a:pt x="101600" y="611231"/>
                </a:cubicBezTo>
                <a:cubicBezTo>
                  <a:pt x="120227" y="598531"/>
                  <a:pt x="147320" y="542651"/>
                  <a:pt x="167640" y="540111"/>
                </a:cubicBezTo>
                <a:cubicBezTo>
                  <a:pt x="187960" y="537571"/>
                  <a:pt x="195580" y="677271"/>
                  <a:pt x="223520" y="595991"/>
                </a:cubicBezTo>
                <a:cubicBezTo>
                  <a:pt x="251460" y="514711"/>
                  <a:pt x="314113" y="148104"/>
                  <a:pt x="335280" y="52431"/>
                </a:cubicBezTo>
                <a:cubicBezTo>
                  <a:pt x="356447" y="-43242"/>
                  <a:pt x="340360" y="21104"/>
                  <a:pt x="350520" y="21951"/>
                </a:cubicBezTo>
                <a:cubicBezTo>
                  <a:pt x="360680" y="22798"/>
                  <a:pt x="396240" y="57511"/>
                  <a:pt x="396240" y="57511"/>
                </a:cubicBezTo>
                <a:cubicBezTo>
                  <a:pt x="405553" y="65131"/>
                  <a:pt x="383540" y="-53402"/>
                  <a:pt x="406400" y="67671"/>
                </a:cubicBezTo>
                <a:cubicBezTo>
                  <a:pt x="429260" y="188744"/>
                  <a:pt x="481753" y="701824"/>
                  <a:pt x="533400" y="783951"/>
                </a:cubicBezTo>
                <a:cubicBezTo>
                  <a:pt x="585047" y="866078"/>
                  <a:pt x="716280" y="560431"/>
                  <a:pt x="716280" y="560431"/>
                </a:cubicBezTo>
              </a:path>
            </a:pathLst>
          </a:custGeom>
          <a:noFill/>
          <a:ln>
            <a:solidFill>
              <a:srgbClr val="CCA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07" name="Freihandform: Form 106">
            <a:extLst>
              <a:ext uri="{FF2B5EF4-FFF2-40B4-BE49-F238E27FC236}">
                <a16:creationId xmlns:a16="http://schemas.microsoft.com/office/drawing/2014/main" id="{86CDD63C-5F24-36D2-B244-65987F444FFB}"/>
              </a:ext>
            </a:extLst>
          </p:cNvPr>
          <p:cNvSpPr/>
          <p:nvPr/>
        </p:nvSpPr>
        <p:spPr>
          <a:xfrm>
            <a:off x="7443527" y="3604937"/>
            <a:ext cx="464820" cy="358616"/>
          </a:xfrm>
          <a:custGeom>
            <a:avLst/>
            <a:gdLst>
              <a:gd name="connsiteX0" fmla="*/ 0 w 619760"/>
              <a:gd name="connsiteY0" fmla="*/ 242937 h 478154"/>
              <a:gd name="connsiteX1" fmla="*/ 81280 w 619760"/>
              <a:gd name="connsiteY1" fmla="*/ 339457 h 478154"/>
              <a:gd name="connsiteX2" fmla="*/ 172720 w 619760"/>
              <a:gd name="connsiteY2" fmla="*/ 268337 h 478154"/>
              <a:gd name="connsiteX3" fmla="*/ 228600 w 619760"/>
              <a:gd name="connsiteY3" fmla="*/ 298817 h 478154"/>
              <a:gd name="connsiteX4" fmla="*/ 355600 w 619760"/>
              <a:gd name="connsiteY4" fmla="*/ 34657 h 478154"/>
              <a:gd name="connsiteX5" fmla="*/ 391160 w 619760"/>
              <a:gd name="connsiteY5" fmla="*/ 4177 h 478154"/>
              <a:gd name="connsiteX6" fmla="*/ 396240 w 619760"/>
              <a:gd name="connsiteY6" fmla="*/ 44817 h 478154"/>
              <a:gd name="connsiteX7" fmla="*/ 421640 w 619760"/>
              <a:gd name="connsiteY7" fmla="*/ 44817 h 478154"/>
              <a:gd name="connsiteX8" fmla="*/ 513080 w 619760"/>
              <a:gd name="connsiteY8" fmla="*/ 466457 h 478154"/>
              <a:gd name="connsiteX9" fmla="*/ 619760 w 619760"/>
              <a:gd name="connsiteY9" fmla="*/ 319137 h 47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760" h="478154">
                <a:moveTo>
                  <a:pt x="0" y="242937"/>
                </a:moveTo>
                <a:cubicBezTo>
                  <a:pt x="26246" y="289080"/>
                  <a:pt x="52493" y="335224"/>
                  <a:pt x="81280" y="339457"/>
                </a:cubicBezTo>
                <a:cubicBezTo>
                  <a:pt x="110067" y="343690"/>
                  <a:pt x="148167" y="275110"/>
                  <a:pt x="172720" y="268337"/>
                </a:cubicBezTo>
                <a:cubicBezTo>
                  <a:pt x="197273" y="261564"/>
                  <a:pt x="198120" y="337764"/>
                  <a:pt x="228600" y="298817"/>
                </a:cubicBezTo>
                <a:cubicBezTo>
                  <a:pt x="259080" y="259870"/>
                  <a:pt x="328507" y="83764"/>
                  <a:pt x="355600" y="34657"/>
                </a:cubicBezTo>
                <a:cubicBezTo>
                  <a:pt x="382693" y="-14450"/>
                  <a:pt x="384387" y="2484"/>
                  <a:pt x="391160" y="4177"/>
                </a:cubicBezTo>
                <a:cubicBezTo>
                  <a:pt x="397933" y="5870"/>
                  <a:pt x="391160" y="38044"/>
                  <a:pt x="396240" y="44817"/>
                </a:cubicBezTo>
                <a:cubicBezTo>
                  <a:pt x="401320" y="51590"/>
                  <a:pt x="402167" y="-25456"/>
                  <a:pt x="421640" y="44817"/>
                </a:cubicBezTo>
                <a:cubicBezTo>
                  <a:pt x="441113" y="115090"/>
                  <a:pt x="480060" y="420737"/>
                  <a:pt x="513080" y="466457"/>
                </a:cubicBezTo>
                <a:cubicBezTo>
                  <a:pt x="546100" y="512177"/>
                  <a:pt x="582930" y="415657"/>
                  <a:pt x="619760" y="319137"/>
                </a:cubicBezTo>
              </a:path>
            </a:pathLst>
          </a:custGeom>
          <a:no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nvGrpSpPr>
          <p:cNvPr id="35" name="Gruppieren 34">
            <a:extLst>
              <a:ext uri="{FF2B5EF4-FFF2-40B4-BE49-F238E27FC236}">
                <a16:creationId xmlns:a16="http://schemas.microsoft.com/office/drawing/2014/main" id="{FFAD34E6-7972-4DBF-BEE7-5D591AF384C9}"/>
              </a:ext>
            </a:extLst>
          </p:cNvPr>
          <p:cNvGrpSpPr/>
          <p:nvPr/>
        </p:nvGrpSpPr>
        <p:grpSpPr>
          <a:xfrm>
            <a:off x="3159317" y="3329440"/>
            <a:ext cx="466140" cy="289307"/>
            <a:chOff x="3254084" y="3468656"/>
            <a:chExt cx="466140" cy="289307"/>
          </a:xfrm>
        </p:grpSpPr>
        <p:sp>
          <p:nvSpPr>
            <p:cNvPr id="3" name="Sprechblase: oval 2">
              <a:extLst>
                <a:ext uri="{FF2B5EF4-FFF2-40B4-BE49-F238E27FC236}">
                  <a16:creationId xmlns:a16="http://schemas.microsoft.com/office/drawing/2014/main" id="{8132C850-6345-46FA-BDAC-AC8AD7A9AC36}"/>
                </a:ext>
              </a:extLst>
            </p:cNvPr>
            <p:cNvSpPr/>
            <p:nvPr/>
          </p:nvSpPr>
          <p:spPr>
            <a:xfrm flipH="1">
              <a:off x="3254084" y="3468656"/>
              <a:ext cx="466140" cy="289307"/>
            </a:xfrm>
            <a:prstGeom prst="wedgeEllipseCallout">
              <a:avLst/>
            </a:prstGeom>
            <a:solidFill>
              <a:schemeClr val="bg1"/>
            </a:solidFill>
            <a:ln w="19050">
              <a:solidFill>
                <a:srgbClr val="B992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48" name="Grafik 47">
              <a:extLst>
                <a:ext uri="{FF2B5EF4-FFF2-40B4-BE49-F238E27FC236}">
                  <a16:creationId xmlns:a16="http://schemas.microsoft.com/office/drawing/2014/main" id="{A1C35516-5657-443B-8AB3-ED3315464B15}"/>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l="3825" r="3825"/>
            <a:stretch/>
          </p:blipFill>
          <p:spPr>
            <a:xfrm>
              <a:off x="3336600" y="3472326"/>
              <a:ext cx="270156" cy="279253"/>
            </a:xfrm>
            <a:prstGeom prst="ellipse">
              <a:avLst/>
            </a:prstGeom>
          </p:spPr>
        </p:pic>
      </p:grpSp>
      <p:pic>
        <p:nvPicPr>
          <p:cNvPr id="26" name="Grafik 25" descr="Ein Bild, das Text, Reihe enthält.&#10;&#10;KI-generierte Inhalte können fehlerhaft sein.">
            <a:extLst>
              <a:ext uri="{FF2B5EF4-FFF2-40B4-BE49-F238E27FC236}">
                <a16:creationId xmlns:a16="http://schemas.microsoft.com/office/drawing/2014/main" id="{0D4BCD1F-2802-5B58-1A6F-C523BE832275}"/>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3602" t="24729" r="1076" b="12759"/>
          <a:stretch/>
        </p:blipFill>
        <p:spPr>
          <a:xfrm>
            <a:off x="1724642" y="4082309"/>
            <a:ext cx="1193087" cy="499868"/>
          </a:xfrm>
          <a:prstGeom prst="rect">
            <a:avLst/>
          </a:prstGeom>
        </p:spPr>
      </p:pic>
      <p:sp>
        <p:nvSpPr>
          <p:cNvPr id="53" name="Textfeld 52">
            <a:extLst>
              <a:ext uri="{FF2B5EF4-FFF2-40B4-BE49-F238E27FC236}">
                <a16:creationId xmlns:a16="http://schemas.microsoft.com/office/drawing/2014/main" id="{5A899F68-8961-49F1-8888-F1C7651E1ABD}"/>
              </a:ext>
            </a:extLst>
          </p:cNvPr>
          <p:cNvSpPr txBox="1"/>
          <p:nvPr/>
        </p:nvSpPr>
        <p:spPr>
          <a:xfrm>
            <a:off x="915969" y="4744860"/>
            <a:ext cx="7824607" cy="215444"/>
          </a:xfrm>
          <a:prstGeom prst="rect">
            <a:avLst/>
          </a:prstGeom>
          <a:noFill/>
        </p:spPr>
        <p:txBody>
          <a:bodyPr wrap="square" rtlCol="0">
            <a:spAutoFit/>
          </a:bodyPr>
          <a:lstStyle>
            <a:defPPr>
              <a:defRPr lang="de-DE"/>
            </a:defPPr>
            <a:lvl1pPr algn="ctr">
              <a:defRPr sz="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Braem</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2017; Dreisbach &amp; Fröber, 2019; Farmer et al., 2018; Fröber &amp; Dreisbach, 2016; Shen &amp; Chun, 2011; Ullsperger et al., 2024 </a:t>
            </a:r>
          </a:p>
        </p:txBody>
      </p:sp>
    </p:spTree>
    <p:extLst>
      <p:ext uri="{BB962C8B-B14F-4D97-AF65-F5344CB8AC3E}">
        <p14:creationId xmlns:p14="http://schemas.microsoft.com/office/powerpoint/2010/main" val="3924754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848FDE-0705-4B4F-A21F-7984AEB2201C}"/>
              </a:ext>
            </a:extLst>
          </p:cNvPr>
          <p:cNvSpPr>
            <a:spLocks noGrp="1"/>
          </p:cNvSpPr>
          <p:nvPr>
            <p:ph type="title"/>
          </p:nvPr>
        </p:nvSpPr>
        <p:spPr/>
        <p:txBody>
          <a:bodyPr/>
          <a:lstStyle/>
          <a:p>
            <a:r>
              <a:rPr lang="de-DE" sz="2100" b="0" dirty="0" err="1">
                <a:solidFill>
                  <a:prstClr val="black"/>
                </a:solidFill>
              </a:rPr>
              <a:t>Empirical</a:t>
            </a:r>
            <a:r>
              <a:rPr lang="de-DE" sz="2100" b="0" dirty="0">
                <a:solidFill>
                  <a:prstClr val="black"/>
                </a:solidFill>
              </a:rPr>
              <a:t> </a:t>
            </a:r>
            <a:r>
              <a:rPr lang="de-DE" sz="2100" b="0" dirty="0" err="1">
                <a:solidFill>
                  <a:prstClr val="black"/>
                </a:solidFill>
              </a:rPr>
              <a:t>Objective</a:t>
            </a:r>
            <a:r>
              <a:rPr lang="de-DE" sz="2100" b="0" dirty="0">
                <a:solidFill>
                  <a:prstClr val="black"/>
                </a:solidFill>
              </a:rPr>
              <a:t> 2: </a:t>
            </a:r>
            <a:r>
              <a:rPr lang="en-US" sz="2100" b="0" dirty="0">
                <a:solidFill>
                  <a:prstClr val="black"/>
                </a:solidFill>
              </a:rPr>
              <a:t>Relationship between </a:t>
            </a:r>
            <a:r>
              <a:rPr lang="en-US" sz="2100" b="0" dirty="0">
                <a:solidFill>
                  <a:srgbClr val="B99212"/>
                </a:solidFill>
              </a:rPr>
              <a:t>response strategies</a:t>
            </a:r>
            <a:r>
              <a:rPr lang="en-US" sz="2100" b="0" dirty="0">
                <a:solidFill>
                  <a:prstClr val="black"/>
                </a:solidFill>
              </a:rPr>
              <a:t>, </a:t>
            </a:r>
            <a:r>
              <a:rPr lang="en-US" sz="2100" b="0" dirty="0">
                <a:solidFill>
                  <a:srgbClr val="B99212"/>
                </a:solidFill>
              </a:rPr>
              <a:t>reward</a:t>
            </a:r>
            <a:r>
              <a:rPr lang="en-US" sz="2100" b="0" dirty="0">
                <a:solidFill>
                  <a:prstClr val="black"/>
                </a:solidFill>
              </a:rPr>
              <a:t>, and </a:t>
            </a:r>
            <a:r>
              <a:rPr lang="en-US" sz="2100" b="0" dirty="0">
                <a:solidFill>
                  <a:srgbClr val="B99212"/>
                </a:solidFill>
              </a:rPr>
              <a:t>reward sensitivity</a:t>
            </a:r>
            <a:endParaRPr lang="en-US" dirty="0"/>
          </a:p>
        </p:txBody>
      </p:sp>
      <p:sp>
        <p:nvSpPr>
          <p:cNvPr id="4" name="Foliennummernplatzhalter 3">
            <a:extLst>
              <a:ext uri="{FF2B5EF4-FFF2-40B4-BE49-F238E27FC236}">
                <a16:creationId xmlns:a16="http://schemas.microsoft.com/office/drawing/2014/main" id="{F73431F1-2799-41C2-BB77-787EF51CB8D5}"/>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26</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pic>
        <p:nvPicPr>
          <p:cNvPr id="5" name="Grafik 4">
            <a:extLst>
              <a:ext uri="{FF2B5EF4-FFF2-40B4-BE49-F238E27FC236}">
                <a16:creationId xmlns:a16="http://schemas.microsoft.com/office/drawing/2014/main" id="{8E81382F-4433-434D-BBE7-68BEB71FE33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033798" y="1163595"/>
            <a:ext cx="4985297" cy="1031942"/>
          </a:xfrm>
          <a:prstGeom prst="rect">
            <a:avLst/>
          </a:prstGeom>
        </p:spPr>
      </p:pic>
      <p:sp>
        <p:nvSpPr>
          <p:cNvPr id="6" name="Textfeld 5">
            <a:extLst>
              <a:ext uri="{FF2B5EF4-FFF2-40B4-BE49-F238E27FC236}">
                <a16:creationId xmlns:a16="http://schemas.microsoft.com/office/drawing/2014/main" id="{6612F34C-8A52-D54E-26FA-DA1AA62B3324}"/>
              </a:ext>
            </a:extLst>
          </p:cNvPr>
          <p:cNvSpPr txBox="1"/>
          <p:nvPr/>
        </p:nvSpPr>
        <p:spPr>
          <a:xfrm>
            <a:off x="1968824" y="1378332"/>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8" name="Pfeil: nach rechts 7">
            <a:extLst>
              <a:ext uri="{FF2B5EF4-FFF2-40B4-BE49-F238E27FC236}">
                <a16:creationId xmlns:a16="http://schemas.microsoft.com/office/drawing/2014/main" id="{969524CA-9340-613B-96C3-A3F9630BC915}"/>
              </a:ext>
            </a:extLst>
          </p:cNvPr>
          <p:cNvSpPr/>
          <p:nvPr/>
        </p:nvSpPr>
        <p:spPr>
          <a:xfrm>
            <a:off x="1687428" y="183612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0" name="Pfeil: nach rechts 9">
            <a:extLst>
              <a:ext uri="{FF2B5EF4-FFF2-40B4-BE49-F238E27FC236}">
                <a16:creationId xmlns:a16="http://schemas.microsoft.com/office/drawing/2014/main" id="{A45D5D65-82B4-F750-78F3-59D70AB3E94B}"/>
              </a:ext>
            </a:extLst>
          </p:cNvPr>
          <p:cNvSpPr/>
          <p:nvPr/>
        </p:nvSpPr>
        <p:spPr>
          <a:xfrm>
            <a:off x="1687428" y="1985838"/>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2" name="Textfeld 11">
            <a:extLst>
              <a:ext uri="{FF2B5EF4-FFF2-40B4-BE49-F238E27FC236}">
                <a16:creationId xmlns:a16="http://schemas.microsoft.com/office/drawing/2014/main" id="{46CCFB86-89CD-3D48-1B53-30FE61FAF1CA}"/>
              </a:ext>
            </a:extLst>
          </p:cNvPr>
          <p:cNvSpPr txBox="1"/>
          <p:nvPr/>
        </p:nvSpPr>
        <p:spPr>
          <a:xfrm>
            <a:off x="527374" y="1431712"/>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14" name="Pfeil: nach rechts 13">
            <a:extLst>
              <a:ext uri="{FF2B5EF4-FFF2-40B4-BE49-F238E27FC236}">
                <a16:creationId xmlns:a16="http://schemas.microsoft.com/office/drawing/2014/main" id="{FDD67369-9827-0D69-F432-CB8B0FB84EB7}"/>
              </a:ext>
            </a:extLst>
          </p:cNvPr>
          <p:cNvSpPr/>
          <p:nvPr/>
        </p:nvSpPr>
        <p:spPr>
          <a:xfrm>
            <a:off x="1687428" y="148159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6" name="Pfeil: nach rechts 15">
            <a:extLst>
              <a:ext uri="{FF2B5EF4-FFF2-40B4-BE49-F238E27FC236}">
                <a16:creationId xmlns:a16="http://schemas.microsoft.com/office/drawing/2014/main" id="{F7654BA9-037F-BAAA-B542-77823F59F1CA}"/>
              </a:ext>
            </a:extLst>
          </p:cNvPr>
          <p:cNvSpPr/>
          <p:nvPr/>
        </p:nvSpPr>
        <p:spPr>
          <a:xfrm>
            <a:off x="1687428" y="1631304"/>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8" name="Textfeld 17">
            <a:extLst>
              <a:ext uri="{FF2B5EF4-FFF2-40B4-BE49-F238E27FC236}">
                <a16:creationId xmlns:a16="http://schemas.microsoft.com/office/drawing/2014/main" id="{D16BAA31-D773-80DF-5DFC-DC7A5349D91D}"/>
              </a:ext>
            </a:extLst>
          </p:cNvPr>
          <p:cNvSpPr txBox="1"/>
          <p:nvPr/>
        </p:nvSpPr>
        <p:spPr>
          <a:xfrm>
            <a:off x="584200" y="1073150"/>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a:ln>
                  <a:noFill/>
                </a:ln>
                <a:solidFill>
                  <a:prstClr val="black"/>
                </a:solidFill>
                <a:effectLst/>
                <a:uLnTx/>
                <a:uFillTx/>
                <a:latin typeface="Arial"/>
                <a:ea typeface="+mn-ea"/>
                <a:cs typeface="+mn-cs"/>
              </a:rPr>
              <a:t>​</a:t>
            </a:r>
          </a:p>
        </p:txBody>
      </p:sp>
      <p:grpSp>
        <p:nvGrpSpPr>
          <p:cNvPr id="11" name="Gruppieren 10">
            <a:extLst>
              <a:ext uri="{FF2B5EF4-FFF2-40B4-BE49-F238E27FC236}">
                <a16:creationId xmlns:a16="http://schemas.microsoft.com/office/drawing/2014/main" id="{67F93329-F0A4-62C2-4D99-3E9A9AA13E8A}"/>
              </a:ext>
            </a:extLst>
          </p:cNvPr>
          <p:cNvGrpSpPr/>
          <p:nvPr/>
        </p:nvGrpSpPr>
        <p:grpSpPr>
          <a:xfrm>
            <a:off x="872677" y="2409733"/>
            <a:ext cx="7880527" cy="2268251"/>
            <a:chOff x="9330490" y="3150987"/>
            <a:chExt cx="2734720" cy="1996076"/>
          </a:xfrm>
        </p:grpSpPr>
        <p:sp>
          <p:nvSpPr>
            <p:cNvPr id="7" name="Rechteck: abgerundete Ecken 6">
              <a:extLst>
                <a:ext uri="{FF2B5EF4-FFF2-40B4-BE49-F238E27FC236}">
                  <a16:creationId xmlns:a16="http://schemas.microsoft.com/office/drawing/2014/main" id="{0690DAFF-CF20-1F70-2FD6-B7E2489D4044}"/>
                </a:ext>
              </a:extLst>
            </p:cNvPr>
            <p:cNvSpPr/>
            <p:nvPr/>
          </p:nvSpPr>
          <p:spPr>
            <a:xfrm>
              <a:off x="9330490" y="3216736"/>
              <a:ext cx="2734720" cy="1930327"/>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9" name="Rechteck: abgerundete Ecken 8">
              <a:extLst>
                <a:ext uri="{FF2B5EF4-FFF2-40B4-BE49-F238E27FC236}">
                  <a16:creationId xmlns:a16="http://schemas.microsoft.com/office/drawing/2014/main" id="{09D32B15-8C59-9239-DD9A-38C2DA4B37E6}"/>
                </a:ext>
              </a:extLst>
            </p:cNvPr>
            <p:cNvSpPr/>
            <p:nvPr/>
          </p:nvSpPr>
          <p:spPr>
            <a:xfrm>
              <a:off x="9330490" y="3150987"/>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dirty="0">
                  <a:ln>
                    <a:noFill/>
                  </a:ln>
                  <a:solidFill>
                    <a:prstClr val="white"/>
                  </a:solidFill>
                  <a:effectLst/>
                  <a:uLnTx/>
                  <a:uFillTx/>
                  <a:latin typeface="Calibri"/>
                  <a:ea typeface="+mn-ea"/>
                  <a:cs typeface="+mn-cs"/>
                </a:rPr>
                <a:t>Work Package 1.2 – </a:t>
              </a:r>
              <a:r>
                <a:rPr kumimoji="0" lang="de-DE" sz="1050" b="1" i="0" u="none" strike="noStrike" kern="1200" cap="none" spc="0" normalizeH="0" baseline="0" noProof="0" dirty="0">
                  <a:ln>
                    <a:noFill/>
                  </a:ln>
                  <a:solidFill>
                    <a:prstClr val="white"/>
                  </a:solidFill>
                  <a:effectLst/>
                  <a:uLnTx/>
                  <a:uFillTx/>
                  <a:latin typeface="Calibri"/>
                  <a:ea typeface="+mn-ea"/>
                  <a:cs typeface="+mn-cs"/>
                </a:rPr>
                <a:t>Experiment 2b</a:t>
              </a:r>
              <a:r>
                <a:rPr kumimoji="0" lang="de-DE" sz="1050" b="0" i="0" u="none" strike="noStrike" kern="1200" cap="none" spc="0" normalizeH="0" baseline="0" noProof="0" dirty="0">
                  <a:ln>
                    <a:noFill/>
                  </a:ln>
                  <a:solidFill>
                    <a:prstClr val="white"/>
                  </a:solidFill>
                  <a:effectLst/>
                  <a:uLnTx/>
                  <a:uFillTx/>
                  <a:latin typeface="Calibri"/>
                  <a:ea typeface="+mn-ea"/>
                  <a:cs typeface="+mn-cs"/>
                </a:rPr>
                <a:t>, n = 90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participants</a:t>
              </a:r>
              <a:endParaRPr kumimoji="0" lang="en-US" sz="105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5" name="Rechteck: abgerundete Ecken 14">
            <a:extLst>
              <a:ext uri="{FF2B5EF4-FFF2-40B4-BE49-F238E27FC236}">
                <a16:creationId xmlns:a16="http://schemas.microsoft.com/office/drawing/2014/main" id="{A34546B4-1534-5262-9813-669EA48D9F9E}"/>
              </a:ext>
            </a:extLst>
          </p:cNvPr>
          <p:cNvSpPr/>
          <p:nvPr/>
        </p:nvSpPr>
        <p:spPr>
          <a:xfrm>
            <a:off x="1205178" y="3140626"/>
            <a:ext cx="2508653" cy="1483352"/>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feld 18">
            <a:extLst>
              <a:ext uri="{FF2B5EF4-FFF2-40B4-BE49-F238E27FC236}">
                <a16:creationId xmlns:a16="http://schemas.microsoft.com/office/drawing/2014/main" id="{66216714-27C0-8099-6877-4D5BFE272767}"/>
              </a:ext>
            </a:extLst>
          </p:cNvPr>
          <p:cNvSpPr txBox="1"/>
          <p:nvPr/>
        </p:nvSpPr>
        <p:spPr>
          <a:xfrm>
            <a:off x="1549362" y="3134808"/>
            <a:ext cx="1904662"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Free </a:t>
            </a:r>
            <a:r>
              <a:rPr kumimoji="0" lang="de-DE" sz="900" b="0" i="0" u="none" strike="noStrike" kern="1200" cap="none" spc="0" normalizeH="0" baseline="0" noProof="0" err="1">
                <a:ln>
                  <a:noFill/>
                </a:ln>
                <a:solidFill>
                  <a:prstClr val="black"/>
                </a:solidFill>
                <a:effectLst/>
                <a:uLnTx/>
                <a:uFillTx/>
                <a:latin typeface="Calibri"/>
                <a:ea typeface="+mn-ea"/>
                <a:cs typeface="+mn-cs"/>
              </a:rPr>
              <a:t>Concurrent</a:t>
            </a:r>
            <a:r>
              <a:rPr kumimoji="0" lang="de-DE" sz="900" b="0" i="0" u="none" strike="noStrike" kern="1200" cap="none" spc="0" normalizeH="0" baseline="0" noProof="0">
                <a:ln>
                  <a:noFill/>
                </a:ln>
                <a:solidFill>
                  <a:prstClr val="black"/>
                </a:solidFill>
                <a:effectLst/>
                <a:uLnTx/>
                <a:uFillTx/>
                <a:latin typeface="Calibri"/>
                <a:ea typeface="+mn-ea"/>
                <a:cs typeface="+mn-cs"/>
              </a:rPr>
              <a:t> Dual-</a:t>
            </a:r>
            <a:r>
              <a:rPr kumimoji="0" lang="de-DE" sz="900" b="0" i="0" u="none" strike="noStrike" kern="1200" cap="none" spc="0" normalizeH="0" baseline="0" noProof="0" err="1">
                <a:ln>
                  <a:noFill/>
                </a:ln>
                <a:solidFill>
                  <a:prstClr val="black"/>
                </a:solidFill>
                <a:effectLst/>
                <a:uLnTx/>
                <a:uFillTx/>
                <a:latin typeface="Calibri"/>
                <a:ea typeface="+mn-ea"/>
                <a:cs typeface="+mn-cs"/>
              </a:rPr>
              <a:t>Tasking</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feld 27">
            <a:extLst>
              <a:ext uri="{FF2B5EF4-FFF2-40B4-BE49-F238E27FC236}">
                <a16:creationId xmlns:a16="http://schemas.microsoft.com/office/drawing/2014/main" id="{1AD1FBF5-4138-C5D6-A5BC-68A778F72DDA}"/>
              </a:ext>
            </a:extLst>
          </p:cNvPr>
          <p:cNvSpPr txBox="1"/>
          <p:nvPr/>
        </p:nvSpPr>
        <p:spPr>
          <a:xfrm>
            <a:off x="1204989" y="2733768"/>
            <a:ext cx="2688473"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rPr>
              <a:t>Performance-based Factors: </a:t>
            </a:r>
            <a:endParaRPr kumimoji="0" lang="de-DE"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rPr>
              <a:t>response strategies &amp; reward sensitivity</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0" name="Grafik 29">
            <a:extLst>
              <a:ext uri="{FF2B5EF4-FFF2-40B4-BE49-F238E27FC236}">
                <a16:creationId xmlns:a16="http://schemas.microsoft.com/office/drawing/2014/main" id="{9466CD39-D772-8426-966B-9B528BE36ADF}"/>
              </a:ext>
            </a:extLst>
          </p:cNvPr>
          <p:cNvPicPr>
            <a:picLocks noChangeAspect="1"/>
          </p:cNvPicPr>
          <p:nvPr/>
        </p:nvPicPr>
        <p:blipFill rotWithShape="1">
          <a:blip r:embed="rId4"/>
          <a:srcRect l="115" r="115"/>
          <a:stretch/>
        </p:blipFill>
        <p:spPr>
          <a:xfrm>
            <a:off x="906591" y="3880346"/>
            <a:ext cx="846972" cy="671651"/>
          </a:xfrm>
          <a:prstGeom prst="rect">
            <a:avLst/>
          </a:prstGeom>
          <a:noFill/>
          <a:ln w="9525" cap="flat" cmpd="sng" algn="ctr">
            <a:noFill/>
            <a:prstDash val="solid"/>
            <a:round/>
            <a:headEnd type="none" w="med" len="med"/>
            <a:tailEnd type="none" w="med" len="med"/>
          </a:ln>
        </p:spPr>
      </p:pic>
      <p:sp>
        <p:nvSpPr>
          <p:cNvPr id="40" name="Pfeil: nach rechts 39">
            <a:extLst>
              <a:ext uri="{FF2B5EF4-FFF2-40B4-BE49-F238E27FC236}">
                <a16:creationId xmlns:a16="http://schemas.microsoft.com/office/drawing/2014/main" id="{A6C32834-8675-0190-683E-DE28D58EBFE1}"/>
              </a:ext>
            </a:extLst>
          </p:cNvPr>
          <p:cNvSpPr/>
          <p:nvPr/>
        </p:nvSpPr>
        <p:spPr>
          <a:xfrm>
            <a:off x="3815916" y="3616774"/>
            <a:ext cx="302857" cy="149993"/>
          </a:xfrm>
          <a:prstGeom prst="rightArrow">
            <a:avLst/>
          </a:prstGeom>
          <a:solidFill>
            <a:srgbClr val="CCA326"/>
          </a:solid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42" name="Textfeld 41">
            <a:extLst>
              <a:ext uri="{FF2B5EF4-FFF2-40B4-BE49-F238E27FC236}">
                <a16:creationId xmlns:a16="http://schemas.microsoft.com/office/drawing/2014/main" id="{EB2913DA-9932-EA1A-5CDB-6AC273447146}"/>
              </a:ext>
            </a:extLst>
          </p:cNvPr>
          <p:cNvSpPr txBox="1"/>
          <p:nvPr/>
        </p:nvSpPr>
        <p:spPr>
          <a:xfrm>
            <a:off x="4139952" y="2802251"/>
            <a:ext cx="2988020"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Behavioral Outcomes: RTs, ERs, Switch Rates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a:ea typeface="+mn-ea"/>
                <a:cs typeface="Arial"/>
              </a:rPr>
              <a:t>EEG Outcomes: Feedback-related negativity</a:t>
            </a:r>
          </a:p>
        </p:txBody>
      </p:sp>
      <p:pic>
        <p:nvPicPr>
          <p:cNvPr id="44" name="Grafik 43" descr="Ein Bild, das Diagramm, Farbigkeit, Kreis, Reihe enthält.&#10;&#10;KI-generierte Inhalte können fehlerhaft sein.">
            <a:extLst>
              <a:ext uri="{FF2B5EF4-FFF2-40B4-BE49-F238E27FC236}">
                <a16:creationId xmlns:a16="http://schemas.microsoft.com/office/drawing/2014/main" id="{6064E933-93EF-017E-0BF2-197D4E4916D6}"/>
              </a:ext>
            </a:extLst>
          </p:cNvPr>
          <p:cNvPicPr>
            <a:picLocks noChangeAspect="1"/>
          </p:cNvPicPr>
          <p:nvPr/>
        </p:nvPicPr>
        <p:blipFill>
          <a:blip r:embed="rId5"/>
          <a:srcRect/>
          <a:stretch/>
        </p:blipFill>
        <p:spPr>
          <a:xfrm>
            <a:off x="4142804" y="3287642"/>
            <a:ext cx="1102406" cy="1030164"/>
          </a:xfrm>
          <a:prstGeom prst="rect">
            <a:avLst/>
          </a:prstGeom>
        </p:spPr>
      </p:pic>
      <p:grpSp>
        <p:nvGrpSpPr>
          <p:cNvPr id="89" name="Gruppieren 88">
            <a:extLst>
              <a:ext uri="{FF2B5EF4-FFF2-40B4-BE49-F238E27FC236}">
                <a16:creationId xmlns:a16="http://schemas.microsoft.com/office/drawing/2014/main" id="{8B0F3A1B-CB0A-E53E-C3FB-3C937610AD9A}"/>
              </a:ext>
            </a:extLst>
          </p:cNvPr>
          <p:cNvGrpSpPr/>
          <p:nvPr/>
        </p:nvGrpSpPr>
        <p:grpSpPr>
          <a:xfrm>
            <a:off x="5243006" y="3205184"/>
            <a:ext cx="1801798" cy="1351333"/>
            <a:chOff x="8947315" y="4242162"/>
            <a:chExt cx="2621293" cy="2004028"/>
          </a:xfrm>
        </p:grpSpPr>
        <p:sp>
          <p:nvSpPr>
            <p:cNvPr id="86" name="Textfeld 85">
              <a:extLst>
                <a:ext uri="{FF2B5EF4-FFF2-40B4-BE49-F238E27FC236}">
                  <a16:creationId xmlns:a16="http://schemas.microsoft.com/office/drawing/2014/main" id="{124AC46D-FDEC-52F7-7F87-D29427A2D3BA}"/>
                </a:ext>
              </a:extLst>
            </p:cNvPr>
            <p:cNvSpPr txBox="1"/>
            <p:nvPr/>
          </p:nvSpPr>
          <p:spPr>
            <a:xfrm>
              <a:off x="10166625" y="5938098"/>
              <a:ext cx="679102" cy="30809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Textfeld 86">
              <a:extLst>
                <a:ext uri="{FF2B5EF4-FFF2-40B4-BE49-F238E27FC236}">
                  <a16:creationId xmlns:a16="http://schemas.microsoft.com/office/drawing/2014/main" id="{288F1B65-B363-B6B8-D136-CF3B2FD3FA32}"/>
                </a:ext>
              </a:extLst>
            </p:cNvPr>
            <p:cNvSpPr txBox="1"/>
            <p:nvPr/>
          </p:nvSpPr>
          <p:spPr>
            <a:xfrm rot="16200000">
              <a:off x="8597783" y="4857455"/>
              <a:ext cx="1001301" cy="3022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Error Rates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88" name="Grafik 87">
              <a:extLst>
                <a:ext uri="{FF2B5EF4-FFF2-40B4-BE49-F238E27FC236}">
                  <a16:creationId xmlns:a16="http://schemas.microsoft.com/office/drawing/2014/main" id="{426DDB5A-98D4-1894-AB95-028558843484}"/>
                </a:ext>
              </a:extLst>
            </p:cNvPr>
            <p:cNvPicPr>
              <a:picLocks noChangeAspect="1"/>
            </p:cNvPicPr>
            <p:nvPr/>
          </p:nvPicPr>
          <p:blipFill rotWithShape="1">
            <a:blip r:embed="rId6"/>
            <a:srcRect l="8324" t="2966" b="9289"/>
            <a:stretch/>
          </p:blipFill>
          <p:spPr>
            <a:xfrm>
              <a:off x="9221544" y="4242162"/>
              <a:ext cx="2347064" cy="1759836"/>
            </a:xfrm>
            <a:prstGeom prst="rect">
              <a:avLst/>
            </a:prstGeom>
          </p:spPr>
        </p:pic>
      </p:grpSp>
      <p:cxnSp>
        <p:nvCxnSpPr>
          <p:cNvPr id="93" name="Gerader Verbinder 92">
            <a:extLst>
              <a:ext uri="{FF2B5EF4-FFF2-40B4-BE49-F238E27FC236}">
                <a16:creationId xmlns:a16="http://schemas.microsoft.com/office/drawing/2014/main" id="{F80158F9-CECD-0CC3-AEDC-D1D495EF5E24}"/>
              </a:ext>
            </a:extLst>
          </p:cNvPr>
          <p:cNvCxnSpPr>
            <a:cxnSpLocks/>
          </p:cNvCxnSpPr>
          <p:nvPr/>
        </p:nvCxnSpPr>
        <p:spPr>
          <a:xfrm>
            <a:off x="7423448" y="3211813"/>
            <a:ext cx="0" cy="909638"/>
          </a:xfrm>
          <a:prstGeom prst="line">
            <a:avLst/>
          </a:prstGeom>
          <a:noFill/>
          <a:ln w="28575" cap="flat" cmpd="sng" algn="ctr">
            <a:solidFill>
              <a:schemeClr val="tx1"/>
            </a:solidFill>
            <a:prstDash val="solid"/>
            <a:miter lim="800000"/>
          </a:ln>
          <a:effectLst/>
        </p:spPr>
      </p:cxnSp>
      <p:sp>
        <p:nvSpPr>
          <p:cNvPr id="95" name="Textfeld 94">
            <a:extLst>
              <a:ext uri="{FF2B5EF4-FFF2-40B4-BE49-F238E27FC236}">
                <a16:creationId xmlns:a16="http://schemas.microsoft.com/office/drawing/2014/main" id="{8E631063-7BD1-0D79-9B44-BF7FB4F51CBC}"/>
              </a:ext>
            </a:extLst>
          </p:cNvPr>
          <p:cNvSpPr txBox="1"/>
          <p:nvPr/>
        </p:nvSpPr>
        <p:spPr>
          <a:xfrm>
            <a:off x="7119960" y="3140626"/>
            <a:ext cx="307777" cy="1042991"/>
          </a:xfrm>
          <a:prstGeom prst="rect">
            <a:avLst/>
          </a:prstGeom>
          <a:noFill/>
        </p:spPr>
        <p:txBody>
          <a:bodyPr vert="vert270"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Switch Rates / FRN</a:t>
            </a:r>
          </a:p>
        </p:txBody>
      </p:sp>
      <p:cxnSp>
        <p:nvCxnSpPr>
          <p:cNvPr id="97" name="Gerader Verbinder 96">
            <a:extLst>
              <a:ext uri="{FF2B5EF4-FFF2-40B4-BE49-F238E27FC236}">
                <a16:creationId xmlns:a16="http://schemas.microsoft.com/office/drawing/2014/main" id="{6728927F-2AF0-5C0B-3413-92EF23AC4776}"/>
              </a:ext>
            </a:extLst>
          </p:cNvPr>
          <p:cNvCxnSpPr>
            <a:cxnSpLocks/>
          </p:cNvCxnSpPr>
          <p:nvPr/>
        </p:nvCxnSpPr>
        <p:spPr>
          <a:xfrm flipH="1">
            <a:off x="7423451" y="4121450"/>
            <a:ext cx="1080000" cy="0"/>
          </a:xfrm>
          <a:prstGeom prst="line">
            <a:avLst/>
          </a:prstGeom>
          <a:noFill/>
          <a:ln w="28575" cap="flat" cmpd="sng" algn="ctr">
            <a:solidFill>
              <a:schemeClr val="tx1"/>
            </a:solidFill>
            <a:prstDash val="solid"/>
            <a:miter lim="800000"/>
          </a:ln>
          <a:effectLst/>
        </p:spPr>
      </p:cxnSp>
      <p:sp>
        <p:nvSpPr>
          <p:cNvPr id="99" name="Rechteck 98">
            <a:extLst>
              <a:ext uri="{FF2B5EF4-FFF2-40B4-BE49-F238E27FC236}">
                <a16:creationId xmlns:a16="http://schemas.microsoft.com/office/drawing/2014/main" id="{9B735013-8E0E-98A6-4042-FD19723F4EAF}"/>
              </a:ext>
            </a:extLst>
          </p:cNvPr>
          <p:cNvSpPr/>
          <p:nvPr/>
        </p:nvSpPr>
        <p:spPr>
          <a:xfrm>
            <a:off x="8234310" y="3599682"/>
            <a:ext cx="72000" cy="515878"/>
          </a:xfrm>
          <a:prstGeom prst="rect">
            <a:avLst/>
          </a:prstGeom>
          <a:solidFill>
            <a:srgbClr val="808080"/>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101" name="Rechteck 100">
            <a:extLst>
              <a:ext uri="{FF2B5EF4-FFF2-40B4-BE49-F238E27FC236}">
                <a16:creationId xmlns:a16="http://schemas.microsoft.com/office/drawing/2014/main" id="{347813F9-9D25-A774-C51B-6328F455BAFA}"/>
              </a:ext>
            </a:extLst>
          </p:cNvPr>
          <p:cNvSpPr/>
          <p:nvPr/>
        </p:nvSpPr>
        <p:spPr>
          <a:xfrm>
            <a:off x="7599859" y="3954106"/>
            <a:ext cx="72000" cy="161454"/>
          </a:xfrm>
          <a:prstGeom prst="rect">
            <a:avLst/>
          </a:prstGeom>
          <a:solidFill>
            <a:srgbClr val="2E75B6"/>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103" name="Textfeld 102">
            <a:extLst>
              <a:ext uri="{FF2B5EF4-FFF2-40B4-BE49-F238E27FC236}">
                <a16:creationId xmlns:a16="http://schemas.microsoft.com/office/drawing/2014/main" id="{3DB1A589-E8CD-903F-64AF-6D448B57ADB5}"/>
              </a:ext>
            </a:extLst>
          </p:cNvPr>
          <p:cNvSpPr txBox="1"/>
          <p:nvPr/>
        </p:nvSpPr>
        <p:spPr>
          <a:xfrm>
            <a:off x="8010719" y="4126351"/>
            <a:ext cx="640619" cy="4560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Switcher, Response </a:t>
            </a:r>
            <a:r>
              <a:rPr kumimoji="0" lang="de-DE" sz="788"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grouper</a:t>
            </a:r>
            <a:endParaRPr kumimoji="0" lang="en-US"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5" name="Textfeld 104">
            <a:extLst>
              <a:ext uri="{FF2B5EF4-FFF2-40B4-BE49-F238E27FC236}">
                <a16:creationId xmlns:a16="http://schemas.microsoft.com/office/drawing/2014/main" id="{27099FDB-BA79-6A18-AF43-54EFB8E108A0}"/>
              </a:ext>
            </a:extLst>
          </p:cNvPr>
          <p:cNvSpPr txBox="1"/>
          <p:nvPr/>
        </p:nvSpPr>
        <p:spPr>
          <a:xfrm>
            <a:off x="7474355" y="4126351"/>
            <a:ext cx="611730" cy="2135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Blocker</a:t>
            </a:r>
            <a:endParaRPr kumimoji="0" lang="en-US"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9" name="Textfeld 108">
            <a:extLst>
              <a:ext uri="{FF2B5EF4-FFF2-40B4-BE49-F238E27FC236}">
                <a16:creationId xmlns:a16="http://schemas.microsoft.com/office/drawing/2014/main" id="{54E07DFE-37F2-C185-18DF-04E96364509F}"/>
              </a:ext>
            </a:extLst>
          </p:cNvPr>
          <p:cNvSpPr txBox="1"/>
          <p:nvPr/>
        </p:nvSpPr>
        <p:spPr>
          <a:xfrm>
            <a:off x="7499982" y="2858881"/>
            <a:ext cx="847898"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Expectations</a:t>
            </a:r>
          </a:p>
        </p:txBody>
      </p:sp>
      <p:pic>
        <p:nvPicPr>
          <p:cNvPr id="13" name="Grafik 12">
            <a:extLst>
              <a:ext uri="{FF2B5EF4-FFF2-40B4-BE49-F238E27FC236}">
                <a16:creationId xmlns:a16="http://schemas.microsoft.com/office/drawing/2014/main" id="{79D46BFB-146C-171E-247C-FA9BD4B405DB}"/>
              </a:ext>
            </a:extLst>
          </p:cNvPr>
          <p:cNvPicPr>
            <a:picLocks noChangeAspect="1"/>
          </p:cNvPicPr>
          <p:nvPr/>
        </p:nvPicPr>
        <p:blipFill rotWithShape="1">
          <a:blip r:embed="rId7"/>
          <a:srcRect r="8346" b="49643"/>
          <a:stretch/>
        </p:blipFill>
        <p:spPr>
          <a:xfrm>
            <a:off x="2978983" y="4351481"/>
            <a:ext cx="323932" cy="199214"/>
          </a:xfrm>
          <a:prstGeom prst="rect">
            <a:avLst/>
          </a:prstGeom>
        </p:spPr>
      </p:pic>
      <p:pic>
        <p:nvPicPr>
          <p:cNvPr id="17" name="Grafik 16">
            <a:extLst>
              <a:ext uri="{FF2B5EF4-FFF2-40B4-BE49-F238E27FC236}">
                <a16:creationId xmlns:a16="http://schemas.microsoft.com/office/drawing/2014/main" id="{393162E1-06B4-ABC8-1D99-BE4C2A1ECB69}"/>
              </a:ext>
            </a:extLst>
          </p:cNvPr>
          <p:cNvPicPr>
            <a:picLocks noChangeAspect="1"/>
          </p:cNvPicPr>
          <p:nvPr/>
        </p:nvPicPr>
        <p:blipFill rotWithShape="1">
          <a:blip r:embed="rId7"/>
          <a:srcRect l="11561" t="51068" b="1988"/>
          <a:stretch/>
        </p:blipFill>
        <p:spPr>
          <a:xfrm>
            <a:off x="3335662" y="4353796"/>
            <a:ext cx="335291" cy="199214"/>
          </a:xfrm>
          <a:prstGeom prst="rect">
            <a:avLst/>
          </a:prstGeom>
        </p:spPr>
      </p:pic>
      <p:sp>
        <p:nvSpPr>
          <p:cNvPr id="20" name="Rechteck: abgerundete Ecken 19">
            <a:extLst>
              <a:ext uri="{FF2B5EF4-FFF2-40B4-BE49-F238E27FC236}">
                <a16:creationId xmlns:a16="http://schemas.microsoft.com/office/drawing/2014/main" id="{BB83078F-D8E3-A6EC-1B6F-7CC4EE5F4B56}"/>
              </a:ext>
            </a:extLst>
          </p:cNvPr>
          <p:cNvSpPr/>
          <p:nvPr/>
        </p:nvSpPr>
        <p:spPr>
          <a:xfrm>
            <a:off x="2941656" y="4078562"/>
            <a:ext cx="770197" cy="545416"/>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Arial"/>
            </a:endParaRPr>
          </a:p>
        </p:txBody>
      </p:sp>
      <p:sp>
        <p:nvSpPr>
          <p:cNvPr id="25" name="Textfeld 24">
            <a:extLst>
              <a:ext uri="{FF2B5EF4-FFF2-40B4-BE49-F238E27FC236}">
                <a16:creationId xmlns:a16="http://schemas.microsoft.com/office/drawing/2014/main" id="{5946888F-087A-CD34-CB02-587E0DB3D6C5}"/>
              </a:ext>
            </a:extLst>
          </p:cNvPr>
          <p:cNvSpPr txBox="1"/>
          <p:nvPr/>
        </p:nvSpPr>
        <p:spPr>
          <a:xfrm>
            <a:off x="2969894" y="4092798"/>
            <a:ext cx="692142" cy="242153"/>
          </a:xfrm>
          <a:prstGeom prst="rect">
            <a:avLst/>
          </a:prstGeom>
          <a:noFill/>
          <a:ln w="12700">
            <a:noFill/>
          </a:ln>
        </p:spPr>
        <p:txBody>
          <a:bodyPr wrap="square" lIns="91440" tIns="27000" rIns="91440" bIns="27000" rtlCol="0" anchor="t">
            <a:noAutofit/>
          </a:bodyPr>
          <a:lstStyle>
            <a:defPPr>
              <a:defRPr lang="de-DE"/>
            </a:defPPr>
            <a:lvl1pPr algn="ct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err="1">
                <a:ln>
                  <a:noFill/>
                </a:ln>
                <a:solidFill>
                  <a:prstClr val="black"/>
                </a:solidFill>
                <a:effectLst/>
                <a:uLnTx/>
                <a:uFillTx/>
                <a:latin typeface="Arial"/>
                <a:ea typeface="+mn-ea"/>
                <a:cs typeface="Arial"/>
              </a:rPr>
              <a:t>Probabilistic</a:t>
            </a:r>
            <a:r>
              <a:rPr kumimoji="0" lang="de-DE" sz="700" b="0" i="0" u="none" strike="noStrike" kern="1200" cap="none" spc="0" normalizeH="0" baseline="0" noProof="0" dirty="0">
                <a:ln>
                  <a:noFill/>
                </a:ln>
                <a:solidFill>
                  <a:prstClr val="black"/>
                </a:solidFill>
                <a:effectLst/>
                <a:uLnTx/>
                <a:uFillTx/>
                <a:latin typeface="Arial"/>
                <a:ea typeface="+mn-ea"/>
                <a:cs typeface="Arial"/>
              </a:rPr>
              <a:t> </a:t>
            </a:r>
            <a:r>
              <a:rPr kumimoji="0" lang="de-DE" sz="700" b="0" i="0" u="none" strike="noStrike" kern="1200" cap="none" spc="0" normalizeH="0" baseline="0" noProof="0" dirty="0" err="1">
                <a:ln>
                  <a:noFill/>
                </a:ln>
                <a:solidFill>
                  <a:prstClr val="black"/>
                </a:solidFill>
                <a:effectLst/>
                <a:uLnTx/>
                <a:uFillTx/>
                <a:latin typeface="Arial"/>
                <a:ea typeface="+mn-ea"/>
                <a:cs typeface="Arial"/>
              </a:rPr>
              <a:t>learning</a:t>
            </a:r>
            <a:endParaRPr kumimoji="0" lang="de-DE" sz="700" b="0" i="0" u="none" strike="noStrike" kern="1200" cap="none" spc="0" normalizeH="0" baseline="0" noProof="0" dirty="0">
              <a:ln>
                <a:noFill/>
              </a:ln>
              <a:solidFill>
                <a:prstClr val="black"/>
              </a:solidFill>
              <a:effectLst/>
              <a:uLnTx/>
              <a:uFillTx/>
              <a:latin typeface="Arial"/>
              <a:ea typeface="+mn-ea"/>
              <a:cs typeface="Arial"/>
            </a:endParaRPr>
          </a:p>
        </p:txBody>
      </p:sp>
      <p:sp>
        <p:nvSpPr>
          <p:cNvPr id="29" name="Textfeld 28">
            <a:extLst>
              <a:ext uri="{FF2B5EF4-FFF2-40B4-BE49-F238E27FC236}">
                <a16:creationId xmlns:a16="http://schemas.microsoft.com/office/drawing/2014/main" id="{8903689E-1D0D-A309-429E-9792CF066E85}"/>
              </a:ext>
            </a:extLst>
          </p:cNvPr>
          <p:cNvSpPr txBox="1"/>
          <p:nvPr/>
        </p:nvSpPr>
        <p:spPr>
          <a:xfrm>
            <a:off x="4348074" y="4025837"/>
            <a:ext cx="474008"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err="1">
                <a:ln>
                  <a:noFill/>
                </a:ln>
                <a:solidFill>
                  <a:prstClr val="black"/>
                </a:solidFill>
                <a:effectLst/>
                <a:uLnTx/>
                <a:uFillTx/>
                <a:latin typeface="Arial Narrow" panose="020B0606020202030204" pitchFamily="34" charset="0"/>
                <a:ea typeface="Calibri"/>
                <a:cs typeface="Arial" panose="020B0604020202020204" pitchFamily="34" charset="0"/>
              </a:rPr>
              <a:t>RewP</a:t>
            </a:r>
            <a:endParaRPr kumimoji="0" lang="de-DE" sz="900" b="1" i="0" u="none" strike="noStrike" kern="1200" cap="none" spc="0" normalizeH="0" baseline="0" noProof="0" dirty="0">
              <a:ln>
                <a:noFill/>
              </a:ln>
              <a:solidFill>
                <a:prstClr val="black"/>
              </a:solidFill>
              <a:effectLst/>
              <a:uLnTx/>
              <a:uFillTx/>
              <a:latin typeface="Arial Narrow" panose="020B0606020202030204" pitchFamily="34" charset="0"/>
              <a:ea typeface="Calibri"/>
              <a:cs typeface="Arial" panose="020B0604020202020204" pitchFamily="34" charset="0"/>
            </a:endParaRPr>
          </a:p>
        </p:txBody>
      </p:sp>
      <p:pic>
        <p:nvPicPr>
          <p:cNvPr id="21" name="Inhaltsplatzhalter 5">
            <a:extLst>
              <a:ext uri="{FF2B5EF4-FFF2-40B4-BE49-F238E27FC236}">
                <a16:creationId xmlns:a16="http://schemas.microsoft.com/office/drawing/2014/main" id="{0851F4FF-6121-35DE-3FCF-D319A6C549B7}"/>
              </a:ext>
            </a:extLst>
          </p:cNvPr>
          <p:cNvPicPr>
            <a:picLocks noGrp="1" noChangeAspect="1"/>
          </p:cNvPicPr>
          <p:nvPr>
            <p:ph idx="1"/>
          </p:nvPr>
        </p:nvPicPr>
        <p:blipFill rotWithShape="1">
          <a:blip r:embed="rId8">
            <a:extLst>
              <a:ext uri="{28A0092B-C50C-407E-A947-70E740481C1C}">
                <a14:useLocalDpi xmlns:a14="http://schemas.microsoft.com/office/drawing/2010/main" val="0"/>
              </a:ext>
            </a:extLst>
          </a:blip>
          <a:srcRect t="66" b="66"/>
          <a:stretch/>
        </p:blipFill>
        <p:spPr>
          <a:xfrm>
            <a:off x="1283308" y="3424744"/>
            <a:ext cx="1144680" cy="648000"/>
          </a:xfrm>
        </p:spPr>
      </p:pic>
      <p:pic>
        <p:nvPicPr>
          <p:cNvPr id="23" name="Inhaltsplatzhalter 5">
            <a:extLst>
              <a:ext uri="{FF2B5EF4-FFF2-40B4-BE49-F238E27FC236}">
                <a16:creationId xmlns:a16="http://schemas.microsoft.com/office/drawing/2014/main" id="{FC66A410-0327-0926-F3AB-D26D1DAF69BA}"/>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965" b="965"/>
          <a:stretch/>
        </p:blipFill>
        <p:spPr>
          <a:xfrm>
            <a:off x="2483725" y="3424744"/>
            <a:ext cx="1136410" cy="648000"/>
          </a:xfrm>
          <a:prstGeom prst="rect">
            <a:avLst/>
          </a:prstGeom>
        </p:spPr>
      </p:pic>
      <p:sp>
        <p:nvSpPr>
          <p:cNvPr id="49" name="Rechteck 48">
            <a:extLst>
              <a:ext uri="{FF2B5EF4-FFF2-40B4-BE49-F238E27FC236}">
                <a16:creationId xmlns:a16="http://schemas.microsoft.com/office/drawing/2014/main" id="{E3B7BC95-7ADE-4F5E-9A42-E599CAA97A94}"/>
              </a:ext>
            </a:extLst>
          </p:cNvPr>
          <p:cNvSpPr/>
          <p:nvPr/>
        </p:nvSpPr>
        <p:spPr>
          <a:xfrm>
            <a:off x="7703158" y="3935560"/>
            <a:ext cx="72000" cy="180000"/>
          </a:xfrm>
          <a:prstGeom prst="rect">
            <a:avLst/>
          </a:prstGeom>
          <a:solidFill>
            <a:srgbClr val="808080"/>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50" name="Rechteck 49">
            <a:extLst>
              <a:ext uri="{FF2B5EF4-FFF2-40B4-BE49-F238E27FC236}">
                <a16:creationId xmlns:a16="http://schemas.microsoft.com/office/drawing/2014/main" id="{E98A1AA6-1015-4E2F-B98D-C293EE682106}"/>
              </a:ext>
            </a:extLst>
          </p:cNvPr>
          <p:cNvSpPr/>
          <p:nvPr/>
        </p:nvSpPr>
        <p:spPr>
          <a:xfrm>
            <a:off x="8121731" y="3737717"/>
            <a:ext cx="72000" cy="377843"/>
          </a:xfrm>
          <a:prstGeom prst="rect">
            <a:avLst/>
          </a:prstGeom>
          <a:solidFill>
            <a:srgbClr val="2E75B6"/>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51" name="Rechteck 50">
            <a:extLst>
              <a:ext uri="{FF2B5EF4-FFF2-40B4-BE49-F238E27FC236}">
                <a16:creationId xmlns:a16="http://schemas.microsoft.com/office/drawing/2014/main" id="{990DA4B0-202E-4B28-AF06-34B337FABD96}"/>
              </a:ext>
            </a:extLst>
          </p:cNvPr>
          <p:cNvSpPr/>
          <p:nvPr/>
        </p:nvSpPr>
        <p:spPr>
          <a:xfrm>
            <a:off x="8341618" y="3492575"/>
            <a:ext cx="72000" cy="622985"/>
          </a:xfrm>
          <a:prstGeom prst="rect">
            <a:avLst/>
          </a:prstGeom>
          <a:solidFill>
            <a:srgbClr val="C55A11"/>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52" name="Rechteck 51">
            <a:extLst>
              <a:ext uri="{FF2B5EF4-FFF2-40B4-BE49-F238E27FC236}">
                <a16:creationId xmlns:a16="http://schemas.microsoft.com/office/drawing/2014/main" id="{153F8151-6C73-4A8B-A6A5-F365E448B504}"/>
              </a:ext>
            </a:extLst>
          </p:cNvPr>
          <p:cNvSpPr/>
          <p:nvPr/>
        </p:nvSpPr>
        <p:spPr>
          <a:xfrm>
            <a:off x="7810466" y="3918507"/>
            <a:ext cx="72000" cy="197053"/>
          </a:xfrm>
          <a:prstGeom prst="rect">
            <a:avLst/>
          </a:prstGeom>
          <a:solidFill>
            <a:srgbClr val="C55A11"/>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91" name="Freihandform: Form 90">
            <a:extLst>
              <a:ext uri="{FF2B5EF4-FFF2-40B4-BE49-F238E27FC236}">
                <a16:creationId xmlns:a16="http://schemas.microsoft.com/office/drawing/2014/main" id="{785A9DD3-022A-6035-C994-3E85A79F6D05}"/>
              </a:ext>
            </a:extLst>
          </p:cNvPr>
          <p:cNvSpPr/>
          <p:nvPr/>
        </p:nvSpPr>
        <p:spPr>
          <a:xfrm>
            <a:off x="8003597" y="3365079"/>
            <a:ext cx="537210" cy="598474"/>
          </a:xfrm>
          <a:custGeom>
            <a:avLst/>
            <a:gdLst>
              <a:gd name="connsiteX0" fmla="*/ 0 w 716280"/>
              <a:gd name="connsiteY0" fmla="*/ 514711 h 797965"/>
              <a:gd name="connsiteX1" fmla="*/ 55880 w 716280"/>
              <a:gd name="connsiteY1" fmla="*/ 616311 h 797965"/>
              <a:gd name="connsiteX2" fmla="*/ 101600 w 716280"/>
              <a:gd name="connsiteY2" fmla="*/ 611231 h 797965"/>
              <a:gd name="connsiteX3" fmla="*/ 167640 w 716280"/>
              <a:gd name="connsiteY3" fmla="*/ 540111 h 797965"/>
              <a:gd name="connsiteX4" fmla="*/ 223520 w 716280"/>
              <a:gd name="connsiteY4" fmla="*/ 595991 h 797965"/>
              <a:gd name="connsiteX5" fmla="*/ 335280 w 716280"/>
              <a:gd name="connsiteY5" fmla="*/ 52431 h 797965"/>
              <a:gd name="connsiteX6" fmla="*/ 350520 w 716280"/>
              <a:gd name="connsiteY6" fmla="*/ 21951 h 797965"/>
              <a:gd name="connsiteX7" fmla="*/ 396240 w 716280"/>
              <a:gd name="connsiteY7" fmla="*/ 57511 h 797965"/>
              <a:gd name="connsiteX8" fmla="*/ 406400 w 716280"/>
              <a:gd name="connsiteY8" fmla="*/ 67671 h 797965"/>
              <a:gd name="connsiteX9" fmla="*/ 533400 w 716280"/>
              <a:gd name="connsiteY9" fmla="*/ 783951 h 797965"/>
              <a:gd name="connsiteX10" fmla="*/ 716280 w 716280"/>
              <a:gd name="connsiteY10" fmla="*/ 560431 h 797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6280" h="797965">
                <a:moveTo>
                  <a:pt x="0" y="514711"/>
                </a:moveTo>
                <a:cubicBezTo>
                  <a:pt x="19473" y="557467"/>
                  <a:pt x="38947" y="600224"/>
                  <a:pt x="55880" y="616311"/>
                </a:cubicBezTo>
                <a:cubicBezTo>
                  <a:pt x="72813" y="632398"/>
                  <a:pt x="82973" y="623931"/>
                  <a:pt x="101600" y="611231"/>
                </a:cubicBezTo>
                <a:cubicBezTo>
                  <a:pt x="120227" y="598531"/>
                  <a:pt x="147320" y="542651"/>
                  <a:pt x="167640" y="540111"/>
                </a:cubicBezTo>
                <a:cubicBezTo>
                  <a:pt x="187960" y="537571"/>
                  <a:pt x="195580" y="677271"/>
                  <a:pt x="223520" y="595991"/>
                </a:cubicBezTo>
                <a:cubicBezTo>
                  <a:pt x="251460" y="514711"/>
                  <a:pt x="314113" y="148104"/>
                  <a:pt x="335280" y="52431"/>
                </a:cubicBezTo>
                <a:cubicBezTo>
                  <a:pt x="356447" y="-43242"/>
                  <a:pt x="340360" y="21104"/>
                  <a:pt x="350520" y="21951"/>
                </a:cubicBezTo>
                <a:cubicBezTo>
                  <a:pt x="360680" y="22798"/>
                  <a:pt x="396240" y="57511"/>
                  <a:pt x="396240" y="57511"/>
                </a:cubicBezTo>
                <a:cubicBezTo>
                  <a:pt x="405553" y="65131"/>
                  <a:pt x="383540" y="-53402"/>
                  <a:pt x="406400" y="67671"/>
                </a:cubicBezTo>
                <a:cubicBezTo>
                  <a:pt x="429260" y="188744"/>
                  <a:pt x="481753" y="701824"/>
                  <a:pt x="533400" y="783951"/>
                </a:cubicBezTo>
                <a:cubicBezTo>
                  <a:pt x="585047" y="866078"/>
                  <a:pt x="716280" y="560431"/>
                  <a:pt x="716280" y="560431"/>
                </a:cubicBezTo>
              </a:path>
            </a:pathLst>
          </a:custGeom>
          <a:noFill/>
          <a:ln>
            <a:solidFill>
              <a:srgbClr val="CCA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07" name="Freihandform: Form 106">
            <a:extLst>
              <a:ext uri="{FF2B5EF4-FFF2-40B4-BE49-F238E27FC236}">
                <a16:creationId xmlns:a16="http://schemas.microsoft.com/office/drawing/2014/main" id="{86CDD63C-5F24-36D2-B244-65987F444FFB}"/>
              </a:ext>
            </a:extLst>
          </p:cNvPr>
          <p:cNvSpPr/>
          <p:nvPr/>
        </p:nvSpPr>
        <p:spPr>
          <a:xfrm>
            <a:off x="7443527" y="3604937"/>
            <a:ext cx="464820" cy="358616"/>
          </a:xfrm>
          <a:custGeom>
            <a:avLst/>
            <a:gdLst>
              <a:gd name="connsiteX0" fmla="*/ 0 w 619760"/>
              <a:gd name="connsiteY0" fmla="*/ 242937 h 478154"/>
              <a:gd name="connsiteX1" fmla="*/ 81280 w 619760"/>
              <a:gd name="connsiteY1" fmla="*/ 339457 h 478154"/>
              <a:gd name="connsiteX2" fmla="*/ 172720 w 619760"/>
              <a:gd name="connsiteY2" fmla="*/ 268337 h 478154"/>
              <a:gd name="connsiteX3" fmla="*/ 228600 w 619760"/>
              <a:gd name="connsiteY3" fmla="*/ 298817 h 478154"/>
              <a:gd name="connsiteX4" fmla="*/ 355600 w 619760"/>
              <a:gd name="connsiteY4" fmla="*/ 34657 h 478154"/>
              <a:gd name="connsiteX5" fmla="*/ 391160 w 619760"/>
              <a:gd name="connsiteY5" fmla="*/ 4177 h 478154"/>
              <a:gd name="connsiteX6" fmla="*/ 396240 w 619760"/>
              <a:gd name="connsiteY6" fmla="*/ 44817 h 478154"/>
              <a:gd name="connsiteX7" fmla="*/ 421640 w 619760"/>
              <a:gd name="connsiteY7" fmla="*/ 44817 h 478154"/>
              <a:gd name="connsiteX8" fmla="*/ 513080 w 619760"/>
              <a:gd name="connsiteY8" fmla="*/ 466457 h 478154"/>
              <a:gd name="connsiteX9" fmla="*/ 619760 w 619760"/>
              <a:gd name="connsiteY9" fmla="*/ 319137 h 47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760" h="478154">
                <a:moveTo>
                  <a:pt x="0" y="242937"/>
                </a:moveTo>
                <a:cubicBezTo>
                  <a:pt x="26246" y="289080"/>
                  <a:pt x="52493" y="335224"/>
                  <a:pt x="81280" y="339457"/>
                </a:cubicBezTo>
                <a:cubicBezTo>
                  <a:pt x="110067" y="343690"/>
                  <a:pt x="148167" y="275110"/>
                  <a:pt x="172720" y="268337"/>
                </a:cubicBezTo>
                <a:cubicBezTo>
                  <a:pt x="197273" y="261564"/>
                  <a:pt x="198120" y="337764"/>
                  <a:pt x="228600" y="298817"/>
                </a:cubicBezTo>
                <a:cubicBezTo>
                  <a:pt x="259080" y="259870"/>
                  <a:pt x="328507" y="83764"/>
                  <a:pt x="355600" y="34657"/>
                </a:cubicBezTo>
                <a:cubicBezTo>
                  <a:pt x="382693" y="-14450"/>
                  <a:pt x="384387" y="2484"/>
                  <a:pt x="391160" y="4177"/>
                </a:cubicBezTo>
                <a:cubicBezTo>
                  <a:pt x="397933" y="5870"/>
                  <a:pt x="391160" y="38044"/>
                  <a:pt x="396240" y="44817"/>
                </a:cubicBezTo>
                <a:cubicBezTo>
                  <a:pt x="401320" y="51590"/>
                  <a:pt x="402167" y="-25456"/>
                  <a:pt x="421640" y="44817"/>
                </a:cubicBezTo>
                <a:cubicBezTo>
                  <a:pt x="441113" y="115090"/>
                  <a:pt x="480060" y="420737"/>
                  <a:pt x="513080" y="466457"/>
                </a:cubicBezTo>
                <a:cubicBezTo>
                  <a:pt x="546100" y="512177"/>
                  <a:pt x="582930" y="415657"/>
                  <a:pt x="619760" y="319137"/>
                </a:cubicBezTo>
              </a:path>
            </a:pathLst>
          </a:custGeom>
          <a:no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53" name="Textfeld 52">
            <a:extLst>
              <a:ext uri="{FF2B5EF4-FFF2-40B4-BE49-F238E27FC236}">
                <a16:creationId xmlns:a16="http://schemas.microsoft.com/office/drawing/2014/main" id="{43904D7B-54F4-4407-BDE6-E7CA93B3BEAE}"/>
              </a:ext>
            </a:extLst>
          </p:cNvPr>
          <p:cNvSpPr txBox="1"/>
          <p:nvPr/>
        </p:nvSpPr>
        <p:spPr>
          <a:xfrm>
            <a:off x="1203268" y="3270371"/>
            <a:ext cx="521146" cy="187424"/>
          </a:xfrm>
          <a:prstGeom prst="rect">
            <a:avLst/>
          </a:prstGeom>
          <a:noFill/>
          <a:ln w="12700">
            <a:noFill/>
          </a:ln>
        </p:spPr>
        <p:txBody>
          <a:bodyPr wrap="square" lIns="91440" tIns="27000" rIns="91440" bIns="27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Calibri"/>
                <a:ea typeface="+mn-ea"/>
                <a:cs typeface="+mn-cs"/>
              </a:rPr>
              <a:t>Global</a:t>
            </a:r>
            <a:endParaRPr kumimoji="0" lang="en-US" sz="900" b="0" i="0" u="none" strike="noStrike" kern="1200" cap="none" spc="0" normalizeH="0" baseline="0" noProof="0" dirty="0">
              <a:ln>
                <a:noFill/>
              </a:ln>
              <a:solidFill>
                <a:prstClr val="black"/>
              </a:solidFill>
              <a:effectLst/>
              <a:uLnTx/>
              <a:uFillTx/>
              <a:latin typeface="Calibri"/>
              <a:ea typeface="+mn-ea"/>
              <a:cs typeface="+mn-cs"/>
            </a:endParaRPr>
          </a:p>
        </p:txBody>
      </p:sp>
      <p:sp>
        <p:nvSpPr>
          <p:cNvPr id="54" name="Textfeld 53">
            <a:extLst>
              <a:ext uri="{FF2B5EF4-FFF2-40B4-BE49-F238E27FC236}">
                <a16:creationId xmlns:a16="http://schemas.microsoft.com/office/drawing/2014/main" id="{7F0E1076-6365-4D36-8832-AF7BF1B4A6EF}"/>
              </a:ext>
            </a:extLst>
          </p:cNvPr>
          <p:cNvSpPr txBox="1"/>
          <p:nvPr/>
        </p:nvSpPr>
        <p:spPr>
          <a:xfrm>
            <a:off x="2399554" y="3266634"/>
            <a:ext cx="765078" cy="187424"/>
          </a:xfrm>
          <a:prstGeom prst="rect">
            <a:avLst/>
          </a:prstGeom>
          <a:noFill/>
          <a:ln w="12700">
            <a:noFill/>
          </a:ln>
        </p:spPr>
        <p:txBody>
          <a:bodyPr wrap="square" lIns="91440" tIns="27000" rIns="91440" bIns="27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Calibri"/>
                <a:ea typeface="+mn-ea"/>
                <a:cs typeface="+mn-cs"/>
              </a:rPr>
              <a:t>High vs. Low</a:t>
            </a:r>
            <a:endParaRPr kumimoji="0" lang="en-US" sz="9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55" name="Gruppieren 54">
            <a:extLst>
              <a:ext uri="{FF2B5EF4-FFF2-40B4-BE49-F238E27FC236}">
                <a16:creationId xmlns:a16="http://schemas.microsoft.com/office/drawing/2014/main" id="{24178FDD-199E-44FE-AA58-BCFC2A57BE6A}"/>
              </a:ext>
            </a:extLst>
          </p:cNvPr>
          <p:cNvGrpSpPr/>
          <p:nvPr/>
        </p:nvGrpSpPr>
        <p:grpSpPr>
          <a:xfrm>
            <a:off x="3159317" y="3329440"/>
            <a:ext cx="466140" cy="289307"/>
            <a:chOff x="3254084" y="3468656"/>
            <a:chExt cx="466140" cy="289307"/>
          </a:xfrm>
        </p:grpSpPr>
        <p:sp>
          <p:nvSpPr>
            <p:cNvPr id="56" name="Sprechblase: oval 55">
              <a:extLst>
                <a:ext uri="{FF2B5EF4-FFF2-40B4-BE49-F238E27FC236}">
                  <a16:creationId xmlns:a16="http://schemas.microsoft.com/office/drawing/2014/main" id="{A6463B0D-0C95-469C-A4D4-7112BB6F3B74}"/>
                </a:ext>
              </a:extLst>
            </p:cNvPr>
            <p:cNvSpPr/>
            <p:nvPr/>
          </p:nvSpPr>
          <p:spPr>
            <a:xfrm flipH="1">
              <a:off x="3254084" y="3468656"/>
              <a:ext cx="466140" cy="289307"/>
            </a:xfrm>
            <a:prstGeom prst="wedgeEllipseCallout">
              <a:avLst/>
            </a:prstGeom>
            <a:solidFill>
              <a:schemeClr val="bg1"/>
            </a:solidFill>
            <a:ln w="19050">
              <a:solidFill>
                <a:srgbClr val="B992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57" name="Grafik 56">
              <a:extLst>
                <a:ext uri="{FF2B5EF4-FFF2-40B4-BE49-F238E27FC236}">
                  <a16:creationId xmlns:a16="http://schemas.microsoft.com/office/drawing/2014/main" id="{58246BEF-E39E-4EB6-9059-AC8414FEABC5}"/>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l="3825" r="3825"/>
            <a:stretch/>
          </p:blipFill>
          <p:spPr>
            <a:xfrm>
              <a:off x="3336600" y="3472326"/>
              <a:ext cx="270156" cy="279253"/>
            </a:xfrm>
            <a:prstGeom prst="ellipse">
              <a:avLst/>
            </a:prstGeom>
          </p:spPr>
        </p:pic>
      </p:grpSp>
      <p:pic>
        <p:nvPicPr>
          <p:cNvPr id="26" name="Grafik 25" descr="Ein Bild, das Text, Reihe enthält.&#10;&#10;KI-generierte Inhalte können fehlerhaft sein.">
            <a:extLst>
              <a:ext uri="{FF2B5EF4-FFF2-40B4-BE49-F238E27FC236}">
                <a16:creationId xmlns:a16="http://schemas.microsoft.com/office/drawing/2014/main" id="{0D4BCD1F-2802-5B58-1A6F-C523BE832275}"/>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3602" t="24729" r="1076" b="12759"/>
          <a:stretch/>
        </p:blipFill>
        <p:spPr>
          <a:xfrm>
            <a:off x="1690774" y="4082309"/>
            <a:ext cx="1193087" cy="499868"/>
          </a:xfrm>
          <a:prstGeom prst="rect">
            <a:avLst/>
          </a:prstGeom>
        </p:spPr>
      </p:pic>
      <p:sp>
        <p:nvSpPr>
          <p:cNvPr id="58" name="Textfeld 57">
            <a:extLst>
              <a:ext uri="{FF2B5EF4-FFF2-40B4-BE49-F238E27FC236}">
                <a16:creationId xmlns:a16="http://schemas.microsoft.com/office/drawing/2014/main" id="{A939764F-EB09-4202-A022-5F621E118F77}"/>
              </a:ext>
            </a:extLst>
          </p:cNvPr>
          <p:cNvSpPr txBox="1"/>
          <p:nvPr/>
        </p:nvSpPr>
        <p:spPr>
          <a:xfrm>
            <a:off x="915969" y="4744860"/>
            <a:ext cx="7824607" cy="215444"/>
          </a:xfrm>
          <a:prstGeom prst="rect">
            <a:avLst/>
          </a:prstGeom>
          <a:noFill/>
        </p:spPr>
        <p:txBody>
          <a:bodyPr wrap="square" rtlCol="0">
            <a:spAutoFit/>
          </a:bodyPr>
          <a:lstStyle>
            <a:defPPr>
              <a:defRPr lang="de-DE"/>
            </a:defPPr>
            <a:lvl1pPr algn="ctr">
              <a:defRPr sz="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Braem</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2017; Dreisbach &amp; Fröber, 2019; Farmer et al., 2018; Fröber &amp; Dreisbach, 2016; Shen &amp; Chun, 2011; Ullsperger et al., 2024 </a:t>
            </a:r>
          </a:p>
        </p:txBody>
      </p:sp>
    </p:spTree>
    <p:extLst>
      <p:ext uri="{BB962C8B-B14F-4D97-AF65-F5344CB8AC3E}">
        <p14:creationId xmlns:p14="http://schemas.microsoft.com/office/powerpoint/2010/main" val="3084005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51468-7923-3060-504A-591810EA79EA}"/>
              </a:ext>
            </a:extLst>
          </p:cNvPr>
          <p:cNvSpPr>
            <a:spLocks noGrp="1"/>
          </p:cNvSpPr>
          <p:nvPr>
            <p:ph type="title"/>
          </p:nvPr>
        </p:nvSpPr>
        <p:spPr/>
        <p:txBody>
          <a:bodyPr>
            <a:normAutofit/>
          </a:bodyPr>
          <a:lstStyle/>
          <a:p>
            <a:r>
              <a:rPr lang="de-DE" sz="2100" b="0" dirty="0" err="1"/>
              <a:t>Empirical</a:t>
            </a:r>
            <a:r>
              <a:rPr lang="de-DE" sz="2100" b="0" dirty="0"/>
              <a:t> </a:t>
            </a:r>
            <a:r>
              <a:rPr lang="de-DE" sz="2100" b="0" dirty="0" err="1"/>
              <a:t>objective</a:t>
            </a:r>
            <a:r>
              <a:rPr lang="de-DE" sz="2100" b="0" dirty="0"/>
              <a:t> 3: </a:t>
            </a:r>
            <a:r>
              <a:rPr lang="en-US" sz="2100" b="0" dirty="0">
                <a:solidFill>
                  <a:srgbClr val="B99212"/>
                </a:solidFill>
              </a:rPr>
              <a:t>Psychological traits </a:t>
            </a:r>
            <a:r>
              <a:rPr lang="en-US" sz="2100" b="0" dirty="0"/>
              <a:t>affecting response strategies</a:t>
            </a:r>
            <a:endParaRPr lang="de-DE" sz="2100" b="0" dirty="0"/>
          </a:p>
        </p:txBody>
      </p:sp>
      <p:sp>
        <p:nvSpPr>
          <p:cNvPr id="4" name="Foliennummernplatzhalter 3">
            <a:extLst>
              <a:ext uri="{FF2B5EF4-FFF2-40B4-BE49-F238E27FC236}">
                <a16:creationId xmlns:a16="http://schemas.microsoft.com/office/drawing/2014/main" id="{90831680-2FDB-BBA5-64B7-30DDF3B4C2A8}"/>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27</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pic>
        <p:nvPicPr>
          <p:cNvPr id="47" name="Grafik 46">
            <a:extLst>
              <a:ext uri="{FF2B5EF4-FFF2-40B4-BE49-F238E27FC236}">
                <a16:creationId xmlns:a16="http://schemas.microsoft.com/office/drawing/2014/main" id="{E96B1171-6026-4088-9F2C-3AA42C73F3E3}"/>
              </a:ext>
            </a:extLst>
          </p:cNvPr>
          <p:cNvPicPr>
            <a:picLocks noChangeAspect="1"/>
          </p:cNvPicPr>
          <p:nvPr/>
        </p:nvPicPr>
        <p:blipFill>
          <a:blip r:embed="rId3"/>
          <a:stretch>
            <a:fillRect/>
          </a:stretch>
        </p:blipFill>
        <p:spPr>
          <a:xfrm>
            <a:off x="867317" y="3311332"/>
            <a:ext cx="624892" cy="624892"/>
          </a:xfrm>
          <a:prstGeom prst="rect">
            <a:avLst/>
          </a:prstGeom>
        </p:spPr>
      </p:pic>
      <p:sp>
        <p:nvSpPr>
          <p:cNvPr id="48" name="Textfeld 47">
            <a:extLst>
              <a:ext uri="{FF2B5EF4-FFF2-40B4-BE49-F238E27FC236}">
                <a16:creationId xmlns:a16="http://schemas.microsoft.com/office/drawing/2014/main" id="{75C6D2F1-5402-4CDB-B6D4-C0C650DF897D}"/>
              </a:ext>
            </a:extLst>
          </p:cNvPr>
          <p:cNvSpPr txBox="1"/>
          <p:nvPr/>
        </p:nvSpPr>
        <p:spPr>
          <a:xfrm>
            <a:off x="1603949" y="2641569"/>
            <a:ext cx="4703803" cy="18591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225"/>
              </a:spcBef>
              <a:spcAft>
                <a:spcPts val="0"/>
              </a:spcAft>
              <a:buClrTx/>
              <a:buSzTx/>
              <a:buFontTx/>
              <a:buNone/>
              <a:tabLst/>
              <a:defRPr/>
            </a:pPr>
            <a:r>
              <a:rPr kumimoji="0" lang="en-US" sz="1000" b="0"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Motivation &amp; Effort</a:t>
            </a:r>
          </a:p>
          <a:p>
            <a:pPr marL="324000" marR="0" lvl="1" indent="-128588"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Need for Cognition </a:t>
            </a: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 would prefer complex to simple problems.”</a:t>
            </a: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324000" marR="0" lvl="1" indent="-128588"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Trait Persistence </a:t>
            </a: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“If I decide to do something, I keep going until I reach my goal.”</a:t>
            </a:r>
          </a:p>
          <a:p>
            <a:pPr marL="324000" marR="0" lvl="1" indent="-128588"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Behavioral activation system </a:t>
            </a: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would excite me to win a contest”</a:t>
            </a:r>
          </a:p>
          <a:p>
            <a:pPr marL="0" marR="0" lvl="0" indent="0" algn="l" defTabSz="914400" rtl="0" eaLnBrk="1" fontAlgn="auto" latinLnBrk="0" hangingPunct="1">
              <a:lnSpc>
                <a:spcPct val="150000"/>
              </a:lnSpc>
              <a:spcBef>
                <a:spcPts val="225"/>
              </a:spcBef>
              <a:spcAft>
                <a:spcPts val="0"/>
              </a:spcAft>
              <a:buClrTx/>
              <a:buSzTx/>
              <a:buFontTx/>
              <a:buNone/>
              <a:tabLst/>
              <a:defRPr/>
            </a:pPr>
            <a:r>
              <a:rPr kumimoji="0" lang="en-US" sz="1000" b="0"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Personality &amp; Attitude</a:t>
            </a:r>
          </a:p>
          <a:p>
            <a:pPr marL="457200" marR="0" lvl="1" indent="-147488"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Big Five (especially: conscientiousness, openness) </a:t>
            </a:r>
          </a:p>
          <a:p>
            <a:pPr marL="457200" marR="0" lvl="1" indent="-147488"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Polychronicity “</a:t>
            </a: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 would rather switch back and forth between several projects than concentrate my efforts on just one.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p>
        </p:txBody>
      </p:sp>
      <p:sp>
        <p:nvSpPr>
          <p:cNvPr id="84" name="Textfeld 83">
            <a:extLst>
              <a:ext uri="{FF2B5EF4-FFF2-40B4-BE49-F238E27FC236}">
                <a16:creationId xmlns:a16="http://schemas.microsoft.com/office/drawing/2014/main" id="{43462289-7EC8-4243-AF83-E6C7425A6E3F}"/>
              </a:ext>
            </a:extLst>
          </p:cNvPr>
          <p:cNvSpPr txBox="1"/>
          <p:nvPr/>
        </p:nvSpPr>
        <p:spPr>
          <a:xfrm>
            <a:off x="1786960" y="4746996"/>
            <a:ext cx="5868455" cy="21929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Brüning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2018;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Poposki</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&amp; Oswald, 2010;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Redick</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et al., 2016;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Shenhav</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et al., 2013;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Umemoto</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Holroyd</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2016</a:t>
            </a:r>
          </a:p>
        </p:txBody>
      </p:sp>
      <p:sp>
        <p:nvSpPr>
          <p:cNvPr id="50" name="Inhaltsplatzhalter 9">
            <a:extLst>
              <a:ext uri="{FF2B5EF4-FFF2-40B4-BE49-F238E27FC236}">
                <a16:creationId xmlns:a16="http://schemas.microsoft.com/office/drawing/2014/main" id="{09F7F2EC-4594-43B4-B937-EBEC149FED89}"/>
              </a:ext>
            </a:extLst>
          </p:cNvPr>
          <p:cNvSpPr txBox="1">
            <a:spLocks/>
          </p:cNvSpPr>
          <p:nvPr/>
        </p:nvSpPr>
        <p:spPr>
          <a:xfrm>
            <a:off x="4883489" y="1445363"/>
            <a:ext cx="4003934" cy="715209"/>
          </a:xfrm>
          <a:prstGeom prst="rect">
            <a:avLst/>
          </a:prstGeom>
        </p:spPr>
        <p:txBody>
          <a:bodyPr vert="horz" lIns="68580" tIns="34290" rIns="68580" bIns="3429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Quicksand"/>
                <a:cs typeface="Arial" panose="020B0604020202020204" pitchFamily="34" charset="0"/>
                <a:sym typeface="Wingdings" panose="05000000000000000000" pitchFamily="2" charset="2"/>
              </a:rPr>
              <a:t>What determines the formation of an individual's natural preference? Why are some individuals more persistent / less flexible in (current) task performance than others?</a:t>
            </a:r>
          </a:p>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Quicksand"/>
                <a:cs typeface="Arial" panose="020B0604020202020204" pitchFamily="34" charset="0"/>
                <a:sym typeface="Wingdings" panose="05000000000000000000" pitchFamily="2" charset="2"/>
              </a:rPr>
              <a:t> Selective psychological test battery</a:t>
            </a:r>
          </a:p>
        </p:txBody>
      </p:sp>
      <p:pic>
        <p:nvPicPr>
          <p:cNvPr id="51" name="Grafik 50" descr="Hilfe mit einfarbiger Füllung">
            <a:extLst>
              <a:ext uri="{FF2B5EF4-FFF2-40B4-BE49-F238E27FC236}">
                <a16:creationId xmlns:a16="http://schemas.microsoft.com/office/drawing/2014/main" id="{307D12EA-F93D-4917-8FFF-B8A2C975D6F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20775" y="1461538"/>
            <a:ext cx="378000" cy="378000"/>
          </a:xfrm>
          <a:prstGeom prst="rect">
            <a:avLst/>
          </a:prstGeom>
        </p:spPr>
      </p:pic>
      <p:sp>
        <p:nvSpPr>
          <p:cNvPr id="55" name="Textfeld 54">
            <a:extLst>
              <a:ext uri="{FF2B5EF4-FFF2-40B4-BE49-F238E27FC236}">
                <a16:creationId xmlns:a16="http://schemas.microsoft.com/office/drawing/2014/main" id="{7B929306-4C2C-4812-B1E7-ADE827459FCF}"/>
              </a:ext>
            </a:extLst>
          </p:cNvPr>
          <p:cNvSpPr txBox="1"/>
          <p:nvPr/>
        </p:nvSpPr>
        <p:spPr>
          <a:xfrm>
            <a:off x="2314127" y="1426181"/>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56" name="Pfeil: nach rechts 55">
            <a:extLst>
              <a:ext uri="{FF2B5EF4-FFF2-40B4-BE49-F238E27FC236}">
                <a16:creationId xmlns:a16="http://schemas.microsoft.com/office/drawing/2014/main" id="{515E8801-5E2F-4DD2-8CE2-DA88E125ED8E}"/>
              </a:ext>
            </a:extLst>
          </p:cNvPr>
          <p:cNvSpPr/>
          <p:nvPr/>
        </p:nvSpPr>
        <p:spPr>
          <a:xfrm>
            <a:off x="2032731" y="1883976"/>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0" name="Pfeil: nach rechts 69">
            <a:extLst>
              <a:ext uri="{FF2B5EF4-FFF2-40B4-BE49-F238E27FC236}">
                <a16:creationId xmlns:a16="http://schemas.microsoft.com/office/drawing/2014/main" id="{A53A4848-B9DA-4B84-8468-085722293DC7}"/>
              </a:ext>
            </a:extLst>
          </p:cNvPr>
          <p:cNvSpPr/>
          <p:nvPr/>
        </p:nvSpPr>
        <p:spPr>
          <a:xfrm>
            <a:off x="2032731" y="203368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2" name="Textfeld 71">
            <a:extLst>
              <a:ext uri="{FF2B5EF4-FFF2-40B4-BE49-F238E27FC236}">
                <a16:creationId xmlns:a16="http://schemas.microsoft.com/office/drawing/2014/main" id="{FC29E03A-763D-46B1-B6C2-F9F48A8698D6}"/>
              </a:ext>
            </a:extLst>
          </p:cNvPr>
          <p:cNvSpPr txBox="1"/>
          <p:nvPr/>
        </p:nvSpPr>
        <p:spPr>
          <a:xfrm>
            <a:off x="872677" y="1479561"/>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75" name="Pfeil: nach rechts 74">
            <a:extLst>
              <a:ext uri="{FF2B5EF4-FFF2-40B4-BE49-F238E27FC236}">
                <a16:creationId xmlns:a16="http://schemas.microsoft.com/office/drawing/2014/main" id="{165602B4-4411-432A-AE6B-BA8495796723}"/>
              </a:ext>
            </a:extLst>
          </p:cNvPr>
          <p:cNvSpPr/>
          <p:nvPr/>
        </p:nvSpPr>
        <p:spPr>
          <a:xfrm>
            <a:off x="2032731" y="1529442"/>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6" name="Pfeil: nach rechts 75">
            <a:extLst>
              <a:ext uri="{FF2B5EF4-FFF2-40B4-BE49-F238E27FC236}">
                <a16:creationId xmlns:a16="http://schemas.microsoft.com/office/drawing/2014/main" id="{53968554-530B-42B6-A324-B97B95E37210}"/>
              </a:ext>
            </a:extLst>
          </p:cNvPr>
          <p:cNvSpPr/>
          <p:nvPr/>
        </p:nvSpPr>
        <p:spPr>
          <a:xfrm>
            <a:off x="2032731" y="167915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80" name="Textfeld 79">
            <a:extLst>
              <a:ext uri="{FF2B5EF4-FFF2-40B4-BE49-F238E27FC236}">
                <a16:creationId xmlns:a16="http://schemas.microsoft.com/office/drawing/2014/main" id="{07CA82FB-F8AE-46D4-B16F-B3938B16EBAE}"/>
              </a:ext>
            </a:extLst>
          </p:cNvPr>
          <p:cNvSpPr txBox="1"/>
          <p:nvPr/>
        </p:nvSpPr>
        <p:spPr>
          <a:xfrm>
            <a:off x="929503" y="1120999"/>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dirty="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dirty="0">
                <a:ln>
                  <a:noFill/>
                </a:ln>
                <a:solidFill>
                  <a:prstClr val="black"/>
                </a:solidFill>
                <a:effectLst/>
                <a:uLnTx/>
                <a:uFillTx/>
                <a:latin typeface="Arial"/>
                <a:ea typeface="+mn-ea"/>
                <a:cs typeface="+mn-cs"/>
              </a:rPr>
              <a:t>​</a:t>
            </a:r>
          </a:p>
        </p:txBody>
      </p:sp>
      <p:grpSp>
        <p:nvGrpSpPr>
          <p:cNvPr id="81" name="Gruppieren 80">
            <a:extLst>
              <a:ext uri="{FF2B5EF4-FFF2-40B4-BE49-F238E27FC236}">
                <a16:creationId xmlns:a16="http://schemas.microsoft.com/office/drawing/2014/main" id="{2A8FF629-5FA1-470A-B10D-9DCF1ADEC47D}"/>
              </a:ext>
            </a:extLst>
          </p:cNvPr>
          <p:cNvGrpSpPr/>
          <p:nvPr/>
        </p:nvGrpSpPr>
        <p:grpSpPr>
          <a:xfrm>
            <a:off x="755577" y="2320535"/>
            <a:ext cx="7931223" cy="2357451"/>
            <a:chOff x="9330490" y="3072491"/>
            <a:chExt cx="2734720" cy="2074572"/>
          </a:xfrm>
        </p:grpSpPr>
        <p:sp>
          <p:nvSpPr>
            <p:cNvPr id="82" name="Rechteck: abgerundete Ecken 81">
              <a:extLst>
                <a:ext uri="{FF2B5EF4-FFF2-40B4-BE49-F238E27FC236}">
                  <a16:creationId xmlns:a16="http://schemas.microsoft.com/office/drawing/2014/main" id="{30B33083-BDB1-400C-B6C1-F6FCCB57FFCC}"/>
                </a:ext>
              </a:extLst>
            </p:cNvPr>
            <p:cNvSpPr/>
            <p:nvPr/>
          </p:nvSpPr>
          <p:spPr>
            <a:xfrm>
              <a:off x="9330490" y="3190482"/>
              <a:ext cx="2734720" cy="1956581"/>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83" name="Rechteck: abgerundete Ecken 82">
              <a:extLst>
                <a:ext uri="{FF2B5EF4-FFF2-40B4-BE49-F238E27FC236}">
                  <a16:creationId xmlns:a16="http://schemas.microsoft.com/office/drawing/2014/main" id="{B153B783-E65D-4799-A110-86D82A71813F}"/>
                </a:ext>
              </a:extLst>
            </p:cNvPr>
            <p:cNvSpPr/>
            <p:nvPr/>
          </p:nvSpPr>
          <p:spPr>
            <a:xfrm>
              <a:off x="9330490" y="3072491"/>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dirty="0">
                  <a:ln>
                    <a:noFill/>
                  </a:ln>
                  <a:solidFill>
                    <a:prstClr val="white"/>
                  </a:solidFill>
                  <a:effectLst/>
                  <a:uLnTx/>
                  <a:uFillTx/>
                  <a:latin typeface="Calibri"/>
                  <a:ea typeface="+mn-ea"/>
                  <a:cs typeface="+mn-cs"/>
                </a:rPr>
                <a:t>Work Package 1.3 – Experiment 1a – 2b + 50%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of</a:t>
              </a:r>
              <a:r>
                <a:rPr kumimoji="0" lang="de-DE" sz="1050" b="0" i="0" u="none" strike="noStrike" kern="1200" cap="none" spc="0" normalizeH="0" baseline="0" noProof="0" dirty="0">
                  <a:ln>
                    <a:noFill/>
                  </a:ln>
                  <a:solidFill>
                    <a:prstClr val="white"/>
                  </a:solidFill>
                  <a:effectLst/>
                  <a:uLnTx/>
                  <a:uFillTx/>
                  <a:latin typeface="Calibri"/>
                  <a:ea typeface="+mn-ea"/>
                  <a:cs typeface="+mn-cs"/>
                </a:rPr>
                <a:t>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joint</a:t>
              </a:r>
              <a:r>
                <a:rPr kumimoji="0" lang="de-DE" sz="1050" b="0" i="0" u="none" strike="noStrike" kern="1200" cap="none" spc="0" normalizeH="0" baseline="0" noProof="0" dirty="0">
                  <a:ln>
                    <a:noFill/>
                  </a:ln>
                  <a:solidFill>
                    <a:prstClr val="white"/>
                  </a:solidFill>
                  <a:effectLst/>
                  <a:uLnTx/>
                  <a:uFillTx/>
                  <a:latin typeface="Calibri"/>
                  <a:ea typeface="+mn-ea"/>
                  <a:cs typeface="+mn-cs"/>
                </a:rPr>
                <a:t>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experiment</a:t>
              </a:r>
              <a:r>
                <a:rPr kumimoji="0" lang="de-DE" sz="1050" b="0" i="0" u="none" strike="noStrike" kern="1200" cap="none" spc="0" normalizeH="0" baseline="0" noProof="0" dirty="0">
                  <a:ln>
                    <a:noFill/>
                  </a:ln>
                  <a:solidFill>
                    <a:prstClr val="white"/>
                  </a:solidFill>
                  <a:effectLst/>
                  <a:uLnTx/>
                  <a:uFillTx/>
                  <a:latin typeface="Calibri"/>
                  <a:ea typeface="+mn-ea"/>
                  <a:cs typeface="+mn-cs"/>
                </a:rPr>
                <a:t>, </a:t>
              </a:r>
              <a:r>
                <a:rPr kumimoji="0" lang="de-DE" sz="1050" b="1" i="0" u="none" strike="noStrike" kern="1200" cap="none" spc="0" normalizeH="0" baseline="0" noProof="0" dirty="0">
                  <a:ln>
                    <a:noFill/>
                  </a:ln>
                  <a:solidFill>
                    <a:prstClr val="white"/>
                  </a:solidFill>
                  <a:effectLst/>
                  <a:uLnTx/>
                  <a:uFillTx/>
                  <a:latin typeface="Calibri"/>
                  <a:ea typeface="+mn-ea"/>
                  <a:cs typeface="+mn-cs"/>
                </a:rPr>
                <a:t>n = 410 </a:t>
              </a:r>
              <a:r>
                <a:rPr kumimoji="0" lang="de-DE" sz="1050" b="1" i="0" u="none" strike="noStrike" kern="1200" cap="none" spc="0" normalizeH="0" baseline="0" noProof="0" dirty="0" err="1">
                  <a:ln>
                    <a:noFill/>
                  </a:ln>
                  <a:solidFill>
                    <a:prstClr val="white"/>
                  </a:solidFill>
                  <a:effectLst/>
                  <a:uLnTx/>
                  <a:uFillTx/>
                  <a:latin typeface="Calibri"/>
                  <a:ea typeface="+mn-ea"/>
                  <a:cs typeface="+mn-cs"/>
                </a:rPr>
                <a:t>participants</a:t>
              </a:r>
              <a:endParaRPr kumimoji="0" lang="en-US" sz="105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8" name="Textfeld 7">
            <a:extLst>
              <a:ext uri="{FF2B5EF4-FFF2-40B4-BE49-F238E27FC236}">
                <a16:creationId xmlns:a16="http://schemas.microsoft.com/office/drawing/2014/main" id="{1A9D8050-A292-4D58-97E3-7E2FF4C04E0F}"/>
              </a:ext>
            </a:extLst>
          </p:cNvPr>
          <p:cNvSpPr txBox="1"/>
          <p:nvPr/>
        </p:nvSpPr>
        <p:spPr>
          <a:xfrm>
            <a:off x="6221062" y="2647575"/>
            <a:ext cx="2117887" cy="702756"/>
          </a:xfrm>
          <a:prstGeom prst="rect">
            <a:avLst/>
          </a:prstGeom>
          <a:noFill/>
        </p:spPr>
        <p:txBody>
          <a:bodyPr wrap="none" rtlCol="0">
            <a:spAutoFit/>
          </a:bodyPr>
          <a:lstStyle/>
          <a:p>
            <a:pPr marL="0" marR="0" lvl="0" indent="0" algn="l" defTabSz="914400" rtl="0" eaLnBrk="1" fontAlgn="auto" latinLnBrk="0" hangingPunct="1">
              <a:lnSpc>
                <a:spcPct val="100000"/>
              </a:lnSpc>
              <a:spcBef>
                <a:spcPts val="225"/>
              </a:spcBef>
              <a:spcAft>
                <a:spcPts val="0"/>
              </a:spcAft>
              <a:buClrTx/>
              <a:buSzTx/>
              <a:buFontTx/>
              <a:buNone/>
              <a:tabLst/>
              <a:defRPr/>
            </a:pPr>
            <a:r>
              <a:rPr kumimoji="0" lang="en-US" sz="1000" b="0"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Cognitive ability</a:t>
            </a: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147488" algn="l" defTabSz="914400" rtl="0" eaLnBrk="1" fontAlgn="auto" latinLnBrk="0" hangingPunct="1">
              <a:lnSpc>
                <a:spcPct val="100000"/>
              </a:lnSpc>
              <a:spcBef>
                <a:spcPts val="225"/>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Working memory capacity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2" name="Grafik 11">
            <a:extLst>
              <a:ext uri="{FF2B5EF4-FFF2-40B4-BE49-F238E27FC236}">
                <a16:creationId xmlns:a16="http://schemas.microsoft.com/office/drawing/2014/main" id="{AB4CFE4C-A86D-4748-AADC-3CC547D0C803}"/>
              </a:ext>
            </a:extLst>
          </p:cNvPr>
          <p:cNvPicPr>
            <a:picLocks noChangeAspect="1"/>
          </p:cNvPicPr>
          <p:nvPr/>
        </p:nvPicPr>
        <p:blipFill rotWithShape="1">
          <a:blip r:embed="rId5"/>
          <a:srcRect t="1660" b="-1"/>
          <a:stretch/>
        </p:blipFill>
        <p:spPr>
          <a:xfrm>
            <a:off x="6518978" y="3102474"/>
            <a:ext cx="1695520" cy="1420802"/>
          </a:xfrm>
          <a:prstGeom prst="rect">
            <a:avLst/>
          </a:prstGeom>
        </p:spPr>
      </p:pic>
      <p:sp>
        <p:nvSpPr>
          <p:cNvPr id="85" name="Textfeld 84">
            <a:extLst>
              <a:ext uri="{FF2B5EF4-FFF2-40B4-BE49-F238E27FC236}">
                <a16:creationId xmlns:a16="http://schemas.microsoft.com/office/drawing/2014/main" id="{25DE519D-60BB-48EB-A624-C58BC7E183D8}"/>
              </a:ext>
            </a:extLst>
          </p:cNvPr>
          <p:cNvSpPr txBox="1"/>
          <p:nvPr/>
        </p:nvSpPr>
        <p:spPr>
          <a:xfrm>
            <a:off x="7678421" y="4523275"/>
            <a:ext cx="961239" cy="1846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Foster et al., 2014</a:t>
            </a:r>
          </a:p>
        </p:txBody>
      </p:sp>
    </p:spTree>
    <p:extLst>
      <p:ext uri="{BB962C8B-B14F-4D97-AF65-F5344CB8AC3E}">
        <p14:creationId xmlns:p14="http://schemas.microsoft.com/office/powerpoint/2010/main" val="15900567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51468-7923-3060-504A-591810EA79EA}"/>
              </a:ext>
            </a:extLst>
          </p:cNvPr>
          <p:cNvSpPr>
            <a:spLocks noGrp="1"/>
          </p:cNvSpPr>
          <p:nvPr>
            <p:ph type="title"/>
          </p:nvPr>
        </p:nvSpPr>
        <p:spPr/>
        <p:txBody>
          <a:bodyPr>
            <a:normAutofit/>
          </a:bodyPr>
          <a:lstStyle/>
          <a:p>
            <a:r>
              <a:rPr lang="de-DE" sz="2100" b="0" dirty="0" err="1"/>
              <a:t>Empirical</a:t>
            </a:r>
            <a:r>
              <a:rPr lang="de-DE" sz="2100" b="0" dirty="0"/>
              <a:t> </a:t>
            </a:r>
            <a:r>
              <a:rPr lang="de-DE" sz="2100" b="0" dirty="0" err="1"/>
              <a:t>objective</a:t>
            </a:r>
            <a:r>
              <a:rPr lang="de-DE" sz="2100" b="0" dirty="0"/>
              <a:t> 3: </a:t>
            </a:r>
            <a:r>
              <a:rPr lang="en-US" sz="2100" b="0" dirty="0">
                <a:solidFill>
                  <a:srgbClr val="B99212"/>
                </a:solidFill>
              </a:rPr>
              <a:t>Psychological traits </a:t>
            </a:r>
            <a:r>
              <a:rPr lang="en-US" sz="2100" b="0" dirty="0"/>
              <a:t>affecting response strategies</a:t>
            </a:r>
            <a:endParaRPr lang="de-DE" sz="2100" b="0" dirty="0"/>
          </a:p>
        </p:txBody>
      </p:sp>
      <p:sp>
        <p:nvSpPr>
          <p:cNvPr id="4" name="Foliennummernplatzhalter 3">
            <a:extLst>
              <a:ext uri="{FF2B5EF4-FFF2-40B4-BE49-F238E27FC236}">
                <a16:creationId xmlns:a16="http://schemas.microsoft.com/office/drawing/2014/main" id="{90831680-2FDB-BBA5-64B7-30DDF3B4C2A8}"/>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28</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
        <p:nvSpPr>
          <p:cNvPr id="54" name="Rechteck: abgerundete Ecken 53">
            <a:extLst>
              <a:ext uri="{FF2B5EF4-FFF2-40B4-BE49-F238E27FC236}">
                <a16:creationId xmlns:a16="http://schemas.microsoft.com/office/drawing/2014/main" id="{E44AB0C3-C1BD-4438-B92E-B0028889982F}"/>
              </a:ext>
            </a:extLst>
          </p:cNvPr>
          <p:cNvSpPr/>
          <p:nvPr/>
        </p:nvSpPr>
        <p:spPr>
          <a:xfrm>
            <a:off x="4136816" y="4312098"/>
            <a:ext cx="550241" cy="341436"/>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73" name="Rechteck: abgerundete Ecken 72">
            <a:extLst>
              <a:ext uri="{FF2B5EF4-FFF2-40B4-BE49-F238E27FC236}">
                <a16:creationId xmlns:a16="http://schemas.microsoft.com/office/drawing/2014/main" id="{B4FA1429-BF8F-4213-8926-D477D23124B2}"/>
              </a:ext>
            </a:extLst>
          </p:cNvPr>
          <p:cNvSpPr/>
          <p:nvPr/>
        </p:nvSpPr>
        <p:spPr>
          <a:xfrm>
            <a:off x="3968978" y="3074160"/>
            <a:ext cx="718079" cy="261161"/>
          </a:xfrm>
          <a:prstGeom prst="roundRect">
            <a:avLst/>
          </a:prstGeom>
          <a:solidFill>
            <a:srgbClr val="E8D6EF"/>
          </a:solidFill>
          <a:ln>
            <a:solidFill>
              <a:srgbClr val="6B53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Freiburg</a:t>
            </a:r>
            <a:endParaRPr kumimoji="0" lang="en-US" sz="13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4" name="Rechteck: abgerundete Ecken 73">
            <a:extLst>
              <a:ext uri="{FF2B5EF4-FFF2-40B4-BE49-F238E27FC236}">
                <a16:creationId xmlns:a16="http://schemas.microsoft.com/office/drawing/2014/main" id="{27117C90-0F15-4C64-A426-692E34D76493}"/>
              </a:ext>
            </a:extLst>
          </p:cNvPr>
          <p:cNvSpPr/>
          <p:nvPr/>
        </p:nvSpPr>
        <p:spPr>
          <a:xfrm>
            <a:off x="1140439" y="3074160"/>
            <a:ext cx="718079" cy="261161"/>
          </a:xfrm>
          <a:prstGeom prst="roundRect">
            <a:avLst/>
          </a:prstGeom>
          <a:solidFill>
            <a:srgbClr val="FFF4D1"/>
          </a:solidFill>
          <a:ln>
            <a:solidFill>
              <a:srgbClr val="CCA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Magdeburg</a:t>
            </a: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9" name="Textfeld 78">
            <a:extLst>
              <a:ext uri="{FF2B5EF4-FFF2-40B4-BE49-F238E27FC236}">
                <a16:creationId xmlns:a16="http://schemas.microsoft.com/office/drawing/2014/main" id="{AC03034F-ED1A-47EB-88ED-6BA1BDC64E48}"/>
              </a:ext>
            </a:extLst>
          </p:cNvPr>
          <p:cNvSpPr txBox="1"/>
          <p:nvPr/>
        </p:nvSpPr>
        <p:spPr>
          <a:xfrm>
            <a:off x="929695" y="2762138"/>
            <a:ext cx="467906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225"/>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Comparison of the influence of strategies on task choice across paradigms</a:t>
            </a:r>
          </a:p>
        </p:txBody>
      </p:sp>
      <p:sp>
        <p:nvSpPr>
          <p:cNvPr id="84" name="Textfeld 83">
            <a:extLst>
              <a:ext uri="{FF2B5EF4-FFF2-40B4-BE49-F238E27FC236}">
                <a16:creationId xmlns:a16="http://schemas.microsoft.com/office/drawing/2014/main" id="{43462289-7EC8-4243-AF83-E6C7425A6E3F}"/>
              </a:ext>
            </a:extLst>
          </p:cNvPr>
          <p:cNvSpPr txBox="1"/>
          <p:nvPr/>
        </p:nvSpPr>
        <p:spPr>
          <a:xfrm>
            <a:off x="1786960" y="4752048"/>
            <a:ext cx="5868455" cy="21929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Brüning et al., 2020; Brüning et al., 2021; Mittelstädt et al., 2018, 2019, 2021;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Monno</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et al., 2021; Reinert &amp; Brüning, 2022</a:t>
            </a:r>
          </a:p>
        </p:txBody>
      </p:sp>
      <p:sp>
        <p:nvSpPr>
          <p:cNvPr id="55" name="Textfeld 54">
            <a:extLst>
              <a:ext uri="{FF2B5EF4-FFF2-40B4-BE49-F238E27FC236}">
                <a16:creationId xmlns:a16="http://schemas.microsoft.com/office/drawing/2014/main" id="{7B929306-4C2C-4812-B1E7-ADE827459FCF}"/>
              </a:ext>
            </a:extLst>
          </p:cNvPr>
          <p:cNvSpPr txBox="1"/>
          <p:nvPr/>
        </p:nvSpPr>
        <p:spPr>
          <a:xfrm>
            <a:off x="2314127" y="1426181"/>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56" name="Pfeil: nach rechts 55">
            <a:extLst>
              <a:ext uri="{FF2B5EF4-FFF2-40B4-BE49-F238E27FC236}">
                <a16:creationId xmlns:a16="http://schemas.microsoft.com/office/drawing/2014/main" id="{515E8801-5E2F-4DD2-8CE2-DA88E125ED8E}"/>
              </a:ext>
            </a:extLst>
          </p:cNvPr>
          <p:cNvSpPr/>
          <p:nvPr/>
        </p:nvSpPr>
        <p:spPr>
          <a:xfrm>
            <a:off x="2032731" y="1883976"/>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0" name="Pfeil: nach rechts 69">
            <a:extLst>
              <a:ext uri="{FF2B5EF4-FFF2-40B4-BE49-F238E27FC236}">
                <a16:creationId xmlns:a16="http://schemas.microsoft.com/office/drawing/2014/main" id="{A53A4848-B9DA-4B84-8468-085722293DC7}"/>
              </a:ext>
            </a:extLst>
          </p:cNvPr>
          <p:cNvSpPr/>
          <p:nvPr/>
        </p:nvSpPr>
        <p:spPr>
          <a:xfrm>
            <a:off x="2032731" y="203368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2" name="Textfeld 71">
            <a:extLst>
              <a:ext uri="{FF2B5EF4-FFF2-40B4-BE49-F238E27FC236}">
                <a16:creationId xmlns:a16="http://schemas.microsoft.com/office/drawing/2014/main" id="{FC29E03A-763D-46B1-B6C2-F9F48A8698D6}"/>
              </a:ext>
            </a:extLst>
          </p:cNvPr>
          <p:cNvSpPr txBox="1"/>
          <p:nvPr/>
        </p:nvSpPr>
        <p:spPr>
          <a:xfrm>
            <a:off x="872677" y="1479561"/>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75" name="Pfeil: nach rechts 74">
            <a:extLst>
              <a:ext uri="{FF2B5EF4-FFF2-40B4-BE49-F238E27FC236}">
                <a16:creationId xmlns:a16="http://schemas.microsoft.com/office/drawing/2014/main" id="{165602B4-4411-432A-AE6B-BA8495796723}"/>
              </a:ext>
            </a:extLst>
          </p:cNvPr>
          <p:cNvSpPr/>
          <p:nvPr/>
        </p:nvSpPr>
        <p:spPr>
          <a:xfrm>
            <a:off x="2032731" y="1529442"/>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6" name="Pfeil: nach rechts 75">
            <a:extLst>
              <a:ext uri="{FF2B5EF4-FFF2-40B4-BE49-F238E27FC236}">
                <a16:creationId xmlns:a16="http://schemas.microsoft.com/office/drawing/2014/main" id="{53968554-530B-42B6-A324-B97B95E37210}"/>
              </a:ext>
            </a:extLst>
          </p:cNvPr>
          <p:cNvSpPr/>
          <p:nvPr/>
        </p:nvSpPr>
        <p:spPr>
          <a:xfrm>
            <a:off x="2032731" y="167915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80" name="Textfeld 79">
            <a:extLst>
              <a:ext uri="{FF2B5EF4-FFF2-40B4-BE49-F238E27FC236}">
                <a16:creationId xmlns:a16="http://schemas.microsoft.com/office/drawing/2014/main" id="{07CA82FB-F8AE-46D4-B16F-B3938B16EBAE}"/>
              </a:ext>
            </a:extLst>
          </p:cNvPr>
          <p:cNvSpPr txBox="1"/>
          <p:nvPr/>
        </p:nvSpPr>
        <p:spPr>
          <a:xfrm>
            <a:off x="929503" y="1120999"/>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dirty="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dirty="0">
                <a:ln>
                  <a:noFill/>
                </a:ln>
                <a:solidFill>
                  <a:prstClr val="black"/>
                </a:solidFill>
                <a:effectLst/>
                <a:uLnTx/>
                <a:uFillTx/>
                <a:latin typeface="Arial"/>
                <a:ea typeface="+mn-ea"/>
                <a:cs typeface="+mn-cs"/>
              </a:rPr>
              <a:t>​</a:t>
            </a:r>
          </a:p>
        </p:txBody>
      </p:sp>
      <p:grpSp>
        <p:nvGrpSpPr>
          <p:cNvPr id="81" name="Gruppieren 80">
            <a:extLst>
              <a:ext uri="{FF2B5EF4-FFF2-40B4-BE49-F238E27FC236}">
                <a16:creationId xmlns:a16="http://schemas.microsoft.com/office/drawing/2014/main" id="{2A8FF629-5FA1-470A-B10D-9DCF1ADEC47D}"/>
              </a:ext>
            </a:extLst>
          </p:cNvPr>
          <p:cNvGrpSpPr/>
          <p:nvPr/>
        </p:nvGrpSpPr>
        <p:grpSpPr>
          <a:xfrm>
            <a:off x="872677" y="2409733"/>
            <a:ext cx="7880527" cy="2268251"/>
            <a:chOff x="9330490" y="3150987"/>
            <a:chExt cx="2734720" cy="1996076"/>
          </a:xfrm>
        </p:grpSpPr>
        <p:sp>
          <p:nvSpPr>
            <p:cNvPr id="82" name="Rechteck: abgerundete Ecken 81">
              <a:extLst>
                <a:ext uri="{FF2B5EF4-FFF2-40B4-BE49-F238E27FC236}">
                  <a16:creationId xmlns:a16="http://schemas.microsoft.com/office/drawing/2014/main" id="{30B33083-BDB1-400C-B6C1-F6FCCB57FFCC}"/>
                </a:ext>
              </a:extLst>
            </p:cNvPr>
            <p:cNvSpPr/>
            <p:nvPr/>
          </p:nvSpPr>
          <p:spPr>
            <a:xfrm>
              <a:off x="9330490" y="3216736"/>
              <a:ext cx="2734720" cy="1930327"/>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83" name="Rechteck: abgerundete Ecken 82">
              <a:extLst>
                <a:ext uri="{FF2B5EF4-FFF2-40B4-BE49-F238E27FC236}">
                  <a16:creationId xmlns:a16="http://schemas.microsoft.com/office/drawing/2014/main" id="{B153B783-E65D-4799-A110-86D82A71813F}"/>
                </a:ext>
              </a:extLst>
            </p:cNvPr>
            <p:cNvSpPr/>
            <p:nvPr/>
          </p:nvSpPr>
          <p:spPr>
            <a:xfrm>
              <a:off x="9330490" y="3150987"/>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dirty="0">
                  <a:ln>
                    <a:noFill/>
                  </a:ln>
                  <a:solidFill>
                    <a:prstClr val="white"/>
                  </a:solidFill>
                  <a:effectLst/>
                  <a:uLnTx/>
                  <a:uFillTx/>
                  <a:latin typeface="Calibri"/>
                  <a:ea typeface="+mn-ea"/>
                  <a:cs typeface="+mn-cs"/>
                </a:rPr>
                <a:t>Work Package 3 –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Collaboration</a:t>
              </a:r>
              <a:r>
                <a:rPr kumimoji="0" lang="de-DE" sz="1050" b="0" i="0" u="none" strike="noStrike" kern="1200" cap="none" spc="0" normalizeH="0" baseline="0" noProof="0" dirty="0">
                  <a:ln>
                    <a:noFill/>
                  </a:ln>
                  <a:solidFill>
                    <a:prstClr val="white"/>
                  </a:solidFill>
                  <a:effectLst/>
                  <a:uLnTx/>
                  <a:uFillTx/>
                  <a:latin typeface="Calibri"/>
                  <a:ea typeface="+mn-ea"/>
                  <a:cs typeface="+mn-cs"/>
                </a:rPr>
                <a:t>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with</a:t>
              </a:r>
              <a:r>
                <a:rPr kumimoji="0" lang="de-DE" sz="1050" b="0" i="0" u="none" strike="noStrike" kern="1200" cap="none" spc="0" normalizeH="0" baseline="0" noProof="0" dirty="0">
                  <a:ln>
                    <a:noFill/>
                  </a:ln>
                  <a:solidFill>
                    <a:prstClr val="white"/>
                  </a:solidFill>
                  <a:effectLst/>
                  <a:uLnTx/>
                  <a:uFillTx/>
                  <a:latin typeface="Calibri"/>
                  <a:ea typeface="+mn-ea"/>
                  <a:cs typeface="+mn-cs"/>
                </a:rPr>
                <a:t> Project #2, n = 100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participants</a:t>
              </a:r>
              <a:endParaRPr kumimoji="0" lang="en-US" sz="1050" b="0" i="0" u="none" strike="noStrike" kern="1200" cap="none" spc="0" normalizeH="0" baseline="0" noProof="0" dirty="0">
                <a:ln>
                  <a:noFill/>
                </a:ln>
                <a:solidFill>
                  <a:prstClr val="white"/>
                </a:solidFill>
                <a:effectLst/>
                <a:uLnTx/>
                <a:uFillTx/>
                <a:latin typeface="Calibri"/>
                <a:ea typeface="+mn-ea"/>
                <a:cs typeface="+mn-cs"/>
              </a:endParaRPr>
            </a:p>
          </p:txBody>
        </p:sp>
      </p:grpSp>
      <p:pic>
        <p:nvPicPr>
          <p:cNvPr id="28" name="Inhaltsplatzhalter 5">
            <a:extLst>
              <a:ext uri="{FF2B5EF4-FFF2-40B4-BE49-F238E27FC236}">
                <a16:creationId xmlns:a16="http://schemas.microsoft.com/office/drawing/2014/main" id="{C42891B2-EAD1-4895-89AF-2827C66DCD25}"/>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1839" t="10314" r="64293" b="62885"/>
          <a:stretch/>
        </p:blipFill>
        <p:spPr>
          <a:xfrm>
            <a:off x="1157646" y="3473932"/>
            <a:ext cx="865376" cy="613547"/>
          </a:xfrm>
        </p:spPr>
      </p:pic>
      <p:sp>
        <p:nvSpPr>
          <p:cNvPr id="29" name="Rechteck: abgerundete Ecken 28">
            <a:extLst>
              <a:ext uri="{FF2B5EF4-FFF2-40B4-BE49-F238E27FC236}">
                <a16:creationId xmlns:a16="http://schemas.microsoft.com/office/drawing/2014/main" id="{A8AF8B31-F954-4082-A03B-3E6163FA6E07}"/>
              </a:ext>
            </a:extLst>
          </p:cNvPr>
          <p:cNvSpPr/>
          <p:nvPr/>
        </p:nvSpPr>
        <p:spPr>
          <a:xfrm>
            <a:off x="1140439" y="3082423"/>
            <a:ext cx="2648721" cy="1557991"/>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feld 29">
            <a:extLst>
              <a:ext uri="{FF2B5EF4-FFF2-40B4-BE49-F238E27FC236}">
                <a16:creationId xmlns:a16="http://schemas.microsoft.com/office/drawing/2014/main" id="{A51BD11C-4F8C-4713-A34C-CD3C72EFD691}"/>
              </a:ext>
            </a:extLst>
          </p:cNvPr>
          <p:cNvSpPr txBox="1"/>
          <p:nvPr/>
        </p:nvSpPr>
        <p:spPr>
          <a:xfrm>
            <a:off x="1845957" y="3110429"/>
            <a:ext cx="1904662"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Free </a:t>
            </a:r>
            <a:r>
              <a:rPr kumimoji="0" lang="de-DE" sz="1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Concurrent</a:t>
            </a:r>
            <a:r>
              <a:rPr kumimoji="0" lang="de-DE"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Dual-</a:t>
            </a:r>
            <a:r>
              <a:rPr kumimoji="0" lang="de-DE" sz="1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Tasking</a:t>
            </a: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31" name="Grafik 30">
            <a:extLst>
              <a:ext uri="{FF2B5EF4-FFF2-40B4-BE49-F238E27FC236}">
                <a16:creationId xmlns:a16="http://schemas.microsoft.com/office/drawing/2014/main" id="{53274BF9-497D-4C2E-8AA0-0734C3D9E70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02" t="24729" r="1076" b="12759"/>
          <a:stretch/>
        </p:blipFill>
        <p:spPr>
          <a:xfrm>
            <a:off x="2040228" y="3772063"/>
            <a:ext cx="1683606" cy="705380"/>
          </a:xfrm>
          <a:prstGeom prst="rect">
            <a:avLst/>
          </a:prstGeom>
        </p:spPr>
      </p:pic>
      <p:sp>
        <p:nvSpPr>
          <p:cNvPr id="32" name="Rechteck: abgerundete Ecken 31">
            <a:extLst>
              <a:ext uri="{FF2B5EF4-FFF2-40B4-BE49-F238E27FC236}">
                <a16:creationId xmlns:a16="http://schemas.microsoft.com/office/drawing/2014/main" id="{A0C3BF25-446E-41C5-B1FC-FD9EB2A7912C}"/>
              </a:ext>
            </a:extLst>
          </p:cNvPr>
          <p:cNvSpPr/>
          <p:nvPr/>
        </p:nvSpPr>
        <p:spPr>
          <a:xfrm>
            <a:off x="3973658" y="3079533"/>
            <a:ext cx="2716924" cy="1557992"/>
          </a:xfrm>
          <a:prstGeom prst="roundRect">
            <a:avLst>
              <a:gd name="adj" fmla="val 0"/>
            </a:avLst>
          </a:prstGeom>
          <a:noFill/>
          <a:ln w="12700">
            <a:solidFill>
              <a:srgbClr val="6B53A9"/>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pic>
        <p:nvPicPr>
          <p:cNvPr id="3" name="Grafik 2">
            <a:extLst>
              <a:ext uri="{FF2B5EF4-FFF2-40B4-BE49-F238E27FC236}">
                <a16:creationId xmlns:a16="http://schemas.microsoft.com/office/drawing/2014/main" id="{77A761ED-CB54-4345-A518-9939255FBA54}"/>
              </a:ext>
            </a:extLst>
          </p:cNvPr>
          <p:cNvPicPr>
            <a:picLocks noChangeAspect="1"/>
          </p:cNvPicPr>
          <p:nvPr/>
        </p:nvPicPr>
        <p:blipFill>
          <a:blip r:embed="rId5"/>
          <a:stretch>
            <a:fillRect/>
          </a:stretch>
        </p:blipFill>
        <p:spPr>
          <a:xfrm>
            <a:off x="4380912" y="3378089"/>
            <a:ext cx="1920191" cy="1314151"/>
          </a:xfrm>
          <a:prstGeom prst="rect">
            <a:avLst/>
          </a:prstGeom>
        </p:spPr>
      </p:pic>
      <p:sp>
        <p:nvSpPr>
          <p:cNvPr id="34" name="Textfeld 33">
            <a:extLst>
              <a:ext uri="{FF2B5EF4-FFF2-40B4-BE49-F238E27FC236}">
                <a16:creationId xmlns:a16="http://schemas.microsoft.com/office/drawing/2014/main" id="{D1D1AE71-2B39-4429-867C-741102018C11}"/>
              </a:ext>
            </a:extLst>
          </p:cNvPr>
          <p:cNvSpPr txBox="1"/>
          <p:nvPr/>
        </p:nvSpPr>
        <p:spPr>
          <a:xfrm>
            <a:off x="4687057" y="3115801"/>
            <a:ext cx="2061480" cy="208282"/>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Self-</a:t>
            </a:r>
            <a:r>
              <a:rPr kumimoji="0" lang="de-DE" sz="1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organized</a:t>
            </a:r>
            <a:r>
              <a:rPr kumimoji="0" lang="de-DE"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de-DE" sz="1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Tasking-Switching</a:t>
            </a: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6" name="Textfeld 35">
            <a:extLst>
              <a:ext uri="{FF2B5EF4-FFF2-40B4-BE49-F238E27FC236}">
                <a16:creationId xmlns:a16="http://schemas.microsoft.com/office/drawing/2014/main" id="{C237F9E3-A8B4-476A-BEDB-8AEF4D8ABA8F}"/>
              </a:ext>
            </a:extLst>
          </p:cNvPr>
          <p:cNvSpPr txBox="1"/>
          <p:nvPr/>
        </p:nvSpPr>
        <p:spPr>
          <a:xfrm>
            <a:off x="7412425" y="2794672"/>
            <a:ext cx="847898"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Expectations</a:t>
            </a:r>
          </a:p>
        </p:txBody>
      </p:sp>
      <p:sp>
        <p:nvSpPr>
          <p:cNvPr id="37" name="Textfeld 36">
            <a:extLst>
              <a:ext uri="{FF2B5EF4-FFF2-40B4-BE49-F238E27FC236}">
                <a16:creationId xmlns:a16="http://schemas.microsoft.com/office/drawing/2014/main" id="{39518290-A6A7-480E-9EBD-1E9B6F3E3F26}"/>
              </a:ext>
            </a:extLst>
          </p:cNvPr>
          <p:cNvSpPr txBox="1"/>
          <p:nvPr/>
        </p:nvSpPr>
        <p:spPr>
          <a:xfrm>
            <a:off x="6875080" y="3111769"/>
            <a:ext cx="1721568" cy="135421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Switching and response grouping ↔ global strategy:</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Proactive task processing and performance maximization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Blockers ↔ local strategy:</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Minimizing effort by switching only when necessary</a:t>
            </a:r>
          </a:p>
        </p:txBody>
      </p:sp>
      <p:sp>
        <p:nvSpPr>
          <p:cNvPr id="38" name="Inhaltsplatzhalter 9">
            <a:extLst>
              <a:ext uri="{FF2B5EF4-FFF2-40B4-BE49-F238E27FC236}">
                <a16:creationId xmlns:a16="http://schemas.microsoft.com/office/drawing/2014/main" id="{89C3438C-B0B0-43D6-A0BE-BE7BD39C1959}"/>
              </a:ext>
            </a:extLst>
          </p:cNvPr>
          <p:cNvSpPr txBox="1">
            <a:spLocks/>
          </p:cNvSpPr>
          <p:nvPr/>
        </p:nvSpPr>
        <p:spPr>
          <a:xfrm>
            <a:off x="4883489" y="1445363"/>
            <a:ext cx="4003934" cy="715209"/>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Quicksand"/>
                <a:cs typeface="Arial" panose="020B0604020202020204" pitchFamily="34" charset="0"/>
                <a:sym typeface="Wingdings" panose="05000000000000000000" pitchFamily="2" charset="2"/>
              </a:rPr>
              <a:t>Does the variability in task-switch choice frequency in the FCDT paradigm extend to the self-organized task-switching paradigm?</a:t>
            </a:r>
          </a:p>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Quicksand"/>
                <a:cs typeface="Arial" panose="020B0604020202020204" pitchFamily="34" charset="0"/>
                <a:sym typeface="Wingdings" panose="05000000000000000000" pitchFamily="2" charset="2"/>
              </a:rPr>
              <a:t> Joint experiment with Freiburg</a:t>
            </a:r>
          </a:p>
        </p:txBody>
      </p:sp>
      <p:pic>
        <p:nvPicPr>
          <p:cNvPr id="39" name="Grafik 38" descr="Hilfe mit einfarbiger Füllung">
            <a:extLst>
              <a:ext uri="{FF2B5EF4-FFF2-40B4-BE49-F238E27FC236}">
                <a16:creationId xmlns:a16="http://schemas.microsoft.com/office/drawing/2014/main" id="{36E598B7-A3D5-403D-9653-F24D62D41FF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20775" y="1461538"/>
            <a:ext cx="378000" cy="378000"/>
          </a:xfrm>
          <a:prstGeom prst="rect">
            <a:avLst/>
          </a:prstGeom>
        </p:spPr>
      </p:pic>
    </p:spTree>
    <p:extLst>
      <p:ext uri="{BB962C8B-B14F-4D97-AF65-F5344CB8AC3E}">
        <p14:creationId xmlns:p14="http://schemas.microsoft.com/office/powerpoint/2010/main" val="1097548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D857FB-D4DA-4195-AE2D-EAD1A02B1B9D}"/>
              </a:ext>
            </a:extLst>
          </p:cNvPr>
          <p:cNvSpPr>
            <a:spLocks noGrp="1"/>
          </p:cNvSpPr>
          <p:nvPr>
            <p:ph type="title"/>
          </p:nvPr>
        </p:nvSpPr>
        <p:spPr/>
        <p:txBody>
          <a:bodyPr/>
          <a:lstStyle/>
          <a:p>
            <a:r>
              <a:rPr lang="de-DE"/>
              <a:t>Response </a:t>
            </a:r>
            <a:r>
              <a:rPr lang="de-DE" err="1"/>
              <a:t>Strategies</a:t>
            </a:r>
            <a:r>
              <a:rPr lang="de-DE"/>
              <a:t> – </a:t>
            </a:r>
            <a:r>
              <a:rPr lang="de-DE" err="1">
                <a:solidFill>
                  <a:srgbClr val="9D7B0F"/>
                </a:solidFill>
              </a:rPr>
              <a:t>Paradigm</a:t>
            </a:r>
            <a:endParaRPr lang="en-US">
              <a:solidFill>
                <a:srgbClr val="9D7B0F"/>
              </a:solidFill>
            </a:endParaRPr>
          </a:p>
        </p:txBody>
      </p:sp>
      <p:sp>
        <p:nvSpPr>
          <p:cNvPr id="4" name="Foliennummernplatzhalter 3">
            <a:extLst>
              <a:ext uri="{FF2B5EF4-FFF2-40B4-BE49-F238E27FC236}">
                <a16:creationId xmlns:a16="http://schemas.microsoft.com/office/drawing/2014/main" id="{FE3E8B20-AFDE-4E30-B56F-10469739B956}"/>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29</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cxnSp>
        <p:nvCxnSpPr>
          <p:cNvPr id="33" name="Gerade Verbindung mit Pfeil 32">
            <a:extLst>
              <a:ext uri="{FF2B5EF4-FFF2-40B4-BE49-F238E27FC236}">
                <a16:creationId xmlns:a16="http://schemas.microsoft.com/office/drawing/2014/main" id="{4A7C3067-E53E-4C29-AB5D-79E8F2DF3CF9}"/>
              </a:ext>
            </a:extLst>
          </p:cNvPr>
          <p:cNvCxnSpPr>
            <a:cxnSpLocks/>
          </p:cNvCxnSpPr>
          <p:nvPr/>
        </p:nvCxnSpPr>
        <p:spPr>
          <a:xfrm>
            <a:off x="2362615" y="2237328"/>
            <a:ext cx="1197836"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DDF9839A-648A-4696-A15C-E5BCC134748F}"/>
              </a:ext>
            </a:extLst>
          </p:cNvPr>
          <p:cNvCxnSpPr>
            <a:cxnSpLocks/>
          </p:cNvCxnSpPr>
          <p:nvPr/>
        </p:nvCxnSpPr>
        <p:spPr>
          <a:xfrm flipH="1">
            <a:off x="2480330" y="2071119"/>
            <a:ext cx="1904" cy="16200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39C1078F-95E4-468C-8B86-F7D18CC27AD4}"/>
              </a:ext>
            </a:extLst>
          </p:cNvPr>
          <p:cNvCxnSpPr>
            <a:cxnSpLocks/>
          </p:cNvCxnSpPr>
          <p:nvPr/>
        </p:nvCxnSpPr>
        <p:spPr>
          <a:xfrm>
            <a:off x="2639809" y="2077380"/>
            <a:ext cx="2540" cy="16200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43756027-8903-40D3-891D-B483AB16B85D}"/>
              </a:ext>
            </a:extLst>
          </p:cNvPr>
          <p:cNvCxnSpPr>
            <a:cxnSpLocks/>
          </p:cNvCxnSpPr>
          <p:nvPr/>
        </p:nvCxnSpPr>
        <p:spPr>
          <a:xfrm>
            <a:off x="2801827" y="2077380"/>
            <a:ext cx="2540" cy="16200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BFD59D77-2C91-43E6-8E68-54A46DF702BB}"/>
              </a:ext>
            </a:extLst>
          </p:cNvPr>
          <p:cNvCxnSpPr>
            <a:cxnSpLocks/>
          </p:cNvCxnSpPr>
          <p:nvPr/>
        </p:nvCxnSpPr>
        <p:spPr>
          <a:xfrm>
            <a:off x="3074397" y="2077380"/>
            <a:ext cx="2540" cy="16200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03D356C5-9CBE-43D2-AE8A-0D1BF54949A6}"/>
              </a:ext>
            </a:extLst>
          </p:cNvPr>
          <p:cNvCxnSpPr>
            <a:cxnSpLocks/>
          </p:cNvCxnSpPr>
          <p:nvPr/>
        </p:nvCxnSpPr>
        <p:spPr>
          <a:xfrm>
            <a:off x="2912379" y="2247045"/>
            <a:ext cx="2540" cy="16200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616E7A80-66AC-4709-BB41-8180CB459BBE}"/>
              </a:ext>
            </a:extLst>
          </p:cNvPr>
          <p:cNvCxnSpPr>
            <a:cxnSpLocks/>
          </p:cNvCxnSpPr>
          <p:nvPr/>
        </p:nvCxnSpPr>
        <p:spPr>
          <a:xfrm>
            <a:off x="3179869" y="2247045"/>
            <a:ext cx="2540" cy="16200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7687D650-1B43-4DEB-B4E8-28859621B9F7}"/>
              </a:ext>
            </a:extLst>
          </p:cNvPr>
          <p:cNvCxnSpPr>
            <a:cxnSpLocks/>
          </p:cNvCxnSpPr>
          <p:nvPr/>
        </p:nvCxnSpPr>
        <p:spPr>
          <a:xfrm>
            <a:off x="3341887" y="2247045"/>
            <a:ext cx="2540" cy="16200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Textfeld 41">
            <a:extLst>
              <a:ext uri="{FF2B5EF4-FFF2-40B4-BE49-F238E27FC236}">
                <a16:creationId xmlns:a16="http://schemas.microsoft.com/office/drawing/2014/main" id="{258CA10D-BA40-428A-9AFA-93FAAED1297A}"/>
              </a:ext>
            </a:extLst>
          </p:cNvPr>
          <p:cNvSpPr txBox="1"/>
          <p:nvPr/>
        </p:nvSpPr>
        <p:spPr>
          <a:xfrm>
            <a:off x="1964926" y="2043725"/>
            <a:ext cx="465192"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Letter</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feld 42">
            <a:extLst>
              <a:ext uri="{FF2B5EF4-FFF2-40B4-BE49-F238E27FC236}">
                <a16:creationId xmlns:a16="http://schemas.microsoft.com/office/drawing/2014/main" id="{72DEF854-B339-4B9A-9141-9731B1AA6246}"/>
              </a:ext>
            </a:extLst>
          </p:cNvPr>
          <p:cNvSpPr txBox="1"/>
          <p:nvPr/>
        </p:nvSpPr>
        <p:spPr>
          <a:xfrm>
            <a:off x="1964926" y="2252387"/>
            <a:ext cx="4026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Digit</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feld 46">
            <a:extLst>
              <a:ext uri="{FF2B5EF4-FFF2-40B4-BE49-F238E27FC236}">
                <a16:creationId xmlns:a16="http://schemas.microsoft.com/office/drawing/2014/main" id="{02EC3867-C3A0-4097-8160-903669C0B81E}"/>
              </a:ext>
            </a:extLst>
          </p:cNvPr>
          <p:cNvSpPr txBox="1"/>
          <p:nvPr/>
        </p:nvSpPr>
        <p:spPr>
          <a:xfrm>
            <a:off x="3806571" y="2470853"/>
            <a:ext cx="479618"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srgbClr val="0066FF"/>
                </a:solidFill>
                <a:effectLst/>
                <a:uLnTx/>
                <a:uFillTx/>
                <a:latin typeface="Arial" panose="020B0604020202020204" pitchFamily="34" charset="0"/>
                <a:ea typeface="+mn-ea"/>
                <a:cs typeface="Arial" panose="020B0604020202020204" pitchFamily="34" charset="0"/>
              </a:rPr>
              <a:t>Letter</a:t>
            </a:r>
            <a:endParaRPr kumimoji="0" lang="en-US" sz="900" b="0" i="0" u="none" strike="noStrike" kern="1200" cap="none" spc="0" normalizeH="0" baseline="0" noProof="0">
              <a:ln>
                <a:noFill/>
              </a:ln>
              <a:solidFill>
                <a:srgbClr val="0066FF"/>
              </a:solidFill>
              <a:effectLst/>
              <a:uLnTx/>
              <a:uFillTx/>
              <a:latin typeface="Arial" panose="020B0604020202020204" pitchFamily="34" charset="0"/>
              <a:ea typeface="+mn-ea"/>
              <a:cs typeface="Arial" panose="020B0604020202020204" pitchFamily="34" charset="0"/>
            </a:endParaRPr>
          </a:p>
        </p:txBody>
      </p:sp>
      <p:sp>
        <p:nvSpPr>
          <p:cNvPr id="48" name="Textfeld 47">
            <a:extLst>
              <a:ext uri="{FF2B5EF4-FFF2-40B4-BE49-F238E27FC236}">
                <a16:creationId xmlns:a16="http://schemas.microsoft.com/office/drawing/2014/main" id="{29738B60-3E8F-439A-81BD-505BDA9319AD}"/>
              </a:ext>
            </a:extLst>
          </p:cNvPr>
          <p:cNvSpPr txBox="1"/>
          <p:nvPr/>
        </p:nvSpPr>
        <p:spPr>
          <a:xfrm>
            <a:off x="4151370" y="2470852"/>
            <a:ext cx="415498"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srgbClr val="990000"/>
                </a:solidFill>
                <a:effectLst/>
                <a:uLnTx/>
                <a:uFillTx/>
                <a:latin typeface="Arial" panose="020B0604020202020204" pitchFamily="34" charset="0"/>
                <a:ea typeface="+mn-ea"/>
                <a:cs typeface="Arial" panose="020B0604020202020204" pitchFamily="34" charset="0"/>
              </a:rPr>
              <a:t>Digit</a:t>
            </a:r>
            <a:endParaRPr kumimoji="0" lang="en-US" sz="900" b="0" i="0" u="none" strike="noStrike" kern="1200" cap="none" spc="0" normalizeH="0" baseline="0" noProof="0">
              <a:ln>
                <a:noFill/>
              </a:ln>
              <a:solidFill>
                <a:srgbClr val="990000"/>
              </a:solidFill>
              <a:effectLst/>
              <a:uLnTx/>
              <a:uFillTx/>
              <a:latin typeface="Arial" panose="020B0604020202020204" pitchFamily="34" charset="0"/>
              <a:ea typeface="+mn-ea"/>
              <a:cs typeface="Arial" panose="020B0604020202020204" pitchFamily="34" charset="0"/>
            </a:endParaRPr>
          </a:p>
        </p:txBody>
      </p:sp>
      <p:pic>
        <p:nvPicPr>
          <p:cNvPr id="49" name="Grafik 48">
            <a:extLst>
              <a:ext uri="{FF2B5EF4-FFF2-40B4-BE49-F238E27FC236}">
                <a16:creationId xmlns:a16="http://schemas.microsoft.com/office/drawing/2014/main" id="{E695D944-64E2-4AA9-88A3-3B504EBDECD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967773" y="2292972"/>
            <a:ext cx="3719027" cy="2376000"/>
          </a:xfrm>
          <a:prstGeom prst="rect">
            <a:avLst/>
          </a:prstGeom>
        </p:spPr>
      </p:pic>
      <p:grpSp>
        <p:nvGrpSpPr>
          <p:cNvPr id="146" name="Gruppieren 145">
            <a:extLst>
              <a:ext uri="{FF2B5EF4-FFF2-40B4-BE49-F238E27FC236}">
                <a16:creationId xmlns:a16="http://schemas.microsoft.com/office/drawing/2014/main" id="{D57E5EEE-E62E-45C3-A526-1F287E81678D}"/>
              </a:ext>
            </a:extLst>
          </p:cNvPr>
          <p:cNvGrpSpPr/>
          <p:nvPr/>
        </p:nvGrpSpPr>
        <p:grpSpPr>
          <a:xfrm>
            <a:off x="716655" y="2302329"/>
            <a:ext cx="655730" cy="779912"/>
            <a:chOff x="6242027" y="3448778"/>
            <a:chExt cx="822029" cy="977705"/>
          </a:xfrm>
        </p:grpSpPr>
        <p:sp>
          <p:nvSpPr>
            <p:cNvPr id="147" name="Rechteck 146">
              <a:extLst>
                <a:ext uri="{FF2B5EF4-FFF2-40B4-BE49-F238E27FC236}">
                  <a16:creationId xmlns:a16="http://schemas.microsoft.com/office/drawing/2014/main" id="{68C63DD4-AF06-4F86-8978-F6F2F75DA9D5}"/>
                </a:ext>
              </a:extLst>
            </p:cNvPr>
            <p:cNvSpPr/>
            <p:nvPr/>
          </p:nvSpPr>
          <p:spPr>
            <a:xfrm>
              <a:off x="6242027" y="3783878"/>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48" name="Textfeld 147">
              <a:extLst>
                <a:ext uri="{FF2B5EF4-FFF2-40B4-BE49-F238E27FC236}">
                  <a16:creationId xmlns:a16="http://schemas.microsoft.com/office/drawing/2014/main" id="{95C8CB1F-F624-4A18-90CF-A8ED9BC67846}"/>
                </a:ext>
              </a:extLst>
            </p:cNvPr>
            <p:cNvSpPr txBox="1"/>
            <p:nvPr/>
          </p:nvSpPr>
          <p:spPr>
            <a:xfrm>
              <a:off x="6433985" y="3841060"/>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U</a:t>
              </a:r>
            </a:p>
          </p:txBody>
        </p:sp>
        <p:sp>
          <p:nvSpPr>
            <p:cNvPr id="149" name="Textfeld 148">
              <a:extLst>
                <a:ext uri="{FF2B5EF4-FFF2-40B4-BE49-F238E27FC236}">
                  <a16:creationId xmlns:a16="http://schemas.microsoft.com/office/drawing/2014/main" id="{4226E203-8582-44AD-BB42-4D4E2F9F28F6}"/>
                </a:ext>
              </a:extLst>
            </p:cNvPr>
            <p:cNvSpPr txBox="1"/>
            <p:nvPr/>
          </p:nvSpPr>
          <p:spPr>
            <a:xfrm>
              <a:off x="6433985" y="4055838"/>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7</a:t>
              </a:r>
            </a:p>
          </p:txBody>
        </p:sp>
        <p:sp>
          <p:nvSpPr>
            <p:cNvPr id="150" name="Textfeld 149">
              <a:extLst>
                <a:ext uri="{FF2B5EF4-FFF2-40B4-BE49-F238E27FC236}">
                  <a16:creationId xmlns:a16="http://schemas.microsoft.com/office/drawing/2014/main" id="{E6C7ACF0-7F7A-4DC6-A895-C937C8A9637A}"/>
                </a:ext>
              </a:extLst>
            </p:cNvPr>
            <p:cNvSpPr txBox="1"/>
            <p:nvPr/>
          </p:nvSpPr>
          <p:spPr>
            <a:xfrm>
              <a:off x="6477766" y="3448778"/>
              <a:ext cx="344034"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t>
              </a:r>
            </a:p>
          </p:txBody>
        </p:sp>
      </p:grpSp>
      <p:grpSp>
        <p:nvGrpSpPr>
          <p:cNvPr id="151" name="Gruppieren 150">
            <a:extLst>
              <a:ext uri="{FF2B5EF4-FFF2-40B4-BE49-F238E27FC236}">
                <a16:creationId xmlns:a16="http://schemas.microsoft.com/office/drawing/2014/main" id="{CEADD50C-2476-4B76-997B-CD2091D5A69C}"/>
              </a:ext>
            </a:extLst>
          </p:cNvPr>
          <p:cNvGrpSpPr/>
          <p:nvPr/>
        </p:nvGrpSpPr>
        <p:grpSpPr>
          <a:xfrm>
            <a:off x="1293598" y="2474630"/>
            <a:ext cx="655730" cy="767322"/>
            <a:chOff x="6965290" y="3258929"/>
            <a:chExt cx="822029" cy="961922"/>
          </a:xfrm>
        </p:grpSpPr>
        <p:sp>
          <p:nvSpPr>
            <p:cNvPr id="152" name="Rechteck 151">
              <a:extLst>
                <a:ext uri="{FF2B5EF4-FFF2-40B4-BE49-F238E27FC236}">
                  <a16:creationId xmlns:a16="http://schemas.microsoft.com/office/drawing/2014/main" id="{A4BA8F5F-AED4-4BC6-804A-6B215542E600}"/>
                </a:ext>
              </a:extLst>
            </p:cNvPr>
            <p:cNvSpPr/>
            <p:nvPr/>
          </p:nvSpPr>
          <p:spPr>
            <a:xfrm>
              <a:off x="6965290" y="3578246"/>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53" name="Textfeld 152">
              <a:extLst>
                <a:ext uri="{FF2B5EF4-FFF2-40B4-BE49-F238E27FC236}">
                  <a16:creationId xmlns:a16="http://schemas.microsoft.com/office/drawing/2014/main" id="{3CAE0982-4EFC-43DE-A832-1E8A221798B8}"/>
                </a:ext>
              </a:extLst>
            </p:cNvPr>
            <p:cNvSpPr txBox="1"/>
            <p:nvPr/>
          </p:nvSpPr>
          <p:spPr>
            <a:xfrm>
              <a:off x="7139075" y="3628727"/>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a:t>
              </a:r>
            </a:p>
          </p:txBody>
        </p:sp>
        <p:sp>
          <p:nvSpPr>
            <p:cNvPr id="154" name="Textfeld 153">
              <a:extLst>
                <a:ext uri="{FF2B5EF4-FFF2-40B4-BE49-F238E27FC236}">
                  <a16:creationId xmlns:a16="http://schemas.microsoft.com/office/drawing/2014/main" id="{CE9C75DA-4E2F-4C01-9815-C362C272F61B}"/>
                </a:ext>
              </a:extLst>
            </p:cNvPr>
            <p:cNvSpPr txBox="1"/>
            <p:nvPr/>
          </p:nvSpPr>
          <p:spPr>
            <a:xfrm>
              <a:off x="7139075" y="3852068"/>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7</a:t>
              </a:r>
            </a:p>
          </p:txBody>
        </p:sp>
        <p:sp>
          <p:nvSpPr>
            <p:cNvPr id="155" name="Textfeld 154">
              <a:extLst>
                <a:ext uri="{FF2B5EF4-FFF2-40B4-BE49-F238E27FC236}">
                  <a16:creationId xmlns:a16="http://schemas.microsoft.com/office/drawing/2014/main" id="{CBAE9A41-262E-4A6E-A4A8-F8D250FC6804}"/>
                </a:ext>
              </a:extLst>
            </p:cNvPr>
            <p:cNvSpPr txBox="1"/>
            <p:nvPr/>
          </p:nvSpPr>
          <p:spPr>
            <a:xfrm>
              <a:off x="7199236" y="3258929"/>
              <a:ext cx="354082"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t>
              </a:r>
            </a:p>
          </p:txBody>
        </p:sp>
      </p:grpSp>
      <p:grpSp>
        <p:nvGrpSpPr>
          <p:cNvPr id="156" name="Gruppieren 155">
            <a:extLst>
              <a:ext uri="{FF2B5EF4-FFF2-40B4-BE49-F238E27FC236}">
                <a16:creationId xmlns:a16="http://schemas.microsoft.com/office/drawing/2014/main" id="{BB40189A-15BD-423F-9C3D-1CED8E2368DF}"/>
              </a:ext>
            </a:extLst>
          </p:cNvPr>
          <p:cNvGrpSpPr/>
          <p:nvPr/>
        </p:nvGrpSpPr>
        <p:grpSpPr>
          <a:xfrm>
            <a:off x="1870171" y="2646933"/>
            <a:ext cx="655730" cy="767055"/>
            <a:chOff x="7688087" y="3053629"/>
            <a:chExt cx="822029" cy="961588"/>
          </a:xfrm>
        </p:grpSpPr>
        <p:sp>
          <p:nvSpPr>
            <p:cNvPr id="157" name="Rechteck 156">
              <a:extLst>
                <a:ext uri="{FF2B5EF4-FFF2-40B4-BE49-F238E27FC236}">
                  <a16:creationId xmlns:a16="http://schemas.microsoft.com/office/drawing/2014/main" id="{AB133F59-E5D8-467D-BDD9-D36D067C6A14}"/>
                </a:ext>
              </a:extLst>
            </p:cNvPr>
            <p:cNvSpPr/>
            <p:nvPr/>
          </p:nvSpPr>
          <p:spPr>
            <a:xfrm>
              <a:off x="7688087" y="3372612"/>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58" name="Textfeld 157">
              <a:extLst>
                <a:ext uri="{FF2B5EF4-FFF2-40B4-BE49-F238E27FC236}">
                  <a16:creationId xmlns:a16="http://schemas.microsoft.com/office/drawing/2014/main" id="{CA489EEC-A4CC-4718-851F-E8CDD2553A67}"/>
                </a:ext>
              </a:extLst>
            </p:cNvPr>
            <p:cNvSpPr txBox="1"/>
            <p:nvPr/>
          </p:nvSpPr>
          <p:spPr>
            <a:xfrm>
              <a:off x="7861899" y="3419573"/>
              <a:ext cx="474404" cy="318312"/>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a:t>
              </a:r>
            </a:p>
          </p:txBody>
        </p:sp>
        <p:sp>
          <p:nvSpPr>
            <p:cNvPr id="159" name="Textfeld 158">
              <a:extLst>
                <a:ext uri="{FF2B5EF4-FFF2-40B4-BE49-F238E27FC236}">
                  <a16:creationId xmlns:a16="http://schemas.microsoft.com/office/drawing/2014/main" id="{53215139-660D-4039-8A2A-6C0FF6168066}"/>
                </a:ext>
              </a:extLst>
            </p:cNvPr>
            <p:cNvSpPr txBox="1"/>
            <p:nvPr/>
          </p:nvSpPr>
          <p:spPr>
            <a:xfrm>
              <a:off x="7861899" y="3650111"/>
              <a:ext cx="474406" cy="318312"/>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7</a:t>
              </a:r>
            </a:p>
          </p:txBody>
        </p:sp>
        <p:sp>
          <p:nvSpPr>
            <p:cNvPr id="160" name="Textfeld 159">
              <a:extLst>
                <a:ext uri="{FF2B5EF4-FFF2-40B4-BE49-F238E27FC236}">
                  <a16:creationId xmlns:a16="http://schemas.microsoft.com/office/drawing/2014/main" id="{A9BCA237-3235-4896-A378-6CCB818CE4B6}"/>
                </a:ext>
              </a:extLst>
            </p:cNvPr>
            <p:cNvSpPr txBox="1"/>
            <p:nvPr/>
          </p:nvSpPr>
          <p:spPr>
            <a:xfrm>
              <a:off x="7923712" y="3053629"/>
              <a:ext cx="354082" cy="31831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t>
              </a:r>
            </a:p>
          </p:txBody>
        </p:sp>
      </p:grpSp>
      <p:sp>
        <p:nvSpPr>
          <p:cNvPr id="161" name="Textfeld 160">
            <a:extLst>
              <a:ext uri="{FF2B5EF4-FFF2-40B4-BE49-F238E27FC236}">
                <a16:creationId xmlns:a16="http://schemas.microsoft.com/office/drawing/2014/main" id="{D157D445-A496-4351-B562-86C48A302EB7}"/>
              </a:ext>
            </a:extLst>
          </p:cNvPr>
          <p:cNvSpPr txBox="1"/>
          <p:nvPr/>
        </p:nvSpPr>
        <p:spPr>
          <a:xfrm>
            <a:off x="1431962" y="1068058"/>
            <a:ext cx="2647170" cy="3000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Free Concurrent Dual-Tasking</a:t>
            </a:r>
            <a:endParaRPr kumimoji="0" lang="en-US" sz="2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162" name="Gruppieren 161">
            <a:extLst>
              <a:ext uri="{FF2B5EF4-FFF2-40B4-BE49-F238E27FC236}">
                <a16:creationId xmlns:a16="http://schemas.microsoft.com/office/drawing/2014/main" id="{3301FFB7-FB28-4D3A-880A-4450FFF65BD9}"/>
              </a:ext>
            </a:extLst>
          </p:cNvPr>
          <p:cNvGrpSpPr/>
          <p:nvPr/>
        </p:nvGrpSpPr>
        <p:grpSpPr>
          <a:xfrm>
            <a:off x="2446744" y="3077688"/>
            <a:ext cx="655730" cy="765050"/>
            <a:chOff x="8410885" y="3132000"/>
            <a:chExt cx="822029" cy="959074"/>
          </a:xfrm>
        </p:grpSpPr>
        <p:sp>
          <p:nvSpPr>
            <p:cNvPr id="163" name="Rechteck 162">
              <a:extLst>
                <a:ext uri="{FF2B5EF4-FFF2-40B4-BE49-F238E27FC236}">
                  <a16:creationId xmlns:a16="http://schemas.microsoft.com/office/drawing/2014/main" id="{00B36941-1774-4B12-9723-25EC82DE4EE0}"/>
                </a:ext>
              </a:extLst>
            </p:cNvPr>
            <p:cNvSpPr/>
            <p:nvPr/>
          </p:nvSpPr>
          <p:spPr>
            <a:xfrm>
              <a:off x="8410885" y="3132000"/>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64" name="Textfeld 163">
              <a:extLst>
                <a:ext uri="{FF2B5EF4-FFF2-40B4-BE49-F238E27FC236}">
                  <a16:creationId xmlns:a16="http://schemas.microsoft.com/office/drawing/2014/main" id="{41E96865-9D48-4985-AD90-9F05DE986B06}"/>
                </a:ext>
              </a:extLst>
            </p:cNvPr>
            <p:cNvSpPr txBox="1"/>
            <p:nvPr/>
          </p:nvSpPr>
          <p:spPr>
            <a:xfrm>
              <a:off x="8584698" y="3187519"/>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a:t>
              </a:r>
            </a:p>
          </p:txBody>
        </p:sp>
        <p:sp>
          <p:nvSpPr>
            <p:cNvPr id="165" name="Textfeld 164">
              <a:extLst>
                <a:ext uri="{FF2B5EF4-FFF2-40B4-BE49-F238E27FC236}">
                  <a16:creationId xmlns:a16="http://schemas.microsoft.com/office/drawing/2014/main" id="{15BC6A91-86F2-4282-8FC2-8384D623949A}"/>
                </a:ext>
              </a:extLst>
            </p:cNvPr>
            <p:cNvSpPr txBox="1"/>
            <p:nvPr/>
          </p:nvSpPr>
          <p:spPr>
            <a:xfrm>
              <a:off x="8584697" y="3414762"/>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7</a:t>
              </a:r>
            </a:p>
          </p:txBody>
        </p:sp>
        <p:sp>
          <p:nvSpPr>
            <p:cNvPr id="166" name="Textfeld 165">
              <a:extLst>
                <a:ext uri="{FF2B5EF4-FFF2-40B4-BE49-F238E27FC236}">
                  <a16:creationId xmlns:a16="http://schemas.microsoft.com/office/drawing/2014/main" id="{A5BCAE0C-B463-4D8E-95CA-C6E7CB5ADEA7}"/>
                </a:ext>
              </a:extLst>
            </p:cNvPr>
            <p:cNvSpPr txBox="1"/>
            <p:nvPr/>
          </p:nvSpPr>
          <p:spPr>
            <a:xfrm>
              <a:off x="8646882" y="3772763"/>
              <a:ext cx="362120"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a:t>
              </a:r>
            </a:p>
          </p:txBody>
        </p:sp>
      </p:grpSp>
      <p:grpSp>
        <p:nvGrpSpPr>
          <p:cNvPr id="167" name="Gruppieren 166">
            <a:extLst>
              <a:ext uri="{FF2B5EF4-FFF2-40B4-BE49-F238E27FC236}">
                <a16:creationId xmlns:a16="http://schemas.microsoft.com/office/drawing/2014/main" id="{D0B0B5DC-5277-4EDF-A01C-47E0F91F2B2A}"/>
              </a:ext>
            </a:extLst>
          </p:cNvPr>
          <p:cNvGrpSpPr/>
          <p:nvPr/>
        </p:nvGrpSpPr>
        <p:grpSpPr>
          <a:xfrm>
            <a:off x="3023318" y="2991540"/>
            <a:ext cx="655730" cy="769024"/>
            <a:chOff x="9133684" y="3024000"/>
            <a:chExt cx="822029" cy="964055"/>
          </a:xfrm>
        </p:grpSpPr>
        <p:sp>
          <p:nvSpPr>
            <p:cNvPr id="168" name="Rechteck 167">
              <a:extLst>
                <a:ext uri="{FF2B5EF4-FFF2-40B4-BE49-F238E27FC236}">
                  <a16:creationId xmlns:a16="http://schemas.microsoft.com/office/drawing/2014/main" id="{012523DC-41A1-4F37-96A5-3BF6D086345E}"/>
                </a:ext>
              </a:extLst>
            </p:cNvPr>
            <p:cNvSpPr/>
            <p:nvPr/>
          </p:nvSpPr>
          <p:spPr>
            <a:xfrm>
              <a:off x="9133684" y="3345450"/>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69" name="Textfeld 168">
              <a:extLst>
                <a:ext uri="{FF2B5EF4-FFF2-40B4-BE49-F238E27FC236}">
                  <a16:creationId xmlns:a16="http://schemas.microsoft.com/office/drawing/2014/main" id="{2A6903A6-8344-47DB-BC0C-FDA3974F6688}"/>
                </a:ext>
              </a:extLst>
            </p:cNvPr>
            <p:cNvSpPr txBox="1"/>
            <p:nvPr/>
          </p:nvSpPr>
          <p:spPr>
            <a:xfrm>
              <a:off x="9307494" y="3397597"/>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a:t>
              </a:r>
            </a:p>
          </p:txBody>
        </p:sp>
        <p:sp>
          <p:nvSpPr>
            <p:cNvPr id="170" name="Textfeld 169">
              <a:extLst>
                <a:ext uri="{FF2B5EF4-FFF2-40B4-BE49-F238E27FC236}">
                  <a16:creationId xmlns:a16="http://schemas.microsoft.com/office/drawing/2014/main" id="{39822243-8E7F-4DAA-AEE8-0CD2C1D19FE3}"/>
                </a:ext>
              </a:extLst>
            </p:cNvPr>
            <p:cNvSpPr txBox="1"/>
            <p:nvPr/>
          </p:nvSpPr>
          <p:spPr>
            <a:xfrm>
              <a:off x="9307494" y="3624376"/>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171" name="Textfeld 170">
              <a:extLst>
                <a:ext uri="{FF2B5EF4-FFF2-40B4-BE49-F238E27FC236}">
                  <a16:creationId xmlns:a16="http://schemas.microsoft.com/office/drawing/2014/main" id="{9374910D-A2D5-4890-8C50-DD73D1B5F9F0}"/>
                </a:ext>
              </a:extLst>
            </p:cNvPr>
            <p:cNvSpPr txBox="1"/>
            <p:nvPr/>
          </p:nvSpPr>
          <p:spPr>
            <a:xfrm>
              <a:off x="9355933" y="3024000"/>
              <a:ext cx="354082"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t>
              </a:r>
            </a:p>
          </p:txBody>
        </p:sp>
      </p:grpSp>
      <p:grpSp>
        <p:nvGrpSpPr>
          <p:cNvPr id="172" name="Gruppieren 171">
            <a:extLst>
              <a:ext uri="{FF2B5EF4-FFF2-40B4-BE49-F238E27FC236}">
                <a16:creationId xmlns:a16="http://schemas.microsoft.com/office/drawing/2014/main" id="{FFC3C837-E453-4C18-A3A8-FDD902AA2FCE}"/>
              </a:ext>
            </a:extLst>
          </p:cNvPr>
          <p:cNvGrpSpPr/>
          <p:nvPr/>
        </p:nvGrpSpPr>
        <p:grpSpPr>
          <a:xfrm>
            <a:off x="3599893" y="3422297"/>
            <a:ext cx="655730" cy="775377"/>
            <a:chOff x="9856482" y="2755709"/>
            <a:chExt cx="822029" cy="972020"/>
          </a:xfrm>
        </p:grpSpPr>
        <p:sp>
          <p:nvSpPr>
            <p:cNvPr id="173" name="Rechteck 172">
              <a:extLst>
                <a:ext uri="{FF2B5EF4-FFF2-40B4-BE49-F238E27FC236}">
                  <a16:creationId xmlns:a16="http://schemas.microsoft.com/office/drawing/2014/main" id="{CD63529F-2CBD-4109-96BF-281C1920E76F}"/>
                </a:ext>
              </a:extLst>
            </p:cNvPr>
            <p:cNvSpPr/>
            <p:nvPr/>
          </p:nvSpPr>
          <p:spPr>
            <a:xfrm>
              <a:off x="9856482" y="2755709"/>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74" name="Textfeld 173">
              <a:extLst>
                <a:ext uri="{FF2B5EF4-FFF2-40B4-BE49-F238E27FC236}">
                  <a16:creationId xmlns:a16="http://schemas.microsoft.com/office/drawing/2014/main" id="{D2911B2D-23A2-4D04-88C0-522C825A9F2D}"/>
                </a:ext>
              </a:extLst>
            </p:cNvPr>
            <p:cNvSpPr txBox="1"/>
            <p:nvPr/>
          </p:nvSpPr>
          <p:spPr>
            <a:xfrm>
              <a:off x="10030294" y="2807858"/>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a:t>
              </a:r>
            </a:p>
          </p:txBody>
        </p:sp>
        <p:sp>
          <p:nvSpPr>
            <p:cNvPr id="175" name="Textfeld 174">
              <a:extLst>
                <a:ext uri="{FF2B5EF4-FFF2-40B4-BE49-F238E27FC236}">
                  <a16:creationId xmlns:a16="http://schemas.microsoft.com/office/drawing/2014/main" id="{8E8C7CFF-F7B4-46CA-ADB1-7D99986B4F9D}"/>
                </a:ext>
              </a:extLst>
            </p:cNvPr>
            <p:cNvSpPr txBox="1"/>
            <p:nvPr/>
          </p:nvSpPr>
          <p:spPr>
            <a:xfrm>
              <a:off x="10030294" y="3036097"/>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176" name="Textfeld 175">
              <a:extLst>
                <a:ext uri="{FF2B5EF4-FFF2-40B4-BE49-F238E27FC236}">
                  <a16:creationId xmlns:a16="http://schemas.microsoft.com/office/drawing/2014/main" id="{DA52D198-D1D1-4D21-9CC0-5780A83E9B20}"/>
                </a:ext>
              </a:extLst>
            </p:cNvPr>
            <p:cNvSpPr txBox="1"/>
            <p:nvPr/>
          </p:nvSpPr>
          <p:spPr>
            <a:xfrm>
              <a:off x="10095479" y="3409418"/>
              <a:ext cx="344034"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a:t>
              </a:r>
            </a:p>
          </p:txBody>
        </p:sp>
      </p:grpSp>
      <p:grpSp>
        <p:nvGrpSpPr>
          <p:cNvPr id="177" name="Gruppieren 176">
            <a:extLst>
              <a:ext uri="{FF2B5EF4-FFF2-40B4-BE49-F238E27FC236}">
                <a16:creationId xmlns:a16="http://schemas.microsoft.com/office/drawing/2014/main" id="{FCCFF3FE-1C4F-4BA2-B827-E58BE5228E96}"/>
              </a:ext>
            </a:extLst>
          </p:cNvPr>
          <p:cNvGrpSpPr/>
          <p:nvPr/>
        </p:nvGrpSpPr>
        <p:grpSpPr>
          <a:xfrm>
            <a:off x="4176464" y="3594595"/>
            <a:ext cx="655730" cy="768286"/>
            <a:chOff x="10579278" y="2550076"/>
            <a:chExt cx="822029" cy="963130"/>
          </a:xfrm>
        </p:grpSpPr>
        <p:sp>
          <p:nvSpPr>
            <p:cNvPr id="178" name="Rechteck 177">
              <a:extLst>
                <a:ext uri="{FF2B5EF4-FFF2-40B4-BE49-F238E27FC236}">
                  <a16:creationId xmlns:a16="http://schemas.microsoft.com/office/drawing/2014/main" id="{CE0A5F96-7522-4EA7-B645-FA1D7D2D2676}"/>
                </a:ext>
              </a:extLst>
            </p:cNvPr>
            <p:cNvSpPr/>
            <p:nvPr/>
          </p:nvSpPr>
          <p:spPr>
            <a:xfrm>
              <a:off x="10579278" y="2550076"/>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79" name="Textfeld 178">
              <a:extLst>
                <a:ext uri="{FF2B5EF4-FFF2-40B4-BE49-F238E27FC236}">
                  <a16:creationId xmlns:a16="http://schemas.microsoft.com/office/drawing/2014/main" id="{47A0E9C3-6CDC-4D45-9AE8-A9EBBE0DE947}"/>
                </a:ext>
              </a:extLst>
            </p:cNvPr>
            <p:cNvSpPr txBox="1"/>
            <p:nvPr/>
          </p:nvSpPr>
          <p:spPr>
            <a:xfrm>
              <a:off x="10771238" y="2602222"/>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a:t>
              </a:r>
            </a:p>
          </p:txBody>
        </p:sp>
        <p:sp>
          <p:nvSpPr>
            <p:cNvPr id="180" name="Textfeld 179">
              <a:extLst>
                <a:ext uri="{FF2B5EF4-FFF2-40B4-BE49-F238E27FC236}">
                  <a16:creationId xmlns:a16="http://schemas.microsoft.com/office/drawing/2014/main" id="{1FE78B81-F30E-44E1-BEDD-F9336D538317}"/>
                </a:ext>
              </a:extLst>
            </p:cNvPr>
            <p:cNvSpPr txBox="1"/>
            <p:nvPr/>
          </p:nvSpPr>
          <p:spPr>
            <a:xfrm>
              <a:off x="10771238" y="2825372"/>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6</a:t>
              </a:r>
            </a:p>
          </p:txBody>
        </p:sp>
        <p:sp>
          <p:nvSpPr>
            <p:cNvPr id="181" name="Textfeld 180">
              <a:extLst>
                <a:ext uri="{FF2B5EF4-FFF2-40B4-BE49-F238E27FC236}">
                  <a16:creationId xmlns:a16="http://schemas.microsoft.com/office/drawing/2014/main" id="{CCCD44B0-31B5-41B9-B4B2-D0F635FABA30}"/>
                </a:ext>
              </a:extLst>
            </p:cNvPr>
            <p:cNvSpPr txBox="1"/>
            <p:nvPr/>
          </p:nvSpPr>
          <p:spPr>
            <a:xfrm>
              <a:off x="10836030" y="3194895"/>
              <a:ext cx="344034"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a:t>
              </a:r>
            </a:p>
          </p:txBody>
        </p:sp>
      </p:grpSp>
      <p:cxnSp>
        <p:nvCxnSpPr>
          <p:cNvPr id="182" name="Gerade Verbindung mit Pfeil 181">
            <a:extLst>
              <a:ext uri="{FF2B5EF4-FFF2-40B4-BE49-F238E27FC236}">
                <a16:creationId xmlns:a16="http://schemas.microsoft.com/office/drawing/2014/main" id="{E6EE5ADD-1E0A-4684-89DC-57FDE259A9A3}"/>
              </a:ext>
            </a:extLst>
          </p:cNvPr>
          <p:cNvCxnSpPr>
            <a:cxnSpLocks/>
          </p:cNvCxnSpPr>
          <p:nvPr/>
        </p:nvCxnSpPr>
        <p:spPr>
          <a:xfrm>
            <a:off x="1143577" y="2741161"/>
            <a:ext cx="373322" cy="119603"/>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cxnSp>
        <p:nvCxnSpPr>
          <p:cNvPr id="183" name="Gerade Verbindung mit Pfeil 182">
            <a:extLst>
              <a:ext uri="{FF2B5EF4-FFF2-40B4-BE49-F238E27FC236}">
                <a16:creationId xmlns:a16="http://schemas.microsoft.com/office/drawing/2014/main" id="{5D2A8335-8D59-4E79-B914-167090F1D8D4}"/>
              </a:ext>
            </a:extLst>
          </p:cNvPr>
          <p:cNvCxnSpPr>
            <a:cxnSpLocks/>
          </p:cNvCxnSpPr>
          <p:nvPr/>
        </p:nvCxnSpPr>
        <p:spPr>
          <a:xfrm>
            <a:off x="2283434" y="3105591"/>
            <a:ext cx="399056" cy="310596"/>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cxnSp>
        <p:nvCxnSpPr>
          <p:cNvPr id="184" name="Gerade Verbindung mit Pfeil 183">
            <a:extLst>
              <a:ext uri="{FF2B5EF4-FFF2-40B4-BE49-F238E27FC236}">
                <a16:creationId xmlns:a16="http://schemas.microsoft.com/office/drawing/2014/main" id="{2FB383C1-5F74-41EE-ACDF-D00439D8B8AD}"/>
              </a:ext>
            </a:extLst>
          </p:cNvPr>
          <p:cNvCxnSpPr>
            <a:cxnSpLocks/>
          </p:cNvCxnSpPr>
          <p:nvPr/>
        </p:nvCxnSpPr>
        <p:spPr>
          <a:xfrm flipV="1">
            <a:off x="2852781" y="3408910"/>
            <a:ext cx="395099" cy="23509"/>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cxnSp>
        <p:nvCxnSpPr>
          <p:cNvPr id="185" name="Gerade Verbindung mit Pfeil 184">
            <a:extLst>
              <a:ext uri="{FF2B5EF4-FFF2-40B4-BE49-F238E27FC236}">
                <a16:creationId xmlns:a16="http://schemas.microsoft.com/office/drawing/2014/main" id="{F5F79C93-2D83-468C-82B7-F20354293B6C}"/>
              </a:ext>
            </a:extLst>
          </p:cNvPr>
          <p:cNvCxnSpPr>
            <a:cxnSpLocks/>
          </p:cNvCxnSpPr>
          <p:nvPr/>
        </p:nvCxnSpPr>
        <p:spPr>
          <a:xfrm>
            <a:off x="4003633" y="3782228"/>
            <a:ext cx="403565" cy="129846"/>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cxnSp>
        <p:nvCxnSpPr>
          <p:cNvPr id="186" name="Gerade Verbindung mit Pfeil 185">
            <a:extLst>
              <a:ext uri="{FF2B5EF4-FFF2-40B4-BE49-F238E27FC236}">
                <a16:creationId xmlns:a16="http://schemas.microsoft.com/office/drawing/2014/main" id="{E49E5C2F-5B70-4257-8358-B05D82C7159E}"/>
              </a:ext>
            </a:extLst>
          </p:cNvPr>
          <p:cNvCxnSpPr>
            <a:cxnSpLocks/>
          </p:cNvCxnSpPr>
          <p:nvPr/>
        </p:nvCxnSpPr>
        <p:spPr>
          <a:xfrm>
            <a:off x="1712551" y="2911193"/>
            <a:ext cx="373322" cy="119603"/>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cxnSp>
        <p:nvCxnSpPr>
          <p:cNvPr id="187" name="Gerade Verbindung mit Pfeil 186">
            <a:extLst>
              <a:ext uri="{FF2B5EF4-FFF2-40B4-BE49-F238E27FC236}">
                <a16:creationId xmlns:a16="http://schemas.microsoft.com/office/drawing/2014/main" id="{3EC89663-4597-4139-A61B-5758BB35EC8F}"/>
              </a:ext>
            </a:extLst>
          </p:cNvPr>
          <p:cNvCxnSpPr>
            <a:cxnSpLocks/>
          </p:cNvCxnSpPr>
          <p:nvPr/>
        </p:nvCxnSpPr>
        <p:spPr>
          <a:xfrm>
            <a:off x="3446165" y="3427126"/>
            <a:ext cx="399056" cy="310596"/>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pic>
        <p:nvPicPr>
          <p:cNvPr id="206" name="Grafik 205">
            <a:extLst>
              <a:ext uri="{FF2B5EF4-FFF2-40B4-BE49-F238E27FC236}">
                <a16:creationId xmlns:a16="http://schemas.microsoft.com/office/drawing/2014/main" id="{6426EF9C-FA9F-4462-BC93-D3E47E53445B}"/>
              </a:ext>
            </a:extLst>
          </p:cNvPr>
          <p:cNvPicPr>
            <a:picLocks noChangeAspect="1"/>
          </p:cNvPicPr>
          <p:nvPr/>
        </p:nvPicPr>
        <p:blipFill>
          <a:blip r:embed="rId4"/>
          <a:stretch>
            <a:fillRect/>
          </a:stretch>
        </p:blipFill>
        <p:spPr>
          <a:xfrm>
            <a:off x="3883880" y="2023557"/>
            <a:ext cx="585141" cy="491822"/>
          </a:xfrm>
          <a:prstGeom prst="rect">
            <a:avLst/>
          </a:prstGeom>
        </p:spPr>
      </p:pic>
      <p:sp>
        <p:nvSpPr>
          <p:cNvPr id="63" name="Textfeld 69">
            <a:extLst>
              <a:ext uri="{FF2B5EF4-FFF2-40B4-BE49-F238E27FC236}">
                <a16:creationId xmlns:a16="http://schemas.microsoft.com/office/drawing/2014/main" id="{53F9B684-A2EB-4A7B-9BDD-53EAEE70732A}"/>
              </a:ext>
            </a:extLst>
          </p:cNvPr>
          <p:cNvSpPr txBox="1"/>
          <p:nvPr/>
        </p:nvSpPr>
        <p:spPr>
          <a:xfrm>
            <a:off x="3621764" y="1619979"/>
            <a:ext cx="1141581" cy="457507"/>
          </a:xfrm>
          <a:prstGeom prst="rect">
            <a:avLst/>
          </a:prstGeom>
        </p:spPr>
        <p:txBody>
          <a:bodyPr vert="horz" wrap="square" lIns="0" tIns="0" rIns="0" bIns="0" rtlCol="0" anchor="t" anchorCtr="0">
            <a:noAutofit/>
          </a:bodyPr>
          <a:lstStyle>
            <a:defPPr>
              <a:defRPr lang="de-DE"/>
            </a:defPPr>
            <a:lvl1pPr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1pPr>
            <a:lvl2pPr marL="2087563" indent="-1630363"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2pPr>
            <a:lvl3pPr marL="4175125" indent="-3260725"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3pPr>
            <a:lvl4pPr marL="6262688" indent="-4891088"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4pPr>
            <a:lvl5pPr marL="8350250" indent="-6521450"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5pPr>
            <a:lvl6pPr marL="2286000" algn="l" defTabSz="914400" rtl="0" eaLnBrk="1" latinLnBrk="0" hangingPunct="1">
              <a:defRPr sz="8200" kern="1200">
                <a:solidFill>
                  <a:schemeClr val="tx1"/>
                </a:solidFill>
                <a:latin typeface="Arial" panose="020B0604020202020204" pitchFamily="34" charset="0"/>
                <a:ea typeface="Geneva" pitchFamily="50" charset="-128"/>
                <a:cs typeface="+mn-cs"/>
              </a:defRPr>
            </a:lvl6pPr>
            <a:lvl7pPr marL="2743200" algn="l" defTabSz="914400" rtl="0" eaLnBrk="1" latinLnBrk="0" hangingPunct="1">
              <a:defRPr sz="8200" kern="1200">
                <a:solidFill>
                  <a:schemeClr val="tx1"/>
                </a:solidFill>
                <a:latin typeface="Arial" panose="020B0604020202020204" pitchFamily="34" charset="0"/>
                <a:ea typeface="Geneva" pitchFamily="50" charset="-128"/>
                <a:cs typeface="+mn-cs"/>
              </a:defRPr>
            </a:lvl7pPr>
            <a:lvl8pPr marL="3200400" algn="l" defTabSz="914400" rtl="0" eaLnBrk="1" latinLnBrk="0" hangingPunct="1">
              <a:defRPr sz="8200" kern="1200">
                <a:solidFill>
                  <a:schemeClr val="tx1"/>
                </a:solidFill>
                <a:latin typeface="Arial" panose="020B0604020202020204" pitchFamily="34" charset="0"/>
                <a:ea typeface="Geneva" pitchFamily="50" charset="-128"/>
                <a:cs typeface="+mn-cs"/>
              </a:defRPr>
            </a:lvl8pPr>
            <a:lvl9pPr marL="3657600" algn="l" defTabSz="914400" rtl="0" eaLnBrk="1" latinLnBrk="0" hangingPunct="1">
              <a:defRPr sz="8200" kern="1200">
                <a:solidFill>
                  <a:schemeClr val="tx1"/>
                </a:solidFill>
                <a:latin typeface="Arial" panose="020B0604020202020204" pitchFamily="34" charset="0"/>
                <a:ea typeface="Geneva" pitchFamily="50" charset="-128"/>
                <a:cs typeface="+mn-cs"/>
              </a:defRPr>
            </a:lvl9pPr>
          </a:lstStyle>
          <a:p>
            <a:pPr marL="0" marR="0" lvl="0" indent="0" algn="ctr" defTabSz="1565873"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rPr>
              <a:t>Key press indicates task </a:t>
            </a:r>
            <a:r>
              <a:rPr kumimoji="0" lang="en-US" sz="900" b="1" i="0" u="none" strike="noStrike" kern="1200" cap="none" spc="0" normalizeH="0" baseline="0" noProof="0">
                <a:ln>
                  <a:noFill/>
                </a:ln>
                <a:solidFill>
                  <a:srgbClr val="9D7B0F"/>
                </a:solidFill>
                <a:effectLst/>
                <a:uLnTx/>
                <a:uFillTx/>
                <a:latin typeface="Arial" panose="020B0604020202020204" pitchFamily="34" charset="0"/>
                <a:ea typeface="Geneva" pitchFamily="50" charset="-128"/>
                <a:cs typeface="Arial" panose="020B0604020202020204" pitchFamily="34" charset="0"/>
              </a:rPr>
              <a:t>choice</a:t>
            </a:r>
            <a:r>
              <a:rPr kumimoji="0" lang="en-US" sz="900"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rPr>
              <a:t> and task </a:t>
            </a:r>
            <a:r>
              <a:rPr kumimoji="0" lang="en-US" sz="900" b="1" i="0" u="none" strike="noStrike" kern="1200" cap="none" spc="0" normalizeH="0" baseline="0" noProof="0">
                <a:ln>
                  <a:noFill/>
                </a:ln>
                <a:solidFill>
                  <a:srgbClr val="9D7B0F"/>
                </a:solidFill>
                <a:effectLst/>
                <a:uLnTx/>
                <a:uFillTx/>
                <a:latin typeface="Arial" panose="020B0604020202020204" pitchFamily="34" charset="0"/>
                <a:ea typeface="Geneva" pitchFamily="50" charset="-128"/>
                <a:cs typeface="Arial" panose="020B0604020202020204" pitchFamily="34" charset="0"/>
              </a:rPr>
              <a:t>performance</a:t>
            </a:r>
          </a:p>
        </p:txBody>
      </p:sp>
      <p:sp>
        <p:nvSpPr>
          <p:cNvPr id="64" name="Textfeld 69">
            <a:extLst>
              <a:ext uri="{FF2B5EF4-FFF2-40B4-BE49-F238E27FC236}">
                <a16:creationId xmlns:a16="http://schemas.microsoft.com/office/drawing/2014/main" id="{48E44006-FF3A-4EAF-B8B0-F8AD44A20E2B}"/>
              </a:ext>
            </a:extLst>
          </p:cNvPr>
          <p:cNvSpPr txBox="1"/>
          <p:nvPr/>
        </p:nvSpPr>
        <p:spPr>
          <a:xfrm>
            <a:off x="737807" y="1653560"/>
            <a:ext cx="966623" cy="512604"/>
          </a:xfrm>
          <a:prstGeom prst="rect">
            <a:avLst/>
          </a:prstGeom>
        </p:spPr>
        <p:txBody>
          <a:bodyPr vert="horz" wrap="square" lIns="54000" tIns="0" rIns="0" bIns="0" rtlCol="0" anchor="t" anchorCtr="0">
            <a:noAutofit/>
          </a:bodyPr>
          <a:lstStyle>
            <a:defPPr>
              <a:defRPr lang="de-DE"/>
            </a:defPPr>
            <a:lvl1pPr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1pPr>
            <a:lvl2pPr marL="2087563" indent="-1630363"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2pPr>
            <a:lvl3pPr marL="4175125" indent="-3260725"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3pPr>
            <a:lvl4pPr marL="6262688" indent="-4891088"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4pPr>
            <a:lvl5pPr marL="8350250" indent="-6521450"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5pPr>
            <a:lvl6pPr marL="2286000" algn="l" defTabSz="914400" rtl="0" eaLnBrk="1" latinLnBrk="0" hangingPunct="1">
              <a:defRPr sz="8200" kern="1200">
                <a:solidFill>
                  <a:schemeClr val="tx1"/>
                </a:solidFill>
                <a:latin typeface="Arial" panose="020B0604020202020204" pitchFamily="34" charset="0"/>
                <a:ea typeface="Geneva" pitchFamily="50" charset="-128"/>
                <a:cs typeface="+mn-cs"/>
              </a:defRPr>
            </a:lvl6pPr>
            <a:lvl7pPr marL="2743200" algn="l" defTabSz="914400" rtl="0" eaLnBrk="1" latinLnBrk="0" hangingPunct="1">
              <a:defRPr sz="8200" kern="1200">
                <a:solidFill>
                  <a:schemeClr val="tx1"/>
                </a:solidFill>
                <a:latin typeface="Arial" panose="020B0604020202020204" pitchFamily="34" charset="0"/>
                <a:ea typeface="Geneva" pitchFamily="50" charset="-128"/>
                <a:cs typeface="+mn-cs"/>
              </a:defRPr>
            </a:lvl7pPr>
            <a:lvl8pPr marL="3200400" algn="l" defTabSz="914400" rtl="0" eaLnBrk="1" latinLnBrk="0" hangingPunct="1">
              <a:defRPr sz="8200" kern="1200">
                <a:solidFill>
                  <a:schemeClr val="tx1"/>
                </a:solidFill>
                <a:latin typeface="Arial" panose="020B0604020202020204" pitchFamily="34" charset="0"/>
                <a:ea typeface="Geneva" pitchFamily="50" charset="-128"/>
                <a:cs typeface="+mn-cs"/>
              </a:defRPr>
            </a:lvl8pPr>
            <a:lvl9pPr marL="3657600" algn="l" defTabSz="914400" rtl="0" eaLnBrk="1" latinLnBrk="0" hangingPunct="1">
              <a:defRPr sz="8200" kern="1200">
                <a:solidFill>
                  <a:schemeClr val="tx1"/>
                </a:solidFill>
                <a:latin typeface="Arial" panose="020B0604020202020204" pitchFamily="34" charset="0"/>
                <a:ea typeface="Geneva" pitchFamily="50" charset="-128"/>
                <a:cs typeface="+mn-cs"/>
              </a:defRPr>
            </a:lvl9pPr>
          </a:lstStyle>
          <a:p>
            <a:pPr marL="0" marR="0" lvl="0" indent="0" algn="l" defTabSz="1565873" rtl="0" eaLnBrk="1" fontAlgn="auto" latinLnBrk="0" hangingPunct="1">
              <a:lnSpc>
                <a:spcPct val="100000"/>
              </a:lnSpc>
              <a:spcBef>
                <a:spcPct val="0"/>
              </a:spcBef>
              <a:spcAft>
                <a:spcPts val="0"/>
              </a:spcAft>
              <a:buClrTx/>
              <a:buSzTx/>
              <a:buFontTx/>
              <a:buNone/>
              <a:tabLst/>
              <a:defRPr/>
            </a:pPr>
            <a:r>
              <a:rPr kumimoji="0" lang="en-US" sz="900" b="1" i="0" u="none" strike="noStrike" kern="1200" cap="none" spc="0" normalizeH="0" baseline="0" noProof="0">
                <a:ln>
                  <a:noFill/>
                </a:ln>
                <a:solidFill>
                  <a:srgbClr val="9D7B0F"/>
                </a:solidFill>
                <a:effectLst/>
                <a:uLnTx/>
                <a:uFillTx/>
                <a:latin typeface="Arial" panose="020B0604020202020204" pitchFamily="34" charset="0"/>
                <a:ea typeface="Geneva" pitchFamily="50" charset="-128"/>
                <a:cs typeface="Arial" panose="020B0604020202020204" pitchFamily="34" charset="0"/>
              </a:rPr>
              <a:t>Stimuli remain</a:t>
            </a:r>
          </a:p>
          <a:p>
            <a:pPr marL="0" marR="0" lvl="0" indent="0" algn="l" defTabSz="1565873"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rPr>
              <a:t>until a task-specific keypress</a:t>
            </a:r>
          </a:p>
        </p:txBody>
      </p:sp>
      <p:sp>
        <p:nvSpPr>
          <p:cNvPr id="65" name="Textfeld 64">
            <a:extLst>
              <a:ext uri="{FF2B5EF4-FFF2-40B4-BE49-F238E27FC236}">
                <a16:creationId xmlns:a16="http://schemas.microsoft.com/office/drawing/2014/main" id="{F03436BD-EB1D-49E6-8BE7-0BF819AACCDB}"/>
              </a:ext>
            </a:extLst>
          </p:cNvPr>
          <p:cNvSpPr txBox="1"/>
          <p:nvPr/>
        </p:nvSpPr>
        <p:spPr>
          <a:xfrm>
            <a:off x="828630" y="3990178"/>
            <a:ext cx="2360381" cy="480254"/>
          </a:xfrm>
          <a:prstGeom prst="rect">
            <a:avLst/>
          </a:prstGeom>
        </p:spPr>
        <p:txBody>
          <a:bodyPr vert="horz" wrap="square" lIns="0" tIns="0" rIns="0" bIns="0" rtlCol="0" anchor="t" anchorCtr="0">
            <a:noAutofit/>
          </a:bodyPr>
          <a:lstStyle>
            <a:defPPr>
              <a:defRPr lang="de-DE"/>
            </a:defPPr>
            <a:lvl1pPr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1pPr>
            <a:lvl2pPr marL="2087563" indent="-1630363"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2pPr>
            <a:lvl3pPr marL="4175125" indent="-3260725"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3pPr>
            <a:lvl4pPr marL="6262688" indent="-4891088"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4pPr>
            <a:lvl5pPr marL="8350250" indent="-6521450"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5pPr>
            <a:lvl6pPr marL="2286000" algn="l" defTabSz="914400" rtl="0" eaLnBrk="1" latinLnBrk="0" hangingPunct="1">
              <a:defRPr sz="8200" kern="1200">
                <a:solidFill>
                  <a:schemeClr val="tx1"/>
                </a:solidFill>
                <a:latin typeface="Arial" panose="020B0604020202020204" pitchFamily="34" charset="0"/>
                <a:ea typeface="Geneva" pitchFamily="50" charset="-128"/>
                <a:cs typeface="+mn-cs"/>
              </a:defRPr>
            </a:lvl6pPr>
            <a:lvl7pPr marL="2743200" algn="l" defTabSz="914400" rtl="0" eaLnBrk="1" latinLnBrk="0" hangingPunct="1">
              <a:defRPr sz="8200" kern="1200">
                <a:solidFill>
                  <a:schemeClr val="tx1"/>
                </a:solidFill>
                <a:latin typeface="Arial" panose="020B0604020202020204" pitchFamily="34" charset="0"/>
                <a:ea typeface="Geneva" pitchFamily="50" charset="-128"/>
                <a:cs typeface="+mn-cs"/>
              </a:defRPr>
            </a:lvl7pPr>
            <a:lvl8pPr marL="3200400" algn="l" defTabSz="914400" rtl="0" eaLnBrk="1" latinLnBrk="0" hangingPunct="1">
              <a:defRPr sz="8200" kern="1200">
                <a:solidFill>
                  <a:schemeClr val="tx1"/>
                </a:solidFill>
                <a:latin typeface="Arial" panose="020B0604020202020204" pitchFamily="34" charset="0"/>
                <a:ea typeface="Geneva" pitchFamily="50" charset="-128"/>
                <a:cs typeface="+mn-cs"/>
              </a:defRPr>
            </a:lvl8pPr>
            <a:lvl9pPr marL="3657600" algn="l" defTabSz="914400" rtl="0" eaLnBrk="1" latinLnBrk="0" hangingPunct="1">
              <a:defRPr sz="8200" kern="1200">
                <a:solidFill>
                  <a:schemeClr val="tx1"/>
                </a:solidFill>
                <a:latin typeface="Arial" panose="020B0604020202020204" pitchFamily="34" charset="0"/>
                <a:ea typeface="Geneva" pitchFamily="50" charset="-128"/>
                <a:cs typeface="+mn-cs"/>
              </a:defRPr>
            </a:lvl9pPr>
          </a:lstStyle>
          <a:p>
            <a:pPr marL="0" marR="0" lvl="0" indent="0" algn="l" defTabSz="1565873" rtl="0" eaLnBrk="1" fontAlgn="auto" latinLnBrk="0" hangingPunct="1">
              <a:lnSpc>
                <a:spcPct val="100000"/>
              </a:lnSpc>
              <a:spcBef>
                <a:spcPct val="0"/>
              </a:spcBef>
              <a:spcAft>
                <a:spcPts val="0"/>
              </a:spcAft>
              <a:buClrTx/>
              <a:buSzTx/>
              <a:buFontTx/>
              <a:buNone/>
              <a:tabLst/>
              <a:defRPr/>
            </a:pPr>
            <a:r>
              <a:rPr kumimoji="0" lang="en-US" sz="900" b="1" i="0" u="none" strike="noStrike" kern="1200" cap="none" spc="0" normalizeH="0" baseline="0" noProof="0">
                <a:ln>
                  <a:noFill/>
                </a:ln>
                <a:solidFill>
                  <a:srgbClr val="9D7B0F"/>
                </a:solidFill>
                <a:effectLst/>
                <a:uLnTx/>
                <a:uFillTx/>
                <a:latin typeface="Arial" panose="020B0604020202020204" pitchFamily="34" charset="0"/>
                <a:ea typeface="Geneva" pitchFamily="50" charset="-128"/>
                <a:cs typeface="Arial" panose="020B0604020202020204" pitchFamily="34" charset="0"/>
              </a:rPr>
              <a:t>Continuous presentation of non-chosen task </a:t>
            </a:r>
            <a:r>
              <a:rPr kumimoji="0" lang="en-US" sz="900"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rPr>
              <a:t>allows for </a:t>
            </a:r>
            <a:r>
              <a:rPr kumimoji="0" lang="en-US" sz="900" b="1" i="0" u="none" strike="noStrike" kern="1200" cap="none" spc="0" normalizeH="0" baseline="0" noProof="0">
                <a:ln>
                  <a:noFill/>
                </a:ln>
                <a:solidFill>
                  <a:srgbClr val="9D7B0F"/>
                </a:solidFill>
                <a:effectLst/>
                <a:uLnTx/>
                <a:uFillTx/>
                <a:latin typeface="Arial" panose="020B0604020202020204" pitchFamily="34" charset="0"/>
                <a:ea typeface="Geneva" pitchFamily="50" charset="-128"/>
                <a:cs typeface="Arial" panose="020B0604020202020204" pitchFamily="34" charset="0"/>
              </a:rPr>
              <a:t>parallel processing </a:t>
            </a:r>
            <a:r>
              <a:rPr kumimoji="0" lang="en-US" sz="900"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rPr>
              <a:t>(can be used as preview for self-initiated task switch)</a:t>
            </a:r>
          </a:p>
          <a:p>
            <a:pPr marL="0" marR="0" lvl="0" indent="0" algn="ctr" defTabSz="1565873" rtl="0" eaLnBrk="1" fontAlgn="auto" latinLnBrk="0" hangingPunct="1">
              <a:lnSpc>
                <a:spcPct val="100000"/>
              </a:lnSpc>
              <a:spcBef>
                <a:spcPct val="0"/>
              </a:spcBef>
              <a:spcAft>
                <a:spcPts val="0"/>
              </a:spcAft>
              <a:buClrTx/>
              <a:buSzTx/>
              <a:buFontTx/>
              <a:buNone/>
              <a:tabLst/>
              <a:defRPr/>
            </a:pPr>
            <a:endParaRPr kumimoji="0" lang="en-US" sz="825"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endParaRPr>
          </a:p>
        </p:txBody>
      </p:sp>
      <p:sp>
        <p:nvSpPr>
          <p:cNvPr id="67" name="Right Brace 26">
            <a:extLst>
              <a:ext uri="{FF2B5EF4-FFF2-40B4-BE49-F238E27FC236}">
                <a16:creationId xmlns:a16="http://schemas.microsoft.com/office/drawing/2014/main" id="{3E29EFF1-836D-444A-ABED-4AC3501C0A6A}"/>
              </a:ext>
            </a:extLst>
          </p:cNvPr>
          <p:cNvSpPr/>
          <p:nvPr/>
        </p:nvSpPr>
        <p:spPr>
          <a:xfrm rot="5400000">
            <a:off x="1726878" y="2734009"/>
            <a:ext cx="230833" cy="2172967"/>
          </a:xfrm>
          <a:prstGeom prst="rightBrace">
            <a:avLst>
              <a:gd name="adj1" fmla="val 39896"/>
              <a:gd name="adj2" fmla="val 50605"/>
            </a:avLst>
          </a:prstGeom>
          <a:noFill/>
          <a:ln w="635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25000" noProof="0">
              <a:ln>
                <a:noFill/>
              </a:ln>
              <a:solidFill>
                <a:prstClr val="black"/>
              </a:solidFill>
              <a:effectLst/>
              <a:uLnTx/>
              <a:uFillTx/>
              <a:latin typeface="Calibri" panose="020F0502020204030204"/>
              <a:ea typeface="+mn-ea"/>
              <a:cs typeface="+mn-cs"/>
            </a:endParaRPr>
          </a:p>
        </p:txBody>
      </p:sp>
      <p:cxnSp>
        <p:nvCxnSpPr>
          <p:cNvPr id="5" name="Gerader Verbinder 4">
            <a:extLst>
              <a:ext uri="{FF2B5EF4-FFF2-40B4-BE49-F238E27FC236}">
                <a16:creationId xmlns:a16="http://schemas.microsoft.com/office/drawing/2014/main" id="{3603D00B-CD7C-45C4-806C-41819D05EBC3}"/>
              </a:ext>
            </a:extLst>
          </p:cNvPr>
          <p:cNvCxnSpPr>
            <a:cxnSpLocks/>
            <a:endCxn id="64" idx="1"/>
          </p:cNvCxnSpPr>
          <p:nvPr/>
        </p:nvCxnSpPr>
        <p:spPr>
          <a:xfrm flipV="1">
            <a:off x="734164" y="1909862"/>
            <a:ext cx="3643" cy="117141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08972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D857FB-D4DA-4195-AE2D-EAD1A02B1B9D}"/>
              </a:ext>
            </a:extLst>
          </p:cNvPr>
          <p:cNvSpPr>
            <a:spLocks noGrp="1"/>
          </p:cNvSpPr>
          <p:nvPr>
            <p:ph type="title"/>
          </p:nvPr>
        </p:nvSpPr>
        <p:spPr/>
        <p:txBody>
          <a:bodyPr/>
          <a:lstStyle/>
          <a:p>
            <a:r>
              <a:rPr lang="de-DE"/>
              <a:t>Response </a:t>
            </a:r>
            <a:r>
              <a:rPr lang="de-DE" err="1"/>
              <a:t>Strategies</a:t>
            </a:r>
            <a:r>
              <a:rPr lang="de-DE"/>
              <a:t> – </a:t>
            </a:r>
            <a:r>
              <a:rPr lang="de-DE" err="1">
                <a:solidFill>
                  <a:srgbClr val="9D7B0F"/>
                </a:solidFill>
              </a:rPr>
              <a:t>Categorization</a:t>
            </a:r>
            <a:endParaRPr lang="en-US">
              <a:solidFill>
                <a:srgbClr val="9D7B0F"/>
              </a:solidFill>
            </a:endParaRPr>
          </a:p>
        </p:txBody>
      </p:sp>
      <p:sp>
        <p:nvSpPr>
          <p:cNvPr id="4" name="Foliennummernplatzhalter 3">
            <a:extLst>
              <a:ext uri="{FF2B5EF4-FFF2-40B4-BE49-F238E27FC236}">
                <a16:creationId xmlns:a16="http://schemas.microsoft.com/office/drawing/2014/main" id="{FE3E8B20-AFDE-4E30-B56F-10469739B956}"/>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30</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pSp>
        <p:nvGrpSpPr>
          <p:cNvPr id="17" name="Gruppieren 16">
            <a:extLst>
              <a:ext uri="{FF2B5EF4-FFF2-40B4-BE49-F238E27FC236}">
                <a16:creationId xmlns:a16="http://schemas.microsoft.com/office/drawing/2014/main" id="{19249E91-06BF-495C-87ED-3D225EC1DC54}"/>
              </a:ext>
            </a:extLst>
          </p:cNvPr>
          <p:cNvGrpSpPr/>
          <p:nvPr/>
        </p:nvGrpSpPr>
        <p:grpSpPr>
          <a:xfrm>
            <a:off x="441511" y="1123183"/>
            <a:ext cx="4606518" cy="2837520"/>
            <a:chOff x="979970" y="1532220"/>
            <a:chExt cx="9195601" cy="5548270"/>
          </a:xfrm>
        </p:grpSpPr>
        <p:pic>
          <p:nvPicPr>
            <p:cNvPr id="49" name="Grafik 48">
              <a:extLst>
                <a:ext uri="{FF2B5EF4-FFF2-40B4-BE49-F238E27FC236}">
                  <a16:creationId xmlns:a16="http://schemas.microsoft.com/office/drawing/2014/main" id="{E695D944-64E2-4AA9-88A3-3B504EBDECD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2730" r="1301" b="56871"/>
            <a:stretch/>
          </p:blipFill>
          <p:spPr>
            <a:xfrm>
              <a:off x="981621" y="1532221"/>
              <a:ext cx="4362620" cy="576062"/>
            </a:xfrm>
            <a:prstGeom prst="rect">
              <a:avLst/>
            </a:prstGeom>
          </p:spPr>
        </p:pic>
        <p:sp>
          <p:nvSpPr>
            <p:cNvPr id="71" name="Rechteck: abgerundete Ecken 70">
              <a:extLst>
                <a:ext uri="{FF2B5EF4-FFF2-40B4-BE49-F238E27FC236}">
                  <a16:creationId xmlns:a16="http://schemas.microsoft.com/office/drawing/2014/main" id="{F986A608-A8C3-44CF-B34F-E38F1BC9173B}"/>
                </a:ext>
              </a:extLst>
            </p:cNvPr>
            <p:cNvSpPr/>
            <p:nvPr/>
          </p:nvSpPr>
          <p:spPr>
            <a:xfrm>
              <a:off x="1029627" y="1532220"/>
              <a:ext cx="9145944" cy="576065"/>
            </a:xfrm>
            <a:prstGeom prst="roundRect">
              <a:avLst>
                <a:gd name="adj" fmla="val 0"/>
              </a:avLst>
            </a:prstGeom>
            <a:noFill/>
            <a:ln w="2857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pic>
          <p:nvPicPr>
            <p:cNvPr id="127" name="Grafik 126">
              <a:extLst>
                <a:ext uri="{FF2B5EF4-FFF2-40B4-BE49-F238E27FC236}">
                  <a16:creationId xmlns:a16="http://schemas.microsoft.com/office/drawing/2014/main" id="{8BA4E5C1-15D4-4069-B33F-B1866C745F4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3262" r="1301" b="33889"/>
            <a:stretch/>
          </p:blipFill>
          <p:spPr>
            <a:xfrm>
              <a:off x="979970" y="2886249"/>
              <a:ext cx="4362620" cy="645226"/>
            </a:xfrm>
            <a:prstGeom prst="rect">
              <a:avLst/>
            </a:prstGeom>
          </p:spPr>
        </p:pic>
        <p:pic>
          <p:nvPicPr>
            <p:cNvPr id="128" name="Grafik 127">
              <a:extLst>
                <a:ext uri="{FF2B5EF4-FFF2-40B4-BE49-F238E27FC236}">
                  <a16:creationId xmlns:a16="http://schemas.microsoft.com/office/drawing/2014/main" id="{51FB9D59-AEE7-4855-AB57-3D05E58C193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1" t="66304" r="1693" b="10847"/>
            <a:stretch/>
          </p:blipFill>
          <p:spPr>
            <a:xfrm>
              <a:off x="1029626" y="5180979"/>
              <a:ext cx="4312964" cy="645226"/>
            </a:xfrm>
            <a:prstGeom prst="rect">
              <a:avLst/>
            </a:prstGeom>
          </p:spPr>
        </p:pic>
        <p:sp>
          <p:nvSpPr>
            <p:cNvPr id="72" name="Rechteck: abgerundete Ecken 71">
              <a:extLst>
                <a:ext uri="{FF2B5EF4-FFF2-40B4-BE49-F238E27FC236}">
                  <a16:creationId xmlns:a16="http://schemas.microsoft.com/office/drawing/2014/main" id="{13A89B54-3CA3-45DD-A9BE-DC66CC9BA11A}"/>
                </a:ext>
              </a:extLst>
            </p:cNvPr>
            <p:cNvSpPr/>
            <p:nvPr/>
          </p:nvSpPr>
          <p:spPr>
            <a:xfrm>
              <a:off x="1029627" y="2108283"/>
              <a:ext cx="9145944" cy="4972207"/>
            </a:xfrm>
            <a:prstGeom prst="roundRect">
              <a:avLst>
                <a:gd name="adj" fmla="val 0"/>
              </a:avLst>
            </a:prstGeom>
            <a:noFill/>
            <a:ln w="2857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116" name="Grafik 115">
            <a:extLst>
              <a:ext uri="{FF2B5EF4-FFF2-40B4-BE49-F238E27FC236}">
                <a16:creationId xmlns:a16="http://schemas.microsoft.com/office/drawing/2014/main" id="{9ACA3BB0-F6C5-4926-A53C-1234CD551B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2905" y="2877607"/>
            <a:ext cx="4046220" cy="1748429"/>
          </a:xfrm>
          <a:prstGeom prst="rect">
            <a:avLst/>
          </a:prstGeom>
        </p:spPr>
      </p:pic>
      <p:sp>
        <p:nvSpPr>
          <p:cNvPr id="118" name="Inhaltsplatzhalter 2">
            <a:extLst>
              <a:ext uri="{FF2B5EF4-FFF2-40B4-BE49-F238E27FC236}">
                <a16:creationId xmlns:a16="http://schemas.microsoft.com/office/drawing/2014/main" id="{252545F3-BAEC-4F7E-BDEF-D6B730F15D40}"/>
              </a:ext>
            </a:extLst>
          </p:cNvPr>
          <p:cNvSpPr txBox="1">
            <a:spLocks/>
          </p:cNvSpPr>
          <p:nvPr/>
        </p:nvSpPr>
        <p:spPr bwMode="auto">
          <a:xfrm>
            <a:off x="2805453" y="1182797"/>
            <a:ext cx="2214246" cy="2885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lnSpc>
                <a:spcPts val="2200"/>
              </a:lnSpc>
              <a:spcBef>
                <a:spcPct val="0"/>
              </a:spcBef>
              <a:spcAft>
                <a:spcPct val="0"/>
              </a:spcAft>
              <a:defRPr sz="1400">
                <a:solidFill>
                  <a:srgbClr val="000000"/>
                </a:solidFill>
                <a:latin typeface="+mn-lt"/>
                <a:ea typeface="+mn-ea"/>
                <a:cs typeface="+mn-cs"/>
              </a:defRPr>
            </a:lvl1pPr>
            <a:lvl2pPr marL="784225" indent="-244475" algn="l" rtl="0" eaLnBrk="0" fontAlgn="base" hangingPunct="0">
              <a:spcBef>
                <a:spcPct val="20000"/>
              </a:spcBef>
              <a:spcAft>
                <a:spcPct val="0"/>
              </a:spcAft>
              <a:buFont typeface="Arial" panose="020B0604020202020204" pitchFamily="34" charset="0"/>
              <a:buChar char="–"/>
              <a:defRPr sz="1400">
                <a:solidFill>
                  <a:srgbClr val="000000"/>
                </a:solidFill>
                <a:latin typeface="+mn-lt"/>
              </a:defRPr>
            </a:lvl2pPr>
            <a:lvl3pPr marL="1192213"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400">
                <a:solidFill>
                  <a:schemeClr val="tx1"/>
                </a:solidFill>
                <a:latin typeface="+mn-lt"/>
              </a:defRPr>
            </a:lvl4pPr>
            <a:lvl5pPr marL="2057400" indent="-228600" algn="l" rtl="0" eaLnBrk="0" fontAlgn="base" hangingPunct="0">
              <a:spcBef>
                <a:spcPct val="20000"/>
              </a:spcBef>
              <a:spcAft>
                <a:spcPct val="0"/>
              </a:spcAft>
              <a:buChar char="»"/>
              <a:defRPr sz="14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r>
              <a:rPr kumimoji="0" lang="en-US" sz="1200" b="0" i="0" u="none" strike="noStrike" kern="0" cap="none" spc="0" normalizeH="0" baseline="0" noProof="0" dirty="0">
                <a:ln>
                  <a:noFill/>
                </a:ln>
                <a:solidFill>
                  <a:srgbClr val="000000"/>
                </a:solidFill>
                <a:effectLst/>
                <a:uLnTx/>
                <a:uFillTx/>
                <a:latin typeface="Arial"/>
                <a:ea typeface="+mn-ea"/>
                <a:cs typeface="+mn-cs"/>
              </a:rPr>
              <a:t>Blocker: Switch Rate &lt; 10 % </a:t>
            </a: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endParaRPr kumimoji="0" lang="en-US" sz="1200" b="0" i="0" u="none" strike="noStrike" kern="0" cap="none" spc="0" normalizeH="0" baseline="0" noProof="0" dirty="0">
              <a:ln>
                <a:noFill/>
              </a:ln>
              <a:solidFill>
                <a:srgbClr val="000000"/>
              </a:solidFill>
              <a:effectLst/>
              <a:uLnTx/>
              <a:uFillTx/>
              <a:latin typeface="Arial"/>
              <a:ea typeface="+mn-ea"/>
              <a:cs typeface="+mn-cs"/>
            </a:endParaRP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endParaRPr kumimoji="0" lang="en-US" sz="1200" b="0" i="0" u="none" strike="noStrike" kern="0" cap="none" spc="0" normalizeH="0" baseline="0" noProof="0" dirty="0">
              <a:ln>
                <a:noFill/>
              </a:ln>
              <a:solidFill>
                <a:srgbClr val="000000"/>
              </a:solidFill>
              <a:effectLst/>
              <a:uLnTx/>
              <a:uFillTx/>
              <a:latin typeface="Arial"/>
              <a:ea typeface="+mn-ea"/>
              <a:cs typeface="+mn-cs"/>
            </a:endParaRP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r>
              <a:rPr kumimoji="0" lang="en-US" sz="1200" b="0" i="0" u="none" strike="noStrike" kern="0" cap="none" spc="0" normalizeH="0" baseline="0" noProof="0" dirty="0">
                <a:ln>
                  <a:noFill/>
                </a:ln>
                <a:solidFill>
                  <a:srgbClr val="000000"/>
                </a:solidFill>
                <a:effectLst/>
                <a:uLnTx/>
                <a:uFillTx/>
                <a:latin typeface="Arial"/>
                <a:ea typeface="+mn-ea"/>
                <a:cs typeface="+mn-cs"/>
              </a:rPr>
              <a:t>Switcher: Switch Rate &gt; 10 % &amp; normally distributed response times in switch trials</a:t>
            </a: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endParaRPr kumimoji="0" lang="de-DE" sz="1200" b="0" i="0" u="none" strike="noStrike" kern="0" cap="none" spc="0" normalizeH="0" baseline="0" noProof="0" dirty="0">
              <a:ln>
                <a:noFill/>
              </a:ln>
              <a:solidFill>
                <a:srgbClr val="000000"/>
              </a:solidFill>
              <a:effectLst/>
              <a:uLnTx/>
              <a:uFillTx/>
              <a:latin typeface="Arial"/>
              <a:ea typeface="+mn-ea"/>
              <a:cs typeface="+mn-cs"/>
            </a:endParaRP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endParaRPr kumimoji="0" lang="de-DE" sz="1200" b="0" i="0" u="none" strike="noStrike" kern="0" cap="none" spc="0" normalizeH="0" baseline="0" noProof="0" dirty="0">
              <a:ln>
                <a:noFill/>
              </a:ln>
              <a:solidFill>
                <a:srgbClr val="000000"/>
              </a:solidFill>
              <a:effectLst/>
              <a:uLnTx/>
              <a:uFillTx/>
              <a:latin typeface="Arial"/>
              <a:ea typeface="+mn-ea"/>
              <a:cs typeface="+mn-cs"/>
            </a:endParaRP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r>
              <a:rPr kumimoji="0" lang="de-DE" sz="1200" b="0" i="0" u="none" strike="noStrike" kern="0" cap="none" spc="0" normalizeH="0" baseline="0" noProof="0" dirty="0">
                <a:ln>
                  <a:noFill/>
                </a:ln>
                <a:solidFill>
                  <a:srgbClr val="000000"/>
                </a:solidFill>
                <a:effectLst/>
                <a:uLnTx/>
                <a:uFillTx/>
                <a:latin typeface="Arial"/>
                <a:ea typeface="+mn-ea"/>
                <a:cs typeface="+mn-cs"/>
              </a:rPr>
              <a:t>R</a:t>
            </a:r>
            <a:r>
              <a:rPr kumimoji="0" lang="en-US" sz="1200" b="0" i="0" u="none" strike="noStrike" kern="0" cap="none" spc="0" normalizeH="0" baseline="0" noProof="0" dirty="0" err="1">
                <a:ln>
                  <a:noFill/>
                </a:ln>
                <a:solidFill>
                  <a:srgbClr val="000000"/>
                </a:solidFill>
                <a:effectLst/>
                <a:uLnTx/>
                <a:uFillTx/>
                <a:latin typeface="Arial"/>
                <a:ea typeface="+mn-ea"/>
                <a:cs typeface="+mn-cs"/>
              </a:rPr>
              <a:t>esponse</a:t>
            </a:r>
            <a:r>
              <a:rPr kumimoji="0" lang="en-US" sz="1200" b="0" i="0" u="none" strike="noStrike" kern="0" cap="none" spc="0" normalizeH="0" baseline="0" noProof="0" dirty="0">
                <a:ln>
                  <a:noFill/>
                </a:ln>
                <a:solidFill>
                  <a:srgbClr val="000000"/>
                </a:solidFill>
                <a:effectLst/>
                <a:uLnTx/>
                <a:uFillTx/>
                <a:latin typeface="Arial"/>
                <a:ea typeface="+mn-ea"/>
                <a:cs typeface="+mn-cs"/>
              </a:rPr>
              <a:t> Grouper: Switch Rate &gt; 50 % &amp; response times in switch trials show clear dichotomy</a:t>
            </a:r>
          </a:p>
          <a:p>
            <a:pPr marL="0" marR="0" lvl="0" indent="0" algn="l" defTabSz="685800" rtl="0" eaLnBrk="0" fontAlgn="base" latinLnBrk="0" hangingPunct="0">
              <a:lnSpc>
                <a:spcPts val="1650"/>
              </a:lnSpc>
              <a:spcBef>
                <a:spcPct val="0"/>
              </a:spcBef>
              <a:spcAft>
                <a:spcPct val="0"/>
              </a:spcAft>
              <a:buClrTx/>
              <a:buSzTx/>
              <a:buFontTx/>
              <a:buNone/>
              <a:tabLst/>
              <a:defRPr/>
            </a:pPr>
            <a:endParaRPr kumimoji="0" lang="de-DE" sz="1050" b="0" i="0" u="none" strike="noStrike" kern="0" cap="none" spc="0" normalizeH="0" baseline="0" noProof="0" dirty="0">
              <a:ln>
                <a:noFill/>
              </a:ln>
              <a:solidFill>
                <a:srgbClr val="000000"/>
              </a:solidFill>
              <a:effectLst/>
              <a:uLnTx/>
              <a:uFillTx/>
              <a:latin typeface="Arial"/>
              <a:ea typeface="+mn-ea"/>
              <a:cs typeface="+mn-cs"/>
            </a:endParaRP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endParaRPr kumimoji="0" lang="en-US" sz="1050" b="0" i="0" u="none" strike="noStrike" kern="0" cap="none" spc="0" normalizeH="0" baseline="0" noProof="0" dirty="0">
              <a:ln>
                <a:noFill/>
              </a:ln>
              <a:solidFill>
                <a:srgbClr val="000000"/>
              </a:solidFill>
              <a:effectLst/>
              <a:uLnTx/>
              <a:uFillTx/>
              <a:latin typeface="Arial"/>
              <a:ea typeface="+mn-ea"/>
              <a:cs typeface="+mn-cs"/>
            </a:endParaRPr>
          </a:p>
        </p:txBody>
      </p:sp>
      <p:grpSp>
        <p:nvGrpSpPr>
          <p:cNvPr id="119" name="Gruppieren 118">
            <a:extLst>
              <a:ext uri="{FF2B5EF4-FFF2-40B4-BE49-F238E27FC236}">
                <a16:creationId xmlns:a16="http://schemas.microsoft.com/office/drawing/2014/main" id="{5DD4403B-E828-4F25-984F-BF3525CA40B9}"/>
              </a:ext>
            </a:extLst>
          </p:cNvPr>
          <p:cNvGrpSpPr/>
          <p:nvPr/>
        </p:nvGrpSpPr>
        <p:grpSpPr>
          <a:xfrm>
            <a:off x="5072905" y="1123183"/>
            <a:ext cx="4071095" cy="1754424"/>
            <a:chOff x="3433240" y="2349500"/>
            <a:chExt cx="5428127" cy="2339232"/>
          </a:xfrm>
        </p:grpSpPr>
        <p:pic>
          <p:nvPicPr>
            <p:cNvPr id="120" name="Grafik 119">
              <a:extLst>
                <a:ext uri="{FF2B5EF4-FFF2-40B4-BE49-F238E27FC236}">
                  <a16:creationId xmlns:a16="http://schemas.microsoft.com/office/drawing/2014/main" id="{5A6EF4CD-1415-4CB8-ADB3-B3E892C4D4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33240" y="2349500"/>
              <a:ext cx="5428127" cy="2339232"/>
            </a:xfrm>
            <a:prstGeom prst="rect">
              <a:avLst/>
            </a:prstGeom>
          </p:spPr>
        </p:pic>
        <p:sp>
          <p:nvSpPr>
            <p:cNvPr id="121" name="Textfeld 120">
              <a:extLst>
                <a:ext uri="{FF2B5EF4-FFF2-40B4-BE49-F238E27FC236}">
                  <a16:creationId xmlns:a16="http://schemas.microsoft.com/office/drawing/2014/main" id="{D6EBA56D-4114-4ED3-AA64-161171010753}"/>
                </a:ext>
              </a:extLst>
            </p:cNvPr>
            <p:cNvSpPr txBox="1"/>
            <p:nvPr/>
          </p:nvSpPr>
          <p:spPr>
            <a:xfrm>
              <a:off x="7483764" y="2459359"/>
              <a:ext cx="1310615" cy="677108"/>
            </a:xfrm>
            <a:prstGeom prst="rect">
              <a:avLst/>
            </a:prstGeom>
            <a:noFill/>
          </p:spPr>
          <p:txBody>
            <a:bodyPr wrap="none" rtlCol="0">
              <a:spAutoFit/>
            </a:bodyPr>
            <a:lstStyle/>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err="1">
                  <a:ln>
                    <a:noFill/>
                  </a:ln>
                  <a:solidFill>
                    <a:srgbClr val="000000"/>
                  </a:solidFill>
                  <a:effectLst/>
                  <a:uLnTx/>
                  <a:uFillTx/>
                  <a:latin typeface="Arial" panose="020B0604020202020204" pitchFamily="34" charset="0"/>
                  <a:ea typeface="+mn-ea"/>
                  <a:cs typeface="+mn-cs"/>
                </a:rPr>
                <a:t>Mean</a:t>
              </a: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 524.43</a:t>
              </a:r>
            </a:p>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SD	= 233.75</a:t>
              </a:r>
            </a:p>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N	= 1824</a:t>
              </a:r>
              <a:endPar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
        <p:nvSpPr>
          <p:cNvPr id="122" name="Textfeld 121">
            <a:extLst>
              <a:ext uri="{FF2B5EF4-FFF2-40B4-BE49-F238E27FC236}">
                <a16:creationId xmlns:a16="http://schemas.microsoft.com/office/drawing/2014/main" id="{4CC9394B-6637-41EF-8AB6-C49EA4FBE2E5}"/>
              </a:ext>
            </a:extLst>
          </p:cNvPr>
          <p:cNvSpPr txBox="1"/>
          <p:nvPr/>
        </p:nvSpPr>
        <p:spPr>
          <a:xfrm>
            <a:off x="8110798" y="2960002"/>
            <a:ext cx="982961" cy="507831"/>
          </a:xfrm>
          <a:prstGeom prst="rect">
            <a:avLst/>
          </a:prstGeom>
          <a:noFill/>
        </p:spPr>
        <p:txBody>
          <a:bodyPr wrap="none" rtlCol="0">
            <a:spAutoFit/>
          </a:bodyPr>
          <a:lstStyle/>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err="1">
                <a:ln>
                  <a:noFill/>
                </a:ln>
                <a:solidFill>
                  <a:srgbClr val="000000"/>
                </a:solidFill>
                <a:effectLst/>
                <a:uLnTx/>
                <a:uFillTx/>
                <a:latin typeface="Arial" panose="020B0604020202020204" pitchFamily="34" charset="0"/>
                <a:ea typeface="+mn-ea"/>
                <a:cs typeface="+mn-cs"/>
              </a:rPr>
              <a:t>Mean</a:t>
            </a: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 645.23</a:t>
            </a:r>
          </a:p>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SD	= 604.86</a:t>
            </a:r>
          </a:p>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N	= 1926</a:t>
            </a:r>
            <a:endPar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2" name="Textfeld 21">
            <a:extLst>
              <a:ext uri="{FF2B5EF4-FFF2-40B4-BE49-F238E27FC236}">
                <a16:creationId xmlns:a16="http://schemas.microsoft.com/office/drawing/2014/main" id="{F9D8C586-61CC-4497-8E1E-2BB30000DD00}"/>
              </a:ext>
            </a:extLst>
          </p:cNvPr>
          <p:cNvSpPr txBox="1"/>
          <p:nvPr/>
        </p:nvSpPr>
        <p:spPr>
          <a:xfrm>
            <a:off x="6509577" y="1129178"/>
            <a:ext cx="1354858"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err="1">
                <a:ln>
                  <a:noFill/>
                </a:ln>
                <a:solidFill>
                  <a:srgbClr val="9D7B0F"/>
                </a:solidFill>
                <a:effectLst/>
                <a:uLnTx/>
                <a:uFillTx/>
                <a:latin typeface="Arial" panose="020B0604020202020204" pitchFamily="34" charset="0"/>
                <a:ea typeface="+mn-ea"/>
                <a:cs typeface="Arial" panose="020B0604020202020204" pitchFamily="34" charset="0"/>
              </a:rPr>
              <a:t>Example</a:t>
            </a:r>
            <a:r>
              <a:rPr kumimoji="0" lang="de-DE" sz="1050" b="0" i="0" u="none" strike="noStrike" kern="120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 „Switcher“</a:t>
            </a:r>
            <a:endParaRPr kumimoji="0" lang="en-US" sz="1050" b="0" i="0" u="none" strike="noStrike" kern="120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endParaRPr>
          </a:p>
        </p:txBody>
      </p:sp>
      <p:sp>
        <p:nvSpPr>
          <p:cNvPr id="126" name="Textfeld 125">
            <a:extLst>
              <a:ext uri="{FF2B5EF4-FFF2-40B4-BE49-F238E27FC236}">
                <a16:creationId xmlns:a16="http://schemas.microsoft.com/office/drawing/2014/main" id="{677C8BD6-D0C5-4AEE-A95F-FC97D137F1DF}"/>
              </a:ext>
            </a:extLst>
          </p:cNvPr>
          <p:cNvSpPr txBox="1"/>
          <p:nvPr/>
        </p:nvSpPr>
        <p:spPr>
          <a:xfrm>
            <a:off x="6200599" y="2923406"/>
            <a:ext cx="1978427"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err="1">
                <a:ln>
                  <a:noFill/>
                </a:ln>
                <a:solidFill>
                  <a:srgbClr val="9D7B0F"/>
                </a:solidFill>
                <a:effectLst/>
                <a:uLnTx/>
                <a:uFillTx/>
                <a:latin typeface="Arial" panose="020B0604020202020204" pitchFamily="34" charset="0"/>
                <a:ea typeface="+mn-ea"/>
                <a:cs typeface="Arial" panose="020B0604020202020204" pitchFamily="34" charset="0"/>
              </a:rPr>
              <a:t>Example</a:t>
            </a:r>
            <a:r>
              <a:rPr kumimoji="0" lang="de-DE" sz="1050" b="0" i="0" u="none" strike="noStrike" kern="120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 „Response </a:t>
            </a:r>
            <a:r>
              <a:rPr kumimoji="0" lang="de-DE" sz="1050" b="0" i="0" u="none" strike="noStrike" kern="1200" cap="none" spc="0" normalizeH="0" baseline="0" noProof="0" err="1">
                <a:ln>
                  <a:noFill/>
                </a:ln>
                <a:solidFill>
                  <a:srgbClr val="9D7B0F"/>
                </a:solidFill>
                <a:effectLst/>
                <a:uLnTx/>
                <a:uFillTx/>
                <a:latin typeface="Arial" panose="020B0604020202020204" pitchFamily="34" charset="0"/>
                <a:ea typeface="+mn-ea"/>
                <a:cs typeface="Arial" panose="020B0604020202020204" pitchFamily="34" charset="0"/>
              </a:rPr>
              <a:t>Grouper</a:t>
            </a:r>
            <a:r>
              <a:rPr kumimoji="0" lang="de-DE" sz="1050" b="0" i="0" u="none" strike="noStrike" kern="120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a:t>
            </a:r>
            <a:endParaRPr kumimoji="0" lang="en-US" sz="1050" b="0" i="0" u="none" strike="noStrike" kern="120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17916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D857FB-D4DA-4195-AE2D-EAD1A02B1B9D}"/>
              </a:ext>
            </a:extLst>
          </p:cNvPr>
          <p:cNvSpPr>
            <a:spLocks noGrp="1"/>
          </p:cNvSpPr>
          <p:nvPr>
            <p:ph type="title"/>
          </p:nvPr>
        </p:nvSpPr>
        <p:spPr/>
        <p:txBody>
          <a:bodyPr/>
          <a:lstStyle/>
          <a:p>
            <a:r>
              <a:rPr lang="de-DE"/>
              <a:t>Response </a:t>
            </a:r>
            <a:r>
              <a:rPr lang="de-DE" err="1"/>
              <a:t>Strategies</a:t>
            </a:r>
            <a:r>
              <a:rPr lang="de-DE"/>
              <a:t> – </a:t>
            </a:r>
            <a:r>
              <a:rPr lang="de-DE" err="1"/>
              <a:t>Categorization</a:t>
            </a:r>
            <a:endParaRPr lang="en-US"/>
          </a:p>
        </p:txBody>
      </p:sp>
      <p:sp>
        <p:nvSpPr>
          <p:cNvPr id="4" name="Foliennummernplatzhalter 3">
            <a:extLst>
              <a:ext uri="{FF2B5EF4-FFF2-40B4-BE49-F238E27FC236}">
                <a16:creationId xmlns:a16="http://schemas.microsoft.com/office/drawing/2014/main" id="{FE3E8B20-AFDE-4E30-B56F-10469739B956}"/>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31</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pSp>
        <p:nvGrpSpPr>
          <p:cNvPr id="17" name="Gruppieren 16">
            <a:extLst>
              <a:ext uri="{FF2B5EF4-FFF2-40B4-BE49-F238E27FC236}">
                <a16:creationId xmlns:a16="http://schemas.microsoft.com/office/drawing/2014/main" id="{19249E91-06BF-495C-87ED-3D225EC1DC54}"/>
              </a:ext>
            </a:extLst>
          </p:cNvPr>
          <p:cNvGrpSpPr/>
          <p:nvPr/>
        </p:nvGrpSpPr>
        <p:grpSpPr>
          <a:xfrm>
            <a:off x="1051271" y="1063229"/>
            <a:ext cx="2961309" cy="1393569"/>
            <a:chOff x="981621" y="1532220"/>
            <a:chExt cx="4420111" cy="2182037"/>
          </a:xfrm>
        </p:grpSpPr>
        <p:pic>
          <p:nvPicPr>
            <p:cNvPr id="49" name="Grafik 48">
              <a:extLst>
                <a:ext uri="{FF2B5EF4-FFF2-40B4-BE49-F238E27FC236}">
                  <a16:creationId xmlns:a16="http://schemas.microsoft.com/office/drawing/2014/main" id="{E695D944-64E2-4AA9-88A3-3B504EBDECD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2730"/>
            <a:stretch/>
          </p:blipFill>
          <p:spPr>
            <a:xfrm>
              <a:off x="981621" y="1532220"/>
              <a:ext cx="4420111" cy="2182037"/>
            </a:xfrm>
            <a:prstGeom prst="rect">
              <a:avLst/>
            </a:prstGeom>
          </p:spPr>
        </p:pic>
        <p:sp>
          <p:nvSpPr>
            <p:cNvPr id="71" name="Rechteck: abgerundete Ecken 70">
              <a:extLst>
                <a:ext uri="{FF2B5EF4-FFF2-40B4-BE49-F238E27FC236}">
                  <a16:creationId xmlns:a16="http://schemas.microsoft.com/office/drawing/2014/main" id="{F986A608-A8C3-44CF-B34F-E38F1BC9173B}"/>
                </a:ext>
              </a:extLst>
            </p:cNvPr>
            <p:cNvSpPr/>
            <p:nvPr/>
          </p:nvSpPr>
          <p:spPr>
            <a:xfrm>
              <a:off x="1029627" y="1532220"/>
              <a:ext cx="4320480" cy="576065"/>
            </a:xfrm>
            <a:prstGeom prst="roundRect">
              <a:avLst>
                <a:gd name="adj" fmla="val 0"/>
              </a:avLst>
            </a:prstGeom>
            <a:noFill/>
            <a:ln w="2857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72" name="Rechteck: abgerundete Ecken 71">
              <a:extLst>
                <a:ext uri="{FF2B5EF4-FFF2-40B4-BE49-F238E27FC236}">
                  <a16:creationId xmlns:a16="http://schemas.microsoft.com/office/drawing/2014/main" id="{13A89B54-3CA3-45DD-A9BE-DC66CC9BA11A}"/>
                </a:ext>
              </a:extLst>
            </p:cNvPr>
            <p:cNvSpPr/>
            <p:nvPr/>
          </p:nvSpPr>
          <p:spPr>
            <a:xfrm>
              <a:off x="1029627" y="2108285"/>
              <a:ext cx="4320480" cy="1332000"/>
            </a:xfrm>
            <a:prstGeom prst="roundRect">
              <a:avLst>
                <a:gd name="adj" fmla="val 0"/>
              </a:avLst>
            </a:prstGeom>
            <a:noFill/>
            <a:ln w="2857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grpSp>
      <p:sp>
        <p:nvSpPr>
          <p:cNvPr id="73" name="Rechteck: abgerundete Ecken 72">
            <a:extLst>
              <a:ext uri="{FF2B5EF4-FFF2-40B4-BE49-F238E27FC236}">
                <a16:creationId xmlns:a16="http://schemas.microsoft.com/office/drawing/2014/main" id="{D5E2E4E0-AB0B-4F4A-890C-20C431BB35AD}"/>
              </a:ext>
            </a:extLst>
          </p:cNvPr>
          <p:cNvSpPr/>
          <p:nvPr/>
        </p:nvSpPr>
        <p:spPr>
          <a:xfrm>
            <a:off x="4782481" y="1419196"/>
            <a:ext cx="1714376" cy="594066"/>
          </a:xfrm>
          <a:prstGeom prst="roundRect">
            <a:avLst>
              <a:gd name="adj" fmla="val 0"/>
            </a:avLst>
          </a:prstGeom>
          <a:noFill/>
          <a:ln w="28575" cap="flat" cmpd="sng" algn="ctr">
            <a:solidFill>
              <a:srgbClr val="B99212"/>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feld 73">
            <a:extLst>
              <a:ext uri="{FF2B5EF4-FFF2-40B4-BE49-F238E27FC236}">
                <a16:creationId xmlns:a16="http://schemas.microsoft.com/office/drawing/2014/main" id="{A698CA9C-BAC0-412D-92AC-D63EDF2946B6}"/>
              </a:ext>
            </a:extLst>
          </p:cNvPr>
          <p:cNvSpPr txBox="1"/>
          <p:nvPr/>
        </p:nvSpPr>
        <p:spPr>
          <a:xfrm>
            <a:off x="4920649" y="1543104"/>
            <a:ext cx="1438039" cy="346249"/>
          </a:xfrm>
          <a:prstGeom prst="rect">
            <a:avLst/>
          </a:prstGeom>
          <a:noFill/>
        </p:spPr>
        <p:txBody>
          <a:bodyPr wrap="square" lIns="0" rIns="0" rtlCol="0" anchor="ctr">
            <a:spAutoFit/>
          </a:bodyPr>
          <a:lstStyle/>
          <a:p>
            <a:pPr marL="0" marR="0" lvl="0" indent="0" algn="ctr" defTabSz="2629220" rtl="0" eaLnBrk="1" fontAlgn="auto" latinLnBrk="0" hangingPunct="1">
              <a:lnSpc>
                <a:spcPct val="100000"/>
              </a:lnSpc>
              <a:spcBef>
                <a:spcPts val="0"/>
              </a:spcBef>
              <a:spcAft>
                <a:spcPts val="0"/>
              </a:spcAft>
              <a:buClrTx/>
              <a:buSzTx/>
              <a:buFontTx/>
              <a:buNone/>
              <a:tabLst/>
              <a:defRPr/>
            </a:pPr>
            <a:r>
              <a:rPr kumimoji="0" lang="de-DE" sz="825"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Blocker: Switch rate &lt; 10%</a:t>
            </a:r>
          </a:p>
          <a:p>
            <a:pPr marL="0" marR="0" lvl="0" indent="0" algn="ctr" defTabSz="2629220" rtl="0" eaLnBrk="1" fontAlgn="auto" latinLnBrk="0" hangingPunct="1">
              <a:lnSpc>
                <a:spcPct val="100000"/>
              </a:lnSpc>
              <a:spcBef>
                <a:spcPts val="0"/>
              </a:spcBef>
              <a:spcAft>
                <a:spcPts val="0"/>
              </a:spcAft>
              <a:buClrTx/>
              <a:buSzTx/>
              <a:buFontTx/>
              <a:buNone/>
              <a:tabLst/>
              <a:defRPr/>
            </a:pPr>
            <a:r>
              <a:rPr kumimoji="0" lang="de-DE" sz="825"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Interleaver</a:t>
            </a:r>
            <a:r>
              <a:rPr kumimoji="0" lang="de-DE" sz="825"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Switch rate &gt; 10%</a:t>
            </a:r>
            <a:endParaRPr kumimoji="0" lang="de-DE" sz="135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12" name="Gerader Verbinder 11">
            <a:extLst>
              <a:ext uri="{FF2B5EF4-FFF2-40B4-BE49-F238E27FC236}">
                <a16:creationId xmlns:a16="http://schemas.microsoft.com/office/drawing/2014/main" id="{A8965255-D746-486E-A173-B17E643DA3BA}"/>
              </a:ext>
            </a:extLst>
          </p:cNvPr>
          <p:cNvCxnSpPr>
            <a:cxnSpLocks/>
          </p:cNvCxnSpPr>
          <p:nvPr/>
        </p:nvCxnSpPr>
        <p:spPr>
          <a:xfrm>
            <a:off x="4010156" y="1085126"/>
            <a:ext cx="772325" cy="334070"/>
          </a:xfrm>
          <a:prstGeom prst="line">
            <a:avLst/>
          </a:prstGeom>
          <a:noFill/>
          <a:ln w="28575" cap="flat" cmpd="sng" algn="ctr">
            <a:solidFill>
              <a:srgbClr val="B99212"/>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cxnSp>
      <p:cxnSp>
        <p:nvCxnSpPr>
          <p:cNvPr id="78" name="Gerader Verbinder 77">
            <a:extLst>
              <a:ext uri="{FF2B5EF4-FFF2-40B4-BE49-F238E27FC236}">
                <a16:creationId xmlns:a16="http://schemas.microsoft.com/office/drawing/2014/main" id="{C309377F-8AE9-4666-B430-A70B6C01FF4E}"/>
              </a:ext>
            </a:extLst>
          </p:cNvPr>
          <p:cNvCxnSpPr>
            <a:cxnSpLocks/>
          </p:cNvCxnSpPr>
          <p:nvPr/>
        </p:nvCxnSpPr>
        <p:spPr>
          <a:xfrm flipV="1">
            <a:off x="3977993" y="2013262"/>
            <a:ext cx="804488" cy="268562"/>
          </a:xfrm>
          <a:prstGeom prst="line">
            <a:avLst/>
          </a:prstGeom>
          <a:noFill/>
          <a:ln w="28575" cap="flat" cmpd="sng" algn="ctr">
            <a:solidFill>
              <a:srgbClr val="B99212"/>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cxnSp>
      <p:sp>
        <p:nvSpPr>
          <p:cNvPr id="82" name="Inhaltsplatzhalter 2">
            <a:extLst>
              <a:ext uri="{FF2B5EF4-FFF2-40B4-BE49-F238E27FC236}">
                <a16:creationId xmlns:a16="http://schemas.microsoft.com/office/drawing/2014/main" id="{5896010B-5D9E-48D7-99D9-80AEFE81930A}"/>
              </a:ext>
            </a:extLst>
          </p:cNvPr>
          <p:cNvSpPr txBox="1">
            <a:spLocks/>
          </p:cNvSpPr>
          <p:nvPr/>
        </p:nvSpPr>
        <p:spPr>
          <a:xfrm>
            <a:off x="2137466" y="2757341"/>
            <a:ext cx="1014125" cy="276999"/>
          </a:xfrm>
          <a:prstGeom prst="rect">
            <a:avLst/>
          </a:prstGeom>
        </p:spPr>
        <p:txBody>
          <a:bodyPr wrap="square">
            <a:spAutoFit/>
          </a:bodyPr>
          <a:lstStyle>
            <a:defPPr>
              <a:defRPr lang="en-US"/>
            </a:defPPr>
            <a:lvl1pPr>
              <a:buFont typeface="Wingdings" panose="05000000000000000000" pitchFamily="2" charset="2"/>
              <a:buChar char="Ø"/>
              <a:defRPr kern="0"/>
            </a:lvl1pPr>
            <a:lvl2pPr lvl="1">
              <a:buFont typeface="Wingdings" panose="05000000000000000000" pitchFamily="2" charset="2"/>
              <a:buChar char="§"/>
              <a:defRPr b="0" kern="0"/>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marR="0" lvl="0" indent="0" algn="ctr" defTabSz="3429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1" i="0" u="none" strike="noStrike" kern="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Blocker</a:t>
            </a:r>
            <a:endParaRPr kumimoji="0" lang="en-US" sz="1200" b="0" i="0" u="none" strike="noStrike" kern="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endParaRPr>
          </a:p>
        </p:txBody>
      </p:sp>
      <p:sp>
        <p:nvSpPr>
          <p:cNvPr id="83" name="Rechteck 82">
            <a:extLst>
              <a:ext uri="{FF2B5EF4-FFF2-40B4-BE49-F238E27FC236}">
                <a16:creationId xmlns:a16="http://schemas.microsoft.com/office/drawing/2014/main" id="{493C2F04-9E8B-494A-B202-CD6FD058E60E}"/>
              </a:ext>
            </a:extLst>
          </p:cNvPr>
          <p:cNvSpPr/>
          <p:nvPr/>
        </p:nvSpPr>
        <p:spPr>
          <a:xfrm>
            <a:off x="6091382" y="2757341"/>
            <a:ext cx="915152" cy="276999"/>
          </a:xfrm>
          <a:prstGeom prst="rect">
            <a:avLst/>
          </a:prstGeom>
        </p:spPr>
        <p:txBody>
          <a:bodyPr wrap="square">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Switcher</a:t>
            </a:r>
          </a:p>
        </p:txBody>
      </p:sp>
      <p:sp>
        <p:nvSpPr>
          <p:cNvPr id="84" name="Rechteck 83">
            <a:extLst>
              <a:ext uri="{FF2B5EF4-FFF2-40B4-BE49-F238E27FC236}">
                <a16:creationId xmlns:a16="http://schemas.microsoft.com/office/drawing/2014/main" id="{3DB2F3ED-8DCB-4A9B-8E0F-BE108A96E417}"/>
              </a:ext>
            </a:extLst>
          </p:cNvPr>
          <p:cNvSpPr/>
          <p:nvPr/>
        </p:nvSpPr>
        <p:spPr>
          <a:xfrm>
            <a:off x="3706299" y="2748932"/>
            <a:ext cx="1731402" cy="276999"/>
          </a:xfrm>
          <a:prstGeom prst="rect">
            <a:avLst/>
          </a:prstGeom>
        </p:spPr>
        <p:txBody>
          <a:bodyPr wrap="square">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Response </a:t>
            </a:r>
            <a:r>
              <a:rPr kumimoji="0" lang="en-US" sz="1200" b="1" i="0" u="none" strike="noStrike" kern="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Grouper </a:t>
            </a:r>
          </a:p>
        </p:txBody>
      </p:sp>
      <p:pic>
        <p:nvPicPr>
          <p:cNvPr id="85" name="Grafik 84">
            <a:extLst>
              <a:ext uri="{FF2B5EF4-FFF2-40B4-BE49-F238E27FC236}">
                <a16:creationId xmlns:a16="http://schemas.microsoft.com/office/drawing/2014/main" id="{52A48BCC-6F2A-4B0B-A50A-37AB6B3E4E2C}"/>
              </a:ext>
            </a:extLst>
          </p:cNvPr>
          <p:cNvPicPr>
            <a:picLocks noChangeAspect="1"/>
          </p:cNvPicPr>
          <p:nvPr/>
        </p:nvPicPr>
        <p:blipFill rotWithShape="1">
          <a:blip r:embed="rId4"/>
          <a:srcRect l="53603" t="8200" r="18977" b="48355"/>
          <a:stretch/>
        </p:blipFill>
        <p:spPr>
          <a:xfrm>
            <a:off x="3676911" y="3020181"/>
            <a:ext cx="1891231" cy="1685549"/>
          </a:xfrm>
          <a:prstGeom prst="rect">
            <a:avLst/>
          </a:prstGeom>
        </p:spPr>
      </p:pic>
      <p:pic>
        <p:nvPicPr>
          <p:cNvPr id="86" name="Grafik 85">
            <a:extLst>
              <a:ext uri="{FF2B5EF4-FFF2-40B4-BE49-F238E27FC236}">
                <a16:creationId xmlns:a16="http://schemas.microsoft.com/office/drawing/2014/main" id="{2DD47A88-5143-4CC5-B9E3-C7B9A16E46D4}"/>
              </a:ext>
            </a:extLst>
          </p:cNvPr>
          <p:cNvPicPr>
            <a:picLocks noChangeAspect="1"/>
          </p:cNvPicPr>
          <p:nvPr/>
        </p:nvPicPr>
        <p:blipFill rotWithShape="1">
          <a:blip r:embed="rId5"/>
          <a:srcRect l="50000" t="8470" r="19114" b="48354"/>
          <a:stretch/>
        </p:blipFill>
        <p:spPr>
          <a:xfrm>
            <a:off x="1497355" y="3023424"/>
            <a:ext cx="2143577" cy="1685549"/>
          </a:xfrm>
          <a:prstGeom prst="rect">
            <a:avLst/>
          </a:prstGeom>
        </p:spPr>
      </p:pic>
      <p:pic>
        <p:nvPicPr>
          <p:cNvPr id="87" name="Grafik 86">
            <a:extLst>
              <a:ext uri="{FF2B5EF4-FFF2-40B4-BE49-F238E27FC236}">
                <a16:creationId xmlns:a16="http://schemas.microsoft.com/office/drawing/2014/main" id="{123760E7-298A-48B7-A85D-02D1B27BCB6B}"/>
              </a:ext>
            </a:extLst>
          </p:cNvPr>
          <p:cNvPicPr>
            <a:picLocks noChangeAspect="1"/>
          </p:cNvPicPr>
          <p:nvPr/>
        </p:nvPicPr>
        <p:blipFill rotWithShape="1">
          <a:blip r:embed="rId6"/>
          <a:srcRect l="53427" t="8219" r="13892" b="48355"/>
          <a:stretch/>
        </p:blipFill>
        <p:spPr>
          <a:xfrm>
            <a:off x="5611541" y="3020181"/>
            <a:ext cx="2255047" cy="1685549"/>
          </a:xfrm>
          <a:prstGeom prst="rect">
            <a:avLst/>
          </a:prstGeom>
        </p:spPr>
      </p:pic>
      <p:sp>
        <p:nvSpPr>
          <p:cNvPr id="20" name="Textfeld 19">
            <a:extLst>
              <a:ext uri="{FF2B5EF4-FFF2-40B4-BE49-F238E27FC236}">
                <a16:creationId xmlns:a16="http://schemas.microsoft.com/office/drawing/2014/main" id="{00140E18-E130-4F16-9A8C-51EFD0D7E329}"/>
              </a:ext>
            </a:extLst>
          </p:cNvPr>
          <p:cNvSpPr txBox="1"/>
          <p:nvPr/>
        </p:nvSpPr>
        <p:spPr>
          <a:xfrm>
            <a:off x="7474603" y="3921900"/>
            <a:ext cx="389850" cy="184666"/>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Tasks</a:t>
            </a: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2" name="Textfeld 91">
            <a:extLst>
              <a:ext uri="{FF2B5EF4-FFF2-40B4-BE49-F238E27FC236}">
                <a16:creationId xmlns:a16="http://schemas.microsoft.com/office/drawing/2014/main" id="{121158FE-9A84-4129-B76C-DDBE059AA5DF}"/>
              </a:ext>
            </a:extLst>
          </p:cNvPr>
          <p:cNvSpPr txBox="1"/>
          <p:nvPr/>
        </p:nvSpPr>
        <p:spPr>
          <a:xfrm>
            <a:off x="7473257" y="3164172"/>
            <a:ext cx="566181" cy="184666"/>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Trial </a:t>
            </a:r>
            <a:r>
              <a:rPr kumimoji="0" lang="de-DE" sz="6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Types</a:t>
            </a: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Rechteck 20">
            <a:extLst>
              <a:ext uri="{FF2B5EF4-FFF2-40B4-BE49-F238E27FC236}">
                <a16:creationId xmlns:a16="http://schemas.microsoft.com/office/drawing/2014/main" id="{03453017-E969-4C30-8847-9A901D596980}"/>
              </a:ext>
            </a:extLst>
          </p:cNvPr>
          <p:cNvSpPr/>
          <p:nvPr/>
        </p:nvSpPr>
        <p:spPr>
          <a:xfrm>
            <a:off x="7655717" y="3318586"/>
            <a:ext cx="462484" cy="533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3" name="Textfeld 92">
            <a:extLst>
              <a:ext uri="{FF2B5EF4-FFF2-40B4-BE49-F238E27FC236}">
                <a16:creationId xmlns:a16="http://schemas.microsoft.com/office/drawing/2014/main" id="{D56156CA-7E11-4C5F-AF74-2FC6FD837263}"/>
              </a:ext>
            </a:extLst>
          </p:cNvPr>
          <p:cNvSpPr txBox="1"/>
          <p:nvPr/>
        </p:nvSpPr>
        <p:spPr>
          <a:xfrm>
            <a:off x="7727003" y="3358816"/>
            <a:ext cx="494046" cy="184666"/>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Switches</a:t>
            </a: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4" name="Textfeld 93">
            <a:extLst>
              <a:ext uri="{FF2B5EF4-FFF2-40B4-BE49-F238E27FC236}">
                <a16:creationId xmlns:a16="http://schemas.microsoft.com/office/drawing/2014/main" id="{85C31662-120C-458B-93E2-AE6A07631725}"/>
              </a:ext>
            </a:extLst>
          </p:cNvPr>
          <p:cNvSpPr txBox="1"/>
          <p:nvPr/>
        </p:nvSpPr>
        <p:spPr>
          <a:xfrm>
            <a:off x="7733064" y="3615054"/>
            <a:ext cx="572593" cy="184666"/>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Repetitions</a:t>
            </a: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6" name="Geschweifte Klammer rechts 95">
            <a:extLst>
              <a:ext uri="{FF2B5EF4-FFF2-40B4-BE49-F238E27FC236}">
                <a16:creationId xmlns:a16="http://schemas.microsoft.com/office/drawing/2014/main" id="{C56B2FAF-341D-418C-8B2B-7EFEC6146ED8}"/>
              </a:ext>
            </a:extLst>
          </p:cNvPr>
          <p:cNvSpPr/>
          <p:nvPr/>
        </p:nvSpPr>
        <p:spPr>
          <a:xfrm>
            <a:off x="7669123" y="3335356"/>
            <a:ext cx="84902" cy="208502"/>
          </a:xfrm>
          <a:prstGeom prst="rightBrace">
            <a:avLst>
              <a:gd name="adj1" fmla="val 2793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7" name="Geschweifte Klammer rechts 96">
            <a:extLst>
              <a:ext uri="{FF2B5EF4-FFF2-40B4-BE49-F238E27FC236}">
                <a16:creationId xmlns:a16="http://schemas.microsoft.com/office/drawing/2014/main" id="{99512542-D222-4FDB-81C9-A9A890BE6342}"/>
              </a:ext>
            </a:extLst>
          </p:cNvPr>
          <p:cNvSpPr/>
          <p:nvPr/>
        </p:nvSpPr>
        <p:spPr>
          <a:xfrm>
            <a:off x="7669123" y="3544218"/>
            <a:ext cx="84902" cy="307583"/>
          </a:xfrm>
          <a:prstGeom prst="rightBrace">
            <a:avLst>
              <a:gd name="adj1" fmla="val 2793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545543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224955-0540-4C3A-808E-46A12F9498BC}"/>
              </a:ext>
            </a:extLst>
          </p:cNvPr>
          <p:cNvSpPr>
            <a:spLocks noGrp="1"/>
          </p:cNvSpPr>
          <p:nvPr>
            <p:ph type="title"/>
          </p:nvPr>
        </p:nvSpPr>
        <p:spPr/>
        <p:txBody>
          <a:bodyPr/>
          <a:lstStyle/>
          <a:p>
            <a:r>
              <a:rPr lang="en-US"/>
              <a:t>Response Strategies – </a:t>
            </a:r>
            <a:r>
              <a:rPr lang="en-US">
                <a:solidFill>
                  <a:srgbClr val="9D7B0F"/>
                </a:solidFill>
              </a:rPr>
              <a:t>Reliability</a:t>
            </a:r>
          </a:p>
        </p:txBody>
      </p:sp>
      <p:sp>
        <p:nvSpPr>
          <p:cNvPr id="4" name="Foliennummernplatzhalter 3">
            <a:extLst>
              <a:ext uri="{FF2B5EF4-FFF2-40B4-BE49-F238E27FC236}">
                <a16:creationId xmlns:a16="http://schemas.microsoft.com/office/drawing/2014/main" id="{41EBC3B9-74F6-4A32-B725-BE9F7C43B72B}"/>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32</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aphicFrame>
        <p:nvGraphicFramePr>
          <p:cNvPr id="5" name="Diagramm 4">
            <a:extLst>
              <a:ext uri="{FF2B5EF4-FFF2-40B4-BE49-F238E27FC236}">
                <a16:creationId xmlns:a16="http://schemas.microsoft.com/office/drawing/2014/main" id="{4ABF9AFD-F5F0-45F7-8AD0-16B0C73D0B09}"/>
              </a:ext>
            </a:extLst>
          </p:cNvPr>
          <p:cNvGraphicFramePr/>
          <p:nvPr/>
        </p:nvGraphicFramePr>
        <p:xfrm>
          <a:off x="1109588" y="999759"/>
          <a:ext cx="1566174" cy="144868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feld 5">
            <a:extLst>
              <a:ext uri="{FF2B5EF4-FFF2-40B4-BE49-F238E27FC236}">
                <a16:creationId xmlns:a16="http://schemas.microsoft.com/office/drawing/2014/main" id="{E574DB09-7512-4D80-AB05-8D128E06BDB6}"/>
              </a:ext>
            </a:extLst>
          </p:cNvPr>
          <p:cNvSpPr txBox="1"/>
          <p:nvPr/>
        </p:nvSpPr>
        <p:spPr>
          <a:xfrm>
            <a:off x="1080348" y="2376646"/>
            <a:ext cx="1624655"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Reissland &amp; Manzey, 2016,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Exp</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2, Acta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Psych</a:t>
            </a: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Textfeld 6">
            <a:extLst>
              <a:ext uri="{FF2B5EF4-FFF2-40B4-BE49-F238E27FC236}">
                <a16:creationId xmlns:a16="http://schemas.microsoft.com/office/drawing/2014/main" id="{EA0F07E7-797E-4563-AEA2-1E04D29D4A73}"/>
              </a:ext>
            </a:extLst>
          </p:cNvPr>
          <p:cNvSpPr txBox="1"/>
          <p:nvPr/>
        </p:nvSpPr>
        <p:spPr>
          <a:xfrm>
            <a:off x="1314639" y="1349861"/>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5</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8" name="Textfeld 7">
            <a:extLst>
              <a:ext uri="{FF2B5EF4-FFF2-40B4-BE49-F238E27FC236}">
                <a16:creationId xmlns:a16="http://schemas.microsoft.com/office/drawing/2014/main" id="{C7E1B9E9-6CCF-44FD-99F2-1FC307FB0465}"/>
              </a:ext>
            </a:extLst>
          </p:cNvPr>
          <p:cNvSpPr txBox="1"/>
          <p:nvPr/>
        </p:nvSpPr>
        <p:spPr>
          <a:xfrm>
            <a:off x="1486574" y="1915698"/>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6</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9" name="Textfeld 8">
            <a:extLst>
              <a:ext uri="{FF2B5EF4-FFF2-40B4-BE49-F238E27FC236}">
                <a16:creationId xmlns:a16="http://schemas.microsoft.com/office/drawing/2014/main" id="{4DC6BE52-C5BA-4293-B4FE-C046FAB91404}"/>
              </a:ext>
            </a:extLst>
          </p:cNvPr>
          <p:cNvSpPr txBox="1"/>
          <p:nvPr/>
        </p:nvSpPr>
        <p:spPr>
          <a:xfrm>
            <a:off x="1929605" y="1463418"/>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6</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0" name="Textfeld 9">
            <a:extLst>
              <a:ext uri="{FF2B5EF4-FFF2-40B4-BE49-F238E27FC236}">
                <a16:creationId xmlns:a16="http://schemas.microsoft.com/office/drawing/2014/main" id="{A93B3664-B661-45FD-AF3C-53602405EC51}"/>
              </a:ext>
            </a:extLst>
          </p:cNvPr>
          <p:cNvSpPr txBox="1"/>
          <p:nvPr/>
        </p:nvSpPr>
        <p:spPr>
          <a:xfrm>
            <a:off x="5968890" y="2376646"/>
            <a:ext cx="1796730"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Reissland &amp; Manzey, 2021,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Psy</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Res</a:t>
            </a:r>
          </a:p>
        </p:txBody>
      </p:sp>
      <p:graphicFrame>
        <p:nvGraphicFramePr>
          <p:cNvPr id="11" name="Diagramm 10">
            <a:extLst>
              <a:ext uri="{FF2B5EF4-FFF2-40B4-BE49-F238E27FC236}">
                <a16:creationId xmlns:a16="http://schemas.microsoft.com/office/drawing/2014/main" id="{D325AC8A-6856-4541-BB45-CF181C26E413}"/>
              </a:ext>
            </a:extLst>
          </p:cNvPr>
          <p:cNvGraphicFramePr/>
          <p:nvPr/>
        </p:nvGraphicFramePr>
        <p:xfrm>
          <a:off x="6084168" y="999759"/>
          <a:ext cx="1566174" cy="1448684"/>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feld 11">
            <a:extLst>
              <a:ext uri="{FF2B5EF4-FFF2-40B4-BE49-F238E27FC236}">
                <a16:creationId xmlns:a16="http://schemas.microsoft.com/office/drawing/2014/main" id="{A867C2ED-CBCD-44AB-BF01-86FACD414D62}"/>
              </a:ext>
            </a:extLst>
          </p:cNvPr>
          <p:cNvSpPr txBox="1"/>
          <p:nvPr/>
        </p:nvSpPr>
        <p:spPr>
          <a:xfrm>
            <a:off x="6900644" y="1548636"/>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32</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3" name="Textfeld 12">
            <a:extLst>
              <a:ext uri="{FF2B5EF4-FFF2-40B4-BE49-F238E27FC236}">
                <a16:creationId xmlns:a16="http://schemas.microsoft.com/office/drawing/2014/main" id="{FC2A23FE-07A4-46D1-9D39-6EE829A9B076}"/>
              </a:ext>
            </a:extLst>
          </p:cNvPr>
          <p:cNvSpPr txBox="1"/>
          <p:nvPr/>
        </p:nvSpPr>
        <p:spPr>
          <a:xfrm>
            <a:off x="6335442" y="1825218"/>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22</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4" name="Textfeld 13">
            <a:extLst>
              <a:ext uri="{FF2B5EF4-FFF2-40B4-BE49-F238E27FC236}">
                <a16:creationId xmlns:a16="http://schemas.microsoft.com/office/drawing/2014/main" id="{8EF99E7B-0133-4427-A51A-8EC8D4239AEC}"/>
              </a:ext>
            </a:extLst>
          </p:cNvPr>
          <p:cNvSpPr txBox="1"/>
          <p:nvPr/>
        </p:nvSpPr>
        <p:spPr>
          <a:xfrm>
            <a:off x="6329328" y="1310322"/>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16</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5" name="Textfeld 14">
            <a:extLst>
              <a:ext uri="{FF2B5EF4-FFF2-40B4-BE49-F238E27FC236}">
                <a16:creationId xmlns:a16="http://schemas.microsoft.com/office/drawing/2014/main" id="{DA9C6494-2D09-4958-A9EC-9D3AB5C85C29}"/>
              </a:ext>
            </a:extLst>
          </p:cNvPr>
          <p:cNvSpPr txBox="1"/>
          <p:nvPr/>
        </p:nvSpPr>
        <p:spPr>
          <a:xfrm>
            <a:off x="2682323" y="2376646"/>
            <a:ext cx="1636871"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Mückstein</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&amp; Manzey, 2020,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Exp</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1 JEP:HPP</a:t>
            </a:r>
          </a:p>
        </p:txBody>
      </p:sp>
      <p:graphicFrame>
        <p:nvGraphicFramePr>
          <p:cNvPr id="16" name="Diagramm 15">
            <a:extLst>
              <a:ext uri="{FF2B5EF4-FFF2-40B4-BE49-F238E27FC236}">
                <a16:creationId xmlns:a16="http://schemas.microsoft.com/office/drawing/2014/main" id="{C1304AA2-A4E0-4529-8628-837708A826F9}"/>
              </a:ext>
            </a:extLst>
          </p:cNvPr>
          <p:cNvGraphicFramePr/>
          <p:nvPr/>
        </p:nvGraphicFramePr>
        <p:xfrm>
          <a:off x="2717672" y="999759"/>
          <a:ext cx="1566174" cy="1448684"/>
        </p:xfrm>
        <a:graphic>
          <a:graphicData uri="http://schemas.openxmlformats.org/drawingml/2006/chart">
            <c:chart xmlns:c="http://schemas.openxmlformats.org/drawingml/2006/chart" xmlns:r="http://schemas.openxmlformats.org/officeDocument/2006/relationships" r:id="rId5"/>
          </a:graphicData>
        </a:graphic>
      </p:graphicFrame>
      <p:sp>
        <p:nvSpPr>
          <p:cNvPr id="17" name="Textfeld 16">
            <a:extLst>
              <a:ext uri="{FF2B5EF4-FFF2-40B4-BE49-F238E27FC236}">
                <a16:creationId xmlns:a16="http://schemas.microsoft.com/office/drawing/2014/main" id="{CABFCB1D-8E12-4367-A47E-38C878D990A8}"/>
              </a:ext>
            </a:extLst>
          </p:cNvPr>
          <p:cNvSpPr txBox="1"/>
          <p:nvPr/>
        </p:nvSpPr>
        <p:spPr>
          <a:xfrm>
            <a:off x="3549690" y="1605308"/>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25</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8" name="Textfeld 17">
            <a:extLst>
              <a:ext uri="{FF2B5EF4-FFF2-40B4-BE49-F238E27FC236}">
                <a16:creationId xmlns:a16="http://schemas.microsoft.com/office/drawing/2014/main" id="{3201444D-9401-4817-88D2-0D4334307293}"/>
              </a:ext>
            </a:extLst>
          </p:cNvPr>
          <p:cNvSpPr txBox="1"/>
          <p:nvPr/>
        </p:nvSpPr>
        <p:spPr>
          <a:xfrm>
            <a:off x="3029824" y="1188216"/>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6</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9" name="Textfeld 18">
            <a:extLst>
              <a:ext uri="{FF2B5EF4-FFF2-40B4-BE49-F238E27FC236}">
                <a16:creationId xmlns:a16="http://schemas.microsoft.com/office/drawing/2014/main" id="{83A4B71F-885F-4D54-AE69-D2342F3FB660}"/>
              </a:ext>
            </a:extLst>
          </p:cNvPr>
          <p:cNvSpPr txBox="1"/>
          <p:nvPr/>
        </p:nvSpPr>
        <p:spPr>
          <a:xfrm>
            <a:off x="4306368" y="2376646"/>
            <a:ext cx="1747890"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Mückstein</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&amp; Manzey, 2020,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Exp</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2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JEP: HPP</a:t>
            </a:r>
          </a:p>
        </p:txBody>
      </p:sp>
      <p:graphicFrame>
        <p:nvGraphicFramePr>
          <p:cNvPr id="20" name="Diagramm 19">
            <a:extLst>
              <a:ext uri="{FF2B5EF4-FFF2-40B4-BE49-F238E27FC236}">
                <a16:creationId xmlns:a16="http://schemas.microsoft.com/office/drawing/2014/main" id="{2D2C82B8-FE28-4F3F-8C14-01E69B70E41C}"/>
              </a:ext>
            </a:extLst>
          </p:cNvPr>
          <p:cNvGraphicFramePr/>
          <p:nvPr/>
        </p:nvGraphicFramePr>
        <p:xfrm>
          <a:off x="4397226" y="999759"/>
          <a:ext cx="1566174" cy="1448684"/>
        </p:xfrm>
        <a:graphic>
          <a:graphicData uri="http://schemas.openxmlformats.org/drawingml/2006/chart">
            <c:chart xmlns:c="http://schemas.openxmlformats.org/drawingml/2006/chart" xmlns:r="http://schemas.openxmlformats.org/officeDocument/2006/relationships" r:id="rId6"/>
          </a:graphicData>
        </a:graphic>
      </p:graphicFrame>
      <p:sp>
        <p:nvSpPr>
          <p:cNvPr id="21" name="Textfeld 20">
            <a:extLst>
              <a:ext uri="{FF2B5EF4-FFF2-40B4-BE49-F238E27FC236}">
                <a16:creationId xmlns:a16="http://schemas.microsoft.com/office/drawing/2014/main" id="{92CACBA9-16B4-46F1-A415-07BD3A491D68}"/>
              </a:ext>
            </a:extLst>
          </p:cNvPr>
          <p:cNvSpPr txBox="1"/>
          <p:nvPr/>
        </p:nvSpPr>
        <p:spPr>
          <a:xfrm>
            <a:off x="5216809" y="1455267"/>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18</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2" name="Textfeld 21">
            <a:extLst>
              <a:ext uri="{FF2B5EF4-FFF2-40B4-BE49-F238E27FC236}">
                <a16:creationId xmlns:a16="http://schemas.microsoft.com/office/drawing/2014/main" id="{C7D7F7E0-AEBB-4606-BF5D-727B90293C7D}"/>
              </a:ext>
            </a:extLst>
          </p:cNvPr>
          <p:cNvSpPr txBox="1"/>
          <p:nvPr/>
        </p:nvSpPr>
        <p:spPr>
          <a:xfrm>
            <a:off x="2884362" y="1659472"/>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14</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3" name="Textfeld 22">
            <a:extLst>
              <a:ext uri="{FF2B5EF4-FFF2-40B4-BE49-F238E27FC236}">
                <a16:creationId xmlns:a16="http://schemas.microsoft.com/office/drawing/2014/main" id="{F3807375-823F-4ACD-9640-DADB39187819}"/>
              </a:ext>
            </a:extLst>
          </p:cNvPr>
          <p:cNvSpPr txBox="1"/>
          <p:nvPr/>
        </p:nvSpPr>
        <p:spPr>
          <a:xfrm>
            <a:off x="4718422" y="1825744"/>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19</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4" name="Textfeld 23">
            <a:extLst>
              <a:ext uri="{FF2B5EF4-FFF2-40B4-BE49-F238E27FC236}">
                <a16:creationId xmlns:a16="http://schemas.microsoft.com/office/drawing/2014/main" id="{91D4F3D1-4CDE-401D-96AC-7CC12FBB8C76}"/>
              </a:ext>
            </a:extLst>
          </p:cNvPr>
          <p:cNvSpPr txBox="1"/>
          <p:nvPr/>
        </p:nvSpPr>
        <p:spPr>
          <a:xfrm>
            <a:off x="4670697" y="1293888"/>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10</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5" name="Textfeld 24">
            <a:extLst>
              <a:ext uri="{FF2B5EF4-FFF2-40B4-BE49-F238E27FC236}">
                <a16:creationId xmlns:a16="http://schemas.microsoft.com/office/drawing/2014/main" id="{897DE278-8DA0-4FCA-BA9C-0C7EB76A22E9}"/>
              </a:ext>
            </a:extLst>
          </p:cNvPr>
          <p:cNvSpPr txBox="1"/>
          <p:nvPr/>
        </p:nvSpPr>
        <p:spPr>
          <a:xfrm>
            <a:off x="2133247" y="4275595"/>
            <a:ext cx="2438753"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Data from coop with groups from Freiburg and Halle </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prep</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26" name="Diagramm 25">
            <a:extLst>
              <a:ext uri="{FF2B5EF4-FFF2-40B4-BE49-F238E27FC236}">
                <a16:creationId xmlns:a16="http://schemas.microsoft.com/office/drawing/2014/main" id="{EA8F12C4-51C2-4456-9989-6C728F69D117}"/>
              </a:ext>
            </a:extLst>
          </p:cNvPr>
          <p:cNvGraphicFramePr/>
          <p:nvPr/>
        </p:nvGraphicFramePr>
        <p:xfrm>
          <a:off x="2514026" y="2943530"/>
          <a:ext cx="1677197" cy="1449900"/>
        </p:xfrm>
        <a:graphic>
          <a:graphicData uri="http://schemas.openxmlformats.org/drawingml/2006/chart">
            <c:chart xmlns:c="http://schemas.openxmlformats.org/drawingml/2006/chart" xmlns:r="http://schemas.openxmlformats.org/officeDocument/2006/relationships" r:id="rId7"/>
          </a:graphicData>
        </a:graphic>
      </p:graphicFrame>
      <p:sp>
        <p:nvSpPr>
          <p:cNvPr id="27" name="Textfeld 26">
            <a:extLst>
              <a:ext uri="{FF2B5EF4-FFF2-40B4-BE49-F238E27FC236}">
                <a16:creationId xmlns:a16="http://schemas.microsoft.com/office/drawing/2014/main" id="{96E3CE59-8B77-4ED7-B2FD-04DF8931E44F}"/>
              </a:ext>
            </a:extLst>
          </p:cNvPr>
          <p:cNvSpPr txBox="1"/>
          <p:nvPr/>
        </p:nvSpPr>
        <p:spPr>
          <a:xfrm>
            <a:off x="2834046" y="3229278"/>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9</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8" name="Textfeld 27">
            <a:extLst>
              <a:ext uri="{FF2B5EF4-FFF2-40B4-BE49-F238E27FC236}">
                <a16:creationId xmlns:a16="http://schemas.microsoft.com/office/drawing/2014/main" id="{F4893724-1EF0-495B-9D0B-042915521FEA}"/>
              </a:ext>
            </a:extLst>
          </p:cNvPr>
          <p:cNvSpPr txBox="1"/>
          <p:nvPr/>
        </p:nvSpPr>
        <p:spPr>
          <a:xfrm>
            <a:off x="2951462" y="3855719"/>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22</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9" name="Textfeld 28">
            <a:extLst>
              <a:ext uri="{FF2B5EF4-FFF2-40B4-BE49-F238E27FC236}">
                <a16:creationId xmlns:a16="http://schemas.microsoft.com/office/drawing/2014/main" id="{11FB5F62-4266-48E1-B86A-84CE8AAE6307}"/>
              </a:ext>
            </a:extLst>
          </p:cNvPr>
          <p:cNvSpPr txBox="1"/>
          <p:nvPr/>
        </p:nvSpPr>
        <p:spPr>
          <a:xfrm>
            <a:off x="3389092" y="3378092"/>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17</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30" name="Textfeld 29">
            <a:extLst>
              <a:ext uri="{FF2B5EF4-FFF2-40B4-BE49-F238E27FC236}">
                <a16:creationId xmlns:a16="http://schemas.microsoft.com/office/drawing/2014/main" id="{7A83A7CD-E0D3-4C94-8EA6-9A7F0476E5DA}"/>
              </a:ext>
            </a:extLst>
          </p:cNvPr>
          <p:cNvSpPr txBox="1"/>
          <p:nvPr/>
        </p:nvSpPr>
        <p:spPr>
          <a:xfrm>
            <a:off x="5065705" y="4274910"/>
            <a:ext cx="1709709"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Data from coop with </a:t>
            </a:r>
            <a:r>
              <a:rPr kumimoji="0" lang="en-US"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Veit</a:t>
            </a: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Kubik</a:t>
            </a: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prep</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31" name="Diagramm 30">
            <a:extLst>
              <a:ext uri="{FF2B5EF4-FFF2-40B4-BE49-F238E27FC236}">
                <a16:creationId xmlns:a16="http://schemas.microsoft.com/office/drawing/2014/main" id="{929BDC4B-5FDA-4626-84A2-856D43592531}"/>
              </a:ext>
            </a:extLst>
          </p:cNvPr>
          <p:cNvGraphicFramePr/>
          <p:nvPr/>
        </p:nvGraphicFramePr>
        <p:xfrm>
          <a:off x="5137472" y="2942846"/>
          <a:ext cx="1566174" cy="1448684"/>
        </p:xfrm>
        <a:graphic>
          <a:graphicData uri="http://schemas.openxmlformats.org/drawingml/2006/chart">
            <c:chart xmlns:c="http://schemas.openxmlformats.org/drawingml/2006/chart" xmlns:r="http://schemas.openxmlformats.org/officeDocument/2006/relationships" r:id="rId8"/>
          </a:graphicData>
        </a:graphic>
      </p:graphicFrame>
      <p:sp>
        <p:nvSpPr>
          <p:cNvPr id="32" name="Textfeld 31">
            <a:extLst>
              <a:ext uri="{FF2B5EF4-FFF2-40B4-BE49-F238E27FC236}">
                <a16:creationId xmlns:a16="http://schemas.microsoft.com/office/drawing/2014/main" id="{8029793B-2462-4A3C-98F5-89A6FDDEC0BE}"/>
              </a:ext>
            </a:extLst>
          </p:cNvPr>
          <p:cNvSpPr txBox="1"/>
          <p:nvPr/>
        </p:nvSpPr>
        <p:spPr>
          <a:xfrm>
            <a:off x="5344294" y="3401552"/>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47</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33" name="Textfeld 32">
            <a:extLst>
              <a:ext uri="{FF2B5EF4-FFF2-40B4-BE49-F238E27FC236}">
                <a16:creationId xmlns:a16="http://schemas.microsoft.com/office/drawing/2014/main" id="{97CED8F5-A6B5-4DBB-8A36-37C5A6732D6C}"/>
              </a:ext>
            </a:extLst>
          </p:cNvPr>
          <p:cNvSpPr txBox="1"/>
          <p:nvPr/>
        </p:nvSpPr>
        <p:spPr>
          <a:xfrm>
            <a:off x="5709671" y="3929291"/>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27</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34" name="Textfeld 33">
            <a:extLst>
              <a:ext uri="{FF2B5EF4-FFF2-40B4-BE49-F238E27FC236}">
                <a16:creationId xmlns:a16="http://schemas.microsoft.com/office/drawing/2014/main" id="{218FAFCF-FAC6-424D-A5F8-EFCED0572CAC}"/>
              </a:ext>
            </a:extLst>
          </p:cNvPr>
          <p:cNvSpPr txBox="1"/>
          <p:nvPr/>
        </p:nvSpPr>
        <p:spPr>
          <a:xfrm>
            <a:off x="5982111" y="3401552"/>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43</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6881096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4620EE-C2A1-489B-BD8F-0A9F2BEBFEC7}"/>
              </a:ext>
            </a:extLst>
          </p:cNvPr>
          <p:cNvSpPr>
            <a:spLocks noGrp="1"/>
          </p:cNvSpPr>
          <p:nvPr>
            <p:ph type="title"/>
          </p:nvPr>
        </p:nvSpPr>
        <p:spPr/>
        <p:txBody>
          <a:bodyPr/>
          <a:lstStyle/>
          <a:p>
            <a:r>
              <a:rPr lang="en-US"/>
              <a:t>Response Strategies – Stability</a:t>
            </a:r>
          </a:p>
        </p:txBody>
      </p:sp>
      <p:sp>
        <p:nvSpPr>
          <p:cNvPr id="4" name="Foliennummernplatzhalter 3">
            <a:extLst>
              <a:ext uri="{FF2B5EF4-FFF2-40B4-BE49-F238E27FC236}">
                <a16:creationId xmlns:a16="http://schemas.microsoft.com/office/drawing/2014/main" id="{EB376953-A22A-4421-B463-20DE22A33835}"/>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33</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pic>
        <p:nvPicPr>
          <p:cNvPr id="42" name="Grafik 41">
            <a:extLst>
              <a:ext uri="{FF2B5EF4-FFF2-40B4-BE49-F238E27FC236}">
                <a16:creationId xmlns:a16="http://schemas.microsoft.com/office/drawing/2014/main" id="{1271FE7B-8F57-4103-82DB-C5159F539F4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487217" y="2290249"/>
            <a:ext cx="4169567" cy="2544540"/>
          </a:xfrm>
          <a:prstGeom prst="rect">
            <a:avLst/>
          </a:prstGeom>
        </p:spPr>
      </p:pic>
      <p:sp>
        <p:nvSpPr>
          <p:cNvPr id="43" name="Textfeld 42">
            <a:extLst>
              <a:ext uri="{FF2B5EF4-FFF2-40B4-BE49-F238E27FC236}">
                <a16:creationId xmlns:a16="http://schemas.microsoft.com/office/drawing/2014/main" id="{37858348-BB3B-4B1D-956A-EEE23AE57641}"/>
              </a:ext>
            </a:extLst>
          </p:cNvPr>
          <p:cNvSpPr txBox="1"/>
          <p:nvPr/>
        </p:nvSpPr>
        <p:spPr>
          <a:xfrm>
            <a:off x="6936819" y="4524242"/>
            <a:ext cx="2031325"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Mückstein</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&amp;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2020</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44" name="Gruppieren 43">
            <a:extLst>
              <a:ext uri="{FF2B5EF4-FFF2-40B4-BE49-F238E27FC236}">
                <a16:creationId xmlns:a16="http://schemas.microsoft.com/office/drawing/2014/main" id="{15D23FFE-418E-4820-A2AA-A3D386E3C966}"/>
              </a:ext>
            </a:extLst>
          </p:cNvPr>
          <p:cNvGrpSpPr/>
          <p:nvPr/>
        </p:nvGrpSpPr>
        <p:grpSpPr>
          <a:xfrm>
            <a:off x="1608116" y="1471274"/>
            <a:ext cx="548640" cy="480060"/>
            <a:chOff x="7992827" y="1007806"/>
            <a:chExt cx="731520" cy="640080"/>
          </a:xfrm>
        </p:grpSpPr>
        <p:sp>
          <p:nvSpPr>
            <p:cNvPr id="45" name="Rechteck 44">
              <a:extLst>
                <a:ext uri="{FF2B5EF4-FFF2-40B4-BE49-F238E27FC236}">
                  <a16:creationId xmlns:a16="http://schemas.microsoft.com/office/drawing/2014/main" id="{6B27AF34-6C84-42FF-B974-5F92E4AB21C9}"/>
                </a:ext>
              </a:extLst>
            </p:cNvPr>
            <p:cNvSpPr>
              <a:spLocks/>
            </p:cNvSpPr>
            <p:nvPr/>
          </p:nvSpPr>
          <p:spPr>
            <a:xfrm>
              <a:off x="7992827" y="1007806"/>
              <a:ext cx="731520" cy="640080"/>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pic>
          <p:nvPicPr>
            <p:cNvPr id="46" name="Picture 4" descr="C:\Users\jovita\Desktop\Exp_VolDT_resources\01_Planung\Reizmaterial\Räumlich_Gedächtnis\5c.png">
              <a:extLst>
                <a:ext uri="{FF2B5EF4-FFF2-40B4-BE49-F238E27FC236}">
                  <a16:creationId xmlns:a16="http://schemas.microsoft.com/office/drawing/2014/main" id="{314B0EC5-E3EE-4344-8E79-8BA03980B25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72400"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C:\Users\jovita\Desktop\Exp_VolDT_resources\01_Planung\Reizmaterial\Räumlich_Gedächtnis\5c.png">
              <a:extLst>
                <a:ext uri="{FF2B5EF4-FFF2-40B4-BE49-F238E27FC236}">
                  <a16:creationId xmlns:a16="http://schemas.microsoft.com/office/drawing/2014/main" id="{342BF499-724C-4106-823F-F97FC481D50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8424"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3" descr="C:\Users\jovita\Desktop\Exp_VolDT_resources\01_Planung\Reizmaterial\Räumlich_Klassifikation\50°gedreht\39_50_R.jpg">
              <a:extLst>
                <a:ext uri="{FF2B5EF4-FFF2-40B4-BE49-F238E27FC236}">
                  <a16:creationId xmlns:a16="http://schemas.microsoft.com/office/drawing/2014/main" id="{2300FEB2-EC69-4D98-98F2-AD29D984875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72400" y="1297276"/>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49" name="Picture 3" descr="C:\Users\jovita\Desktop\Konferenzen\TeaP_2016\Talk\Abbildungen\Hand_rechts.png">
            <a:extLst>
              <a:ext uri="{FF2B5EF4-FFF2-40B4-BE49-F238E27FC236}">
                <a16:creationId xmlns:a16="http://schemas.microsoft.com/office/drawing/2014/main" id="{E27B5357-C34B-4945-9197-A00242D41CB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37590"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C:\Users\jovita\Desktop\Konferenzen\TeaP_2016\Talk\Abbildungen\Hand_rechts.png">
            <a:extLst>
              <a:ext uri="{FF2B5EF4-FFF2-40B4-BE49-F238E27FC236}">
                <a16:creationId xmlns:a16="http://schemas.microsoft.com/office/drawing/2014/main" id="{80423AE8-4072-49F2-B44B-0AC7503A753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1287310"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51" name="Textfeld 50">
            <a:extLst>
              <a:ext uri="{FF2B5EF4-FFF2-40B4-BE49-F238E27FC236}">
                <a16:creationId xmlns:a16="http://schemas.microsoft.com/office/drawing/2014/main" id="{71BE10AD-28E0-48C6-A5E7-16EC386ADEE1}"/>
              </a:ext>
            </a:extLst>
          </p:cNvPr>
          <p:cNvSpPr txBox="1"/>
          <p:nvPr/>
        </p:nvSpPr>
        <p:spPr>
          <a:xfrm>
            <a:off x="1102695" y="1063228"/>
            <a:ext cx="1673169"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Maximum Overlap of </a:t>
            </a: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Demands</a:t>
            </a:r>
          </a:p>
        </p:txBody>
      </p:sp>
      <p:grpSp>
        <p:nvGrpSpPr>
          <p:cNvPr id="52" name="Gruppieren 51">
            <a:extLst>
              <a:ext uri="{FF2B5EF4-FFF2-40B4-BE49-F238E27FC236}">
                <a16:creationId xmlns:a16="http://schemas.microsoft.com/office/drawing/2014/main" id="{78F299A9-D097-4DF5-A2EB-7FD88025F095}"/>
              </a:ext>
            </a:extLst>
          </p:cNvPr>
          <p:cNvGrpSpPr/>
          <p:nvPr/>
        </p:nvGrpSpPr>
        <p:grpSpPr>
          <a:xfrm>
            <a:off x="6726212" y="1493491"/>
            <a:ext cx="548640" cy="480060"/>
            <a:chOff x="1536525" y="5474191"/>
            <a:chExt cx="731520" cy="640080"/>
          </a:xfrm>
        </p:grpSpPr>
        <p:grpSp>
          <p:nvGrpSpPr>
            <p:cNvPr id="53" name="Gruppieren 52">
              <a:extLst>
                <a:ext uri="{FF2B5EF4-FFF2-40B4-BE49-F238E27FC236}">
                  <a16:creationId xmlns:a16="http://schemas.microsoft.com/office/drawing/2014/main" id="{9BDF592B-7196-4A5C-BD8D-F4F27B558687}"/>
                </a:ext>
              </a:extLst>
            </p:cNvPr>
            <p:cNvGrpSpPr>
              <a:grpSpLocks noChangeAspect="1"/>
            </p:cNvGrpSpPr>
            <p:nvPr/>
          </p:nvGrpSpPr>
          <p:grpSpPr>
            <a:xfrm>
              <a:off x="1536525" y="5474191"/>
              <a:ext cx="731520" cy="640080"/>
              <a:chOff x="1850864" y="2097426"/>
              <a:chExt cx="1422400" cy="1244599"/>
            </a:xfrm>
          </p:grpSpPr>
          <p:sp>
            <p:nvSpPr>
              <p:cNvPr id="55" name="Rechteck 54">
                <a:extLst>
                  <a:ext uri="{FF2B5EF4-FFF2-40B4-BE49-F238E27FC236}">
                    <a16:creationId xmlns:a16="http://schemas.microsoft.com/office/drawing/2014/main" id="{A268B1ED-D5FD-48D4-A501-967C7F1D598A}"/>
                  </a:ext>
                </a:extLst>
              </p:cNvPr>
              <p:cNvSpPr/>
              <p:nvPr/>
            </p:nvSpPr>
            <p:spPr>
              <a:xfrm>
                <a:off x="1850864" y="2097426"/>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56" name="Textfeld 55">
                <a:extLst>
                  <a:ext uri="{FF2B5EF4-FFF2-40B4-BE49-F238E27FC236}">
                    <a16:creationId xmlns:a16="http://schemas.microsoft.com/office/drawing/2014/main" id="{6209787F-FFB5-4212-B181-D4F1D2E0CDA0}"/>
                  </a:ext>
                </a:extLst>
              </p:cNvPr>
              <p:cNvSpPr txBox="1"/>
              <p:nvPr/>
            </p:nvSpPr>
            <p:spPr>
              <a:xfrm>
                <a:off x="2046506" y="2586311"/>
                <a:ext cx="977477" cy="598453"/>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54" name="Picture 3" descr="C:\Users\jovita\Desktop\Exp_VolDT_resources\01_Planung\Reizmaterial\Räumlich_Klassifikation\50°gedreht\39_50_R.jpg">
              <a:extLst>
                <a:ext uri="{FF2B5EF4-FFF2-40B4-BE49-F238E27FC236}">
                  <a16:creationId xmlns:a16="http://schemas.microsoft.com/office/drawing/2014/main" id="{F2FB3AD5-9D41-44AE-8C93-49B49673B80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83839" y="5486098"/>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57" name="Picture 3" descr="C:\Users\jovita\Desktop\Konferenzen\TeaP_2016\Talk\Abbildungen\Hand_rechts.png">
            <a:extLst>
              <a:ext uri="{FF2B5EF4-FFF2-40B4-BE49-F238E27FC236}">
                <a16:creationId xmlns:a16="http://schemas.microsoft.com/office/drawing/2014/main" id="{B01D82D7-3C5F-4330-A7D3-088360C42E2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6401671"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58" name="Ovale Legende 20">
            <a:extLst>
              <a:ext uri="{FF2B5EF4-FFF2-40B4-BE49-F238E27FC236}">
                <a16:creationId xmlns:a16="http://schemas.microsoft.com/office/drawing/2014/main" id="{02C4CCCF-0F22-486E-838E-5BA8AE64733A}"/>
              </a:ext>
            </a:extLst>
          </p:cNvPr>
          <p:cNvSpPr/>
          <p:nvPr/>
        </p:nvSpPr>
        <p:spPr>
          <a:xfrm flipH="1">
            <a:off x="7140545" y="1687149"/>
            <a:ext cx="666098" cy="255687"/>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59" name="Textfeld 58">
            <a:extLst>
              <a:ext uri="{FF2B5EF4-FFF2-40B4-BE49-F238E27FC236}">
                <a16:creationId xmlns:a16="http://schemas.microsoft.com/office/drawing/2014/main" id="{610BA76A-C8FB-4F66-B4B5-BB4992A2DE4C}"/>
              </a:ext>
            </a:extLst>
          </p:cNvPr>
          <p:cNvSpPr txBox="1"/>
          <p:nvPr/>
        </p:nvSpPr>
        <p:spPr>
          <a:xfrm>
            <a:off x="6227386" y="1063229"/>
            <a:ext cx="1546294"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Minimum </a:t>
            </a: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Ressources</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-Overlap</a:t>
            </a:r>
          </a:p>
        </p:txBody>
      </p:sp>
      <p:pic>
        <p:nvPicPr>
          <p:cNvPr id="60" name="Grafik 59">
            <a:extLst>
              <a:ext uri="{FF2B5EF4-FFF2-40B4-BE49-F238E27FC236}">
                <a16:creationId xmlns:a16="http://schemas.microsoft.com/office/drawing/2014/main" id="{3134128A-B186-4771-A6FE-82782058B682}"/>
              </a:ext>
            </a:extLst>
          </p:cNvPr>
          <p:cNvPicPr>
            <a:picLocks noChangeAspect="1"/>
          </p:cNvPicPr>
          <p:nvPr/>
        </p:nvPicPr>
        <p:blipFill>
          <a:blip r:embed="rId8" cstate="print">
            <a:biLevel thresh="25000"/>
            <a:extLst>
              <a:ext uri="{28A0092B-C50C-407E-A947-70E740481C1C}">
                <a14:useLocalDpi xmlns:a14="http://schemas.microsoft.com/office/drawing/2010/main" val="0"/>
              </a:ext>
            </a:extLst>
          </a:blip>
          <a:stretch>
            <a:fillRect/>
          </a:stretch>
        </p:blipFill>
        <p:spPr>
          <a:xfrm>
            <a:off x="7403415" y="1960993"/>
            <a:ext cx="432000" cy="216000"/>
          </a:xfrm>
          <a:prstGeom prst="rect">
            <a:avLst/>
          </a:prstGeom>
        </p:spPr>
      </p:pic>
      <p:grpSp>
        <p:nvGrpSpPr>
          <p:cNvPr id="61" name="Gruppieren 60">
            <a:extLst>
              <a:ext uri="{FF2B5EF4-FFF2-40B4-BE49-F238E27FC236}">
                <a16:creationId xmlns:a16="http://schemas.microsoft.com/office/drawing/2014/main" id="{8CB70947-5EB1-488B-8090-09BE998C654B}"/>
              </a:ext>
            </a:extLst>
          </p:cNvPr>
          <p:cNvGrpSpPr>
            <a:grpSpLocks noChangeAspect="1"/>
          </p:cNvGrpSpPr>
          <p:nvPr/>
        </p:nvGrpSpPr>
        <p:grpSpPr>
          <a:xfrm>
            <a:off x="5027712" y="1468096"/>
            <a:ext cx="548640" cy="480060"/>
            <a:chOff x="1860163" y="2066749"/>
            <a:chExt cx="1422400" cy="1244599"/>
          </a:xfrm>
        </p:grpSpPr>
        <p:sp>
          <p:nvSpPr>
            <p:cNvPr id="62" name="Rechteck 61">
              <a:extLst>
                <a:ext uri="{FF2B5EF4-FFF2-40B4-BE49-F238E27FC236}">
                  <a16:creationId xmlns:a16="http://schemas.microsoft.com/office/drawing/2014/main" id="{CFC7C5B0-67C8-4223-970C-C936AAE724C1}"/>
                </a:ext>
              </a:extLst>
            </p:cNvPr>
            <p:cNvSpPr/>
            <p:nvPr/>
          </p:nvSpPr>
          <p:spPr>
            <a:xfrm>
              <a:off x="1860163" y="2066749"/>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63" name="Textfeld 62">
              <a:extLst>
                <a:ext uri="{FF2B5EF4-FFF2-40B4-BE49-F238E27FC236}">
                  <a16:creationId xmlns:a16="http://schemas.microsoft.com/office/drawing/2014/main" id="{1D4124B4-DCCA-476A-97E0-187C72BD05BD}"/>
                </a:ext>
              </a:extLst>
            </p:cNvPr>
            <p:cNvSpPr txBox="1"/>
            <p:nvPr/>
          </p:nvSpPr>
          <p:spPr>
            <a:xfrm>
              <a:off x="2027953" y="2201426"/>
              <a:ext cx="1060596" cy="957527"/>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64" name="Picture 3" descr="C:\Users\jovita\Desktop\Konferenzen\TeaP_2016\Talk\Abbildungen\Hand_rechts.png">
            <a:extLst>
              <a:ext uri="{FF2B5EF4-FFF2-40B4-BE49-F238E27FC236}">
                <a16:creationId xmlns:a16="http://schemas.microsoft.com/office/drawing/2014/main" id="{10931E13-CB01-4744-A0BC-77F39D51342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4699234"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65" name="Ovale Legende 29">
            <a:extLst>
              <a:ext uri="{FF2B5EF4-FFF2-40B4-BE49-F238E27FC236}">
                <a16:creationId xmlns:a16="http://schemas.microsoft.com/office/drawing/2014/main" id="{1C0B1866-0FBD-4F50-AE45-A33D7E7C0D6C}"/>
              </a:ext>
            </a:extLst>
          </p:cNvPr>
          <p:cNvSpPr/>
          <p:nvPr/>
        </p:nvSpPr>
        <p:spPr>
          <a:xfrm flipH="1">
            <a:off x="5518275" y="1688377"/>
            <a:ext cx="724175" cy="254459"/>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66" name="Textfeld 65">
            <a:extLst>
              <a:ext uri="{FF2B5EF4-FFF2-40B4-BE49-F238E27FC236}">
                <a16:creationId xmlns:a16="http://schemas.microsoft.com/office/drawing/2014/main" id="{B9FB6776-C079-4518-AD0D-3D8420E6399C}"/>
              </a:ext>
            </a:extLst>
          </p:cNvPr>
          <p:cNvSpPr txBox="1"/>
          <p:nvPr/>
        </p:nvSpPr>
        <p:spPr>
          <a:xfrm>
            <a:off x="4572000" y="1063228"/>
            <a:ext cx="1517890"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Response Modality</a:t>
            </a:r>
          </a:p>
        </p:txBody>
      </p:sp>
      <p:pic>
        <p:nvPicPr>
          <p:cNvPr id="67" name="Grafik 66">
            <a:extLst>
              <a:ext uri="{FF2B5EF4-FFF2-40B4-BE49-F238E27FC236}">
                <a16:creationId xmlns:a16="http://schemas.microsoft.com/office/drawing/2014/main" id="{A3BA5F4E-2565-4E77-BE5B-58C5498C267F}"/>
              </a:ext>
            </a:extLst>
          </p:cNvPr>
          <p:cNvPicPr>
            <a:picLocks noChangeAspect="1"/>
          </p:cNvPicPr>
          <p:nvPr/>
        </p:nvPicPr>
        <p:blipFill>
          <a:blip r:embed="rId8" cstate="print">
            <a:biLevel thresh="25000"/>
            <a:extLst>
              <a:ext uri="{28A0092B-C50C-407E-A947-70E740481C1C}">
                <a14:useLocalDpi xmlns:a14="http://schemas.microsoft.com/office/drawing/2010/main" val="0"/>
              </a:ext>
            </a:extLst>
          </a:blip>
          <a:stretch>
            <a:fillRect/>
          </a:stretch>
        </p:blipFill>
        <p:spPr>
          <a:xfrm>
            <a:off x="5701327" y="1960993"/>
            <a:ext cx="432000" cy="216000"/>
          </a:xfrm>
          <a:prstGeom prst="rect">
            <a:avLst/>
          </a:prstGeom>
        </p:spPr>
      </p:pic>
      <p:grpSp>
        <p:nvGrpSpPr>
          <p:cNvPr id="68" name="Gruppieren 67">
            <a:extLst>
              <a:ext uri="{FF2B5EF4-FFF2-40B4-BE49-F238E27FC236}">
                <a16:creationId xmlns:a16="http://schemas.microsoft.com/office/drawing/2014/main" id="{5490C844-BE83-4CC2-9F58-E24071C2C9E0}"/>
              </a:ext>
            </a:extLst>
          </p:cNvPr>
          <p:cNvGrpSpPr/>
          <p:nvPr/>
        </p:nvGrpSpPr>
        <p:grpSpPr>
          <a:xfrm>
            <a:off x="3421508" y="1468096"/>
            <a:ext cx="548640" cy="480060"/>
            <a:chOff x="6666462" y="5479459"/>
            <a:chExt cx="731520" cy="640080"/>
          </a:xfrm>
        </p:grpSpPr>
        <p:grpSp>
          <p:nvGrpSpPr>
            <p:cNvPr id="69" name="Gruppieren 68">
              <a:extLst>
                <a:ext uri="{FF2B5EF4-FFF2-40B4-BE49-F238E27FC236}">
                  <a16:creationId xmlns:a16="http://schemas.microsoft.com/office/drawing/2014/main" id="{BCD2B099-E199-4DCB-A44A-68E15F6CEEF8}"/>
                </a:ext>
              </a:extLst>
            </p:cNvPr>
            <p:cNvGrpSpPr>
              <a:grpSpLocks noChangeAspect="1"/>
            </p:cNvGrpSpPr>
            <p:nvPr/>
          </p:nvGrpSpPr>
          <p:grpSpPr>
            <a:xfrm>
              <a:off x="6666462" y="5479459"/>
              <a:ext cx="731520" cy="640080"/>
              <a:chOff x="1800213" y="2107672"/>
              <a:chExt cx="1422400" cy="1244599"/>
            </a:xfrm>
          </p:grpSpPr>
          <p:sp>
            <p:nvSpPr>
              <p:cNvPr id="72" name="Rechteck 71">
                <a:extLst>
                  <a:ext uri="{FF2B5EF4-FFF2-40B4-BE49-F238E27FC236}">
                    <a16:creationId xmlns:a16="http://schemas.microsoft.com/office/drawing/2014/main" id="{2CBBCB52-4E4E-4D04-A9CE-B7C6D656F783}"/>
                  </a:ext>
                </a:extLst>
              </p:cNvPr>
              <p:cNvSpPr/>
              <p:nvPr/>
            </p:nvSpPr>
            <p:spPr>
              <a:xfrm>
                <a:off x="1800213" y="2107672"/>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73" name="Textfeld 72">
                <a:extLst>
                  <a:ext uri="{FF2B5EF4-FFF2-40B4-BE49-F238E27FC236}">
                    <a16:creationId xmlns:a16="http://schemas.microsoft.com/office/drawing/2014/main" id="{B1D00271-A862-4CA0-8FBC-1B16A568EAD8}"/>
                  </a:ext>
                </a:extLst>
              </p:cNvPr>
              <p:cNvSpPr txBox="1"/>
              <p:nvPr/>
            </p:nvSpPr>
            <p:spPr>
              <a:xfrm>
                <a:off x="2111073" y="2216706"/>
                <a:ext cx="894356" cy="957527"/>
              </a:xfrm>
              <a:prstGeom prst="rect">
                <a:avLst/>
              </a:prstGeom>
              <a:noFill/>
            </p:spPr>
            <p:txBody>
              <a:bodyPr wrap="none" rtlCol="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p:txBody>
          </p:sp>
        </p:grpSp>
        <p:pic>
          <p:nvPicPr>
            <p:cNvPr id="70" name="Picture 4" descr="C:\Users\jovita\Desktop\Exp_VolDT_resources\01_Planung\Reizmaterial\Räumlich_Gedächtnis\5c.png">
              <a:extLst>
                <a:ext uri="{FF2B5EF4-FFF2-40B4-BE49-F238E27FC236}">
                  <a16:creationId xmlns:a16="http://schemas.microsoft.com/office/drawing/2014/main" id="{369A3EAD-E890-49FC-B33C-A324A058C1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5305" y="5517232"/>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4" descr="C:\Users\jovita\Desktop\Exp_VolDT_resources\01_Planung\Reizmaterial\Räumlich_Gedächtnis\5c.png">
              <a:extLst>
                <a:ext uri="{FF2B5EF4-FFF2-40B4-BE49-F238E27FC236}">
                  <a16:creationId xmlns:a16="http://schemas.microsoft.com/office/drawing/2014/main" id="{F363210B-F70D-448B-82AE-7D404EC2C1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1329" y="5517232"/>
              <a:ext cx="252000" cy="284241"/>
            </a:xfrm>
            <a:prstGeom prst="rect">
              <a:avLst/>
            </a:prstGeom>
            <a:noFill/>
            <a:extLst>
              <a:ext uri="{909E8E84-426E-40DD-AFC4-6F175D3DCCD1}">
                <a14:hiddenFill xmlns:a14="http://schemas.microsoft.com/office/drawing/2010/main">
                  <a:solidFill>
                    <a:srgbClr val="FFFFFF"/>
                  </a:solidFill>
                </a14:hiddenFill>
              </a:ext>
            </a:extLst>
          </p:spPr>
        </p:pic>
      </p:grpSp>
      <p:pic>
        <p:nvPicPr>
          <p:cNvPr id="74" name="Picture 3" descr="C:\Users\jovita\Desktop\Konferenzen\TeaP_2016\Talk\Abbildungen\Hand_rechts.png">
            <a:extLst>
              <a:ext uri="{FF2B5EF4-FFF2-40B4-BE49-F238E27FC236}">
                <a16:creationId xmlns:a16="http://schemas.microsoft.com/office/drawing/2014/main" id="{2CB6B1D3-2365-40F8-9A37-A44EE3D269A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45136"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3" descr="C:\Users\jovita\Desktop\Konferenzen\TeaP_2016\Talk\Abbildungen\Hand_rechts.png">
            <a:extLst>
              <a:ext uri="{FF2B5EF4-FFF2-40B4-BE49-F238E27FC236}">
                <a16:creationId xmlns:a16="http://schemas.microsoft.com/office/drawing/2014/main" id="{A4FC2D1C-43F1-4D02-9FD7-087547BF4D5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3094856"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76" name="Textfeld 75">
            <a:extLst>
              <a:ext uri="{FF2B5EF4-FFF2-40B4-BE49-F238E27FC236}">
                <a16:creationId xmlns:a16="http://schemas.microsoft.com/office/drawing/2014/main" id="{C4619304-8478-4BDC-9BC1-6CE8BA459E33}"/>
              </a:ext>
            </a:extLst>
          </p:cNvPr>
          <p:cNvSpPr txBox="1"/>
          <p:nvPr/>
        </p:nvSpPr>
        <p:spPr>
          <a:xfrm>
            <a:off x="2841010" y="1063229"/>
            <a:ext cx="1665845"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Processing Codes</a:t>
            </a:r>
          </a:p>
        </p:txBody>
      </p:sp>
    </p:spTree>
    <p:extLst>
      <p:ext uri="{BB962C8B-B14F-4D97-AF65-F5344CB8AC3E}">
        <p14:creationId xmlns:p14="http://schemas.microsoft.com/office/powerpoint/2010/main" val="3327724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4620EE-C2A1-489B-BD8F-0A9F2BEBFEC7}"/>
              </a:ext>
            </a:extLst>
          </p:cNvPr>
          <p:cNvSpPr>
            <a:spLocks noGrp="1"/>
          </p:cNvSpPr>
          <p:nvPr>
            <p:ph type="title"/>
          </p:nvPr>
        </p:nvSpPr>
        <p:spPr>
          <a:xfrm>
            <a:off x="755577" y="205979"/>
            <a:ext cx="8045523" cy="857250"/>
          </a:xfrm>
        </p:spPr>
        <p:txBody>
          <a:bodyPr>
            <a:normAutofit fontScale="90000"/>
          </a:bodyPr>
          <a:lstStyle/>
          <a:p>
            <a:r>
              <a:rPr lang="en-US" dirty="0"/>
              <a:t>Response Strategies – Split-Half Reliability</a:t>
            </a:r>
          </a:p>
        </p:txBody>
      </p:sp>
      <p:sp>
        <p:nvSpPr>
          <p:cNvPr id="4" name="Foliennummernplatzhalter 3">
            <a:extLst>
              <a:ext uri="{FF2B5EF4-FFF2-40B4-BE49-F238E27FC236}">
                <a16:creationId xmlns:a16="http://schemas.microsoft.com/office/drawing/2014/main" id="{EB376953-A22A-4421-B463-20DE22A33835}"/>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34</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pic>
        <p:nvPicPr>
          <p:cNvPr id="42" name="Grafik 41">
            <a:extLst>
              <a:ext uri="{FF2B5EF4-FFF2-40B4-BE49-F238E27FC236}">
                <a16:creationId xmlns:a16="http://schemas.microsoft.com/office/drawing/2014/main" id="{1271FE7B-8F57-4103-82DB-C5159F539F45}"/>
              </a:ext>
            </a:extLst>
          </p:cNvPr>
          <p:cNvPicPr>
            <a:picLocks noChangeAspect="1"/>
          </p:cNvPicPr>
          <p:nvPr/>
        </p:nvPicPr>
        <p:blipFill>
          <a:blip r:embed="rId3"/>
          <a:srcRect/>
          <a:stretch/>
        </p:blipFill>
        <p:spPr>
          <a:xfrm>
            <a:off x="2486716" y="2170726"/>
            <a:ext cx="4118072" cy="2810684"/>
          </a:xfrm>
          <a:prstGeom prst="rect">
            <a:avLst/>
          </a:prstGeom>
        </p:spPr>
      </p:pic>
      <p:sp>
        <p:nvSpPr>
          <p:cNvPr id="43" name="Textfeld 42">
            <a:extLst>
              <a:ext uri="{FF2B5EF4-FFF2-40B4-BE49-F238E27FC236}">
                <a16:creationId xmlns:a16="http://schemas.microsoft.com/office/drawing/2014/main" id="{37858348-BB3B-4B1D-956A-EEE23AE57641}"/>
              </a:ext>
            </a:extLst>
          </p:cNvPr>
          <p:cNvSpPr txBox="1"/>
          <p:nvPr/>
        </p:nvSpPr>
        <p:spPr>
          <a:xfrm>
            <a:off x="6936819" y="4524242"/>
            <a:ext cx="2031325"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Mückstein</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&amp;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2020</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44" name="Gruppieren 43">
            <a:extLst>
              <a:ext uri="{FF2B5EF4-FFF2-40B4-BE49-F238E27FC236}">
                <a16:creationId xmlns:a16="http://schemas.microsoft.com/office/drawing/2014/main" id="{15D23FFE-418E-4820-A2AA-A3D386E3C966}"/>
              </a:ext>
            </a:extLst>
          </p:cNvPr>
          <p:cNvGrpSpPr/>
          <p:nvPr/>
        </p:nvGrpSpPr>
        <p:grpSpPr>
          <a:xfrm>
            <a:off x="1608116" y="1471274"/>
            <a:ext cx="548640" cy="480060"/>
            <a:chOff x="7992827" y="1007806"/>
            <a:chExt cx="731520" cy="640080"/>
          </a:xfrm>
        </p:grpSpPr>
        <p:sp>
          <p:nvSpPr>
            <p:cNvPr id="45" name="Rechteck 44">
              <a:extLst>
                <a:ext uri="{FF2B5EF4-FFF2-40B4-BE49-F238E27FC236}">
                  <a16:creationId xmlns:a16="http://schemas.microsoft.com/office/drawing/2014/main" id="{6B27AF34-6C84-42FF-B974-5F92E4AB21C9}"/>
                </a:ext>
              </a:extLst>
            </p:cNvPr>
            <p:cNvSpPr>
              <a:spLocks/>
            </p:cNvSpPr>
            <p:nvPr/>
          </p:nvSpPr>
          <p:spPr>
            <a:xfrm>
              <a:off x="7992827" y="1007806"/>
              <a:ext cx="731520" cy="640080"/>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pic>
          <p:nvPicPr>
            <p:cNvPr id="46" name="Picture 4" descr="C:\Users\jovita\Desktop\Exp_VolDT_resources\01_Planung\Reizmaterial\Räumlich_Gedächtnis\5c.png">
              <a:extLst>
                <a:ext uri="{FF2B5EF4-FFF2-40B4-BE49-F238E27FC236}">
                  <a16:creationId xmlns:a16="http://schemas.microsoft.com/office/drawing/2014/main" id="{314B0EC5-E3EE-4344-8E79-8BA03980B25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72400"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C:\Users\jovita\Desktop\Exp_VolDT_resources\01_Planung\Reizmaterial\Räumlich_Gedächtnis\5c.png">
              <a:extLst>
                <a:ext uri="{FF2B5EF4-FFF2-40B4-BE49-F238E27FC236}">
                  <a16:creationId xmlns:a16="http://schemas.microsoft.com/office/drawing/2014/main" id="{342BF499-724C-4106-823F-F97FC481D50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8424"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3" descr="C:\Users\jovita\Desktop\Exp_VolDT_resources\01_Planung\Reizmaterial\Räumlich_Klassifikation\50°gedreht\39_50_R.jpg">
              <a:extLst>
                <a:ext uri="{FF2B5EF4-FFF2-40B4-BE49-F238E27FC236}">
                  <a16:creationId xmlns:a16="http://schemas.microsoft.com/office/drawing/2014/main" id="{2300FEB2-EC69-4D98-98F2-AD29D984875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72400" y="1297276"/>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49" name="Picture 3" descr="C:\Users\jovita\Desktop\Konferenzen\TeaP_2016\Talk\Abbildungen\Hand_rechts.png">
            <a:extLst>
              <a:ext uri="{FF2B5EF4-FFF2-40B4-BE49-F238E27FC236}">
                <a16:creationId xmlns:a16="http://schemas.microsoft.com/office/drawing/2014/main" id="{E27B5357-C34B-4945-9197-A00242D41CB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37590"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C:\Users\jovita\Desktop\Konferenzen\TeaP_2016\Talk\Abbildungen\Hand_rechts.png">
            <a:extLst>
              <a:ext uri="{FF2B5EF4-FFF2-40B4-BE49-F238E27FC236}">
                <a16:creationId xmlns:a16="http://schemas.microsoft.com/office/drawing/2014/main" id="{80423AE8-4072-49F2-B44B-0AC7503A753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1287310"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51" name="Textfeld 50">
            <a:extLst>
              <a:ext uri="{FF2B5EF4-FFF2-40B4-BE49-F238E27FC236}">
                <a16:creationId xmlns:a16="http://schemas.microsoft.com/office/drawing/2014/main" id="{71BE10AD-28E0-48C6-A5E7-16EC386ADEE1}"/>
              </a:ext>
            </a:extLst>
          </p:cNvPr>
          <p:cNvSpPr txBox="1"/>
          <p:nvPr/>
        </p:nvSpPr>
        <p:spPr>
          <a:xfrm>
            <a:off x="1102695" y="1063228"/>
            <a:ext cx="1673169"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Maximum Overlap of </a:t>
            </a: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Demands</a:t>
            </a:r>
          </a:p>
        </p:txBody>
      </p:sp>
      <p:grpSp>
        <p:nvGrpSpPr>
          <p:cNvPr id="52" name="Gruppieren 51">
            <a:extLst>
              <a:ext uri="{FF2B5EF4-FFF2-40B4-BE49-F238E27FC236}">
                <a16:creationId xmlns:a16="http://schemas.microsoft.com/office/drawing/2014/main" id="{78F299A9-D097-4DF5-A2EB-7FD88025F095}"/>
              </a:ext>
            </a:extLst>
          </p:cNvPr>
          <p:cNvGrpSpPr/>
          <p:nvPr/>
        </p:nvGrpSpPr>
        <p:grpSpPr>
          <a:xfrm>
            <a:off x="6726212" y="1493491"/>
            <a:ext cx="548640" cy="480060"/>
            <a:chOff x="1536525" y="5474191"/>
            <a:chExt cx="731520" cy="640080"/>
          </a:xfrm>
        </p:grpSpPr>
        <p:grpSp>
          <p:nvGrpSpPr>
            <p:cNvPr id="53" name="Gruppieren 52">
              <a:extLst>
                <a:ext uri="{FF2B5EF4-FFF2-40B4-BE49-F238E27FC236}">
                  <a16:creationId xmlns:a16="http://schemas.microsoft.com/office/drawing/2014/main" id="{9BDF592B-7196-4A5C-BD8D-F4F27B558687}"/>
                </a:ext>
              </a:extLst>
            </p:cNvPr>
            <p:cNvGrpSpPr>
              <a:grpSpLocks noChangeAspect="1"/>
            </p:cNvGrpSpPr>
            <p:nvPr/>
          </p:nvGrpSpPr>
          <p:grpSpPr>
            <a:xfrm>
              <a:off x="1536525" y="5474191"/>
              <a:ext cx="731520" cy="640080"/>
              <a:chOff x="1850864" y="2097426"/>
              <a:chExt cx="1422400" cy="1244599"/>
            </a:xfrm>
          </p:grpSpPr>
          <p:sp>
            <p:nvSpPr>
              <p:cNvPr id="55" name="Rechteck 54">
                <a:extLst>
                  <a:ext uri="{FF2B5EF4-FFF2-40B4-BE49-F238E27FC236}">
                    <a16:creationId xmlns:a16="http://schemas.microsoft.com/office/drawing/2014/main" id="{A268B1ED-D5FD-48D4-A501-967C7F1D598A}"/>
                  </a:ext>
                </a:extLst>
              </p:cNvPr>
              <p:cNvSpPr/>
              <p:nvPr/>
            </p:nvSpPr>
            <p:spPr>
              <a:xfrm>
                <a:off x="1850864" y="2097426"/>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56" name="Textfeld 55">
                <a:extLst>
                  <a:ext uri="{FF2B5EF4-FFF2-40B4-BE49-F238E27FC236}">
                    <a16:creationId xmlns:a16="http://schemas.microsoft.com/office/drawing/2014/main" id="{6209787F-FFB5-4212-B181-D4F1D2E0CDA0}"/>
                  </a:ext>
                </a:extLst>
              </p:cNvPr>
              <p:cNvSpPr txBox="1"/>
              <p:nvPr/>
            </p:nvSpPr>
            <p:spPr>
              <a:xfrm>
                <a:off x="2046506" y="2586311"/>
                <a:ext cx="977477" cy="598453"/>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54" name="Picture 3" descr="C:\Users\jovita\Desktop\Exp_VolDT_resources\01_Planung\Reizmaterial\Räumlich_Klassifikation\50°gedreht\39_50_R.jpg">
              <a:extLst>
                <a:ext uri="{FF2B5EF4-FFF2-40B4-BE49-F238E27FC236}">
                  <a16:creationId xmlns:a16="http://schemas.microsoft.com/office/drawing/2014/main" id="{F2FB3AD5-9D41-44AE-8C93-49B49673B80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83839" y="5486098"/>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57" name="Picture 3" descr="C:\Users\jovita\Desktop\Konferenzen\TeaP_2016\Talk\Abbildungen\Hand_rechts.png">
            <a:extLst>
              <a:ext uri="{FF2B5EF4-FFF2-40B4-BE49-F238E27FC236}">
                <a16:creationId xmlns:a16="http://schemas.microsoft.com/office/drawing/2014/main" id="{B01D82D7-3C5F-4330-A7D3-088360C42E2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6401671"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58" name="Ovale Legende 20">
            <a:extLst>
              <a:ext uri="{FF2B5EF4-FFF2-40B4-BE49-F238E27FC236}">
                <a16:creationId xmlns:a16="http://schemas.microsoft.com/office/drawing/2014/main" id="{02C4CCCF-0F22-486E-838E-5BA8AE64733A}"/>
              </a:ext>
            </a:extLst>
          </p:cNvPr>
          <p:cNvSpPr/>
          <p:nvPr/>
        </p:nvSpPr>
        <p:spPr>
          <a:xfrm flipH="1">
            <a:off x="7140545" y="1687149"/>
            <a:ext cx="666098" cy="255687"/>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59" name="Textfeld 58">
            <a:extLst>
              <a:ext uri="{FF2B5EF4-FFF2-40B4-BE49-F238E27FC236}">
                <a16:creationId xmlns:a16="http://schemas.microsoft.com/office/drawing/2014/main" id="{610BA76A-C8FB-4F66-B4B5-BB4992A2DE4C}"/>
              </a:ext>
            </a:extLst>
          </p:cNvPr>
          <p:cNvSpPr txBox="1"/>
          <p:nvPr/>
        </p:nvSpPr>
        <p:spPr>
          <a:xfrm>
            <a:off x="6227386" y="1063229"/>
            <a:ext cx="1546294"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Minimum </a:t>
            </a: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Ressources</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-Overlap</a:t>
            </a:r>
          </a:p>
        </p:txBody>
      </p:sp>
      <p:pic>
        <p:nvPicPr>
          <p:cNvPr id="60" name="Grafik 59">
            <a:extLst>
              <a:ext uri="{FF2B5EF4-FFF2-40B4-BE49-F238E27FC236}">
                <a16:creationId xmlns:a16="http://schemas.microsoft.com/office/drawing/2014/main" id="{3134128A-B186-4771-A6FE-82782058B682}"/>
              </a:ext>
            </a:extLst>
          </p:cNvPr>
          <p:cNvPicPr>
            <a:picLocks noChangeAspect="1"/>
          </p:cNvPicPr>
          <p:nvPr/>
        </p:nvPicPr>
        <p:blipFill>
          <a:blip r:embed="rId8" cstate="print">
            <a:biLevel thresh="25000"/>
            <a:extLst>
              <a:ext uri="{28A0092B-C50C-407E-A947-70E740481C1C}">
                <a14:useLocalDpi xmlns:a14="http://schemas.microsoft.com/office/drawing/2010/main" val="0"/>
              </a:ext>
            </a:extLst>
          </a:blip>
          <a:stretch>
            <a:fillRect/>
          </a:stretch>
        </p:blipFill>
        <p:spPr>
          <a:xfrm>
            <a:off x="7403415" y="1960993"/>
            <a:ext cx="432000" cy="216000"/>
          </a:xfrm>
          <a:prstGeom prst="rect">
            <a:avLst/>
          </a:prstGeom>
        </p:spPr>
      </p:pic>
      <p:grpSp>
        <p:nvGrpSpPr>
          <p:cNvPr id="61" name="Gruppieren 60">
            <a:extLst>
              <a:ext uri="{FF2B5EF4-FFF2-40B4-BE49-F238E27FC236}">
                <a16:creationId xmlns:a16="http://schemas.microsoft.com/office/drawing/2014/main" id="{8CB70947-5EB1-488B-8090-09BE998C654B}"/>
              </a:ext>
            </a:extLst>
          </p:cNvPr>
          <p:cNvGrpSpPr>
            <a:grpSpLocks noChangeAspect="1"/>
          </p:cNvGrpSpPr>
          <p:nvPr/>
        </p:nvGrpSpPr>
        <p:grpSpPr>
          <a:xfrm>
            <a:off x="5027712" y="1468096"/>
            <a:ext cx="548640" cy="480060"/>
            <a:chOff x="1860163" y="2066749"/>
            <a:chExt cx="1422400" cy="1244599"/>
          </a:xfrm>
        </p:grpSpPr>
        <p:sp>
          <p:nvSpPr>
            <p:cNvPr id="62" name="Rechteck 61">
              <a:extLst>
                <a:ext uri="{FF2B5EF4-FFF2-40B4-BE49-F238E27FC236}">
                  <a16:creationId xmlns:a16="http://schemas.microsoft.com/office/drawing/2014/main" id="{CFC7C5B0-67C8-4223-970C-C936AAE724C1}"/>
                </a:ext>
              </a:extLst>
            </p:cNvPr>
            <p:cNvSpPr/>
            <p:nvPr/>
          </p:nvSpPr>
          <p:spPr>
            <a:xfrm>
              <a:off x="1860163" y="2066749"/>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63" name="Textfeld 62">
              <a:extLst>
                <a:ext uri="{FF2B5EF4-FFF2-40B4-BE49-F238E27FC236}">
                  <a16:creationId xmlns:a16="http://schemas.microsoft.com/office/drawing/2014/main" id="{1D4124B4-DCCA-476A-97E0-187C72BD05BD}"/>
                </a:ext>
              </a:extLst>
            </p:cNvPr>
            <p:cNvSpPr txBox="1"/>
            <p:nvPr/>
          </p:nvSpPr>
          <p:spPr>
            <a:xfrm>
              <a:off x="2027953" y="2201426"/>
              <a:ext cx="1060596" cy="957527"/>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64" name="Picture 3" descr="C:\Users\jovita\Desktop\Konferenzen\TeaP_2016\Talk\Abbildungen\Hand_rechts.png">
            <a:extLst>
              <a:ext uri="{FF2B5EF4-FFF2-40B4-BE49-F238E27FC236}">
                <a16:creationId xmlns:a16="http://schemas.microsoft.com/office/drawing/2014/main" id="{10931E13-CB01-4744-A0BC-77F39D51342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4699234"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65" name="Ovale Legende 29">
            <a:extLst>
              <a:ext uri="{FF2B5EF4-FFF2-40B4-BE49-F238E27FC236}">
                <a16:creationId xmlns:a16="http://schemas.microsoft.com/office/drawing/2014/main" id="{1C0B1866-0FBD-4F50-AE45-A33D7E7C0D6C}"/>
              </a:ext>
            </a:extLst>
          </p:cNvPr>
          <p:cNvSpPr/>
          <p:nvPr/>
        </p:nvSpPr>
        <p:spPr>
          <a:xfrm flipH="1">
            <a:off x="5518275" y="1688377"/>
            <a:ext cx="724175" cy="254459"/>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66" name="Textfeld 65">
            <a:extLst>
              <a:ext uri="{FF2B5EF4-FFF2-40B4-BE49-F238E27FC236}">
                <a16:creationId xmlns:a16="http://schemas.microsoft.com/office/drawing/2014/main" id="{B9FB6776-C079-4518-AD0D-3D8420E6399C}"/>
              </a:ext>
            </a:extLst>
          </p:cNvPr>
          <p:cNvSpPr txBox="1"/>
          <p:nvPr/>
        </p:nvSpPr>
        <p:spPr>
          <a:xfrm>
            <a:off x="4572000" y="1063228"/>
            <a:ext cx="1517890"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Response Modality</a:t>
            </a:r>
          </a:p>
        </p:txBody>
      </p:sp>
      <p:pic>
        <p:nvPicPr>
          <p:cNvPr id="67" name="Grafik 66">
            <a:extLst>
              <a:ext uri="{FF2B5EF4-FFF2-40B4-BE49-F238E27FC236}">
                <a16:creationId xmlns:a16="http://schemas.microsoft.com/office/drawing/2014/main" id="{A3BA5F4E-2565-4E77-BE5B-58C5498C267F}"/>
              </a:ext>
            </a:extLst>
          </p:cNvPr>
          <p:cNvPicPr>
            <a:picLocks noChangeAspect="1"/>
          </p:cNvPicPr>
          <p:nvPr/>
        </p:nvPicPr>
        <p:blipFill>
          <a:blip r:embed="rId8" cstate="print">
            <a:biLevel thresh="25000"/>
            <a:extLst>
              <a:ext uri="{28A0092B-C50C-407E-A947-70E740481C1C}">
                <a14:useLocalDpi xmlns:a14="http://schemas.microsoft.com/office/drawing/2010/main" val="0"/>
              </a:ext>
            </a:extLst>
          </a:blip>
          <a:stretch>
            <a:fillRect/>
          </a:stretch>
        </p:blipFill>
        <p:spPr>
          <a:xfrm>
            <a:off x="5701327" y="1960993"/>
            <a:ext cx="432000" cy="216000"/>
          </a:xfrm>
          <a:prstGeom prst="rect">
            <a:avLst/>
          </a:prstGeom>
        </p:spPr>
      </p:pic>
      <p:grpSp>
        <p:nvGrpSpPr>
          <p:cNvPr id="68" name="Gruppieren 67">
            <a:extLst>
              <a:ext uri="{FF2B5EF4-FFF2-40B4-BE49-F238E27FC236}">
                <a16:creationId xmlns:a16="http://schemas.microsoft.com/office/drawing/2014/main" id="{5490C844-BE83-4CC2-9F58-E24071C2C9E0}"/>
              </a:ext>
            </a:extLst>
          </p:cNvPr>
          <p:cNvGrpSpPr/>
          <p:nvPr/>
        </p:nvGrpSpPr>
        <p:grpSpPr>
          <a:xfrm>
            <a:off x="3421508" y="1468096"/>
            <a:ext cx="548640" cy="480060"/>
            <a:chOff x="6666462" y="5479459"/>
            <a:chExt cx="731520" cy="640080"/>
          </a:xfrm>
        </p:grpSpPr>
        <p:grpSp>
          <p:nvGrpSpPr>
            <p:cNvPr id="69" name="Gruppieren 68">
              <a:extLst>
                <a:ext uri="{FF2B5EF4-FFF2-40B4-BE49-F238E27FC236}">
                  <a16:creationId xmlns:a16="http://schemas.microsoft.com/office/drawing/2014/main" id="{BCD2B099-E199-4DCB-A44A-68E15F6CEEF8}"/>
                </a:ext>
              </a:extLst>
            </p:cNvPr>
            <p:cNvGrpSpPr>
              <a:grpSpLocks noChangeAspect="1"/>
            </p:cNvGrpSpPr>
            <p:nvPr/>
          </p:nvGrpSpPr>
          <p:grpSpPr>
            <a:xfrm>
              <a:off x="6666462" y="5479459"/>
              <a:ext cx="731520" cy="640080"/>
              <a:chOff x="1800213" y="2107672"/>
              <a:chExt cx="1422400" cy="1244599"/>
            </a:xfrm>
          </p:grpSpPr>
          <p:sp>
            <p:nvSpPr>
              <p:cNvPr id="72" name="Rechteck 71">
                <a:extLst>
                  <a:ext uri="{FF2B5EF4-FFF2-40B4-BE49-F238E27FC236}">
                    <a16:creationId xmlns:a16="http://schemas.microsoft.com/office/drawing/2014/main" id="{2CBBCB52-4E4E-4D04-A9CE-B7C6D656F783}"/>
                  </a:ext>
                </a:extLst>
              </p:cNvPr>
              <p:cNvSpPr/>
              <p:nvPr/>
            </p:nvSpPr>
            <p:spPr>
              <a:xfrm>
                <a:off x="1800213" y="2107672"/>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73" name="Textfeld 72">
                <a:extLst>
                  <a:ext uri="{FF2B5EF4-FFF2-40B4-BE49-F238E27FC236}">
                    <a16:creationId xmlns:a16="http://schemas.microsoft.com/office/drawing/2014/main" id="{B1D00271-A862-4CA0-8FBC-1B16A568EAD8}"/>
                  </a:ext>
                </a:extLst>
              </p:cNvPr>
              <p:cNvSpPr txBox="1"/>
              <p:nvPr/>
            </p:nvSpPr>
            <p:spPr>
              <a:xfrm>
                <a:off x="2111073" y="2216706"/>
                <a:ext cx="894356" cy="957527"/>
              </a:xfrm>
              <a:prstGeom prst="rect">
                <a:avLst/>
              </a:prstGeom>
              <a:noFill/>
            </p:spPr>
            <p:txBody>
              <a:bodyPr wrap="none" rtlCol="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p:txBody>
          </p:sp>
        </p:grpSp>
        <p:pic>
          <p:nvPicPr>
            <p:cNvPr id="70" name="Picture 4" descr="C:\Users\jovita\Desktop\Exp_VolDT_resources\01_Planung\Reizmaterial\Räumlich_Gedächtnis\5c.png">
              <a:extLst>
                <a:ext uri="{FF2B5EF4-FFF2-40B4-BE49-F238E27FC236}">
                  <a16:creationId xmlns:a16="http://schemas.microsoft.com/office/drawing/2014/main" id="{369A3EAD-E890-49FC-B33C-A324A058C1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5305" y="5517232"/>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4" descr="C:\Users\jovita\Desktop\Exp_VolDT_resources\01_Planung\Reizmaterial\Räumlich_Gedächtnis\5c.png">
              <a:extLst>
                <a:ext uri="{FF2B5EF4-FFF2-40B4-BE49-F238E27FC236}">
                  <a16:creationId xmlns:a16="http://schemas.microsoft.com/office/drawing/2014/main" id="{F363210B-F70D-448B-82AE-7D404EC2C1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1329" y="5517232"/>
              <a:ext cx="252000" cy="284241"/>
            </a:xfrm>
            <a:prstGeom prst="rect">
              <a:avLst/>
            </a:prstGeom>
            <a:noFill/>
            <a:extLst>
              <a:ext uri="{909E8E84-426E-40DD-AFC4-6F175D3DCCD1}">
                <a14:hiddenFill xmlns:a14="http://schemas.microsoft.com/office/drawing/2010/main">
                  <a:solidFill>
                    <a:srgbClr val="FFFFFF"/>
                  </a:solidFill>
                </a14:hiddenFill>
              </a:ext>
            </a:extLst>
          </p:spPr>
        </p:pic>
      </p:grpSp>
      <p:pic>
        <p:nvPicPr>
          <p:cNvPr id="74" name="Picture 3" descr="C:\Users\jovita\Desktop\Konferenzen\TeaP_2016\Talk\Abbildungen\Hand_rechts.png">
            <a:extLst>
              <a:ext uri="{FF2B5EF4-FFF2-40B4-BE49-F238E27FC236}">
                <a16:creationId xmlns:a16="http://schemas.microsoft.com/office/drawing/2014/main" id="{2CB6B1D3-2365-40F8-9A37-A44EE3D269A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45136"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3" descr="C:\Users\jovita\Desktop\Konferenzen\TeaP_2016\Talk\Abbildungen\Hand_rechts.png">
            <a:extLst>
              <a:ext uri="{FF2B5EF4-FFF2-40B4-BE49-F238E27FC236}">
                <a16:creationId xmlns:a16="http://schemas.microsoft.com/office/drawing/2014/main" id="{A4FC2D1C-43F1-4D02-9FD7-087547BF4D5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3094856"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76" name="Textfeld 75">
            <a:extLst>
              <a:ext uri="{FF2B5EF4-FFF2-40B4-BE49-F238E27FC236}">
                <a16:creationId xmlns:a16="http://schemas.microsoft.com/office/drawing/2014/main" id="{C4619304-8478-4BDC-9BC1-6CE8BA459E33}"/>
              </a:ext>
            </a:extLst>
          </p:cNvPr>
          <p:cNvSpPr txBox="1"/>
          <p:nvPr/>
        </p:nvSpPr>
        <p:spPr>
          <a:xfrm>
            <a:off x="2841010" y="1063229"/>
            <a:ext cx="1665845"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Processing Codes</a:t>
            </a:r>
          </a:p>
        </p:txBody>
      </p:sp>
    </p:spTree>
    <p:extLst>
      <p:ext uri="{BB962C8B-B14F-4D97-AF65-F5344CB8AC3E}">
        <p14:creationId xmlns:p14="http://schemas.microsoft.com/office/powerpoint/2010/main" val="3516142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1ACCFA-8475-4AA9-92A9-ED4E31BD34C3}"/>
              </a:ext>
            </a:extLst>
          </p:cNvPr>
          <p:cNvSpPr>
            <a:spLocks noGrp="1"/>
          </p:cNvSpPr>
          <p:nvPr>
            <p:ph type="title"/>
          </p:nvPr>
        </p:nvSpPr>
        <p:spPr/>
        <p:txBody>
          <a:bodyPr/>
          <a:lstStyle/>
          <a:p>
            <a:r>
              <a:rPr lang="en-US"/>
              <a:t>Response Strategies – Efficiency</a:t>
            </a:r>
          </a:p>
        </p:txBody>
      </p:sp>
      <p:sp>
        <p:nvSpPr>
          <p:cNvPr id="4" name="Foliennummernplatzhalter 3">
            <a:extLst>
              <a:ext uri="{FF2B5EF4-FFF2-40B4-BE49-F238E27FC236}">
                <a16:creationId xmlns:a16="http://schemas.microsoft.com/office/drawing/2014/main" id="{529D7172-5454-4C58-947D-DC38922F5749}"/>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35</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pSp>
        <p:nvGrpSpPr>
          <p:cNvPr id="5" name="Gruppieren 4">
            <a:extLst>
              <a:ext uri="{FF2B5EF4-FFF2-40B4-BE49-F238E27FC236}">
                <a16:creationId xmlns:a16="http://schemas.microsoft.com/office/drawing/2014/main" id="{03C0F5E9-E97C-46FA-9723-4D67501D10A5}"/>
              </a:ext>
            </a:extLst>
          </p:cNvPr>
          <p:cNvGrpSpPr/>
          <p:nvPr/>
        </p:nvGrpSpPr>
        <p:grpSpPr>
          <a:xfrm>
            <a:off x="1608116" y="1471274"/>
            <a:ext cx="548640" cy="480060"/>
            <a:chOff x="7992827" y="1007806"/>
            <a:chExt cx="731520" cy="640080"/>
          </a:xfrm>
        </p:grpSpPr>
        <p:sp>
          <p:nvSpPr>
            <p:cNvPr id="6" name="Rechteck 5">
              <a:extLst>
                <a:ext uri="{FF2B5EF4-FFF2-40B4-BE49-F238E27FC236}">
                  <a16:creationId xmlns:a16="http://schemas.microsoft.com/office/drawing/2014/main" id="{F30D1B9A-A9E4-4AE7-85D0-56791EB9B443}"/>
                </a:ext>
              </a:extLst>
            </p:cNvPr>
            <p:cNvSpPr>
              <a:spLocks/>
            </p:cNvSpPr>
            <p:nvPr/>
          </p:nvSpPr>
          <p:spPr>
            <a:xfrm>
              <a:off x="7992827" y="1007806"/>
              <a:ext cx="731520" cy="640080"/>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pic>
          <p:nvPicPr>
            <p:cNvPr id="7" name="Picture 4" descr="C:\Users\jovita\Desktop\Exp_VolDT_resources\01_Planung\Reizmaterial\Räumlich_Gedächtnis\5c.png">
              <a:extLst>
                <a:ext uri="{FF2B5EF4-FFF2-40B4-BE49-F238E27FC236}">
                  <a16:creationId xmlns:a16="http://schemas.microsoft.com/office/drawing/2014/main" id="{B0A7535F-776D-4F8B-ABBE-4C8BA0D281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72400"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Users\jovita\Desktop\Exp_VolDT_resources\01_Planung\Reizmaterial\Räumlich_Gedächtnis\5c.png">
              <a:extLst>
                <a:ext uri="{FF2B5EF4-FFF2-40B4-BE49-F238E27FC236}">
                  <a16:creationId xmlns:a16="http://schemas.microsoft.com/office/drawing/2014/main" id="{4698859E-70D8-4925-8104-9D7E95DB6B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8424"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C:\Users\jovita\Desktop\Exp_VolDT_resources\01_Planung\Reizmaterial\Räumlich_Klassifikation\50°gedreht\39_50_R.jpg">
              <a:extLst>
                <a:ext uri="{FF2B5EF4-FFF2-40B4-BE49-F238E27FC236}">
                  <a16:creationId xmlns:a16="http://schemas.microsoft.com/office/drawing/2014/main" id="{9CC4CA6C-32DC-47E3-8C23-3B1EF4D72E6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72400" y="1297276"/>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3" descr="C:\Users\jovita\Desktop\Konferenzen\TeaP_2016\Talk\Abbildungen\Hand_rechts.png">
            <a:extLst>
              <a:ext uri="{FF2B5EF4-FFF2-40B4-BE49-F238E27FC236}">
                <a16:creationId xmlns:a16="http://schemas.microsoft.com/office/drawing/2014/main" id="{868FA729-FC96-4C23-BAD1-3E77A57B9F9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37590"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descr="C:\Users\jovita\Desktop\Konferenzen\TeaP_2016\Talk\Abbildungen\Hand_rechts.png">
            <a:extLst>
              <a:ext uri="{FF2B5EF4-FFF2-40B4-BE49-F238E27FC236}">
                <a16:creationId xmlns:a16="http://schemas.microsoft.com/office/drawing/2014/main" id="{046B93AA-9366-4245-B324-565E2CB24A5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1287310"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21A843BC-5A6A-42CA-BAA6-3EA307A621C9}"/>
              </a:ext>
            </a:extLst>
          </p:cNvPr>
          <p:cNvSpPr txBox="1"/>
          <p:nvPr/>
        </p:nvSpPr>
        <p:spPr>
          <a:xfrm>
            <a:off x="1102695" y="1063228"/>
            <a:ext cx="1673169"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Maximum Overlap of </a:t>
            </a: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Demands</a:t>
            </a:r>
          </a:p>
        </p:txBody>
      </p:sp>
      <p:grpSp>
        <p:nvGrpSpPr>
          <p:cNvPr id="13" name="Gruppieren 12">
            <a:extLst>
              <a:ext uri="{FF2B5EF4-FFF2-40B4-BE49-F238E27FC236}">
                <a16:creationId xmlns:a16="http://schemas.microsoft.com/office/drawing/2014/main" id="{6BA8633A-3331-4164-997A-7D60297944E4}"/>
              </a:ext>
            </a:extLst>
          </p:cNvPr>
          <p:cNvGrpSpPr/>
          <p:nvPr/>
        </p:nvGrpSpPr>
        <p:grpSpPr>
          <a:xfrm>
            <a:off x="6726212" y="1493491"/>
            <a:ext cx="548640" cy="480060"/>
            <a:chOff x="1536525" y="5474191"/>
            <a:chExt cx="731520" cy="640080"/>
          </a:xfrm>
        </p:grpSpPr>
        <p:grpSp>
          <p:nvGrpSpPr>
            <p:cNvPr id="14" name="Gruppieren 13">
              <a:extLst>
                <a:ext uri="{FF2B5EF4-FFF2-40B4-BE49-F238E27FC236}">
                  <a16:creationId xmlns:a16="http://schemas.microsoft.com/office/drawing/2014/main" id="{CC4E4523-A24F-4C20-8EF9-ADA33A293A6B}"/>
                </a:ext>
              </a:extLst>
            </p:cNvPr>
            <p:cNvGrpSpPr>
              <a:grpSpLocks noChangeAspect="1"/>
            </p:cNvGrpSpPr>
            <p:nvPr/>
          </p:nvGrpSpPr>
          <p:grpSpPr>
            <a:xfrm>
              <a:off x="1536525" y="5474191"/>
              <a:ext cx="731520" cy="640080"/>
              <a:chOff x="1850864" y="2097426"/>
              <a:chExt cx="1422400" cy="1244599"/>
            </a:xfrm>
          </p:grpSpPr>
          <p:sp>
            <p:nvSpPr>
              <p:cNvPr id="16" name="Rechteck 15">
                <a:extLst>
                  <a:ext uri="{FF2B5EF4-FFF2-40B4-BE49-F238E27FC236}">
                    <a16:creationId xmlns:a16="http://schemas.microsoft.com/office/drawing/2014/main" id="{2FF4B66B-92C2-4105-A1EA-372870AA0942}"/>
                  </a:ext>
                </a:extLst>
              </p:cNvPr>
              <p:cNvSpPr/>
              <p:nvPr/>
            </p:nvSpPr>
            <p:spPr>
              <a:xfrm>
                <a:off x="1850864" y="2097426"/>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17" name="Textfeld 16">
                <a:extLst>
                  <a:ext uri="{FF2B5EF4-FFF2-40B4-BE49-F238E27FC236}">
                    <a16:creationId xmlns:a16="http://schemas.microsoft.com/office/drawing/2014/main" id="{4234781C-F28C-4FBA-A288-44837E19E0F8}"/>
                  </a:ext>
                </a:extLst>
              </p:cNvPr>
              <p:cNvSpPr txBox="1"/>
              <p:nvPr/>
            </p:nvSpPr>
            <p:spPr>
              <a:xfrm>
                <a:off x="2046506" y="2586311"/>
                <a:ext cx="977477" cy="598453"/>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15" name="Picture 3" descr="C:\Users\jovita\Desktop\Exp_VolDT_resources\01_Planung\Reizmaterial\Räumlich_Klassifikation\50°gedreht\39_50_R.jpg">
              <a:extLst>
                <a:ext uri="{FF2B5EF4-FFF2-40B4-BE49-F238E27FC236}">
                  <a16:creationId xmlns:a16="http://schemas.microsoft.com/office/drawing/2014/main" id="{6C3F1EDA-12D4-4BFB-A620-533A21AA96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83839" y="5486098"/>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3" descr="C:\Users\jovita\Desktop\Konferenzen\TeaP_2016\Talk\Abbildungen\Hand_rechts.png">
            <a:extLst>
              <a:ext uri="{FF2B5EF4-FFF2-40B4-BE49-F238E27FC236}">
                <a16:creationId xmlns:a16="http://schemas.microsoft.com/office/drawing/2014/main" id="{0B5F8535-E8D3-4F54-B689-7B83161B87A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6401671"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19" name="Ovale Legende 20">
            <a:extLst>
              <a:ext uri="{FF2B5EF4-FFF2-40B4-BE49-F238E27FC236}">
                <a16:creationId xmlns:a16="http://schemas.microsoft.com/office/drawing/2014/main" id="{1758AFA5-A366-4935-B898-603A23B97D31}"/>
              </a:ext>
            </a:extLst>
          </p:cNvPr>
          <p:cNvSpPr/>
          <p:nvPr/>
        </p:nvSpPr>
        <p:spPr>
          <a:xfrm flipH="1">
            <a:off x="7140545" y="1687149"/>
            <a:ext cx="666098" cy="255687"/>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20" name="Textfeld 19">
            <a:extLst>
              <a:ext uri="{FF2B5EF4-FFF2-40B4-BE49-F238E27FC236}">
                <a16:creationId xmlns:a16="http://schemas.microsoft.com/office/drawing/2014/main" id="{2B8B7BFF-2072-4EFF-A865-76F18516C2CC}"/>
              </a:ext>
            </a:extLst>
          </p:cNvPr>
          <p:cNvSpPr txBox="1"/>
          <p:nvPr/>
        </p:nvSpPr>
        <p:spPr>
          <a:xfrm>
            <a:off x="6227386" y="1063229"/>
            <a:ext cx="1546294"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Minimum </a:t>
            </a: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Ressources</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-Overlap</a:t>
            </a:r>
          </a:p>
        </p:txBody>
      </p:sp>
      <p:pic>
        <p:nvPicPr>
          <p:cNvPr id="21" name="Grafik 20">
            <a:extLst>
              <a:ext uri="{FF2B5EF4-FFF2-40B4-BE49-F238E27FC236}">
                <a16:creationId xmlns:a16="http://schemas.microsoft.com/office/drawing/2014/main" id="{B77B761B-4C77-48F8-A737-215F2DF24649}"/>
              </a:ext>
            </a:extLst>
          </p:cNvPr>
          <p:cNvPicPr>
            <a:picLocks noChangeAspect="1"/>
          </p:cNvPicPr>
          <p:nvPr/>
        </p:nvPicPr>
        <p:blipFill>
          <a:blip r:embed="rId7" cstate="print">
            <a:biLevel thresh="25000"/>
            <a:extLst>
              <a:ext uri="{28A0092B-C50C-407E-A947-70E740481C1C}">
                <a14:useLocalDpi xmlns:a14="http://schemas.microsoft.com/office/drawing/2010/main" val="0"/>
              </a:ext>
            </a:extLst>
          </a:blip>
          <a:stretch>
            <a:fillRect/>
          </a:stretch>
        </p:blipFill>
        <p:spPr>
          <a:xfrm>
            <a:off x="7403415" y="1960993"/>
            <a:ext cx="432000" cy="216000"/>
          </a:xfrm>
          <a:prstGeom prst="rect">
            <a:avLst/>
          </a:prstGeom>
        </p:spPr>
      </p:pic>
      <p:grpSp>
        <p:nvGrpSpPr>
          <p:cNvPr id="22" name="Gruppieren 21">
            <a:extLst>
              <a:ext uri="{FF2B5EF4-FFF2-40B4-BE49-F238E27FC236}">
                <a16:creationId xmlns:a16="http://schemas.microsoft.com/office/drawing/2014/main" id="{84648416-31CB-4D1C-BE6C-7360433C7E02}"/>
              </a:ext>
            </a:extLst>
          </p:cNvPr>
          <p:cNvGrpSpPr>
            <a:grpSpLocks noChangeAspect="1"/>
          </p:cNvGrpSpPr>
          <p:nvPr/>
        </p:nvGrpSpPr>
        <p:grpSpPr>
          <a:xfrm>
            <a:off x="5027712" y="1468096"/>
            <a:ext cx="548640" cy="480060"/>
            <a:chOff x="1860163" y="2066749"/>
            <a:chExt cx="1422400" cy="1244599"/>
          </a:xfrm>
        </p:grpSpPr>
        <p:sp>
          <p:nvSpPr>
            <p:cNvPr id="23" name="Rechteck 22">
              <a:extLst>
                <a:ext uri="{FF2B5EF4-FFF2-40B4-BE49-F238E27FC236}">
                  <a16:creationId xmlns:a16="http://schemas.microsoft.com/office/drawing/2014/main" id="{5976946F-FD39-416A-B8CC-ADA0E8F10A55}"/>
                </a:ext>
              </a:extLst>
            </p:cNvPr>
            <p:cNvSpPr/>
            <p:nvPr/>
          </p:nvSpPr>
          <p:spPr>
            <a:xfrm>
              <a:off x="1860163" y="2066749"/>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24" name="Textfeld 23">
              <a:extLst>
                <a:ext uri="{FF2B5EF4-FFF2-40B4-BE49-F238E27FC236}">
                  <a16:creationId xmlns:a16="http://schemas.microsoft.com/office/drawing/2014/main" id="{9BE45605-9F2D-4FB3-9DA7-613045E49D6E}"/>
                </a:ext>
              </a:extLst>
            </p:cNvPr>
            <p:cNvSpPr txBox="1"/>
            <p:nvPr/>
          </p:nvSpPr>
          <p:spPr>
            <a:xfrm>
              <a:off x="2027953" y="2201426"/>
              <a:ext cx="1060596" cy="957527"/>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25" name="Picture 3" descr="C:\Users\jovita\Desktop\Konferenzen\TeaP_2016\Talk\Abbildungen\Hand_rechts.png">
            <a:extLst>
              <a:ext uri="{FF2B5EF4-FFF2-40B4-BE49-F238E27FC236}">
                <a16:creationId xmlns:a16="http://schemas.microsoft.com/office/drawing/2014/main" id="{6748C022-3FF7-4B28-BA1F-F4654B62796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4699234"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26" name="Ovale Legende 29">
            <a:extLst>
              <a:ext uri="{FF2B5EF4-FFF2-40B4-BE49-F238E27FC236}">
                <a16:creationId xmlns:a16="http://schemas.microsoft.com/office/drawing/2014/main" id="{738CC222-5041-434E-BD42-D29D87FB4DC6}"/>
              </a:ext>
            </a:extLst>
          </p:cNvPr>
          <p:cNvSpPr/>
          <p:nvPr/>
        </p:nvSpPr>
        <p:spPr>
          <a:xfrm flipH="1">
            <a:off x="5518275" y="1688377"/>
            <a:ext cx="724175" cy="254459"/>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27" name="Textfeld 26">
            <a:extLst>
              <a:ext uri="{FF2B5EF4-FFF2-40B4-BE49-F238E27FC236}">
                <a16:creationId xmlns:a16="http://schemas.microsoft.com/office/drawing/2014/main" id="{E99BD512-9567-4643-922B-285C126E988D}"/>
              </a:ext>
            </a:extLst>
          </p:cNvPr>
          <p:cNvSpPr txBox="1"/>
          <p:nvPr/>
        </p:nvSpPr>
        <p:spPr>
          <a:xfrm>
            <a:off x="4572000" y="1063228"/>
            <a:ext cx="1517890"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Response Modality</a:t>
            </a:r>
          </a:p>
        </p:txBody>
      </p:sp>
      <p:pic>
        <p:nvPicPr>
          <p:cNvPr id="28" name="Grafik 27">
            <a:extLst>
              <a:ext uri="{FF2B5EF4-FFF2-40B4-BE49-F238E27FC236}">
                <a16:creationId xmlns:a16="http://schemas.microsoft.com/office/drawing/2014/main" id="{E7898C28-4D48-4A1B-9E35-26ECE9CD1A33}"/>
              </a:ext>
            </a:extLst>
          </p:cNvPr>
          <p:cNvPicPr>
            <a:picLocks noChangeAspect="1"/>
          </p:cNvPicPr>
          <p:nvPr/>
        </p:nvPicPr>
        <p:blipFill>
          <a:blip r:embed="rId7" cstate="print">
            <a:biLevel thresh="25000"/>
            <a:extLst>
              <a:ext uri="{28A0092B-C50C-407E-A947-70E740481C1C}">
                <a14:useLocalDpi xmlns:a14="http://schemas.microsoft.com/office/drawing/2010/main" val="0"/>
              </a:ext>
            </a:extLst>
          </a:blip>
          <a:stretch>
            <a:fillRect/>
          </a:stretch>
        </p:blipFill>
        <p:spPr>
          <a:xfrm>
            <a:off x="5701327" y="1960993"/>
            <a:ext cx="432000" cy="216000"/>
          </a:xfrm>
          <a:prstGeom prst="rect">
            <a:avLst/>
          </a:prstGeom>
        </p:spPr>
      </p:pic>
      <p:grpSp>
        <p:nvGrpSpPr>
          <p:cNvPr id="29" name="Gruppieren 28">
            <a:extLst>
              <a:ext uri="{FF2B5EF4-FFF2-40B4-BE49-F238E27FC236}">
                <a16:creationId xmlns:a16="http://schemas.microsoft.com/office/drawing/2014/main" id="{08E44C72-6B88-4382-8792-E26E56950E0E}"/>
              </a:ext>
            </a:extLst>
          </p:cNvPr>
          <p:cNvGrpSpPr/>
          <p:nvPr/>
        </p:nvGrpSpPr>
        <p:grpSpPr>
          <a:xfrm>
            <a:off x="3421508" y="1468096"/>
            <a:ext cx="548640" cy="480060"/>
            <a:chOff x="6666462" y="5479459"/>
            <a:chExt cx="731520" cy="640080"/>
          </a:xfrm>
        </p:grpSpPr>
        <p:grpSp>
          <p:nvGrpSpPr>
            <p:cNvPr id="30" name="Gruppieren 29">
              <a:extLst>
                <a:ext uri="{FF2B5EF4-FFF2-40B4-BE49-F238E27FC236}">
                  <a16:creationId xmlns:a16="http://schemas.microsoft.com/office/drawing/2014/main" id="{171DB5DA-CDCD-4439-86BA-FB33A1812B5C}"/>
                </a:ext>
              </a:extLst>
            </p:cNvPr>
            <p:cNvGrpSpPr>
              <a:grpSpLocks noChangeAspect="1"/>
            </p:cNvGrpSpPr>
            <p:nvPr/>
          </p:nvGrpSpPr>
          <p:grpSpPr>
            <a:xfrm>
              <a:off x="6666462" y="5479459"/>
              <a:ext cx="731520" cy="640080"/>
              <a:chOff x="1800213" y="2107672"/>
              <a:chExt cx="1422400" cy="1244599"/>
            </a:xfrm>
          </p:grpSpPr>
          <p:sp>
            <p:nvSpPr>
              <p:cNvPr id="33" name="Rechteck 32">
                <a:extLst>
                  <a:ext uri="{FF2B5EF4-FFF2-40B4-BE49-F238E27FC236}">
                    <a16:creationId xmlns:a16="http://schemas.microsoft.com/office/drawing/2014/main" id="{58B6F53A-AC7E-4F17-94F9-8C6FCF2010E2}"/>
                  </a:ext>
                </a:extLst>
              </p:cNvPr>
              <p:cNvSpPr/>
              <p:nvPr/>
            </p:nvSpPr>
            <p:spPr>
              <a:xfrm>
                <a:off x="1800213" y="2107672"/>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34" name="Textfeld 33">
                <a:extLst>
                  <a:ext uri="{FF2B5EF4-FFF2-40B4-BE49-F238E27FC236}">
                    <a16:creationId xmlns:a16="http://schemas.microsoft.com/office/drawing/2014/main" id="{A27FD35B-EE35-422E-9DEB-C622E2BCB5FD}"/>
                  </a:ext>
                </a:extLst>
              </p:cNvPr>
              <p:cNvSpPr txBox="1"/>
              <p:nvPr/>
            </p:nvSpPr>
            <p:spPr>
              <a:xfrm>
                <a:off x="2111073" y="2216706"/>
                <a:ext cx="894356" cy="957527"/>
              </a:xfrm>
              <a:prstGeom prst="rect">
                <a:avLst/>
              </a:prstGeom>
              <a:noFill/>
            </p:spPr>
            <p:txBody>
              <a:bodyPr wrap="none" rtlCol="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p:txBody>
          </p:sp>
        </p:grpSp>
        <p:pic>
          <p:nvPicPr>
            <p:cNvPr id="31" name="Picture 4" descr="C:\Users\jovita\Desktop\Exp_VolDT_resources\01_Planung\Reizmaterial\Räumlich_Gedächtnis\5c.png">
              <a:extLst>
                <a:ext uri="{FF2B5EF4-FFF2-40B4-BE49-F238E27FC236}">
                  <a16:creationId xmlns:a16="http://schemas.microsoft.com/office/drawing/2014/main" id="{F655934A-AE0D-4CBE-A257-025613973AA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5305" y="5517232"/>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C:\Users\jovita\Desktop\Exp_VolDT_resources\01_Planung\Reizmaterial\Räumlich_Gedächtnis\5c.png">
              <a:extLst>
                <a:ext uri="{FF2B5EF4-FFF2-40B4-BE49-F238E27FC236}">
                  <a16:creationId xmlns:a16="http://schemas.microsoft.com/office/drawing/2014/main" id="{388AE473-96C6-428D-B2CF-BD7495DD95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51329" y="5517232"/>
              <a:ext cx="252000" cy="284241"/>
            </a:xfrm>
            <a:prstGeom prst="rect">
              <a:avLst/>
            </a:prstGeom>
            <a:noFill/>
            <a:extLst>
              <a:ext uri="{909E8E84-426E-40DD-AFC4-6F175D3DCCD1}">
                <a14:hiddenFill xmlns:a14="http://schemas.microsoft.com/office/drawing/2010/main">
                  <a:solidFill>
                    <a:srgbClr val="FFFFFF"/>
                  </a:solidFill>
                </a14:hiddenFill>
              </a:ext>
            </a:extLst>
          </p:spPr>
        </p:pic>
      </p:grpSp>
      <p:pic>
        <p:nvPicPr>
          <p:cNvPr id="35" name="Picture 3" descr="C:\Users\jovita\Desktop\Konferenzen\TeaP_2016\Talk\Abbildungen\Hand_rechts.png">
            <a:extLst>
              <a:ext uri="{FF2B5EF4-FFF2-40B4-BE49-F238E27FC236}">
                <a16:creationId xmlns:a16="http://schemas.microsoft.com/office/drawing/2014/main" id="{4CADD974-B58D-4326-83E9-D78AF69C0DC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45136"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 descr="C:\Users\jovita\Desktop\Konferenzen\TeaP_2016\Talk\Abbildungen\Hand_rechts.png">
            <a:extLst>
              <a:ext uri="{FF2B5EF4-FFF2-40B4-BE49-F238E27FC236}">
                <a16:creationId xmlns:a16="http://schemas.microsoft.com/office/drawing/2014/main" id="{3DC8A3CB-D328-4A8B-B2FD-B4FE9386C8A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3094856"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37" name="Textfeld 36">
            <a:extLst>
              <a:ext uri="{FF2B5EF4-FFF2-40B4-BE49-F238E27FC236}">
                <a16:creationId xmlns:a16="http://schemas.microsoft.com/office/drawing/2014/main" id="{6D8789CD-11FC-4A5A-B431-E212974147FE}"/>
              </a:ext>
            </a:extLst>
          </p:cNvPr>
          <p:cNvSpPr txBox="1"/>
          <p:nvPr/>
        </p:nvSpPr>
        <p:spPr>
          <a:xfrm>
            <a:off x="2841010" y="1063229"/>
            <a:ext cx="1665845"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Processing Codes</a:t>
            </a:r>
          </a:p>
        </p:txBody>
      </p:sp>
      <p:pic>
        <p:nvPicPr>
          <p:cNvPr id="39" name="Grafik 38">
            <a:extLst>
              <a:ext uri="{FF2B5EF4-FFF2-40B4-BE49-F238E27FC236}">
                <a16:creationId xmlns:a16="http://schemas.microsoft.com/office/drawing/2014/main" id="{4AA7A718-277A-43AA-B7D5-8A302B009199}"/>
              </a:ext>
            </a:extLst>
          </p:cNvPr>
          <p:cNvPicPr>
            <a:picLocks noChangeAspect="1"/>
          </p:cNvPicPr>
          <p:nvPr/>
        </p:nvPicPr>
        <p:blipFill>
          <a:blip r:embed="rId8"/>
          <a:stretch>
            <a:fillRect/>
          </a:stretch>
        </p:blipFill>
        <p:spPr>
          <a:xfrm>
            <a:off x="2731005" y="2288230"/>
            <a:ext cx="3681991" cy="2605778"/>
          </a:xfrm>
          <a:prstGeom prst="rect">
            <a:avLst/>
          </a:prstGeom>
        </p:spPr>
      </p:pic>
      <p:sp>
        <p:nvSpPr>
          <p:cNvPr id="40" name="Textfeld 39">
            <a:extLst>
              <a:ext uri="{FF2B5EF4-FFF2-40B4-BE49-F238E27FC236}">
                <a16:creationId xmlns:a16="http://schemas.microsoft.com/office/drawing/2014/main" id="{3DA494A7-A3EE-4138-9BDF-336DDFC11C63}"/>
              </a:ext>
            </a:extLst>
          </p:cNvPr>
          <p:cNvSpPr txBox="1"/>
          <p:nvPr/>
        </p:nvSpPr>
        <p:spPr>
          <a:xfrm>
            <a:off x="6936819" y="4524242"/>
            <a:ext cx="2031325"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Mückstein</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&amp;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2020</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325299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E73BF23-A62B-410C-BA22-0932208C87C8}"/>
              </a:ext>
            </a:extLst>
          </p:cNvPr>
          <p:cNvPicPr>
            <a:picLocks noChangeAspect="1"/>
          </p:cNvPicPr>
          <p:nvPr/>
        </p:nvPicPr>
        <p:blipFill>
          <a:blip r:embed="rId3"/>
          <a:stretch>
            <a:fillRect/>
          </a:stretch>
        </p:blipFill>
        <p:spPr>
          <a:xfrm>
            <a:off x="657908" y="945015"/>
            <a:ext cx="4698522" cy="2297711"/>
          </a:xfrm>
          <a:prstGeom prst="rect">
            <a:avLst/>
          </a:prstGeom>
        </p:spPr>
      </p:pic>
      <p:sp>
        <p:nvSpPr>
          <p:cNvPr id="2" name="Titel 1">
            <a:extLst>
              <a:ext uri="{FF2B5EF4-FFF2-40B4-BE49-F238E27FC236}">
                <a16:creationId xmlns:a16="http://schemas.microsoft.com/office/drawing/2014/main" id="{CCF95AD9-AC82-4CCA-A25E-C7496CFCC075}"/>
              </a:ext>
            </a:extLst>
          </p:cNvPr>
          <p:cNvSpPr>
            <a:spLocks noGrp="1"/>
          </p:cNvSpPr>
          <p:nvPr>
            <p:ph type="title"/>
          </p:nvPr>
        </p:nvSpPr>
        <p:spPr/>
        <p:txBody>
          <a:bodyPr/>
          <a:lstStyle/>
          <a:p>
            <a:r>
              <a:rPr lang="en-US"/>
              <a:t>Response Strategies – Reliability</a:t>
            </a:r>
          </a:p>
        </p:txBody>
      </p:sp>
      <p:sp>
        <p:nvSpPr>
          <p:cNvPr id="4" name="Foliennummernplatzhalter 3">
            <a:extLst>
              <a:ext uri="{FF2B5EF4-FFF2-40B4-BE49-F238E27FC236}">
                <a16:creationId xmlns:a16="http://schemas.microsoft.com/office/drawing/2014/main" id="{70D3D24C-EB15-44D0-91DF-F06B3BF061EE}"/>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36</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
        <p:nvSpPr>
          <p:cNvPr id="9" name="Rechteck 8">
            <a:extLst>
              <a:ext uri="{FF2B5EF4-FFF2-40B4-BE49-F238E27FC236}">
                <a16:creationId xmlns:a16="http://schemas.microsoft.com/office/drawing/2014/main" id="{7B371E09-808A-472B-9CC9-CA67032AC95B}"/>
              </a:ext>
            </a:extLst>
          </p:cNvPr>
          <p:cNvSpPr/>
          <p:nvPr/>
        </p:nvSpPr>
        <p:spPr>
          <a:xfrm>
            <a:off x="4235923" y="2634005"/>
            <a:ext cx="4914546" cy="20485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10" name="Inhaltsplatzhalter 5">
            <a:extLst>
              <a:ext uri="{FF2B5EF4-FFF2-40B4-BE49-F238E27FC236}">
                <a16:creationId xmlns:a16="http://schemas.microsoft.com/office/drawing/2014/main" id="{DC25FEEC-0EFD-4FAE-8504-B8E898E061CA}"/>
              </a:ext>
            </a:extLst>
          </p:cNvPr>
          <p:cNvPicPr>
            <a:picLocks noChangeAspect="1"/>
          </p:cNvPicPr>
          <p:nvPr/>
        </p:nvPicPr>
        <p:blipFill>
          <a:blip r:embed="rId4"/>
          <a:stretch>
            <a:fillRect/>
          </a:stretch>
        </p:blipFill>
        <p:spPr>
          <a:xfrm>
            <a:off x="4242391" y="2683409"/>
            <a:ext cx="4901609" cy="2021000"/>
          </a:xfrm>
          <a:prstGeom prst="rect">
            <a:avLst/>
          </a:prstGeom>
        </p:spPr>
      </p:pic>
    </p:spTree>
    <p:extLst>
      <p:ext uri="{BB962C8B-B14F-4D97-AF65-F5344CB8AC3E}">
        <p14:creationId xmlns:p14="http://schemas.microsoft.com/office/powerpoint/2010/main" val="42132868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F34398-5B8E-4E8A-A8A8-F588BE39C2A6}"/>
              </a:ext>
            </a:extLst>
          </p:cNvPr>
          <p:cNvSpPr>
            <a:spLocks noGrp="1"/>
          </p:cNvSpPr>
          <p:nvPr>
            <p:ph type="title"/>
          </p:nvPr>
        </p:nvSpPr>
        <p:spPr/>
        <p:txBody>
          <a:bodyPr/>
          <a:lstStyle/>
          <a:p>
            <a:r>
              <a:rPr lang="de-DE"/>
              <a:t>Overall Dual-Task Efficiency</a:t>
            </a:r>
            <a:endParaRPr lang="en-US"/>
          </a:p>
        </p:txBody>
      </p:sp>
      <p:sp>
        <p:nvSpPr>
          <p:cNvPr id="4" name="Foliennummernplatzhalter 3">
            <a:extLst>
              <a:ext uri="{FF2B5EF4-FFF2-40B4-BE49-F238E27FC236}">
                <a16:creationId xmlns:a16="http://schemas.microsoft.com/office/drawing/2014/main" id="{125C4DE5-599B-480F-8B46-385AE926B7E2}"/>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37</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
        <p:nvSpPr>
          <p:cNvPr id="5" name="Inhaltsplatzhalter 2">
            <a:extLst>
              <a:ext uri="{FF2B5EF4-FFF2-40B4-BE49-F238E27FC236}">
                <a16:creationId xmlns:a16="http://schemas.microsoft.com/office/drawing/2014/main" id="{D1C3277E-3E53-4E8F-B277-81CAE8665982}"/>
              </a:ext>
            </a:extLst>
          </p:cNvPr>
          <p:cNvSpPr txBox="1">
            <a:spLocks/>
          </p:cNvSpPr>
          <p:nvPr/>
        </p:nvSpPr>
        <p:spPr>
          <a:xfrm>
            <a:off x="1043009" y="1037085"/>
            <a:ext cx="7057983" cy="3688568"/>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Unicode MS" pitchFamily="34" charset="-128"/>
                <a:ea typeface="Arial Unicode MS" pitchFamily="34" charset="-128"/>
                <a:cs typeface="Arial Unicode MS" pitchFamily="34" charset="-12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de-DE" altLang="de-DE" sz="2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de-DE" altLang="de-DE" sz="2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71463" marR="0" lvl="0" indent="-271463"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271463" marR="0" lvl="0" indent="-271463"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271463" marR="0" lvl="0" indent="-271463"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271463" marR="0" lvl="0" indent="-271463" algn="l" defTabSz="914400" rtl="0" eaLnBrk="1" fontAlgn="auto" latinLnBrk="0" hangingPunct="1">
              <a:lnSpc>
                <a:spcPct val="100000"/>
              </a:lnSpc>
              <a:spcBef>
                <a:spcPts val="450"/>
              </a:spcBef>
              <a:spcAft>
                <a:spcPts val="0"/>
              </a:spcAft>
              <a:buClrTx/>
              <a:buSzTx/>
              <a:buFont typeface="Wingdings" panose="05000000000000000000" pitchFamily="2" charset="2"/>
              <a:buChar char="Ø"/>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25" name="Gruppieren 24">
            <a:extLst>
              <a:ext uri="{FF2B5EF4-FFF2-40B4-BE49-F238E27FC236}">
                <a16:creationId xmlns:a16="http://schemas.microsoft.com/office/drawing/2014/main" id="{B5085221-D032-4038-9CFA-AB8295D5FBCD}"/>
              </a:ext>
            </a:extLst>
          </p:cNvPr>
          <p:cNvGrpSpPr/>
          <p:nvPr/>
        </p:nvGrpSpPr>
        <p:grpSpPr>
          <a:xfrm>
            <a:off x="970550" y="1582660"/>
            <a:ext cx="3658220" cy="234755"/>
            <a:chOff x="3947579" y="2368902"/>
            <a:chExt cx="4379663" cy="313007"/>
          </a:xfrm>
        </p:grpSpPr>
        <p:sp>
          <p:nvSpPr>
            <p:cNvPr id="6" name="Rechteck 5">
              <a:extLst>
                <a:ext uri="{FF2B5EF4-FFF2-40B4-BE49-F238E27FC236}">
                  <a16:creationId xmlns:a16="http://schemas.microsoft.com/office/drawing/2014/main" id="{17A9D181-F813-4052-B571-3228313C726D}"/>
                </a:ext>
              </a:extLst>
            </p:cNvPr>
            <p:cNvSpPr/>
            <p:nvPr/>
          </p:nvSpPr>
          <p:spPr>
            <a:xfrm>
              <a:off x="6137412" y="2368902"/>
              <a:ext cx="2189830" cy="310896"/>
            </a:xfrm>
            <a:prstGeom prst="rect">
              <a:avLst/>
            </a:prstGeom>
            <a:solidFill>
              <a:schemeClr val="tx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t>
              </a:r>
              <a:r>
                <a:rPr kumimoji="0" lang="de-DE" altLang="de-DE" sz="105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responses</a:t>
              </a: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Task B</a:t>
              </a:r>
            </a:p>
          </p:txBody>
        </p:sp>
        <p:sp>
          <p:nvSpPr>
            <p:cNvPr id="7" name="Rechteck 6">
              <a:extLst>
                <a:ext uri="{FF2B5EF4-FFF2-40B4-BE49-F238E27FC236}">
                  <a16:creationId xmlns:a16="http://schemas.microsoft.com/office/drawing/2014/main" id="{D108079C-B245-4FF0-809C-53E52F5DF858}"/>
                </a:ext>
              </a:extLst>
            </p:cNvPr>
            <p:cNvSpPr/>
            <p:nvPr/>
          </p:nvSpPr>
          <p:spPr>
            <a:xfrm>
              <a:off x="3947579" y="2371013"/>
              <a:ext cx="2189833" cy="310896"/>
            </a:xfrm>
            <a:prstGeom prst="rect">
              <a:avLst/>
            </a:prstGeom>
            <a:solidFill>
              <a:srgbClr val="99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t>
              </a:r>
              <a:r>
                <a:rPr kumimoji="0" lang="de-DE" altLang="de-DE" sz="105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responses</a:t>
              </a: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Task A</a:t>
              </a:r>
            </a:p>
          </p:txBody>
        </p:sp>
      </p:grpSp>
      <p:sp>
        <p:nvSpPr>
          <p:cNvPr id="10" name="Textfeld 27">
            <a:extLst>
              <a:ext uri="{FF2B5EF4-FFF2-40B4-BE49-F238E27FC236}">
                <a16:creationId xmlns:a16="http://schemas.microsoft.com/office/drawing/2014/main" id="{DF0E34A6-1D5D-4C95-81B1-941FA0913FE1}"/>
              </a:ext>
            </a:extLst>
          </p:cNvPr>
          <p:cNvSpPr txBox="1">
            <a:spLocks noChangeArrowheads="1"/>
          </p:cNvSpPr>
          <p:nvPr/>
        </p:nvSpPr>
        <p:spPr bwMode="auto">
          <a:xfrm>
            <a:off x="6262300" y="1985250"/>
            <a:ext cx="884366"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Dual-Task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a:t>
            </a:r>
          </a:p>
        </p:txBody>
      </p:sp>
      <p:sp>
        <p:nvSpPr>
          <p:cNvPr id="15" name="Textfeld 14">
            <a:extLst>
              <a:ext uri="{FF2B5EF4-FFF2-40B4-BE49-F238E27FC236}">
                <a16:creationId xmlns:a16="http://schemas.microsoft.com/office/drawing/2014/main" id="{957BE006-870C-4605-A2AC-8038D8E9B54A}"/>
              </a:ext>
            </a:extLst>
          </p:cNvPr>
          <p:cNvSpPr txBox="1"/>
          <p:nvPr/>
        </p:nvSpPr>
        <p:spPr>
          <a:xfrm>
            <a:off x="775742" y="2259900"/>
            <a:ext cx="4416722" cy="276999"/>
          </a:xfrm>
          <a:prstGeom prst="rect">
            <a:avLst/>
          </a:prstGeom>
          <a:noFill/>
        </p:spPr>
        <p:txBody>
          <a:bodyPr wrap="none" rtlCol="0">
            <a:spAutoFit/>
          </a:bodyPr>
          <a:lstStyle/>
          <a:p>
            <a:pPr marL="68580" marR="0" lvl="0" indent="0" algn="l" defTabSz="685800" rtl="0" eaLnBrk="1" fontAlgn="auto" latinLnBrk="0" hangingPunct="1">
              <a:lnSpc>
                <a:spcPct val="100000"/>
              </a:lnSpc>
              <a:spcBef>
                <a:spcPts val="0"/>
              </a:spcBef>
              <a:spcAft>
                <a:spcPts val="0"/>
              </a:spcAft>
              <a:buClrTx/>
              <a:buSzTx/>
              <a:buFontTx/>
              <a:buNone/>
              <a:tabLst/>
              <a:defRPr/>
            </a:pPr>
            <a:r>
              <a:rPr kumimoji="0" lang="en-US" altLang="de-DE"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Dual-Task Performance</a:t>
            </a:r>
            <a:r>
              <a:rPr kumimoji="0" lang="en-US" alt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 correct responses in two minutes</a:t>
            </a:r>
          </a:p>
        </p:txBody>
      </p:sp>
      <p:grpSp>
        <p:nvGrpSpPr>
          <p:cNvPr id="27" name="Gruppieren 26">
            <a:extLst>
              <a:ext uri="{FF2B5EF4-FFF2-40B4-BE49-F238E27FC236}">
                <a16:creationId xmlns:a16="http://schemas.microsoft.com/office/drawing/2014/main" id="{E7FC63BF-1C66-4DF7-A68A-521E63446FD7}"/>
              </a:ext>
            </a:extLst>
          </p:cNvPr>
          <p:cNvGrpSpPr/>
          <p:nvPr/>
        </p:nvGrpSpPr>
        <p:grpSpPr>
          <a:xfrm>
            <a:off x="969249" y="2605176"/>
            <a:ext cx="5374933" cy="513097"/>
            <a:chOff x="1650422" y="3208092"/>
            <a:chExt cx="7166577" cy="684129"/>
          </a:xfrm>
        </p:grpSpPr>
        <p:sp>
          <p:nvSpPr>
            <p:cNvPr id="9" name="Rechteck 8">
              <a:extLst>
                <a:ext uri="{FF2B5EF4-FFF2-40B4-BE49-F238E27FC236}">
                  <a16:creationId xmlns:a16="http://schemas.microsoft.com/office/drawing/2014/main" id="{87FFAC38-D9A8-423E-8203-BAC2248855DE}"/>
                </a:ext>
              </a:extLst>
            </p:cNvPr>
            <p:cNvSpPr/>
            <p:nvPr/>
          </p:nvSpPr>
          <p:spPr>
            <a:xfrm>
              <a:off x="1650422" y="3208092"/>
              <a:ext cx="4879362" cy="312538"/>
            </a:xfrm>
            <a:prstGeom prst="rect">
              <a:avLst/>
            </a:prstGeom>
            <a:pattFill prst="wdDnDiag">
              <a:fgClr>
                <a:srgbClr val="CC7F7F"/>
              </a:fgClr>
              <a:bgClr>
                <a:srgbClr val="7F7F7F"/>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t>
              </a:r>
              <a:r>
                <a:rPr kumimoji="0" lang="de-DE" altLang="de-DE" sz="105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responses</a:t>
              </a: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Task A &amp; Task B</a:t>
              </a:r>
            </a:p>
          </p:txBody>
        </p:sp>
        <p:sp>
          <p:nvSpPr>
            <p:cNvPr id="16" name="Textfeld 15">
              <a:extLst>
                <a:ext uri="{FF2B5EF4-FFF2-40B4-BE49-F238E27FC236}">
                  <a16:creationId xmlns:a16="http://schemas.microsoft.com/office/drawing/2014/main" id="{4CB2CFC7-290E-4016-A011-2C41532A1A6C}"/>
                </a:ext>
              </a:extLst>
            </p:cNvPr>
            <p:cNvSpPr txBox="1"/>
            <p:nvPr/>
          </p:nvSpPr>
          <p:spPr>
            <a:xfrm>
              <a:off x="1650422" y="3522889"/>
              <a:ext cx="7166577" cy="369332"/>
            </a:xfrm>
            <a:prstGeom prst="rect">
              <a:avLst/>
            </a:prstGeom>
            <a:noFill/>
          </p:spPr>
          <p:txBody>
            <a:bodyPr wrap="none" rtlCol="0">
              <a:spAutoFit/>
            </a:bodyPr>
            <a:lstStyle/>
            <a:p>
              <a:pPr marL="271463" marR="0" lvl="0" indent="-271463" algn="l" defTabSz="685800" rtl="0" eaLnBrk="1" fontAlgn="auto" latinLnBrk="0" hangingPunct="1">
                <a:lnSpc>
                  <a:spcPct val="100000"/>
                </a:lnSpc>
                <a:spcBef>
                  <a:spcPts val="900"/>
                </a:spcBef>
                <a:spcAft>
                  <a:spcPts val="900"/>
                </a:spcAft>
                <a:buClrTx/>
                <a:buSzTx/>
                <a:buFont typeface="Wingdings" panose="05000000000000000000" pitchFamily="2" charset="2"/>
                <a:buChar char="Ø"/>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Dual-Task Efficiency </a:t>
              </a:r>
              <a:r>
                <a:rPr kumimoji="0" lang="de-DE" sz="12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0</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neither</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benefits</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nor</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costs</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due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to</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multitasking</a:t>
              </a: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p:txBody>
        </p:sp>
      </p:grpSp>
      <p:grpSp>
        <p:nvGrpSpPr>
          <p:cNvPr id="28" name="Gruppieren 27">
            <a:extLst>
              <a:ext uri="{FF2B5EF4-FFF2-40B4-BE49-F238E27FC236}">
                <a16:creationId xmlns:a16="http://schemas.microsoft.com/office/drawing/2014/main" id="{C56EBF8D-4211-49F1-9176-252180C78DF9}"/>
              </a:ext>
            </a:extLst>
          </p:cNvPr>
          <p:cNvGrpSpPr/>
          <p:nvPr/>
        </p:nvGrpSpPr>
        <p:grpSpPr>
          <a:xfrm>
            <a:off x="970550" y="3257535"/>
            <a:ext cx="4630328" cy="507445"/>
            <a:chOff x="1650422" y="4235917"/>
            <a:chExt cx="6173770" cy="676592"/>
          </a:xfrm>
        </p:grpSpPr>
        <p:sp>
          <p:nvSpPr>
            <p:cNvPr id="12" name="Rechteck 11">
              <a:extLst>
                <a:ext uri="{FF2B5EF4-FFF2-40B4-BE49-F238E27FC236}">
                  <a16:creationId xmlns:a16="http://schemas.microsoft.com/office/drawing/2014/main" id="{137FBCBE-9E6B-4F98-AA63-5405D9E3F0B6}"/>
                </a:ext>
              </a:extLst>
            </p:cNvPr>
            <p:cNvSpPr/>
            <p:nvPr/>
          </p:nvSpPr>
          <p:spPr>
            <a:xfrm>
              <a:off x="1650422" y="4235917"/>
              <a:ext cx="6173770" cy="312538"/>
            </a:xfrm>
            <a:prstGeom prst="rect">
              <a:avLst/>
            </a:prstGeom>
            <a:pattFill prst="wdDnDiag">
              <a:fgClr>
                <a:srgbClr val="CC7F7F"/>
              </a:fgClr>
              <a:bgClr>
                <a:srgbClr val="7F7F7F"/>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t>
              </a:r>
              <a:r>
                <a:rPr kumimoji="0" lang="de-DE" altLang="de-DE" sz="105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responses</a:t>
              </a: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Task A &amp; Task B</a:t>
              </a:r>
            </a:p>
          </p:txBody>
        </p:sp>
        <p:sp>
          <p:nvSpPr>
            <p:cNvPr id="17" name="Textfeld 16">
              <a:extLst>
                <a:ext uri="{FF2B5EF4-FFF2-40B4-BE49-F238E27FC236}">
                  <a16:creationId xmlns:a16="http://schemas.microsoft.com/office/drawing/2014/main" id="{642A76AA-E108-4B26-9B65-87317DB6E0E1}"/>
                </a:ext>
              </a:extLst>
            </p:cNvPr>
            <p:cNvSpPr txBox="1"/>
            <p:nvPr/>
          </p:nvSpPr>
          <p:spPr>
            <a:xfrm>
              <a:off x="1650422" y="4543177"/>
              <a:ext cx="5937609" cy="369332"/>
            </a:xfrm>
            <a:prstGeom prst="rect">
              <a:avLst/>
            </a:prstGeom>
            <a:noFill/>
          </p:spPr>
          <p:txBody>
            <a:bodyPr wrap="none" rtlCol="0">
              <a:spAutoFit/>
            </a:bodyPr>
            <a:lstStyle/>
            <a:p>
              <a:pPr marL="271463" marR="0" lvl="0" indent="-271463" algn="l" defTabSz="685800" rtl="0" eaLnBrk="1" fontAlgn="auto" latinLnBrk="0" hangingPunct="1">
                <a:lnSpc>
                  <a:spcPct val="100000"/>
                </a:lnSpc>
                <a:spcBef>
                  <a:spcPts val="900"/>
                </a:spcBef>
                <a:spcAft>
                  <a:spcPts val="900"/>
                </a:spcAft>
                <a:buClrTx/>
                <a:buSzTx/>
                <a:buFont typeface="Wingdings" panose="05000000000000000000" pitchFamily="2" charset="2"/>
                <a:buChar char="Ø"/>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Dual-Task Efficiency </a:t>
              </a:r>
              <a:r>
                <a:rPr kumimoji="0" lang="de-DE" sz="12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&gt; 0 </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net</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benefits</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due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to</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multitasking</a:t>
              </a: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p:txBody>
        </p:sp>
      </p:grpSp>
      <p:grpSp>
        <p:nvGrpSpPr>
          <p:cNvPr id="29" name="Gruppieren 28">
            <a:extLst>
              <a:ext uri="{FF2B5EF4-FFF2-40B4-BE49-F238E27FC236}">
                <a16:creationId xmlns:a16="http://schemas.microsoft.com/office/drawing/2014/main" id="{1C207A08-2A77-4858-8F90-E8013B3231EB}"/>
              </a:ext>
            </a:extLst>
          </p:cNvPr>
          <p:cNvGrpSpPr/>
          <p:nvPr/>
        </p:nvGrpSpPr>
        <p:grpSpPr>
          <a:xfrm>
            <a:off x="970550" y="3904239"/>
            <a:ext cx="4277626" cy="507819"/>
            <a:chOff x="1650422" y="5255703"/>
            <a:chExt cx="5703500" cy="677092"/>
          </a:xfrm>
        </p:grpSpPr>
        <p:sp>
          <p:nvSpPr>
            <p:cNvPr id="13" name="Rechteck 12">
              <a:extLst>
                <a:ext uri="{FF2B5EF4-FFF2-40B4-BE49-F238E27FC236}">
                  <a16:creationId xmlns:a16="http://schemas.microsoft.com/office/drawing/2014/main" id="{6856A053-798A-4E20-8F4F-E781E66B29AA}"/>
                </a:ext>
              </a:extLst>
            </p:cNvPr>
            <p:cNvSpPr/>
            <p:nvPr/>
          </p:nvSpPr>
          <p:spPr>
            <a:xfrm>
              <a:off x="1650422" y="5255703"/>
              <a:ext cx="3797506" cy="312538"/>
            </a:xfrm>
            <a:prstGeom prst="rect">
              <a:avLst/>
            </a:prstGeom>
            <a:pattFill prst="wdDnDiag">
              <a:fgClr>
                <a:srgbClr val="CC7F7F"/>
              </a:fgClr>
              <a:bgClr>
                <a:srgbClr val="7F7F7F"/>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t>
              </a:r>
              <a:r>
                <a:rPr kumimoji="0" lang="de-DE" altLang="de-DE" sz="105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responses</a:t>
              </a: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Task A &amp; Task B</a:t>
              </a:r>
            </a:p>
          </p:txBody>
        </p:sp>
        <p:sp>
          <p:nvSpPr>
            <p:cNvPr id="18" name="Textfeld 17">
              <a:extLst>
                <a:ext uri="{FF2B5EF4-FFF2-40B4-BE49-F238E27FC236}">
                  <a16:creationId xmlns:a16="http://schemas.microsoft.com/office/drawing/2014/main" id="{764ACE01-FEDD-4151-AB22-ECED87EB8DBC}"/>
                </a:ext>
              </a:extLst>
            </p:cNvPr>
            <p:cNvSpPr txBox="1"/>
            <p:nvPr/>
          </p:nvSpPr>
          <p:spPr>
            <a:xfrm>
              <a:off x="1653559" y="5563463"/>
              <a:ext cx="5700363" cy="369332"/>
            </a:xfrm>
            <a:prstGeom prst="rect">
              <a:avLst/>
            </a:prstGeom>
            <a:noFill/>
          </p:spPr>
          <p:txBody>
            <a:bodyPr wrap="none" rtlCol="0">
              <a:spAutoFit/>
            </a:bodyPr>
            <a:lstStyle/>
            <a:p>
              <a:pPr marL="271463" marR="0" lvl="0" indent="-271463" algn="l" defTabSz="6858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Dual-Task Efficiency </a:t>
              </a:r>
              <a:r>
                <a:rPr kumimoji="0" lang="de-DE" sz="12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&lt; 0</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net</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costs</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due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to</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multitasking</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22" name="Rechteck 21">
            <a:extLst>
              <a:ext uri="{FF2B5EF4-FFF2-40B4-BE49-F238E27FC236}">
                <a16:creationId xmlns:a16="http://schemas.microsoft.com/office/drawing/2014/main" id="{FFD7982D-559B-418B-B4A3-5081FBAD5ECB}"/>
              </a:ext>
            </a:extLst>
          </p:cNvPr>
          <p:cNvSpPr/>
          <p:nvPr/>
        </p:nvSpPr>
        <p:spPr>
          <a:xfrm>
            <a:off x="5809881" y="2098538"/>
            <a:ext cx="162018" cy="165840"/>
          </a:xfrm>
          <a:prstGeom prst="rect">
            <a:avLst/>
          </a:prstGeom>
          <a:pattFill prst="wdDnDiag">
            <a:fgClr>
              <a:srgbClr val="CC7F7F"/>
            </a:fgClr>
            <a:bgClr>
              <a:srgbClr val="7F7F7F"/>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pSp>
        <p:nvGrpSpPr>
          <p:cNvPr id="30" name="Gruppieren 29">
            <a:extLst>
              <a:ext uri="{FF2B5EF4-FFF2-40B4-BE49-F238E27FC236}">
                <a16:creationId xmlns:a16="http://schemas.microsoft.com/office/drawing/2014/main" id="{2A978BAF-1B4C-4659-BC4F-ACE9D8FCE705}"/>
              </a:ext>
            </a:extLst>
          </p:cNvPr>
          <p:cNvGrpSpPr/>
          <p:nvPr/>
        </p:nvGrpSpPr>
        <p:grpSpPr>
          <a:xfrm>
            <a:off x="5809808" y="1478609"/>
            <a:ext cx="1336784" cy="599067"/>
            <a:chOff x="8102863" y="2024984"/>
            <a:chExt cx="1782379" cy="798755"/>
          </a:xfrm>
        </p:grpSpPr>
        <p:sp>
          <p:nvSpPr>
            <p:cNvPr id="8" name="Textfeld 27">
              <a:extLst>
                <a:ext uri="{FF2B5EF4-FFF2-40B4-BE49-F238E27FC236}">
                  <a16:creationId xmlns:a16="http://schemas.microsoft.com/office/drawing/2014/main" id="{3736FAF2-7CB9-461C-9115-7DEEBC78714B}"/>
                </a:ext>
              </a:extLst>
            </p:cNvPr>
            <p:cNvSpPr txBox="1">
              <a:spLocks noChangeArrowheads="1"/>
            </p:cNvSpPr>
            <p:nvPr/>
          </p:nvSpPr>
          <p:spPr bwMode="auto">
            <a:xfrm>
              <a:off x="8687454" y="2054299"/>
              <a:ext cx="1197788" cy="769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Single-Task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a:t>
              </a:r>
            </a:p>
          </p:txBody>
        </p:sp>
        <p:grpSp>
          <p:nvGrpSpPr>
            <p:cNvPr id="24" name="Gruppieren 23">
              <a:extLst>
                <a:ext uri="{FF2B5EF4-FFF2-40B4-BE49-F238E27FC236}">
                  <a16:creationId xmlns:a16="http://schemas.microsoft.com/office/drawing/2014/main" id="{0AEA16F5-827F-4EE1-A2EB-3E359074DB94}"/>
                </a:ext>
              </a:extLst>
            </p:cNvPr>
            <p:cNvGrpSpPr/>
            <p:nvPr/>
          </p:nvGrpSpPr>
          <p:grpSpPr>
            <a:xfrm>
              <a:off x="8102863" y="2038878"/>
              <a:ext cx="216024" cy="554063"/>
              <a:chOff x="9624392" y="2304659"/>
              <a:chExt cx="216024" cy="554063"/>
            </a:xfrm>
          </p:grpSpPr>
          <p:sp>
            <p:nvSpPr>
              <p:cNvPr id="19" name="Rechteck 18">
                <a:extLst>
                  <a:ext uri="{FF2B5EF4-FFF2-40B4-BE49-F238E27FC236}">
                    <a16:creationId xmlns:a16="http://schemas.microsoft.com/office/drawing/2014/main" id="{12B2AB0B-E9C6-422A-9A8D-6EBAD08FE5F4}"/>
                  </a:ext>
                </a:extLst>
              </p:cNvPr>
              <p:cNvSpPr/>
              <p:nvPr/>
            </p:nvSpPr>
            <p:spPr>
              <a:xfrm>
                <a:off x="9624392" y="2304659"/>
                <a:ext cx="216024" cy="221120"/>
              </a:xfrm>
              <a:prstGeom prst="rect">
                <a:avLst/>
              </a:prstGeom>
              <a:solidFill>
                <a:srgbClr val="CC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 name="Rechteck 19">
                <a:extLst>
                  <a:ext uri="{FF2B5EF4-FFF2-40B4-BE49-F238E27FC236}">
                    <a16:creationId xmlns:a16="http://schemas.microsoft.com/office/drawing/2014/main" id="{D6F33BEC-E339-4E95-BD2D-1398D087FAFF}"/>
                  </a:ext>
                </a:extLst>
              </p:cNvPr>
              <p:cNvSpPr/>
              <p:nvPr/>
            </p:nvSpPr>
            <p:spPr>
              <a:xfrm>
                <a:off x="9624392" y="2637602"/>
                <a:ext cx="216024" cy="22112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pSp>
        <p:sp>
          <p:nvSpPr>
            <p:cNvPr id="23" name="Geschweifte Klammer rechts 22">
              <a:extLst>
                <a:ext uri="{FF2B5EF4-FFF2-40B4-BE49-F238E27FC236}">
                  <a16:creationId xmlns:a16="http://schemas.microsoft.com/office/drawing/2014/main" id="{B3328AA8-96DE-4FF3-A34F-F72CE4C3D756}"/>
                </a:ext>
              </a:extLst>
            </p:cNvPr>
            <p:cNvSpPr/>
            <p:nvPr/>
          </p:nvSpPr>
          <p:spPr>
            <a:xfrm>
              <a:off x="8318887" y="2024984"/>
              <a:ext cx="216024" cy="581850"/>
            </a:xfrm>
            <a:prstGeom prst="rightBrace">
              <a:avLst>
                <a:gd name="adj1" fmla="val 2793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26" name="Textfeld 25">
            <a:extLst>
              <a:ext uri="{FF2B5EF4-FFF2-40B4-BE49-F238E27FC236}">
                <a16:creationId xmlns:a16="http://schemas.microsoft.com/office/drawing/2014/main" id="{6091B12A-8657-487A-B00E-524C6EC9F111}"/>
              </a:ext>
            </a:extLst>
          </p:cNvPr>
          <p:cNvSpPr txBox="1"/>
          <p:nvPr/>
        </p:nvSpPr>
        <p:spPr>
          <a:xfrm>
            <a:off x="775742" y="1237934"/>
            <a:ext cx="4485652" cy="276999"/>
          </a:xfrm>
          <a:prstGeom prst="rect">
            <a:avLst/>
          </a:prstGeom>
          <a:noFill/>
        </p:spPr>
        <p:txBody>
          <a:bodyPr wrap="none" rtlCol="0">
            <a:spAutoFit/>
          </a:bodyPr>
          <a:lstStyle/>
          <a:p>
            <a:pPr marL="68580" marR="0" lvl="0" indent="0" algn="l" defTabSz="685800" rtl="0" eaLnBrk="1" fontAlgn="auto" latinLnBrk="0" hangingPunct="1">
              <a:lnSpc>
                <a:spcPct val="100000"/>
              </a:lnSpc>
              <a:spcBef>
                <a:spcPts val="0"/>
              </a:spcBef>
              <a:spcAft>
                <a:spcPts val="0"/>
              </a:spcAft>
              <a:buClrTx/>
              <a:buSzTx/>
              <a:buFontTx/>
              <a:buNone/>
              <a:tabLst/>
              <a:defRPr/>
            </a:pPr>
            <a:r>
              <a:rPr kumimoji="0" lang="en-US" altLang="de-DE"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Single-Task Performance</a:t>
            </a:r>
            <a:r>
              <a:rPr kumimoji="0" lang="en-US" alt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 correct responses in one minute</a:t>
            </a:r>
          </a:p>
        </p:txBody>
      </p:sp>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E576FAF2-86D2-4D11-9FB8-0857DDD865EB}"/>
                  </a:ext>
                </a:extLst>
              </p:cNvPr>
              <p:cNvSpPr/>
              <p:nvPr/>
            </p:nvSpPr>
            <p:spPr>
              <a:xfrm>
                <a:off x="5208054" y="3858346"/>
                <a:ext cx="3941539" cy="830484"/>
              </a:xfrm>
              <a:prstGeom prst="rect">
                <a:avLst/>
              </a:prstGeom>
            </p:spPr>
            <p:txBody>
              <a:bodyPr wrap="square">
                <a:spAutoFit/>
              </a:bodyPr>
              <a:lstStyle/>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𝑂𝐷𝑇𝑃𝐸</m:t>
                    </m:r>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=100∗</m:t>
                    </m:r>
                    <m:d>
                      <m:dPr>
                        <m:begChr m:val="["/>
                        <m:endChr m:val="]"/>
                        <m:ctrlP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0,5 ∗</m:t>
                        </m:r>
                        <m:f>
                          <m:fPr>
                            <m:ctrlP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fPr>
                          <m:num>
                            <m:d>
                              <m:dPr>
                                <m:ctrlP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sSub>
                                  <m:sSubPr>
                                    <m:ctrlP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𝑛𝐶</m:t>
                                    </m:r>
                                  </m:e>
                                  <m:sub>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A_dual</m:t>
                                    </m:r>
                                  </m:sub>
                                </m:sSub>
                              </m:e>
                            </m:d>
                          </m:num>
                          <m:den>
                            <m:d>
                              <m:dPr>
                                <m:ctrlP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sSub>
                                  <m:sSubPr>
                                    <m:ctrlP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𝑛𝐶</m:t>
                                    </m:r>
                                  </m:e>
                                  <m:sub>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A_single</m:t>
                                    </m:r>
                                  </m:sub>
                                </m:sSub>
                              </m:e>
                            </m:d>
                          </m:den>
                        </m:f>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+0,5 ∗</m:t>
                        </m:r>
                        <m:f>
                          <m:fPr>
                            <m:ctrlP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fPr>
                          <m:num>
                            <m:d>
                              <m:dPr>
                                <m:ctrlP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sSub>
                                  <m:sSubPr>
                                    <m:ctrlP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𝑛𝐶</m:t>
                                    </m:r>
                                  </m:e>
                                  <m:sub>
                                    <m:r>
                                      <m:rPr>
                                        <m:nor/>
                                      </m:rPr>
                                      <a:rPr kumimoji="0" lang="de-DE"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B</m:t>
                                    </m:r>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_dual</m:t>
                                    </m:r>
                                  </m:sub>
                                </m:sSub>
                              </m:e>
                            </m:d>
                          </m:num>
                          <m:den>
                            <m:d>
                              <m:dPr>
                                <m:ctrlP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sSub>
                                  <m:sSubPr>
                                    <m:ctrlP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𝑛𝐶</m:t>
                                    </m:r>
                                  </m:e>
                                  <m:sub>
                                    <m:r>
                                      <m:rPr>
                                        <m:nor/>
                                      </m:rPr>
                                      <a:rPr kumimoji="0" lang="de-DE"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B</m:t>
                                    </m:r>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_single</m:t>
                                    </m:r>
                                  </m:sub>
                                </m:sSub>
                              </m:e>
                            </m:d>
                          </m:den>
                        </m:f>
                      </m:e>
                    </m:d>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−100</m:t>
                    </m:r>
                  </m:oMath>
                </a14:m>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1" name="Rechteck 30">
                <a:extLst>
                  <a:ext uri="{FF2B5EF4-FFF2-40B4-BE49-F238E27FC236}">
                    <a16:creationId xmlns:a16="http://schemas.microsoft.com/office/drawing/2014/main" id="{E576FAF2-86D2-4D11-9FB8-0857DDD865EB}"/>
                  </a:ext>
                </a:extLst>
              </p:cNvPr>
              <p:cNvSpPr>
                <a:spLocks noRot="1" noChangeAspect="1" noMove="1" noResize="1" noEditPoints="1" noAdjustHandles="1" noChangeArrowheads="1" noChangeShapeType="1" noTextEdit="1"/>
              </p:cNvSpPr>
              <p:nvPr/>
            </p:nvSpPr>
            <p:spPr>
              <a:xfrm>
                <a:off x="5208054" y="3858346"/>
                <a:ext cx="3941539" cy="83048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3965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22" grpId="0" animBg="1"/>
      <p:bldP spid="3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4D767E-1604-4F88-9DB3-A0A1BCF7E8A7}"/>
              </a:ext>
            </a:extLst>
          </p:cNvPr>
          <p:cNvSpPr>
            <a:spLocks noGrp="1"/>
          </p:cNvSpPr>
          <p:nvPr>
            <p:ph type="title"/>
          </p:nvPr>
        </p:nvSpPr>
        <p:spPr/>
        <p:txBody>
          <a:bodyPr>
            <a:normAutofit fontScale="90000"/>
          </a:bodyPr>
          <a:lstStyle/>
          <a:p>
            <a:r>
              <a:rPr lang="de-DE" dirty="0"/>
              <a:t>Parallel Processing – the Fast Switch </a:t>
            </a:r>
            <a:r>
              <a:rPr lang="de-DE" dirty="0" err="1"/>
              <a:t>Logic</a:t>
            </a:r>
            <a:endParaRPr lang="en-US" dirty="0"/>
          </a:p>
        </p:txBody>
      </p:sp>
      <p:sp>
        <p:nvSpPr>
          <p:cNvPr id="4" name="Foliennummernplatzhalter 3">
            <a:extLst>
              <a:ext uri="{FF2B5EF4-FFF2-40B4-BE49-F238E27FC236}">
                <a16:creationId xmlns:a16="http://schemas.microsoft.com/office/drawing/2014/main" id="{0523F8D9-85BC-49A3-90C3-9C07C6236F9C}"/>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38</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
        <p:nvSpPr>
          <p:cNvPr id="5" name="Inhaltsplatzhalter 2">
            <a:extLst>
              <a:ext uri="{FF2B5EF4-FFF2-40B4-BE49-F238E27FC236}">
                <a16:creationId xmlns:a16="http://schemas.microsoft.com/office/drawing/2014/main" id="{0EE1B135-B2BB-4B33-BA6D-3F8B3E87A11B}"/>
              </a:ext>
            </a:extLst>
          </p:cNvPr>
          <p:cNvSpPr>
            <a:spLocks noGrp="1"/>
          </p:cNvSpPr>
          <p:nvPr>
            <p:ph idx="1"/>
          </p:nvPr>
        </p:nvSpPr>
        <p:spPr>
          <a:xfrm>
            <a:off x="1115616" y="1072357"/>
            <a:ext cx="6663332" cy="3551621"/>
          </a:xfrm>
        </p:spPr>
        <p:txBody>
          <a:bodyPr>
            <a:normAutofit fontScale="40000" lnSpcReduction="20000"/>
          </a:bodyPr>
          <a:lstStyle/>
          <a:p>
            <a:pPr marL="0" indent="0">
              <a:spcAft>
                <a:spcPts val="450"/>
              </a:spcAft>
              <a:buNone/>
            </a:pPr>
            <a:r>
              <a:rPr lang="en-US" altLang="de-DE" sz="3150" b="1" dirty="0"/>
              <a:t>Identification of parallel processing</a:t>
            </a:r>
          </a:p>
          <a:p>
            <a:pPr marL="0" indent="0">
              <a:spcAft>
                <a:spcPts val="450"/>
              </a:spcAft>
              <a:buNone/>
            </a:pPr>
            <a:endParaRPr lang="en-US" altLang="de-DE" sz="2700" b="1" dirty="0"/>
          </a:p>
          <a:p>
            <a:pPr marL="324000" lvl="1" indent="-128588">
              <a:lnSpc>
                <a:spcPct val="120000"/>
              </a:lnSpc>
              <a:spcAft>
                <a:spcPts val="450"/>
              </a:spcAft>
              <a:buFont typeface="Arial" panose="020B0604020202020204" pitchFamily="34" charset="0"/>
              <a:buChar char="•"/>
              <a:defRPr/>
            </a:pPr>
            <a:r>
              <a:rPr lang="en-US" altLang="de-DE" sz="3375" dirty="0">
                <a:solidFill>
                  <a:prstClr val="black"/>
                </a:solidFill>
              </a:rPr>
              <a:t>Not directly visible</a:t>
            </a:r>
          </a:p>
          <a:p>
            <a:pPr>
              <a:lnSpc>
                <a:spcPct val="120000"/>
              </a:lnSpc>
              <a:spcAft>
                <a:spcPts val="450"/>
              </a:spcAft>
              <a:buFont typeface="Symbol" panose="05050102010706020507" pitchFamily="18" charset="2"/>
              <a:buChar char="-"/>
            </a:pPr>
            <a:endParaRPr lang="en-US" altLang="de-DE" dirty="0"/>
          </a:p>
          <a:p>
            <a:pPr>
              <a:lnSpc>
                <a:spcPct val="120000"/>
              </a:lnSpc>
              <a:spcAft>
                <a:spcPts val="450"/>
              </a:spcAft>
              <a:buFont typeface="Symbol" panose="05050102010706020507" pitchFamily="18" charset="2"/>
              <a:buChar char="-"/>
            </a:pPr>
            <a:endParaRPr lang="en-US" altLang="de-DE" dirty="0"/>
          </a:p>
          <a:p>
            <a:pPr>
              <a:lnSpc>
                <a:spcPct val="120000"/>
              </a:lnSpc>
              <a:spcAft>
                <a:spcPts val="450"/>
              </a:spcAft>
              <a:buFont typeface="Symbol" panose="05050102010706020507" pitchFamily="18" charset="2"/>
              <a:buChar char="-"/>
            </a:pPr>
            <a:endParaRPr lang="en-US" altLang="de-DE" dirty="0"/>
          </a:p>
          <a:p>
            <a:pPr>
              <a:lnSpc>
                <a:spcPct val="120000"/>
              </a:lnSpc>
              <a:spcAft>
                <a:spcPts val="450"/>
              </a:spcAft>
              <a:buFont typeface="Symbol" panose="05050102010706020507" pitchFamily="18" charset="2"/>
              <a:buChar char="-"/>
            </a:pPr>
            <a:endParaRPr lang="en-US" altLang="de-DE" dirty="0"/>
          </a:p>
          <a:p>
            <a:pPr>
              <a:lnSpc>
                <a:spcPct val="120000"/>
              </a:lnSpc>
              <a:spcAft>
                <a:spcPts val="1350"/>
              </a:spcAft>
              <a:buFont typeface="Symbol" panose="05050102010706020507" pitchFamily="18" charset="2"/>
              <a:buChar char="-"/>
            </a:pPr>
            <a:endParaRPr lang="en-US" altLang="de-DE" dirty="0"/>
          </a:p>
          <a:p>
            <a:pPr marL="324000" lvl="1" indent="-128588">
              <a:lnSpc>
                <a:spcPct val="120000"/>
              </a:lnSpc>
              <a:spcAft>
                <a:spcPts val="450"/>
              </a:spcAft>
              <a:buFont typeface="Arial" panose="020B0604020202020204" pitchFamily="34" charset="0"/>
              <a:buChar char="•"/>
              <a:defRPr/>
            </a:pPr>
            <a:endParaRPr lang="en-US" altLang="de-DE" sz="2850" dirty="0">
              <a:solidFill>
                <a:prstClr val="black"/>
              </a:solidFill>
            </a:endParaRPr>
          </a:p>
          <a:p>
            <a:pPr marL="324000" lvl="1" indent="-128588">
              <a:lnSpc>
                <a:spcPct val="120000"/>
              </a:lnSpc>
              <a:spcAft>
                <a:spcPts val="450"/>
              </a:spcAft>
              <a:buFont typeface="Arial" panose="020B0604020202020204" pitchFamily="34" charset="0"/>
              <a:buChar char="•"/>
              <a:defRPr/>
            </a:pPr>
            <a:r>
              <a:rPr lang="en-US" altLang="de-DE" sz="3375" dirty="0">
                <a:solidFill>
                  <a:prstClr val="black"/>
                </a:solidFill>
              </a:rPr>
              <a:t>Indication of parallel processing </a:t>
            </a:r>
            <a:r>
              <a:rPr lang="en-US" altLang="de-DE" sz="3375" dirty="0">
                <a:solidFill>
                  <a:prstClr val="black"/>
                </a:solidFill>
                <a:sym typeface="Wingdings" panose="05000000000000000000" pitchFamily="2" charset="2"/>
              </a:rPr>
              <a:t> fast switches:</a:t>
            </a:r>
            <a:br>
              <a:rPr lang="en-US" altLang="de-DE" sz="3375" dirty="0">
                <a:solidFill>
                  <a:prstClr val="black"/>
                </a:solidFill>
                <a:sym typeface="Wingdings" panose="05000000000000000000" pitchFamily="2" charset="2"/>
              </a:rPr>
            </a:br>
            <a:r>
              <a:rPr lang="en-US" altLang="de-DE" sz="3375" dirty="0">
                <a:solidFill>
                  <a:prstClr val="black"/>
                </a:solidFill>
                <a:sym typeface="Wingdings" panose="05000000000000000000" pitchFamily="2" charset="2"/>
              </a:rPr>
              <a:t>If the RT of a switch &lt; 25-%-quantile of the RT in single-task performance, than it is a fast switch</a:t>
            </a:r>
          </a:p>
          <a:p>
            <a:pPr marL="324000" lvl="1" indent="-128588">
              <a:lnSpc>
                <a:spcPct val="120000"/>
              </a:lnSpc>
              <a:spcAft>
                <a:spcPts val="450"/>
              </a:spcAft>
              <a:buFont typeface="Arial" panose="020B0604020202020204" pitchFamily="34" charset="0"/>
              <a:buChar char="•"/>
              <a:defRPr/>
            </a:pPr>
            <a:r>
              <a:rPr lang="en-US" altLang="de-DE" sz="3375" dirty="0">
                <a:solidFill>
                  <a:prstClr val="black"/>
                </a:solidFill>
                <a:sym typeface="Wingdings" panose="05000000000000000000" pitchFamily="2" charset="2"/>
              </a:rPr>
              <a:t>Precondition: no compensatory prolongation of the RT of the previous trials</a:t>
            </a:r>
            <a:endParaRPr lang="en-US" altLang="de-DE" sz="3375" dirty="0">
              <a:solidFill>
                <a:prstClr val="black"/>
              </a:solidFill>
            </a:endParaRPr>
          </a:p>
        </p:txBody>
      </p:sp>
      <p:sp>
        <p:nvSpPr>
          <p:cNvPr id="6" name="Rechteck 5">
            <a:extLst>
              <a:ext uri="{FF2B5EF4-FFF2-40B4-BE49-F238E27FC236}">
                <a16:creationId xmlns:a16="http://schemas.microsoft.com/office/drawing/2014/main" id="{099D0B5F-6851-45A3-82EA-B2D12F8EFC9A}"/>
              </a:ext>
            </a:extLst>
          </p:cNvPr>
          <p:cNvSpPr/>
          <p:nvPr/>
        </p:nvSpPr>
        <p:spPr>
          <a:xfrm>
            <a:off x="4771896" y="2855993"/>
            <a:ext cx="153590" cy="204788"/>
          </a:xfrm>
          <a:prstGeom prst="rect">
            <a:avLst/>
          </a:prstGeom>
          <a:pattFill prst="dkUpDiag">
            <a:fgClr>
              <a:schemeClr val="tx1">
                <a:lumMod val="75000"/>
                <a:lumOff val="25000"/>
              </a:schemeClr>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750" b="0" i="0" u="none" strike="noStrike" kern="1200" cap="none" spc="0" normalizeH="0" baseline="0" noProof="0">
              <a:ln>
                <a:noFill/>
              </a:ln>
              <a:solidFill>
                <a:prstClr val="black"/>
              </a:solidFill>
              <a:effectLst/>
              <a:uLnTx/>
              <a:uFillTx/>
              <a:latin typeface="Calibri"/>
              <a:ea typeface="+mn-ea"/>
              <a:cs typeface="Arial" pitchFamily="34" charset="0"/>
            </a:endParaRPr>
          </a:p>
        </p:txBody>
      </p:sp>
      <p:sp>
        <p:nvSpPr>
          <p:cNvPr id="7" name="Rechteck 6">
            <a:extLst>
              <a:ext uri="{FF2B5EF4-FFF2-40B4-BE49-F238E27FC236}">
                <a16:creationId xmlns:a16="http://schemas.microsoft.com/office/drawing/2014/main" id="{9508678A-A70C-44D5-A202-97FB75FB3CE6}"/>
              </a:ext>
            </a:extLst>
          </p:cNvPr>
          <p:cNvSpPr/>
          <p:nvPr/>
        </p:nvSpPr>
        <p:spPr>
          <a:xfrm>
            <a:off x="4919533" y="2852422"/>
            <a:ext cx="408384" cy="208359"/>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750" b="0" i="0" u="none" strike="noStrike" kern="1200" cap="none" spc="0" normalizeH="0" baseline="0" noProof="0">
              <a:ln>
                <a:noFill/>
              </a:ln>
              <a:solidFill>
                <a:prstClr val="black"/>
              </a:solidFill>
              <a:effectLst/>
              <a:uLnTx/>
              <a:uFillTx/>
              <a:latin typeface="Calibri"/>
              <a:ea typeface="+mn-ea"/>
              <a:cs typeface="Arial" pitchFamily="34" charset="0"/>
            </a:endParaRPr>
          </a:p>
        </p:txBody>
      </p:sp>
      <p:sp>
        <p:nvSpPr>
          <p:cNvPr id="8" name="Rechteck 7">
            <a:extLst>
              <a:ext uri="{FF2B5EF4-FFF2-40B4-BE49-F238E27FC236}">
                <a16:creationId xmlns:a16="http://schemas.microsoft.com/office/drawing/2014/main" id="{C24B1339-CEB8-47C2-AB52-E0FB91D181DF}"/>
              </a:ext>
            </a:extLst>
          </p:cNvPr>
          <p:cNvSpPr/>
          <p:nvPr/>
        </p:nvSpPr>
        <p:spPr>
          <a:xfrm>
            <a:off x="4983827" y="2153524"/>
            <a:ext cx="152400" cy="204788"/>
          </a:xfrm>
          <a:prstGeom prst="rect">
            <a:avLst/>
          </a:prstGeom>
          <a:pattFill prst="dkUpDiag">
            <a:fgClr>
              <a:schemeClr val="tx1">
                <a:lumMod val="75000"/>
                <a:lumOff val="25000"/>
              </a:schemeClr>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750" b="0" i="0" u="none" strike="noStrike" kern="1200" cap="none" spc="0" normalizeH="0" baseline="0" noProof="0">
              <a:ln>
                <a:noFill/>
              </a:ln>
              <a:solidFill>
                <a:prstClr val="black"/>
              </a:solidFill>
              <a:effectLst/>
              <a:uLnTx/>
              <a:uFillTx/>
              <a:latin typeface="Calibri"/>
              <a:ea typeface="+mn-ea"/>
              <a:cs typeface="Arial" pitchFamily="34" charset="0"/>
            </a:endParaRPr>
          </a:p>
        </p:txBody>
      </p:sp>
      <p:sp>
        <p:nvSpPr>
          <p:cNvPr id="9" name="Rechteck 8">
            <a:extLst>
              <a:ext uri="{FF2B5EF4-FFF2-40B4-BE49-F238E27FC236}">
                <a16:creationId xmlns:a16="http://schemas.microsoft.com/office/drawing/2014/main" id="{01BD07EC-1BBE-4DD4-8473-FC7529DF1ED6}"/>
              </a:ext>
            </a:extLst>
          </p:cNvPr>
          <p:cNvSpPr/>
          <p:nvPr/>
        </p:nvSpPr>
        <p:spPr>
          <a:xfrm>
            <a:off x="4567108" y="1935641"/>
            <a:ext cx="416719" cy="205978"/>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sp>
        <p:nvSpPr>
          <p:cNvPr id="10" name="Rechteck 9">
            <a:extLst>
              <a:ext uri="{FF2B5EF4-FFF2-40B4-BE49-F238E27FC236}">
                <a16:creationId xmlns:a16="http://schemas.microsoft.com/office/drawing/2014/main" id="{30D4C2A2-6926-4AC0-8572-744850620B7F}"/>
              </a:ext>
            </a:extLst>
          </p:cNvPr>
          <p:cNvSpPr/>
          <p:nvPr/>
        </p:nvSpPr>
        <p:spPr>
          <a:xfrm>
            <a:off x="5131464" y="2149953"/>
            <a:ext cx="407194" cy="208359"/>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11" name="Rechteck 10">
            <a:extLst>
              <a:ext uri="{FF2B5EF4-FFF2-40B4-BE49-F238E27FC236}">
                <a16:creationId xmlns:a16="http://schemas.microsoft.com/office/drawing/2014/main" id="{226522BC-9495-4842-B0DA-4D5C369BF706}"/>
              </a:ext>
            </a:extLst>
          </p:cNvPr>
          <p:cNvSpPr/>
          <p:nvPr/>
        </p:nvSpPr>
        <p:spPr>
          <a:xfrm>
            <a:off x="4157533" y="1935641"/>
            <a:ext cx="417909" cy="205978"/>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cxnSp>
        <p:nvCxnSpPr>
          <p:cNvPr id="12" name="Gerade Verbindung 9">
            <a:extLst>
              <a:ext uri="{FF2B5EF4-FFF2-40B4-BE49-F238E27FC236}">
                <a16:creationId xmlns:a16="http://schemas.microsoft.com/office/drawing/2014/main" id="{62B45C9F-2156-4378-91FC-8B76E3ED4597}"/>
              </a:ext>
            </a:extLst>
          </p:cNvPr>
          <p:cNvCxnSpPr/>
          <p:nvPr/>
        </p:nvCxnSpPr>
        <p:spPr>
          <a:xfrm flipV="1">
            <a:off x="4568298" y="1827293"/>
            <a:ext cx="0" cy="315516"/>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13" name="Gerade Verbindung 10">
            <a:extLst>
              <a:ext uri="{FF2B5EF4-FFF2-40B4-BE49-F238E27FC236}">
                <a16:creationId xmlns:a16="http://schemas.microsoft.com/office/drawing/2014/main" id="{B781F4A9-0B78-4508-B132-46FE7589AC87}"/>
              </a:ext>
            </a:extLst>
          </p:cNvPr>
          <p:cNvCxnSpPr/>
          <p:nvPr/>
        </p:nvCxnSpPr>
        <p:spPr>
          <a:xfrm flipV="1">
            <a:off x="4976683" y="1823722"/>
            <a:ext cx="0" cy="315515"/>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14" name="Gerade Verbindung 11">
            <a:extLst>
              <a:ext uri="{FF2B5EF4-FFF2-40B4-BE49-F238E27FC236}">
                <a16:creationId xmlns:a16="http://schemas.microsoft.com/office/drawing/2014/main" id="{37503DA9-0260-42F9-946F-EBD16E493AA9}"/>
              </a:ext>
            </a:extLst>
          </p:cNvPr>
          <p:cNvCxnSpPr/>
          <p:nvPr/>
        </p:nvCxnSpPr>
        <p:spPr>
          <a:xfrm flipV="1">
            <a:off x="5543420" y="2145191"/>
            <a:ext cx="0" cy="3155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hteck 14">
            <a:extLst>
              <a:ext uri="{FF2B5EF4-FFF2-40B4-BE49-F238E27FC236}">
                <a16:creationId xmlns:a16="http://schemas.microsoft.com/office/drawing/2014/main" id="{51B621A5-B281-4B83-922F-584FDDD9D2B5}"/>
              </a:ext>
            </a:extLst>
          </p:cNvPr>
          <p:cNvSpPr/>
          <p:nvPr/>
        </p:nvSpPr>
        <p:spPr>
          <a:xfrm>
            <a:off x="3740814" y="1935640"/>
            <a:ext cx="416719" cy="203597"/>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cxnSp>
        <p:nvCxnSpPr>
          <p:cNvPr id="16" name="Gerade Verbindung 15">
            <a:extLst>
              <a:ext uri="{FF2B5EF4-FFF2-40B4-BE49-F238E27FC236}">
                <a16:creationId xmlns:a16="http://schemas.microsoft.com/office/drawing/2014/main" id="{EDE49FBC-FAB2-41C0-AE22-A9EEE31866AE}"/>
              </a:ext>
            </a:extLst>
          </p:cNvPr>
          <p:cNvCxnSpPr/>
          <p:nvPr/>
        </p:nvCxnSpPr>
        <p:spPr>
          <a:xfrm flipV="1">
            <a:off x="4157533" y="1824912"/>
            <a:ext cx="0" cy="315516"/>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17" name="Gerade Verbindung 21">
            <a:extLst>
              <a:ext uri="{FF2B5EF4-FFF2-40B4-BE49-F238E27FC236}">
                <a16:creationId xmlns:a16="http://schemas.microsoft.com/office/drawing/2014/main" id="{5ABD2D8B-24BC-4203-8D5E-8A9E0BE3D041}"/>
              </a:ext>
            </a:extLst>
          </p:cNvPr>
          <p:cNvCxnSpPr/>
          <p:nvPr/>
        </p:nvCxnSpPr>
        <p:spPr>
          <a:xfrm flipV="1">
            <a:off x="5958948" y="2149954"/>
            <a:ext cx="0" cy="3155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 Verbindung 23">
            <a:extLst>
              <a:ext uri="{FF2B5EF4-FFF2-40B4-BE49-F238E27FC236}">
                <a16:creationId xmlns:a16="http://schemas.microsoft.com/office/drawing/2014/main" id="{F4B83BD7-7EC9-4819-9723-2FFF30C27451}"/>
              </a:ext>
            </a:extLst>
          </p:cNvPr>
          <p:cNvCxnSpPr/>
          <p:nvPr/>
        </p:nvCxnSpPr>
        <p:spPr>
          <a:xfrm flipV="1">
            <a:off x="6367333" y="2146381"/>
            <a:ext cx="0" cy="3155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6024396D-9831-4C8B-89D2-1D56616035EB}"/>
              </a:ext>
            </a:extLst>
          </p:cNvPr>
          <p:cNvSpPr/>
          <p:nvPr/>
        </p:nvSpPr>
        <p:spPr>
          <a:xfrm>
            <a:off x="5550564" y="2142810"/>
            <a:ext cx="408384" cy="215503"/>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20" name="Rechteck 19">
            <a:extLst>
              <a:ext uri="{FF2B5EF4-FFF2-40B4-BE49-F238E27FC236}">
                <a16:creationId xmlns:a16="http://schemas.microsoft.com/office/drawing/2014/main" id="{9319E194-B943-4C70-980D-71EA9B0ABAD5}"/>
              </a:ext>
            </a:extLst>
          </p:cNvPr>
          <p:cNvSpPr/>
          <p:nvPr/>
        </p:nvSpPr>
        <p:spPr>
          <a:xfrm>
            <a:off x="5958948" y="2149953"/>
            <a:ext cx="408385" cy="208359"/>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21" name="Textfeld 27">
            <a:extLst>
              <a:ext uri="{FF2B5EF4-FFF2-40B4-BE49-F238E27FC236}">
                <a16:creationId xmlns:a16="http://schemas.microsoft.com/office/drawing/2014/main" id="{1D335902-21CC-48F3-8A52-F395B7505C7E}"/>
              </a:ext>
            </a:extLst>
          </p:cNvPr>
          <p:cNvSpPr txBox="1">
            <a:spLocks noChangeArrowheads="1"/>
          </p:cNvSpPr>
          <p:nvPr/>
        </p:nvSpPr>
        <p:spPr bwMode="auto">
          <a:xfrm>
            <a:off x="1365052" y="1919307"/>
            <a:ext cx="211144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mn-cs"/>
              </a:rPr>
              <a:t>Expected RT-pattern in case of </a:t>
            </a:r>
            <a:r>
              <a:rPr kumimoji="0" lang="en-US" altLang="de-DE" sz="1050" b="1" i="0" u="none" strike="noStrike" kern="1200" cap="none" spc="0" normalizeH="0" baseline="0" noProof="0">
                <a:ln>
                  <a:noFill/>
                </a:ln>
                <a:solidFill>
                  <a:prstClr val="black"/>
                </a:solidFill>
                <a:effectLst/>
                <a:uLnTx/>
                <a:uFillTx/>
                <a:latin typeface="Arial" panose="020B0604020202020204" pitchFamily="34" charset="0"/>
                <a:ea typeface="+mn-ea"/>
                <a:cs typeface="+mn-cs"/>
              </a:rPr>
              <a:t>serial processing</a:t>
            </a:r>
          </a:p>
        </p:txBody>
      </p:sp>
      <p:sp>
        <p:nvSpPr>
          <p:cNvPr id="22" name="Rechteck 21">
            <a:extLst>
              <a:ext uri="{FF2B5EF4-FFF2-40B4-BE49-F238E27FC236}">
                <a16:creationId xmlns:a16="http://schemas.microsoft.com/office/drawing/2014/main" id="{2E802452-DF3F-466B-BE67-60135A3173CB}"/>
              </a:ext>
            </a:extLst>
          </p:cNvPr>
          <p:cNvSpPr/>
          <p:nvPr/>
        </p:nvSpPr>
        <p:spPr>
          <a:xfrm>
            <a:off x="6823010" y="1587783"/>
            <a:ext cx="408384" cy="215504"/>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23" name="Textfeld 27">
            <a:extLst>
              <a:ext uri="{FF2B5EF4-FFF2-40B4-BE49-F238E27FC236}">
                <a16:creationId xmlns:a16="http://schemas.microsoft.com/office/drawing/2014/main" id="{71EEC4D3-8C82-4849-8C56-AB3CDF77F645}"/>
              </a:ext>
            </a:extLst>
          </p:cNvPr>
          <p:cNvSpPr txBox="1">
            <a:spLocks noChangeArrowheads="1"/>
          </p:cNvSpPr>
          <p:nvPr/>
        </p:nvSpPr>
        <p:spPr bwMode="auto">
          <a:xfrm>
            <a:off x="7231394" y="1562120"/>
            <a:ext cx="15945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900" b="0" i="0" u="none" strike="noStrike" kern="1200" cap="none" spc="0" normalizeH="0" baseline="0" noProof="0">
                <a:ln>
                  <a:noFill/>
                </a:ln>
                <a:solidFill>
                  <a:prstClr val="black"/>
                </a:solidFill>
                <a:effectLst/>
                <a:uLnTx/>
                <a:uFillTx/>
                <a:latin typeface="Arial" panose="020B0604020202020204" pitchFamily="34" charset="0"/>
                <a:ea typeface="+mn-ea"/>
                <a:cs typeface="+mn-cs"/>
              </a:rPr>
              <a:t>Typical RT in single-tasks</a:t>
            </a:r>
          </a:p>
        </p:txBody>
      </p:sp>
      <p:sp>
        <p:nvSpPr>
          <p:cNvPr id="24" name="Rechteck 23">
            <a:extLst>
              <a:ext uri="{FF2B5EF4-FFF2-40B4-BE49-F238E27FC236}">
                <a16:creationId xmlns:a16="http://schemas.microsoft.com/office/drawing/2014/main" id="{F7CA927B-F979-4ABB-836A-00CCDB3BEF1B}"/>
              </a:ext>
            </a:extLst>
          </p:cNvPr>
          <p:cNvSpPr/>
          <p:nvPr/>
        </p:nvSpPr>
        <p:spPr>
          <a:xfrm>
            <a:off x="7074232" y="1913354"/>
            <a:ext cx="157163" cy="208360"/>
          </a:xfrm>
          <a:prstGeom prst="rect">
            <a:avLst/>
          </a:prstGeom>
          <a:pattFill prst="dkUpDiag">
            <a:fgClr>
              <a:schemeClr val="tx1">
                <a:lumMod val="75000"/>
                <a:lumOff val="25000"/>
              </a:schemeClr>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750" b="0" i="0" u="none" strike="noStrike" kern="1200" cap="none" spc="0" normalizeH="0" baseline="0" noProof="0">
              <a:ln>
                <a:noFill/>
              </a:ln>
              <a:solidFill>
                <a:prstClr val="black"/>
              </a:solidFill>
              <a:effectLst/>
              <a:uLnTx/>
              <a:uFillTx/>
              <a:latin typeface="Calibri"/>
              <a:ea typeface="+mn-ea"/>
              <a:cs typeface="Arial" pitchFamily="34" charset="0"/>
            </a:endParaRPr>
          </a:p>
        </p:txBody>
      </p:sp>
      <p:sp>
        <p:nvSpPr>
          <p:cNvPr id="25" name="Textfeld 27">
            <a:extLst>
              <a:ext uri="{FF2B5EF4-FFF2-40B4-BE49-F238E27FC236}">
                <a16:creationId xmlns:a16="http://schemas.microsoft.com/office/drawing/2014/main" id="{B2A1C4DA-3E32-4B56-B6ED-C0508BF1FC0D}"/>
              </a:ext>
            </a:extLst>
          </p:cNvPr>
          <p:cNvSpPr txBox="1">
            <a:spLocks noChangeArrowheads="1"/>
          </p:cNvSpPr>
          <p:nvPr/>
        </p:nvSpPr>
        <p:spPr bwMode="auto">
          <a:xfrm>
            <a:off x="7231395" y="1919307"/>
            <a:ext cx="102155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Switch costs</a:t>
            </a:r>
            <a:endParaRPr kumimoji="0" lang="en-US" altLang="de-DE" sz="863"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6" name="Rechteck 25">
            <a:extLst>
              <a:ext uri="{FF2B5EF4-FFF2-40B4-BE49-F238E27FC236}">
                <a16:creationId xmlns:a16="http://schemas.microsoft.com/office/drawing/2014/main" id="{90688832-6E32-4AA0-A619-80A978AE895B}"/>
              </a:ext>
            </a:extLst>
          </p:cNvPr>
          <p:cNvSpPr/>
          <p:nvPr/>
        </p:nvSpPr>
        <p:spPr>
          <a:xfrm>
            <a:off x="4567108" y="2638110"/>
            <a:ext cx="416719" cy="205978"/>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sp>
        <p:nvSpPr>
          <p:cNvPr id="27" name="Rechteck 26">
            <a:extLst>
              <a:ext uri="{FF2B5EF4-FFF2-40B4-BE49-F238E27FC236}">
                <a16:creationId xmlns:a16="http://schemas.microsoft.com/office/drawing/2014/main" id="{53F36FFF-D462-43E8-9CCE-E2802945BA85}"/>
              </a:ext>
            </a:extLst>
          </p:cNvPr>
          <p:cNvSpPr/>
          <p:nvPr/>
        </p:nvSpPr>
        <p:spPr>
          <a:xfrm>
            <a:off x="4976683" y="2859565"/>
            <a:ext cx="344090" cy="204788"/>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28" name="Rechteck 27">
            <a:extLst>
              <a:ext uri="{FF2B5EF4-FFF2-40B4-BE49-F238E27FC236}">
                <a16:creationId xmlns:a16="http://schemas.microsoft.com/office/drawing/2014/main" id="{71D3BE2C-042F-49ED-A763-6238BCE6744F}"/>
              </a:ext>
            </a:extLst>
          </p:cNvPr>
          <p:cNvSpPr/>
          <p:nvPr/>
        </p:nvSpPr>
        <p:spPr>
          <a:xfrm>
            <a:off x="4157533" y="2638110"/>
            <a:ext cx="417909" cy="205978"/>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cxnSp>
        <p:nvCxnSpPr>
          <p:cNvPr id="29" name="Gerade Verbindung 35">
            <a:extLst>
              <a:ext uri="{FF2B5EF4-FFF2-40B4-BE49-F238E27FC236}">
                <a16:creationId xmlns:a16="http://schemas.microsoft.com/office/drawing/2014/main" id="{C644E4EA-F2CE-48D6-92BE-C5665A0FA7DA}"/>
              </a:ext>
            </a:extLst>
          </p:cNvPr>
          <p:cNvCxnSpPr/>
          <p:nvPr/>
        </p:nvCxnSpPr>
        <p:spPr>
          <a:xfrm flipV="1">
            <a:off x="4568298" y="2529762"/>
            <a:ext cx="0" cy="315516"/>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30" name="Gerade Verbindung 36">
            <a:extLst>
              <a:ext uri="{FF2B5EF4-FFF2-40B4-BE49-F238E27FC236}">
                <a16:creationId xmlns:a16="http://schemas.microsoft.com/office/drawing/2014/main" id="{DA1612DE-8E19-4260-80C7-8B068F9902C0}"/>
              </a:ext>
            </a:extLst>
          </p:cNvPr>
          <p:cNvCxnSpPr/>
          <p:nvPr/>
        </p:nvCxnSpPr>
        <p:spPr>
          <a:xfrm flipV="1">
            <a:off x="4976683" y="2526191"/>
            <a:ext cx="0" cy="315515"/>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31" name="Gerade Verbindung 37">
            <a:extLst>
              <a:ext uri="{FF2B5EF4-FFF2-40B4-BE49-F238E27FC236}">
                <a16:creationId xmlns:a16="http://schemas.microsoft.com/office/drawing/2014/main" id="{5CAC6465-D525-42C4-BEE9-5CD8B5EEFB07}"/>
              </a:ext>
            </a:extLst>
          </p:cNvPr>
          <p:cNvCxnSpPr/>
          <p:nvPr/>
        </p:nvCxnSpPr>
        <p:spPr>
          <a:xfrm flipV="1">
            <a:off x="5327917" y="2847660"/>
            <a:ext cx="0" cy="3155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hteck 31">
            <a:extLst>
              <a:ext uri="{FF2B5EF4-FFF2-40B4-BE49-F238E27FC236}">
                <a16:creationId xmlns:a16="http://schemas.microsoft.com/office/drawing/2014/main" id="{9D1B16DF-7795-4900-B1DF-8FFDD9AACBB4}"/>
              </a:ext>
            </a:extLst>
          </p:cNvPr>
          <p:cNvSpPr/>
          <p:nvPr/>
        </p:nvSpPr>
        <p:spPr>
          <a:xfrm>
            <a:off x="3740814" y="2638109"/>
            <a:ext cx="416719" cy="214313"/>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cxnSp>
        <p:nvCxnSpPr>
          <p:cNvPr id="33" name="Gerade Verbindung 39">
            <a:extLst>
              <a:ext uri="{FF2B5EF4-FFF2-40B4-BE49-F238E27FC236}">
                <a16:creationId xmlns:a16="http://schemas.microsoft.com/office/drawing/2014/main" id="{9B4DE23D-426C-4D01-9531-C6B597B437EA}"/>
              </a:ext>
            </a:extLst>
          </p:cNvPr>
          <p:cNvCxnSpPr/>
          <p:nvPr/>
        </p:nvCxnSpPr>
        <p:spPr>
          <a:xfrm flipV="1">
            <a:off x="4157533" y="2527381"/>
            <a:ext cx="0" cy="315516"/>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34" name="Gerade Verbindung 41">
            <a:extLst>
              <a:ext uri="{FF2B5EF4-FFF2-40B4-BE49-F238E27FC236}">
                <a16:creationId xmlns:a16="http://schemas.microsoft.com/office/drawing/2014/main" id="{16D55F62-8872-4BD0-9713-6DEDB67C3EAE}"/>
              </a:ext>
            </a:extLst>
          </p:cNvPr>
          <p:cNvCxnSpPr/>
          <p:nvPr/>
        </p:nvCxnSpPr>
        <p:spPr>
          <a:xfrm flipV="1">
            <a:off x="5743445" y="2852422"/>
            <a:ext cx="0" cy="3155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Gerade Verbindung 42">
            <a:extLst>
              <a:ext uri="{FF2B5EF4-FFF2-40B4-BE49-F238E27FC236}">
                <a16:creationId xmlns:a16="http://schemas.microsoft.com/office/drawing/2014/main" id="{3166EDC6-2EB1-467D-A58E-DE7B6563BE2C}"/>
              </a:ext>
            </a:extLst>
          </p:cNvPr>
          <p:cNvCxnSpPr/>
          <p:nvPr/>
        </p:nvCxnSpPr>
        <p:spPr>
          <a:xfrm flipV="1">
            <a:off x="6151829" y="2848850"/>
            <a:ext cx="0" cy="3155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Rechteck 35">
            <a:extLst>
              <a:ext uri="{FF2B5EF4-FFF2-40B4-BE49-F238E27FC236}">
                <a16:creationId xmlns:a16="http://schemas.microsoft.com/office/drawing/2014/main" id="{1AD3E68F-E1BC-45C9-960B-1526A0537BCC}"/>
              </a:ext>
            </a:extLst>
          </p:cNvPr>
          <p:cNvSpPr/>
          <p:nvPr/>
        </p:nvSpPr>
        <p:spPr>
          <a:xfrm>
            <a:off x="5335061" y="2845278"/>
            <a:ext cx="408385" cy="215503"/>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37" name="Rechteck 36">
            <a:extLst>
              <a:ext uri="{FF2B5EF4-FFF2-40B4-BE49-F238E27FC236}">
                <a16:creationId xmlns:a16="http://schemas.microsoft.com/office/drawing/2014/main" id="{D6C51004-1EA1-4E94-9482-F5BBBDCB1F2D}"/>
              </a:ext>
            </a:extLst>
          </p:cNvPr>
          <p:cNvSpPr/>
          <p:nvPr/>
        </p:nvSpPr>
        <p:spPr>
          <a:xfrm>
            <a:off x="5743445" y="2852422"/>
            <a:ext cx="408384" cy="208359"/>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38" name="Textfeld 27">
            <a:extLst>
              <a:ext uri="{FF2B5EF4-FFF2-40B4-BE49-F238E27FC236}">
                <a16:creationId xmlns:a16="http://schemas.microsoft.com/office/drawing/2014/main" id="{F6FE2F83-EFD1-4869-8621-65382A2FCD68}"/>
              </a:ext>
            </a:extLst>
          </p:cNvPr>
          <p:cNvSpPr txBox="1">
            <a:spLocks noChangeArrowheads="1"/>
          </p:cNvSpPr>
          <p:nvPr/>
        </p:nvSpPr>
        <p:spPr bwMode="auto">
          <a:xfrm>
            <a:off x="1365051" y="2534798"/>
            <a:ext cx="2126827"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mn-cs"/>
              </a:rPr>
              <a:t>RT-pattern with fast switches </a:t>
            </a: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 evidence for </a:t>
            </a:r>
            <a:r>
              <a:rPr kumimoji="0" lang="en-US" altLang="de-DE" sz="1050" b="1"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parallel </a:t>
            </a:r>
            <a:r>
              <a:rPr kumimoji="0" lang="en-US" altLang="de-DE" sz="1050" b="1" i="0" u="none" strike="noStrike" kern="1200" cap="none" spc="0" normalizeH="0" baseline="0" noProof="0">
                <a:ln>
                  <a:noFill/>
                </a:ln>
                <a:solidFill>
                  <a:prstClr val="black"/>
                </a:solidFill>
                <a:effectLst/>
                <a:uLnTx/>
                <a:uFillTx/>
                <a:latin typeface="Arial" panose="020B0604020202020204" pitchFamily="34" charset="0"/>
                <a:ea typeface="+mn-ea"/>
                <a:cs typeface="+mn-cs"/>
              </a:rPr>
              <a:t>processing</a:t>
            </a:r>
            <a:endPar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9" name="Ellipse 46">
            <a:extLst>
              <a:ext uri="{FF2B5EF4-FFF2-40B4-BE49-F238E27FC236}">
                <a16:creationId xmlns:a16="http://schemas.microsoft.com/office/drawing/2014/main" id="{EC328F28-CC5E-45FA-91BF-DF4D847829BC}"/>
              </a:ext>
            </a:extLst>
          </p:cNvPr>
          <p:cNvSpPr>
            <a:spLocks noChangeArrowheads="1"/>
          </p:cNvSpPr>
          <p:nvPr/>
        </p:nvSpPr>
        <p:spPr bwMode="auto">
          <a:xfrm>
            <a:off x="4889767" y="2688115"/>
            <a:ext cx="532210" cy="479822"/>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altLang="de-DE" sz="9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40" name="Gerade Verbindung mit Pfeil 39">
            <a:extLst>
              <a:ext uri="{FF2B5EF4-FFF2-40B4-BE49-F238E27FC236}">
                <a16:creationId xmlns:a16="http://schemas.microsoft.com/office/drawing/2014/main" id="{308277A3-D3CF-454E-9AD5-1DF2A50B2B2F}"/>
              </a:ext>
            </a:extLst>
          </p:cNvPr>
          <p:cNvCxnSpPr/>
          <p:nvPr/>
        </p:nvCxnSpPr>
        <p:spPr>
          <a:xfrm flipV="1">
            <a:off x="3653898" y="2148762"/>
            <a:ext cx="2977754" cy="1191"/>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41" name="Gerade Verbindung mit Pfeil 40">
            <a:extLst>
              <a:ext uri="{FF2B5EF4-FFF2-40B4-BE49-F238E27FC236}">
                <a16:creationId xmlns:a16="http://schemas.microsoft.com/office/drawing/2014/main" id="{B7A83A91-519A-4174-8681-D8012F6F484B}"/>
              </a:ext>
            </a:extLst>
          </p:cNvPr>
          <p:cNvCxnSpPr/>
          <p:nvPr/>
        </p:nvCxnSpPr>
        <p:spPr>
          <a:xfrm flipV="1">
            <a:off x="3653898" y="2851231"/>
            <a:ext cx="2977754" cy="1191"/>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3634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6"/>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7"/>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5">
                                            <p:txEl>
                                              <p:pRg st="9" end="9"/>
                                            </p:txEl>
                                          </p:spTgt>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9" grpId="0" animBg="1"/>
      <p:bldP spid="10" grpId="0" animBg="1"/>
      <p:bldP spid="11" grpId="0" animBg="1"/>
      <p:bldP spid="15" grpId="0" animBg="1"/>
      <p:bldP spid="19" grpId="0" animBg="1"/>
      <p:bldP spid="20" grpId="0" animBg="1"/>
      <p:bldP spid="21" grpId="0"/>
      <p:bldP spid="22" grpId="0" animBg="1"/>
      <p:bldP spid="23" grpId="0"/>
      <p:bldP spid="24" grpId="0" animBg="1"/>
      <p:bldP spid="25" grpId="0"/>
      <p:bldP spid="26" grpId="0" animBg="1"/>
      <p:bldP spid="27" grpId="0" animBg="1"/>
      <p:bldP spid="28" grpId="0" animBg="1"/>
      <p:bldP spid="32" grpId="0" animBg="1"/>
      <p:bldP spid="36" grpId="0" animBg="1"/>
      <p:bldP spid="37" grpId="0" animBg="1"/>
      <p:bldP spid="38" grpId="0"/>
      <p:bldP spid="3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872E8F-0DFF-4542-86FF-36DD849DCB3B}"/>
              </a:ext>
            </a:extLst>
          </p:cNvPr>
          <p:cNvSpPr>
            <a:spLocks noGrp="1"/>
          </p:cNvSpPr>
          <p:nvPr>
            <p:ph type="title"/>
          </p:nvPr>
        </p:nvSpPr>
        <p:spPr/>
        <p:txBody>
          <a:bodyPr>
            <a:normAutofit fontScale="90000"/>
          </a:bodyPr>
          <a:lstStyle/>
          <a:p>
            <a:r>
              <a:rPr lang="de-DE" dirty="0"/>
              <a:t>Intra-Session </a:t>
            </a:r>
            <a:r>
              <a:rPr lang="de-DE" dirty="0" err="1"/>
              <a:t>Stability</a:t>
            </a:r>
            <a:r>
              <a:rPr lang="de-DE" dirty="0"/>
              <a:t> </a:t>
            </a:r>
            <a:r>
              <a:rPr lang="de-DE" dirty="0" err="1"/>
              <a:t>of</a:t>
            </a:r>
            <a:r>
              <a:rPr lang="de-DE" dirty="0"/>
              <a:t> Processing Modes</a:t>
            </a:r>
            <a:endParaRPr lang="en-US" dirty="0"/>
          </a:p>
        </p:txBody>
      </p:sp>
      <p:sp>
        <p:nvSpPr>
          <p:cNvPr id="4" name="Foliennummernplatzhalter 3">
            <a:extLst>
              <a:ext uri="{FF2B5EF4-FFF2-40B4-BE49-F238E27FC236}">
                <a16:creationId xmlns:a16="http://schemas.microsoft.com/office/drawing/2014/main" id="{0E1BD36E-EE9D-43B6-B279-E1992AC4F840}"/>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39</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
        <p:nvSpPr>
          <p:cNvPr id="7" name="Textfeld 6">
            <a:extLst>
              <a:ext uri="{FF2B5EF4-FFF2-40B4-BE49-F238E27FC236}">
                <a16:creationId xmlns:a16="http://schemas.microsoft.com/office/drawing/2014/main" id="{BFDBB378-D286-4162-B259-C4C3116C2103}"/>
              </a:ext>
            </a:extLst>
          </p:cNvPr>
          <p:cNvSpPr txBox="1"/>
          <p:nvPr/>
        </p:nvSpPr>
        <p:spPr>
          <a:xfrm>
            <a:off x="901108" y="1121010"/>
            <a:ext cx="7341783" cy="307777"/>
          </a:xfrm>
          <a:prstGeom prst="rect">
            <a:avLst/>
          </a:prstGeom>
          <a:noFill/>
        </p:spPr>
        <p:txBody>
          <a:bodyPr wrap="square" rtlCol="0">
            <a:spAutoFit/>
          </a:bodyPr>
          <a:lstStyle/>
          <a:p>
            <a:pPr marL="195412" marR="0" lvl="1" indent="0" algn="l" defTabSz="685800" rtl="0" eaLnBrk="1" fontAlgn="auto" latinLnBrk="0" hangingPunct="1">
              <a:lnSpc>
                <a:spcPct val="100000"/>
              </a:lnSpc>
              <a:spcBef>
                <a:spcPct val="20000"/>
              </a:spcBef>
              <a:spcAft>
                <a:spcPts val="450"/>
              </a:spcAft>
              <a:buClr>
                <a:srgbClr val="000000"/>
              </a:buClr>
              <a:buSzTx/>
              <a:buFontTx/>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5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data</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sets</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of</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TSWP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with</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letter</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and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digit</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classification</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tasks</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(18-35y) = 249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participants</a:t>
            </a:r>
            <a:endPar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8" name="Textfeld 7">
            <a:extLst>
              <a:ext uri="{FF2B5EF4-FFF2-40B4-BE49-F238E27FC236}">
                <a16:creationId xmlns:a16="http://schemas.microsoft.com/office/drawing/2014/main" id="{AE0BB049-BA32-43DF-B3D1-D37CB2C8A8C9}"/>
              </a:ext>
            </a:extLst>
          </p:cNvPr>
          <p:cNvSpPr txBox="1"/>
          <p:nvPr/>
        </p:nvSpPr>
        <p:spPr>
          <a:xfrm>
            <a:off x="901108" y="4355762"/>
            <a:ext cx="6274360" cy="307777"/>
          </a:xfrm>
          <a:prstGeom prst="rect">
            <a:avLst/>
          </a:prstGeom>
          <a:noFill/>
        </p:spPr>
        <p:txBody>
          <a:bodyPr wrap="square">
            <a:spAutoFit/>
          </a:bodyPr>
          <a:lstStyle/>
          <a:p>
            <a:pPr marL="195412" marR="0" lvl="1" indent="0" algn="l" defTabSz="685800" rtl="0" eaLnBrk="1" fontAlgn="auto" latinLnBrk="0" hangingPunct="1">
              <a:lnSpc>
                <a:spcPct val="100000"/>
              </a:lnSpc>
              <a:spcBef>
                <a:spcPct val="20000"/>
              </a:spcBef>
              <a:spcAft>
                <a:spcPts val="450"/>
              </a:spcAft>
              <a:buClr>
                <a:srgbClr val="000000"/>
              </a:buClr>
              <a:buSzTx/>
              <a:buFont typeface="Arial"/>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Split-half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reliability</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r(247) = .94 [.92, .95]</a:t>
            </a:r>
          </a:p>
        </p:txBody>
      </p:sp>
      <p:pic>
        <p:nvPicPr>
          <p:cNvPr id="10" name="Grafik 9">
            <a:extLst>
              <a:ext uri="{FF2B5EF4-FFF2-40B4-BE49-F238E27FC236}">
                <a16:creationId xmlns:a16="http://schemas.microsoft.com/office/drawing/2014/main" id="{92307D47-993A-4750-B368-AC9127262191}"/>
              </a:ext>
            </a:extLst>
          </p:cNvPr>
          <p:cNvPicPr>
            <a:picLocks noChangeAspect="1"/>
          </p:cNvPicPr>
          <p:nvPr/>
        </p:nvPicPr>
        <p:blipFill rotWithShape="1">
          <a:blip r:embed="rId2">
            <a:extLst>
              <a:ext uri="{28A0092B-C50C-407E-A947-70E740481C1C}">
                <a14:useLocalDpi xmlns:a14="http://schemas.microsoft.com/office/drawing/2010/main" val="0"/>
              </a:ext>
            </a:extLst>
          </a:blip>
          <a:srcRect t="8096" b="8096"/>
          <a:stretch/>
        </p:blipFill>
        <p:spPr>
          <a:xfrm>
            <a:off x="1429642" y="1598686"/>
            <a:ext cx="3406722" cy="2641958"/>
          </a:xfrm>
          <a:prstGeom prst="rect">
            <a:avLst/>
          </a:prstGeom>
        </p:spPr>
      </p:pic>
      <p:cxnSp>
        <p:nvCxnSpPr>
          <p:cNvPr id="11" name="Gerader Verbinder 10">
            <a:extLst>
              <a:ext uri="{FF2B5EF4-FFF2-40B4-BE49-F238E27FC236}">
                <a16:creationId xmlns:a16="http://schemas.microsoft.com/office/drawing/2014/main" id="{B6CB3B3D-42B2-4E11-A10F-F248C58D9FF5}"/>
              </a:ext>
            </a:extLst>
          </p:cNvPr>
          <p:cNvCxnSpPr>
            <a:cxnSpLocks/>
          </p:cNvCxnSpPr>
          <p:nvPr/>
        </p:nvCxnSpPr>
        <p:spPr bwMode="auto">
          <a:xfrm flipH="1">
            <a:off x="2161310" y="3456581"/>
            <a:ext cx="2574000" cy="0"/>
          </a:xfrm>
          <a:prstGeom prst="line">
            <a:avLst/>
          </a:prstGeom>
          <a:solidFill>
            <a:schemeClr val="tx2"/>
          </a:solidFill>
          <a:ln w="1905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Gerader Verbinder 11">
            <a:extLst>
              <a:ext uri="{FF2B5EF4-FFF2-40B4-BE49-F238E27FC236}">
                <a16:creationId xmlns:a16="http://schemas.microsoft.com/office/drawing/2014/main" id="{3B523DE5-0566-451B-8C8C-31ABB406F99F}"/>
              </a:ext>
            </a:extLst>
          </p:cNvPr>
          <p:cNvCxnSpPr>
            <a:cxnSpLocks/>
          </p:cNvCxnSpPr>
          <p:nvPr/>
        </p:nvCxnSpPr>
        <p:spPr bwMode="auto">
          <a:xfrm flipH="1">
            <a:off x="2161310" y="3210459"/>
            <a:ext cx="2574000" cy="0"/>
          </a:xfrm>
          <a:prstGeom prst="line">
            <a:avLst/>
          </a:prstGeom>
          <a:solidFill>
            <a:schemeClr val="tx2"/>
          </a:solidFill>
          <a:ln w="1905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echteck: abgerundete Ecken 12">
            <a:extLst>
              <a:ext uri="{FF2B5EF4-FFF2-40B4-BE49-F238E27FC236}">
                <a16:creationId xmlns:a16="http://schemas.microsoft.com/office/drawing/2014/main" id="{7CDF2671-0EBC-46E8-A01A-D71DE1E4F8A9}"/>
              </a:ext>
            </a:extLst>
          </p:cNvPr>
          <p:cNvSpPr/>
          <p:nvPr/>
        </p:nvSpPr>
        <p:spPr bwMode="auto">
          <a:xfrm>
            <a:off x="3334895" y="3355496"/>
            <a:ext cx="372233" cy="216024"/>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+1SD</a:t>
            </a:r>
          </a:p>
        </p:txBody>
      </p:sp>
      <p:sp>
        <p:nvSpPr>
          <p:cNvPr id="14" name="Rechteck: abgerundete Ecken 13">
            <a:extLst>
              <a:ext uri="{FF2B5EF4-FFF2-40B4-BE49-F238E27FC236}">
                <a16:creationId xmlns:a16="http://schemas.microsoft.com/office/drawing/2014/main" id="{EEB946BD-32A8-4723-BC18-FF0BCA0A82CE}"/>
              </a:ext>
            </a:extLst>
          </p:cNvPr>
          <p:cNvSpPr/>
          <p:nvPr/>
        </p:nvSpPr>
        <p:spPr bwMode="auto">
          <a:xfrm>
            <a:off x="3334895" y="3083531"/>
            <a:ext cx="372233" cy="216024"/>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+3SD</a:t>
            </a:r>
          </a:p>
        </p:txBody>
      </p:sp>
      <p:pic>
        <p:nvPicPr>
          <p:cNvPr id="15" name="Grafik 14">
            <a:extLst>
              <a:ext uri="{FF2B5EF4-FFF2-40B4-BE49-F238E27FC236}">
                <a16:creationId xmlns:a16="http://schemas.microsoft.com/office/drawing/2014/main" id="{19ED385E-4B07-480C-9A8B-DAFBC8B8C124}"/>
              </a:ext>
            </a:extLst>
          </p:cNvPr>
          <p:cNvPicPr>
            <a:picLocks noChangeAspect="1"/>
          </p:cNvPicPr>
          <p:nvPr/>
        </p:nvPicPr>
        <p:blipFill rotWithShape="1">
          <a:blip r:embed="rId3"/>
          <a:srcRect t="12908"/>
          <a:stretch/>
        </p:blipFill>
        <p:spPr>
          <a:xfrm>
            <a:off x="5095297" y="1598686"/>
            <a:ext cx="3233215" cy="2796978"/>
          </a:xfrm>
          <a:prstGeom prst="rect">
            <a:avLst/>
          </a:prstGeom>
        </p:spPr>
      </p:pic>
    </p:spTree>
    <p:extLst>
      <p:ext uri="{BB962C8B-B14F-4D97-AF65-F5344CB8AC3E}">
        <p14:creationId xmlns:p14="http://schemas.microsoft.com/office/powerpoint/2010/main" val="1495366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FC00020-4FE3-8437-92DB-E42E653158D4}"/>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40</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Tree>
    <p:extLst>
      <p:ext uri="{BB962C8B-B14F-4D97-AF65-F5344CB8AC3E}">
        <p14:creationId xmlns:p14="http://schemas.microsoft.com/office/powerpoint/2010/main" val="1155001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1"/>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2"/>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3"/>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4"/>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5"/>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6"/>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7"/>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8"/>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9"/>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10"/>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11"/>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12"/>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13"/>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14"/>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15"/>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16"/>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eamer-model-slide-17"/>
          <p:cNvPicPr>
            <a:picLocks noChangeAspect="1"/>
          </p:cNvPicPr>
          <p:nvPr/>
        </p:nvPicPr>
        <p:blipFill>
          <a:blip r:embed="rId2"/>
          <a:stretch>
            <a:fillRect/>
          </a:stretch>
        </p:blipFill>
        <p:spPr>
          <a:xfrm>
            <a:off x="731520" y="203454"/>
            <a:ext cx="7680960" cy="4320540"/>
          </a:xfrm>
          <a:prstGeom prst="rect">
            <a:avLst/>
          </a:prstGeom>
        </p:spPr>
      </p:pic>
    </p:spTree>
  </p:cSld>
  <p:clrMapOvr>
    <a:masterClrMapping/>
  </p:clrMapOvr>
</p:sld>
</file>

<file path=ppt/theme/theme1.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6647</Words>
  <Application>Microsoft Office PowerPoint</Application>
  <DocSecurity>0</DocSecurity>
  <PresentationFormat>Bildschirmpräsentation (16:9)</PresentationFormat>
  <Paragraphs>770</Paragraphs>
  <Slides>54</Slides>
  <Notes>31</Notes>
  <HiddenSlides>0</HiddenSlides>
  <MMClips>0</MMClips>
  <ScaleCrop>false</ScaleCrop>
  <HeadingPairs>
    <vt:vector size="6" baseType="variant">
      <vt:variant>
        <vt:lpstr>Verwendete Schriftarten</vt:lpstr>
      </vt:variant>
      <vt:variant>
        <vt:i4>12</vt:i4>
      </vt:variant>
      <vt:variant>
        <vt:lpstr>Design</vt:lpstr>
      </vt:variant>
      <vt:variant>
        <vt:i4>3</vt:i4>
      </vt:variant>
      <vt:variant>
        <vt:lpstr>Folientitel</vt:lpstr>
      </vt:variant>
      <vt:variant>
        <vt:i4>54</vt:i4>
      </vt:variant>
    </vt:vector>
  </HeadingPairs>
  <TitlesOfParts>
    <vt:vector size="69" baseType="lpstr">
      <vt:lpstr>Aptos</vt:lpstr>
      <vt:lpstr>Arial</vt:lpstr>
      <vt:lpstr>Arial Narrow</vt:lpstr>
      <vt:lpstr>Arial Unicode MS</vt:lpstr>
      <vt:lpstr>ArialMT</vt:lpstr>
      <vt:lpstr>Calibri</vt:lpstr>
      <vt:lpstr>Cambria Math</vt:lpstr>
      <vt:lpstr>Courier New</vt:lpstr>
      <vt:lpstr>Quicksand</vt:lpstr>
      <vt:lpstr>Symbol</vt:lpstr>
      <vt:lpstr>Times New Roman</vt:lpstr>
      <vt:lpstr>Wingdings</vt:lpstr>
      <vt:lpstr>Larissa</vt:lpstr>
      <vt:lpstr>1_Larissa</vt:lpstr>
      <vt:lpstr>2_Larissa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Theoretical proposal</vt:lpstr>
      <vt:lpstr>First-stage implementation</vt:lpstr>
      <vt:lpstr>Experimental data</vt:lpstr>
      <vt:lpstr>Experimental data</vt:lpstr>
      <vt:lpstr>Experimental data</vt:lpstr>
      <vt:lpstr>Experimental data</vt:lpstr>
      <vt:lpstr>Agentic behavioral model</vt:lpstr>
      <vt:lpstr>Dynamic programming backward induction</vt:lpstr>
      <vt:lpstr>Sequential conditional log likelihood maximization</vt:lpstr>
      <vt:lpstr>Model comparison and parameter estimates</vt:lpstr>
      <vt:lpstr>Theoretical work packages</vt:lpstr>
      <vt:lpstr>Summary</vt:lpstr>
      <vt:lpstr>PowerPoint-Präsentation</vt:lpstr>
      <vt:lpstr>Empirical Objective 1: Influence of learning ability and error sensitivity on response strategy formation</vt:lpstr>
      <vt:lpstr>Empirical Objective 1: Influence of learning ability and error sensitivity on response strategy formation</vt:lpstr>
      <vt:lpstr>Empirical Objective 2: Relationship between response strategies, reward, and reward sensitivity</vt:lpstr>
      <vt:lpstr>Empirical Objective 2: Relationship between response strategies, reward, and reward sensitivity</vt:lpstr>
      <vt:lpstr>Empirical objective 3: Psychological traits affecting response strategies</vt:lpstr>
      <vt:lpstr>Empirical objective 3: Psychological traits affecting response strategies</vt:lpstr>
      <vt:lpstr>Response Strategies – Paradigm</vt:lpstr>
      <vt:lpstr>Response Strategies – Categorization</vt:lpstr>
      <vt:lpstr>Response Strategies – Categorization</vt:lpstr>
      <vt:lpstr>Response Strategies – Reliability</vt:lpstr>
      <vt:lpstr>Response Strategies – Stability</vt:lpstr>
      <vt:lpstr>Response Strategies – Split-Half Reliability</vt:lpstr>
      <vt:lpstr>Response Strategies – Efficiency</vt:lpstr>
      <vt:lpstr>Response Strategies – Reliability</vt:lpstr>
      <vt:lpstr>Overall Dual-Task Efficiency</vt:lpstr>
      <vt:lpstr>Parallel Processing – the Fast Switch Logic</vt:lpstr>
      <vt:lpstr>Intra-Session Stability of Processing Modes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Dirk Ostwald</cp:lastModifiedBy>
  <cp:revision>81</cp:revision>
  <dcterms:created xsi:type="dcterms:W3CDTF">2026-09-13T10:03:12Z</dcterms:created>
  <dcterms:modified xsi:type="dcterms:W3CDTF">2026-09-20T14:06:36Z</dcterms:modified>
</cp:coreProperties>
</file>