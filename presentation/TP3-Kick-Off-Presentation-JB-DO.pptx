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8" r:id="rId3"/>
    <p:sldId id="257" r:id="rId4"/>
    <p:sldId id="260" r:id="rId5"/>
    <p:sldId id="261" r:id="rId6"/>
    <p:sldId id="262" r:id="rId7"/>
    <p:sldId id="263" r:id="rId8"/>
    <p:sldId id="264" r:id="rId9"/>
    <p:sldId id="342" r:id="rId10"/>
    <p:sldId id="345" r:id="rId11"/>
    <p:sldId id="346" r:id="rId12"/>
    <p:sldId id="347" r:id="rId13"/>
    <p:sldId id="348" r:id="rId14"/>
    <p:sldId id="349" r:id="rId15"/>
    <p:sldId id="350" r:id="rId16"/>
    <p:sldId id="351" r:id="rId17"/>
    <p:sldId id="352" r:id="rId18"/>
    <p:sldId id="353" r:id="rId19"/>
    <p:sldId id="343" r:id="rId20"/>
    <p:sldId id="344" r:id="rId2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5C5353-D6B6-4F32-A6FB-7D0A3485BA1D}" name="Gastbenutzer" initials="Ga" userId="Gastbenutz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8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462" autoAdjust="0"/>
  </p:normalViewPr>
  <p:slideViewPr>
    <p:cSldViewPr snapToGrid="0">
      <p:cViewPr varScale="1">
        <p:scale>
          <a:sx n="92" d="100"/>
          <a:sy n="92" d="100"/>
        </p:scale>
        <p:origin x="11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057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303"/>
              </a:spcBef>
              <a:buNone/>
            </a:pPr>
            <a:r>
              <a:rPr dirty="0"/>
              <a:t>Target time: 0:</a:t>
            </a:r>
            <a:r>
              <a:rPr lang="de-DE" dirty="0"/>
              <a:t>5</a:t>
            </a:r>
            <a:r>
              <a:rPr dirty="0"/>
              <a:t>0</a:t>
            </a:r>
          </a:p>
          <a:p>
            <a:pPr marL="346706" indent="-346706" algn="l" defTabSz="924550">
              <a:lnSpc>
                <a:spcPct val="115000"/>
              </a:lnSpc>
              <a:spcBef>
                <a:spcPts val="303"/>
              </a:spcBef>
              <a:buFont typeface="Symbol"/>
              <a:buChar char=""/>
            </a:pPr>
            <a:endParaRPr lang="de-DE" dirty="0"/>
          </a:p>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We’re presenting project 3, which is located at Magdeburg University and Constructor University in Bremen </a:t>
            </a:r>
          </a:p>
          <a:p>
            <a:pPr marL="0" marR="0" lvl="0" indent="0" algn="l" defTabSz="914400" rtl="0" eaLnBrk="1" fontAlgn="auto" latinLnBrk="0" hangingPunct="1">
              <a:lnSpc>
                <a:spcPct val="115000"/>
              </a:lnSpc>
              <a:spcBef>
                <a:spcPts val="303"/>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My name is </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Jovita Brüning and together with </a:t>
            </a:r>
            <a:r>
              <a:rPr kumimoji="0" lang="en-US" sz="1000" b="0" i="0" u="none" strike="noStrike" kern="1200" cap="none" spc="0" normalizeH="0" baseline="0" noProof="0" dirty="0" err="1">
                <a:ln>
                  <a:noFill/>
                </a:ln>
                <a:solidFill>
                  <a:prstClr val="black"/>
                </a:solidFill>
                <a:effectLst/>
                <a:uLnTx/>
                <a:uFillTx/>
                <a:latin typeface="Calibri"/>
                <a:ea typeface="Times New Roman" panose="02020603050405020304" pitchFamily="18" charset="0"/>
                <a:cs typeface="+mn-cs"/>
              </a:rPr>
              <a:t>Doruntinë</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 </a:t>
            </a:r>
            <a:r>
              <a:rPr kumimoji="0" lang="en-US" sz="1000" b="0" i="0" u="none" strike="noStrike" kern="1200" cap="none" spc="0" normalizeH="0" baseline="0" noProof="0" dirty="0" err="1">
                <a:ln>
                  <a:noFill/>
                </a:ln>
                <a:solidFill>
                  <a:prstClr val="black"/>
                </a:solidFill>
                <a:effectLst/>
                <a:uLnTx/>
                <a:uFillTx/>
                <a:latin typeface="Calibri"/>
                <a:ea typeface="Times New Roman" panose="02020603050405020304" pitchFamily="18" charset="0"/>
                <a:cs typeface="+mn-cs"/>
              </a:rPr>
              <a:t>Zogaj</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 I will conduct the </a:t>
            </a:r>
            <a:r>
              <a:rPr lang="en-US" sz="1000" dirty="0">
                <a:solidFill>
                  <a:srgbClr val="000000"/>
                </a:solidFill>
                <a:latin typeface="+mn-lt"/>
                <a:ea typeface="+mn-lt"/>
                <a:cs typeface="+mn-lt"/>
              </a:rPr>
              <a:t>empirical part of Project 3, which I will briefly introduce today </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And Domenic Groh and Dirk Ostwald make up our team that is working on the theoretical objectives</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Markus </a:t>
            </a:r>
            <a:r>
              <a:rPr kumimoji="0" lang="en-US" sz="1000" b="0" i="0" u="none" strike="noStrike" kern="1200" cap="none" spc="0" normalizeH="0" baseline="0" noProof="0" dirty="0" err="1">
                <a:ln>
                  <a:noFill/>
                </a:ln>
                <a:solidFill>
                  <a:srgbClr val="000000"/>
                </a:solidFill>
                <a:effectLst/>
                <a:uLnTx/>
                <a:uFillTx/>
                <a:latin typeface="Calibri"/>
                <a:ea typeface="+mn-ea"/>
                <a:cs typeface="+mn-cs"/>
              </a:rPr>
              <a:t>Ullsperger</a:t>
            </a:r>
            <a:r>
              <a:rPr kumimoji="0" lang="en-US" sz="1000" b="0" i="0" u="none" strike="noStrike" kern="1200" cap="none" spc="0" normalizeH="0" baseline="0" noProof="0" dirty="0">
                <a:ln>
                  <a:noFill/>
                </a:ln>
                <a:solidFill>
                  <a:srgbClr val="000000"/>
                </a:solidFill>
                <a:effectLst/>
                <a:uLnTx/>
                <a:uFillTx/>
                <a:latin typeface="Calibri"/>
                <a:ea typeface="+mn-ea"/>
                <a:cs typeface="+mn-cs"/>
              </a:rPr>
              <a:t> – unfortunately cannot be here today – but he’s our expert in decision making and neuroscience and advising on the neurophysiological measures</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Our joint project focuses on how individuals form response strategies in voluntary task switching</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14999"/>
              </a:lnSpc>
              <a:spcBef>
                <a:spcPts val="303"/>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Calibri"/>
                <a:ea typeface="+mn-ea"/>
                <a:cs typeface="+mn-cs"/>
              </a:rPr>
              <a:t>So our </a:t>
            </a:r>
            <a:r>
              <a:rPr kumimoji="0" lang="en-US" sz="1000" b="0" i="0" u="none" strike="noStrike" kern="1200" cap="none" spc="0" normalizeH="0" baseline="0" noProof="0" dirty="0">
                <a:ln>
                  <a:noFill/>
                </a:ln>
                <a:solidFill>
                  <a:srgbClr val="000000"/>
                </a:solidFill>
                <a:effectLst/>
                <a:uLnTx/>
                <a:uFillTx/>
                <a:latin typeface="Calibri"/>
                <a:ea typeface="+mn-ea"/>
                <a:cs typeface="+mn-cs"/>
              </a:rPr>
              <a:t>central question is</a:t>
            </a:r>
            <a:r>
              <a:rPr kumimoji="0" lang="en-US" sz="1000" b="0" i="0" u="none" strike="noStrike" kern="1200" cap="none" spc="0" normalizeH="0" baseline="0" noProof="0" dirty="0">
                <a:ln>
                  <a:noFill/>
                </a:ln>
                <a:solidFill>
                  <a:prstClr val="black"/>
                </a:solidFill>
                <a:effectLst/>
                <a:uLnTx/>
                <a:uFillTx/>
                <a:latin typeface="Calibri"/>
                <a:ea typeface="+mn-ea"/>
                <a:cs typeface="+mn-cs"/>
              </a:rPr>
              <a:t>: What determines which response strategy a person develops </a:t>
            </a:r>
            <a:r>
              <a:rPr kumimoji="0" lang="en-US" sz="1000" b="0" i="0" u="none" strike="noStrike" kern="1200" cap="none" spc="0" normalizeH="0" baseline="0" noProof="0" dirty="0">
                <a:ln>
                  <a:noFill/>
                </a:ln>
                <a:solidFill>
                  <a:srgbClr val="000000"/>
                </a:solidFill>
                <a:effectLst/>
                <a:uLnTx/>
                <a:uFillTx/>
                <a:latin typeface="Calibri"/>
                <a:ea typeface="+mn-ea"/>
                <a:cs typeface="+mn-cs"/>
              </a:rPr>
              <a:t>when they have the freedom to </a:t>
            </a:r>
            <a:r>
              <a:rPr kumimoji="0" lang="en-US" sz="1000" b="0" i="0" u="none" strike="noStrike" kern="1200" cap="none" spc="0" normalizeH="0" baseline="0" noProof="0" dirty="0">
                <a:ln>
                  <a:noFill/>
                </a:ln>
                <a:solidFill>
                  <a:prstClr val="black"/>
                </a:solidFill>
                <a:effectLst/>
                <a:uLnTx/>
                <a:uFillTx/>
                <a:latin typeface="Calibri"/>
                <a:ea typeface="+mn-ea"/>
                <a:cs typeface="+mn-cs"/>
              </a:rPr>
              <a:t>choose between tasks?</a:t>
            </a:r>
            <a:endParaRPr kumimoji="0" lang="en-US" sz="10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1:40</a:t>
            </a:r>
          </a:p>
          <a:p>
            <a:endParaRPr lang="de-DE" dirty="0"/>
          </a:p>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In earlier work, we were interested in how people approach multiple task demands if they are free to choose which task to perform. Starting with a limited set of just two tasks, we found that they indeed develop different approaches. </a:t>
            </a:r>
          </a:p>
          <a:p>
            <a:pPr marL="0" marR="0" lvl="0" indent="0" algn="l" defTabSz="914400" rtl="0" eaLnBrk="1" fontAlgn="auto" latinLnBrk="0" hangingPunct="1">
              <a:lnSpc>
                <a:spcPct val="115000"/>
              </a:lnSpc>
              <a:spcBef>
                <a:spcPts val="303"/>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0" marR="0" lvl="0" indent="0" algn="l" defTabSz="914400" rtl="0" eaLnBrk="1" fontAlgn="auto" latinLnBrk="0" hangingPunct="1">
              <a:lnSpc>
                <a:spcPct val="115000"/>
              </a:lnSpc>
              <a:spcBef>
                <a:spcPts val="303"/>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To address this, </a:t>
            </a:r>
            <a:r>
              <a:rPr kumimoji="0" lang="en-US" sz="1000" b="0"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n-cs"/>
              </a:rPr>
              <a:t>w</a:t>
            </a:r>
            <a:r>
              <a:rPr kumimoji="0" lang="en-US" sz="1000" b="0" i="0" u="none" strike="noStrike" kern="1200" cap="none" spc="0" normalizeH="0" baseline="0" noProof="0" dirty="0">
                <a:ln>
                  <a:noFill/>
                </a:ln>
                <a:solidFill>
                  <a:srgbClr val="000000"/>
                </a:solidFill>
                <a:effectLst/>
                <a:uLnTx/>
                <a:uFillTx/>
                <a:latin typeface="Calibri"/>
                <a:ea typeface="+mn-ea"/>
                <a:cs typeface="+mn-cs"/>
              </a:rPr>
              <a:t>e use the </a:t>
            </a:r>
            <a:r>
              <a:rPr kumimoji="0" lang="en-US" sz="1000" b="1" i="0" u="none" strike="noStrike" kern="1200" cap="none" spc="0" normalizeH="0" baseline="0" noProof="0" dirty="0">
                <a:ln>
                  <a:noFill/>
                </a:ln>
                <a:solidFill>
                  <a:srgbClr val="000000"/>
                </a:solidFill>
                <a:effectLst/>
                <a:uLnTx/>
                <a:uFillTx/>
                <a:latin typeface="Calibri"/>
                <a:ea typeface="+mn-ea"/>
                <a:cs typeface="+mn-cs"/>
              </a:rPr>
              <a:t>Free Concurrent Dual-Tasking</a:t>
            </a:r>
            <a:r>
              <a:rPr kumimoji="0" lang="en-US" sz="1000" b="0" i="0" u="none" strike="noStrike" kern="1200" cap="none" spc="0" normalizeH="0" baseline="0" noProof="0" dirty="0">
                <a:ln>
                  <a:noFill/>
                </a:ln>
                <a:solidFill>
                  <a:srgbClr val="000000"/>
                </a:solidFill>
                <a:effectLst/>
                <a:uLnTx/>
                <a:uFillTx/>
                <a:latin typeface="Calibri"/>
                <a:ea typeface="+mn-ea"/>
                <a:cs typeface="+mn-cs"/>
              </a:rPr>
              <a:t> paradigm</a:t>
            </a:r>
            <a:r>
              <a:rPr kumimoji="0" lang="en-US" sz="1000" b="1" i="0" u="none" strike="noStrike" kern="1200" cap="none" spc="0" normalizeH="0" baseline="0" noProof="0" dirty="0">
                <a:ln>
                  <a:noFill/>
                </a:ln>
                <a:solidFill>
                  <a:srgbClr val="000000"/>
                </a:solidFill>
                <a:effectLst/>
                <a:uLnTx/>
                <a:uFillTx/>
                <a:latin typeface="Calibri"/>
                <a:ea typeface="+mn-ea"/>
                <a:cs typeface="+mn-cs"/>
              </a:rPr>
              <a:t> (FCDT for short) </a:t>
            </a:r>
            <a:r>
              <a:rPr kumimoji="0" lang="en-US" sz="1000" b="0" i="0" u="none" strike="noStrike" kern="1200" cap="none" spc="0" normalizeH="0" baseline="0" noProof="0" dirty="0">
                <a:ln>
                  <a:noFill/>
                </a:ln>
                <a:solidFill>
                  <a:srgbClr val="000000"/>
                </a:solidFill>
                <a:effectLst/>
                <a:uLnTx/>
                <a:uFillTx/>
                <a:latin typeface="Calibri"/>
                <a:ea typeface="+mn-ea"/>
                <a:cs typeface="+mn-cs"/>
              </a:rPr>
              <a:t>as briefly introduced by the Cologne project</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Here, participants work on two simultaneously visible threads of categorization tasks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Typically, these consist of a letter and digit categorization task</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Participants classify the letter as a vowel or consonant and the digit as odd or even, using separate response keys for the two tasks.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On each trial participants choose which task to perform and indicate to which category the respective stimulus belongs with the hand that is allocated to the respective task</a:t>
            </a:r>
            <a:endParaRPr kumimoji="0" lang="en-US" sz="1000" b="0" i="0" u="none" strike="noStrike" kern="1200" cap="none" spc="0" normalizeH="0" baseline="0" noProof="0" dirty="0">
              <a:ln>
                <a:noFill/>
              </a:ln>
              <a:solidFill>
                <a:srgbClr val="000000"/>
              </a:solidFill>
              <a:effectLst/>
              <a:uLnTx/>
              <a:uFillTx/>
              <a:latin typeface="Calibri"/>
              <a:ea typeface="+mn-ea"/>
              <a:cs typeface="+mn-cs"/>
              <a:sym typeface="Wingdings" panose="05000000000000000000" pitchFamily="2" charset="2"/>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Thus, a keypress simultaneously tells us which task they chose and gives their classification response. </a:t>
            </a:r>
            <a:endParaRPr kumimoji="0" lang="en-US" sz="1000" b="0" i="0" u="none" strike="noStrike" kern="1200" cap="none" spc="0" normalizeH="0" baseline="0" noProof="0" dirty="0">
              <a:ln>
                <a:noFill/>
              </a:ln>
              <a:solidFill>
                <a:srgbClr val="000000"/>
              </a:solidFill>
              <a:effectLst/>
              <a:uLnTx/>
              <a:uFillTx/>
              <a:latin typeface="Calibri"/>
              <a:ea typeface="+mn-ea"/>
              <a:cs typeface="+mn-cs"/>
              <a:sym typeface="Wingdings" panose="05000000000000000000" pitchFamily="2" charset="2"/>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The sequence on the left shows what happens. After a letter response, only the letter changes, while the digit remains on screen. After a digit response, only the digit changes. Crucially, the unchosen stimulus remains available. Participants can therefore prepare the next task while still working on the current one, but the paradigm does not force them to use this preview.</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lang="en-US" sz="1000" dirty="0"/>
              <a:t>Participants decide for themselves how long to stay with a task and when to switch. </a:t>
            </a: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r>
              <a:rPr kumimoji="0" lang="en-US" sz="1000" b="0" i="0" u="none" strike="noStrike" kern="1200" cap="none" spc="0" normalizeH="0" baseline="0" noProof="0" dirty="0">
                <a:ln>
                  <a:noFill/>
                </a:ln>
                <a:solidFill>
                  <a:srgbClr val="000000"/>
                </a:solidFill>
                <a:effectLst/>
                <a:uLnTx/>
                <a:uFillTx/>
                <a:latin typeface="Calibri"/>
                <a:ea typeface="+mn-ea"/>
                <a:cs typeface="+mn-cs"/>
              </a:rPr>
              <a:t>Importantly, while participants are instructed to perform the tasks equally and as efficient as possible – that is </a:t>
            </a:r>
            <a:r>
              <a:rPr lang="en-US" sz="1000" dirty="0"/>
              <a:t>to maximize correct responses – </a:t>
            </a:r>
            <a:r>
              <a:rPr kumimoji="0" lang="en-US" sz="1000" b="0" i="0" u="none" strike="noStrike" kern="1200" cap="none" spc="0" normalizeH="0" baseline="0" noProof="0" dirty="0">
                <a:ln>
                  <a:noFill/>
                </a:ln>
                <a:solidFill>
                  <a:srgbClr val="000000"/>
                </a:solidFill>
                <a:effectLst/>
                <a:uLnTx/>
                <a:uFillTx/>
                <a:latin typeface="Calibri"/>
                <a:ea typeface="+mn-ea"/>
                <a:cs typeface="+mn-cs"/>
              </a:rPr>
              <a:t>it is actually up to them how to achieve this </a:t>
            </a:r>
          </a:p>
          <a:p>
            <a:pPr marL="346706" marR="0" lvl="0" indent="-346706" algn="l" defTabSz="924550" rtl="0" eaLnBrk="1" fontAlgn="auto" latinLnBrk="0" hangingPunct="1">
              <a:lnSpc>
                <a:spcPct val="115000"/>
              </a:lnSpc>
              <a:spcBef>
                <a:spcPts val="303"/>
              </a:spcBef>
              <a:spcAft>
                <a:spcPts val="0"/>
              </a:spcAft>
              <a:buClrTx/>
              <a:buSzTx/>
              <a:buFont typeface="Symbol" panose="05050102010706020507" pitchFamily="18" charset="2"/>
              <a:buChar char=""/>
              <a:tabLst/>
              <a:defRPr/>
            </a:pPr>
            <a:endParaRPr kumimoji="0" lang="en-US" sz="1000" b="0" i="0" u="none" strike="noStrike" kern="1200" cap="none" spc="0" normalizeH="0" baseline="0" noProof="0" dirty="0">
              <a:ln>
                <a:noFill/>
              </a:ln>
              <a:solidFill>
                <a:srgbClr val="000000"/>
              </a:solidFill>
              <a:effectLst/>
              <a:uLnTx/>
              <a:uFillTx/>
              <a:latin typeface="Calibri"/>
              <a:ea typeface="+mn-ea"/>
              <a:cs typeface="+mn-cs"/>
            </a:endParaRPr>
          </a:p>
          <a:p>
            <a:endParaRPr lang="en-US" sz="1200" dirty="0">
              <a:solidFill>
                <a:srgbClr val="000000"/>
              </a:solidFill>
              <a:latin typeface="+mn-lt"/>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1:30</a:t>
            </a:r>
          </a:p>
          <a:p>
            <a:endParaRPr dirty="0"/>
          </a:p>
          <a:p>
            <a:pPr>
              <a:lnSpc>
                <a:spcPct val="115000"/>
              </a:lnSpc>
              <a:spcBef>
                <a:spcPts val="303"/>
              </a:spcBef>
            </a:pPr>
            <a:r>
              <a:rPr lang="en-US" dirty="0">
                <a:solidFill>
                  <a:srgbClr val="000000"/>
                </a:solidFill>
              </a:rPr>
              <a:t>The same task setting allows different prototypical response patterns. </a:t>
            </a:r>
            <a:r>
              <a:rPr lang="en-US" kern="1200" dirty="0">
                <a:solidFill>
                  <a:srgbClr val="000000"/>
                </a:solidFill>
                <a:effectLst/>
                <a:cs typeface="Times New Roman"/>
              </a:rPr>
              <a:t>Using this paradig</a:t>
            </a:r>
            <a:r>
              <a:rPr lang="en-US" dirty="0">
                <a:solidFill>
                  <a:srgbClr val="000000"/>
                </a:solidFill>
                <a:cs typeface="Times New Roman"/>
              </a:rPr>
              <a:t>m, we repeatedly and reproducibl</a:t>
            </a:r>
            <a:r>
              <a:rPr lang="en-US" kern="1200" dirty="0">
                <a:solidFill>
                  <a:srgbClr val="000000"/>
                </a:solidFill>
                <a:effectLst/>
                <a:cs typeface="Times New Roman"/>
              </a:rPr>
              <a:t>y found that participants adhere to one of three response strategies: </a:t>
            </a:r>
          </a:p>
          <a:p>
            <a:pPr marL="346706" indent="-346706">
              <a:lnSpc>
                <a:spcPct val="115000"/>
              </a:lnSpc>
              <a:spcBef>
                <a:spcPts val="303"/>
              </a:spcBef>
              <a:buFont typeface="Symbol" panose="05050102010706020507" pitchFamily="18" charset="2"/>
              <a:buChar char=""/>
            </a:pPr>
            <a:r>
              <a:rPr lang="en-US" dirty="0">
                <a:solidFill>
                  <a:srgbClr val="000000"/>
                </a:solidFill>
                <a:cs typeface="Times New Roman"/>
              </a:rPr>
              <a:t>blocking, switching, or response grouping</a:t>
            </a:r>
          </a:p>
          <a:p>
            <a:pPr marL="346706" indent="-346706">
              <a:lnSpc>
                <a:spcPct val="115000"/>
              </a:lnSpc>
              <a:spcBef>
                <a:spcPts val="303"/>
              </a:spcBef>
              <a:buFont typeface="Symbol" panose="05050102010706020507" pitchFamily="18" charset="2"/>
              <a:buChar char=""/>
            </a:pPr>
            <a:r>
              <a:rPr lang="en-US" dirty="0">
                <a:solidFill>
                  <a:srgbClr val="000000"/>
                </a:solidFill>
              </a:rPr>
              <a:t>One substantial group are </a:t>
            </a:r>
            <a:r>
              <a:rPr lang="en-US" b="1" dirty="0">
                <a:solidFill>
                  <a:srgbClr val="000000"/>
                </a:solidFill>
              </a:rPr>
              <a:t>Blockers</a:t>
            </a:r>
            <a:r>
              <a:rPr lang="en-US" b="0" dirty="0">
                <a:solidFill>
                  <a:srgbClr val="000000"/>
                </a:solidFill>
              </a:rPr>
              <a:t>, who</a:t>
            </a:r>
            <a:r>
              <a:rPr lang="en-US" b="1" dirty="0">
                <a:solidFill>
                  <a:srgbClr val="000000"/>
                </a:solidFill>
              </a:rPr>
              <a:t> </a:t>
            </a:r>
            <a:r>
              <a:rPr lang="en-US" dirty="0">
                <a:solidFill>
                  <a:srgbClr val="000000"/>
                </a:solidFill>
              </a:rPr>
              <a:t>complete long runs of one task before switching -&gt; typically, they produce more than 10 trials and are accordingly classified as Blockers when their switch rate is below 10%. </a:t>
            </a:r>
            <a:endParaRPr lang="en-US" dirty="0">
              <a:solidFill>
                <a:srgbClr val="000000"/>
              </a:solidFill>
              <a:cs typeface="Times New Roman"/>
            </a:endParaRPr>
          </a:p>
          <a:p>
            <a:pPr marL="346706" indent="-346706">
              <a:lnSpc>
                <a:spcPct val="115000"/>
              </a:lnSpc>
              <a:spcBef>
                <a:spcPts val="303"/>
              </a:spcBef>
              <a:buFont typeface="Symbol" panose="05050102010706020507" pitchFamily="18" charset="2"/>
              <a:buChar char=""/>
            </a:pPr>
            <a:r>
              <a:rPr lang="en-US" dirty="0">
                <a:solidFill>
                  <a:srgbClr val="000000"/>
                </a:solidFill>
              </a:rPr>
              <a:t>Switchers interleave the tasks more frequently but show a more irregular switch pattern than</a:t>
            </a:r>
          </a:p>
          <a:p>
            <a:pPr marL="346706" indent="-346706">
              <a:lnSpc>
                <a:spcPct val="115000"/>
              </a:lnSpc>
              <a:spcBef>
                <a:spcPts val="303"/>
              </a:spcBef>
              <a:buFont typeface="Symbol" panose="05050102010706020507" pitchFamily="18" charset="2"/>
              <a:buChar char=""/>
            </a:pPr>
            <a:r>
              <a:rPr lang="en-US" dirty="0">
                <a:solidFill>
                  <a:srgbClr val="000000"/>
                </a:solidFill>
              </a:rPr>
              <a:t>Response groupers who switch very frequently </a:t>
            </a:r>
            <a:r>
              <a:rPr lang="en-US" dirty="0">
                <a:solidFill>
                  <a:srgbClr val="000000"/>
                </a:solidFill>
                <a:sym typeface="Wingdings" panose="05000000000000000000" pitchFamily="2" charset="2"/>
              </a:rPr>
              <a:t>and </a:t>
            </a:r>
            <a:r>
              <a:rPr lang="en-US" dirty="0">
                <a:solidFill>
                  <a:srgbClr val="000000"/>
                </a:solidFill>
              </a:rPr>
              <a:t>their responses most of the time come in pairs: a longer interval followed by two responses in rapid succession -&gt; this suggests that they prepare both task responses before releasing them. </a:t>
            </a:r>
            <a:endParaRPr lang="en-US" dirty="0">
              <a:solidFill>
                <a:srgbClr val="000000"/>
              </a:solidFill>
              <a:cs typeface="Times New Roman"/>
            </a:endParaRPr>
          </a:p>
          <a:p>
            <a:pPr marL="346706" marR="0" lvl="0" indent="-346706" algn="l" defTabSz="924550" rtl="0" eaLnBrk="1" fontAlgn="auto" latinLnBrk="0" hangingPunct="1">
              <a:lnSpc>
                <a:spcPct val="114999"/>
              </a:lnSpc>
              <a:spcBef>
                <a:spcPts val="303"/>
              </a:spcBef>
              <a:spcAft>
                <a:spcPts val="0"/>
              </a:spcAft>
              <a:buClrTx/>
              <a:buSzTx/>
              <a:buFont typeface="Symbol" panose="05050102010706020507" pitchFamily="18" charset="2"/>
              <a:buChar char=""/>
              <a:tabLst/>
              <a:defRPr/>
            </a:pPr>
            <a:r>
              <a:rPr lang="en-US" dirty="0">
                <a:solidFill>
                  <a:srgbClr val="000000"/>
                </a:solidFill>
              </a:rPr>
              <a:t>For the planned experiments, we assess both these strategy categories and the underlying continuous response measures.</a:t>
            </a:r>
          </a:p>
          <a:p>
            <a:pPr marL="346706" indent="-346706" defTabSz="924550">
              <a:lnSpc>
                <a:spcPct val="114999"/>
              </a:lnSpc>
              <a:spcBef>
                <a:spcPts val="303"/>
              </a:spcBef>
              <a:buFont typeface="Symbol" panose="05050102010706020507" pitchFamily="18" charset="2"/>
              <a:buChar char=""/>
            </a:pPr>
            <a:endParaRPr lang="en-US" kern="1200" dirty="0">
              <a:solidFill>
                <a:srgbClr val="000000"/>
              </a:solidFill>
              <a:effectLst/>
              <a:cs typeface="Times New Roman"/>
            </a:endParaRPr>
          </a:p>
          <a:p>
            <a:pPr marL="346706" indent="-346706" defTabSz="924550">
              <a:lnSpc>
                <a:spcPct val="114999"/>
              </a:lnSpc>
              <a:spcBef>
                <a:spcPts val="303"/>
              </a:spcBef>
              <a:buFont typeface="Symbol" panose="05050102010706020507" pitchFamily="18" charset="2"/>
              <a:buChar char=""/>
            </a:pPr>
            <a:r>
              <a:rPr lang="en-US" kern="1200" dirty="0">
                <a:solidFill>
                  <a:srgbClr val="000000"/>
                </a:solidFill>
                <a:effectLst/>
                <a:cs typeface="Times New Roman"/>
              </a:rPr>
              <a:t>We observed the response strategies with a variety of different tasks suggesting that they reflect stable biases that occur independent of the exact task features, also across different sessions/days</a:t>
            </a:r>
          </a:p>
          <a:p>
            <a:pPr marL="346706" indent="-346706" defTabSz="924550">
              <a:lnSpc>
                <a:spcPct val="114999"/>
              </a:lnSpc>
              <a:spcBef>
                <a:spcPts val="303"/>
              </a:spcBef>
              <a:buFont typeface="Symbol" panose="05050102010706020507" pitchFamily="18" charset="2"/>
              <a:buChar char=""/>
            </a:pPr>
            <a:r>
              <a:rPr lang="en-US" dirty="0"/>
              <a:t>However, the efficiency of those strategies varied depending on the combination of strategy and task characteristics. </a:t>
            </a:r>
          </a:p>
          <a:p>
            <a:pPr marL="346706" indent="-346706" defTabSz="924550">
              <a:lnSpc>
                <a:spcPct val="114999"/>
              </a:lnSpc>
              <a:spcBef>
                <a:spcPts val="303"/>
              </a:spcBef>
              <a:buFont typeface="Symbol" panose="05050102010706020507" pitchFamily="18" charset="2"/>
              <a:buChar char=""/>
            </a:pPr>
            <a:endParaRPr lang="en-US" kern="1200" dirty="0">
              <a:solidFill>
                <a:srgbClr val="000000"/>
              </a:solidFill>
              <a:effectLst/>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Which makes it interesting to ask how those preferences arise in the first place =&gt; How can we explain the strategies’ formation?</a:t>
            </a:r>
            <a:endParaRPr lang="en-US" dirty="0">
              <a:solidFill>
                <a:srgbClr val="000000"/>
              </a:solidFill>
            </a:endParaRPr>
          </a:p>
          <a:p>
            <a:endParaRPr lang="de-DE"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1:00</a:t>
            </a:r>
          </a:p>
          <a:p>
            <a:endParaRPr dirty="0"/>
          </a:p>
          <a:p>
            <a:r>
              <a:rPr dirty="0"/>
              <a:t>We focus on two closely related sets of mechanisms. First, people who learn the tasks efficiently may free up capacity for preparing and coordinating task switches. Sensitivity to their own errors could contribute to this learning process. </a:t>
            </a:r>
            <a:endParaRPr lang="de-DE" dirty="0"/>
          </a:p>
          <a:p>
            <a:endParaRPr lang="de-DE" dirty="0"/>
          </a:p>
          <a:p>
            <a:r>
              <a:rPr dirty="0"/>
              <a:t>Second, people may differ in how strongly rewards motivate them to change their task choices. Our working hypothesis is that switching and response grouping may reflect a stronger motivation to maximize performance, whereas blocking may place more weight on minimizing coordination effort. </a:t>
            </a:r>
            <a:endParaRPr lang="de-DE" dirty="0"/>
          </a:p>
          <a:p>
            <a:endParaRPr lang="de-DE" dirty="0"/>
          </a:p>
          <a:p>
            <a:r>
              <a:rPr lang="en-US" dirty="0"/>
              <a:t>Beyond these mechanisms, we also ask whether more stable characteristics, such as psychological traits, multitasking preferences, and cognitive abilities, help explain these strategy differences.</a:t>
            </a:r>
            <a:endParaRPr lang="de-DE" dirty="0"/>
          </a:p>
          <a:p>
            <a:endParaRPr lang="de-DE" dirty="0"/>
          </a:p>
          <a:p>
            <a:r>
              <a:rPr lang="en-US" dirty="0"/>
              <a:t>To address these questions, we combine behavioral experiments with EEG markers of error and reward sensitivity, questionnaires, and measures of cognitive ability. This allows us to examine how individual characteristics interact with task conditions to shape strategy use. Let me now briefly walk you through the planned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1:50</a:t>
            </a:r>
          </a:p>
          <a:p>
            <a:endParaRPr dirty="0"/>
          </a:p>
          <a:p>
            <a:r>
              <a:rPr dirty="0"/>
              <a:t>The first pair of experiments examines learning ability and error sensitivity, with ninety participants planned for each experiment. In Experiment 1a, participants complete the standard FCDT procedure with two additional runs. This gives us more time to observe task acquisition and the development of efficient coordination. We track reaction times and error rates across practice, together with changes in task choices and response patterns. We record EEG during the FCDT and then use a separate flanker task to obtain an independent measure of error sensitivity. The main error-related components are the ERN and Pe. We predict that switchers and response groupers will show greater reductions in reaction times and errors, as well as a larger ERN magnitude, than blockers. Experiment 1b adds a manipulation of task difficulty. The proposal uses letters with different amounts of rotation and </a:t>
            </a:r>
            <a:r>
              <a:rPr dirty="0" err="1"/>
              <a:t>colour</a:t>
            </a:r>
            <a:r>
              <a:rPr dirty="0"/>
              <a:t> patches with an easy or difficult red-blue discrimination. This lets us examine how difficulty interacts with strategy and individual learning ability. The precise directional predictions for this follow-up depend on Experiment 1a. Across both experiments, we can also examine midfrontal theta as a correlate of effort and beta lateralization before a response as a correlate of upcoming task selection.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2:00</a:t>
            </a:r>
          </a:p>
          <a:p>
            <a:endParaRPr dirty="0"/>
          </a:p>
          <a:p>
            <a:r>
              <a:rPr dirty="0"/>
              <a:t>The second pair of experiments examines reward, again with ninety participants per experiment. The distinction between the experiments is important. Experiment 2a changes the global reward prospect for correct responses, independently of which task the participant selects. A high or low reward prospect changes after five to fifteen responses, creating four sequences: remain low, increase, remain high, and decrease. We ask whether a reward increase encourages switching especially in people who already prefer interleaving. In contrast, unchanged high rewards may </a:t>
            </a:r>
            <a:r>
              <a:rPr dirty="0" err="1"/>
              <a:t>favour</a:t>
            </a:r>
            <a:r>
              <a:rPr dirty="0"/>
              <a:t> repetitions. We expect blockers to show relatively little change. Experiment 2b provides a more direct incentive. A </a:t>
            </a:r>
            <a:r>
              <a:rPr dirty="0" err="1"/>
              <a:t>coloured</a:t>
            </a:r>
            <a:r>
              <a:rPr dirty="0"/>
              <a:t> frame signals that switching to the alternative task can earn a bonus. We compare bonus and no-bonus conditions to test whether explicit rewards can overcome a preferred response strategy. Here we expect even blockers to increase switching, although less strongly than </a:t>
            </a:r>
            <a:r>
              <a:rPr dirty="0" err="1"/>
              <a:t>interleavers</a:t>
            </a:r>
            <a:r>
              <a:rPr dirty="0"/>
              <a:t>. Both experiments first assess the preferred strategy in a baseline phase. Visual </a:t>
            </a:r>
            <a:r>
              <a:rPr dirty="0" err="1"/>
              <a:t>colour</a:t>
            </a:r>
            <a:r>
              <a:rPr dirty="0"/>
              <a:t> changes or frames also appear at baseline without the additional reward instructions, which helps separate incentive effects from visual changes. In addition to EEG during the FCDT, a probabilistic learning task provides an independent measure of reward sensitivity, including feedback-related ERP measures. The main outcome is how switch rates change as a function of incentive condition and baseline strategy. We also assess multitasking efficiency.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1:05</a:t>
            </a:r>
          </a:p>
          <a:p>
            <a:endParaRPr dirty="0"/>
          </a:p>
          <a:p>
            <a:r>
              <a:rPr dirty="0"/>
              <a:t>The third empirical work package adds a common psychological test battery in a second session. It is integrated into the four experiments and the locally collected part of the joint study, giving a planned total of four hundred and ten participants. The battery covers motivation and multitasking preferences, including Need for Cognition, Trait Persistence, </a:t>
            </a:r>
            <a:r>
              <a:rPr dirty="0" err="1"/>
              <a:t>Polychronicity</a:t>
            </a:r>
            <a:r>
              <a:rPr dirty="0"/>
              <a:t>, and the BIS/BAS scales. We also assess the Big Five and working memory capacity using Operation Span and Symmetry Span. This allows us to examine whether the proposed motivational and cognitive differences relate to strategy categories and to continuous switch rates. For example, the proposal predicts higher Need for Cognition and reward sensitivity among people who </a:t>
            </a:r>
            <a:r>
              <a:rPr dirty="0" err="1"/>
              <a:t>favour</a:t>
            </a:r>
            <a:r>
              <a:rPr dirty="0"/>
              <a:t> interleaving. These analyses complement the experimental manipulations by addressing more persistent individual differences.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Target time: 0:40</a:t>
            </a:r>
          </a:p>
          <a:p>
            <a:endParaRPr dirty="0"/>
          </a:p>
          <a:p>
            <a:r>
              <a:rPr dirty="0"/>
              <a:t>Finally, the joint experiment with Project 2 in Freiburg asks whether these preferences generalize across paradigms. One hundred participants will complete both FCDT and the self-organized task-switching paradigm in a counterbalanced order, using the same simple classification tasks. The latter paradigm introduces waiting times and distinguishes local from global strategies. We will test whether switch frequencies correlate across the two paradigms. The hypothesis is that FCDT interleaving corresponds more closely to a global strategy, whereas blocking corresponds more closely to a local strategy. This will show how far the individual differences extend beyond one task setting.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9</a:t>
            </a:fld>
            <a:endParaRPr lang="de-DE"/>
          </a:p>
        </p:txBody>
      </p:sp>
    </p:spTree>
    <p:extLst>
      <p:ext uri="{BB962C8B-B14F-4D97-AF65-F5344CB8AC3E}">
        <p14:creationId xmlns:p14="http://schemas.microsoft.com/office/powerpoint/2010/main" val="1660337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BIC uses the log-likelihood-scale Schwarz definition in the project report. Participant-level ΔBIC values range from 475.19 to 1374.70.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391889" y="4760398"/>
            <a:ext cx="6052457" cy="4509849"/>
          </a:xfrm>
        </p:spPr>
        <p:txBody>
          <a:bodyPr/>
          <a:lstStyle/>
          <a:p>
            <a:pPr algn="just"/>
            <a:r>
              <a:rPr lang="en-US" sz="900" kern="1200" dirty="0">
                <a:solidFill>
                  <a:schemeClr val="tx1"/>
                </a:solidFill>
                <a:effectLst/>
                <a:latin typeface="+mn-lt"/>
                <a:ea typeface="+mn-ea"/>
                <a:cs typeface="+mn-cs"/>
              </a:rPr>
              <a:t>In WP2.1 </a:t>
            </a:r>
          </a:p>
          <a:p>
            <a:pPr marL="171450" indent="-171450" algn="just">
              <a:buFont typeface="Arial" panose="020B0604020202020204" pitchFamily="34" charset="0"/>
              <a:buChar char="•"/>
            </a:pPr>
            <a:r>
              <a:rPr lang="en-US" sz="900" dirty="0"/>
              <a:t>W</a:t>
            </a:r>
            <a:r>
              <a:rPr lang="en-US" sz="900" kern="1200" dirty="0">
                <a:solidFill>
                  <a:schemeClr val="tx1"/>
                </a:solidFill>
                <a:effectLst/>
                <a:latin typeface="+mn-lt"/>
                <a:ea typeface="+mn-ea"/>
                <a:cs typeface="+mn-cs"/>
              </a:rPr>
              <a:t>e want to further develop this theoretical approach with a particular focus on the online scenario</a:t>
            </a:r>
            <a:r>
              <a:rPr lang="en-US" sz="900" dirty="0"/>
              <a:t>.</a:t>
            </a:r>
          </a:p>
          <a:p>
            <a:pPr marL="173353" indent="-173353" algn="just">
              <a:buFont typeface="Arial" panose="020B0604020202020204" pitchFamily="34" charset="0"/>
              <a:buChar char="•"/>
            </a:pPr>
            <a:r>
              <a:rPr lang="en-US" sz="900" kern="1200" dirty="0">
                <a:solidFill>
                  <a:schemeClr val="tx1"/>
                </a:solidFill>
                <a:effectLst/>
                <a:latin typeface="+mn-lt"/>
                <a:ea typeface="+mn-ea"/>
                <a:cs typeface="+mn-cs"/>
              </a:rPr>
              <a:t>We here also include the experimentally </a:t>
            </a:r>
            <a:r>
              <a:rPr lang="en-US" sz="900" dirty="0"/>
              <a:t>addressed </a:t>
            </a:r>
            <a:r>
              <a:rPr lang="en-US" sz="900" kern="1200" dirty="0">
                <a:solidFill>
                  <a:schemeClr val="tx1"/>
                </a:solidFill>
                <a:effectLst/>
                <a:latin typeface="+mn-lt"/>
                <a:ea typeface="+mn-ea"/>
                <a:cs typeface="+mn-cs"/>
              </a:rPr>
              <a:t>error- and reward sensitivities, as we also exemplified in the proposal  </a:t>
            </a:r>
          </a:p>
          <a:p>
            <a:pPr marL="173353" indent="-173353" algn="just">
              <a:buFont typeface="Arial" panose="020B0604020202020204" pitchFamily="34" charset="0"/>
              <a:buChar char="•"/>
            </a:pPr>
            <a:r>
              <a:rPr lang="en-US" sz="900" kern="1200" dirty="0">
                <a:solidFill>
                  <a:schemeClr val="tx1"/>
                </a:solidFill>
                <a:effectLst/>
                <a:latin typeface="+mn-lt"/>
                <a:ea typeface="+mn-ea"/>
                <a:cs typeface="+mn-cs"/>
              </a:rPr>
              <a:t>We will generalize the framework to continuous time, account for hierarchical decision processes in collaboration with Cologne and address the potential benefits of concurrent stimulus processing in collaboration with Freiburg. </a:t>
            </a:r>
          </a:p>
          <a:p>
            <a:pPr algn="just"/>
            <a:endParaRPr lang="de-DE" sz="900" kern="1200" dirty="0">
              <a:solidFill>
                <a:schemeClr val="tx1"/>
              </a:solidFill>
              <a:effectLst/>
              <a:latin typeface="+mn-lt"/>
              <a:ea typeface="+mn-ea"/>
              <a:cs typeface="+mn-cs"/>
            </a:endParaRPr>
          </a:p>
          <a:p>
            <a:pPr algn="just"/>
            <a:r>
              <a:rPr lang="en-US" sz="900" kern="1200" dirty="0">
                <a:solidFill>
                  <a:schemeClr val="tx1"/>
                </a:solidFill>
                <a:effectLst/>
                <a:latin typeface="+mn-lt"/>
                <a:ea typeface="+mn-ea"/>
                <a:cs typeface="+mn-cs"/>
              </a:rPr>
              <a:t>In WP2.2  </a:t>
            </a:r>
          </a:p>
          <a:p>
            <a:pPr marL="171450" indent="-171450" algn="just">
              <a:buFont typeface="Arial" panose="020B0604020202020204" pitchFamily="34" charset="0"/>
              <a:buChar char="•"/>
            </a:pPr>
            <a:r>
              <a:rPr lang="en-US" sz="900" kern="1200" dirty="0">
                <a:solidFill>
                  <a:schemeClr val="tx1"/>
                </a:solidFill>
                <a:effectLst/>
                <a:latin typeface="+mn-lt"/>
                <a:ea typeface="+mn-ea"/>
                <a:cs typeface="+mn-cs"/>
              </a:rPr>
              <a:t>We will embed the deterministic models developed in WP2.1 in an agent-based behavioral modeling framework that we have used extensively in recent years</a:t>
            </a:r>
            <a:r>
              <a:rPr lang="en-US" sz="900" dirty="0"/>
              <a:t>.</a:t>
            </a:r>
          </a:p>
          <a:p>
            <a:pPr marL="0" indent="0" algn="just">
              <a:buFont typeface="Arial" panose="020B0604020202020204" pitchFamily="34" charset="0"/>
              <a:buNone/>
            </a:pPr>
            <a:endParaRPr lang="de-DE" sz="900" kern="1200" dirty="0">
              <a:solidFill>
                <a:schemeClr val="tx1"/>
              </a:solidFill>
              <a:effectLst/>
              <a:latin typeface="+mn-lt"/>
              <a:ea typeface="+mn-ea"/>
              <a:cs typeface="+mn-cs"/>
            </a:endParaRPr>
          </a:p>
          <a:p>
            <a:pPr algn="just"/>
            <a:r>
              <a:rPr lang="en-US" sz="900" kern="1200" dirty="0">
                <a:solidFill>
                  <a:schemeClr val="tx1"/>
                </a:solidFill>
                <a:effectLst/>
                <a:latin typeface="+mn-lt"/>
                <a:ea typeface="+mn-ea"/>
                <a:cs typeface="+mn-cs"/>
              </a:rPr>
              <a:t>Finally, in WP2.3 </a:t>
            </a:r>
          </a:p>
          <a:p>
            <a:pPr marL="171450" indent="-171450" algn="just">
              <a:buFont typeface="Arial" panose="020B0604020202020204" pitchFamily="34" charset="0"/>
              <a:buChar char="•"/>
            </a:pPr>
            <a:r>
              <a:rPr lang="en-US" sz="900" dirty="0"/>
              <a:t>W</a:t>
            </a:r>
            <a:r>
              <a:rPr lang="en-US" sz="900" kern="1200" dirty="0">
                <a:solidFill>
                  <a:schemeClr val="tx1"/>
                </a:solidFill>
                <a:effectLst/>
                <a:latin typeface="+mn-lt"/>
                <a:ea typeface="+mn-ea"/>
                <a:cs typeface="+mn-cs"/>
              </a:rPr>
              <a:t>e will integrate the individual EEG error- and reward-sensitivity measurements in the estimation of the parameterized agent-based models.  </a:t>
            </a:r>
          </a:p>
          <a:p>
            <a:pPr marL="171450" indent="-171450" algn="just">
              <a:buFont typeface="Arial" panose="020B0604020202020204" pitchFamily="34" charset="0"/>
              <a:buChar char="•"/>
            </a:pPr>
            <a:r>
              <a:rPr lang="en-US" sz="900" kern="1200" dirty="0">
                <a:solidFill>
                  <a:schemeClr val="tx1"/>
                </a:solidFill>
                <a:effectLst/>
                <a:latin typeface="+mn-lt"/>
                <a:ea typeface="+mn-ea"/>
                <a:cs typeface="+mn-cs"/>
              </a:rPr>
              <a:t>For this, we will augment the agents with neural mass models, where the error and reward sensitivities affect the connectivity between neural masses to generate differential ERPs</a:t>
            </a:r>
          </a:p>
          <a:p>
            <a:pPr marL="173353" indent="-173353" algn="just">
              <a:buFont typeface="Arial" panose="020B0604020202020204" pitchFamily="34" charset="0"/>
              <a:buChar char="•"/>
            </a:pPr>
            <a:r>
              <a:rPr lang="en-US" sz="900" dirty="0"/>
              <a:t>T</a:t>
            </a:r>
            <a:r>
              <a:rPr lang="en-US" sz="900" kern="1200" dirty="0">
                <a:solidFill>
                  <a:schemeClr val="tx1"/>
                </a:solidFill>
                <a:effectLst/>
                <a:latin typeface="+mn-lt"/>
                <a:ea typeface="+mn-ea"/>
                <a:cs typeface="+mn-cs"/>
              </a:rPr>
              <a:t>hese  ERP </a:t>
            </a:r>
            <a:r>
              <a:rPr lang="en-US" sz="900" dirty="0"/>
              <a:t>predictions </a:t>
            </a:r>
            <a:r>
              <a:rPr lang="en-US" sz="900" kern="1200" dirty="0">
                <a:solidFill>
                  <a:schemeClr val="tx1"/>
                </a:solidFill>
                <a:effectLst/>
                <a:latin typeface="+mn-lt"/>
                <a:ea typeface="+mn-ea"/>
                <a:cs typeface="+mn-cs"/>
              </a:rPr>
              <a:t>can then, together with the behavioral data, be used to infer agent parameters - in a Bayesian sensor fusion sense. </a:t>
            </a:r>
            <a:endParaRPr lang="de-DE" sz="900" kern="1200" dirty="0">
              <a:solidFill>
                <a:schemeClr val="tx1"/>
              </a:solidFill>
              <a:effectLst/>
              <a:latin typeface="+mn-lt"/>
              <a:ea typeface="+mn-ea"/>
              <a:cs typeface="+mn-cs"/>
            </a:endParaRPr>
          </a:p>
          <a:p>
            <a:pPr marL="173353" indent="-173353" algn="just">
              <a:buFont typeface="Arial" panose="020B0604020202020204" pitchFamily="34" charset="0"/>
              <a:buChar char="•"/>
            </a:pPr>
            <a:endParaRPr lang="de-DE" sz="900" kern="1200" dirty="0">
              <a:solidFill>
                <a:schemeClr val="tx1"/>
              </a:solidFill>
              <a:effectLst/>
              <a:latin typeface="+mn-lt"/>
              <a:ea typeface="+mn-ea"/>
              <a:cs typeface="+mn-cs"/>
            </a:endParaRPr>
          </a:p>
          <a:p>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19</a:t>
            </a:fld>
            <a:endParaRPr lang="de-DE"/>
          </a:p>
        </p:txBody>
      </p:sp>
    </p:spTree>
    <p:extLst>
      <p:ext uri="{BB962C8B-B14F-4D97-AF65-F5344CB8AC3E}">
        <p14:creationId xmlns:p14="http://schemas.microsoft.com/office/powerpoint/2010/main" val="164492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800" kern="1200" dirty="0">
                <a:solidFill>
                  <a:schemeClr val="tx1"/>
                </a:solidFill>
                <a:effectLst/>
                <a:ea typeface="+mn-ea"/>
                <a:cs typeface="+mn-cs"/>
              </a:rPr>
              <a:t>In summary, in our project</a:t>
            </a:r>
          </a:p>
          <a:p>
            <a:pPr marL="171450" indent="-171450">
              <a:buFont typeface="Arial" panose="020B0604020202020204" pitchFamily="34" charset="0"/>
              <a:buChar char="•"/>
            </a:pPr>
            <a:r>
              <a:rPr lang="en-US" sz="800" kern="1200" dirty="0">
                <a:solidFill>
                  <a:schemeClr val="tx1"/>
                </a:solidFill>
                <a:effectLst/>
                <a:ea typeface="+mn-ea"/>
                <a:cs typeface="+mn-cs"/>
              </a:rPr>
              <a:t>We want to understand the computational mechanisms of FCDT response strategies and</a:t>
            </a:r>
          </a:p>
          <a:p>
            <a:pPr marL="171450" indent="-171450">
              <a:buFont typeface="Arial" panose="020B0604020202020204" pitchFamily="34" charset="0"/>
              <a:buChar char="•"/>
            </a:pPr>
            <a:r>
              <a:rPr lang="en-US" sz="800" dirty="0"/>
              <a:t>We want to </a:t>
            </a:r>
            <a:r>
              <a:rPr lang="en-US" sz="800" kern="1200" dirty="0">
                <a:solidFill>
                  <a:schemeClr val="tx1"/>
                </a:solidFill>
                <a:effectLst/>
                <a:ea typeface="+mn-ea"/>
                <a:cs typeface="+mn-cs"/>
              </a:rPr>
              <a:t>study the individual determinants of FCDT response strategy formation both experimentally and theoretically</a:t>
            </a:r>
            <a:endParaRPr lang="de-DE" sz="800" kern="1200" dirty="0">
              <a:solidFill>
                <a:schemeClr val="tx1"/>
              </a:solidFill>
              <a:effectLst/>
              <a:ea typeface="+mn-ea"/>
              <a:cs typeface="+mn-cs"/>
            </a:endParaRPr>
          </a:p>
          <a:p>
            <a:pPr marL="173353" indent="-173353">
              <a:buFont typeface="Arial" panose="020B0604020202020204" pitchFamily="34" charset="0"/>
              <a:buChar char="•"/>
            </a:pPr>
            <a:endParaRPr lang="en-US" sz="800" kern="1200" dirty="0">
              <a:solidFill>
                <a:schemeClr val="tx1"/>
              </a:solidFill>
              <a:effectLst/>
              <a:ea typeface="+mn-ea"/>
              <a:cs typeface="+mn-cs"/>
            </a:endParaRPr>
          </a:p>
          <a:p>
            <a:r>
              <a:rPr lang="en-US" sz="800" kern="1200" dirty="0">
                <a:solidFill>
                  <a:schemeClr val="tx1"/>
                </a:solidFill>
                <a:effectLst/>
                <a:ea typeface="+mn-ea"/>
                <a:cs typeface="+mn-cs"/>
              </a:rPr>
              <a:t>Our working hypotheses are </a:t>
            </a:r>
          </a:p>
          <a:p>
            <a:pPr marL="171450" indent="-171450">
              <a:buFont typeface="Arial" panose="020B0604020202020204" pitchFamily="34" charset="0"/>
              <a:buChar char="•"/>
            </a:pPr>
            <a:r>
              <a:rPr lang="en-US" sz="800" kern="1200" dirty="0">
                <a:solidFill>
                  <a:schemeClr val="tx1"/>
                </a:solidFill>
                <a:effectLst/>
                <a:ea typeface="+mn-ea"/>
                <a:cs typeface="+mn-cs"/>
              </a:rPr>
              <a:t>That task switching behavior emerges as optimal behavior under subjective cost functions and</a:t>
            </a:r>
          </a:p>
          <a:p>
            <a:pPr marL="171450" indent="-171450">
              <a:buFont typeface="Arial" panose="020B0604020202020204" pitchFamily="34" charset="0"/>
              <a:buChar char="•"/>
            </a:pPr>
            <a:r>
              <a:rPr lang="en-US" sz="800" kern="1200" dirty="0">
                <a:solidFill>
                  <a:schemeClr val="tx1"/>
                </a:solidFill>
                <a:effectLst/>
                <a:ea typeface="+mn-ea"/>
                <a:cs typeface="+mn-cs"/>
              </a:rPr>
              <a:t>That individual error and reward sensitivity act as determinants of task-switching strategy formation</a:t>
            </a:r>
          </a:p>
          <a:p>
            <a:pPr marL="171450" indent="-171450">
              <a:buFont typeface="Arial" panose="020B0604020202020204" pitchFamily="34" charset="0"/>
              <a:buChar char="•"/>
            </a:pPr>
            <a:endParaRPr lang="en-US" sz="800" kern="1200" dirty="0">
              <a:solidFill>
                <a:schemeClr val="tx1"/>
              </a:solidFill>
              <a:effectLst/>
              <a:ea typeface="+mn-ea"/>
              <a:cs typeface="+mn-cs"/>
            </a:endParaRPr>
          </a:p>
          <a:p>
            <a:pPr marL="0" indent="0">
              <a:buFont typeface="Arial" panose="020B0604020202020204" pitchFamily="34" charset="0"/>
              <a:buNone/>
            </a:pPr>
            <a:r>
              <a:rPr lang="en-US" sz="800" kern="1200" dirty="0">
                <a:solidFill>
                  <a:schemeClr val="tx1"/>
                </a:solidFill>
                <a:effectLst/>
                <a:ea typeface="+mn-ea"/>
                <a:cs typeface="+mn-cs"/>
              </a:rPr>
              <a:t>Our main contributions to the research unit are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a:cs typeface="Arial" panose="020B0604020202020204" pitchFamily="34" charset="0"/>
              </a:rPr>
              <a:t>On the experimental </a:t>
            </a:r>
            <a:r>
              <a:rPr lang="de-DE" sz="800" dirty="0" err="1">
                <a:cs typeface="Arial" panose="020B0604020202020204" pitchFamily="34" charset="0"/>
              </a:rPr>
              <a:t>side</a:t>
            </a:r>
            <a:r>
              <a:rPr lang="de-DE" sz="800" dirty="0">
                <a:cs typeface="Arial" panose="020B0604020202020204" pitchFamily="34" charset="0"/>
              </a:rPr>
              <a:t>, the FCDT </a:t>
            </a:r>
            <a:r>
              <a:rPr lang="de-DE" sz="800" dirty="0" err="1">
                <a:cs typeface="Arial" panose="020B0604020202020204" pitchFamily="34" charset="0"/>
              </a:rPr>
              <a:t>paradigm</a:t>
            </a:r>
            <a:r>
              <a:rPr lang="de-DE" sz="800" dirty="0">
                <a:cs typeface="Arial" panose="020B0604020202020204" pitchFamily="34" charset="0"/>
              </a:rPr>
              <a:t> </a:t>
            </a:r>
            <a:r>
              <a:rPr lang="de-DE" sz="800" dirty="0" err="1">
                <a:cs typeface="Arial" panose="020B0604020202020204" pitchFamily="34" charset="0"/>
              </a:rPr>
              <a:t>as</a:t>
            </a:r>
            <a:r>
              <a:rPr lang="de-DE" sz="800" dirty="0">
                <a:cs typeface="Arial" panose="020B0604020202020204" pitchFamily="34" charset="0"/>
              </a:rPr>
              <a:t> an experimental </a:t>
            </a:r>
            <a:r>
              <a:rPr lang="de-DE" sz="800" dirty="0" err="1">
                <a:cs typeface="Arial" panose="020B0604020202020204" pitchFamily="34" charset="0"/>
              </a:rPr>
              <a:t>testbed</a:t>
            </a:r>
            <a:r>
              <a:rPr lang="de-DE" sz="800" dirty="0">
                <a:cs typeface="Arial" panose="020B0604020202020204" pitchFamily="34" charset="0"/>
              </a:rPr>
              <a:t> </a:t>
            </a:r>
            <a:r>
              <a:rPr lang="de-DE" sz="800" dirty="0" err="1">
                <a:cs typeface="Arial" panose="020B0604020202020204" pitchFamily="34" charset="0"/>
              </a:rPr>
              <a:t>for</a:t>
            </a:r>
            <a:r>
              <a:rPr lang="de-DE" sz="800" dirty="0">
                <a:cs typeface="Arial" panose="020B0604020202020204" pitchFamily="34" charset="0"/>
              </a:rPr>
              <a:t> </a:t>
            </a:r>
            <a:r>
              <a:rPr lang="de-DE" sz="800" dirty="0" err="1">
                <a:cs typeface="Arial" panose="020B0604020202020204" pitchFamily="34" charset="0"/>
              </a:rPr>
              <a:t>studying</a:t>
            </a:r>
            <a:r>
              <a:rPr lang="de-DE" sz="800" dirty="0">
                <a:cs typeface="Arial" panose="020B0604020202020204" pitchFamily="34" charset="0"/>
              </a:rPr>
              <a:t> </a:t>
            </a:r>
            <a:r>
              <a:rPr lang="de-DE" sz="800" dirty="0" err="1">
                <a:cs typeface="Arial" panose="020B0604020202020204" pitchFamily="34" charset="0"/>
              </a:rPr>
              <a:t>task</a:t>
            </a:r>
            <a:r>
              <a:rPr lang="de-DE" sz="800" dirty="0">
                <a:cs typeface="Arial" panose="020B0604020202020204" pitchFamily="34" charset="0"/>
              </a:rPr>
              <a:t> </a:t>
            </a:r>
            <a:r>
              <a:rPr lang="de-DE" sz="800" dirty="0" err="1">
                <a:cs typeface="Arial" panose="020B0604020202020204" pitchFamily="34" charset="0"/>
              </a:rPr>
              <a:t>switching</a:t>
            </a:r>
            <a:r>
              <a:rPr lang="de-DE" sz="800" dirty="0">
                <a:cs typeface="Arial" panose="020B0604020202020204" pitchFamily="34" charset="0"/>
              </a:rPr>
              <a:t> </a:t>
            </a:r>
            <a:r>
              <a:rPr lang="de-DE" sz="800" dirty="0" err="1">
                <a:cs typeface="Arial" panose="020B0604020202020204" pitchFamily="34" charset="0"/>
              </a:rPr>
              <a:t>behavior</a:t>
            </a:r>
            <a:endParaRPr lang="de-DE" sz="800" dirty="0">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a:cs typeface="Arial" panose="020B0604020202020204" pitchFamily="34" charset="0"/>
              </a:rPr>
              <a:t>On the </a:t>
            </a:r>
            <a:r>
              <a:rPr lang="de-DE" sz="800" dirty="0" err="1">
                <a:cs typeface="Arial" panose="020B0604020202020204" pitchFamily="34" charset="0"/>
              </a:rPr>
              <a:t>theoretical</a:t>
            </a:r>
            <a:r>
              <a:rPr lang="de-DE" sz="800" dirty="0">
                <a:cs typeface="Arial" panose="020B0604020202020204" pitchFamily="34" charset="0"/>
              </a:rPr>
              <a:t> </a:t>
            </a:r>
            <a:r>
              <a:rPr lang="de-DE" sz="800" dirty="0" err="1">
                <a:cs typeface="Arial" panose="020B0604020202020204" pitchFamily="34" charset="0"/>
              </a:rPr>
              <a:t>side</a:t>
            </a:r>
            <a:r>
              <a:rPr lang="de-DE" sz="800" dirty="0">
                <a:cs typeface="Arial" panose="020B0604020202020204" pitchFamily="34" charset="0"/>
              </a:rPr>
              <a:t>, a rational </a:t>
            </a:r>
            <a:r>
              <a:rPr lang="de-DE" sz="800" dirty="0" err="1">
                <a:cs typeface="Arial" panose="020B0604020202020204" pitchFamily="34" charset="0"/>
              </a:rPr>
              <a:t>analysis</a:t>
            </a:r>
            <a:r>
              <a:rPr lang="de-DE" sz="800" dirty="0">
                <a:cs typeface="Arial" panose="020B0604020202020204" pitchFamily="34" charset="0"/>
              </a:rPr>
              <a:t> </a:t>
            </a:r>
            <a:r>
              <a:rPr lang="de-DE" sz="800" dirty="0" err="1">
                <a:cs typeface="Arial" panose="020B0604020202020204" pitchFamily="34" charset="0"/>
              </a:rPr>
              <a:t>perspective</a:t>
            </a:r>
            <a:r>
              <a:rPr lang="de-DE" sz="800" dirty="0">
                <a:cs typeface="Arial" panose="020B0604020202020204" pitchFamily="34" charset="0"/>
              </a:rPr>
              <a:t> and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800" dirty="0" err="1">
                <a:cs typeface="Arial" panose="020B0604020202020204" pitchFamily="34" charset="0"/>
              </a:rPr>
              <a:t>For</a:t>
            </a:r>
            <a:r>
              <a:rPr lang="de-DE" sz="800" dirty="0">
                <a:cs typeface="Arial" panose="020B0604020202020204" pitchFamily="34" charset="0"/>
              </a:rPr>
              <a:t> </a:t>
            </a:r>
            <a:r>
              <a:rPr lang="de-DE" sz="800" dirty="0" err="1">
                <a:cs typeface="Arial" panose="020B0604020202020204" pitchFamily="34" charset="0"/>
              </a:rPr>
              <a:t>integrating</a:t>
            </a:r>
            <a:r>
              <a:rPr lang="de-DE" sz="800" dirty="0">
                <a:cs typeface="Arial" panose="020B0604020202020204" pitchFamily="34" charset="0"/>
              </a:rPr>
              <a:t> </a:t>
            </a:r>
            <a:r>
              <a:rPr lang="de-DE" sz="800" dirty="0" err="1">
                <a:cs typeface="Arial" panose="020B0604020202020204" pitchFamily="34" charset="0"/>
              </a:rPr>
              <a:t>theory</a:t>
            </a:r>
            <a:r>
              <a:rPr lang="de-DE" sz="800" dirty="0">
                <a:cs typeface="Arial" panose="020B0604020202020204" pitchFamily="34" charset="0"/>
              </a:rPr>
              <a:t> and </a:t>
            </a:r>
            <a:r>
              <a:rPr lang="de-DE" sz="800" dirty="0" err="1">
                <a:cs typeface="Arial" panose="020B0604020202020204" pitchFamily="34" charset="0"/>
              </a:rPr>
              <a:t>experiment</a:t>
            </a:r>
            <a:r>
              <a:rPr lang="de-DE" sz="800" dirty="0">
                <a:cs typeface="Arial" panose="020B0604020202020204" pitchFamily="34" charset="0"/>
              </a:rPr>
              <a:t>, an </a:t>
            </a:r>
            <a:r>
              <a:rPr lang="de-DE" sz="800" dirty="0" err="1">
                <a:cs typeface="Arial" panose="020B0604020202020204" pitchFamily="34" charset="0"/>
              </a:rPr>
              <a:t>agent-based</a:t>
            </a:r>
            <a:r>
              <a:rPr lang="de-DE" sz="800" dirty="0">
                <a:cs typeface="Arial" panose="020B0604020202020204" pitchFamily="34" charset="0"/>
              </a:rPr>
              <a:t> </a:t>
            </a:r>
            <a:r>
              <a:rPr lang="de-DE" sz="800" dirty="0" err="1">
                <a:cs typeface="Arial" panose="020B0604020202020204" pitchFamily="34" charset="0"/>
              </a:rPr>
              <a:t>neurobehavioral</a:t>
            </a:r>
            <a:r>
              <a:rPr lang="de-DE" sz="800" dirty="0">
                <a:cs typeface="Arial" panose="020B0604020202020204" pitchFamily="34" charset="0"/>
              </a:rPr>
              <a:t> </a:t>
            </a:r>
            <a:r>
              <a:rPr lang="de-DE" sz="800" dirty="0" err="1">
                <a:cs typeface="Arial" panose="020B0604020202020204" pitchFamily="34" charset="0"/>
              </a:rPr>
              <a:t>modeling</a:t>
            </a:r>
            <a:r>
              <a:rPr lang="de-DE" sz="800" dirty="0">
                <a:cs typeface="Arial" panose="020B0604020202020204" pitchFamily="34" charset="0"/>
              </a:rPr>
              <a:t> </a:t>
            </a:r>
            <a:r>
              <a:rPr lang="de-DE" sz="800" dirty="0" err="1">
                <a:cs typeface="Arial" panose="020B0604020202020204" pitchFamily="34" charset="0"/>
              </a:rPr>
              <a:t>framework</a:t>
            </a:r>
            <a:r>
              <a:rPr lang="de-DE" sz="800" dirty="0">
                <a:cs typeface="Arial" panose="020B0604020202020204" pitchFamily="34" charset="0"/>
              </a:rPr>
              <a:t>.</a:t>
            </a:r>
          </a:p>
          <a:p>
            <a:pPr marL="0" indent="0">
              <a:buFont typeface="Arial" panose="020B0604020202020204" pitchFamily="34" charset="0"/>
              <a:buNone/>
            </a:pPr>
            <a:endParaRPr lang="de-DE" dirty="0"/>
          </a:p>
        </p:txBody>
      </p:sp>
      <p:sp>
        <p:nvSpPr>
          <p:cNvPr id="4" name="Foliennummernplatzhalter 3"/>
          <p:cNvSpPr>
            <a:spLocks noGrp="1"/>
          </p:cNvSpPr>
          <p:nvPr>
            <p:ph type="sldNum" sz="quarter" idx="5"/>
          </p:nvPr>
        </p:nvSpPr>
        <p:spPr/>
        <p:txBody>
          <a:bodyPr/>
          <a:lstStyle/>
          <a:p>
            <a:fld id="{1B1A4A1F-8532-488D-8645-6753A9A98617}" type="slidenum">
              <a:rPr lang="de-DE" smtClean="0"/>
              <a:pPr/>
              <a:t>20</a:t>
            </a:fld>
            <a:endParaRPr lang="de-DE"/>
          </a:p>
        </p:txBody>
      </p:sp>
    </p:spTree>
    <p:extLst>
      <p:ext uri="{BB962C8B-B14F-4D97-AF65-F5344CB8AC3E}">
        <p14:creationId xmlns:p14="http://schemas.microsoft.com/office/powerpoint/2010/main" val="2780902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1E5EB6-51D3-4CEE-866B-DD0507A8A478}"/>
              </a:ext>
            </a:extLst>
          </p:cNvPr>
          <p:cNvSpPr>
            <a:spLocks noGrp="1"/>
          </p:cNvSpPr>
          <p:nvPr>
            <p:ph type="ctrTitle"/>
          </p:nvPr>
        </p:nvSpPr>
        <p:spPr>
          <a:xfrm>
            <a:off x="685800" y="1597819"/>
            <a:ext cx="7772400" cy="1102519"/>
          </a:xfrm>
        </p:spPr>
        <p:txBody>
          <a:bodyPr/>
          <a:lstStyle>
            <a:lvl1pPr>
              <a:buNone/>
              <a:defRPr>
                <a:solidFill>
                  <a:srgbClr val="3A77AD"/>
                </a:solidFill>
              </a:defRPr>
            </a:lvl1pPr>
          </a:lstStyle>
          <a:p>
            <a:r>
              <a:t>Titelmasterformat durch Klicken bearbeiten</a:t>
            </a:r>
          </a:p>
        </p:txBody>
      </p:sp>
      <p:sp>
        <p:nvSpPr>
          <p:cNvPr id="3" name="Untertitel 2">
            <a:extLst>
              <a:ext uri="{FF2B5EF4-FFF2-40B4-BE49-F238E27FC236}">
                <a16:creationId xmlns:a16="http://schemas.microsoft.com/office/drawing/2014/main" id="{D607E1D3-AE35-44F2-9141-BC0877E756E5}"/>
              </a:ext>
            </a:extLst>
          </p:cNvPr>
          <p:cNvSpPr>
            <a:spLocks noGrp="1"/>
          </p:cNvSpPr>
          <p:nvPr>
            <p:ph type="subTitle" idx="1"/>
          </p:nvPr>
        </p:nvSpPr>
        <p:spPr>
          <a:xfrm>
            <a:off x="1371600" y="2914650"/>
            <a:ext cx="6400800" cy="1314450"/>
          </a:xfrm>
        </p:spPr>
        <p:txBody>
          <a:bodyPr/>
          <a:lstStyle>
            <a:lvl1pPr marL="0" indent="0" algn="ctr">
              <a:buNone/>
              <a:defRPr>
                <a:solidFill>
                  <a:srgbClr val="3A77AD"/>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t>Formatvorlage des Untertitelmasters durch Klicken bearbeiten</a:t>
            </a:r>
          </a:p>
        </p:txBody>
      </p:sp>
      <p:sp>
        <p:nvSpPr>
          <p:cNvPr id="4" name="Datumsplatzhalter 3">
            <a:extLst>
              <a:ext uri="{FF2B5EF4-FFF2-40B4-BE49-F238E27FC236}">
                <a16:creationId xmlns:a16="http://schemas.microsoft.com/office/drawing/2014/main" id="{60293F25-B3EA-407B-9553-634452D613E5}"/>
              </a:ext>
            </a:extLst>
          </p:cNvPr>
          <p:cNvSpPr>
            <a:spLocks noGrp="1"/>
          </p:cNvSpPr>
          <p:nvPr>
            <p:ph type="dt" idx="10"/>
          </p:nvPr>
        </p:nvSpPr>
        <p:spPr/>
        <p:txBody>
          <a:bodyPr/>
          <a:lstStyle/>
          <a:p>
            <a:fld id="{8DD25DDA-D26E-4C65-81E7-886BFA2DBF4B}" type="datetime1">
              <a:t>17.09.2026</a:t>
            </a:fld>
            <a:endParaRPr/>
          </a:p>
        </p:txBody>
      </p:sp>
      <p:sp>
        <p:nvSpPr>
          <p:cNvPr id="5" name="Fußzeilenplatzhalter 4">
            <a:extLst>
              <a:ext uri="{FF2B5EF4-FFF2-40B4-BE49-F238E27FC236}">
                <a16:creationId xmlns:a16="http://schemas.microsoft.com/office/drawing/2014/main" id="{65D50551-C1AF-4734-A668-4A8DF1C3E57F}"/>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47F039B-F4C6-4131-81AF-F9DDB7D5C99B}"/>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44703E-4150-4FCF-AC26-4C412DDF59A1}"/>
              </a:ext>
            </a:extLst>
          </p:cNvPr>
          <p:cNvSpPr>
            <a:spLocks noGrp="1"/>
          </p:cNvSpPr>
          <p:nvPr>
            <p:ph type="title"/>
          </p:nvPr>
        </p:nvSpPr>
        <p:spPr/>
        <p:txBody>
          <a:bodyPr/>
          <a:lstStyle>
            <a:lvl1pPr>
              <a:buNone/>
              <a:defRPr>
                <a:latin typeface="Arial Unicode MS"/>
                <a:ea typeface="Arial Unicode MS"/>
                <a:cs typeface="Arial Unicode MS"/>
              </a:defRPr>
            </a:lvl1p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Inhaltsplatzhalter 2">
            <a:extLst>
              <a:ext uri="{FF2B5EF4-FFF2-40B4-BE49-F238E27FC236}">
                <a16:creationId xmlns:a16="http://schemas.microsoft.com/office/drawing/2014/main" id="{D512DA99-6AD5-4B52-A2D7-C464763F3879}"/>
              </a:ext>
            </a:extLst>
          </p:cNvPr>
          <p:cNvSpPr>
            <a:spLocks noGrp="1"/>
          </p:cNvSpPr>
          <p:nvPr>
            <p:ph idx="1"/>
          </p:nvPr>
        </p:nvSpPr>
        <p:spPr>
          <a:xfrm>
            <a:off x="457200" y="1190802"/>
            <a:ext cx="8229600" cy="3315816"/>
          </a:xfrm>
        </p:spPr>
        <p:txBody>
          <a:bodyPr/>
          <a:lstStyle>
            <a:lvl4pPr>
              <a:buNone/>
              <a:defRPr>
                <a:latin typeface="Arial Unicode MS"/>
                <a:ea typeface="Arial Unicode MS"/>
                <a:cs typeface="Arial Unicode MS"/>
              </a:defRPr>
            </a:lvl4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6" name="Foliennummernplatzhalter 5">
            <a:extLst>
              <a:ext uri="{FF2B5EF4-FFF2-40B4-BE49-F238E27FC236}">
                <a16:creationId xmlns:a16="http://schemas.microsoft.com/office/drawing/2014/main" id="{C0329583-F0C0-49DB-9BCF-D833FB7B88AC}"/>
              </a:ext>
            </a:extLst>
          </p:cNvPr>
          <p:cNvSpPr>
            <a:spLocks noGrp="1"/>
          </p:cNvSpPr>
          <p:nvPr>
            <p:ph type="sldNum" idx="12"/>
          </p:nvPr>
        </p:nvSpPr>
        <p:spPr>
          <a:xfrm>
            <a:off x="8256300" y="4731990"/>
            <a:ext cx="636180" cy="273844"/>
          </a:xfrm>
        </p:spPr>
        <p:txBody>
          <a:bodyPr/>
          <a:lstStyle>
            <a:lvl1pPr marL="0" algn="r" defTabSz="685800">
              <a:buNone/>
              <a:defRPr sz="1050" kern="1200">
                <a:solidFill>
                  <a:schemeClr val="tx2">
                    <a:lumMod val="75000"/>
                  </a:schemeClr>
                </a:solidFill>
                <a:latin typeface="Arial Unicode MS"/>
                <a:ea typeface="Arial Unicode MS"/>
                <a:cs typeface="Arial Unicode MS"/>
              </a:defRPr>
            </a:lvl1pPr>
          </a:lstStyle>
          <a:p>
            <a:fld id="{5CD88B4E-D815-417B-99FD-41D66E5C06D4}"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62C48E-9A13-4A7E-AA6A-87D1AC3AC0C8}"/>
              </a:ext>
            </a:extLst>
          </p:cNvPr>
          <p:cNvSpPr>
            <a:spLocks noGrp="1"/>
          </p:cNvSpPr>
          <p:nvPr>
            <p:ph type="title"/>
          </p:nvPr>
        </p:nvSpPr>
        <p:spPr>
          <a:xfrm>
            <a:off x="722313" y="3305176"/>
            <a:ext cx="7772400" cy="1021556"/>
          </a:xfrm>
        </p:spPr>
        <p:txBody>
          <a:bodyPr anchor="t"/>
          <a:lstStyle>
            <a:lvl1pPr algn="l">
              <a:buNone/>
              <a:defRPr sz="3000" b="1" cap="all"/>
            </a:lvl1pPr>
          </a:lstStyle>
          <a:p>
            <a:r>
              <a:t>Titelmasterformat durch Klicken bearbeiten</a:t>
            </a:r>
          </a:p>
        </p:txBody>
      </p:sp>
      <p:sp>
        <p:nvSpPr>
          <p:cNvPr id="3" name="Textplatzhalter 2">
            <a:extLst>
              <a:ext uri="{FF2B5EF4-FFF2-40B4-BE49-F238E27FC236}">
                <a16:creationId xmlns:a16="http://schemas.microsoft.com/office/drawing/2014/main" id="{B24E126F-A99D-41A9-8219-84AE61304FC1}"/>
              </a:ext>
            </a:extLst>
          </p:cNvPr>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Textmasterformat bearbeiten</a:t>
            </a:r>
          </a:p>
        </p:txBody>
      </p:sp>
      <p:sp>
        <p:nvSpPr>
          <p:cNvPr id="4" name="Datumsplatzhalter 3">
            <a:extLst>
              <a:ext uri="{FF2B5EF4-FFF2-40B4-BE49-F238E27FC236}">
                <a16:creationId xmlns:a16="http://schemas.microsoft.com/office/drawing/2014/main" id="{0CDBB60F-DFD5-4B33-9F9C-A2FFA0EE74A1}"/>
              </a:ext>
            </a:extLst>
          </p:cNvPr>
          <p:cNvSpPr>
            <a:spLocks noGrp="1"/>
          </p:cNvSpPr>
          <p:nvPr>
            <p:ph type="dt" idx="10"/>
          </p:nvPr>
        </p:nvSpPr>
        <p:spPr/>
        <p:txBody>
          <a:bodyPr/>
          <a:lstStyle/>
          <a:p>
            <a:fld id="{82291B1E-1756-4A5C-A79F-F2FEDD9B6C08}" type="datetime1">
              <a:t>17.09.2026</a:t>
            </a:fld>
            <a:endParaRPr/>
          </a:p>
        </p:txBody>
      </p:sp>
      <p:sp>
        <p:nvSpPr>
          <p:cNvPr id="5" name="Fußzeilenplatzhalter 4">
            <a:extLst>
              <a:ext uri="{FF2B5EF4-FFF2-40B4-BE49-F238E27FC236}">
                <a16:creationId xmlns:a16="http://schemas.microsoft.com/office/drawing/2014/main" id="{CDA99A6B-C707-44EE-88B8-49D64782391E}"/>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6A15729B-94BB-4880-8D89-388D0649657A}"/>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A37635-A623-4E98-AC3E-8D62F1F648D6}"/>
              </a:ext>
            </a:extLst>
          </p:cNvPr>
          <p:cNvSpPr>
            <a:spLocks noGrp="1"/>
          </p:cNvSpPr>
          <p:nvPr>
            <p:ph type="title"/>
          </p:nvPr>
        </p:nvSpPr>
        <p:spPr/>
        <p:txBody>
          <a:bodyPr/>
          <a:lstStyle/>
          <a:p>
            <a:r>
              <a:t>Titelmasterformat durch Klicken bearbeiten</a:t>
            </a:r>
          </a:p>
        </p:txBody>
      </p:sp>
      <p:sp>
        <p:nvSpPr>
          <p:cNvPr id="3" name="Inhaltsplatzhalter 2">
            <a:extLst>
              <a:ext uri="{FF2B5EF4-FFF2-40B4-BE49-F238E27FC236}">
                <a16:creationId xmlns:a16="http://schemas.microsoft.com/office/drawing/2014/main" id="{1FA6A68D-62E8-4097-BC94-596C357F941D}"/>
              </a:ext>
            </a:extLst>
          </p:cNvPr>
          <p:cNvSpPr>
            <a:spLocks noGrp="1"/>
          </p:cNvSpPr>
          <p:nvPr>
            <p:ph idx="1"/>
          </p:nvPr>
        </p:nvSpPr>
        <p:spPr>
          <a:xfrm>
            <a:off x="457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Inhaltsplatzhalter 3">
            <a:extLst>
              <a:ext uri="{FF2B5EF4-FFF2-40B4-BE49-F238E27FC236}">
                <a16:creationId xmlns:a16="http://schemas.microsoft.com/office/drawing/2014/main" id="{4073D382-90A3-4817-9579-52D81369CD33}"/>
              </a:ext>
            </a:extLst>
          </p:cNvPr>
          <p:cNvSpPr>
            <a:spLocks noGrp="1"/>
          </p:cNvSpPr>
          <p:nvPr>
            <p:ph idx="2"/>
          </p:nvPr>
        </p:nvSpPr>
        <p:spPr>
          <a:xfrm>
            <a:off x="4648200" y="1200151"/>
            <a:ext cx="4038600" cy="3394472"/>
          </a:xfrm>
        </p:spPr>
        <p:txBody>
          <a:bodyPr/>
          <a:lstStyle>
            <a:lvl1pPr>
              <a:buNone/>
              <a:defRPr sz="2100"/>
            </a:lvl1pPr>
            <a:lvl2pPr>
              <a:buNone/>
              <a:defRPr sz="1800"/>
            </a:lvl2pPr>
            <a:lvl3pPr>
              <a:buNone/>
              <a:defRPr sz="1500"/>
            </a:lvl3pPr>
            <a:lvl4pPr>
              <a:buNone/>
              <a:defRPr sz="1350"/>
            </a:lvl4pPr>
            <a:lvl5pPr>
              <a:buNone/>
              <a:defRPr sz="1350"/>
            </a:lvl5pPr>
            <a:lvl6pPr>
              <a:buNone/>
              <a:defRPr sz="1350"/>
            </a:lvl6pPr>
            <a:lvl7pPr>
              <a:buNone/>
              <a:defRPr sz="1350"/>
            </a:lvl7pPr>
            <a:lvl8pPr>
              <a:buNone/>
              <a:defRPr sz="1350"/>
            </a:lvl8pPr>
            <a:lvl9pPr>
              <a:buNone/>
              <a:defRPr sz="135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Datumsplatzhalter 4">
            <a:extLst>
              <a:ext uri="{FF2B5EF4-FFF2-40B4-BE49-F238E27FC236}">
                <a16:creationId xmlns:a16="http://schemas.microsoft.com/office/drawing/2014/main" id="{C01B4D72-53C5-4B48-8E28-0C570A263DC0}"/>
              </a:ext>
            </a:extLst>
          </p:cNvPr>
          <p:cNvSpPr>
            <a:spLocks noGrp="1"/>
          </p:cNvSpPr>
          <p:nvPr>
            <p:ph type="dt" idx="10"/>
          </p:nvPr>
        </p:nvSpPr>
        <p:spPr/>
        <p:txBody>
          <a:bodyPr/>
          <a:lstStyle/>
          <a:p>
            <a:fld id="{C25EF7E3-34C6-4F29-A3E8-B2123BFC8360}" type="datetime1">
              <a:t>17.09.2026</a:t>
            </a:fld>
            <a:endParaRPr/>
          </a:p>
        </p:txBody>
      </p:sp>
      <p:sp>
        <p:nvSpPr>
          <p:cNvPr id="6" name="Fußzeilenplatzhalter 5">
            <a:extLst>
              <a:ext uri="{FF2B5EF4-FFF2-40B4-BE49-F238E27FC236}">
                <a16:creationId xmlns:a16="http://schemas.microsoft.com/office/drawing/2014/main" id="{8E43D247-3AB3-4E5E-889D-EE9388E9EC09}"/>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29CA68E8-FF76-48FE-89E1-16FF04182F43}"/>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57D3AF-0732-426A-A34C-0295E4BFB97B}"/>
              </a:ext>
            </a:extLst>
          </p:cNvPr>
          <p:cNvSpPr>
            <a:spLocks noGrp="1"/>
          </p:cNvSpPr>
          <p:nvPr>
            <p:ph type="title"/>
          </p:nvPr>
        </p:nvSpPr>
        <p:spPr/>
        <p:txBody>
          <a:bodyPr/>
          <a:lstStyle>
            <a:lvl1pPr>
              <a:buNone/>
              <a:defRPr/>
            </a:lvl1pPr>
          </a:lstStyle>
          <a:p>
            <a:r>
              <a:t>Titelmasterformat durch Klicken bearbeiten</a:t>
            </a:r>
          </a:p>
        </p:txBody>
      </p:sp>
      <p:sp>
        <p:nvSpPr>
          <p:cNvPr id="3" name="Textplatzhalter 2">
            <a:extLst>
              <a:ext uri="{FF2B5EF4-FFF2-40B4-BE49-F238E27FC236}">
                <a16:creationId xmlns:a16="http://schemas.microsoft.com/office/drawing/2014/main" id="{5387ACE4-EFE3-4305-A1A4-F639026E10D7}"/>
              </a:ext>
            </a:extLst>
          </p:cNvPr>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4" name="Inhaltsplatzhalter 3">
            <a:extLst>
              <a:ext uri="{FF2B5EF4-FFF2-40B4-BE49-F238E27FC236}">
                <a16:creationId xmlns:a16="http://schemas.microsoft.com/office/drawing/2014/main" id="{43F85B3D-6B72-4821-BA1D-586B02D936A2}"/>
              </a:ext>
            </a:extLst>
          </p:cNvPr>
          <p:cNvSpPr>
            <a:spLocks noGrp="1"/>
          </p:cNvSpPr>
          <p:nvPr>
            <p:ph idx="2"/>
          </p:nvPr>
        </p:nvSpPr>
        <p:spPr>
          <a:xfrm>
            <a:off x="457200" y="1631156"/>
            <a:ext cx="4040188"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5" name="Textplatzhalter 4">
            <a:extLst>
              <a:ext uri="{FF2B5EF4-FFF2-40B4-BE49-F238E27FC236}">
                <a16:creationId xmlns:a16="http://schemas.microsoft.com/office/drawing/2014/main" id="{F441FB17-AB68-4403-8F78-7E5BE36A0347}"/>
              </a:ext>
            </a:extLst>
          </p:cNvPr>
          <p:cNvSpPr>
            <a:spLocks noGrp="1"/>
          </p:cNvSpPr>
          <p:nvPr>
            <p:ph type="body"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Textmasterformat bearbeiten</a:t>
            </a:r>
          </a:p>
        </p:txBody>
      </p:sp>
      <p:sp>
        <p:nvSpPr>
          <p:cNvPr id="6" name="Inhaltsplatzhalter 5">
            <a:extLst>
              <a:ext uri="{FF2B5EF4-FFF2-40B4-BE49-F238E27FC236}">
                <a16:creationId xmlns:a16="http://schemas.microsoft.com/office/drawing/2014/main" id="{2151470F-342E-4D82-8CE0-B825E6A6C8FD}"/>
              </a:ext>
            </a:extLst>
          </p:cNvPr>
          <p:cNvSpPr>
            <a:spLocks noGrp="1"/>
          </p:cNvSpPr>
          <p:nvPr>
            <p:ph idx="4"/>
          </p:nvPr>
        </p:nvSpPr>
        <p:spPr>
          <a:xfrm>
            <a:off x="4645026" y="1631156"/>
            <a:ext cx="4041775" cy="2963466"/>
          </a:xfrm>
        </p:spPr>
        <p:txBody>
          <a:bodyPr/>
          <a:lstStyle>
            <a:lvl1pPr>
              <a:buNone/>
              <a:defRPr sz="1800"/>
            </a:lvl1pPr>
            <a:lvl2pPr>
              <a:buNone/>
              <a:defRPr sz="1500"/>
            </a:lvl2pPr>
            <a:lvl3pPr>
              <a:buNone/>
              <a:defRPr sz="1350"/>
            </a:lvl3pPr>
            <a:lvl4pPr>
              <a:buNone/>
              <a:defRPr sz="1200"/>
            </a:lvl4pPr>
            <a:lvl5pPr>
              <a:buNone/>
              <a:defRPr sz="1200"/>
            </a:lvl5pPr>
            <a:lvl6pPr>
              <a:buNone/>
              <a:defRPr sz="1200"/>
            </a:lvl6pPr>
            <a:lvl7pPr>
              <a:buNone/>
              <a:defRPr sz="1200"/>
            </a:lvl7pPr>
            <a:lvl8pPr>
              <a:buNone/>
              <a:defRPr sz="1200"/>
            </a:lvl8pPr>
            <a:lvl9pPr>
              <a:buNone/>
              <a:defRPr sz="12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D8DACECA-CCE4-4F0F-8AE2-CFD22C219D99}"/>
              </a:ext>
            </a:extLst>
          </p:cNvPr>
          <p:cNvSpPr>
            <a:spLocks noGrp="1"/>
          </p:cNvSpPr>
          <p:nvPr>
            <p:ph type="dt" idx="10"/>
          </p:nvPr>
        </p:nvSpPr>
        <p:spPr/>
        <p:txBody>
          <a:bodyPr/>
          <a:lstStyle/>
          <a:p>
            <a:fld id="{9BF2F809-AE36-447A-BE8D-DBD43813230D}" type="datetime1">
              <a:t>17.09.2026</a:t>
            </a:fld>
            <a:endParaRPr/>
          </a:p>
        </p:txBody>
      </p:sp>
      <p:sp>
        <p:nvSpPr>
          <p:cNvPr id="8" name="Fußzeilenplatzhalter 7">
            <a:extLst>
              <a:ext uri="{FF2B5EF4-FFF2-40B4-BE49-F238E27FC236}">
                <a16:creationId xmlns:a16="http://schemas.microsoft.com/office/drawing/2014/main" id="{7DB2DCED-C1E2-4728-81C3-E60969112EA0}"/>
              </a:ext>
            </a:extLst>
          </p:cNvPr>
          <p:cNvSpPr>
            <a:spLocks noGrp="1"/>
          </p:cNvSpPr>
          <p:nvPr>
            <p:ph type="ftr" idx="11"/>
          </p:nvPr>
        </p:nvSpPr>
        <p:spPr/>
        <p:txBody>
          <a:bodyPr/>
          <a:lstStyle/>
          <a:p>
            <a:r>
              <a:t>SPP Initiative – Kognitive Mehrfachanforderungen</a:t>
            </a:r>
          </a:p>
        </p:txBody>
      </p:sp>
      <p:sp>
        <p:nvSpPr>
          <p:cNvPr id="9" name="Foliennummernplatzhalter 8">
            <a:extLst>
              <a:ext uri="{FF2B5EF4-FFF2-40B4-BE49-F238E27FC236}">
                <a16:creationId xmlns:a16="http://schemas.microsoft.com/office/drawing/2014/main" id="{22FF7CEF-7F67-4E4E-86B0-78A1E6B20463}"/>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5EF8EA-3A79-4D0A-9E9D-BAF231039B8C}"/>
              </a:ext>
            </a:extLst>
          </p:cNvPr>
          <p:cNvSpPr>
            <a:spLocks noGrp="1"/>
          </p:cNvSpPr>
          <p:nvPr>
            <p:ph type="title"/>
          </p:nvPr>
        </p:nvSpPr>
        <p:spPr/>
        <p:txBody>
          <a:bodyPr/>
          <a:lstStyle/>
          <a:p>
            <a:r>
              <a:t>Titelmasterformat durch Klicken bearbeiten</a:t>
            </a:r>
          </a:p>
        </p:txBody>
      </p:sp>
      <p:sp>
        <p:nvSpPr>
          <p:cNvPr id="3" name="Datumsplatzhalter 2">
            <a:extLst>
              <a:ext uri="{FF2B5EF4-FFF2-40B4-BE49-F238E27FC236}">
                <a16:creationId xmlns:a16="http://schemas.microsoft.com/office/drawing/2014/main" id="{FA8F1E3A-15F2-4079-B8C7-AF16AD23D982}"/>
              </a:ext>
            </a:extLst>
          </p:cNvPr>
          <p:cNvSpPr>
            <a:spLocks noGrp="1"/>
          </p:cNvSpPr>
          <p:nvPr>
            <p:ph type="dt" idx="10"/>
          </p:nvPr>
        </p:nvSpPr>
        <p:spPr/>
        <p:txBody>
          <a:bodyPr/>
          <a:lstStyle/>
          <a:p>
            <a:fld id="{C3E9AD70-BBFA-4BDA-AD17-94996E01E40D}" type="datetime1">
              <a:t>17.09.2026</a:t>
            </a:fld>
            <a:endParaRPr/>
          </a:p>
        </p:txBody>
      </p:sp>
      <p:sp>
        <p:nvSpPr>
          <p:cNvPr id="4" name="Fußzeilenplatzhalter 3">
            <a:extLst>
              <a:ext uri="{FF2B5EF4-FFF2-40B4-BE49-F238E27FC236}">
                <a16:creationId xmlns:a16="http://schemas.microsoft.com/office/drawing/2014/main" id="{9663DFE6-88B7-41D6-AC99-59B0CABFD6D8}"/>
              </a:ext>
            </a:extLst>
          </p:cNvPr>
          <p:cNvSpPr>
            <a:spLocks noGrp="1"/>
          </p:cNvSpPr>
          <p:nvPr>
            <p:ph type="ftr" idx="11"/>
          </p:nvPr>
        </p:nvSpPr>
        <p:spPr/>
        <p:txBody>
          <a:bodyPr/>
          <a:lstStyle/>
          <a:p>
            <a:r>
              <a:t>SPP Initiative – Kognitive Mehrfachanforderungen</a:t>
            </a:r>
          </a:p>
        </p:txBody>
      </p:sp>
      <p:sp>
        <p:nvSpPr>
          <p:cNvPr id="5" name="Foliennummernplatzhalter 4">
            <a:extLst>
              <a:ext uri="{FF2B5EF4-FFF2-40B4-BE49-F238E27FC236}">
                <a16:creationId xmlns:a16="http://schemas.microsoft.com/office/drawing/2014/main" id="{1DE91E78-25D0-4CF5-A737-377231448080}"/>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1529D24-EA50-4266-96C2-1DBB992D2A7A}"/>
              </a:ext>
            </a:extLst>
          </p:cNvPr>
          <p:cNvSpPr>
            <a:spLocks noGrp="1"/>
          </p:cNvSpPr>
          <p:nvPr>
            <p:ph type="dt" idx="10"/>
          </p:nvPr>
        </p:nvSpPr>
        <p:spPr/>
        <p:txBody>
          <a:bodyPr/>
          <a:lstStyle/>
          <a:p>
            <a:fld id="{012A5E7E-DC59-44FF-98CB-32ED5C7DF30F}" type="datetime1">
              <a:t>17.09.2026</a:t>
            </a:fld>
            <a:endParaRPr/>
          </a:p>
        </p:txBody>
      </p:sp>
      <p:sp>
        <p:nvSpPr>
          <p:cNvPr id="3" name="Fußzeilenplatzhalter 2">
            <a:extLst>
              <a:ext uri="{FF2B5EF4-FFF2-40B4-BE49-F238E27FC236}">
                <a16:creationId xmlns:a16="http://schemas.microsoft.com/office/drawing/2014/main" id="{37661DB9-2EA2-429E-A720-C292CF5B74B6}"/>
              </a:ext>
            </a:extLst>
          </p:cNvPr>
          <p:cNvSpPr>
            <a:spLocks noGrp="1"/>
          </p:cNvSpPr>
          <p:nvPr>
            <p:ph type="ftr" idx="11"/>
          </p:nvPr>
        </p:nvSpPr>
        <p:spPr/>
        <p:txBody>
          <a:bodyPr/>
          <a:lstStyle/>
          <a:p>
            <a:r>
              <a:t>SPP Initiative – Kognitive Mehrfachanforderungen</a:t>
            </a:r>
          </a:p>
        </p:txBody>
      </p:sp>
      <p:sp>
        <p:nvSpPr>
          <p:cNvPr id="4" name="Foliennummernplatzhalter 3">
            <a:extLst>
              <a:ext uri="{FF2B5EF4-FFF2-40B4-BE49-F238E27FC236}">
                <a16:creationId xmlns:a16="http://schemas.microsoft.com/office/drawing/2014/main" id="{FADD4549-9270-49D6-914B-C325B4F77D5A}"/>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9C704-CC59-470C-A759-B25A9213345D}"/>
              </a:ext>
            </a:extLst>
          </p:cNvPr>
          <p:cNvSpPr>
            <a:spLocks noGrp="1"/>
          </p:cNvSpPr>
          <p:nvPr>
            <p:ph type="title"/>
          </p:nvPr>
        </p:nvSpPr>
        <p:spPr>
          <a:xfrm>
            <a:off x="457201" y="204787"/>
            <a:ext cx="3008313" cy="871538"/>
          </a:xfrm>
        </p:spPr>
        <p:txBody>
          <a:bodyPr anchor="b"/>
          <a:lstStyle>
            <a:lvl1pPr algn="l">
              <a:buNone/>
              <a:defRPr sz="1500" b="1"/>
            </a:lvl1pPr>
          </a:lstStyle>
          <a:p>
            <a:r>
              <a:t>Titelmasterformat durch Klicken bearbeiten</a:t>
            </a:r>
          </a:p>
        </p:txBody>
      </p:sp>
      <p:sp>
        <p:nvSpPr>
          <p:cNvPr id="3" name="Inhaltsplatzhalter 2">
            <a:extLst>
              <a:ext uri="{FF2B5EF4-FFF2-40B4-BE49-F238E27FC236}">
                <a16:creationId xmlns:a16="http://schemas.microsoft.com/office/drawing/2014/main" id="{21D0AAFD-0EE3-46C1-B594-44E21917D6D0}"/>
              </a:ext>
            </a:extLst>
          </p:cNvPr>
          <p:cNvSpPr>
            <a:spLocks noGrp="1"/>
          </p:cNvSpPr>
          <p:nvPr>
            <p:ph idx="1"/>
          </p:nvPr>
        </p:nvSpPr>
        <p:spPr>
          <a:xfrm>
            <a:off x="3575050" y="204788"/>
            <a:ext cx="5111750" cy="4389835"/>
          </a:xfrm>
        </p:spPr>
        <p:txBody>
          <a:bodyPr/>
          <a:lstStyle>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Textplatzhalter 3">
            <a:extLst>
              <a:ext uri="{FF2B5EF4-FFF2-40B4-BE49-F238E27FC236}">
                <a16:creationId xmlns:a16="http://schemas.microsoft.com/office/drawing/2014/main" id="{A663634A-BDEE-4064-9945-987A40D32096}"/>
              </a:ext>
            </a:extLst>
          </p:cNvPr>
          <p:cNvSpPr>
            <a:spLocks noGrp="1"/>
          </p:cNvSpPr>
          <p:nvPr>
            <p:ph type="body"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5391EBD8-A766-492C-8454-76F8A2163A62}"/>
              </a:ext>
            </a:extLst>
          </p:cNvPr>
          <p:cNvSpPr>
            <a:spLocks noGrp="1"/>
          </p:cNvSpPr>
          <p:nvPr>
            <p:ph type="dt" idx="10"/>
          </p:nvPr>
        </p:nvSpPr>
        <p:spPr/>
        <p:txBody>
          <a:bodyPr/>
          <a:lstStyle/>
          <a:p>
            <a:fld id="{75CBFBE5-D840-46F9-A1EC-71EE2BFB233E}" type="datetime1">
              <a:t>17.09.2026</a:t>
            </a:fld>
            <a:endParaRPr/>
          </a:p>
        </p:txBody>
      </p:sp>
      <p:sp>
        <p:nvSpPr>
          <p:cNvPr id="6" name="Fußzeilenplatzhalter 5">
            <a:extLst>
              <a:ext uri="{FF2B5EF4-FFF2-40B4-BE49-F238E27FC236}">
                <a16:creationId xmlns:a16="http://schemas.microsoft.com/office/drawing/2014/main" id="{9B9CD980-E304-4A72-AFD4-5342C146FA8B}"/>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B566403A-C0D9-4D47-B0EC-F95FB97E0F5E}"/>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CAFB180-EE0F-4027-BA8D-50FE31578E90}"/>
              </a:ext>
            </a:extLst>
          </p:cNvPr>
          <p:cNvSpPr>
            <a:spLocks noGrp="1"/>
          </p:cNvSpPr>
          <p:nvPr>
            <p:ph type="title"/>
          </p:nvPr>
        </p:nvSpPr>
        <p:spPr>
          <a:xfrm>
            <a:off x="1792288" y="3600450"/>
            <a:ext cx="5486400" cy="425054"/>
          </a:xfrm>
        </p:spPr>
        <p:txBody>
          <a:bodyPr anchor="b"/>
          <a:lstStyle>
            <a:lvl1pPr algn="l">
              <a:buNone/>
              <a:defRPr sz="1500" b="1"/>
            </a:lvl1pPr>
          </a:lstStyle>
          <a:p>
            <a:r>
              <a:t>Titelmasterformat durch Klicken bearbeiten</a:t>
            </a:r>
          </a:p>
        </p:txBody>
      </p:sp>
      <p:sp>
        <p:nvSpPr>
          <p:cNvPr id="3" name="Bildplatzhalter 2">
            <a:extLst>
              <a:ext uri="{FF2B5EF4-FFF2-40B4-BE49-F238E27FC236}">
                <a16:creationId xmlns:a16="http://schemas.microsoft.com/office/drawing/2014/main" id="{D8112F38-0E7C-4D9D-93C2-26A65DC635EF}"/>
              </a:ext>
            </a:extLst>
          </p:cNvPr>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a:p>
        </p:txBody>
      </p:sp>
      <p:sp>
        <p:nvSpPr>
          <p:cNvPr id="4" name="Textplatzhalter 3">
            <a:extLst>
              <a:ext uri="{FF2B5EF4-FFF2-40B4-BE49-F238E27FC236}">
                <a16:creationId xmlns:a16="http://schemas.microsoft.com/office/drawing/2014/main" id="{3CB453E4-51BE-4E13-BCD4-FA22985B28CF}"/>
              </a:ext>
            </a:extLst>
          </p:cNvPr>
          <p:cNvSpPr>
            <a:spLocks noGrp="1"/>
          </p:cNvSpPr>
          <p:nvPr>
            <p:ph type="body"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buNone/>
            </a:pPr>
            <a:r>
              <a:t>Textmasterformat bearbeiten</a:t>
            </a:r>
          </a:p>
        </p:txBody>
      </p:sp>
      <p:sp>
        <p:nvSpPr>
          <p:cNvPr id="5" name="Datumsplatzhalter 4">
            <a:extLst>
              <a:ext uri="{FF2B5EF4-FFF2-40B4-BE49-F238E27FC236}">
                <a16:creationId xmlns:a16="http://schemas.microsoft.com/office/drawing/2014/main" id="{2713AA27-DB99-44AB-B0BD-894EA22534D7}"/>
              </a:ext>
            </a:extLst>
          </p:cNvPr>
          <p:cNvSpPr>
            <a:spLocks noGrp="1"/>
          </p:cNvSpPr>
          <p:nvPr>
            <p:ph type="dt" idx="10"/>
          </p:nvPr>
        </p:nvSpPr>
        <p:spPr/>
        <p:txBody>
          <a:bodyPr/>
          <a:lstStyle/>
          <a:p>
            <a:fld id="{310E40CA-5887-4B04-9981-5E3E0EE4CEE6}" type="datetime1">
              <a:t>17.09.2026</a:t>
            </a:fld>
            <a:endParaRPr/>
          </a:p>
        </p:txBody>
      </p:sp>
      <p:sp>
        <p:nvSpPr>
          <p:cNvPr id="6" name="Fußzeilenplatzhalter 5">
            <a:extLst>
              <a:ext uri="{FF2B5EF4-FFF2-40B4-BE49-F238E27FC236}">
                <a16:creationId xmlns:a16="http://schemas.microsoft.com/office/drawing/2014/main" id="{146C6D9D-C975-4602-89B4-E211853F0C12}"/>
              </a:ext>
            </a:extLst>
          </p:cNvPr>
          <p:cNvSpPr>
            <a:spLocks noGrp="1"/>
          </p:cNvSpPr>
          <p:nvPr>
            <p:ph type="ftr" idx="11"/>
          </p:nvPr>
        </p:nvSpPr>
        <p:spPr/>
        <p:txBody>
          <a:bodyPr/>
          <a:lstStyle/>
          <a:p>
            <a:r>
              <a:t>SPP Initiative – Kognitive Mehrfachanforderungen</a:t>
            </a:r>
          </a:p>
        </p:txBody>
      </p:sp>
      <p:sp>
        <p:nvSpPr>
          <p:cNvPr id="7" name="Foliennummernplatzhalter 6">
            <a:extLst>
              <a:ext uri="{FF2B5EF4-FFF2-40B4-BE49-F238E27FC236}">
                <a16:creationId xmlns:a16="http://schemas.microsoft.com/office/drawing/2014/main" id="{1F8DCE36-D6A4-4ECE-AE3A-273B0C226E7C}"/>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DD05A9-9078-497C-98D1-1F2E12AA8CE1}"/>
              </a:ext>
            </a:extLst>
          </p:cNvPr>
          <p:cNvSpPr>
            <a:spLocks noGrp="1"/>
          </p:cNvSpPr>
          <p:nvPr>
            <p:ph type="title"/>
          </p:nvPr>
        </p:nvSpPr>
        <p:spPr/>
        <p:txBody>
          <a:bodyPr/>
          <a:lstStyle/>
          <a:p>
            <a:r>
              <a:t>Titelmasterformat durch Klicken bearbeiten</a:t>
            </a:r>
          </a:p>
        </p:txBody>
      </p:sp>
      <p:sp>
        <p:nvSpPr>
          <p:cNvPr id="3" name="Vertikaler Textplatzhalter 2">
            <a:extLst>
              <a:ext uri="{FF2B5EF4-FFF2-40B4-BE49-F238E27FC236}">
                <a16:creationId xmlns:a16="http://schemas.microsoft.com/office/drawing/2014/main" id="{804284EF-FBB4-41A6-91E9-7A93FCF52BAD}"/>
              </a:ext>
            </a:extLst>
          </p:cNvPr>
          <p:cNvSpPr>
            <a:spLocks noGrp="1"/>
          </p:cNvSpPr>
          <p:nvPr>
            <p:ph type="body" idx="1"/>
          </p:nvPr>
        </p:nvSpPr>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E6C6ECC1-85D3-4B69-8B8B-B945D02D5E9A}"/>
              </a:ext>
            </a:extLst>
          </p:cNvPr>
          <p:cNvSpPr>
            <a:spLocks noGrp="1"/>
          </p:cNvSpPr>
          <p:nvPr>
            <p:ph type="dt" idx="10"/>
          </p:nvPr>
        </p:nvSpPr>
        <p:spPr/>
        <p:txBody>
          <a:bodyPr/>
          <a:lstStyle/>
          <a:p>
            <a:fld id="{984F1C03-9221-492F-9D3B-13656BBDDDDC}" type="datetime1">
              <a:t>17.09.2026</a:t>
            </a:fld>
            <a:endParaRPr/>
          </a:p>
        </p:txBody>
      </p:sp>
      <p:sp>
        <p:nvSpPr>
          <p:cNvPr id="5" name="Fußzeilenplatzhalter 4">
            <a:extLst>
              <a:ext uri="{FF2B5EF4-FFF2-40B4-BE49-F238E27FC236}">
                <a16:creationId xmlns:a16="http://schemas.microsoft.com/office/drawing/2014/main" id="{754F05A0-5111-474A-891A-48581C68A5B4}"/>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D27E9626-667F-4400-99BC-058667B9482E}"/>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FDB7F3A-C943-437B-BB4A-B1E3FFC53F7D}"/>
              </a:ext>
            </a:extLst>
          </p:cNvPr>
          <p:cNvSpPr>
            <a:spLocks noGrp="1"/>
          </p:cNvSpPr>
          <p:nvPr>
            <p:ph type="title"/>
          </p:nvPr>
        </p:nvSpPr>
        <p:spPr>
          <a:xfrm>
            <a:off x="6629400" y="205979"/>
            <a:ext cx="2057400" cy="4388644"/>
          </a:xfrm>
        </p:spPr>
        <p:txBody>
          <a:bodyPr vert="eaVert"/>
          <a:lstStyle/>
          <a:p>
            <a:r>
              <a:t>Titelmasterformat durch Klicken bearbeiten</a:t>
            </a:r>
          </a:p>
        </p:txBody>
      </p:sp>
      <p:sp>
        <p:nvSpPr>
          <p:cNvPr id="3" name="Vertikaler Textplatzhalter 2">
            <a:extLst>
              <a:ext uri="{FF2B5EF4-FFF2-40B4-BE49-F238E27FC236}">
                <a16:creationId xmlns:a16="http://schemas.microsoft.com/office/drawing/2014/main" id="{D295BEDB-392B-4986-B832-2E040B1335E4}"/>
              </a:ext>
            </a:extLst>
          </p:cNvPr>
          <p:cNvSpPr>
            <a:spLocks noGrp="1"/>
          </p:cNvSpPr>
          <p:nvPr>
            <p:ph type="body" idx="1"/>
          </p:nvPr>
        </p:nvSpPr>
        <p:spPr>
          <a:xfrm>
            <a:off x="457200" y="205979"/>
            <a:ext cx="6019800" cy="4388644"/>
          </a:xfrm>
        </p:spPr>
        <p:txBody>
          <a:bodyPr vert="eaVert"/>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26459150-CB49-45BA-A531-B7E7C0638532}"/>
              </a:ext>
            </a:extLst>
          </p:cNvPr>
          <p:cNvSpPr>
            <a:spLocks noGrp="1"/>
          </p:cNvSpPr>
          <p:nvPr>
            <p:ph type="dt" idx="10"/>
          </p:nvPr>
        </p:nvSpPr>
        <p:spPr/>
        <p:txBody>
          <a:bodyPr/>
          <a:lstStyle/>
          <a:p>
            <a:fld id="{C03166C5-6A3D-4F25-B59A-7D1EDABF349D}" type="datetime1">
              <a:t>17.09.2026</a:t>
            </a:fld>
            <a:endParaRPr/>
          </a:p>
        </p:txBody>
      </p:sp>
      <p:sp>
        <p:nvSpPr>
          <p:cNvPr id="5" name="Fußzeilenplatzhalter 4">
            <a:extLst>
              <a:ext uri="{FF2B5EF4-FFF2-40B4-BE49-F238E27FC236}">
                <a16:creationId xmlns:a16="http://schemas.microsoft.com/office/drawing/2014/main" id="{B51E3B44-68C0-4706-BC0B-8423E01780BD}"/>
              </a:ext>
            </a:extLst>
          </p:cNvPr>
          <p:cNvSpPr>
            <a:spLocks noGrp="1"/>
          </p:cNvSpPr>
          <p:nvPr>
            <p:ph type="ftr" idx="11"/>
          </p:nvPr>
        </p:nvSpPr>
        <p:spPr/>
        <p:txBody>
          <a:bodyPr/>
          <a:lstStyle/>
          <a:p>
            <a:r>
              <a:t>SPP Initiative – Kognitive Mehrfachanforderungen</a:t>
            </a:r>
          </a:p>
        </p:txBody>
      </p:sp>
      <p:sp>
        <p:nvSpPr>
          <p:cNvPr id="6" name="Foliennummernplatzhalter 5">
            <a:extLst>
              <a:ext uri="{FF2B5EF4-FFF2-40B4-BE49-F238E27FC236}">
                <a16:creationId xmlns:a16="http://schemas.microsoft.com/office/drawing/2014/main" id="{18E8E25A-0757-45B4-97B6-09DF8F345E46}"/>
              </a:ext>
            </a:extLst>
          </p:cNvPr>
          <p:cNvSpPr>
            <a:spLocks noGrp="1"/>
          </p:cNvSpPr>
          <p:nvPr>
            <p:ph type="sldNum" idx="12"/>
          </p:nvPr>
        </p:nvSpPr>
        <p:spPr/>
        <p:txBody>
          <a:bodyPr/>
          <a:lstStyle/>
          <a:p>
            <a:fld id="{5CD88B4E-D815-417B-99FD-41D66E5C06D4}" type="slidenum">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562DA7F-7B37-45AC-8D5B-D52FDF860AF4}"/>
              </a:ext>
            </a:extLst>
          </p:cNvPr>
          <p:cNvSpPr>
            <a:spLocks noGrp="1"/>
          </p:cNvSpPr>
          <p:nvPr>
            <p:ph type="title"/>
          </p:nvPr>
        </p:nvSpPr>
        <p:spPr>
          <a:xfrm>
            <a:off x="755577" y="205979"/>
            <a:ext cx="7931223" cy="857250"/>
          </a:xfrm>
          <a:prstGeom prst="rect">
            <a:avLst/>
          </a:prstGeom>
        </p:spPr>
        <p:txBody>
          <a:bodyPr vert="horz" lIns="91440" tIns="45720" rIns="91440" bIns="45720" anchor="ctr">
            <a:normAutofit/>
          </a:bodyPr>
          <a:lstStyle/>
          <a:p>
            <a:r>
              <a:rPr dirty="0" err="1"/>
              <a:t>Titelmasterformat</a:t>
            </a:r>
            <a:r>
              <a:rPr dirty="0"/>
              <a:t> </a:t>
            </a:r>
            <a:r>
              <a:rPr dirty="0" err="1"/>
              <a:t>durch</a:t>
            </a:r>
            <a:r>
              <a:rPr dirty="0"/>
              <a:t> </a:t>
            </a:r>
            <a:r>
              <a:rPr dirty="0" err="1"/>
              <a:t>Klicken</a:t>
            </a:r>
            <a:r>
              <a:rPr dirty="0"/>
              <a:t> </a:t>
            </a:r>
            <a:r>
              <a:rPr dirty="0" err="1"/>
              <a:t>bearbeiten</a:t>
            </a:r>
            <a:endParaRPr dirty="0"/>
          </a:p>
        </p:txBody>
      </p:sp>
      <p:sp>
        <p:nvSpPr>
          <p:cNvPr id="3" name="Textplatzhalter 2">
            <a:extLst>
              <a:ext uri="{FF2B5EF4-FFF2-40B4-BE49-F238E27FC236}">
                <a16:creationId xmlns:a16="http://schemas.microsoft.com/office/drawing/2014/main" id="{CD6A4A0B-2EAD-4B56-8353-55727E004DD3}"/>
              </a:ext>
            </a:extLst>
          </p:cNvPr>
          <p:cNvSpPr>
            <a:spLocks noGrp="1"/>
          </p:cNvSpPr>
          <p:nvPr>
            <p:ph type="body" idx="1"/>
          </p:nvPr>
        </p:nvSpPr>
        <p:spPr>
          <a:xfrm>
            <a:off x="755576" y="1200151"/>
            <a:ext cx="7931224" cy="3394472"/>
          </a:xfrm>
          <a:prstGeom prst="rect">
            <a:avLst/>
          </a:prstGeom>
        </p:spPr>
        <p:txBody>
          <a:bodyPr vert="horz" lIns="91440" tIns="45720" rIns="91440" bIns="45720">
            <a:normAutofit/>
          </a:bodyPr>
          <a:lstStyle/>
          <a:p>
            <a:pPr lvl="0">
              <a:buNone/>
            </a:pPr>
            <a:r>
              <a:t>Textmasterformat bearbeiten</a:t>
            </a:r>
          </a:p>
          <a:p>
            <a:pPr lvl="1">
              <a:buNone/>
            </a:pPr>
            <a:r>
              <a:t>Zweite Ebene</a:t>
            </a:r>
          </a:p>
          <a:p>
            <a:pPr lvl="2">
              <a:buNone/>
            </a:pPr>
            <a:r>
              <a:t>Dritte Ebene</a:t>
            </a:r>
          </a:p>
          <a:p>
            <a:pPr lvl="3">
              <a:buNone/>
            </a:pPr>
            <a:r>
              <a:t>Vierte Ebene</a:t>
            </a:r>
          </a:p>
          <a:p>
            <a:pPr lvl="4">
              <a:buNone/>
            </a:pPr>
            <a:r>
              <a:t>Fünfte Ebene</a:t>
            </a:r>
          </a:p>
        </p:txBody>
      </p:sp>
      <p:sp>
        <p:nvSpPr>
          <p:cNvPr id="4" name="Datumsplatzhalter 3">
            <a:extLst>
              <a:ext uri="{FF2B5EF4-FFF2-40B4-BE49-F238E27FC236}">
                <a16:creationId xmlns:a16="http://schemas.microsoft.com/office/drawing/2014/main" id="{FA1B9373-53D0-4D71-924F-6E81CB085E9C}"/>
              </a:ext>
            </a:extLst>
          </p:cNvPr>
          <p:cNvSpPr>
            <a:spLocks noGrp="1"/>
          </p:cNvSpPr>
          <p:nvPr>
            <p:ph type="dt" idx="2"/>
          </p:nvPr>
        </p:nvSpPr>
        <p:spPr>
          <a:xfrm>
            <a:off x="755576" y="4767263"/>
            <a:ext cx="2133600" cy="273844"/>
          </a:xfrm>
          <a:prstGeom prst="rect">
            <a:avLst/>
          </a:prstGeom>
        </p:spPr>
        <p:txBody>
          <a:bodyPr vert="horz" lIns="91440" tIns="45720" rIns="91440" bIns="45720" anchor="ctr"/>
          <a:lstStyle>
            <a:lvl1pPr algn="l">
              <a:buNone/>
              <a:defRPr sz="900">
                <a:solidFill>
                  <a:schemeClr val="tx1">
                    <a:tint val="75000"/>
                  </a:schemeClr>
                </a:solidFill>
                <a:latin typeface="Arial"/>
                <a:ea typeface="Arial"/>
                <a:cs typeface="Arial"/>
              </a:defRPr>
            </a:lvl1pPr>
          </a:lstStyle>
          <a:p>
            <a:fld id="{1A5F7C02-8BB9-4009-8E62-D4DC00232FF2}" type="datetime1">
              <a:t>17.09.2026</a:t>
            </a:fld>
            <a:endParaRPr/>
          </a:p>
        </p:txBody>
      </p:sp>
      <p:sp>
        <p:nvSpPr>
          <p:cNvPr id="5" name="Fußzeilenplatzhalter 4">
            <a:extLst>
              <a:ext uri="{FF2B5EF4-FFF2-40B4-BE49-F238E27FC236}">
                <a16:creationId xmlns:a16="http://schemas.microsoft.com/office/drawing/2014/main" id="{619F69B2-373B-46FF-B918-0101AFF2B3A7}"/>
              </a:ext>
            </a:extLst>
          </p:cNvPr>
          <p:cNvSpPr>
            <a:spLocks noGrp="1"/>
          </p:cNvSpPr>
          <p:nvPr>
            <p:ph type="ftr" idx="3"/>
          </p:nvPr>
        </p:nvSpPr>
        <p:spPr>
          <a:xfrm>
            <a:off x="3273388" y="4767263"/>
            <a:ext cx="2895600" cy="273844"/>
          </a:xfrm>
          <a:prstGeom prst="rect">
            <a:avLst/>
          </a:prstGeom>
        </p:spPr>
        <p:txBody>
          <a:bodyPr vert="horz" lIns="91440" tIns="45720" rIns="91440" bIns="45720" anchor="ctr"/>
          <a:lstStyle>
            <a:lvl1pPr algn="ctr">
              <a:buNone/>
              <a:defRPr sz="900">
                <a:solidFill>
                  <a:schemeClr val="tx1">
                    <a:tint val="75000"/>
                  </a:schemeClr>
                </a:solidFill>
                <a:latin typeface="Arial"/>
                <a:ea typeface="Arial"/>
                <a:cs typeface="Arial"/>
              </a:defRPr>
            </a:lvl1pPr>
          </a:lstStyle>
          <a:p>
            <a:r>
              <a:t>SPP Initiative – Kognitive Mehrfachanforderungen</a:t>
            </a:r>
          </a:p>
        </p:txBody>
      </p:sp>
      <p:sp>
        <p:nvSpPr>
          <p:cNvPr id="6" name="Foliennummernplatzhalter 5">
            <a:extLst>
              <a:ext uri="{FF2B5EF4-FFF2-40B4-BE49-F238E27FC236}">
                <a16:creationId xmlns:a16="http://schemas.microsoft.com/office/drawing/2014/main" id="{C1A0E01D-2C9B-4046-9075-C22947680F7C}"/>
              </a:ext>
            </a:extLst>
          </p:cNvPr>
          <p:cNvSpPr>
            <a:spLocks noGrp="1"/>
          </p:cNvSpPr>
          <p:nvPr>
            <p:ph type="sldNum" idx="4"/>
          </p:nvPr>
        </p:nvSpPr>
        <p:spPr>
          <a:xfrm>
            <a:off x="6553200" y="4767263"/>
            <a:ext cx="2133600" cy="273844"/>
          </a:xfrm>
          <a:prstGeom prst="rect">
            <a:avLst/>
          </a:prstGeom>
        </p:spPr>
        <p:txBody>
          <a:bodyPr vert="horz" lIns="91440" tIns="45720" rIns="91440" bIns="45720" anchor="ctr"/>
          <a:lstStyle>
            <a:lvl1pPr algn="r">
              <a:buNone/>
              <a:defRPr sz="900">
                <a:solidFill>
                  <a:schemeClr val="tx1">
                    <a:tint val="75000"/>
                  </a:schemeClr>
                </a:solidFill>
                <a:latin typeface="Arial"/>
                <a:ea typeface="Arial"/>
                <a:cs typeface="Arial"/>
              </a:defRPr>
            </a:lvl1pPr>
          </a:lstStyle>
          <a:p>
            <a:fld id="{5CD88B4E-D815-417B-99FD-41D66E5C06D4}" type="slidenum">
              <a:t>‹Nr.›</a:t>
            </a:fld>
            <a:endParaRPr/>
          </a:p>
        </p:txBody>
      </p:sp>
      <p:sp>
        <p:nvSpPr>
          <p:cNvPr id="8" name="Gerader Verbinder 7">
            <a:extLst>
              <a:ext uri="{FF2B5EF4-FFF2-40B4-BE49-F238E27FC236}">
                <a16:creationId xmlns:a16="http://schemas.microsoft.com/office/drawing/2014/main" id="{4124E9D7-1368-4C6A-94E9-DF3FDBE52726}"/>
              </a:ext>
            </a:extLst>
          </p:cNvPr>
          <p:cNvSpPr>
            <a:spLocks noGrp="1"/>
          </p:cNvSpPr>
          <p:nvPr/>
        </p:nvSpPr>
        <p:spPr>
          <a:xfrm>
            <a:off x="-54260" y="4731990"/>
            <a:ext cx="92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sp>
        <p:nvSpPr>
          <p:cNvPr id="9" name="Gerader Verbinder 8">
            <a:extLst>
              <a:ext uri="{FF2B5EF4-FFF2-40B4-BE49-F238E27FC236}">
                <a16:creationId xmlns:a16="http://schemas.microsoft.com/office/drawing/2014/main" id="{27361209-E306-411F-8181-39425E970A31}"/>
              </a:ext>
            </a:extLst>
          </p:cNvPr>
          <p:cNvSpPr>
            <a:spLocks noGrp="1"/>
          </p:cNvSpPr>
          <p:nvPr/>
        </p:nvSpPr>
        <p:spPr>
          <a:xfrm rot="5400000">
            <a:off x="-2286472" y="2591437"/>
            <a:ext cx="5220000" cy="0"/>
          </a:xfrm>
          <a:prstGeom prst="line">
            <a:avLst/>
          </a:prstGeom>
          <a:ln w="28575">
            <a:solidFill>
              <a:srgbClr val="3A77AD"/>
            </a:solidFill>
          </a:ln>
        </p:spPr>
        <p:style>
          <a:lnRef idx="1">
            <a:schemeClr val="accent1"/>
          </a:lnRef>
          <a:fillRef idx="0">
            <a:schemeClr val="accent1"/>
          </a:fillRef>
          <a:effectRef idx="0">
            <a:schemeClr val="accent1"/>
          </a:effectRef>
          <a:fontRef idx="minor">
            <a:schemeClr val="tx1"/>
          </a:fontRef>
        </p:style>
        <p:txBody>
          <a:bodyPr/>
          <a:lstStyle/>
          <a:p>
            <a:endParaRPr lang="de-DE"/>
          </a:p>
        </p:txBody>
      </p:sp>
      <p:pic>
        <p:nvPicPr>
          <p:cNvPr id="18" name="Grafik 1"/>
          <p:cNvPicPr>
            <a:picLocks noChangeAspect="1"/>
          </p:cNvPicPr>
          <p:nvPr/>
        </p:nvPicPr>
        <p:blipFill rotWithShape="1">
          <a:blip r:embed="rId13">
            <a:alphaModFix/>
          </a:blip>
          <a:srcRect t="7963" b="13843"/>
          <a:stretch/>
        </p:blipFill>
        <p:spPr>
          <a:xfrm>
            <a:off x="-569046" y="3907081"/>
            <a:ext cx="1816322" cy="822222"/>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685800">
        <a:spcBef>
          <a:spcPct val="0"/>
        </a:spcBef>
        <a:buNone/>
        <a:defRPr sz="3300" b="1" kern="1200">
          <a:solidFill>
            <a:schemeClr val="tx1"/>
          </a:solidFill>
          <a:latin typeface="Arial"/>
          <a:ea typeface="Arial"/>
          <a:cs typeface="Arial"/>
        </a:defRPr>
      </a:lvl1pPr>
    </p:titleStyle>
    <p:bodyStyle>
      <a:lvl1pPr marL="257175" indent="-257175" algn="l" defTabSz="685800">
        <a:spcBef>
          <a:spcPct val="20000"/>
        </a:spcBef>
        <a:buFont typeface="Arial"/>
        <a:buChar char="•"/>
        <a:defRPr sz="2400" kern="1200">
          <a:solidFill>
            <a:schemeClr val="tx1"/>
          </a:solidFill>
          <a:latin typeface="Arial"/>
          <a:ea typeface="Arial"/>
          <a:cs typeface="Arial"/>
        </a:defRPr>
      </a:lvl1pPr>
      <a:lvl2pPr marL="557213" indent="-214313" algn="l" defTabSz="685800">
        <a:spcBef>
          <a:spcPct val="20000"/>
        </a:spcBef>
        <a:buFont typeface="Arial"/>
        <a:buChar char="–"/>
        <a:defRPr sz="2100" kern="1200">
          <a:solidFill>
            <a:schemeClr val="tx1"/>
          </a:solidFill>
          <a:latin typeface="Arial"/>
          <a:ea typeface="Arial"/>
          <a:cs typeface="Arial"/>
        </a:defRPr>
      </a:lvl2pPr>
      <a:lvl3pPr marL="857250" indent="-171450" algn="l" defTabSz="685800">
        <a:spcBef>
          <a:spcPct val="20000"/>
        </a:spcBef>
        <a:buFont typeface="Arial"/>
        <a:buChar char="•"/>
        <a:defRPr sz="1800" kern="1200">
          <a:solidFill>
            <a:schemeClr val="tx1"/>
          </a:solidFill>
          <a:latin typeface="Arial"/>
          <a:ea typeface="Arial"/>
          <a:cs typeface="Arial"/>
        </a:defRPr>
      </a:lvl3pPr>
      <a:lvl4pPr marL="1200150" indent="-171450" algn="l" defTabSz="685800">
        <a:spcBef>
          <a:spcPct val="20000"/>
        </a:spcBef>
        <a:buFont typeface="Arial"/>
        <a:buChar char="–"/>
        <a:defRPr sz="1500" kern="1200">
          <a:solidFill>
            <a:schemeClr val="tx1"/>
          </a:solidFill>
          <a:latin typeface="Arial"/>
          <a:ea typeface="Arial"/>
          <a:cs typeface="Arial"/>
        </a:defRPr>
      </a:lvl4pPr>
      <a:lvl5pPr marL="1543050" indent="-171450" algn="l" defTabSz="685800">
        <a:spcBef>
          <a:spcPct val="20000"/>
        </a:spcBef>
        <a:buFont typeface="Arial"/>
        <a:buChar char="»"/>
        <a:defRPr sz="1500" kern="1200">
          <a:solidFill>
            <a:schemeClr val="tx1"/>
          </a:solidFill>
          <a:latin typeface="Arial"/>
          <a:ea typeface="Arial"/>
          <a:cs typeface="Arial"/>
        </a:defRPr>
      </a:lvl5pPr>
      <a:lvl6pPr marL="1885950" indent="-171450" algn="l" defTabSz="685800">
        <a:spcBef>
          <a:spcPct val="20000"/>
        </a:spcBef>
        <a:buFont typeface="Arial"/>
        <a:buChar char="•"/>
        <a:defRPr sz="1500" kern="1200">
          <a:solidFill>
            <a:schemeClr val="tx1"/>
          </a:solidFill>
          <a:latin typeface="+mn-lt"/>
          <a:ea typeface="+mn-lt"/>
          <a:cs typeface="+mn-lt"/>
        </a:defRPr>
      </a:lvl6pPr>
      <a:lvl7pPr marL="2228850" indent="-171450" algn="l" defTabSz="685800">
        <a:spcBef>
          <a:spcPct val="20000"/>
        </a:spcBef>
        <a:buFont typeface="Arial"/>
        <a:buChar char="•"/>
        <a:defRPr sz="1500" kern="1200">
          <a:solidFill>
            <a:schemeClr val="tx1"/>
          </a:solidFill>
          <a:latin typeface="+mn-lt"/>
          <a:ea typeface="+mn-lt"/>
          <a:cs typeface="+mn-lt"/>
        </a:defRPr>
      </a:lvl7pPr>
      <a:lvl8pPr marL="2571750" indent="-171450" algn="l" defTabSz="685800">
        <a:spcBef>
          <a:spcPct val="20000"/>
        </a:spcBef>
        <a:buFont typeface="Arial"/>
        <a:buChar char="•"/>
        <a:defRPr sz="1500" kern="1200">
          <a:solidFill>
            <a:schemeClr val="tx1"/>
          </a:solidFill>
          <a:latin typeface="+mn-lt"/>
          <a:ea typeface="+mn-lt"/>
          <a:cs typeface="+mn-lt"/>
        </a:defRPr>
      </a:lvl8pPr>
      <a:lvl9pPr marL="2914650" indent="-171450" algn="l" defTabSz="685800">
        <a:spcBef>
          <a:spcPct val="20000"/>
        </a:spcBef>
        <a:buFont typeface="Arial"/>
        <a:buChar char="•"/>
        <a:defRPr sz="150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microsoft.com/office/2007/relationships/hdphoto" Target="../media/hdphoto1.wdp"/><Relationship Id="rId9" Type="http://schemas.microsoft.com/office/2007/relationships/hdphoto" Target="../media/hdphoto2.wdp"/></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osf.io/6vspq/"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dirk-ostwald/Optimal-dual-task-performance" TargetMode="External"/><Relationship Id="rId2" Type="http://schemas.openxmlformats.org/officeDocument/2006/relationships/hyperlink" Target="https://osf.io/x6n58/overview" TargetMode="Externa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hyperlink" Target="https://arxiv.org/abs/2604.27894" TargetMode="External"/><Relationship Id="rId4" Type="http://schemas.openxmlformats.org/officeDocument/2006/relationships/hyperlink" Target="https://github.com/dirk-ostwald/Optimal-dual-task-performance/blob/main/report/Ostwald-et-al.pdf"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00.png"/><Relationship Id="rId3" Type="http://schemas.openxmlformats.org/officeDocument/2006/relationships/image" Target="../media/image14.png"/><Relationship Id="rId7" Type="http://schemas.openxmlformats.org/officeDocument/2006/relationships/image" Target="../media/image19.png"/><Relationship Id="rId12" Type="http://schemas.openxmlformats.org/officeDocument/2006/relationships/image" Target="../media/image90.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20.png"/><Relationship Id="rId7" Type="http://schemas.openxmlformats.org/officeDocument/2006/relationships/image" Target="../media/image31.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5.png"/><Relationship Id="rId4" Type="http://schemas.openxmlformats.org/officeDocument/2006/relationships/image" Target="../media/image130.png"/><Relationship Id="rId9"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svg"/><Relationship Id="rId7"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svg"/><Relationship Id="rId9"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2EF3CB9C-6B45-4917-A4DA-21FA35453BEF}"/>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8334" t="10835" r="26100" b="13312"/>
          <a:stretch/>
        </p:blipFill>
        <p:spPr>
          <a:xfrm rot="5400000">
            <a:off x="689616" y="2291157"/>
            <a:ext cx="790783" cy="809624"/>
          </a:xfrm>
          <a:prstGeom prst="rect">
            <a:avLst/>
          </a:prstGeom>
          <a:ln>
            <a:noFill/>
          </a:ln>
          <a:effectLst>
            <a:outerShdw blurRad="292100" dist="139700" dir="2700000" algn="tl" rotWithShape="0">
              <a:srgbClr val="333333">
                <a:alpha val="65000"/>
              </a:srgbClr>
            </a:outerShdw>
          </a:effectLst>
        </p:spPr>
      </p:pic>
      <p:pic>
        <p:nvPicPr>
          <p:cNvPr id="32" name="Grafik 11"/>
          <p:cNvPicPr>
            <a:picLocks noChangeAspect="1"/>
          </p:cNvPicPr>
          <p:nvPr/>
        </p:nvPicPr>
        <p:blipFill>
          <a:blip r:embed="rId5">
            <a:grayscl/>
          </a:blip>
          <a:stretch>
            <a:fillRect/>
          </a:stretch>
        </p:blipFill>
        <p:spPr>
          <a:xfrm flipH="1">
            <a:off x="6229934" y="2291157"/>
            <a:ext cx="809625" cy="809625"/>
          </a:xfrm>
          <a:prstGeom prst="rect">
            <a:avLst/>
          </a:prstGeom>
          <a:ln>
            <a:noFill/>
          </a:ln>
          <a:effectLst>
            <a:outerShdw blurRad="292100" dist="139700" dir="2700000" algn="tl" rotWithShape="0">
              <a:srgbClr val="333333">
                <a:alpha val="65000"/>
              </a:srgbClr>
            </a:outerShdw>
          </a:effectLst>
        </p:spPr>
      </p:pic>
      <p:pic>
        <p:nvPicPr>
          <p:cNvPr id="33" name="Grafik 9"/>
          <p:cNvPicPr>
            <a:picLocks noChangeAspect="1"/>
          </p:cNvPicPr>
          <p:nvPr/>
        </p:nvPicPr>
        <p:blipFill>
          <a:blip r:embed="rId6">
            <a:grayscl/>
          </a:blip>
          <a:stretch>
            <a:fillRect/>
          </a:stretch>
        </p:blipFill>
        <p:spPr>
          <a:xfrm>
            <a:off x="2072047" y="2291157"/>
            <a:ext cx="809625" cy="809625"/>
          </a:xfrm>
          <a:prstGeom prst="rect">
            <a:avLst/>
          </a:prstGeom>
          <a:ln>
            <a:noFill/>
          </a:ln>
          <a:effectLst>
            <a:outerShdw blurRad="292100" dist="139700" dir="2700000" algn="tl" rotWithShape="0">
              <a:srgbClr val="333333">
                <a:alpha val="65000"/>
              </a:srgbClr>
            </a:outerShdw>
          </a:effectLst>
        </p:spPr>
      </p:pic>
      <p:pic>
        <p:nvPicPr>
          <p:cNvPr id="34" name="Grafik 13"/>
          <p:cNvPicPr>
            <a:picLocks noChangeAspect="1"/>
          </p:cNvPicPr>
          <p:nvPr/>
        </p:nvPicPr>
        <p:blipFill rotWithShape="1">
          <a:blip r:embed="rId7">
            <a:grayscl/>
          </a:blip>
          <a:srcRect r="5593" b="25169"/>
          <a:stretch/>
        </p:blipFill>
        <p:spPr>
          <a:xfrm>
            <a:off x="4838083" y="2291157"/>
            <a:ext cx="809625" cy="809625"/>
          </a:xfrm>
          <a:prstGeom prst="rect">
            <a:avLst/>
          </a:prstGeom>
          <a:ln>
            <a:noFill/>
          </a:ln>
          <a:effectLst>
            <a:outerShdw blurRad="292100" dist="139700" dir="2700000" algn="tl" rotWithShape="0">
              <a:srgbClr val="333333">
                <a:alpha val="65000"/>
              </a:srgbClr>
            </a:outerShdw>
          </a:effectLst>
        </p:spPr>
      </p:pic>
      <p:sp>
        <p:nvSpPr>
          <p:cNvPr id="24" name="Rechteck 23">
            <a:extLst>
              <a:ext uri="{FF2B5EF4-FFF2-40B4-BE49-F238E27FC236}">
                <a16:creationId xmlns:a16="http://schemas.microsoft.com/office/drawing/2014/main" id="{03455CD6-646D-4694-AB97-4BDBA83F6458}"/>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sz="2800" b="0" dirty="0">
                <a:solidFill>
                  <a:srgbClr val="111111"/>
                </a:solidFill>
                <a:latin typeface="Arial"/>
                <a:ea typeface="Arial"/>
                <a:cs typeface="Arial"/>
              </a:rPr>
              <a:t>Project 3</a:t>
            </a:r>
          </a:p>
        </p:txBody>
      </p:sp>
      <p:sp>
        <p:nvSpPr>
          <p:cNvPr id="25" name="Rechteck 24">
            <a:extLst>
              <a:ext uri="{FF2B5EF4-FFF2-40B4-BE49-F238E27FC236}">
                <a16:creationId xmlns:a16="http://schemas.microsoft.com/office/drawing/2014/main" id="{E897CB27-ED0B-4784-82DC-2A8331A0435F}"/>
              </a:ext>
            </a:extLst>
          </p:cNvPr>
          <p:cNvSpPr>
            <a:spLocks noGrp="1"/>
          </p:cNvSpPr>
          <p:nvPr/>
        </p:nvSpPr>
        <p:spPr>
          <a:xfrm>
            <a:off x="762000" y="1057275"/>
            <a:ext cx="7924800" cy="771525"/>
          </a:xfrm>
          <a:prstGeom prst="rect">
            <a:avLst/>
          </a:prstGeom>
          <a:noFill/>
          <a:ln w="0">
            <a:noFill/>
          </a:ln>
        </p:spPr>
        <p:txBody>
          <a:bodyPr lIns="0" tIns="0" rIns="0" bIns="0" anchor="t">
            <a:noAutofit/>
          </a:bodyPr>
          <a:lstStyle/>
          <a:p>
            <a:pPr algn="l">
              <a:defRPr sz="2325" b="0">
                <a:solidFill>
                  <a:srgbClr val="111111"/>
                </a:solidFill>
                <a:latin typeface="Arial"/>
                <a:ea typeface="Arial"/>
                <a:cs typeface="Arial"/>
              </a:defRPr>
            </a:pPr>
            <a:r>
              <a:rPr sz="2325" b="0" dirty="0">
                <a:solidFill>
                  <a:srgbClr val="111111"/>
                </a:solidFill>
                <a:latin typeface="Arial"/>
                <a:ea typeface="Arial"/>
                <a:cs typeface="Arial"/>
              </a:rPr>
              <a:t>Individual determinants of response strategy</a:t>
            </a:r>
          </a:p>
          <a:p>
            <a:pPr algn="l">
              <a:defRPr sz="2325" b="0">
                <a:solidFill>
                  <a:srgbClr val="111111"/>
                </a:solidFill>
                <a:latin typeface="Arial"/>
                <a:ea typeface="Arial"/>
                <a:cs typeface="Arial"/>
              </a:defRPr>
            </a:pPr>
            <a:r>
              <a:rPr sz="2325" b="0" dirty="0">
                <a:solidFill>
                  <a:srgbClr val="111111"/>
                </a:solidFill>
                <a:latin typeface="Arial"/>
                <a:ea typeface="Arial"/>
                <a:cs typeface="Arial"/>
              </a:rPr>
              <a:t>formation in voluntary task switching</a:t>
            </a:r>
          </a:p>
        </p:txBody>
      </p:sp>
      <p:sp>
        <p:nvSpPr>
          <p:cNvPr id="26" name="Rechteck 25">
            <a:extLst>
              <a:ext uri="{FF2B5EF4-FFF2-40B4-BE49-F238E27FC236}">
                <a16:creationId xmlns:a16="http://schemas.microsoft.com/office/drawing/2014/main" id="{543A130D-7623-4B53-8681-2E1A4BC4BD1E}"/>
              </a:ext>
            </a:extLst>
          </p:cNvPr>
          <p:cNvSpPr>
            <a:spLocks noGrp="1"/>
          </p:cNvSpPr>
          <p:nvPr/>
        </p:nvSpPr>
        <p:spPr>
          <a:xfrm>
            <a:off x="1811959" y="3203625"/>
            <a:ext cx="1351293"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Jovita Brüning</a:t>
            </a:r>
          </a:p>
        </p:txBody>
      </p:sp>
      <p:sp>
        <p:nvSpPr>
          <p:cNvPr id="27" name="Rechteck 26">
            <a:extLst>
              <a:ext uri="{FF2B5EF4-FFF2-40B4-BE49-F238E27FC236}">
                <a16:creationId xmlns:a16="http://schemas.microsoft.com/office/drawing/2014/main" id="{D1A8A4B2-7080-47DA-B5AB-BED4121E2193}"/>
              </a:ext>
            </a:extLst>
          </p:cNvPr>
          <p:cNvSpPr>
            <a:spLocks noGrp="1"/>
          </p:cNvSpPr>
          <p:nvPr/>
        </p:nvSpPr>
        <p:spPr>
          <a:xfrm>
            <a:off x="4660409"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Dirk Ostwald</a:t>
            </a:r>
          </a:p>
        </p:txBody>
      </p:sp>
      <p:sp>
        <p:nvSpPr>
          <p:cNvPr id="28" name="Rechteck 27">
            <a:extLst>
              <a:ext uri="{FF2B5EF4-FFF2-40B4-BE49-F238E27FC236}">
                <a16:creationId xmlns:a16="http://schemas.microsoft.com/office/drawing/2014/main" id="{155CD67F-90CA-4ACA-979C-CAC109338799}"/>
              </a:ext>
            </a:extLst>
          </p:cNvPr>
          <p:cNvSpPr>
            <a:spLocks noGrp="1"/>
          </p:cNvSpPr>
          <p:nvPr/>
        </p:nvSpPr>
        <p:spPr>
          <a:xfrm>
            <a:off x="5831907" y="3203625"/>
            <a:ext cx="168880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sz="1275" b="0" dirty="0">
                <a:solidFill>
                  <a:srgbClr val="111111"/>
                </a:solidFill>
                <a:latin typeface="Arial"/>
                <a:ea typeface="Arial"/>
                <a:cs typeface="Arial"/>
              </a:rPr>
              <a:t>Markus </a:t>
            </a:r>
            <a:r>
              <a:rPr sz="1275" b="0" dirty="0" err="1">
                <a:solidFill>
                  <a:srgbClr val="111111"/>
                </a:solidFill>
                <a:latin typeface="Arial"/>
                <a:ea typeface="Arial"/>
                <a:cs typeface="Arial"/>
              </a:rPr>
              <a:t>Ullsperger</a:t>
            </a:r>
            <a:endParaRPr sz="1275" b="0" dirty="0">
              <a:solidFill>
                <a:srgbClr val="111111"/>
              </a:solidFill>
              <a:latin typeface="Arial"/>
              <a:ea typeface="Arial"/>
              <a:cs typeface="Arial"/>
            </a:endParaRPr>
          </a:p>
        </p:txBody>
      </p:sp>
      <p:sp>
        <p:nvSpPr>
          <p:cNvPr id="30" name="Rechteck 29">
            <a:extLst>
              <a:ext uri="{FF2B5EF4-FFF2-40B4-BE49-F238E27FC236}">
                <a16:creationId xmlns:a16="http://schemas.microsoft.com/office/drawing/2014/main" id="{B11609E7-B87F-42D7-A188-39200EE97C30}"/>
              </a:ext>
            </a:extLst>
          </p:cNvPr>
          <p:cNvSpPr>
            <a:spLocks noGrp="1"/>
          </p:cNvSpPr>
          <p:nvPr/>
        </p:nvSpPr>
        <p:spPr>
          <a:xfrm>
            <a:off x="762000" y="3943350"/>
            <a:ext cx="7924800" cy="647700"/>
          </a:xfrm>
          <a:prstGeom prst="rect">
            <a:avLst/>
          </a:prstGeom>
          <a:noFill/>
          <a:ln w="0">
            <a:noFill/>
          </a:ln>
        </p:spPr>
        <p:txBody>
          <a:bodyPr lIns="0" tIns="0" rIns="0" bIns="0" anchor="t">
            <a:noAutofit/>
          </a:bodyPr>
          <a:lstStyle/>
          <a:p>
            <a:pPr algn="l">
              <a:defRPr sz="2175" b="1">
                <a:solidFill>
                  <a:srgbClr val="AD8600"/>
                </a:solidFill>
                <a:latin typeface="Arial"/>
                <a:ea typeface="Arial"/>
                <a:cs typeface="Arial"/>
              </a:defRPr>
            </a:pPr>
            <a:r>
              <a:rPr sz="2175" b="1">
                <a:solidFill>
                  <a:srgbClr val="AD8600"/>
                </a:solidFill>
                <a:latin typeface="Arial"/>
                <a:ea typeface="Arial"/>
                <a:cs typeface="Arial"/>
              </a:rPr>
              <a:t>What determines which strategy a person uses</a:t>
            </a:r>
          </a:p>
          <a:p>
            <a:pPr algn="l">
              <a:defRPr sz="2175" b="1">
                <a:solidFill>
                  <a:srgbClr val="AD8600"/>
                </a:solidFill>
                <a:latin typeface="Arial"/>
                <a:ea typeface="Arial"/>
                <a:cs typeface="Arial"/>
              </a:defRPr>
            </a:pPr>
            <a:r>
              <a:rPr sz="2175" b="1">
                <a:solidFill>
                  <a:srgbClr val="AD8600"/>
                </a:solidFill>
                <a:latin typeface="Arial"/>
                <a:ea typeface="Arial"/>
                <a:cs typeface="Arial"/>
              </a:rPr>
              <a:t>when they can freely choose between tasks?</a:t>
            </a:r>
          </a:p>
        </p:txBody>
      </p:sp>
      <p:sp>
        <p:nvSpPr>
          <p:cNvPr id="31" name="Rechteck 30">
            <a:extLst>
              <a:ext uri="{FF2B5EF4-FFF2-40B4-BE49-F238E27FC236}">
                <a16:creationId xmlns:a16="http://schemas.microsoft.com/office/drawing/2014/main" id="{FDA0ACD5-E0AB-44B3-9909-C9B09434FDFE}"/>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1</a:t>
            </a:r>
          </a:p>
        </p:txBody>
      </p:sp>
      <p:sp>
        <p:nvSpPr>
          <p:cNvPr id="17" name="Rechteck 16">
            <a:extLst>
              <a:ext uri="{FF2B5EF4-FFF2-40B4-BE49-F238E27FC236}">
                <a16:creationId xmlns:a16="http://schemas.microsoft.com/office/drawing/2014/main" id="{F3C84E71-DF16-44E3-8D8D-99894BB2902A}"/>
              </a:ext>
            </a:extLst>
          </p:cNvPr>
          <p:cNvSpPr>
            <a:spLocks noGrp="1"/>
          </p:cNvSpPr>
          <p:nvPr/>
        </p:nvSpPr>
        <p:spPr>
          <a:xfrm>
            <a:off x="3306127"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lang="en-US" sz="1275" b="0" dirty="0">
                <a:solidFill>
                  <a:srgbClr val="111111"/>
                </a:solidFill>
                <a:latin typeface="Arial"/>
                <a:ea typeface="Arial"/>
                <a:cs typeface="Arial"/>
              </a:rPr>
              <a:t>Domenic Groh</a:t>
            </a:r>
            <a:endParaRPr sz="1275" b="0" dirty="0">
              <a:solidFill>
                <a:srgbClr val="111111"/>
              </a:solidFill>
              <a:latin typeface="Arial"/>
              <a:ea typeface="Arial"/>
              <a:cs typeface="Arial"/>
            </a:endParaRPr>
          </a:p>
        </p:txBody>
      </p:sp>
      <p:sp>
        <p:nvSpPr>
          <p:cNvPr id="18" name="Rechteck 17">
            <a:extLst>
              <a:ext uri="{FF2B5EF4-FFF2-40B4-BE49-F238E27FC236}">
                <a16:creationId xmlns:a16="http://schemas.microsoft.com/office/drawing/2014/main" id="{4C9337A1-EC53-4C4D-9249-51CC0A3AA99D}"/>
              </a:ext>
            </a:extLst>
          </p:cNvPr>
          <p:cNvSpPr>
            <a:spLocks noGrp="1"/>
          </p:cNvSpPr>
          <p:nvPr/>
        </p:nvSpPr>
        <p:spPr>
          <a:xfrm>
            <a:off x="471901" y="3203625"/>
            <a:ext cx="1190625" cy="419100"/>
          </a:xfrm>
          <a:prstGeom prst="rect">
            <a:avLst/>
          </a:prstGeom>
          <a:noFill/>
          <a:ln w="0">
            <a:noFill/>
          </a:ln>
        </p:spPr>
        <p:txBody>
          <a:bodyPr lIns="0" tIns="0" rIns="0" bIns="0" anchor="t">
            <a:noAutofit/>
          </a:bodyPr>
          <a:lstStyle/>
          <a:p>
            <a:pPr algn="ctr">
              <a:defRPr sz="1275" b="0">
                <a:solidFill>
                  <a:srgbClr val="111111"/>
                </a:solidFill>
                <a:latin typeface="Arial"/>
                <a:ea typeface="Arial"/>
                <a:cs typeface="Arial"/>
              </a:defRPr>
            </a:pPr>
            <a:r>
              <a:rPr lang="en-US" sz="1275" b="0" dirty="0" err="1">
                <a:solidFill>
                  <a:srgbClr val="111111"/>
                </a:solidFill>
                <a:latin typeface="Arial"/>
                <a:ea typeface="Arial"/>
                <a:cs typeface="Arial"/>
              </a:rPr>
              <a:t>Doruntinë</a:t>
            </a:r>
            <a:r>
              <a:rPr lang="en-US" sz="1275" b="0" dirty="0">
                <a:solidFill>
                  <a:srgbClr val="111111"/>
                </a:solidFill>
                <a:latin typeface="Arial"/>
                <a:ea typeface="Arial"/>
                <a:cs typeface="Arial"/>
              </a:rPr>
              <a:t> </a:t>
            </a:r>
            <a:r>
              <a:rPr lang="en-US" sz="1275" b="0" dirty="0" err="1">
                <a:solidFill>
                  <a:srgbClr val="111111"/>
                </a:solidFill>
                <a:latin typeface="Arial"/>
                <a:ea typeface="Arial"/>
                <a:cs typeface="Arial"/>
              </a:rPr>
              <a:t>Zogaj</a:t>
            </a:r>
            <a:endParaRPr sz="1275" b="0" dirty="0">
              <a:solidFill>
                <a:srgbClr val="111111"/>
              </a:solidFill>
              <a:latin typeface="Arial"/>
              <a:ea typeface="Arial"/>
              <a:cs typeface="Arial"/>
            </a:endParaRPr>
          </a:p>
        </p:txBody>
      </p:sp>
      <p:pic>
        <p:nvPicPr>
          <p:cNvPr id="3" name="Grafik 2">
            <a:extLst>
              <a:ext uri="{FF2B5EF4-FFF2-40B4-BE49-F238E27FC236}">
                <a16:creationId xmlns:a16="http://schemas.microsoft.com/office/drawing/2014/main" id="{D981BB5F-E9C6-6CD9-0EDD-427EEA0E1688}"/>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3463899" y="2299991"/>
            <a:ext cx="791957" cy="7919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83248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hteck 187">
            <a:extLst>
              <a:ext uri="{FF2B5EF4-FFF2-40B4-BE49-F238E27FC236}">
                <a16:creationId xmlns:a16="http://schemas.microsoft.com/office/drawing/2014/main" id="{23FAB778-4A88-4E6C-BBC3-07B8A35E8C6E}"/>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lang="en-US" sz="2800" b="0" dirty="0">
                <a:latin typeface="Arial"/>
                <a:cs typeface="Arial"/>
              </a:rPr>
              <a:t>Empirical Background</a:t>
            </a:r>
            <a:endParaRPr lang="en-US" sz="2625" b="0" dirty="0">
              <a:solidFill>
                <a:srgbClr val="111111"/>
              </a:solidFill>
              <a:latin typeface="Arial"/>
              <a:ea typeface="Arial"/>
              <a:cs typeface="Arial"/>
            </a:endParaRPr>
          </a:p>
        </p:txBody>
      </p:sp>
      <p:sp>
        <p:nvSpPr>
          <p:cNvPr id="190" name="Rechteck 189">
            <a:extLst>
              <a:ext uri="{FF2B5EF4-FFF2-40B4-BE49-F238E27FC236}">
                <a16:creationId xmlns:a16="http://schemas.microsoft.com/office/drawing/2014/main" id="{CD8C5093-2A1E-48FB-BF3A-78BCD8737867}"/>
              </a:ext>
            </a:extLst>
          </p:cNvPr>
          <p:cNvSpPr>
            <a:spLocks noGrp="1"/>
          </p:cNvSpPr>
          <p:nvPr/>
        </p:nvSpPr>
        <p:spPr>
          <a:xfrm>
            <a:off x="5257800" y="1433512"/>
            <a:ext cx="3429000" cy="352425"/>
          </a:xfrm>
          <a:prstGeom prst="rect">
            <a:avLst/>
          </a:prstGeom>
          <a:noFill/>
          <a:ln w="0">
            <a:noFill/>
          </a:ln>
        </p:spPr>
        <p:txBody>
          <a:bodyPr lIns="0" tIns="0" rIns="0" bIns="0" anchor="t">
            <a:noAutofit/>
          </a:bodyPr>
          <a:lstStyle/>
          <a:p>
            <a:pPr>
              <a:defRPr sz="1800" b="0">
                <a:solidFill>
                  <a:srgbClr val="111111"/>
                </a:solidFill>
                <a:latin typeface="Arial"/>
                <a:ea typeface="Arial"/>
                <a:cs typeface="Arial"/>
              </a:defRPr>
            </a:pPr>
            <a:r>
              <a:rPr sz="1600" dirty="0">
                <a:solidFill>
                  <a:srgbClr val="111111"/>
                </a:solidFill>
                <a:latin typeface="Arial"/>
                <a:cs typeface="Arial"/>
              </a:rPr>
              <a:t>Two tasks stay visible</a:t>
            </a:r>
          </a:p>
        </p:txBody>
      </p:sp>
      <p:sp>
        <p:nvSpPr>
          <p:cNvPr id="191" name="Rechteck 190">
            <a:extLst>
              <a:ext uri="{FF2B5EF4-FFF2-40B4-BE49-F238E27FC236}">
                <a16:creationId xmlns:a16="http://schemas.microsoft.com/office/drawing/2014/main" id="{0F9FF577-614B-40B0-B8F7-F4F9ABFF1395}"/>
              </a:ext>
            </a:extLst>
          </p:cNvPr>
          <p:cNvSpPr>
            <a:spLocks noGrp="1"/>
          </p:cNvSpPr>
          <p:nvPr/>
        </p:nvSpPr>
        <p:spPr>
          <a:xfrm>
            <a:off x="5257800" y="1890712"/>
            <a:ext cx="3429000" cy="838200"/>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600" b="0" dirty="0">
                <a:solidFill>
                  <a:srgbClr val="111111"/>
                </a:solidFill>
                <a:latin typeface="Arial"/>
                <a:ea typeface="Arial"/>
                <a:cs typeface="Arial"/>
              </a:rPr>
              <a:t>Choose freely when to switch.</a:t>
            </a:r>
          </a:p>
          <a:p>
            <a:pPr algn="l">
              <a:defRPr sz="1800" b="0">
                <a:solidFill>
                  <a:srgbClr val="111111"/>
                </a:solidFill>
                <a:latin typeface="Arial"/>
                <a:ea typeface="Arial"/>
                <a:cs typeface="Arial"/>
              </a:defRPr>
            </a:pPr>
            <a:r>
              <a:rPr sz="1600" b="0" dirty="0">
                <a:solidFill>
                  <a:srgbClr val="111111"/>
                </a:solidFill>
                <a:latin typeface="Arial"/>
                <a:ea typeface="Arial"/>
                <a:cs typeface="Arial"/>
              </a:rPr>
              <a:t>A response selects and</a:t>
            </a:r>
            <a:r>
              <a:rPr lang="de-DE" sz="1600" b="0" dirty="0">
                <a:solidFill>
                  <a:srgbClr val="111111"/>
                </a:solidFill>
                <a:latin typeface="Arial"/>
                <a:ea typeface="Arial"/>
                <a:cs typeface="Arial"/>
              </a:rPr>
              <a:t> </a:t>
            </a:r>
            <a:r>
              <a:rPr sz="1600" b="0" dirty="0">
                <a:solidFill>
                  <a:srgbClr val="111111"/>
                </a:solidFill>
                <a:latin typeface="Arial"/>
                <a:ea typeface="Arial"/>
                <a:cs typeface="Arial"/>
              </a:rPr>
              <a:t>performs a task</a:t>
            </a:r>
          </a:p>
        </p:txBody>
      </p:sp>
      <p:sp>
        <p:nvSpPr>
          <p:cNvPr id="192" name="Rechteck 191">
            <a:extLst>
              <a:ext uri="{FF2B5EF4-FFF2-40B4-BE49-F238E27FC236}">
                <a16:creationId xmlns:a16="http://schemas.microsoft.com/office/drawing/2014/main" id="{135A8B45-71C5-4171-A4F2-63815B0E475B}"/>
              </a:ext>
            </a:extLst>
          </p:cNvPr>
          <p:cNvSpPr>
            <a:spLocks noGrp="1"/>
          </p:cNvSpPr>
          <p:nvPr/>
        </p:nvSpPr>
        <p:spPr>
          <a:xfrm>
            <a:off x="5257800" y="2881312"/>
            <a:ext cx="3429000" cy="590550"/>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600" b="0" dirty="0">
                <a:solidFill>
                  <a:srgbClr val="111111"/>
                </a:solidFill>
                <a:latin typeface="Arial"/>
                <a:ea typeface="Arial"/>
                <a:cs typeface="Arial"/>
              </a:rPr>
              <a:t>Only the chosen task’s</a:t>
            </a:r>
          </a:p>
          <a:p>
            <a:pPr algn="l">
              <a:defRPr sz="1800" b="0">
                <a:solidFill>
                  <a:srgbClr val="111111"/>
                </a:solidFill>
                <a:latin typeface="Arial"/>
                <a:ea typeface="Arial"/>
                <a:cs typeface="Arial"/>
              </a:defRPr>
            </a:pPr>
            <a:r>
              <a:rPr sz="1600" b="0" dirty="0">
                <a:solidFill>
                  <a:srgbClr val="111111"/>
                </a:solidFill>
                <a:latin typeface="Arial"/>
                <a:ea typeface="Arial"/>
                <a:cs typeface="Arial"/>
              </a:rPr>
              <a:t>stimulus changes</a:t>
            </a:r>
          </a:p>
        </p:txBody>
      </p:sp>
      <p:sp>
        <p:nvSpPr>
          <p:cNvPr id="193" name="Rechteck 192">
            <a:extLst>
              <a:ext uri="{FF2B5EF4-FFF2-40B4-BE49-F238E27FC236}">
                <a16:creationId xmlns:a16="http://schemas.microsoft.com/office/drawing/2014/main" id="{53C39898-3DD0-435E-A005-DDC1E69784CD}"/>
              </a:ext>
            </a:extLst>
          </p:cNvPr>
          <p:cNvSpPr>
            <a:spLocks noGrp="1"/>
          </p:cNvSpPr>
          <p:nvPr/>
        </p:nvSpPr>
        <p:spPr>
          <a:xfrm>
            <a:off x="5257800" y="3633787"/>
            <a:ext cx="3429000" cy="685800"/>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600" b="0" dirty="0">
                <a:solidFill>
                  <a:srgbClr val="111111"/>
                </a:solidFill>
                <a:latin typeface="Arial"/>
                <a:ea typeface="Arial"/>
                <a:cs typeface="Arial"/>
              </a:rPr>
              <a:t>The other stimulus remains</a:t>
            </a:r>
          </a:p>
          <a:p>
            <a:pPr algn="l">
              <a:defRPr sz="1800" b="0">
                <a:solidFill>
                  <a:srgbClr val="111111"/>
                </a:solidFill>
                <a:latin typeface="Arial"/>
                <a:ea typeface="Arial"/>
                <a:cs typeface="Arial"/>
              </a:defRPr>
            </a:pPr>
            <a:r>
              <a:rPr sz="1600" b="0" dirty="0">
                <a:solidFill>
                  <a:srgbClr val="111111"/>
                </a:solidFill>
                <a:latin typeface="Arial"/>
                <a:ea typeface="Arial"/>
                <a:cs typeface="Arial"/>
              </a:rPr>
              <a:t>available for advance processing</a:t>
            </a:r>
          </a:p>
        </p:txBody>
      </p:sp>
      <p:sp>
        <p:nvSpPr>
          <p:cNvPr id="194" name="Rechteck 193">
            <a:extLst>
              <a:ext uri="{FF2B5EF4-FFF2-40B4-BE49-F238E27FC236}">
                <a16:creationId xmlns:a16="http://schemas.microsoft.com/office/drawing/2014/main" id="{50E58AA2-21F9-4135-B04E-51C1FC703EEC}"/>
              </a:ext>
            </a:extLst>
          </p:cNvPr>
          <p:cNvSpPr>
            <a:spLocks noGrp="1"/>
          </p:cNvSpPr>
          <p:nvPr/>
        </p:nvSpPr>
        <p:spPr>
          <a:xfrm>
            <a:off x="770456" y="4324350"/>
            <a:ext cx="7877175" cy="285750"/>
          </a:xfrm>
          <a:prstGeom prst="rect">
            <a:avLst/>
          </a:prstGeom>
          <a:noFill/>
          <a:ln w="0">
            <a:noFill/>
          </a:ln>
        </p:spPr>
        <p:txBody>
          <a:bodyPr lIns="0" tIns="0" rIns="0" bIns="0" anchor="t">
            <a:noAutofit/>
          </a:bodyPr>
          <a:lstStyle/>
          <a:p>
            <a:pPr algn="l">
              <a:defRPr sz="1500" b="1">
                <a:solidFill>
                  <a:srgbClr val="AD8600"/>
                </a:solidFill>
                <a:latin typeface="Arial"/>
                <a:ea typeface="Arial"/>
                <a:cs typeface="Arial"/>
              </a:defRPr>
            </a:pPr>
            <a:r>
              <a:rPr sz="1600" b="1" dirty="0">
                <a:solidFill>
                  <a:srgbClr val="AD8600"/>
                </a:solidFill>
                <a:latin typeface="Arial"/>
                <a:ea typeface="Arial"/>
                <a:cs typeface="Arial"/>
              </a:rPr>
              <a:t>Maximize correct responses and balance performance across both tasks.</a:t>
            </a:r>
          </a:p>
        </p:txBody>
      </p:sp>
      <p:sp>
        <p:nvSpPr>
          <p:cNvPr id="196" name="Rechteck 195">
            <a:extLst>
              <a:ext uri="{FF2B5EF4-FFF2-40B4-BE49-F238E27FC236}">
                <a16:creationId xmlns:a16="http://schemas.microsoft.com/office/drawing/2014/main" id="{AA749A6E-481C-460F-9338-BB7C0A53E44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3</a:t>
            </a:r>
          </a:p>
        </p:txBody>
      </p:sp>
      <p:sp>
        <p:nvSpPr>
          <p:cNvPr id="45" name="Textfeld 44">
            <a:extLst>
              <a:ext uri="{FF2B5EF4-FFF2-40B4-BE49-F238E27FC236}">
                <a16:creationId xmlns:a16="http://schemas.microsoft.com/office/drawing/2014/main" id="{32BCDBB6-8757-4ABA-A88F-C7F7FF96C553}"/>
              </a:ext>
            </a:extLst>
          </p:cNvPr>
          <p:cNvSpPr txBox="1"/>
          <p:nvPr/>
        </p:nvSpPr>
        <p:spPr>
          <a:xfrm>
            <a:off x="752475" y="1033600"/>
            <a:ext cx="4435029" cy="400110"/>
          </a:xfrm>
          <a:prstGeom prst="rect">
            <a:avLst/>
          </a:prstGeom>
          <a:noFill/>
        </p:spPr>
        <p:txBody>
          <a:bodyPr wrap="square" rtlCol="0">
            <a:spAutoFit/>
          </a:bodyPr>
          <a:lstStyle/>
          <a:p>
            <a:pPr>
              <a:defRPr sz="1875" b="1">
                <a:solidFill>
                  <a:srgbClr val="AD8600"/>
                </a:solidFill>
                <a:latin typeface="Arial"/>
                <a:ea typeface="Arial"/>
                <a:cs typeface="Arial"/>
              </a:defRPr>
            </a:pPr>
            <a:r>
              <a:rPr lang="de-DE" sz="2000" b="1" dirty="0">
                <a:solidFill>
                  <a:srgbClr val="AD8600"/>
                </a:solidFill>
                <a:latin typeface="Arial"/>
                <a:cs typeface="Arial"/>
              </a:rPr>
              <a:t>Free </a:t>
            </a:r>
            <a:r>
              <a:rPr lang="de-DE" sz="2000" b="1" dirty="0" err="1">
                <a:solidFill>
                  <a:srgbClr val="AD8600"/>
                </a:solidFill>
                <a:latin typeface="Arial"/>
                <a:cs typeface="Arial"/>
              </a:rPr>
              <a:t>Concurrent</a:t>
            </a:r>
            <a:r>
              <a:rPr lang="de-DE" sz="2000" b="1" dirty="0">
                <a:solidFill>
                  <a:srgbClr val="AD8600"/>
                </a:solidFill>
                <a:latin typeface="Arial"/>
                <a:cs typeface="Arial"/>
              </a:rPr>
              <a:t> Dual Task (FCDT)</a:t>
            </a:r>
          </a:p>
        </p:txBody>
      </p:sp>
      <p:pic>
        <p:nvPicPr>
          <p:cNvPr id="46" name="Grafik 45">
            <a:extLst>
              <a:ext uri="{FF2B5EF4-FFF2-40B4-BE49-F238E27FC236}">
                <a16:creationId xmlns:a16="http://schemas.microsoft.com/office/drawing/2014/main" id="{3BDA9B9C-1654-49EF-B0F0-3DF569DF715E}"/>
              </a:ext>
            </a:extLst>
          </p:cNvPr>
          <p:cNvPicPr>
            <a:picLocks noChangeAspect="1"/>
          </p:cNvPicPr>
          <p:nvPr/>
        </p:nvPicPr>
        <p:blipFill>
          <a:blip r:embed="rId3"/>
          <a:stretch>
            <a:fillRect/>
          </a:stretch>
        </p:blipFill>
        <p:spPr>
          <a:xfrm>
            <a:off x="770456" y="1677922"/>
            <a:ext cx="4111532" cy="2494028"/>
          </a:xfrm>
          <a:prstGeom prst="rect">
            <a:avLst/>
          </a:prstGeom>
        </p:spPr>
      </p:pic>
      <p:sp>
        <p:nvSpPr>
          <p:cNvPr id="47" name="Textfeld 46">
            <a:extLst>
              <a:ext uri="{FF2B5EF4-FFF2-40B4-BE49-F238E27FC236}">
                <a16:creationId xmlns:a16="http://schemas.microsoft.com/office/drawing/2014/main" id="{8E200509-F460-49C2-90E9-DD3DE90C7866}"/>
              </a:ext>
            </a:extLst>
          </p:cNvPr>
          <p:cNvSpPr txBox="1"/>
          <p:nvPr/>
        </p:nvSpPr>
        <p:spPr>
          <a:xfrm>
            <a:off x="1252035" y="4746779"/>
            <a:ext cx="6639931" cy="215444"/>
          </a:xfrm>
          <a:prstGeom prst="rect">
            <a:avLst/>
          </a:prstGeom>
          <a:noFill/>
        </p:spPr>
        <p:txBody>
          <a:bodyPr wrap="square" rtlCol="0">
            <a:spAutoFit/>
          </a:bodyPr>
          <a:lstStyle/>
          <a:p>
            <a:pPr algn="ctr"/>
            <a:r>
              <a:rPr lang="de-DE" sz="800" dirty="0">
                <a:latin typeface="Arial"/>
                <a:cs typeface="Arial"/>
              </a:rPr>
              <a:t>Brüning et al., 2020; Brüning et al., 2021; </a:t>
            </a:r>
            <a:r>
              <a:rPr lang="de-DE" sz="800" dirty="0" err="1">
                <a:latin typeface="Arial"/>
                <a:cs typeface="Arial"/>
              </a:rPr>
              <a:t>Damos</a:t>
            </a:r>
            <a:r>
              <a:rPr lang="de-DE" sz="800" dirty="0">
                <a:latin typeface="Arial"/>
                <a:cs typeface="Arial"/>
              </a:rPr>
              <a:t> et al., 1983; Reinert &amp; Brüning, 2022; </a:t>
            </a:r>
            <a:r>
              <a:rPr lang="de-DE" sz="800" dirty="0" err="1">
                <a:latin typeface="Arial"/>
                <a:cs typeface="Arial"/>
              </a:rPr>
              <a:t>Reissland</a:t>
            </a:r>
            <a:r>
              <a:rPr lang="de-DE" sz="800" dirty="0">
                <a:latin typeface="Arial"/>
                <a:cs typeface="Arial"/>
              </a:rPr>
              <a:t> &amp; </a:t>
            </a:r>
            <a:r>
              <a:rPr lang="de-DE" sz="800" dirty="0" err="1">
                <a:latin typeface="Arial"/>
                <a:cs typeface="Arial"/>
              </a:rPr>
              <a:t>Manzey</a:t>
            </a:r>
            <a:r>
              <a:rPr lang="de-DE" sz="800" dirty="0">
                <a:latin typeface="Arial"/>
                <a:cs typeface="Arial"/>
              </a:rPr>
              <a:t>, 2016</a:t>
            </a:r>
          </a:p>
        </p:txBody>
      </p:sp>
    </p:spTree>
    <p:extLst>
      <p:ext uri="{BB962C8B-B14F-4D97-AF65-F5344CB8AC3E}">
        <p14:creationId xmlns:p14="http://schemas.microsoft.com/office/powerpoint/2010/main" val="225454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feld 185">
            <a:extLst>
              <a:ext uri="{FF2B5EF4-FFF2-40B4-BE49-F238E27FC236}">
                <a16:creationId xmlns:a16="http://schemas.microsoft.com/office/drawing/2014/main" id="{D6F2CC26-13CD-422A-97AB-B842C6652509}"/>
              </a:ext>
            </a:extLst>
          </p:cNvPr>
          <p:cNvSpPr txBox="1"/>
          <p:nvPr/>
        </p:nvSpPr>
        <p:spPr>
          <a:xfrm>
            <a:off x="5225614" y="3174072"/>
            <a:ext cx="3734359"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Strategies‘ efficiency changes depending on tasks characteristics</a:t>
            </a:r>
          </a:p>
        </p:txBody>
      </p:sp>
      <p:sp>
        <p:nvSpPr>
          <p:cNvPr id="185" name="Textfeld 184">
            <a:extLst>
              <a:ext uri="{FF2B5EF4-FFF2-40B4-BE49-F238E27FC236}">
                <a16:creationId xmlns:a16="http://schemas.microsoft.com/office/drawing/2014/main" id="{A4319266-681B-462E-905F-81199CE089ED}"/>
              </a:ext>
            </a:extLst>
          </p:cNvPr>
          <p:cNvSpPr txBox="1"/>
          <p:nvPr/>
        </p:nvSpPr>
        <p:spPr>
          <a:xfrm>
            <a:off x="5228524" y="2422812"/>
            <a:ext cx="3375771"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Reflect stable biases that occur independent of task features</a:t>
            </a:r>
          </a:p>
        </p:txBody>
      </p:sp>
      <p:sp>
        <p:nvSpPr>
          <p:cNvPr id="56" name="Rechteck 55">
            <a:extLst>
              <a:ext uri="{FF2B5EF4-FFF2-40B4-BE49-F238E27FC236}">
                <a16:creationId xmlns:a16="http://schemas.microsoft.com/office/drawing/2014/main" id="{88B4378D-BF70-4C20-AB2E-80D72F2A4F0F}"/>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lang="en-US" sz="2800" b="0" dirty="0">
                <a:solidFill>
                  <a:srgbClr val="111111"/>
                </a:solidFill>
                <a:latin typeface="Arial"/>
                <a:ea typeface="Arial"/>
                <a:cs typeface="Arial"/>
              </a:rPr>
              <a:t>Empirical Background</a:t>
            </a:r>
          </a:p>
        </p:txBody>
      </p:sp>
      <p:sp>
        <p:nvSpPr>
          <p:cNvPr id="61" name="Rechteck 60">
            <a:extLst>
              <a:ext uri="{FF2B5EF4-FFF2-40B4-BE49-F238E27FC236}">
                <a16:creationId xmlns:a16="http://schemas.microsoft.com/office/drawing/2014/main" id="{6BAFC2E4-DF4B-4814-B982-A9B5E085719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2</a:t>
            </a:r>
          </a:p>
        </p:txBody>
      </p:sp>
      <p:sp>
        <p:nvSpPr>
          <p:cNvPr id="9" name="Textfeld 8">
            <a:extLst>
              <a:ext uri="{FF2B5EF4-FFF2-40B4-BE49-F238E27FC236}">
                <a16:creationId xmlns:a16="http://schemas.microsoft.com/office/drawing/2014/main" id="{F052DAB5-126F-43AE-AE97-207331290DBF}"/>
              </a:ext>
            </a:extLst>
          </p:cNvPr>
          <p:cNvSpPr txBox="1"/>
          <p:nvPr/>
        </p:nvSpPr>
        <p:spPr>
          <a:xfrm>
            <a:off x="1252035" y="4746779"/>
            <a:ext cx="6639931" cy="215444"/>
          </a:xfrm>
          <a:prstGeom prst="rect">
            <a:avLst/>
          </a:prstGeom>
          <a:noFill/>
        </p:spPr>
        <p:txBody>
          <a:bodyPr wrap="square" rtlCol="0">
            <a:spAutoFit/>
          </a:bodyPr>
          <a:lstStyle/>
          <a:p>
            <a:pPr algn="ctr"/>
            <a:r>
              <a:rPr lang="de-DE" sz="800" dirty="0">
                <a:latin typeface="Arial"/>
                <a:cs typeface="Arial"/>
              </a:rPr>
              <a:t>Brüning et al., 2020; Brüning et al., 2021; </a:t>
            </a:r>
            <a:r>
              <a:rPr lang="de-DE" sz="800" dirty="0" err="1">
                <a:latin typeface="Arial"/>
                <a:cs typeface="Arial"/>
              </a:rPr>
              <a:t>Damos</a:t>
            </a:r>
            <a:r>
              <a:rPr lang="de-DE" sz="800" dirty="0">
                <a:latin typeface="Arial"/>
                <a:cs typeface="Arial"/>
              </a:rPr>
              <a:t> et al., 1983; Reinert &amp; Brüning, 2022; </a:t>
            </a:r>
            <a:r>
              <a:rPr lang="de-DE" sz="800" dirty="0" err="1">
                <a:latin typeface="Arial"/>
                <a:cs typeface="Arial"/>
              </a:rPr>
              <a:t>Reissland</a:t>
            </a:r>
            <a:r>
              <a:rPr lang="de-DE" sz="800" dirty="0">
                <a:latin typeface="Arial"/>
                <a:cs typeface="Arial"/>
              </a:rPr>
              <a:t> &amp; </a:t>
            </a:r>
            <a:r>
              <a:rPr lang="de-DE" sz="800" dirty="0" err="1">
                <a:latin typeface="Arial"/>
                <a:cs typeface="Arial"/>
              </a:rPr>
              <a:t>Manzey</a:t>
            </a:r>
            <a:r>
              <a:rPr lang="de-DE" sz="800" dirty="0">
                <a:latin typeface="Arial"/>
                <a:cs typeface="Arial"/>
              </a:rPr>
              <a:t>, 2016</a:t>
            </a:r>
          </a:p>
        </p:txBody>
      </p:sp>
      <p:grpSp>
        <p:nvGrpSpPr>
          <p:cNvPr id="11" name="Gruppieren 10">
            <a:extLst>
              <a:ext uri="{FF2B5EF4-FFF2-40B4-BE49-F238E27FC236}">
                <a16:creationId xmlns:a16="http://schemas.microsoft.com/office/drawing/2014/main" id="{FE926BED-B8B8-4E74-A55B-E2BA13268AA3}"/>
              </a:ext>
            </a:extLst>
          </p:cNvPr>
          <p:cNvGrpSpPr/>
          <p:nvPr/>
        </p:nvGrpSpPr>
        <p:grpSpPr>
          <a:xfrm>
            <a:off x="752475" y="1678367"/>
            <a:ext cx="4249786" cy="2215644"/>
            <a:chOff x="3720481" y="1405251"/>
            <a:chExt cx="6471084" cy="3753671"/>
          </a:xfrm>
        </p:grpSpPr>
        <p:sp>
          <p:nvSpPr>
            <p:cNvPr id="12" name="Abgerundetes Rechteck 350">
              <a:extLst>
                <a:ext uri="{FF2B5EF4-FFF2-40B4-BE49-F238E27FC236}">
                  <a16:creationId xmlns:a16="http://schemas.microsoft.com/office/drawing/2014/main" id="{D4E27CAD-A966-4912-A558-CA2F75F32278}"/>
                </a:ext>
              </a:extLst>
            </p:cNvPr>
            <p:cNvSpPr/>
            <p:nvPr/>
          </p:nvSpPr>
          <p:spPr>
            <a:xfrm>
              <a:off x="3720484" y="2307018"/>
              <a:ext cx="6471081" cy="2851904"/>
            </a:xfrm>
            <a:prstGeom prst="roundRect">
              <a:avLst>
                <a:gd name="adj" fmla="val 1794"/>
              </a:avLst>
            </a:prstGeom>
            <a:solidFill>
              <a:sysClr val="window" lastClr="FFFFFF"/>
            </a:solidFill>
            <a:ln w="6350" cap="flat" cmpd="sng" algn="ctr">
              <a:solidFill>
                <a:sysClr val="windowText" lastClr="000000"/>
              </a:solidFill>
              <a:prstDash val="solid"/>
              <a:miter lim="800000"/>
            </a:ln>
            <a:effectLst/>
          </p:spPr>
          <p:txBody>
            <a:bodyPr rtlCol="0" anchor="ctr"/>
            <a:lstStyle/>
            <a:p>
              <a:pPr algn="ctr" defTabSz="3505627">
                <a:defRPr/>
              </a:pPr>
              <a:endParaRPr lang="de-DE" sz="800" kern="0">
                <a:solidFill>
                  <a:prstClr val="white"/>
                </a:solidFill>
                <a:latin typeface="Arial" panose="020B0604020202020204" pitchFamily="34" charset="0"/>
                <a:cs typeface="Arial" panose="020B0604020202020204" pitchFamily="34" charset="0"/>
              </a:endParaRPr>
            </a:p>
          </p:txBody>
        </p:sp>
        <p:sp>
          <p:nvSpPr>
            <p:cNvPr id="13" name="Textfeld 12">
              <a:extLst>
                <a:ext uri="{FF2B5EF4-FFF2-40B4-BE49-F238E27FC236}">
                  <a16:creationId xmlns:a16="http://schemas.microsoft.com/office/drawing/2014/main" id="{F7AF2C4F-39D0-4705-8CB8-E604E1B0A54E}"/>
                </a:ext>
              </a:extLst>
            </p:cNvPr>
            <p:cNvSpPr txBox="1"/>
            <p:nvPr/>
          </p:nvSpPr>
          <p:spPr>
            <a:xfrm>
              <a:off x="3890004" y="1411044"/>
              <a:ext cx="1085771" cy="677853"/>
            </a:xfrm>
            <a:prstGeom prst="rect">
              <a:avLst/>
            </a:prstGeom>
            <a:solidFill>
              <a:sysClr val="window" lastClr="FFFFFF"/>
            </a:solidFill>
          </p:spPr>
          <p:txBody>
            <a:bodyPr wrap="square" lIns="72000" rtlCol="0" anchor="ctr">
              <a:spAutoFit/>
            </a:bodyPr>
            <a:lstStyle/>
            <a:p>
              <a:pPr algn="ctr" defTabSz="3505627">
                <a:defRPr/>
              </a:pPr>
              <a:r>
                <a:rPr lang="de-DE" sz="1000" kern="0" dirty="0">
                  <a:solidFill>
                    <a:prstClr val="black"/>
                  </a:solidFill>
                  <a:latin typeface="Arial" panose="020B0604020202020204" pitchFamily="34" charset="0"/>
                  <a:cs typeface="Arial" panose="020B0604020202020204" pitchFamily="34" charset="0"/>
                </a:rPr>
                <a:t>Single-task</a:t>
              </a:r>
            </a:p>
          </p:txBody>
        </p:sp>
        <p:sp>
          <p:nvSpPr>
            <p:cNvPr id="14" name="Abgerundetes Rechteck 352">
              <a:extLst>
                <a:ext uri="{FF2B5EF4-FFF2-40B4-BE49-F238E27FC236}">
                  <a16:creationId xmlns:a16="http://schemas.microsoft.com/office/drawing/2014/main" id="{CF88D35F-AE13-46EC-8B8D-DB1C77A58BE7}"/>
                </a:ext>
              </a:extLst>
            </p:cNvPr>
            <p:cNvSpPr/>
            <p:nvPr/>
          </p:nvSpPr>
          <p:spPr>
            <a:xfrm>
              <a:off x="3720481" y="1405251"/>
              <a:ext cx="6471084" cy="666466"/>
            </a:xfrm>
            <a:prstGeom prst="roundRect">
              <a:avLst>
                <a:gd name="adj" fmla="val 7889"/>
              </a:avLst>
            </a:prstGeom>
            <a:noFill/>
            <a:ln w="6350" cap="flat" cmpd="sng" algn="ctr">
              <a:solidFill>
                <a:sysClr val="windowText" lastClr="000000"/>
              </a:solidFill>
              <a:prstDash val="solid"/>
              <a:miter lim="800000"/>
            </a:ln>
            <a:effectLst/>
          </p:spPr>
          <p:txBody>
            <a:bodyPr rtlCol="0" anchor="ctr"/>
            <a:lstStyle/>
            <a:p>
              <a:pPr algn="ctr" defTabSz="3505627">
                <a:defRPr/>
              </a:pPr>
              <a:endParaRPr lang="de-DE" sz="800" kern="0">
                <a:solidFill>
                  <a:prstClr val="white"/>
                </a:solidFill>
                <a:latin typeface="Arial" panose="020B0604020202020204" pitchFamily="34" charset="0"/>
                <a:cs typeface="Arial" panose="020B0604020202020204" pitchFamily="34" charset="0"/>
              </a:endParaRPr>
            </a:p>
          </p:txBody>
        </p:sp>
        <p:cxnSp>
          <p:nvCxnSpPr>
            <p:cNvPr id="15" name="Gerade Verbindung mit Pfeil 14">
              <a:extLst>
                <a:ext uri="{FF2B5EF4-FFF2-40B4-BE49-F238E27FC236}">
                  <a16:creationId xmlns:a16="http://schemas.microsoft.com/office/drawing/2014/main" id="{DB86884F-C1E8-4379-9F53-51F64889B565}"/>
                </a:ext>
              </a:extLst>
            </p:cNvPr>
            <p:cNvCxnSpPr/>
            <p:nvPr/>
          </p:nvCxnSpPr>
          <p:spPr>
            <a:xfrm>
              <a:off x="6279469" y="1742038"/>
              <a:ext cx="1196756" cy="0"/>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sp>
          <p:nvSpPr>
            <p:cNvPr id="16" name="Abgerundetes Rechteck 354">
              <a:extLst>
                <a:ext uri="{FF2B5EF4-FFF2-40B4-BE49-F238E27FC236}">
                  <a16:creationId xmlns:a16="http://schemas.microsoft.com/office/drawing/2014/main" id="{6D017F77-4E05-4EA0-94C2-BC141EFB5EB9}"/>
                </a:ext>
              </a:extLst>
            </p:cNvPr>
            <p:cNvSpPr/>
            <p:nvPr/>
          </p:nvSpPr>
          <p:spPr>
            <a:xfrm>
              <a:off x="5137493" y="1520687"/>
              <a:ext cx="1137211" cy="419870"/>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algn="ctr" defTabSz="3505627">
                <a:defRPr/>
              </a:pPr>
              <a:r>
                <a:rPr lang="de-DE" sz="700" b="1" kern="0" dirty="0" err="1">
                  <a:solidFill>
                    <a:srgbClr val="0070C0"/>
                  </a:solidFill>
                  <a:latin typeface="Arial" panose="020B0604020202020204" pitchFamily="34" charset="0"/>
                  <a:cs typeface="Arial" panose="020B0604020202020204" pitchFamily="34" charset="0"/>
                </a:rPr>
                <a:t>responses</a:t>
              </a:r>
              <a:r>
                <a:rPr lang="de-DE" sz="700" b="1" kern="0" dirty="0">
                  <a:solidFill>
                    <a:srgbClr val="0070C0"/>
                  </a:solidFill>
                  <a:latin typeface="Arial" panose="020B0604020202020204" pitchFamily="34" charset="0"/>
                  <a:cs typeface="Arial" panose="020B0604020202020204" pitchFamily="34" charset="0"/>
                </a:rPr>
                <a:t> </a:t>
              </a:r>
              <a:r>
                <a:rPr lang="de-DE" sz="700" b="1" kern="0" dirty="0" err="1">
                  <a:solidFill>
                    <a:srgbClr val="0070C0"/>
                  </a:solidFill>
                  <a:latin typeface="Arial" panose="020B0604020202020204" pitchFamily="34" charset="0"/>
                  <a:cs typeface="Arial" panose="020B0604020202020204" pitchFamily="34" charset="0"/>
                </a:rPr>
                <a:t>letter</a:t>
              </a:r>
              <a:r>
                <a:rPr lang="de-DE" sz="700" b="1" kern="0" dirty="0">
                  <a:solidFill>
                    <a:srgbClr val="0070C0"/>
                  </a:solidFill>
                  <a:latin typeface="Arial" panose="020B0604020202020204" pitchFamily="34" charset="0"/>
                  <a:cs typeface="Arial" panose="020B0604020202020204" pitchFamily="34" charset="0"/>
                </a:rPr>
                <a:t> </a:t>
              </a:r>
              <a:r>
                <a:rPr lang="de-DE" sz="700" b="1" kern="0" dirty="0" err="1">
                  <a:solidFill>
                    <a:srgbClr val="0070C0"/>
                  </a:solidFill>
                  <a:latin typeface="Arial" panose="020B0604020202020204" pitchFamily="34" charset="0"/>
                  <a:cs typeface="Arial" panose="020B0604020202020204" pitchFamily="34" charset="0"/>
                </a:rPr>
                <a:t>task</a:t>
              </a:r>
              <a:r>
                <a:rPr lang="de-DE" sz="700" b="1" kern="0" dirty="0">
                  <a:solidFill>
                    <a:srgbClr val="0070C0"/>
                  </a:solidFill>
                  <a:latin typeface="Arial" panose="020B0604020202020204" pitchFamily="34" charset="0"/>
                  <a:cs typeface="Arial" panose="020B0604020202020204" pitchFamily="34" charset="0"/>
                </a:rPr>
                <a:t> (T</a:t>
              </a:r>
              <a:r>
                <a:rPr lang="de-DE" sz="700" b="1" kern="0" baseline="-25000" dirty="0">
                  <a:solidFill>
                    <a:srgbClr val="0070C0"/>
                  </a:solidFill>
                  <a:latin typeface="Arial" panose="020B0604020202020204" pitchFamily="34" charset="0"/>
                  <a:cs typeface="Arial" panose="020B0604020202020204" pitchFamily="34" charset="0"/>
                </a:rPr>
                <a:t>L</a:t>
              </a:r>
              <a:r>
                <a:rPr lang="de-DE" sz="700" b="1" kern="0" dirty="0">
                  <a:solidFill>
                    <a:srgbClr val="0070C0"/>
                  </a:solidFill>
                  <a:latin typeface="Arial" panose="020B0604020202020204" pitchFamily="34" charset="0"/>
                  <a:cs typeface="Arial" panose="020B0604020202020204" pitchFamily="34" charset="0"/>
                </a:rPr>
                <a:t>)</a:t>
              </a:r>
              <a:endParaRPr lang="de-DE" sz="700" b="1" kern="0" baseline="-25000" dirty="0">
                <a:solidFill>
                  <a:srgbClr val="0070C0"/>
                </a:solidFill>
                <a:latin typeface="Arial" panose="020B0604020202020204" pitchFamily="34" charset="0"/>
                <a:cs typeface="Arial" panose="020B0604020202020204" pitchFamily="34" charset="0"/>
              </a:endParaRPr>
            </a:p>
          </p:txBody>
        </p:sp>
        <p:cxnSp>
          <p:nvCxnSpPr>
            <p:cNvPr id="17" name="Gerade Verbindung 355">
              <a:extLst>
                <a:ext uri="{FF2B5EF4-FFF2-40B4-BE49-F238E27FC236}">
                  <a16:creationId xmlns:a16="http://schemas.microsoft.com/office/drawing/2014/main" id="{2842BD5B-AACD-4104-B9C8-8305A98BA1E5}"/>
                </a:ext>
              </a:extLst>
            </p:cNvPr>
            <p:cNvCxnSpPr/>
            <p:nvPr/>
          </p:nvCxnSpPr>
          <p:spPr>
            <a:xfrm>
              <a:off x="6495498"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18" name="Gerade Verbindung 356">
              <a:extLst>
                <a:ext uri="{FF2B5EF4-FFF2-40B4-BE49-F238E27FC236}">
                  <a16:creationId xmlns:a16="http://schemas.microsoft.com/office/drawing/2014/main" id="{66DD4BCC-955F-4F4A-97E4-338CB93AED92}"/>
                </a:ext>
              </a:extLst>
            </p:cNvPr>
            <p:cNvCxnSpPr/>
            <p:nvPr/>
          </p:nvCxnSpPr>
          <p:spPr>
            <a:xfrm>
              <a:off x="6671184"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19" name="Gerade Verbindung 357">
              <a:extLst>
                <a:ext uri="{FF2B5EF4-FFF2-40B4-BE49-F238E27FC236}">
                  <a16:creationId xmlns:a16="http://schemas.microsoft.com/office/drawing/2014/main" id="{F48B5B05-65C4-4E4E-9DA6-9F417D60B5F3}"/>
                </a:ext>
              </a:extLst>
            </p:cNvPr>
            <p:cNvCxnSpPr/>
            <p:nvPr/>
          </p:nvCxnSpPr>
          <p:spPr>
            <a:xfrm>
              <a:off x="6833982"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0" name="Gerade Verbindung 358">
              <a:extLst>
                <a:ext uri="{FF2B5EF4-FFF2-40B4-BE49-F238E27FC236}">
                  <a16:creationId xmlns:a16="http://schemas.microsoft.com/office/drawing/2014/main" id="{01AC9DDE-08FE-4A84-A2AE-D5138988372B}"/>
                </a:ext>
              </a:extLst>
            </p:cNvPr>
            <p:cNvCxnSpPr/>
            <p:nvPr/>
          </p:nvCxnSpPr>
          <p:spPr>
            <a:xfrm>
              <a:off x="7008909"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1" name="Gerade Verbindung 359">
              <a:extLst>
                <a:ext uri="{FF2B5EF4-FFF2-40B4-BE49-F238E27FC236}">
                  <a16:creationId xmlns:a16="http://schemas.microsoft.com/office/drawing/2014/main" id="{2D152987-5067-4FE5-B6BE-B04D4FD69D60}"/>
                </a:ext>
              </a:extLst>
            </p:cNvPr>
            <p:cNvCxnSpPr/>
            <p:nvPr/>
          </p:nvCxnSpPr>
          <p:spPr>
            <a:xfrm>
              <a:off x="7921764"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2" name="Gerade Verbindung 360">
              <a:extLst>
                <a:ext uri="{FF2B5EF4-FFF2-40B4-BE49-F238E27FC236}">
                  <a16:creationId xmlns:a16="http://schemas.microsoft.com/office/drawing/2014/main" id="{443CBE75-2B88-4EA4-99D9-FE8AD2B5A1AE}"/>
                </a:ext>
              </a:extLst>
            </p:cNvPr>
            <p:cNvCxnSpPr/>
            <p:nvPr/>
          </p:nvCxnSpPr>
          <p:spPr>
            <a:xfrm>
              <a:off x="8098354" y="2727105"/>
              <a:ext cx="0" cy="198155"/>
            </a:xfrm>
            <a:prstGeom prst="line">
              <a:avLst/>
            </a:prstGeom>
            <a:solidFill>
              <a:sysClr val="window" lastClr="FFFFFF"/>
            </a:solidFill>
            <a:ln w="28575" cap="flat" cmpd="sng" algn="ctr">
              <a:solidFill>
                <a:srgbClr val="C00000"/>
              </a:solidFill>
              <a:prstDash val="solid"/>
              <a:miter lim="800000"/>
            </a:ln>
            <a:effectLst/>
          </p:spPr>
        </p:cxnSp>
        <p:sp>
          <p:nvSpPr>
            <p:cNvPr id="23" name="Textfeld 22">
              <a:extLst>
                <a:ext uri="{FF2B5EF4-FFF2-40B4-BE49-F238E27FC236}">
                  <a16:creationId xmlns:a16="http://schemas.microsoft.com/office/drawing/2014/main" id="{C560F3D3-0B7F-45F8-828B-3627462F23E1}"/>
                </a:ext>
              </a:extLst>
            </p:cNvPr>
            <p:cNvSpPr txBox="1"/>
            <p:nvPr/>
          </p:nvSpPr>
          <p:spPr>
            <a:xfrm>
              <a:off x="3819192" y="2507861"/>
              <a:ext cx="1231232" cy="417140"/>
            </a:xfrm>
            <a:prstGeom prst="rect">
              <a:avLst/>
            </a:prstGeom>
            <a:solidFill>
              <a:sysClr val="window" lastClr="FFFFFF"/>
            </a:solidFill>
          </p:spPr>
          <p:txBody>
            <a:bodyPr wrap="square" lIns="36000" rtlCol="0">
              <a:spAutoFit/>
            </a:bodyPr>
            <a:lstStyle/>
            <a:p>
              <a:pPr algn="ctr" defTabSz="3505627">
                <a:defRPr/>
              </a:pPr>
              <a:r>
                <a:rPr lang="de-DE" sz="1000" kern="0" dirty="0">
                  <a:solidFill>
                    <a:prstClr val="black"/>
                  </a:solidFill>
                  <a:latin typeface="Arial" panose="020B0604020202020204" pitchFamily="34" charset="0"/>
                  <a:cs typeface="Arial" panose="020B0604020202020204" pitchFamily="34" charset="0"/>
                </a:rPr>
                <a:t>Blocker</a:t>
              </a:r>
            </a:p>
          </p:txBody>
        </p:sp>
        <p:sp>
          <p:nvSpPr>
            <p:cNvPr id="24" name="Abgerundetes Rechteck 362">
              <a:extLst>
                <a:ext uri="{FF2B5EF4-FFF2-40B4-BE49-F238E27FC236}">
                  <a16:creationId xmlns:a16="http://schemas.microsoft.com/office/drawing/2014/main" id="{BA1795C3-C2BC-4EF5-B8A5-F330FCA6F3E9}"/>
                </a:ext>
              </a:extLst>
            </p:cNvPr>
            <p:cNvSpPr/>
            <p:nvPr/>
          </p:nvSpPr>
          <p:spPr>
            <a:xfrm>
              <a:off x="5138553" y="2446248"/>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algn="ctr" defTabSz="3505627">
                <a:defRPr/>
              </a:pPr>
              <a:r>
                <a:rPr lang="de-DE" sz="800" b="1" kern="0" dirty="0" err="1">
                  <a:solidFill>
                    <a:srgbClr val="0070C0"/>
                  </a:solidFill>
                  <a:latin typeface="Arial" panose="020B0604020202020204" pitchFamily="34" charset="0"/>
                  <a:cs typeface="Arial" panose="020B0604020202020204" pitchFamily="34" charset="0"/>
                </a:rPr>
                <a:t>responses</a:t>
              </a:r>
              <a:r>
                <a:rPr lang="de-DE" sz="800" b="1" kern="0" dirty="0">
                  <a:solidFill>
                    <a:srgbClr val="0070C0"/>
                  </a:solidFill>
                  <a:latin typeface="Arial" panose="020B0604020202020204" pitchFamily="34" charset="0"/>
                  <a:cs typeface="Arial" panose="020B0604020202020204" pitchFamily="34" charset="0"/>
                </a:rPr>
                <a:t> T</a:t>
              </a:r>
              <a:r>
                <a:rPr lang="de-DE" sz="800" b="1" kern="0" baseline="-25000" dirty="0">
                  <a:solidFill>
                    <a:srgbClr val="0070C0"/>
                  </a:solidFill>
                  <a:latin typeface="Arial" panose="020B0604020202020204" pitchFamily="34" charset="0"/>
                  <a:cs typeface="Arial" panose="020B0604020202020204" pitchFamily="34" charset="0"/>
                </a:rPr>
                <a:t>L</a:t>
              </a:r>
            </a:p>
          </p:txBody>
        </p:sp>
        <p:sp>
          <p:nvSpPr>
            <p:cNvPr id="25" name="Abgerundetes Rechteck 363">
              <a:extLst>
                <a:ext uri="{FF2B5EF4-FFF2-40B4-BE49-F238E27FC236}">
                  <a16:creationId xmlns:a16="http://schemas.microsoft.com/office/drawing/2014/main" id="{FF452986-8372-4ACF-9017-DC25F4D9A401}"/>
                </a:ext>
              </a:extLst>
            </p:cNvPr>
            <p:cNvSpPr/>
            <p:nvPr/>
          </p:nvSpPr>
          <p:spPr>
            <a:xfrm>
              <a:off x="5138553" y="2755219"/>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algn="ctr" defTabSz="3505627">
                <a:defRPr/>
              </a:pPr>
              <a:r>
                <a:rPr lang="de-DE" sz="800" b="1" kern="0" dirty="0" err="1">
                  <a:solidFill>
                    <a:srgbClr val="C00000"/>
                  </a:solidFill>
                  <a:latin typeface="Arial" panose="020B0604020202020204" pitchFamily="34" charset="0"/>
                  <a:cs typeface="Arial" panose="020B0604020202020204" pitchFamily="34" charset="0"/>
                </a:rPr>
                <a:t>responses</a:t>
              </a:r>
              <a:r>
                <a:rPr lang="de-DE" sz="800" b="1" kern="0" dirty="0">
                  <a:solidFill>
                    <a:srgbClr val="C00000"/>
                  </a:solidFill>
                  <a:latin typeface="Arial" panose="020B0604020202020204" pitchFamily="34" charset="0"/>
                  <a:cs typeface="Arial" panose="020B0604020202020204" pitchFamily="34" charset="0"/>
                </a:rPr>
                <a:t> T</a:t>
              </a:r>
              <a:r>
                <a:rPr lang="de-DE" sz="800" b="1" kern="0" baseline="-25000" dirty="0">
                  <a:solidFill>
                    <a:srgbClr val="C00000"/>
                  </a:solidFill>
                  <a:latin typeface="Arial" panose="020B0604020202020204" pitchFamily="34" charset="0"/>
                  <a:cs typeface="Arial" panose="020B0604020202020204" pitchFamily="34" charset="0"/>
                </a:rPr>
                <a:t>D</a:t>
              </a:r>
            </a:p>
          </p:txBody>
        </p:sp>
        <p:cxnSp>
          <p:nvCxnSpPr>
            <p:cNvPr id="26" name="Gerade Verbindung 364">
              <a:extLst>
                <a:ext uri="{FF2B5EF4-FFF2-40B4-BE49-F238E27FC236}">
                  <a16:creationId xmlns:a16="http://schemas.microsoft.com/office/drawing/2014/main" id="{F44300F5-78CE-493F-93C8-E9577BDB3216}"/>
                </a:ext>
              </a:extLst>
            </p:cNvPr>
            <p:cNvCxnSpPr/>
            <p:nvPr/>
          </p:nvCxnSpPr>
          <p:spPr>
            <a:xfrm>
              <a:off x="7187266"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27" name="Gerade Verbindung 365">
              <a:extLst>
                <a:ext uri="{FF2B5EF4-FFF2-40B4-BE49-F238E27FC236}">
                  <a16:creationId xmlns:a16="http://schemas.microsoft.com/office/drawing/2014/main" id="{FF5719ED-A5FC-4090-A872-29D2F65F714D}"/>
                </a:ext>
              </a:extLst>
            </p:cNvPr>
            <p:cNvCxnSpPr/>
            <p:nvPr/>
          </p:nvCxnSpPr>
          <p:spPr>
            <a:xfrm>
              <a:off x="8272142"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8" name="Gerade Verbindung 366">
              <a:extLst>
                <a:ext uri="{FF2B5EF4-FFF2-40B4-BE49-F238E27FC236}">
                  <a16:creationId xmlns:a16="http://schemas.microsoft.com/office/drawing/2014/main" id="{CF912688-3407-442D-B886-50DB014D9B24}"/>
                </a:ext>
              </a:extLst>
            </p:cNvPr>
            <p:cNvCxnSpPr/>
            <p:nvPr/>
          </p:nvCxnSpPr>
          <p:spPr>
            <a:xfrm>
              <a:off x="8462834"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29" name="Gerade Verbindung 367">
              <a:extLst>
                <a:ext uri="{FF2B5EF4-FFF2-40B4-BE49-F238E27FC236}">
                  <a16:creationId xmlns:a16="http://schemas.microsoft.com/office/drawing/2014/main" id="{57C6603F-B79E-4615-92E7-D4B06D7DC302}"/>
                </a:ext>
              </a:extLst>
            </p:cNvPr>
            <p:cNvCxnSpPr/>
            <p:nvPr/>
          </p:nvCxnSpPr>
          <p:spPr>
            <a:xfrm>
              <a:off x="8646487"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30" name="Gerade Verbindung 368">
              <a:extLst>
                <a:ext uri="{FF2B5EF4-FFF2-40B4-BE49-F238E27FC236}">
                  <a16:creationId xmlns:a16="http://schemas.microsoft.com/office/drawing/2014/main" id="{B129A161-25EB-49C3-A973-41381399C35A}"/>
                </a:ext>
              </a:extLst>
            </p:cNvPr>
            <p:cNvCxnSpPr/>
            <p:nvPr/>
          </p:nvCxnSpPr>
          <p:spPr>
            <a:xfrm>
              <a:off x="8835455" y="2727105"/>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31" name="Gerade Verbindung mit Pfeil 30">
              <a:extLst>
                <a:ext uri="{FF2B5EF4-FFF2-40B4-BE49-F238E27FC236}">
                  <a16:creationId xmlns:a16="http://schemas.microsoft.com/office/drawing/2014/main" id="{312F377B-6701-44E4-9F19-807E224BC9DB}"/>
                </a:ext>
              </a:extLst>
            </p:cNvPr>
            <p:cNvCxnSpPr/>
            <p:nvPr/>
          </p:nvCxnSpPr>
          <p:spPr>
            <a:xfrm>
              <a:off x="6280584" y="2727105"/>
              <a:ext cx="3672715" cy="8784"/>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32" name="Gerade Verbindung 370">
              <a:extLst>
                <a:ext uri="{FF2B5EF4-FFF2-40B4-BE49-F238E27FC236}">
                  <a16:creationId xmlns:a16="http://schemas.microsoft.com/office/drawing/2014/main" id="{DB876C3B-CC0C-4E3F-B7BE-CBE6AFDE8F37}"/>
                </a:ext>
              </a:extLst>
            </p:cNvPr>
            <p:cNvCxnSpPr/>
            <p:nvPr/>
          </p:nvCxnSpPr>
          <p:spPr>
            <a:xfrm>
              <a:off x="6389939"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3" name="Gerade Verbindung 371">
              <a:extLst>
                <a:ext uri="{FF2B5EF4-FFF2-40B4-BE49-F238E27FC236}">
                  <a16:creationId xmlns:a16="http://schemas.microsoft.com/office/drawing/2014/main" id="{8F52D512-94AD-4AE4-834D-8BAA39575645}"/>
                </a:ext>
              </a:extLst>
            </p:cNvPr>
            <p:cNvCxnSpPr/>
            <p:nvPr/>
          </p:nvCxnSpPr>
          <p:spPr>
            <a:xfrm>
              <a:off x="6565625"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4" name="Gerade Verbindung 372">
              <a:extLst>
                <a:ext uri="{FF2B5EF4-FFF2-40B4-BE49-F238E27FC236}">
                  <a16:creationId xmlns:a16="http://schemas.microsoft.com/office/drawing/2014/main" id="{29784646-23C2-40B0-A61A-E6FFB6D7A226}"/>
                </a:ext>
              </a:extLst>
            </p:cNvPr>
            <p:cNvCxnSpPr/>
            <p:nvPr/>
          </p:nvCxnSpPr>
          <p:spPr>
            <a:xfrm>
              <a:off x="6728423"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5" name="Gerade Verbindung 373">
              <a:extLst>
                <a:ext uri="{FF2B5EF4-FFF2-40B4-BE49-F238E27FC236}">
                  <a16:creationId xmlns:a16="http://schemas.microsoft.com/office/drawing/2014/main" id="{1D85A9CA-A004-44D4-A467-7D90596998A4}"/>
                </a:ext>
              </a:extLst>
            </p:cNvPr>
            <p:cNvCxnSpPr/>
            <p:nvPr/>
          </p:nvCxnSpPr>
          <p:spPr>
            <a:xfrm>
              <a:off x="690335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6" name="Gerade Verbindung 374">
              <a:extLst>
                <a:ext uri="{FF2B5EF4-FFF2-40B4-BE49-F238E27FC236}">
                  <a16:creationId xmlns:a16="http://schemas.microsoft.com/office/drawing/2014/main" id="{1ACB7E98-490D-4DB5-B353-C226D050D57C}"/>
                </a:ext>
              </a:extLst>
            </p:cNvPr>
            <p:cNvCxnSpPr/>
            <p:nvPr/>
          </p:nvCxnSpPr>
          <p:spPr>
            <a:xfrm>
              <a:off x="708171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7" name="Gerade Verbindung 375">
              <a:extLst>
                <a:ext uri="{FF2B5EF4-FFF2-40B4-BE49-F238E27FC236}">
                  <a16:creationId xmlns:a16="http://schemas.microsoft.com/office/drawing/2014/main" id="{EE358347-A8E9-4CBC-83EA-75E1B8E84203}"/>
                </a:ext>
              </a:extLst>
            </p:cNvPr>
            <p:cNvCxnSpPr/>
            <p:nvPr/>
          </p:nvCxnSpPr>
          <p:spPr>
            <a:xfrm>
              <a:off x="7252010" y="153142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38" name="Gerade Verbindung mit Pfeil 37">
              <a:extLst>
                <a:ext uri="{FF2B5EF4-FFF2-40B4-BE49-F238E27FC236}">
                  <a16:creationId xmlns:a16="http://schemas.microsoft.com/office/drawing/2014/main" id="{6CBD487E-39EE-4191-8CFF-D4EB1946170F}"/>
                </a:ext>
              </a:extLst>
            </p:cNvPr>
            <p:cNvCxnSpPr/>
            <p:nvPr/>
          </p:nvCxnSpPr>
          <p:spPr>
            <a:xfrm>
              <a:off x="8788932" y="1742038"/>
              <a:ext cx="1240479" cy="9149"/>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sp>
          <p:nvSpPr>
            <p:cNvPr id="39" name="Abgerundetes Rechteck 377">
              <a:extLst>
                <a:ext uri="{FF2B5EF4-FFF2-40B4-BE49-F238E27FC236}">
                  <a16:creationId xmlns:a16="http://schemas.microsoft.com/office/drawing/2014/main" id="{1F26A789-E6B3-4372-9FE0-46DA46FDD9D5}"/>
                </a:ext>
              </a:extLst>
            </p:cNvPr>
            <p:cNvSpPr/>
            <p:nvPr/>
          </p:nvSpPr>
          <p:spPr>
            <a:xfrm>
              <a:off x="7636335" y="1520687"/>
              <a:ext cx="1137211" cy="419870"/>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algn="ctr" defTabSz="3505627">
                <a:defRPr/>
              </a:pPr>
              <a:r>
                <a:rPr lang="de-DE" sz="700" b="1" kern="0" dirty="0" err="1">
                  <a:solidFill>
                    <a:srgbClr val="C00000"/>
                  </a:solidFill>
                  <a:latin typeface="Arial" panose="020B0604020202020204" pitchFamily="34" charset="0"/>
                  <a:cs typeface="Arial" panose="020B0604020202020204" pitchFamily="34" charset="0"/>
                </a:rPr>
                <a:t>responses</a:t>
              </a:r>
              <a:r>
                <a:rPr lang="de-DE" sz="700" b="1" kern="0" dirty="0">
                  <a:solidFill>
                    <a:srgbClr val="C00000"/>
                  </a:solidFill>
                  <a:latin typeface="Arial" panose="020B0604020202020204" pitchFamily="34" charset="0"/>
                  <a:cs typeface="Arial" panose="020B0604020202020204" pitchFamily="34" charset="0"/>
                </a:rPr>
                <a:t> </a:t>
              </a:r>
              <a:r>
                <a:rPr lang="de-DE" sz="700" b="1" kern="0" dirty="0" err="1">
                  <a:solidFill>
                    <a:srgbClr val="C00000"/>
                  </a:solidFill>
                  <a:latin typeface="Arial" panose="020B0604020202020204" pitchFamily="34" charset="0"/>
                  <a:cs typeface="Arial" panose="020B0604020202020204" pitchFamily="34" charset="0"/>
                </a:rPr>
                <a:t>digit</a:t>
              </a:r>
              <a:r>
                <a:rPr lang="de-DE" sz="700" b="1" kern="0" dirty="0">
                  <a:solidFill>
                    <a:srgbClr val="C00000"/>
                  </a:solidFill>
                  <a:latin typeface="Arial" panose="020B0604020202020204" pitchFamily="34" charset="0"/>
                  <a:cs typeface="Arial" panose="020B0604020202020204" pitchFamily="34" charset="0"/>
                </a:rPr>
                <a:t> </a:t>
              </a:r>
              <a:r>
                <a:rPr lang="de-DE" sz="700" b="1" kern="0" dirty="0" err="1">
                  <a:solidFill>
                    <a:srgbClr val="C00000"/>
                  </a:solidFill>
                  <a:latin typeface="Arial" panose="020B0604020202020204" pitchFamily="34" charset="0"/>
                  <a:cs typeface="Arial" panose="020B0604020202020204" pitchFamily="34" charset="0"/>
                </a:rPr>
                <a:t>task</a:t>
              </a:r>
              <a:r>
                <a:rPr lang="de-DE" sz="700" b="1" kern="0" dirty="0">
                  <a:solidFill>
                    <a:srgbClr val="C00000"/>
                  </a:solidFill>
                  <a:latin typeface="Arial" panose="020B0604020202020204" pitchFamily="34" charset="0"/>
                  <a:cs typeface="Arial" panose="020B0604020202020204" pitchFamily="34" charset="0"/>
                </a:rPr>
                <a:t> (T</a:t>
              </a:r>
              <a:r>
                <a:rPr lang="de-DE" sz="700" b="1" kern="0" baseline="-25000" dirty="0">
                  <a:solidFill>
                    <a:srgbClr val="C00000"/>
                  </a:solidFill>
                  <a:latin typeface="Arial" panose="020B0604020202020204" pitchFamily="34" charset="0"/>
                  <a:cs typeface="Arial" panose="020B0604020202020204" pitchFamily="34" charset="0"/>
                </a:rPr>
                <a:t>D</a:t>
              </a:r>
              <a:r>
                <a:rPr lang="de-DE" sz="700" b="1" kern="0" dirty="0">
                  <a:solidFill>
                    <a:srgbClr val="C00000"/>
                  </a:solidFill>
                  <a:latin typeface="Arial" panose="020B0604020202020204" pitchFamily="34" charset="0"/>
                  <a:cs typeface="Arial" panose="020B0604020202020204" pitchFamily="34" charset="0"/>
                </a:rPr>
                <a:t>)</a:t>
              </a:r>
              <a:endParaRPr lang="de-DE" sz="700" b="1" kern="0" baseline="-25000" dirty="0">
                <a:solidFill>
                  <a:srgbClr val="C00000"/>
                </a:solidFill>
                <a:latin typeface="Arial" panose="020B0604020202020204" pitchFamily="34" charset="0"/>
                <a:cs typeface="Arial" panose="020B0604020202020204" pitchFamily="34" charset="0"/>
              </a:endParaRPr>
            </a:p>
          </p:txBody>
        </p:sp>
        <p:cxnSp>
          <p:nvCxnSpPr>
            <p:cNvPr id="40" name="Gerade Verbindung 378">
              <a:extLst>
                <a:ext uri="{FF2B5EF4-FFF2-40B4-BE49-F238E27FC236}">
                  <a16:creationId xmlns:a16="http://schemas.microsoft.com/office/drawing/2014/main" id="{398B54C2-118D-417F-825A-E0B0D36B9B66}"/>
                </a:ext>
              </a:extLst>
            </p:cNvPr>
            <p:cNvCxnSpPr/>
            <p:nvPr/>
          </p:nvCxnSpPr>
          <p:spPr>
            <a:xfrm>
              <a:off x="8923580"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1" name="Gerade Verbindung 379">
              <a:extLst>
                <a:ext uri="{FF2B5EF4-FFF2-40B4-BE49-F238E27FC236}">
                  <a16:creationId xmlns:a16="http://schemas.microsoft.com/office/drawing/2014/main" id="{CCFAFC5F-C293-4B5E-9670-D74501A7C796}"/>
                </a:ext>
              </a:extLst>
            </p:cNvPr>
            <p:cNvCxnSpPr/>
            <p:nvPr/>
          </p:nvCxnSpPr>
          <p:spPr>
            <a:xfrm>
              <a:off x="9099264"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2" name="Gerade Verbindung 380">
              <a:extLst>
                <a:ext uri="{FF2B5EF4-FFF2-40B4-BE49-F238E27FC236}">
                  <a16:creationId xmlns:a16="http://schemas.microsoft.com/office/drawing/2014/main" id="{F393BD48-EBB8-468B-81F0-03B20D00A140}"/>
                </a:ext>
              </a:extLst>
            </p:cNvPr>
            <p:cNvCxnSpPr/>
            <p:nvPr/>
          </p:nvCxnSpPr>
          <p:spPr>
            <a:xfrm>
              <a:off x="9262062"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3" name="Gerade Verbindung 381">
              <a:extLst>
                <a:ext uri="{FF2B5EF4-FFF2-40B4-BE49-F238E27FC236}">
                  <a16:creationId xmlns:a16="http://schemas.microsoft.com/office/drawing/2014/main" id="{05E96EB2-4E35-4488-B9CF-0AC999BFA325}"/>
                </a:ext>
              </a:extLst>
            </p:cNvPr>
            <p:cNvCxnSpPr/>
            <p:nvPr/>
          </p:nvCxnSpPr>
          <p:spPr>
            <a:xfrm>
              <a:off x="9436991"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4" name="Gerade Verbindung 382">
              <a:extLst>
                <a:ext uri="{FF2B5EF4-FFF2-40B4-BE49-F238E27FC236}">
                  <a16:creationId xmlns:a16="http://schemas.microsoft.com/office/drawing/2014/main" id="{57FD903E-7DCE-43D0-A4C0-701504EED93D}"/>
                </a:ext>
              </a:extLst>
            </p:cNvPr>
            <p:cNvCxnSpPr/>
            <p:nvPr/>
          </p:nvCxnSpPr>
          <p:spPr>
            <a:xfrm>
              <a:off x="9615349"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5" name="Gerade Verbindung 383">
              <a:extLst>
                <a:ext uri="{FF2B5EF4-FFF2-40B4-BE49-F238E27FC236}">
                  <a16:creationId xmlns:a16="http://schemas.microsoft.com/office/drawing/2014/main" id="{8C0A0EC2-A885-4B47-8F1E-E599B7583F4E}"/>
                </a:ext>
              </a:extLst>
            </p:cNvPr>
            <p:cNvCxnSpPr/>
            <p:nvPr/>
          </p:nvCxnSpPr>
          <p:spPr>
            <a:xfrm>
              <a:off x="9785649" y="1764638"/>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46" name="Gerade Verbindung 384">
              <a:extLst>
                <a:ext uri="{FF2B5EF4-FFF2-40B4-BE49-F238E27FC236}">
                  <a16:creationId xmlns:a16="http://schemas.microsoft.com/office/drawing/2014/main" id="{9960271C-B8A4-4E43-B4C5-6A25B177E571}"/>
                </a:ext>
              </a:extLst>
            </p:cNvPr>
            <p:cNvCxnSpPr/>
            <p:nvPr/>
          </p:nvCxnSpPr>
          <p:spPr>
            <a:xfrm>
              <a:off x="7366209"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7" name="Gerade Verbindung 385">
              <a:extLst>
                <a:ext uri="{FF2B5EF4-FFF2-40B4-BE49-F238E27FC236}">
                  <a16:creationId xmlns:a16="http://schemas.microsoft.com/office/drawing/2014/main" id="{6C336DCF-3B82-49AF-8D37-D08FED87688B}"/>
                </a:ext>
              </a:extLst>
            </p:cNvPr>
            <p:cNvCxnSpPr/>
            <p:nvPr/>
          </p:nvCxnSpPr>
          <p:spPr>
            <a:xfrm>
              <a:off x="7541894"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8" name="Gerade Verbindung 386">
              <a:extLst>
                <a:ext uri="{FF2B5EF4-FFF2-40B4-BE49-F238E27FC236}">
                  <a16:creationId xmlns:a16="http://schemas.microsoft.com/office/drawing/2014/main" id="{CE31950D-CEF2-48DA-AEBF-A728804C68E2}"/>
                </a:ext>
              </a:extLst>
            </p:cNvPr>
            <p:cNvCxnSpPr/>
            <p:nvPr/>
          </p:nvCxnSpPr>
          <p:spPr>
            <a:xfrm>
              <a:off x="7704692" y="2522602"/>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49" name="Gerade Verbindung 387">
              <a:extLst>
                <a:ext uri="{FF2B5EF4-FFF2-40B4-BE49-F238E27FC236}">
                  <a16:creationId xmlns:a16="http://schemas.microsoft.com/office/drawing/2014/main" id="{FC834827-684E-4AF5-BA59-D85AC8599312}"/>
                </a:ext>
              </a:extLst>
            </p:cNvPr>
            <p:cNvCxnSpPr/>
            <p:nvPr/>
          </p:nvCxnSpPr>
          <p:spPr>
            <a:xfrm>
              <a:off x="9003402"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0" name="Gerade Verbindung 388">
              <a:extLst>
                <a:ext uri="{FF2B5EF4-FFF2-40B4-BE49-F238E27FC236}">
                  <a16:creationId xmlns:a16="http://schemas.microsoft.com/office/drawing/2014/main" id="{6AEE06BD-A3FF-482C-B283-D3259EAD4E79}"/>
                </a:ext>
              </a:extLst>
            </p:cNvPr>
            <p:cNvCxnSpPr/>
            <p:nvPr/>
          </p:nvCxnSpPr>
          <p:spPr>
            <a:xfrm>
              <a:off x="9179992"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1" name="Gerade Verbindung 389">
              <a:extLst>
                <a:ext uri="{FF2B5EF4-FFF2-40B4-BE49-F238E27FC236}">
                  <a16:creationId xmlns:a16="http://schemas.microsoft.com/office/drawing/2014/main" id="{E5540AE7-7309-465A-A98B-3777BBB7A055}"/>
                </a:ext>
              </a:extLst>
            </p:cNvPr>
            <p:cNvCxnSpPr/>
            <p:nvPr/>
          </p:nvCxnSpPr>
          <p:spPr>
            <a:xfrm>
              <a:off x="9353781" y="27358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52" name="Gerade Verbindung 390">
              <a:extLst>
                <a:ext uri="{FF2B5EF4-FFF2-40B4-BE49-F238E27FC236}">
                  <a16:creationId xmlns:a16="http://schemas.microsoft.com/office/drawing/2014/main" id="{81939DCD-3A29-4C27-9664-2B554C9CC88E}"/>
                </a:ext>
              </a:extLst>
            </p:cNvPr>
            <p:cNvCxnSpPr/>
            <p:nvPr/>
          </p:nvCxnSpPr>
          <p:spPr>
            <a:xfrm>
              <a:off x="9544471" y="2735889"/>
              <a:ext cx="0" cy="198155"/>
            </a:xfrm>
            <a:prstGeom prst="line">
              <a:avLst/>
            </a:prstGeom>
            <a:solidFill>
              <a:sysClr val="window" lastClr="FFFFFF"/>
            </a:solidFill>
            <a:ln w="28575" cap="flat" cmpd="sng" algn="ctr">
              <a:solidFill>
                <a:srgbClr val="C00000"/>
              </a:solidFill>
              <a:prstDash val="solid"/>
              <a:miter lim="800000"/>
            </a:ln>
            <a:effectLst/>
          </p:spPr>
        </p:cxnSp>
        <p:sp>
          <p:nvSpPr>
            <p:cNvPr id="53" name="Textfeld 52">
              <a:extLst>
                <a:ext uri="{FF2B5EF4-FFF2-40B4-BE49-F238E27FC236}">
                  <a16:creationId xmlns:a16="http://schemas.microsoft.com/office/drawing/2014/main" id="{DC9EFA4D-56E4-4CA2-A2A1-0F174357C053}"/>
                </a:ext>
              </a:extLst>
            </p:cNvPr>
            <p:cNvSpPr txBox="1"/>
            <p:nvPr/>
          </p:nvSpPr>
          <p:spPr>
            <a:xfrm>
              <a:off x="3819192" y="3459744"/>
              <a:ext cx="1231232" cy="417140"/>
            </a:xfrm>
            <a:prstGeom prst="rect">
              <a:avLst/>
            </a:prstGeom>
            <a:solidFill>
              <a:sysClr val="window" lastClr="FFFFFF"/>
            </a:solidFill>
          </p:spPr>
          <p:txBody>
            <a:bodyPr wrap="square" lIns="36000" rtlCol="0">
              <a:spAutoFit/>
            </a:bodyPr>
            <a:lstStyle/>
            <a:p>
              <a:pPr algn="ctr" defTabSz="3505627">
                <a:defRPr/>
              </a:pPr>
              <a:r>
                <a:rPr lang="de-DE" sz="1000" kern="0" dirty="0" err="1">
                  <a:solidFill>
                    <a:prstClr val="black"/>
                  </a:solidFill>
                  <a:latin typeface="Arial" panose="020B0604020202020204" pitchFamily="34" charset="0"/>
                  <a:cs typeface="Arial" panose="020B0604020202020204" pitchFamily="34" charset="0"/>
                </a:rPr>
                <a:t>Switcher</a:t>
              </a:r>
              <a:endParaRPr lang="de-DE" sz="1000" kern="0" dirty="0">
                <a:solidFill>
                  <a:prstClr val="black"/>
                </a:solidFill>
                <a:latin typeface="Arial" panose="020B0604020202020204" pitchFamily="34" charset="0"/>
                <a:cs typeface="Arial" panose="020B0604020202020204" pitchFamily="34" charset="0"/>
              </a:endParaRPr>
            </a:p>
          </p:txBody>
        </p:sp>
        <p:sp>
          <p:nvSpPr>
            <p:cNvPr id="54" name="Abgerundetes Rechteck 393">
              <a:extLst>
                <a:ext uri="{FF2B5EF4-FFF2-40B4-BE49-F238E27FC236}">
                  <a16:creationId xmlns:a16="http://schemas.microsoft.com/office/drawing/2014/main" id="{35973723-AE69-476F-A699-A815D302E5C0}"/>
                </a:ext>
              </a:extLst>
            </p:cNvPr>
            <p:cNvSpPr/>
            <p:nvPr/>
          </p:nvSpPr>
          <p:spPr>
            <a:xfrm>
              <a:off x="5137493" y="3380882"/>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algn="ctr" defTabSz="3505627">
                <a:defRPr/>
              </a:pPr>
              <a:r>
                <a:rPr lang="de-DE" sz="800" b="1" kern="0" dirty="0" err="1">
                  <a:solidFill>
                    <a:srgbClr val="0070C0"/>
                  </a:solidFill>
                  <a:latin typeface="Arial" panose="020B0604020202020204" pitchFamily="34" charset="0"/>
                  <a:cs typeface="Arial" panose="020B0604020202020204" pitchFamily="34" charset="0"/>
                </a:rPr>
                <a:t>responses</a:t>
              </a:r>
              <a:r>
                <a:rPr lang="de-DE" sz="800" b="1" kern="0" dirty="0">
                  <a:solidFill>
                    <a:srgbClr val="0070C0"/>
                  </a:solidFill>
                  <a:latin typeface="Arial" panose="020B0604020202020204" pitchFamily="34" charset="0"/>
                  <a:cs typeface="Arial" panose="020B0604020202020204" pitchFamily="34" charset="0"/>
                </a:rPr>
                <a:t> T</a:t>
              </a:r>
              <a:r>
                <a:rPr lang="de-DE" sz="800" b="1" kern="0" baseline="-25000" dirty="0">
                  <a:solidFill>
                    <a:srgbClr val="0070C0"/>
                  </a:solidFill>
                  <a:latin typeface="Arial" panose="020B0604020202020204" pitchFamily="34" charset="0"/>
                  <a:cs typeface="Arial" panose="020B0604020202020204" pitchFamily="34" charset="0"/>
                </a:rPr>
                <a:t>L</a:t>
              </a:r>
            </a:p>
          </p:txBody>
        </p:sp>
        <p:sp>
          <p:nvSpPr>
            <p:cNvPr id="55" name="Abgerundetes Rechteck 394">
              <a:extLst>
                <a:ext uri="{FF2B5EF4-FFF2-40B4-BE49-F238E27FC236}">
                  <a16:creationId xmlns:a16="http://schemas.microsoft.com/office/drawing/2014/main" id="{35968C3A-337F-4615-ABF9-1731BB5057D8}"/>
                </a:ext>
              </a:extLst>
            </p:cNvPr>
            <p:cNvSpPr/>
            <p:nvPr/>
          </p:nvSpPr>
          <p:spPr>
            <a:xfrm>
              <a:off x="5137493" y="3689854"/>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algn="ctr" defTabSz="3505627">
                <a:defRPr/>
              </a:pPr>
              <a:r>
                <a:rPr lang="de-DE" sz="800" b="1" kern="0" dirty="0" err="1">
                  <a:solidFill>
                    <a:srgbClr val="C00000"/>
                  </a:solidFill>
                  <a:latin typeface="Arial" panose="020B0604020202020204" pitchFamily="34" charset="0"/>
                  <a:cs typeface="Arial" panose="020B0604020202020204" pitchFamily="34" charset="0"/>
                </a:rPr>
                <a:t>responses</a:t>
              </a:r>
              <a:r>
                <a:rPr lang="de-DE" sz="800" b="1" kern="0" dirty="0">
                  <a:solidFill>
                    <a:srgbClr val="C00000"/>
                  </a:solidFill>
                  <a:latin typeface="Arial" panose="020B0604020202020204" pitchFamily="34" charset="0"/>
                  <a:cs typeface="Arial" panose="020B0604020202020204" pitchFamily="34" charset="0"/>
                </a:rPr>
                <a:t> T</a:t>
              </a:r>
              <a:r>
                <a:rPr lang="de-DE" sz="800" b="1" kern="0" baseline="-25000" dirty="0">
                  <a:solidFill>
                    <a:srgbClr val="C00000"/>
                  </a:solidFill>
                  <a:latin typeface="Arial" panose="020B0604020202020204" pitchFamily="34" charset="0"/>
                  <a:cs typeface="Arial" panose="020B0604020202020204" pitchFamily="34" charset="0"/>
                </a:rPr>
                <a:t>D</a:t>
              </a:r>
            </a:p>
          </p:txBody>
        </p:sp>
        <p:cxnSp>
          <p:nvCxnSpPr>
            <p:cNvPr id="63" name="Gerade Verbindung mit Pfeil 62">
              <a:extLst>
                <a:ext uri="{FF2B5EF4-FFF2-40B4-BE49-F238E27FC236}">
                  <a16:creationId xmlns:a16="http://schemas.microsoft.com/office/drawing/2014/main" id="{FE1A99DD-5834-468C-8190-535A04938207}"/>
                </a:ext>
              </a:extLst>
            </p:cNvPr>
            <p:cNvCxnSpPr/>
            <p:nvPr/>
          </p:nvCxnSpPr>
          <p:spPr>
            <a:xfrm flipV="1">
              <a:off x="6285404" y="3661741"/>
              <a:ext cx="3672715" cy="4318"/>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64" name="Gerade Verbindung 396">
              <a:extLst>
                <a:ext uri="{FF2B5EF4-FFF2-40B4-BE49-F238E27FC236}">
                  <a16:creationId xmlns:a16="http://schemas.microsoft.com/office/drawing/2014/main" id="{04E61139-922C-4932-A389-7085641AFE29}"/>
                </a:ext>
              </a:extLst>
            </p:cNvPr>
            <p:cNvCxnSpPr/>
            <p:nvPr/>
          </p:nvCxnSpPr>
          <p:spPr>
            <a:xfrm>
              <a:off x="6684969" y="346237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65" name="Gerade Verbindung 397">
              <a:extLst>
                <a:ext uri="{FF2B5EF4-FFF2-40B4-BE49-F238E27FC236}">
                  <a16:creationId xmlns:a16="http://schemas.microsoft.com/office/drawing/2014/main" id="{12EA7D64-C346-493D-81DA-699395D9DD9E}"/>
                </a:ext>
              </a:extLst>
            </p:cNvPr>
            <p:cNvCxnSpPr/>
            <p:nvPr/>
          </p:nvCxnSpPr>
          <p:spPr>
            <a:xfrm>
              <a:off x="6467062"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6" name="Gerade Verbindung 398">
              <a:extLst>
                <a:ext uri="{FF2B5EF4-FFF2-40B4-BE49-F238E27FC236}">
                  <a16:creationId xmlns:a16="http://schemas.microsoft.com/office/drawing/2014/main" id="{40C85A7E-4041-471D-9373-372A91E274AA}"/>
                </a:ext>
              </a:extLst>
            </p:cNvPr>
            <p:cNvCxnSpPr/>
            <p:nvPr/>
          </p:nvCxnSpPr>
          <p:spPr>
            <a:xfrm>
              <a:off x="6758887"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7" name="Gerade Verbindung 399">
              <a:extLst>
                <a:ext uri="{FF2B5EF4-FFF2-40B4-BE49-F238E27FC236}">
                  <a16:creationId xmlns:a16="http://schemas.microsoft.com/office/drawing/2014/main" id="{D2F21322-02F7-4833-804E-B915B225598F}"/>
                </a:ext>
              </a:extLst>
            </p:cNvPr>
            <p:cNvCxnSpPr/>
            <p:nvPr/>
          </p:nvCxnSpPr>
          <p:spPr>
            <a:xfrm>
              <a:off x="6981152"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8" name="Gerade Verbindung 400">
              <a:extLst>
                <a:ext uri="{FF2B5EF4-FFF2-40B4-BE49-F238E27FC236}">
                  <a16:creationId xmlns:a16="http://schemas.microsoft.com/office/drawing/2014/main" id="{BDABF773-0C57-47ED-9D33-B12254F025F0}"/>
                </a:ext>
              </a:extLst>
            </p:cNvPr>
            <p:cNvCxnSpPr/>
            <p:nvPr/>
          </p:nvCxnSpPr>
          <p:spPr>
            <a:xfrm>
              <a:off x="7181151" y="366605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69" name="Gerade Verbindung 401">
              <a:extLst>
                <a:ext uri="{FF2B5EF4-FFF2-40B4-BE49-F238E27FC236}">
                  <a16:creationId xmlns:a16="http://schemas.microsoft.com/office/drawing/2014/main" id="{4E57F0A3-6B17-4108-9FFB-1CD713D6DF31}"/>
                </a:ext>
              </a:extLst>
            </p:cNvPr>
            <p:cNvCxnSpPr/>
            <p:nvPr/>
          </p:nvCxnSpPr>
          <p:spPr>
            <a:xfrm>
              <a:off x="7484039" y="346237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0" name="Gerade Verbindung 402">
              <a:extLst>
                <a:ext uri="{FF2B5EF4-FFF2-40B4-BE49-F238E27FC236}">
                  <a16:creationId xmlns:a16="http://schemas.microsoft.com/office/drawing/2014/main" id="{955EE4FF-E1FD-4A37-B469-7740E6A2F0FB}"/>
                </a:ext>
              </a:extLst>
            </p:cNvPr>
            <p:cNvCxnSpPr/>
            <p:nvPr/>
          </p:nvCxnSpPr>
          <p:spPr>
            <a:xfrm>
              <a:off x="7359854" y="3669734"/>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1" name="Gerade Verbindung 403">
              <a:extLst>
                <a:ext uri="{FF2B5EF4-FFF2-40B4-BE49-F238E27FC236}">
                  <a16:creationId xmlns:a16="http://schemas.microsoft.com/office/drawing/2014/main" id="{CEBD109F-9C99-4820-B415-C9BDC95F1813}"/>
                </a:ext>
              </a:extLst>
            </p:cNvPr>
            <p:cNvCxnSpPr/>
            <p:nvPr/>
          </p:nvCxnSpPr>
          <p:spPr>
            <a:xfrm>
              <a:off x="7678183"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2" name="Gerade Verbindung 404">
              <a:extLst>
                <a:ext uri="{FF2B5EF4-FFF2-40B4-BE49-F238E27FC236}">
                  <a16:creationId xmlns:a16="http://schemas.microsoft.com/office/drawing/2014/main" id="{B34B9953-18DC-4F06-B0FE-529CD5C1E50D}"/>
                </a:ext>
              </a:extLst>
            </p:cNvPr>
            <p:cNvCxnSpPr/>
            <p:nvPr/>
          </p:nvCxnSpPr>
          <p:spPr>
            <a:xfrm>
              <a:off x="7853870"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3" name="Gerade Verbindung 405">
              <a:extLst>
                <a:ext uri="{FF2B5EF4-FFF2-40B4-BE49-F238E27FC236}">
                  <a16:creationId xmlns:a16="http://schemas.microsoft.com/office/drawing/2014/main" id="{2BC1D8A2-1382-44A6-9659-047992AE02D4}"/>
                </a:ext>
              </a:extLst>
            </p:cNvPr>
            <p:cNvCxnSpPr/>
            <p:nvPr/>
          </p:nvCxnSpPr>
          <p:spPr>
            <a:xfrm>
              <a:off x="8692654"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4" name="Gerade Verbindung 406">
              <a:extLst>
                <a:ext uri="{FF2B5EF4-FFF2-40B4-BE49-F238E27FC236}">
                  <a16:creationId xmlns:a16="http://schemas.microsoft.com/office/drawing/2014/main" id="{7D562889-3138-4E2F-B16B-78F22AFCE875}"/>
                </a:ext>
              </a:extLst>
            </p:cNvPr>
            <p:cNvCxnSpPr/>
            <p:nvPr/>
          </p:nvCxnSpPr>
          <p:spPr>
            <a:xfrm>
              <a:off x="8193281"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5" name="Gerade Verbindung 407">
              <a:extLst>
                <a:ext uri="{FF2B5EF4-FFF2-40B4-BE49-F238E27FC236}">
                  <a16:creationId xmlns:a16="http://schemas.microsoft.com/office/drawing/2014/main" id="{86112095-B9D4-4FCD-A073-A30BC1ACCA18}"/>
                </a:ext>
              </a:extLst>
            </p:cNvPr>
            <p:cNvCxnSpPr/>
            <p:nvPr/>
          </p:nvCxnSpPr>
          <p:spPr>
            <a:xfrm>
              <a:off x="8369873"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6" name="Gerade Verbindung 408">
              <a:extLst>
                <a:ext uri="{FF2B5EF4-FFF2-40B4-BE49-F238E27FC236}">
                  <a16:creationId xmlns:a16="http://schemas.microsoft.com/office/drawing/2014/main" id="{21C363CF-318F-4DEA-B967-576C547C09D4}"/>
                </a:ext>
              </a:extLst>
            </p:cNvPr>
            <p:cNvCxnSpPr/>
            <p:nvPr/>
          </p:nvCxnSpPr>
          <p:spPr>
            <a:xfrm>
              <a:off x="9287861"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7" name="Gerade Verbindung 409">
              <a:extLst>
                <a:ext uri="{FF2B5EF4-FFF2-40B4-BE49-F238E27FC236}">
                  <a16:creationId xmlns:a16="http://schemas.microsoft.com/office/drawing/2014/main" id="{B71B8CFD-B952-4455-A4FA-0E02E918A999}"/>
                </a:ext>
              </a:extLst>
            </p:cNvPr>
            <p:cNvCxnSpPr/>
            <p:nvPr/>
          </p:nvCxnSpPr>
          <p:spPr>
            <a:xfrm>
              <a:off x="9039958" y="3458694"/>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78" name="Gerade Verbindung 410">
              <a:extLst>
                <a:ext uri="{FF2B5EF4-FFF2-40B4-BE49-F238E27FC236}">
                  <a16:creationId xmlns:a16="http://schemas.microsoft.com/office/drawing/2014/main" id="{DDC65065-C94E-4306-A124-2E52F288E4E2}"/>
                </a:ext>
              </a:extLst>
            </p:cNvPr>
            <p:cNvCxnSpPr/>
            <p:nvPr/>
          </p:nvCxnSpPr>
          <p:spPr>
            <a:xfrm>
              <a:off x="8634352" y="3671522"/>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79" name="Gerade Verbindung 411">
              <a:extLst>
                <a:ext uri="{FF2B5EF4-FFF2-40B4-BE49-F238E27FC236}">
                  <a16:creationId xmlns:a16="http://schemas.microsoft.com/office/drawing/2014/main" id="{1A6CE55C-A1E1-4ABB-9AFC-57634CE054C3}"/>
                </a:ext>
              </a:extLst>
            </p:cNvPr>
            <p:cNvCxnSpPr/>
            <p:nvPr/>
          </p:nvCxnSpPr>
          <p:spPr>
            <a:xfrm>
              <a:off x="9350749"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0" name="Gerade Verbindung 412">
              <a:extLst>
                <a:ext uri="{FF2B5EF4-FFF2-40B4-BE49-F238E27FC236}">
                  <a16:creationId xmlns:a16="http://schemas.microsoft.com/office/drawing/2014/main" id="{2D97F18B-418D-4C0D-8C7C-60B619F86D9E}"/>
                </a:ext>
              </a:extLst>
            </p:cNvPr>
            <p:cNvCxnSpPr/>
            <p:nvPr/>
          </p:nvCxnSpPr>
          <p:spPr>
            <a:xfrm>
              <a:off x="9550949" y="3662381"/>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1" name="Gerade Verbindung 413">
              <a:extLst>
                <a:ext uri="{FF2B5EF4-FFF2-40B4-BE49-F238E27FC236}">
                  <a16:creationId xmlns:a16="http://schemas.microsoft.com/office/drawing/2014/main" id="{4E2DBDFA-BA5F-4F77-8E54-45792528D10F}"/>
                </a:ext>
              </a:extLst>
            </p:cNvPr>
            <p:cNvCxnSpPr/>
            <p:nvPr/>
          </p:nvCxnSpPr>
          <p:spPr>
            <a:xfrm>
              <a:off x="7979297" y="3666059"/>
              <a:ext cx="0" cy="198155"/>
            </a:xfrm>
            <a:prstGeom prst="line">
              <a:avLst/>
            </a:prstGeom>
            <a:solidFill>
              <a:sysClr val="window" lastClr="FFFFFF"/>
            </a:solidFill>
            <a:ln w="28575" cap="flat" cmpd="sng" algn="ctr">
              <a:solidFill>
                <a:srgbClr val="C00000"/>
              </a:solidFill>
              <a:prstDash val="solid"/>
              <a:miter lim="800000"/>
            </a:ln>
            <a:effectLst/>
          </p:spPr>
        </p:cxnSp>
        <p:sp>
          <p:nvSpPr>
            <p:cNvPr id="82" name="Textfeld 81">
              <a:extLst>
                <a:ext uri="{FF2B5EF4-FFF2-40B4-BE49-F238E27FC236}">
                  <a16:creationId xmlns:a16="http://schemas.microsoft.com/office/drawing/2014/main" id="{773593CC-FBBA-44BB-BD91-D2840D9C05C7}"/>
                </a:ext>
              </a:extLst>
            </p:cNvPr>
            <p:cNvSpPr txBox="1"/>
            <p:nvPr/>
          </p:nvSpPr>
          <p:spPr>
            <a:xfrm>
              <a:off x="3755264" y="4356365"/>
              <a:ext cx="1359087" cy="677853"/>
            </a:xfrm>
            <a:prstGeom prst="rect">
              <a:avLst/>
            </a:prstGeom>
            <a:noFill/>
          </p:spPr>
          <p:txBody>
            <a:bodyPr wrap="square" lIns="36000" rtlCol="0">
              <a:spAutoFit/>
            </a:bodyPr>
            <a:lstStyle/>
            <a:p>
              <a:pPr algn="ctr" defTabSz="3505627">
                <a:defRPr/>
              </a:pPr>
              <a:r>
                <a:rPr lang="de-DE" sz="1000" kern="0" dirty="0">
                  <a:solidFill>
                    <a:prstClr val="black"/>
                  </a:solidFill>
                  <a:latin typeface="Arial" panose="020B0604020202020204" pitchFamily="34" charset="0"/>
                  <a:cs typeface="Arial" panose="020B0604020202020204" pitchFamily="34" charset="0"/>
                </a:rPr>
                <a:t>Response</a:t>
              </a:r>
            </a:p>
            <a:p>
              <a:pPr algn="ctr" defTabSz="3505627">
                <a:defRPr/>
              </a:pPr>
              <a:r>
                <a:rPr lang="de-DE" sz="1000" kern="0" dirty="0" err="1">
                  <a:solidFill>
                    <a:prstClr val="black"/>
                  </a:solidFill>
                  <a:latin typeface="Arial" panose="020B0604020202020204" pitchFamily="34" charset="0"/>
                  <a:cs typeface="Arial" panose="020B0604020202020204" pitchFamily="34" charset="0"/>
                </a:rPr>
                <a:t>Grouper</a:t>
              </a:r>
              <a:endParaRPr lang="de-DE" sz="1000" kern="0" dirty="0">
                <a:solidFill>
                  <a:prstClr val="black"/>
                </a:solidFill>
                <a:latin typeface="Arial" panose="020B0604020202020204" pitchFamily="34" charset="0"/>
                <a:cs typeface="Arial" panose="020B0604020202020204" pitchFamily="34" charset="0"/>
              </a:endParaRPr>
            </a:p>
          </p:txBody>
        </p:sp>
        <p:sp>
          <p:nvSpPr>
            <p:cNvPr id="83" name="Abgerundetes Rechteck 415">
              <a:extLst>
                <a:ext uri="{FF2B5EF4-FFF2-40B4-BE49-F238E27FC236}">
                  <a16:creationId xmlns:a16="http://schemas.microsoft.com/office/drawing/2014/main" id="{32EA4769-A9A0-4158-870D-E20AF61D8CFC}"/>
                </a:ext>
              </a:extLst>
            </p:cNvPr>
            <p:cNvSpPr/>
            <p:nvPr/>
          </p:nvSpPr>
          <p:spPr>
            <a:xfrm>
              <a:off x="5143372" y="4363732"/>
              <a:ext cx="1137211" cy="240391"/>
            </a:xfrm>
            <a:prstGeom prst="roundRect">
              <a:avLst/>
            </a:prstGeom>
            <a:solidFill>
              <a:sysClr val="window" lastClr="FFFFFF"/>
            </a:solidFill>
            <a:ln w="12700" cap="flat" cmpd="sng" algn="ctr">
              <a:solidFill>
                <a:srgbClr val="0070C0"/>
              </a:solidFill>
              <a:prstDash val="solid"/>
              <a:miter lim="800000"/>
            </a:ln>
            <a:effectLst/>
          </p:spPr>
          <p:txBody>
            <a:bodyPr lIns="36000" rIns="36000" rtlCol="0" anchor="ctr"/>
            <a:lstStyle/>
            <a:p>
              <a:pPr algn="ctr" defTabSz="3505627">
                <a:defRPr/>
              </a:pPr>
              <a:r>
                <a:rPr lang="de-DE" sz="800" b="1" kern="0" dirty="0" err="1">
                  <a:solidFill>
                    <a:srgbClr val="0070C0"/>
                  </a:solidFill>
                  <a:latin typeface="Arial" panose="020B0604020202020204" pitchFamily="34" charset="0"/>
                  <a:cs typeface="Arial" panose="020B0604020202020204" pitchFamily="34" charset="0"/>
                </a:rPr>
                <a:t>responses</a:t>
              </a:r>
              <a:r>
                <a:rPr lang="de-DE" sz="800" b="1" kern="0" dirty="0">
                  <a:solidFill>
                    <a:srgbClr val="0070C0"/>
                  </a:solidFill>
                  <a:latin typeface="Arial" panose="020B0604020202020204" pitchFamily="34" charset="0"/>
                  <a:cs typeface="Arial" panose="020B0604020202020204" pitchFamily="34" charset="0"/>
                </a:rPr>
                <a:t> T</a:t>
              </a:r>
              <a:r>
                <a:rPr lang="de-DE" sz="800" b="1" kern="0" baseline="-25000" dirty="0">
                  <a:solidFill>
                    <a:srgbClr val="0070C0"/>
                  </a:solidFill>
                  <a:latin typeface="Arial" panose="020B0604020202020204" pitchFamily="34" charset="0"/>
                  <a:cs typeface="Arial" panose="020B0604020202020204" pitchFamily="34" charset="0"/>
                </a:rPr>
                <a:t>L</a:t>
              </a:r>
            </a:p>
          </p:txBody>
        </p:sp>
        <p:sp>
          <p:nvSpPr>
            <p:cNvPr id="84" name="Abgerundetes Rechteck 416">
              <a:extLst>
                <a:ext uri="{FF2B5EF4-FFF2-40B4-BE49-F238E27FC236}">
                  <a16:creationId xmlns:a16="http://schemas.microsoft.com/office/drawing/2014/main" id="{83D5E35B-A19B-4C0B-9802-895F170B71B4}"/>
                </a:ext>
              </a:extLst>
            </p:cNvPr>
            <p:cNvSpPr/>
            <p:nvPr/>
          </p:nvSpPr>
          <p:spPr>
            <a:xfrm>
              <a:off x="5143372" y="4672704"/>
              <a:ext cx="1137211" cy="240391"/>
            </a:xfrm>
            <a:prstGeom prst="roundRect">
              <a:avLst/>
            </a:prstGeom>
            <a:solidFill>
              <a:sysClr val="window" lastClr="FFFFFF"/>
            </a:solidFill>
            <a:ln w="12700" cap="flat" cmpd="sng" algn="ctr">
              <a:solidFill>
                <a:srgbClr val="C00000"/>
              </a:solidFill>
              <a:prstDash val="solid"/>
              <a:miter lim="800000"/>
            </a:ln>
            <a:effectLst/>
          </p:spPr>
          <p:txBody>
            <a:bodyPr lIns="36000" rIns="36000" rtlCol="0" anchor="ctr"/>
            <a:lstStyle/>
            <a:p>
              <a:pPr algn="ctr" defTabSz="3505627">
                <a:defRPr/>
              </a:pPr>
              <a:r>
                <a:rPr lang="de-DE" sz="800" b="1" kern="0" dirty="0" err="1">
                  <a:solidFill>
                    <a:srgbClr val="C00000"/>
                  </a:solidFill>
                  <a:latin typeface="Arial" panose="020B0604020202020204" pitchFamily="34" charset="0"/>
                  <a:cs typeface="Arial" panose="020B0604020202020204" pitchFamily="34" charset="0"/>
                </a:rPr>
                <a:t>responses</a:t>
              </a:r>
              <a:r>
                <a:rPr lang="de-DE" sz="800" b="1" kern="0" dirty="0">
                  <a:solidFill>
                    <a:srgbClr val="C00000"/>
                  </a:solidFill>
                  <a:latin typeface="Arial" panose="020B0604020202020204" pitchFamily="34" charset="0"/>
                  <a:cs typeface="Arial" panose="020B0604020202020204" pitchFamily="34" charset="0"/>
                </a:rPr>
                <a:t> T</a:t>
              </a:r>
              <a:r>
                <a:rPr lang="de-DE" sz="800" b="1" kern="0" baseline="-25000" dirty="0">
                  <a:solidFill>
                    <a:srgbClr val="C00000"/>
                  </a:solidFill>
                  <a:latin typeface="Arial" panose="020B0604020202020204" pitchFamily="34" charset="0"/>
                  <a:cs typeface="Arial" panose="020B0604020202020204" pitchFamily="34" charset="0"/>
                </a:rPr>
                <a:t>D</a:t>
              </a:r>
            </a:p>
          </p:txBody>
        </p:sp>
        <p:cxnSp>
          <p:nvCxnSpPr>
            <p:cNvPr id="85" name="Gerade Verbindung mit Pfeil 84">
              <a:extLst>
                <a:ext uri="{FF2B5EF4-FFF2-40B4-BE49-F238E27FC236}">
                  <a16:creationId xmlns:a16="http://schemas.microsoft.com/office/drawing/2014/main" id="{8AB39FE4-BF37-4E20-BA65-EEAFBD32B0E0}"/>
                </a:ext>
              </a:extLst>
            </p:cNvPr>
            <p:cNvCxnSpPr/>
            <p:nvPr/>
          </p:nvCxnSpPr>
          <p:spPr>
            <a:xfrm>
              <a:off x="6308413" y="4644590"/>
              <a:ext cx="3672715" cy="0"/>
            </a:xfrm>
            <a:prstGeom prst="straightConnector1">
              <a:avLst/>
            </a:prstGeom>
            <a:solidFill>
              <a:sysClr val="window" lastClr="FFFFFF"/>
            </a:solidFill>
            <a:ln w="19050" cap="flat" cmpd="sng" algn="ctr">
              <a:solidFill>
                <a:sysClr val="windowText" lastClr="000000"/>
              </a:solidFill>
              <a:prstDash val="solid"/>
              <a:miter lim="800000"/>
              <a:tailEnd type="arrow"/>
            </a:ln>
            <a:effectLst/>
          </p:spPr>
        </p:cxnSp>
        <p:cxnSp>
          <p:nvCxnSpPr>
            <p:cNvPr id="86" name="Gerade Verbindung 418">
              <a:extLst>
                <a:ext uri="{FF2B5EF4-FFF2-40B4-BE49-F238E27FC236}">
                  <a16:creationId xmlns:a16="http://schemas.microsoft.com/office/drawing/2014/main" id="{D2C597BB-EF35-4D89-B3F1-07FA5793A27F}"/>
                </a:ext>
              </a:extLst>
            </p:cNvPr>
            <p:cNvCxnSpPr/>
            <p:nvPr/>
          </p:nvCxnSpPr>
          <p:spPr>
            <a:xfrm>
              <a:off x="6544070"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87" name="Gerade Verbindung 419">
              <a:extLst>
                <a:ext uri="{FF2B5EF4-FFF2-40B4-BE49-F238E27FC236}">
                  <a16:creationId xmlns:a16="http://schemas.microsoft.com/office/drawing/2014/main" id="{AA68A419-E106-4CC5-BF62-1E35E44D8474}"/>
                </a:ext>
              </a:extLst>
            </p:cNvPr>
            <p:cNvCxnSpPr/>
            <p:nvPr/>
          </p:nvCxnSpPr>
          <p:spPr>
            <a:xfrm>
              <a:off x="695065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88" name="Gerade Verbindung 420">
              <a:extLst>
                <a:ext uri="{FF2B5EF4-FFF2-40B4-BE49-F238E27FC236}">
                  <a16:creationId xmlns:a16="http://schemas.microsoft.com/office/drawing/2014/main" id="{109AD484-5768-4D0B-BA5D-F99143308AD6}"/>
                </a:ext>
              </a:extLst>
            </p:cNvPr>
            <p:cNvCxnSpPr/>
            <p:nvPr/>
          </p:nvCxnSpPr>
          <p:spPr>
            <a:xfrm>
              <a:off x="6451207" y="464558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89" name="Gerade Verbindung 421">
              <a:extLst>
                <a:ext uri="{FF2B5EF4-FFF2-40B4-BE49-F238E27FC236}">
                  <a16:creationId xmlns:a16="http://schemas.microsoft.com/office/drawing/2014/main" id="{A815C2AE-7DDF-4C54-9F26-DF27185CB628}"/>
                </a:ext>
              </a:extLst>
            </p:cNvPr>
            <p:cNvCxnSpPr/>
            <p:nvPr/>
          </p:nvCxnSpPr>
          <p:spPr>
            <a:xfrm>
              <a:off x="6890134"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0" name="Gerade Verbindung 422">
              <a:extLst>
                <a:ext uri="{FF2B5EF4-FFF2-40B4-BE49-F238E27FC236}">
                  <a16:creationId xmlns:a16="http://schemas.microsoft.com/office/drawing/2014/main" id="{D40B4F33-BB54-4A5C-884F-56F5E3F2CA76}"/>
                </a:ext>
              </a:extLst>
            </p:cNvPr>
            <p:cNvCxnSpPr/>
            <p:nvPr/>
          </p:nvCxnSpPr>
          <p:spPr>
            <a:xfrm>
              <a:off x="7344835"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1" name="Gerade Verbindung 423">
              <a:extLst>
                <a:ext uri="{FF2B5EF4-FFF2-40B4-BE49-F238E27FC236}">
                  <a16:creationId xmlns:a16="http://schemas.microsoft.com/office/drawing/2014/main" id="{806AD40C-F53D-4AFF-94AD-A0C0F7A31B1F}"/>
                </a:ext>
              </a:extLst>
            </p:cNvPr>
            <p:cNvCxnSpPr/>
            <p:nvPr/>
          </p:nvCxnSpPr>
          <p:spPr>
            <a:xfrm>
              <a:off x="784197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2" name="Gerade Verbindung 424">
              <a:extLst>
                <a:ext uri="{FF2B5EF4-FFF2-40B4-BE49-F238E27FC236}">
                  <a16:creationId xmlns:a16="http://schemas.microsoft.com/office/drawing/2014/main" id="{6A2507A3-CB4E-4E2D-8B97-C83832D0945A}"/>
                </a:ext>
              </a:extLst>
            </p:cNvPr>
            <p:cNvCxnSpPr/>
            <p:nvPr/>
          </p:nvCxnSpPr>
          <p:spPr>
            <a:xfrm>
              <a:off x="7251973" y="4645590"/>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3" name="Gerade Verbindung 425">
              <a:extLst>
                <a:ext uri="{FF2B5EF4-FFF2-40B4-BE49-F238E27FC236}">
                  <a16:creationId xmlns:a16="http://schemas.microsoft.com/office/drawing/2014/main" id="{7AB7A4FF-237D-4703-85AC-11783EA1A5F0}"/>
                </a:ext>
              </a:extLst>
            </p:cNvPr>
            <p:cNvCxnSpPr/>
            <p:nvPr/>
          </p:nvCxnSpPr>
          <p:spPr>
            <a:xfrm>
              <a:off x="7781456"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4" name="Gerade Verbindung 426">
              <a:extLst>
                <a:ext uri="{FF2B5EF4-FFF2-40B4-BE49-F238E27FC236}">
                  <a16:creationId xmlns:a16="http://schemas.microsoft.com/office/drawing/2014/main" id="{4EDC56C4-5CD3-4D2B-ABB8-3D0DA5565778}"/>
                </a:ext>
              </a:extLst>
            </p:cNvPr>
            <p:cNvCxnSpPr/>
            <p:nvPr/>
          </p:nvCxnSpPr>
          <p:spPr>
            <a:xfrm>
              <a:off x="8436731"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5" name="Gerade Verbindung 427">
              <a:extLst>
                <a:ext uri="{FF2B5EF4-FFF2-40B4-BE49-F238E27FC236}">
                  <a16:creationId xmlns:a16="http://schemas.microsoft.com/office/drawing/2014/main" id="{6C366B79-7B3D-4E42-A026-9AF0E61CE791}"/>
                </a:ext>
              </a:extLst>
            </p:cNvPr>
            <p:cNvCxnSpPr/>
            <p:nvPr/>
          </p:nvCxnSpPr>
          <p:spPr>
            <a:xfrm>
              <a:off x="9024141"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6" name="Gerade Verbindung 428">
              <a:extLst>
                <a:ext uri="{FF2B5EF4-FFF2-40B4-BE49-F238E27FC236}">
                  <a16:creationId xmlns:a16="http://schemas.microsoft.com/office/drawing/2014/main" id="{9532E498-EFA8-4D5F-ACB1-B8BE1B659CBC}"/>
                </a:ext>
              </a:extLst>
            </p:cNvPr>
            <p:cNvCxnSpPr/>
            <p:nvPr/>
          </p:nvCxnSpPr>
          <p:spPr>
            <a:xfrm>
              <a:off x="8343871" y="4645590"/>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7" name="Gerade Verbindung 429">
              <a:extLst>
                <a:ext uri="{FF2B5EF4-FFF2-40B4-BE49-F238E27FC236}">
                  <a16:creationId xmlns:a16="http://schemas.microsoft.com/office/drawing/2014/main" id="{123A180C-CB4E-416B-8109-469AACFA75B6}"/>
                </a:ext>
              </a:extLst>
            </p:cNvPr>
            <p:cNvCxnSpPr/>
            <p:nvPr/>
          </p:nvCxnSpPr>
          <p:spPr>
            <a:xfrm>
              <a:off x="8873352" y="4648909"/>
              <a:ext cx="0" cy="198155"/>
            </a:xfrm>
            <a:prstGeom prst="line">
              <a:avLst/>
            </a:prstGeom>
            <a:solidFill>
              <a:sysClr val="window" lastClr="FFFFFF"/>
            </a:solidFill>
            <a:ln w="28575" cap="flat" cmpd="sng" algn="ctr">
              <a:solidFill>
                <a:srgbClr val="C00000"/>
              </a:solidFill>
              <a:prstDash val="solid"/>
              <a:miter lim="800000"/>
            </a:ln>
            <a:effectLst/>
          </p:spPr>
        </p:cxnSp>
        <p:cxnSp>
          <p:nvCxnSpPr>
            <p:cNvPr id="98" name="Gerade Verbindung 430">
              <a:extLst>
                <a:ext uri="{FF2B5EF4-FFF2-40B4-BE49-F238E27FC236}">
                  <a16:creationId xmlns:a16="http://schemas.microsoft.com/office/drawing/2014/main" id="{2FED1263-7537-42BF-8BC8-6D4EE611B2C6}"/>
                </a:ext>
              </a:extLst>
            </p:cNvPr>
            <p:cNvCxnSpPr/>
            <p:nvPr/>
          </p:nvCxnSpPr>
          <p:spPr>
            <a:xfrm>
              <a:off x="9596726" y="4445220"/>
              <a:ext cx="0" cy="198155"/>
            </a:xfrm>
            <a:prstGeom prst="line">
              <a:avLst/>
            </a:prstGeom>
            <a:solidFill>
              <a:sysClr val="window" lastClr="FFFFFF"/>
            </a:solidFill>
            <a:ln w="28575" cap="flat" cmpd="sng" algn="ctr">
              <a:solidFill>
                <a:srgbClr val="0070C0"/>
              </a:solidFill>
              <a:prstDash val="solid"/>
              <a:miter lim="800000"/>
            </a:ln>
            <a:effectLst/>
          </p:spPr>
        </p:cxnSp>
        <p:cxnSp>
          <p:nvCxnSpPr>
            <p:cNvPr id="99" name="Gerade Verbindung 431">
              <a:extLst>
                <a:ext uri="{FF2B5EF4-FFF2-40B4-BE49-F238E27FC236}">
                  <a16:creationId xmlns:a16="http://schemas.microsoft.com/office/drawing/2014/main" id="{84C1D26F-5C8C-45DF-AD55-3A3F99BF62B7}"/>
                </a:ext>
              </a:extLst>
            </p:cNvPr>
            <p:cNvCxnSpPr/>
            <p:nvPr/>
          </p:nvCxnSpPr>
          <p:spPr>
            <a:xfrm>
              <a:off x="9500284" y="4653375"/>
              <a:ext cx="0" cy="198155"/>
            </a:xfrm>
            <a:prstGeom prst="line">
              <a:avLst/>
            </a:prstGeom>
            <a:solidFill>
              <a:sysClr val="window" lastClr="FFFFFF"/>
            </a:solidFill>
            <a:ln w="28575" cap="flat" cmpd="sng" algn="ctr">
              <a:solidFill>
                <a:srgbClr val="C00000"/>
              </a:solidFill>
              <a:prstDash val="solid"/>
              <a:miter lim="800000"/>
            </a:ln>
            <a:effectLst/>
          </p:spPr>
        </p:cxnSp>
      </p:grpSp>
      <p:sp>
        <p:nvSpPr>
          <p:cNvPr id="183" name="Textfeld 182">
            <a:extLst>
              <a:ext uri="{FF2B5EF4-FFF2-40B4-BE49-F238E27FC236}">
                <a16:creationId xmlns:a16="http://schemas.microsoft.com/office/drawing/2014/main" id="{78515621-2062-41F4-B63A-396266A4B243}"/>
              </a:ext>
            </a:extLst>
          </p:cNvPr>
          <p:cNvSpPr txBox="1"/>
          <p:nvPr/>
        </p:nvSpPr>
        <p:spPr>
          <a:xfrm>
            <a:off x="752475" y="1033600"/>
            <a:ext cx="4435029" cy="400110"/>
          </a:xfrm>
          <a:prstGeom prst="rect">
            <a:avLst/>
          </a:prstGeom>
          <a:noFill/>
        </p:spPr>
        <p:txBody>
          <a:bodyPr wrap="square" rtlCol="0">
            <a:spAutoFit/>
          </a:bodyPr>
          <a:lstStyle/>
          <a:p>
            <a:pPr>
              <a:defRPr sz="1875" b="1">
                <a:solidFill>
                  <a:srgbClr val="AD8600"/>
                </a:solidFill>
                <a:latin typeface="Arial"/>
                <a:ea typeface="Arial"/>
                <a:cs typeface="Arial"/>
              </a:defRPr>
            </a:pPr>
            <a:r>
              <a:rPr lang="en-US" sz="2000" b="1" dirty="0">
                <a:solidFill>
                  <a:srgbClr val="AD8600"/>
                </a:solidFill>
                <a:latin typeface="Arial"/>
                <a:cs typeface="Arial"/>
              </a:rPr>
              <a:t>FCDT response strategies</a:t>
            </a:r>
          </a:p>
        </p:txBody>
      </p:sp>
      <p:sp>
        <p:nvSpPr>
          <p:cNvPr id="2" name="Textfeld 1">
            <a:extLst>
              <a:ext uri="{FF2B5EF4-FFF2-40B4-BE49-F238E27FC236}">
                <a16:creationId xmlns:a16="http://schemas.microsoft.com/office/drawing/2014/main" id="{EB415EAF-857B-441B-BC6B-363FA98CEFA7}"/>
              </a:ext>
            </a:extLst>
          </p:cNvPr>
          <p:cNvSpPr txBox="1"/>
          <p:nvPr/>
        </p:nvSpPr>
        <p:spPr>
          <a:xfrm>
            <a:off x="5230347" y="1627347"/>
            <a:ext cx="3124501" cy="584775"/>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Participants adhere to one of three strategies</a:t>
            </a:r>
          </a:p>
        </p:txBody>
      </p:sp>
      <p:sp>
        <p:nvSpPr>
          <p:cNvPr id="189" name="Textfeld 188">
            <a:extLst>
              <a:ext uri="{FF2B5EF4-FFF2-40B4-BE49-F238E27FC236}">
                <a16:creationId xmlns:a16="http://schemas.microsoft.com/office/drawing/2014/main" id="{E52A5178-6D17-410F-95CA-D6466EDB09F5}"/>
              </a:ext>
            </a:extLst>
          </p:cNvPr>
          <p:cNvSpPr txBox="1"/>
          <p:nvPr/>
        </p:nvSpPr>
        <p:spPr>
          <a:xfrm>
            <a:off x="1489436" y="4028007"/>
            <a:ext cx="6165128" cy="584775"/>
          </a:xfrm>
          <a:prstGeom prst="rect">
            <a:avLst/>
          </a:prstGeom>
          <a:noFill/>
        </p:spPr>
        <p:txBody>
          <a:bodyPr wrap="square">
            <a:spAutoFit/>
          </a:bodyPr>
          <a:lstStyle/>
          <a:p>
            <a:pPr algn="ctr"/>
            <a:r>
              <a:rPr lang="en-US" sz="1600" b="1" dirty="0">
                <a:solidFill>
                  <a:srgbClr val="AD8600"/>
                </a:solidFill>
                <a:latin typeface="Arial"/>
                <a:cs typeface="Arial"/>
              </a:rPr>
              <a:t>How can we explain the strategies’ formation? </a:t>
            </a:r>
          </a:p>
          <a:p>
            <a:pPr marL="285750" indent="-285750" algn="ctr">
              <a:buFont typeface="Wingdings" panose="05000000000000000000" pitchFamily="2" charset="2"/>
              <a:buChar char="Ø"/>
            </a:pPr>
            <a:r>
              <a:rPr lang="en-US" sz="1600" dirty="0">
                <a:latin typeface="Arial" panose="020B0604020202020204" pitchFamily="34" charset="0"/>
                <a:cs typeface="Arial" panose="020B0604020202020204" pitchFamily="34" charset="0"/>
              </a:rPr>
              <a:t>Novel experimental work and theoretical approaches</a:t>
            </a:r>
          </a:p>
        </p:txBody>
      </p:sp>
    </p:spTree>
    <p:extLst>
      <p:ext uri="{BB962C8B-B14F-4D97-AF65-F5344CB8AC3E}">
        <p14:creationId xmlns:p14="http://schemas.microsoft.com/office/powerpoint/2010/main" val="2615071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B4B471EB-3919-409C-B1F7-F27E7D00D225}"/>
              </a:ext>
            </a:extLst>
          </p:cNvPr>
          <p:cNvSpPr>
            <a:spLocks noGrp="1"/>
          </p:cNvSpPr>
          <p:nvPr/>
        </p:nvSpPr>
        <p:spPr>
          <a:xfrm>
            <a:off x="752475" y="3137605"/>
            <a:ext cx="7810500" cy="1252581"/>
          </a:xfrm>
          <a:prstGeom prst="rect">
            <a:avLst/>
          </a:prstGeom>
          <a:noFill/>
          <a:ln w="0">
            <a:noFill/>
          </a:ln>
        </p:spPr>
        <p:txBody>
          <a:bodyPr lIns="0" tIns="0" rIns="0" bIns="0" anchor="t">
            <a:noAutofit/>
          </a:bodyPr>
          <a:lstStyle/>
          <a:p>
            <a:pPr marL="342900" indent="-342900" algn="l">
              <a:buFont typeface="Arial" panose="020B0604020202020204" pitchFamily="34" charset="0"/>
              <a:buChar char="•"/>
              <a:defRPr sz="1875" b="0">
                <a:solidFill>
                  <a:srgbClr val="111111"/>
                </a:solidFill>
                <a:latin typeface="Arial"/>
                <a:ea typeface="Arial"/>
                <a:cs typeface="Arial"/>
              </a:defRPr>
            </a:pPr>
            <a:r>
              <a:rPr lang="en-US" b="0" dirty="0">
                <a:solidFill>
                  <a:srgbClr val="111111"/>
                </a:solidFill>
                <a:latin typeface="Arial"/>
                <a:ea typeface="Arial"/>
                <a:cs typeface="Arial"/>
              </a:rPr>
              <a:t>Behavioral assessment of response strategies with experimental manipulations</a:t>
            </a:r>
          </a:p>
          <a:p>
            <a:pPr marL="342900" indent="-342900">
              <a:buFont typeface="Arial" panose="020B0604020202020204" pitchFamily="34" charset="0"/>
              <a:buChar char="•"/>
              <a:defRPr sz="1875" b="0">
                <a:solidFill>
                  <a:srgbClr val="111111"/>
                </a:solidFill>
                <a:latin typeface="Arial"/>
                <a:ea typeface="Arial"/>
                <a:cs typeface="Arial"/>
              </a:defRPr>
            </a:pPr>
            <a:r>
              <a:rPr lang="en-US" b="0" dirty="0">
                <a:solidFill>
                  <a:srgbClr val="111111"/>
                </a:solidFill>
                <a:latin typeface="Arial"/>
                <a:ea typeface="Arial"/>
                <a:cs typeface="Arial"/>
              </a:rPr>
              <a:t>Neurophysiological </a:t>
            </a:r>
            <a:r>
              <a:rPr lang="en-US" dirty="0">
                <a:solidFill>
                  <a:srgbClr val="111111"/>
                </a:solidFill>
                <a:latin typeface="Arial"/>
                <a:ea typeface="Arial"/>
                <a:cs typeface="Arial"/>
              </a:rPr>
              <a:t>markers of sensitivities (</a:t>
            </a:r>
            <a:r>
              <a:rPr lang="en-US" b="0" dirty="0">
                <a:solidFill>
                  <a:srgbClr val="111111"/>
                </a:solidFill>
                <a:latin typeface="Arial"/>
                <a:ea typeface="Arial"/>
                <a:cs typeface="Arial"/>
              </a:rPr>
              <a:t>EEG)</a:t>
            </a:r>
          </a:p>
          <a:p>
            <a:pPr marL="342900" indent="-342900" algn="l">
              <a:buFont typeface="Arial" panose="020B0604020202020204" pitchFamily="34" charset="0"/>
              <a:buChar char="•"/>
              <a:defRPr sz="1875" b="0">
                <a:solidFill>
                  <a:srgbClr val="111111"/>
                </a:solidFill>
                <a:latin typeface="Arial"/>
                <a:ea typeface="Arial"/>
                <a:cs typeface="Arial"/>
              </a:defRPr>
            </a:pPr>
            <a:r>
              <a:rPr lang="en-US" b="0" dirty="0">
                <a:solidFill>
                  <a:srgbClr val="111111"/>
                </a:solidFill>
                <a:latin typeface="Arial"/>
                <a:ea typeface="Arial"/>
                <a:cs typeface="Arial"/>
              </a:rPr>
              <a:t>Questionnaires for self-reported preferences, cognitive tasks</a:t>
            </a:r>
          </a:p>
          <a:p>
            <a:pPr algn="l">
              <a:defRPr sz="1875" b="0">
                <a:solidFill>
                  <a:srgbClr val="111111"/>
                </a:solidFill>
                <a:latin typeface="Arial"/>
                <a:ea typeface="Arial"/>
                <a:cs typeface="Arial"/>
              </a:defRPr>
            </a:pPr>
            <a:endParaRPr lang="en-US" b="0" dirty="0">
              <a:solidFill>
                <a:srgbClr val="111111"/>
              </a:solidFill>
              <a:latin typeface="Arial"/>
              <a:ea typeface="Arial"/>
              <a:cs typeface="Arial"/>
            </a:endParaRPr>
          </a:p>
        </p:txBody>
      </p:sp>
      <p:sp>
        <p:nvSpPr>
          <p:cNvPr id="10" name="Rechteck 9">
            <a:extLst>
              <a:ext uri="{FF2B5EF4-FFF2-40B4-BE49-F238E27FC236}">
                <a16:creationId xmlns:a16="http://schemas.microsoft.com/office/drawing/2014/main" id="{7EBF8906-DCF3-4877-A220-866DCBB95937}"/>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sz="2800" b="0" dirty="0">
                <a:solidFill>
                  <a:srgbClr val="111111"/>
                </a:solidFill>
                <a:latin typeface="Arial"/>
                <a:ea typeface="Arial"/>
                <a:cs typeface="Arial"/>
              </a:rPr>
              <a:t>Candidate </a:t>
            </a:r>
            <a:r>
              <a:rPr lang="de-DE" sz="2800" b="0" dirty="0">
                <a:solidFill>
                  <a:srgbClr val="111111"/>
                </a:solidFill>
                <a:latin typeface="Arial"/>
                <a:ea typeface="Arial"/>
                <a:cs typeface="Arial"/>
              </a:rPr>
              <a:t>D</a:t>
            </a:r>
            <a:r>
              <a:rPr sz="2800" b="0" dirty="0" err="1">
                <a:solidFill>
                  <a:srgbClr val="111111"/>
                </a:solidFill>
                <a:latin typeface="Arial"/>
                <a:ea typeface="Arial"/>
                <a:cs typeface="Arial"/>
              </a:rPr>
              <a:t>eterminants</a:t>
            </a:r>
            <a:r>
              <a:rPr sz="2800" b="0" dirty="0">
                <a:solidFill>
                  <a:srgbClr val="111111"/>
                </a:solidFill>
                <a:latin typeface="Arial"/>
                <a:ea typeface="Arial"/>
                <a:cs typeface="Arial"/>
              </a:rPr>
              <a:t> of </a:t>
            </a:r>
            <a:r>
              <a:rPr lang="de-DE" sz="2800" b="0" dirty="0">
                <a:solidFill>
                  <a:srgbClr val="111111"/>
                </a:solidFill>
                <a:latin typeface="Arial"/>
                <a:ea typeface="Arial"/>
                <a:cs typeface="Arial"/>
              </a:rPr>
              <a:t>S</a:t>
            </a:r>
            <a:r>
              <a:rPr sz="2800" b="0" dirty="0" err="1">
                <a:solidFill>
                  <a:srgbClr val="111111"/>
                </a:solidFill>
                <a:latin typeface="Arial"/>
                <a:ea typeface="Arial"/>
                <a:cs typeface="Arial"/>
              </a:rPr>
              <a:t>trategy</a:t>
            </a:r>
            <a:r>
              <a:rPr sz="2800" b="0" dirty="0">
                <a:solidFill>
                  <a:srgbClr val="111111"/>
                </a:solidFill>
                <a:latin typeface="Arial"/>
                <a:ea typeface="Arial"/>
                <a:cs typeface="Arial"/>
              </a:rPr>
              <a:t> </a:t>
            </a:r>
            <a:r>
              <a:rPr lang="de-DE" sz="2800" b="0" dirty="0">
                <a:solidFill>
                  <a:srgbClr val="111111"/>
                </a:solidFill>
                <a:latin typeface="Arial"/>
                <a:ea typeface="Arial"/>
                <a:cs typeface="Arial"/>
              </a:rPr>
              <a:t>F</a:t>
            </a:r>
            <a:r>
              <a:rPr sz="2800" b="0" dirty="0" err="1">
                <a:solidFill>
                  <a:srgbClr val="111111"/>
                </a:solidFill>
                <a:latin typeface="Arial"/>
                <a:ea typeface="Arial"/>
                <a:cs typeface="Arial"/>
              </a:rPr>
              <a:t>ormation</a:t>
            </a:r>
            <a:endParaRPr sz="2800" b="0" dirty="0">
              <a:solidFill>
                <a:srgbClr val="111111"/>
              </a:solidFill>
              <a:latin typeface="Arial"/>
              <a:ea typeface="Arial"/>
              <a:cs typeface="Arial"/>
            </a:endParaRPr>
          </a:p>
        </p:txBody>
      </p:sp>
      <p:sp>
        <p:nvSpPr>
          <p:cNvPr id="2" name="Rechteck 1">
            <a:extLst>
              <a:ext uri="{FF2B5EF4-FFF2-40B4-BE49-F238E27FC236}">
                <a16:creationId xmlns:a16="http://schemas.microsoft.com/office/drawing/2014/main" id="{F9B7FC69-B85E-4249-9DE9-EED447BC7E08}"/>
              </a:ext>
            </a:extLst>
          </p:cNvPr>
          <p:cNvSpPr>
            <a:spLocks noGrp="1"/>
          </p:cNvSpPr>
          <p:nvPr/>
        </p:nvSpPr>
        <p:spPr>
          <a:xfrm>
            <a:off x="752475" y="1100139"/>
            <a:ext cx="7810500" cy="352425"/>
          </a:xfrm>
          <a:prstGeom prst="rect">
            <a:avLst/>
          </a:prstGeom>
          <a:noFill/>
          <a:ln w="0">
            <a:noFill/>
          </a:ln>
        </p:spPr>
        <p:txBody>
          <a:bodyPr lIns="0" tIns="0" rIns="0" bIns="0" anchor="t">
            <a:noAutofit/>
          </a:bodyPr>
          <a:lstStyle/>
          <a:p>
            <a:pPr algn="l">
              <a:defRPr sz="2100" b="1">
                <a:solidFill>
                  <a:srgbClr val="AD8600"/>
                </a:solidFill>
                <a:latin typeface="Arial"/>
                <a:ea typeface="Arial"/>
                <a:cs typeface="Arial"/>
              </a:defRPr>
            </a:pPr>
            <a:r>
              <a:rPr lang="en-US" sz="2100" b="1" dirty="0">
                <a:solidFill>
                  <a:srgbClr val="AD8600"/>
                </a:solidFill>
                <a:latin typeface="Arial"/>
                <a:ea typeface="Arial"/>
                <a:cs typeface="Arial"/>
              </a:rPr>
              <a:t>Objectives</a:t>
            </a:r>
            <a:endParaRPr sz="2100" b="1" dirty="0">
              <a:solidFill>
                <a:srgbClr val="AD8600"/>
              </a:solidFill>
              <a:latin typeface="Arial"/>
              <a:ea typeface="Arial"/>
              <a:cs typeface="Arial"/>
            </a:endParaRPr>
          </a:p>
        </p:txBody>
      </p:sp>
      <p:sp>
        <p:nvSpPr>
          <p:cNvPr id="3" name="Rechteck 2">
            <a:extLst>
              <a:ext uri="{FF2B5EF4-FFF2-40B4-BE49-F238E27FC236}">
                <a16:creationId xmlns:a16="http://schemas.microsoft.com/office/drawing/2014/main" id="{A9532E6C-0B0C-421F-B8A6-F6F41B90DC9D}"/>
              </a:ext>
            </a:extLst>
          </p:cNvPr>
          <p:cNvSpPr>
            <a:spLocks noGrp="1"/>
          </p:cNvSpPr>
          <p:nvPr/>
        </p:nvSpPr>
        <p:spPr>
          <a:xfrm>
            <a:off x="752475" y="1566847"/>
            <a:ext cx="7810500" cy="900116"/>
          </a:xfrm>
          <a:prstGeom prst="rect">
            <a:avLst/>
          </a:prstGeom>
          <a:noFill/>
          <a:ln w="0">
            <a:noFill/>
          </a:ln>
        </p:spPr>
        <p:txBody>
          <a:bodyPr lIns="0" tIns="0" rIns="0" bIns="0" anchor="t">
            <a:noAutofit/>
          </a:bodyPr>
          <a:lstStyle/>
          <a:p>
            <a:pPr marL="342900" indent="-342900">
              <a:buFont typeface="Arial" panose="020B0604020202020204" pitchFamily="34" charset="0"/>
              <a:buChar char="•"/>
              <a:defRPr sz="1875" b="0">
                <a:solidFill>
                  <a:srgbClr val="111111"/>
                </a:solidFill>
                <a:latin typeface="Arial"/>
                <a:ea typeface="Arial"/>
                <a:cs typeface="Arial"/>
              </a:defRPr>
            </a:pPr>
            <a:r>
              <a:rPr lang="en-US" dirty="0">
                <a:solidFill>
                  <a:srgbClr val="111111"/>
                </a:solidFill>
                <a:latin typeface="Arial"/>
                <a:cs typeface="Arial"/>
              </a:rPr>
              <a:t>Learning and error sensitivity</a:t>
            </a:r>
          </a:p>
          <a:p>
            <a:pPr marL="342900" indent="-342900">
              <a:buFont typeface="Arial" panose="020B0604020202020204" pitchFamily="34" charset="0"/>
              <a:buChar char="•"/>
              <a:defRPr sz="1875" b="0">
                <a:solidFill>
                  <a:srgbClr val="111111"/>
                </a:solidFill>
                <a:latin typeface="Arial"/>
                <a:ea typeface="Arial"/>
                <a:cs typeface="Arial"/>
              </a:defRPr>
            </a:pPr>
            <a:r>
              <a:rPr lang="en-US" dirty="0">
                <a:solidFill>
                  <a:srgbClr val="111111"/>
                </a:solidFill>
                <a:latin typeface="Arial"/>
                <a:cs typeface="Arial"/>
              </a:rPr>
              <a:t>Motivation and reward sensitivity</a:t>
            </a:r>
          </a:p>
          <a:p>
            <a:pPr marL="342900" indent="-342900">
              <a:buFont typeface="Arial" panose="020B0604020202020204" pitchFamily="34" charset="0"/>
              <a:buChar char="•"/>
              <a:defRPr sz="1875" b="0">
                <a:solidFill>
                  <a:srgbClr val="111111"/>
                </a:solidFill>
                <a:latin typeface="Arial"/>
                <a:ea typeface="Arial"/>
                <a:cs typeface="Arial"/>
              </a:defRPr>
            </a:pPr>
            <a:r>
              <a:rPr lang="en-US" dirty="0">
                <a:solidFill>
                  <a:srgbClr val="111111"/>
                </a:solidFill>
                <a:latin typeface="Arial"/>
                <a:cs typeface="Arial"/>
              </a:rPr>
              <a:t>Psychological traits, preferences, and cognitive ability</a:t>
            </a:r>
          </a:p>
        </p:txBody>
      </p:sp>
      <p:sp>
        <p:nvSpPr>
          <p:cNvPr id="4" name="Rechteck 3">
            <a:extLst>
              <a:ext uri="{FF2B5EF4-FFF2-40B4-BE49-F238E27FC236}">
                <a16:creationId xmlns:a16="http://schemas.microsoft.com/office/drawing/2014/main" id="{0DC555EE-BC85-4D96-A895-DD5121252171}"/>
              </a:ext>
            </a:extLst>
          </p:cNvPr>
          <p:cNvSpPr>
            <a:spLocks noGrp="1"/>
          </p:cNvSpPr>
          <p:nvPr/>
        </p:nvSpPr>
        <p:spPr>
          <a:xfrm>
            <a:off x="752475" y="2670896"/>
            <a:ext cx="7810500" cy="352425"/>
          </a:xfrm>
          <a:prstGeom prst="rect">
            <a:avLst/>
          </a:prstGeom>
          <a:noFill/>
          <a:ln w="0">
            <a:noFill/>
          </a:ln>
        </p:spPr>
        <p:txBody>
          <a:bodyPr lIns="0" tIns="0" rIns="0" bIns="0" anchor="t">
            <a:noAutofit/>
          </a:bodyPr>
          <a:lstStyle/>
          <a:p>
            <a:pPr algn="l">
              <a:defRPr sz="2100" b="1">
                <a:solidFill>
                  <a:srgbClr val="AD8600"/>
                </a:solidFill>
                <a:latin typeface="Arial"/>
                <a:ea typeface="Arial"/>
                <a:cs typeface="Arial"/>
              </a:defRPr>
            </a:pPr>
            <a:r>
              <a:rPr lang="en-US" sz="2100" b="1">
                <a:solidFill>
                  <a:srgbClr val="AD8600"/>
                </a:solidFill>
                <a:latin typeface="Arial"/>
                <a:ea typeface="Arial"/>
                <a:cs typeface="Arial"/>
              </a:rPr>
              <a:t>Empirical approach </a:t>
            </a:r>
          </a:p>
        </p:txBody>
      </p:sp>
      <p:sp>
        <p:nvSpPr>
          <p:cNvPr id="9" name="Rechteck 8">
            <a:extLst>
              <a:ext uri="{FF2B5EF4-FFF2-40B4-BE49-F238E27FC236}">
                <a16:creationId xmlns:a16="http://schemas.microsoft.com/office/drawing/2014/main" id="{CD643949-5E8E-430B-BF80-9E0C5933124D}"/>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5</a:t>
            </a:r>
          </a:p>
        </p:txBody>
      </p:sp>
    </p:spTree>
    <p:extLst>
      <p:ext uri="{BB962C8B-B14F-4D97-AF65-F5344CB8AC3E}">
        <p14:creationId xmlns:p14="http://schemas.microsoft.com/office/powerpoint/2010/main" val="915983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6D12FFA5-0DDB-4246-8336-0D3FD151A38A}"/>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lang="en-US" sz="2800" b="0" dirty="0">
                <a:solidFill>
                  <a:srgbClr val="111111"/>
                </a:solidFill>
                <a:latin typeface="Arial"/>
                <a:ea typeface="Arial"/>
                <a:cs typeface="Arial"/>
              </a:rPr>
              <a:t>WP 1.1</a:t>
            </a:r>
            <a:r>
              <a:rPr sz="2800" b="0" dirty="0">
                <a:solidFill>
                  <a:srgbClr val="111111"/>
                </a:solidFill>
                <a:latin typeface="Arial"/>
                <a:ea typeface="Arial"/>
                <a:cs typeface="Arial"/>
              </a:rPr>
              <a:t>: </a:t>
            </a:r>
            <a:r>
              <a:rPr lang="en-US" sz="2800" b="0" dirty="0">
                <a:solidFill>
                  <a:srgbClr val="111111"/>
                </a:solidFill>
                <a:latin typeface="Arial"/>
                <a:ea typeface="Arial"/>
                <a:cs typeface="Arial"/>
              </a:rPr>
              <a:t>Learning Ability and Error Sensitivity</a:t>
            </a:r>
            <a:endParaRPr sz="2800" b="0" dirty="0">
              <a:solidFill>
                <a:srgbClr val="111111"/>
              </a:solidFill>
              <a:latin typeface="Arial"/>
              <a:ea typeface="Arial"/>
              <a:cs typeface="Arial"/>
            </a:endParaRPr>
          </a:p>
        </p:txBody>
      </p:sp>
      <p:sp>
        <p:nvSpPr>
          <p:cNvPr id="3" name="Rechteck 2">
            <a:extLst>
              <a:ext uri="{FF2B5EF4-FFF2-40B4-BE49-F238E27FC236}">
                <a16:creationId xmlns:a16="http://schemas.microsoft.com/office/drawing/2014/main" id="{E897C1D7-D451-4651-BDA4-4A955BDD1B58}"/>
              </a:ext>
            </a:extLst>
          </p:cNvPr>
          <p:cNvSpPr>
            <a:spLocks noGrp="1"/>
          </p:cNvSpPr>
          <p:nvPr/>
        </p:nvSpPr>
        <p:spPr>
          <a:xfrm>
            <a:off x="762000" y="1247774"/>
            <a:ext cx="3810000" cy="381000"/>
          </a:xfrm>
          <a:prstGeom prst="rect">
            <a:avLst/>
          </a:prstGeom>
          <a:noFill/>
          <a:ln w="0">
            <a:noFill/>
          </a:ln>
        </p:spPr>
        <p:txBody>
          <a:bodyPr lIns="0" tIns="0" rIns="0" bIns="0" anchor="t">
            <a:noAutofit/>
          </a:bodyPr>
          <a:lstStyle/>
          <a:p>
            <a:pPr algn="l">
              <a:defRPr sz="2025" b="1">
                <a:solidFill>
                  <a:srgbClr val="AD8600"/>
                </a:solidFill>
                <a:latin typeface="Arial"/>
                <a:ea typeface="Arial"/>
                <a:cs typeface="Arial"/>
              </a:defRPr>
            </a:pPr>
            <a:r>
              <a:rPr lang="de-DE" sz="2000" b="1" dirty="0" err="1">
                <a:solidFill>
                  <a:srgbClr val="AD8600"/>
                </a:solidFill>
                <a:latin typeface="Arial"/>
                <a:ea typeface="Arial"/>
                <a:cs typeface="Arial"/>
              </a:rPr>
              <a:t>Exp</a:t>
            </a:r>
            <a:r>
              <a:rPr lang="de-DE" sz="2000" b="1" dirty="0">
                <a:solidFill>
                  <a:srgbClr val="AD8600"/>
                </a:solidFill>
                <a:latin typeface="Arial"/>
                <a:ea typeface="Arial"/>
                <a:cs typeface="Arial"/>
              </a:rPr>
              <a:t> </a:t>
            </a:r>
            <a:r>
              <a:rPr sz="2000" b="1" dirty="0">
                <a:solidFill>
                  <a:srgbClr val="AD8600"/>
                </a:solidFill>
                <a:latin typeface="Arial"/>
                <a:ea typeface="Arial"/>
                <a:cs typeface="Arial"/>
              </a:rPr>
              <a:t>1a   Strategy development</a:t>
            </a:r>
          </a:p>
        </p:txBody>
      </p:sp>
      <p:sp>
        <p:nvSpPr>
          <p:cNvPr id="4" name="Rechteck 3">
            <a:extLst>
              <a:ext uri="{FF2B5EF4-FFF2-40B4-BE49-F238E27FC236}">
                <a16:creationId xmlns:a16="http://schemas.microsoft.com/office/drawing/2014/main" id="{E39993EF-4B66-4891-8B5C-51B62B934B2E}"/>
              </a:ext>
            </a:extLst>
          </p:cNvPr>
          <p:cNvSpPr>
            <a:spLocks noGrp="1"/>
          </p:cNvSpPr>
          <p:nvPr/>
        </p:nvSpPr>
        <p:spPr>
          <a:xfrm>
            <a:off x="762000" y="1762124"/>
            <a:ext cx="3667125" cy="1362075"/>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Extended FCDT practice</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Track changes in response times,</a:t>
            </a:r>
          </a:p>
          <a:p>
            <a:pPr algn="l">
              <a:defRPr sz="1800" b="0">
                <a:solidFill>
                  <a:srgbClr val="111111"/>
                </a:solidFill>
                <a:latin typeface="Arial"/>
                <a:ea typeface="Arial"/>
                <a:cs typeface="Arial"/>
              </a:defRPr>
            </a:pPr>
            <a:r>
              <a:rPr sz="1800" b="0">
                <a:solidFill>
                  <a:srgbClr val="111111"/>
                </a:solidFill>
                <a:latin typeface="Arial"/>
                <a:ea typeface="Arial"/>
                <a:cs typeface="Arial"/>
              </a:rPr>
              <a:t>errors and strategy use.</a:t>
            </a:r>
          </a:p>
        </p:txBody>
      </p:sp>
      <p:sp>
        <p:nvSpPr>
          <p:cNvPr id="5" name="Rechteck 4">
            <a:extLst>
              <a:ext uri="{FF2B5EF4-FFF2-40B4-BE49-F238E27FC236}">
                <a16:creationId xmlns:a16="http://schemas.microsoft.com/office/drawing/2014/main" id="{AD4E55F0-2062-4167-A02C-3187DA126A89}"/>
              </a:ext>
            </a:extLst>
          </p:cNvPr>
          <p:cNvSpPr>
            <a:spLocks noGrp="1"/>
          </p:cNvSpPr>
          <p:nvPr/>
        </p:nvSpPr>
        <p:spPr>
          <a:xfrm>
            <a:off x="4995025" y="1247774"/>
            <a:ext cx="3667125" cy="381000"/>
          </a:xfrm>
          <a:prstGeom prst="rect">
            <a:avLst/>
          </a:prstGeom>
          <a:noFill/>
          <a:ln w="0">
            <a:noFill/>
          </a:ln>
        </p:spPr>
        <p:txBody>
          <a:bodyPr lIns="0" tIns="0" rIns="0" bIns="0" anchor="t">
            <a:noAutofit/>
          </a:bodyPr>
          <a:lstStyle/>
          <a:p>
            <a:pPr algn="l">
              <a:defRPr sz="2025" b="1">
                <a:solidFill>
                  <a:srgbClr val="AD8600"/>
                </a:solidFill>
                <a:latin typeface="Arial"/>
                <a:ea typeface="Arial"/>
                <a:cs typeface="Arial"/>
              </a:defRPr>
            </a:pPr>
            <a:r>
              <a:rPr lang="de-DE" sz="2000" b="1" dirty="0" err="1">
                <a:solidFill>
                  <a:srgbClr val="AD8600"/>
                </a:solidFill>
                <a:latin typeface="Arial"/>
                <a:ea typeface="Arial"/>
                <a:cs typeface="Arial"/>
              </a:rPr>
              <a:t>Exp</a:t>
            </a:r>
            <a:r>
              <a:rPr lang="de-DE" sz="2000" b="1" dirty="0">
                <a:solidFill>
                  <a:srgbClr val="AD8600"/>
                </a:solidFill>
                <a:latin typeface="Arial"/>
                <a:ea typeface="Arial"/>
                <a:cs typeface="Arial"/>
              </a:rPr>
              <a:t> </a:t>
            </a:r>
            <a:r>
              <a:rPr sz="2000" b="1" dirty="0">
                <a:solidFill>
                  <a:srgbClr val="AD8600"/>
                </a:solidFill>
                <a:latin typeface="Arial"/>
                <a:ea typeface="Arial"/>
                <a:cs typeface="Arial"/>
              </a:rPr>
              <a:t>1b   Task difficulty</a:t>
            </a:r>
          </a:p>
        </p:txBody>
      </p:sp>
      <p:sp>
        <p:nvSpPr>
          <p:cNvPr id="6" name="Rechteck 5">
            <a:extLst>
              <a:ext uri="{FF2B5EF4-FFF2-40B4-BE49-F238E27FC236}">
                <a16:creationId xmlns:a16="http://schemas.microsoft.com/office/drawing/2014/main" id="{A1518690-DCF8-4322-A9B0-7EEAA01D43CB}"/>
              </a:ext>
            </a:extLst>
          </p:cNvPr>
          <p:cNvSpPr>
            <a:spLocks noGrp="1"/>
          </p:cNvSpPr>
          <p:nvPr/>
        </p:nvSpPr>
        <p:spPr>
          <a:xfrm>
            <a:off x="4995025" y="1762124"/>
            <a:ext cx="3667125" cy="1476375"/>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Easy versus difficult</a:t>
            </a:r>
          </a:p>
          <a:p>
            <a:pPr algn="l">
              <a:defRPr sz="1800" b="0">
                <a:solidFill>
                  <a:srgbClr val="111111"/>
                </a:solidFill>
                <a:latin typeface="Arial"/>
                <a:ea typeface="Arial"/>
                <a:cs typeface="Arial"/>
              </a:defRPr>
            </a:pPr>
            <a:r>
              <a:rPr sz="1800" b="0">
                <a:solidFill>
                  <a:srgbClr val="111111"/>
                </a:solidFill>
                <a:latin typeface="Arial"/>
                <a:ea typeface="Arial"/>
                <a:cs typeface="Arial"/>
              </a:rPr>
              <a:t>letter and colour classifications</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Test difficulty × strategy effects.</a:t>
            </a:r>
          </a:p>
        </p:txBody>
      </p:sp>
      <p:sp>
        <p:nvSpPr>
          <p:cNvPr id="7" name="Rechteck 6">
            <a:extLst>
              <a:ext uri="{FF2B5EF4-FFF2-40B4-BE49-F238E27FC236}">
                <a16:creationId xmlns:a16="http://schemas.microsoft.com/office/drawing/2014/main" id="{0D01CB00-7B89-4C96-9D01-064ABEC20B6F}"/>
              </a:ext>
            </a:extLst>
          </p:cNvPr>
          <p:cNvSpPr>
            <a:spLocks noGrp="1"/>
          </p:cNvSpPr>
          <p:nvPr/>
        </p:nvSpPr>
        <p:spPr>
          <a:xfrm>
            <a:off x="714372" y="3257549"/>
            <a:ext cx="7858125" cy="582986"/>
          </a:xfrm>
          <a:prstGeom prst="rect">
            <a:avLst/>
          </a:prstGeom>
          <a:noFill/>
          <a:ln w="0">
            <a:noFill/>
          </a:ln>
        </p:spPr>
        <p:txBody>
          <a:bodyPr lIns="0" tIns="0" rIns="0" bIns="0" anchor="t">
            <a:noAutofit/>
          </a:bodyPr>
          <a:lstStyle/>
          <a:p>
            <a:pPr>
              <a:defRPr sz="1725" b="0">
                <a:solidFill>
                  <a:srgbClr val="111111"/>
                </a:solidFill>
                <a:latin typeface="Arial"/>
                <a:ea typeface="Arial"/>
                <a:cs typeface="Arial"/>
              </a:defRPr>
            </a:pPr>
            <a:r>
              <a:rPr sz="1600" b="1" dirty="0">
                <a:solidFill>
                  <a:srgbClr val="111111"/>
                </a:solidFill>
                <a:latin typeface="Arial"/>
                <a:cs typeface="Arial"/>
              </a:rPr>
              <a:t>EEG during FCDT and a separate flanker task</a:t>
            </a:r>
            <a:r>
              <a:rPr lang="de-DE" sz="1600" b="1" dirty="0">
                <a:solidFill>
                  <a:srgbClr val="111111"/>
                </a:solidFill>
                <a:latin typeface="Arial"/>
                <a:cs typeface="Arial"/>
              </a:rPr>
              <a:t>; </a:t>
            </a:r>
            <a:r>
              <a:rPr lang="de-DE" sz="1600" dirty="0">
                <a:solidFill>
                  <a:srgbClr val="111111"/>
                </a:solidFill>
                <a:latin typeface="Arial"/>
                <a:cs typeface="Arial"/>
              </a:rPr>
              <a:t>N = 90 per </a:t>
            </a:r>
            <a:r>
              <a:rPr lang="en-US" sz="1600" dirty="0">
                <a:solidFill>
                  <a:srgbClr val="111111"/>
                </a:solidFill>
                <a:latin typeface="Arial"/>
                <a:cs typeface="Arial"/>
              </a:rPr>
              <a:t>experiment</a:t>
            </a:r>
          </a:p>
          <a:p>
            <a:pPr>
              <a:defRPr sz="1725" b="0">
                <a:solidFill>
                  <a:srgbClr val="111111"/>
                </a:solidFill>
                <a:latin typeface="Arial"/>
                <a:ea typeface="Arial"/>
                <a:cs typeface="Arial"/>
              </a:defRPr>
            </a:pPr>
            <a:r>
              <a:rPr lang="en-US" sz="1600" b="0" dirty="0">
                <a:solidFill>
                  <a:srgbClr val="111111"/>
                </a:solidFill>
                <a:latin typeface="Arial"/>
                <a:ea typeface="Arial"/>
                <a:cs typeface="Arial"/>
              </a:rPr>
              <a:t>Key variables: response times, error rates, error-related negativity</a:t>
            </a:r>
          </a:p>
          <a:p>
            <a:pPr>
              <a:defRPr sz="1725" b="0">
                <a:solidFill>
                  <a:srgbClr val="111111"/>
                </a:solidFill>
                <a:latin typeface="Arial"/>
                <a:ea typeface="Arial"/>
                <a:cs typeface="Arial"/>
              </a:defRPr>
            </a:pPr>
            <a:endParaRPr lang="de-DE" sz="1600" dirty="0">
              <a:solidFill>
                <a:srgbClr val="111111"/>
              </a:solidFill>
              <a:latin typeface="Arial"/>
              <a:cs typeface="Arial"/>
            </a:endParaRPr>
          </a:p>
        </p:txBody>
      </p:sp>
      <p:sp>
        <p:nvSpPr>
          <p:cNvPr id="8" name="Rechteck 7">
            <a:extLst>
              <a:ext uri="{FF2B5EF4-FFF2-40B4-BE49-F238E27FC236}">
                <a16:creationId xmlns:a16="http://schemas.microsoft.com/office/drawing/2014/main" id="{1E523913-2979-4A23-A19A-CFB23339034B}"/>
              </a:ext>
            </a:extLst>
          </p:cNvPr>
          <p:cNvSpPr>
            <a:spLocks noGrp="1"/>
          </p:cNvSpPr>
          <p:nvPr/>
        </p:nvSpPr>
        <p:spPr>
          <a:xfrm>
            <a:off x="714372" y="3989014"/>
            <a:ext cx="7858125" cy="582986"/>
          </a:xfrm>
          <a:prstGeom prst="rect">
            <a:avLst/>
          </a:prstGeom>
          <a:noFill/>
          <a:ln w="0">
            <a:noFill/>
          </a:ln>
        </p:spPr>
        <p:txBody>
          <a:bodyPr lIns="0" tIns="0" rIns="0" bIns="0" anchor="t">
            <a:noAutofit/>
          </a:bodyPr>
          <a:lstStyle/>
          <a:p>
            <a:pPr algn="l">
              <a:defRPr sz="1575" b="0">
                <a:solidFill>
                  <a:srgbClr val="AD8600"/>
                </a:solidFill>
                <a:latin typeface="Arial"/>
                <a:ea typeface="Arial"/>
                <a:cs typeface="Arial"/>
              </a:defRPr>
            </a:pPr>
            <a:r>
              <a:rPr sz="1600" b="1" dirty="0">
                <a:solidFill>
                  <a:srgbClr val="AD8600"/>
                </a:solidFill>
                <a:latin typeface="Arial"/>
                <a:ea typeface="Arial"/>
                <a:cs typeface="Arial"/>
              </a:rPr>
              <a:t>Prediction: greater learning gains and larger ERN magnitude in </a:t>
            </a:r>
            <a:r>
              <a:rPr lang="de-DE" sz="1600" b="1" dirty="0" err="1">
                <a:solidFill>
                  <a:srgbClr val="AD8600"/>
                </a:solidFill>
                <a:latin typeface="Arial"/>
                <a:ea typeface="Arial"/>
                <a:cs typeface="Arial"/>
              </a:rPr>
              <a:t>switchers</a:t>
            </a:r>
            <a:r>
              <a:rPr lang="de-DE" sz="1600" b="1" dirty="0">
                <a:solidFill>
                  <a:srgbClr val="AD8600"/>
                </a:solidFill>
                <a:latin typeface="Arial"/>
                <a:ea typeface="Arial"/>
                <a:cs typeface="Arial"/>
              </a:rPr>
              <a:t> and </a:t>
            </a:r>
            <a:r>
              <a:rPr lang="de-DE" sz="1600" b="1" dirty="0" err="1">
                <a:solidFill>
                  <a:srgbClr val="AD8600"/>
                </a:solidFill>
                <a:latin typeface="Arial"/>
                <a:ea typeface="Arial"/>
                <a:cs typeface="Arial"/>
              </a:rPr>
              <a:t>response</a:t>
            </a:r>
            <a:r>
              <a:rPr lang="de-DE" sz="1600" b="1" dirty="0">
                <a:solidFill>
                  <a:srgbClr val="AD8600"/>
                </a:solidFill>
                <a:latin typeface="Arial"/>
                <a:ea typeface="Arial"/>
                <a:cs typeface="Arial"/>
              </a:rPr>
              <a:t> </a:t>
            </a:r>
            <a:r>
              <a:rPr lang="de-DE" sz="1600" b="1" dirty="0" err="1">
                <a:solidFill>
                  <a:srgbClr val="AD8600"/>
                </a:solidFill>
                <a:latin typeface="Arial"/>
                <a:ea typeface="Arial"/>
                <a:cs typeface="Arial"/>
              </a:rPr>
              <a:t>groupers</a:t>
            </a:r>
            <a:r>
              <a:rPr sz="1600" b="1" dirty="0">
                <a:solidFill>
                  <a:srgbClr val="AD8600"/>
                </a:solidFill>
                <a:latin typeface="Arial"/>
                <a:ea typeface="Arial"/>
                <a:cs typeface="Arial"/>
              </a:rPr>
              <a:t>.</a:t>
            </a:r>
          </a:p>
        </p:txBody>
      </p:sp>
      <p:sp>
        <p:nvSpPr>
          <p:cNvPr id="10" name="Rechteck 9">
            <a:extLst>
              <a:ext uri="{FF2B5EF4-FFF2-40B4-BE49-F238E27FC236}">
                <a16:creationId xmlns:a16="http://schemas.microsoft.com/office/drawing/2014/main" id="{077887C0-2725-4C3D-A247-410A7AAEDC61}"/>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6</a:t>
            </a:r>
          </a:p>
        </p:txBody>
      </p:sp>
    </p:spTree>
    <p:extLst>
      <p:ext uri="{BB962C8B-B14F-4D97-AF65-F5344CB8AC3E}">
        <p14:creationId xmlns:p14="http://schemas.microsoft.com/office/powerpoint/2010/main" val="91598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56F47D79-68FC-4EC2-A771-C36A326479CD}"/>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lang="en-US" sz="2800" b="0" dirty="0">
                <a:solidFill>
                  <a:srgbClr val="111111"/>
                </a:solidFill>
                <a:latin typeface="Arial"/>
                <a:ea typeface="Arial"/>
                <a:cs typeface="Arial"/>
              </a:rPr>
              <a:t>WP 1.2: Motivation and Reward Sensitivity</a:t>
            </a:r>
          </a:p>
          <a:p>
            <a:pPr algn="r">
              <a:defRPr sz="2625" b="0">
                <a:solidFill>
                  <a:srgbClr val="111111"/>
                </a:solidFill>
                <a:latin typeface="Arial"/>
                <a:ea typeface="Arial"/>
                <a:cs typeface="Arial"/>
              </a:defRPr>
            </a:pPr>
            <a:endParaRPr lang="en-US" sz="2800" b="0" dirty="0">
              <a:solidFill>
                <a:srgbClr val="111111"/>
              </a:solidFill>
              <a:latin typeface="Arial"/>
              <a:ea typeface="Arial"/>
              <a:cs typeface="Arial"/>
            </a:endParaRPr>
          </a:p>
        </p:txBody>
      </p:sp>
      <p:sp>
        <p:nvSpPr>
          <p:cNvPr id="3" name="Rechteck 2">
            <a:extLst>
              <a:ext uri="{FF2B5EF4-FFF2-40B4-BE49-F238E27FC236}">
                <a16:creationId xmlns:a16="http://schemas.microsoft.com/office/drawing/2014/main" id="{1E19E568-28E0-4A00-91E2-7D1A688BC426}"/>
              </a:ext>
            </a:extLst>
          </p:cNvPr>
          <p:cNvSpPr>
            <a:spLocks noGrp="1"/>
          </p:cNvSpPr>
          <p:nvPr/>
        </p:nvSpPr>
        <p:spPr>
          <a:xfrm>
            <a:off x="762000" y="1265143"/>
            <a:ext cx="3908612" cy="361950"/>
          </a:xfrm>
          <a:prstGeom prst="rect">
            <a:avLst/>
          </a:prstGeom>
          <a:noFill/>
          <a:ln w="0">
            <a:noFill/>
          </a:ln>
        </p:spPr>
        <p:txBody>
          <a:bodyPr lIns="0" tIns="0" rIns="0" bIns="0" anchor="t">
            <a:noAutofit/>
          </a:bodyPr>
          <a:lstStyle/>
          <a:p>
            <a:pPr algn="l">
              <a:defRPr sz="1950" b="1">
                <a:solidFill>
                  <a:srgbClr val="AD8600"/>
                </a:solidFill>
                <a:latin typeface="Arial"/>
                <a:ea typeface="Arial"/>
                <a:cs typeface="Arial"/>
              </a:defRPr>
            </a:pPr>
            <a:r>
              <a:rPr lang="de-DE" sz="2000" b="1" dirty="0" err="1">
                <a:solidFill>
                  <a:srgbClr val="AD8600"/>
                </a:solidFill>
                <a:latin typeface="Arial"/>
                <a:ea typeface="Arial"/>
                <a:cs typeface="Arial"/>
              </a:rPr>
              <a:t>Exp</a:t>
            </a:r>
            <a:r>
              <a:rPr lang="de-DE" sz="2000" b="1" dirty="0">
                <a:solidFill>
                  <a:srgbClr val="AD8600"/>
                </a:solidFill>
                <a:latin typeface="Arial"/>
                <a:ea typeface="Arial"/>
                <a:cs typeface="Arial"/>
              </a:rPr>
              <a:t> 2</a:t>
            </a:r>
            <a:r>
              <a:rPr sz="2000" b="1" dirty="0">
                <a:solidFill>
                  <a:srgbClr val="AD8600"/>
                </a:solidFill>
                <a:latin typeface="Arial"/>
                <a:ea typeface="Arial"/>
                <a:cs typeface="Arial"/>
              </a:rPr>
              <a:t>a   Global reward prospect</a:t>
            </a:r>
          </a:p>
        </p:txBody>
      </p:sp>
      <p:sp>
        <p:nvSpPr>
          <p:cNvPr id="4" name="Rechteck 3">
            <a:extLst>
              <a:ext uri="{FF2B5EF4-FFF2-40B4-BE49-F238E27FC236}">
                <a16:creationId xmlns:a16="http://schemas.microsoft.com/office/drawing/2014/main" id="{7DF868F4-D8D3-44EC-B295-A16BA8CAC985}"/>
              </a:ext>
            </a:extLst>
          </p:cNvPr>
          <p:cNvSpPr>
            <a:spLocks noGrp="1"/>
          </p:cNvSpPr>
          <p:nvPr/>
        </p:nvSpPr>
        <p:spPr>
          <a:xfrm>
            <a:off x="762000" y="1779493"/>
            <a:ext cx="3762375" cy="1333500"/>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High or low reward for either task</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Remain low / increase</a:t>
            </a:r>
          </a:p>
          <a:p>
            <a:pPr algn="l">
              <a:defRPr sz="1800" b="0">
                <a:solidFill>
                  <a:srgbClr val="111111"/>
                </a:solidFill>
                <a:latin typeface="Arial"/>
                <a:ea typeface="Arial"/>
                <a:cs typeface="Arial"/>
              </a:defRPr>
            </a:pPr>
            <a:r>
              <a:rPr sz="1800" b="0">
                <a:solidFill>
                  <a:srgbClr val="111111"/>
                </a:solidFill>
                <a:latin typeface="Arial"/>
                <a:ea typeface="Arial"/>
                <a:cs typeface="Arial"/>
              </a:rPr>
              <a:t>Remain high / decrease</a:t>
            </a:r>
          </a:p>
        </p:txBody>
      </p:sp>
      <p:sp>
        <p:nvSpPr>
          <p:cNvPr id="5" name="Rechteck 4">
            <a:extLst>
              <a:ext uri="{FF2B5EF4-FFF2-40B4-BE49-F238E27FC236}">
                <a16:creationId xmlns:a16="http://schemas.microsoft.com/office/drawing/2014/main" id="{6F136E9B-2D9D-4088-88E8-406DE290BDBB}"/>
              </a:ext>
            </a:extLst>
          </p:cNvPr>
          <p:cNvSpPr>
            <a:spLocks noGrp="1"/>
          </p:cNvSpPr>
          <p:nvPr/>
        </p:nvSpPr>
        <p:spPr>
          <a:xfrm>
            <a:off x="4977095" y="1265143"/>
            <a:ext cx="3695700" cy="361950"/>
          </a:xfrm>
          <a:prstGeom prst="rect">
            <a:avLst/>
          </a:prstGeom>
          <a:noFill/>
          <a:ln w="0">
            <a:noFill/>
          </a:ln>
        </p:spPr>
        <p:txBody>
          <a:bodyPr lIns="0" tIns="0" rIns="0" bIns="0" anchor="t">
            <a:noAutofit/>
          </a:bodyPr>
          <a:lstStyle/>
          <a:p>
            <a:pPr algn="l">
              <a:defRPr sz="1950" b="1">
                <a:solidFill>
                  <a:srgbClr val="AD8600"/>
                </a:solidFill>
                <a:latin typeface="Arial"/>
                <a:ea typeface="Arial"/>
                <a:cs typeface="Arial"/>
              </a:defRPr>
            </a:pPr>
            <a:r>
              <a:rPr lang="de-DE" sz="1800" b="1" dirty="0" err="1">
                <a:solidFill>
                  <a:srgbClr val="AD8600"/>
                </a:solidFill>
                <a:latin typeface="Arial"/>
                <a:ea typeface="Arial"/>
                <a:cs typeface="Arial"/>
              </a:rPr>
              <a:t>Exp</a:t>
            </a:r>
            <a:r>
              <a:rPr lang="de-DE" sz="1800" b="1" dirty="0">
                <a:solidFill>
                  <a:srgbClr val="AD8600"/>
                </a:solidFill>
                <a:latin typeface="Arial"/>
                <a:ea typeface="Arial"/>
                <a:cs typeface="Arial"/>
              </a:rPr>
              <a:t> </a:t>
            </a:r>
            <a:r>
              <a:rPr sz="1950" b="1" dirty="0">
                <a:solidFill>
                  <a:srgbClr val="AD8600"/>
                </a:solidFill>
                <a:latin typeface="Arial"/>
                <a:ea typeface="Arial"/>
                <a:cs typeface="Arial"/>
              </a:rPr>
              <a:t>2b   Bonus for switching</a:t>
            </a:r>
          </a:p>
        </p:txBody>
      </p:sp>
      <p:sp>
        <p:nvSpPr>
          <p:cNvPr id="6" name="Rechteck 5">
            <a:extLst>
              <a:ext uri="{FF2B5EF4-FFF2-40B4-BE49-F238E27FC236}">
                <a16:creationId xmlns:a16="http://schemas.microsoft.com/office/drawing/2014/main" id="{0C0ABD67-7526-4F3D-999D-68E07846FB32}"/>
              </a:ext>
            </a:extLst>
          </p:cNvPr>
          <p:cNvSpPr>
            <a:spLocks noGrp="1"/>
          </p:cNvSpPr>
          <p:nvPr/>
        </p:nvSpPr>
        <p:spPr>
          <a:xfrm>
            <a:off x="4977095" y="1779493"/>
            <a:ext cx="3695700" cy="1333500"/>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800" b="0">
                <a:solidFill>
                  <a:srgbClr val="111111"/>
                </a:solidFill>
                <a:latin typeface="Arial"/>
                <a:ea typeface="Arial"/>
                <a:cs typeface="Arial"/>
              </a:rPr>
              <a:t>Reward targets the alternative task</a:t>
            </a:r>
          </a:p>
          <a:p>
            <a:endParaRPr sz="1800" b="0">
              <a:solidFill>
                <a:srgbClr val="111111"/>
              </a:solidFill>
              <a:latin typeface="Arial"/>
              <a:ea typeface="Arial"/>
              <a:cs typeface="Arial"/>
            </a:endParaRPr>
          </a:p>
          <a:p>
            <a:pPr algn="l">
              <a:defRPr sz="1800" b="0">
                <a:solidFill>
                  <a:srgbClr val="111111"/>
                </a:solidFill>
                <a:latin typeface="Arial"/>
                <a:ea typeface="Arial"/>
                <a:cs typeface="Arial"/>
              </a:defRPr>
            </a:pPr>
            <a:r>
              <a:rPr sz="1800" b="0">
                <a:solidFill>
                  <a:srgbClr val="111111"/>
                </a:solidFill>
                <a:latin typeface="Arial"/>
                <a:ea typeface="Arial"/>
                <a:cs typeface="Arial"/>
              </a:rPr>
              <a:t>Bonus versus no bonus</a:t>
            </a:r>
          </a:p>
          <a:p>
            <a:pPr algn="l">
              <a:defRPr sz="1800" b="0">
                <a:solidFill>
                  <a:srgbClr val="111111"/>
                </a:solidFill>
                <a:latin typeface="Arial"/>
                <a:ea typeface="Arial"/>
                <a:cs typeface="Arial"/>
              </a:defRPr>
            </a:pPr>
            <a:r>
              <a:rPr sz="1800" b="0">
                <a:solidFill>
                  <a:srgbClr val="111111"/>
                </a:solidFill>
                <a:latin typeface="Arial"/>
                <a:ea typeface="Arial"/>
                <a:cs typeface="Arial"/>
              </a:rPr>
              <a:t>for an explicit task switch</a:t>
            </a:r>
          </a:p>
        </p:txBody>
      </p:sp>
      <p:sp>
        <p:nvSpPr>
          <p:cNvPr id="10" name="Rechteck 9">
            <a:extLst>
              <a:ext uri="{FF2B5EF4-FFF2-40B4-BE49-F238E27FC236}">
                <a16:creationId xmlns:a16="http://schemas.microsoft.com/office/drawing/2014/main" id="{67F5E47C-329B-4C9E-9C5E-83D0B78447B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7</a:t>
            </a:r>
          </a:p>
        </p:txBody>
      </p:sp>
      <p:sp>
        <p:nvSpPr>
          <p:cNvPr id="12" name="Rechteck 11">
            <a:extLst>
              <a:ext uri="{FF2B5EF4-FFF2-40B4-BE49-F238E27FC236}">
                <a16:creationId xmlns:a16="http://schemas.microsoft.com/office/drawing/2014/main" id="{75C3DB66-8EA1-4A15-98DD-C3E76E471088}"/>
              </a:ext>
            </a:extLst>
          </p:cNvPr>
          <p:cNvSpPr>
            <a:spLocks noGrp="1"/>
          </p:cNvSpPr>
          <p:nvPr/>
        </p:nvSpPr>
        <p:spPr>
          <a:xfrm>
            <a:off x="714372" y="3257549"/>
            <a:ext cx="8077201" cy="508049"/>
          </a:xfrm>
          <a:prstGeom prst="rect">
            <a:avLst/>
          </a:prstGeom>
          <a:noFill/>
          <a:ln w="0">
            <a:noFill/>
          </a:ln>
        </p:spPr>
        <p:txBody>
          <a:bodyPr lIns="0" tIns="0" rIns="0" bIns="0" anchor="t">
            <a:noAutofit/>
          </a:bodyPr>
          <a:lstStyle/>
          <a:p>
            <a:pPr>
              <a:defRPr sz="1725" b="0">
                <a:solidFill>
                  <a:srgbClr val="111111"/>
                </a:solidFill>
                <a:latin typeface="Arial"/>
                <a:ea typeface="Arial"/>
                <a:cs typeface="Arial"/>
              </a:defRPr>
            </a:pPr>
            <a:r>
              <a:rPr sz="1600" b="1" dirty="0">
                <a:solidFill>
                  <a:srgbClr val="111111"/>
                </a:solidFill>
                <a:latin typeface="Arial"/>
                <a:cs typeface="Arial"/>
              </a:rPr>
              <a:t>EEG during FCDT and a separate </a:t>
            </a:r>
            <a:r>
              <a:rPr lang="en-US" sz="1600" b="1" dirty="0">
                <a:solidFill>
                  <a:srgbClr val="111111"/>
                </a:solidFill>
                <a:latin typeface="Arial"/>
                <a:cs typeface="Arial"/>
              </a:rPr>
              <a:t>probabilistic learning task</a:t>
            </a:r>
            <a:r>
              <a:rPr lang="de-DE" sz="1600" b="1" dirty="0">
                <a:solidFill>
                  <a:srgbClr val="111111"/>
                </a:solidFill>
                <a:latin typeface="Arial"/>
                <a:cs typeface="Arial"/>
              </a:rPr>
              <a:t>; </a:t>
            </a:r>
            <a:r>
              <a:rPr lang="de-DE" sz="1600" dirty="0">
                <a:solidFill>
                  <a:srgbClr val="111111"/>
                </a:solidFill>
                <a:latin typeface="Arial"/>
                <a:cs typeface="Arial"/>
              </a:rPr>
              <a:t>N = 90 per </a:t>
            </a:r>
            <a:r>
              <a:rPr lang="de-DE" sz="1600" dirty="0" err="1">
                <a:solidFill>
                  <a:srgbClr val="111111"/>
                </a:solidFill>
                <a:latin typeface="Arial"/>
                <a:cs typeface="Arial"/>
              </a:rPr>
              <a:t>experiment</a:t>
            </a:r>
            <a:endParaRPr lang="de-DE" sz="1600" dirty="0">
              <a:solidFill>
                <a:srgbClr val="111111"/>
              </a:solidFill>
              <a:latin typeface="Arial"/>
              <a:cs typeface="Arial"/>
            </a:endParaRPr>
          </a:p>
          <a:p>
            <a:pPr>
              <a:defRPr sz="1725" b="0">
                <a:solidFill>
                  <a:srgbClr val="111111"/>
                </a:solidFill>
                <a:latin typeface="Arial"/>
                <a:ea typeface="Arial"/>
                <a:cs typeface="Arial"/>
              </a:defRPr>
            </a:pPr>
            <a:r>
              <a:rPr lang="en-US" sz="1600" b="0" dirty="0">
                <a:solidFill>
                  <a:srgbClr val="111111"/>
                </a:solidFill>
                <a:latin typeface="Arial"/>
                <a:ea typeface="Arial"/>
                <a:cs typeface="Arial"/>
              </a:rPr>
              <a:t>Key variables: response times, error rates, switch rate, feedback-related negativity</a:t>
            </a:r>
            <a:endParaRPr lang="de-DE" sz="1600" dirty="0">
              <a:solidFill>
                <a:srgbClr val="111111"/>
              </a:solidFill>
              <a:latin typeface="Arial"/>
              <a:cs typeface="Arial"/>
            </a:endParaRPr>
          </a:p>
        </p:txBody>
      </p:sp>
      <p:sp>
        <p:nvSpPr>
          <p:cNvPr id="14" name="Rechteck 13">
            <a:extLst>
              <a:ext uri="{FF2B5EF4-FFF2-40B4-BE49-F238E27FC236}">
                <a16:creationId xmlns:a16="http://schemas.microsoft.com/office/drawing/2014/main" id="{5DBC469F-6BA2-4AE8-A11A-724CAECDF32D}"/>
              </a:ext>
            </a:extLst>
          </p:cNvPr>
          <p:cNvSpPr>
            <a:spLocks noGrp="1"/>
          </p:cNvSpPr>
          <p:nvPr/>
        </p:nvSpPr>
        <p:spPr>
          <a:xfrm>
            <a:off x="714372" y="3989014"/>
            <a:ext cx="7858125" cy="582986"/>
          </a:xfrm>
          <a:prstGeom prst="rect">
            <a:avLst/>
          </a:prstGeom>
          <a:noFill/>
          <a:ln w="0">
            <a:noFill/>
          </a:ln>
        </p:spPr>
        <p:txBody>
          <a:bodyPr lIns="0" tIns="0" rIns="0" bIns="0" anchor="t">
            <a:noAutofit/>
          </a:bodyPr>
          <a:lstStyle/>
          <a:p>
            <a:pPr algn="l">
              <a:defRPr sz="1575" b="0">
                <a:solidFill>
                  <a:srgbClr val="AD8600"/>
                </a:solidFill>
                <a:latin typeface="Arial"/>
                <a:ea typeface="Arial"/>
                <a:cs typeface="Arial"/>
              </a:defRPr>
            </a:pPr>
            <a:r>
              <a:rPr lang="en-US" sz="1600" b="1" dirty="0">
                <a:solidFill>
                  <a:srgbClr val="AD8600"/>
                </a:solidFill>
                <a:latin typeface="Arial"/>
                <a:ea typeface="Arial"/>
                <a:cs typeface="Arial"/>
              </a:rPr>
              <a:t>Prediction: higher reward sensitivity (</a:t>
            </a:r>
            <a:r>
              <a:rPr lang="en-US" sz="1600" b="1" dirty="0" err="1">
                <a:solidFill>
                  <a:srgbClr val="AD8600"/>
                </a:solidFill>
                <a:latin typeface="Arial"/>
                <a:ea typeface="Arial"/>
                <a:cs typeface="Arial"/>
              </a:rPr>
              <a:t>RewP</a:t>
            </a:r>
            <a:r>
              <a:rPr lang="en-US" sz="1600" b="1" dirty="0">
                <a:solidFill>
                  <a:srgbClr val="AD8600"/>
                </a:solidFill>
                <a:latin typeface="Arial"/>
                <a:ea typeface="Arial"/>
                <a:cs typeface="Arial"/>
              </a:rPr>
              <a:t>) and performance improvement in switchers and response groupers.</a:t>
            </a:r>
          </a:p>
        </p:txBody>
      </p:sp>
    </p:spTree>
    <p:extLst>
      <p:ext uri="{BB962C8B-B14F-4D97-AF65-F5344CB8AC3E}">
        <p14:creationId xmlns:p14="http://schemas.microsoft.com/office/powerpoint/2010/main" val="915983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1B4B2625-B8F2-43BC-9995-4BEFF7E6D510}"/>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lang="en-US" sz="2600" b="0" dirty="0">
                <a:solidFill>
                  <a:srgbClr val="111111"/>
                </a:solidFill>
                <a:latin typeface="Arial"/>
                <a:ea typeface="Arial"/>
                <a:cs typeface="Arial"/>
              </a:rPr>
              <a:t>WP 1.3: </a:t>
            </a:r>
            <a:r>
              <a:rPr sz="2600" b="0" dirty="0">
                <a:solidFill>
                  <a:srgbClr val="111111"/>
                </a:solidFill>
                <a:latin typeface="Arial"/>
                <a:ea typeface="Arial"/>
                <a:cs typeface="Arial"/>
              </a:rPr>
              <a:t>Personality</a:t>
            </a:r>
            <a:r>
              <a:rPr lang="de-DE" sz="2600" b="0" dirty="0">
                <a:solidFill>
                  <a:srgbClr val="111111"/>
                </a:solidFill>
                <a:latin typeface="Arial"/>
                <a:ea typeface="Arial"/>
                <a:cs typeface="Arial"/>
              </a:rPr>
              <a:t>, Preference, </a:t>
            </a:r>
            <a:r>
              <a:rPr sz="2600" b="0" dirty="0">
                <a:solidFill>
                  <a:srgbClr val="111111"/>
                </a:solidFill>
                <a:latin typeface="Arial"/>
                <a:ea typeface="Arial"/>
                <a:cs typeface="Arial"/>
              </a:rPr>
              <a:t>and </a:t>
            </a:r>
            <a:r>
              <a:rPr lang="de-DE" sz="2600" b="0" dirty="0">
                <a:solidFill>
                  <a:srgbClr val="111111"/>
                </a:solidFill>
                <a:latin typeface="Arial"/>
                <a:ea typeface="Arial"/>
                <a:cs typeface="Arial"/>
              </a:rPr>
              <a:t>C</a:t>
            </a:r>
            <a:r>
              <a:rPr sz="2600" b="0" dirty="0" err="1">
                <a:solidFill>
                  <a:srgbClr val="111111"/>
                </a:solidFill>
                <a:latin typeface="Arial"/>
                <a:ea typeface="Arial"/>
                <a:cs typeface="Arial"/>
              </a:rPr>
              <a:t>ognitive</a:t>
            </a:r>
            <a:r>
              <a:rPr sz="2600" b="0" dirty="0">
                <a:solidFill>
                  <a:srgbClr val="111111"/>
                </a:solidFill>
                <a:latin typeface="Arial"/>
                <a:ea typeface="Arial"/>
                <a:cs typeface="Arial"/>
              </a:rPr>
              <a:t> </a:t>
            </a:r>
            <a:r>
              <a:rPr lang="de-DE" sz="2600" b="0" dirty="0">
                <a:solidFill>
                  <a:srgbClr val="111111"/>
                </a:solidFill>
                <a:latin typeface="Arial"/>
                <a:ea typeface="Arial"/>
                <a:cs typeface="Arial"/>
              </a:rPr>
              <a:t>A</a:t>
            </a:r>
            <a:r>
              <a:rPr sz="2600" b="0" dirty="0" err="1">
                <a:solidFill>
                  <a:srgbClr val="111111"/>
                </a:solidFill>
                <a:latin typeface="Arial"/>
                <a:ea typeface="Arial"/>
                <a:cs typeface="Arial"/>
              </a:rPr>
              <a:t>bilit</a:t>
            </a:r>
            <a:r>
              <a:rPr lang="de-DE" sz="2600" b="0" dirty="0">
                <a:solidFill>
                  <a:srgbClr val="111111"/>
                </a:solidFill>
                <a:latin typeface="Arial"/>
                <a:ea typeface="Arial"/>
                <a:cs typeface="Arial"/>
              </a:rPr>
              <a:t>y</a:t>
            </a:r>
            <a:endParaRPr sz="2600" b="0" dirty="0">
              <a:solidFill>
                <a:srgbClr val="111111"/>
              </a:solidFill>
              <a:latin typeface="Arial"/>
              <a:ea typeface="Arial"/>
              <a:cs typeface="Arial"/>
            </a:endParaRPr>
          </a:p>
        </p:txBody>
      </p:sp>
      <p:sp>
        <p:nvSpPr>
          <p:cNvPr id="2" name="Rechteck 1">
            <a:extLst>
              <a:ext uri="{FF2B5EF4-FFF2-40B4-BE49-F238E27FC236}">
                <a16:creationId xmlns:a16="http://schemas.microsoft.com/office/drawing/2014/main" id="{D6CE5A3D-772A-4A76-9C06-064888222A04}"/>
              </a:ext>
            </a:extLst>
          </p:cNvPr>
          <p:cNvSpPr>
            <a:spLocks noGrp="1"/>
          </p:cNvSpPr>
          <p:nvPr/>
        </p:nvSpPr>
        <p:spPr>
          <a:xfrm>
            <a:off x="762000" y="1095375"/>
            <a:ext cx="7905750" cy="333375"/>
          </a:xfrm>
          <a:prstGeom prst="rect">
            <a:avLst/>
          </a:prstGeom>
          <a:noFill/>
          <a:ln w="0">
            <a:noFill/>
          </a:ln>
        </p:spPr>
        <p:txBody>
          <a:bodyPr lIns="0" tIns="0" rIns="0" bIns="0" anchor="t">
            <a:noAutofit/>
          </a:bodyPr>
          <a:lstStyle/>
          <a:p>
            <a:pPr algn="l">
              <a:defRPr sz="1500" b="0">
                <a:solidFill>
                  <a:srgbClr val="AD8600"/>
                </a:solidFill>
                <a:latin typeface="Arial"/>
                <a:ea typeface="Arial"/>
                <a:cs typeface="Arial"/>
              </a:defRPr>
            </a:pPr>
            <a:r>
              <a:rPr sz="2000" b="0" dirty="0">
                <a:solidFill>
                  <a:srgbClr val="AD8600"/>
                </a:solidFill>
                <a:latin typeface="Arial"/>
                <a:ea typeface="Arial"/>
                <a:cs typeface="Arial"/>
              </a:rPr>
              <a:t>Shared test battery across the experimental </a:t>
            </a:r>
            <a:r>
              <a:rPr sz="2000" b="0" dirty="0" err="1">
                <a:solidFill>
                  <a:srgbClr val="AD8600"/>
                </a:solidFill>
                <a:latin typeface="Arial"/>
                <a:ea typeface="Arial"/>
                <a:cs typeface="Arial"/>
              </a:rPr>
              <a:t>programme</a:t>
            </a:r>
            <a:r>
              <a:rPr lang="de-DE" sz="2000" dirty="0">
                <a:solidFill>
                  <a:srgbClr val="AD8600"/>
                </a:solidFill>
                <a:latin typeface="Arial"/>
                <a:ea typeface="Arial"/>
                <a:cs typeface="Arial"/>
              </a:rPr>
              <a:t>:</a:t>
            </a:r>
            <a:endParaRPr sz="2000" b="0" dirty="0">
              <a:solidFill>
                <a:srgbClr val="AD8600"/>
              </a:solidFill>
              <a:latin typeface="Arial"/>
              <a:ea typeface="Arial"/>
              <a:cs typeface="Arial"/>
            </a:endParaRPr>
          </a:p>
        </p:txBody>
      </p:sp>
      <p:sp>
        <p:nvSpPr>
          <p:cNvPr id="3" name="Rechteck 2">
            <a:extLst>
              <a:ext uri="{FF2B5EF4-FFF2-40B4-BE49-F238E27FC236}">
                <a16:creationId xmlns:a16="http://schemas.microsoft.com/office/drawing/2014/main" id="{A0A88D8E-0685-433E-B6E2-A8C9EAB2AFE3}"/>
              </a:ext>
            </a:extLst>
          </p:cNvPr>
          <p:cNvSpPr>
            <a:spLocks noGrp="1"/>
          </p:cNvSpPr>
          <p:nvPr/>
        </p:nvSpPr>
        <p:spPr>
          <a:xfrm>
            <a:off x="762000" y="1724025"/>
            <a:ext cx="3905250" cy="381000"/>
          </a:xfrm>
          <a:prstGeom prst="rect">
            <a:avLst/>
          </a:prstGeom>
          <a:noFill/>
          <a:ln w="0">
            <a:noFill/>
          </a:ln>
        </p:spPr>
        <p:txBody>
          <a:bodyPr lIns="0" tIns="0" rIns="0" bIns="0" anchor="t">
            <a:noAutofit/>
          </a:bodyPr>
          <a:lstStyle/>
          <a:p>
            <a:pPr algn="l">
              <a:defRPr sz="2025" b="1">
                <a:solidFill>
                  <a:srgbClr val="AD8600"/>
                </a:solidFill>
                <a:latin typeface="Arial"/>
                <a:ea typeface="Arial"/>
                <a:cs typeface="Arial"/>
              </a:defRPr>
            </a:pPr>
            <a:r>
              <a:rPr sz="2000" b="1" dirty="0">
                <a:solidFill>
                  <a:srgbClr val="AD8600"/>
                </a:solidFill>
                <a:latin typeface="Arial"/>
                <a:ea typeface="Arial"/>
                <a:cs typeface="Arial"/>
              </a:rPr>
              <a:t>Motivation and preferences</a:t>
            </a:r>
          </a:p>
        </p:txBody>
      </p:sp>
      <p:sp>
        <p:nvSpPr>
          <p:cNvPr id="5" name="Rechteck 4">
            <a:extLst>
              <a:ext uri="{FF2B5EF4-FFF2-40B4-BE49-F238E27FC236}">
                <a16:creationId xmlns:a16="http://schemas.microsoft.com/office/drawing/2014/main" id="{49080474-D61B-4780-BBD5-781E4C2236EA}"/>
              </a:ext>
            </a:extLst>
          </p:cNvPr>
          <p:cNvSpPr>
            <a:spLocks noGrp="1"/>
          </p:cNvSpPr>
          <p:nvPr/>
        </p:nvSpPr>
        <p:spPr>
          <a:xfrm>
            <a:off x="4953000" y="1724025"/>
            <a:ext cx="3714750" cy="381000"/>
          </a:xfrm>
          <a:prstGeom prst="rect">
            <a:avLst/>
          </a:prstGeom>
          <a:noFill/>
          <a:ln w="0">
            <a:noFill/>
          </a:ln>
        </p:spPr>
        <p:txBody>
          <a:bodyPr lIns="0" tIns="0" rIns="0" bIns="0" anchor="t">
            <a:noAutofit/>
          </a:bodyPr>
          <a:lstStyle/>
          <a:p>
            <a:pPr algn="l">
              <a:defRPr sz="2025" b="1">
                <a:solidFill>
                  <a:srgbClr val="AD8600"/>
                </a:solidFill>
                <a:latin typeface="Arial"/>
                <a:ea typeface="Arial"/>
                <a:cs typeface="Arial"/>
              </a:defRPr>
            </a:pPr>
            <a:r>
              <a:rPr sz="2000" b="1" dirty="0">
                <a:solidFill>
                  <a:srgbClr val="AD8600"/>
                </a:solidFill>
                <a:latin typeface="Arial"/>
                <a:ea typeface="Arial"/>
                <a:cs typeface="Arial"/>
              </a:rPr>
              <a:t>Personality and capacity</a:t>
            </a:r>
          </a:p>
        </p:txBody>
      </p:sp>
      <p:sp>
        <p:nvSpPr>
          <p:cNvPr id="6" name="Rechteck 5">
            <a:extLst>
              <a:ext uri="{FF2B5EF4-FFF2-40B4-BE49-F238E27FC236}">
                <a16:creationId xmlns:a16="http://schemas.microsoft.com/office/drawing/2014/main" id="{4020202E-A22E-4C77-8ECB-E0FD2ECBEF73}"/>
              </a:ext>
            </a:extLst>
          </p:cNvPr>
          <p:cNvSpPr>
            <a:spLocks noGrp="1"/>
          </p:cNvSpPr>
          <p:nvPr/>
        </p:nvSpPr>
        <p:spPr>
          <a:xfrm>
            <a:off x="4953000" y="2238375"/>
            <a:ext cx="3714750" cy="1571625"/>
          </a:xfrm>
          <a:prstGeom prst="rect">
            <a:avLst/>
          </a:prstGeom>
          <a:noFill/>
          <a:ln w="0">
            <a:noFill/>
          </a:ln>
        </p:spPr>
        <p:txBody>
          <a:bodyPr lIns="0" tIns="0" rIns="0" bIns="0" anchor="t">
            <a:noAutofit/>
          </a:bodyPr>
          <a:lstStyle/>
          <a:p>
            <a:pPr algn="l">
              <a:defRPr sz="1800" b="0">
                <a:solidFill>
                  <a:srgbClr val="111111"/>
                </a:solidFill>
                <a:latin typeface="Arial"/>
                <a:ea typeface="Arial"/>
                <a:cs typeface="Arial"/>
              </a:defRPr>
            </a:pPr>
            <a:r>
              <a:rPr sz="1800" b="0" dirty="0">
                <a:solidFill>
                  <a:srgbClr val="111111"/>
                </a:solidFill>
                <a:latin typeface="Arial"/>
                <a:ea typeface="Arial"/>
                <a:cs typeface="Arial"/>
              </a:rPr>
              <a:t>Big Five</a:t>
            </a:r>
          </a:p>
          <a:p>
            <a:endParaRPr sz="1800" b="0" dirty="0">
              <a:solidFill>
                <a:srgbClr val="111111"/>
              </a:solidFill>
              <a:latin typeface="Arial"/>
              <a:ea typeface="Arial"/>
              <a:cs typeface="Arial"/>
            </a:endParaRPr>
          </a:p>
          <a:p>
            <a:pPr algn="l">
              <a:defRPr sz="1800" b="0">
                <a:solidFill>
                  <a:srgbClr val="111111"/>
                </a:solidFill>
                <a:latin typeface="Arial"/>
                <a:ea typeface="Arial"/>
                <a:cs typeface="Arial"/>
              </a:defRPr>
            </a:pPr>
            <a:r>
              <a:rPr sz="1800" b="0" dirty="0">
                <a:solidFill>
                  <a:srgbClr val="111111"/>
                </a:solidFill>
                <a:latin typeface="Arial"/>
                <a:ea typeface="Arial"/>
                <a:cs typeface="Arial"/>
              </a:rPr>
              <a:t>Working memory capacity</a:t>
            </a:r>
          </a:p>
          <a:p>
            <a:pPr algn="l">
              <a:defRPr sz="1800" b="0">
                <a:solidFill>
                  <a:srgbClr val="111111"/>
                </a:solidFill>
                <a:latin typeface="Arial"/>
                <a:ea typeface="Arial"/>
                <a:cs typeface="Arial"/>
              </a:defRPr>
            </a:pPr>
            <a:r>
              <a:rPr sz="1600" b="0" dirty="0">
                <a:solidFill>
                  <a:srgbClr val="111111"/>
                </a:solidFill>
                <a:latin typeface="Arial"/>
                <a:ea typeface="Arial"/>
                <a:cs typeface="Arial"/>
              </a:rPr>
              <a:t>Operation Span</a:t>
            </a:r>
          </a:p>
          <a:p>
            <a:pPr algn="l">
              <a:defRPr sz="1800" b="0">
                <a:solidFill>
                  <a:srgbClr val="111111"/>
                </a:solidFill>
                <a:latin typeface="Arial"/>
                <a:ea typeface="Arial"/>
                <a:cs typeface="Arial"/>
              </a:defRPr>
            </a:pPr>
            <a:r>
              <a:rPr sz="1600" b="0" dirty="0">
                <a:solidFill>
                  <a:srgbClr val="111111"/>
                </a:solidFill>
                <a:latin typeface="Arial"/>
                <a:ea typeface="Arial"/>
                <a:cs typeface="Arial"/>
              </a:rPr>
              <a:t>Symmetry Span</a:t>
            </a:r>
          </a:p>
        </p:txBody>
      </p:sp>
      <p:sp>
        <p:nvSpPr>
          <p:cNvPr id="10" name="Rechteck 9">
            <a:extLst>
              <a:ext uri="{FF2B5EF4-FFF2-40B4-BE49-F238E27FC236}">
                <a16:creationId xmlns:a16="http://schemas.microsoft.com/office/drawing/2014/main" id="{9108CE79-1D2B-477E-82B0-2676FDB00DFC}"/>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8</a:t>
            </a:r>
          </a:p>
        </p:txBody>
      </p:sp>
      <p:sp>
        <p:nvSpPr>
          <p:cNvPr id="7" name="Textfeld 6">
            <a:extLst>
              <a:ext uri="{FF2B5EF4-FFF2-40B4-BE49-F238E27FC236}">
                <a16:creationId xmlns:a16="http://schemas.microsoft.com/office/drawing/2014/main" id="{07B87E6B-5D11-4C6C-959A-5903C9A1848A}"/>
              </a:ext>
            </a:extLst>
          </p:cNvPr>
          <p:cNvSpPr txBox="1"/>
          <p:nvPr/>
        </p:nvSpPr>
        <p:spPr>
          <a:xfrm>
            <a:off x="752475" y="2238375"/>
            <a:ext cx="2108269" cy="1477328"/>
          </a:xfrm>
          <a:prstGeom prst="rect">
            <a:avLst/>
          </a:prstGeom>
          <a:noFill/>
        </p:spPr>
        <p:txBody>
          <a:bodyPr wrap="none" rtlCol="0">
            <a:spAutoFit/>
          </a:bodyPr>
          <a:lstStyle/>
          <a:p>
            <a:pPr>
              <a:defRPr sz="1800" b="0">
                <a:solidFill>
                  <a:srgbClr val="111111"/>
                </a:solidFill>
                <a:latin typeface="Arial"/>
                <a:ea typeface="Arial"/>
                <a:cs typeface="Arial"/>
              </a:defRPr>
            </a:pPr>
            <a:r>
              <a:rPr lang="en-US" dirty="0">
                <a:solidFill>
                  <a:srgbClr val="111111"/>
                </a:solidFill>
                <a:latin typeface="Arial"/>
                <a:cs typeface="Arial"/>
              </a:rPr>
              <a:t>Need for Cognition</a:t>
            </a:r>
          </a:p>
          <a:p>
            <a:pPr>
              <a:defRPr sz="1800" b="0">
                <a:solidFill>
                  <a:srgbClr val="111111"/>
                </a:solidFill>
                <a:latin typeface="Arial"/>
                <a:ea typeface="Arial"/>
                <a:cs typeface="Arial"/>
              </a:defRPr>
            </a:pPr>
            <a:r>
              <a:rPr lang="en-US" dirty="0">
                <a:solidFill>
                  <a:srgbClr val="111111"/>
                </a:solidFill>
                <a:latin typeface="Arial"/>
                <a:cs typeface="Arial"/>
              </a:rPr>
              <a:t>Trait Persistence</a:t>
            </a:r>
          </a:p>
          <a:p>
            <a:pPr>
              <a:defRPr sz="1800" b="0">
                <a:solidFill>
                  <a:srgbClr val="111111"/>
                </a:solidFill>
                <a:latin typeface="Arial"/>
                <a:ea typeface="Arial"/>
                <a:cs typeface="Arial"/>
              </a:defRPr>
            </a:pPr>
            <a:r>
              <a:rPr lang="en-US" dirty="0" err="1">
                <a:solidFill>
                  <a:srgbClr val="111111"/>
                </a:solidFill>
                <a:latin typeface="Arial"/>
                <a:cs typeface="Arial"/>
              </a:rPr>
              <a:t>Polychronicity</a:t>
            </a:r>
            <a:endParaRPr lang="en-US" dirty="0">
              <a:solidFill>
                <a:srgbClr val="111111"/>
              </a:solidFill>
              <a:latin typeface="Arial"/>
              <a:cs typeface="Arial"/>
            </a:endParaRPr>
          </a:p>
          <a:p>
            <a:pPr>
              <a:defRPr sz="1800" b="0">
                <a:solidFill>
                  <a:srgbClr val="111111"/>
                </a:solidFill>
                <a:latin typeface="Arial"/>
                <a:ea typeface="Arial"/>
                <a:cs typeface="Arial"/>
              </a:defRPr>
            </a:pPr>
            <a:r>
              <a:rPr lang="en-US" dirty="0">
                <a:solidFill>
                  <a:srgbClr val="111111"/>
                </a:solidFill>
                <a:latin typeface="Arial"/>
                <a:cs typeface="Arial"/>
              </a:rPr>
              <a:t>BIS/BAS</a:t>
            </a:r>
          </a:p>
          <a:p>
            <a:endParaRPr lang="en-US" dirty="0"/>
          </a:p>
        </p:txBody>
      </p:sp>
      <p:sp>
        <p:nvSpPr>
          <p:cNvPr id="12" name="Rechteck 11">
            <a:extLst>
              <a:ext uri="{FF2B5EF4-FFF2-40B4-BE49-F238E27FC236}">
                <a16:creationId xmlns:a16="http://schemas.microsoft.com/office/drawing/2014/main" id="{39684287-DB2C-49DF-B87B-C72BC602DA82}"/>
              </a:ext>
            </a:extLst>
          </p:cNvPr>
          <p:cNvSpPr>
            <a:spLocks noGrp="1"/>
          </p:cNvSpPr>
          <p:nvPr/>
        </p:nvSpPr>
        <p:spPr>
          <a:xfrm>
            <a:off x="762000" y="3906204"/>
            <a:ext cx="8077201" cy="508049"/>
          </a:xfrm>
          <a:prstGeom prst="rect">
            <a:avLst/>
          </a:prstGeom>
          <a:noFill/>
          <a:ln w="0">
            <a:noFill/>
          </a:ln>
        </p:spPr>
        <p:txBody>
          <a:bodyPr lIns="0" tIns="0" rIns="0" bIns="0" anchor="t">
            <a:noAutofit/>
          </a:bodyPr>
          <a:lstStyle/>
          <a:p>
            <a:pPr algn="l">
              <a:defRPr sz="1650" b="0">
                <a:solidFill>
                  <a:srgbClr val="111111"/>
                </a:solidFill>
                <a:latin typeface="Arial"/>
                <a:ea typeface="Arial"/>
                <a:cs typeface="Arial"/>
              </a:defRPr>
            </a:pPr>
            <a:r>
              <a:rPr lang="en-US" sz="1600" b="1" dirty="0">
                <a:solidFill>
                  <a:srgbClr val="111111"/>
                </a:solidFill>
                <a:latin typeface="Arial"/>
                <a:cs typeface="Arial"/>
              </a:rPr>
              <a:t>Shared test battery across the whole experimental </a:t>
            </a:r>
            <a:r>
              <a:rPr lang="en-US" sz="1600" b="1" dirty="0" err="1">
                <a:solidFill>
                  <a:srgbClr val="111111"/>
                </a:solidFill>
                <a:latin typeface="Arial"/>
                <a:cs typeface="Arial"/>
              </a:rPr>
              <a:t>programme</a:t>
            </a:r>
            <a:r>
              <a:rPr lang="de-DE" sz="1600" b="1" dirty="0">
                <a:solidFill>
                  <a:srgbClr val="111111"/>
                </a:solidFill>
                <a:latin typeface="Arial"/>
                <a:cs typeface="Arial"/>
              </a:rPr>
              <a:t>: </a:t>
            </a:r>
            <a:r>
              <a:rPr lang="en-US" sz="1600" b="0" dirty="0">
                <a:solidFill>
                  <a:srgbClr val="111111"/>
                </a:solidFill>
                <a:latin typeface="Arial"/>
                <a:ea typeface="Arial"/>
                <a:cs typeface="Arial"/>
              </a:rPr>
              <a:t>4 × 90 participants from 1.1 &amp; 1.2 + 50 from the joint study </a:t>
            </a:r>
            <a:r>
              <a:rPr lang="en-US" sz="1600" b="0" dirty="0">
                <a:solidFill>
                  <a:srgbClr val="111111"/>
                </a:solidFill>
                <a:latin typeface="Arial"/>
                <a:ea typeface="Arial"/>
                <a:cs typeface="Arial"/>
                <a:sym typeface="Wingdings" panose="05000000000000000000" pitchFamily="2" charset="2"/>
              </a:rPr>
              <a:t></a:t>
            </a:r>
            <a:r>
              <a:rPr lang="en-US" sz="1600" b="0" dirty="0">
                <a:solidFill>
                  <a:srgbClr val="111111"/>
                </a:solidFill>
                <a:latin typeface="Arial"/>
                <a:ea typeface="Arial"/>
                <a:cs typeface="Arial"/>
              </a:rPr>
              <a:t> Planned </a:t>
            </a:r>
            <a:r>
              <a:rPr lang="en-US" sz="1600" b="1" dirty="0">
                <a:solidFill>
                  <a:srgbClr val="111111"/>
                </a:solidFill>
                <a:latin typeface="Arial"/>
                <a:ea typeface="Arial"/>
                <a:cs typeface="Arial"/>
              </a:rPr>
              <a:t>N = 410</a:t>
            </a:r>
          </a:p>
          <a:p>
            <a:pPr>
              <a:defRPr sz="1725" b="0">
                <a:solidFill>
                  <a:srgbClr val="111111"/>
                </a:solidFill>
                <a:latin typeface="Arial"/>
                <a:ea typeface="Arial"/>
                <a:cs typeface="Arial"/>
              </a:defRPr>
            </a:pPr>
            <a:endParaRPr lang="de-DE" sz="1600" dirty="0">
              <a:solidFill>
                <a:srgbClr val="111111"/>
              </a:solidFill>
              <a:latin typeface="Arial"/>
              <a:cs typeface="Arial"/>
            </a:endParaRPr>
          </a:p>
        </p:txBody>
      </p:sp>
    </p:spTree>
    <p:extLst>
      <p:ext uri="{BB962C8B-B14F-4D97-AF65-F5344CB8AC3E}">
        <p14:creationId xmlns:p14="http://schemas.microsoft.com/office/powerpoint/2010/main" val="91598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C2501B4A-E074-4337-A8F7-0987EBE7DF6E}"/>
              </a:ext>
            </a:extLst>
          </p:cNvPr>
          <p:cNvSpPr>
            <a:spLocks noGrp="1"/>
          </p:cNvSpPr>
          <p:nvPr/>
        </p:nvSpPr>
        <p:spPr>
          <a:xfrm>
            <a:off x="762000" y="1095375"/>
            <a:ext cx="7905750" cy="333375"/>
          </a:xfrm>
          <a:prstGeom prst="rect">
            <a:avLst/>
          </a:prstGeom>
          <a:noFill/>
          <a:ln w="0">
            <a:noFill/>
          </a:ln>
        </p:spPr>
        <p:txBody>
          <a:bodyPr lIns="0" tIns="0" rIns="0" bIns="0" anchor="t">
            <a:noAutofit/>
          </a:bodyPr>
          <a:lstStyle/>
          <a:p>
            <a:pPr algn="l">
              <a:defRPr sz="1500" b="0">
                <a:solidFill>
                  <a:srgbClr val="AD8600"/>
                </a:solidFill>
                <a:latin typeface="Arial"/>
                <a:ea typeface="Arial"/>
                <a:cs typeface="Arial"/>
              </a:defRPr>
            </a:pPr>
            <a:r>
              <a:rPr lang="en-US" sz="2000" b="0" dirty="0">
                <a:solidFill>
                  <a:srgbClr val="AD8600"/>
                </a:solidFill>
                <a:latin typeface="Arial"/>
                <a:ea typeface="Arial"/>
                <a:cs typeface="Arial"/>
              </a:rPr>
              <a:t>Joint experiment with Project 2, Freiburg</a:t>
            </a:r>
          </a:p>
        </p:txBody>
      </p:sp>
      <p:sp>
        <p:nvSpPr>
          <p:cNvPr id="9" name="Rechteck 8">
            <a:extLst>
              <a:ext uri="{FF2B5EF4-FFF2-40B4-BE49-F238E27FC236}">
                <a16:creationId xmlns:a16="http://schemas.microsoft.com/office/drawing/2014/main" id="{1D1CB6C4-2040-481F-909E-D6A60ED93E72}"/>
              </a:ext>
            </a:extLst>
          </p:cNvPr>
          <p:cNvSpPr>
            <a:spLocks noGrp="1"/>
          </p:cNvSpPr>
          <p:nvPr/>
        </p:nvSpPr>
        <p:spPr>
          <a:xfrm>
            <a:off x="752475" y="257175"/>
            <a:ext cx="7934325" cy="685800"/>
          </a:xfrm>
          <a:prstGeom prst="rect">
            <a:avLst/>
          </a:prstGeom>
          <a:noFill/>
          <a:ln w="0">
            <a:noFill/>
          </a:ln>
        </p:spPr>
        <p:txBody>
          <a:bodyPr lIns="0" tIns="0" rIns="0" bIns="0" anchor="t">
            <a:noAutofit/>
          </a:bodyPr>
          <a:lstStyle/>
          <a:p>
            <a:pPr algn="r">
              <a:defRPr sz="2625" b="0">
                <a:solidFill>
                  <a:srgbClr val="111111"/>
                </a:solidFill>
                <a:latin typeface="Arial"/>
                <a:ea typeface="Arial"/>
                <a:cs typeface="Arial"/>
              </a:defRPr>
            </a:pPr>
            <a:r>
              <a:rPr lang="en-US" sz="2800" b="0" dirty="0">
                <a:solidFill>
                  <a:srgbClr val="111111"/>
                </a:solidFill>
                <a:latin typeface="Arial"/>
                <a:ea typeface="Arial"/>
                <a:cs typeface="Arial"/>
              </a:rPr>
              <a:t>WP 3: </a:t>
            </a:r>
            <a:r>
              <a:rPr sz="2800" b="0" dirty="0">
                <a:solidFill>
                  <a:srgbClr val="111111"/>
                </a:solidFill>
                <a:latin typeface="Arial"/>
                <a:ea typeface="Arial"/>
                <a:cs typeface="Arial"/>
              </a:rPr>
              <a:t>Generalization across paradigms</a:t>
            </a:r>
          </a:p>
        </p:txBody>
      </p:sp>
      <p:sp>
        <p:nvSpPr>
          <p:cNvPr id="3" name="Rechteck 2">
            <a:extLst>
              <a:ext uri="{FF2B5EF4-FFF2-40B4-BE49-F238E27FC236}">
                <a16:creationId xmlns:a16="http://schemas.microsoft.com/office/drawing/2014/main" id="{A717A396-2BCF-476C-9159-E7EE2CCF6766}"/>
              </a:ext>
            </a:extLst>
          </p:cNvPr>
          <p:cNvSpPr>
            <a:spLocks noGrp="1"/>
          </p:cNvSpPr>
          <p:nvPr/>
        </p:nvSpPr>
        <p:spPr>
          <a:xfrm>
            <a:off x="762000" y="1809750"/>
            <a:ext cx="7905750" cy="381000"/>
          </a:xfrm>
          <a:prstGeom prst="rect">
            <a:avLst/>
          </a:prstGeom>
          <a:noFill/>
          <a:ln w="0">
            <a:noFill/>
          </a:ln>
        </p:spPr>
        <p:txBody>
          <a:bodyPr lIns="0" tIns="0" rIns="0" bIns="0" anchor="t">
            <a:noAutofit/>
          </a:bodyPr>
          <a:lstStyle/>
          <a:p>
            <a:pPr algn="l">
              <a:defRPr sz="2175" b="1">
                <a:solidFill>
                  <a:srgbClr val="111111"/>
                </a:solidFill>
                <a:latin typeface="Arial"/>
                <a:ea typeface="Arial"/>
                <a:cs typeface="Arial"/>
              </a:defRPr>
            </a:pPr>
            <a:r>
              <a:rPr sz="2175" b="1">
                <a:solidFill>
                  <a:srgbClr val="111111"/>
                </a:solidFill>
                <a:latin typeface="Arial"/>
                <a:ea typeface="Arial"/>
                <a:cs typeface="Arial"/>
              </a:rPr>
              <a:t>The same participants complete both paradigms</a:t>
            </a:r>
          </a:p>
        </p:txBody>
      </p:sp>
      <p:sp>
        <p:nvSpPr>
          <p:cNvPr id="4" name="Rechteck 3">
            <a:extLst>
              <a:ext uri="{FF2B5EF4-FFF2-40B4-BE49-F238E27FC236}">
                <a16:creationId xmlns:a16="http://schemas.microsoft.com/office/drawing/2014/main" id="{7706500D-4491-47FC-B021-389CDE491385}"/>
              </a:ext>
            </a:extLst>
          </p:cNvPr>
          <p:cNvSpPr>
            <a:spLocks noGrp="1"/>
          </p:cNvSpPr>
          <p:nvPr/>
        </p:nvSpPr>
        <p:spPr>
          <a:xfrm>
            <a:off x="762000" y="2505075"/>
            <a:ext cx="3667125" cy="762000"/>
          </a:xfrm>
          <a:prstGeom prst="rect">
            <a:avLst/>
          </a:prstGeom>
          <a:noFill/>
          <a:ln w="0">
            <a:noFill/>
          </a:ln>
        </p:spPr>
        <p:txBody>
          <a:bodyPr lIns="0" tIns="0" rIns="0" bIns="0" anchor="t">
            <a:noAutofit/>
          </a:bodyPr>
          <a:lstStyle/>
          <a:p>
            <a:pPr algn="l">
              <a:defRPr sz="2025" b="0">
                <a:solidFill>
                  <a:srgbClr val="111111"/>
                </a:solidFill>
                <a:latin typeface="Arial"/>
                <a:ea typeface="Arial"/>
                <a:cs typeface="Arial"/>
              </a:defRPr>
            </a:pPr>
            <a:r>
              <a:rPr sz="2025" b="0">
                <a:solidFill>
                  <a:srgbClr val="111111"/>
                </a:solidFill>
                <a:latin typeface="Arial"/>
                <a:ea typeface="Arial"/>
                <a:cs typeface="Arial"/>
              </a:rPr>
              <a:t>FCDT</a:t>
            </a:r>
          </a:p>
          <a:p>
            <a:pPr algn="l">
              <a:defRPr sz="2025" b="0">
                <a:solidFill>
                  <a:srgbClr val="111111"/>
                </a:solidFill>
                <a:latin typeface="Arial"/>
                <a:ea typeface="Arial"/>
                <a:cs typeface="Arial"/>
              </a:defRPr>
            </a:pPr>
            <a:r>
              <a:rPr sz="2025" b="0">
                <a:solidFill>
                  <a:srgbClr val="111111"/>
                </a:solidFill>
                <a:latin typeface="Arial"/>
                <a:ea typeface="Arial"/>
                <a:cs typeface="Arial"/>
              </a:rPr>
              <a:t>Continuous stimulus preview</a:t>
            </a:r>
          </a:p>
        </p:txBody>
      </p:sp>
      <p:sp>
        <p:nvSpPr>
          <p:cNvPr id="5" name="Rechteck 4">
            <a:extLst>
              <a:ext uri="{FF2B5EF4-FFF2-40B4-BE49-F238E27FC236}">
                <a16:creationId xmlns:a16="http://schemas.microsoft.com/office/drawing/2014/main" id="{7849D5EF-AC22-4792-945F-75804C8AEF5C}"/>
              </a:ext>
            </a:extLst>
          </p:cNvPr>
          <p:cNvSpPr>
            <a:spLocks noGrp="1"/>
          </p:cNvSpPr>
          <p:nvPr/>
        </p:nvSpPr>
        <p:spPr>
          <a:xfrm>
            <a:off x="4905375" y="2505075"/>
            <a:ext cx="3714750" cy="762000"/>
          </a:xfrm>
          <a:prstGeom prst="rect">
            <a:avLst/>
          </a:prstGeom>
          <a:noFill/>
          <a:ln w="0">
            <a:noFill/>
          </a:ln>
        </p:spPr>
        <p:txBody>
          <a:bodyPr lIns="0" tIns="0" rIns="0" bIns="0" anchor="t">
            <a:noAutofit/>
          </a:bodyPr>
          <a:lstStyle/>
          <a:p>
            <a:pPr algn="l">
              <a:defRPr sz="2025" b="0">
                <a:solidFill>
                  <a:srgbClr val="111111"/>
                </a:solidFill>
                <a:latin typeface="Arial"/>
                <a:ea typeface="Arial"/>
                <a:cs typeface="Arial"/>
              </a:defRPr>
            </a:pPr>
            <a:r>
              <a:rPr sz="2025" b="0">
                <a:solidFill>
                  <a:srgbClr val="111111"/>
                </a:solidFill>
                <a:latin typeface="Arial"/>
                <a:ea typeface="Arial"/>
                <a:cs typeface="Arial"/>
              </a:rPr>
              <a:t>Self-organized task switching</a:t>
            </a:r>
          </a:p>
          <a:p>
            <a:pPr algn="l">
              <a:defRPr sz="2025" b="0">
                <a:solidFill>
                  <a:srgbClr val="111111"/>
                </a:solidFill>
                <a:latin typeface="Arial"/>
                <a:ea typeface="Arial"/>
                <a:cs typeface="Arial"/>
              </a:defRPr>
            </a:pPr>
            <a:r>
              <a:rPr sz="2025" b="0">
                <a:solidFill>
                  <a:srgbClr val="111111"/>
                </a:solidFill>
                <a:latin typeface="Arial"/>
                <a:ea typeface="Arial"/>
                <a:cs typeface="Arial"/>
              </a:rPr>
              <a:t>Waiting times between trials</a:t>
            </a:r>
          </a:p>
        </p:txBody>
      </p:sp>
      <p:sp>
        <p:nvSpPr>
          <p:cNvPr id="6" name="Rechteck 5">
            <a:extLst>
              <a:ext uri="{FF2B5EF4-FFF2-40B4-BE49-F238E27FC236}">
                <a16:creationId xmlns:a16="http://schemas.microsoft.com/office/drawing/2014/main" id="{1871EBD7-EB18-4D9D-A7EA-D213FCF28E42}"/>
              </a:ext>
            </a:extLst>
          </p:cNvPr>
          <p:cNvSpPr>
            <a:spLocks noGrp="1"/>
          </p:cNvSpPr>
          <p:nvPr/>
        </p:nvSpPr>
        <p:spPr>
          <a:xfrm>
            <a:off x="762000" y="3619500"/>
            <a:ext cx="7905750" cy="714375"/>
          </a:xfrm>
          <a:prstGeom prst="rect">
            <a:avLst/>
          </a:prstGeom>
          <a:noFill/>
          <a:ln w="0">
            <a:noFill/>
          </a:ln>
        </p:spPr>
        <p:txBody>
          <a:bodyPr lIns="0" tIns="0" rIns="0" bIns="0" anchor="t">
            <a:noAutofit/>
          </a:bodyPr>
          <a:lstStyle/>
          <a:p>
            <a:pPr algn="l">
              <a:defRPr sz="2175" b="1">
                <a:solidFill>
                  <a:srgbClr val="AD8600"/>
                </a:solidFill>
                <a:latin typeface="Arial"/>
                <a:ea typeface="Arial"/>
                <a:cs typeface="Arial"/>
              </a:defRPr>
            </a:pPr>
            <a:r>
              <a:rPr sz="2000" b="1" dirty="0">
                <a:solidFill>
                  <a:srgbClr val="AD8600"/>
                </a:solidFill>
                <a:latin typeface="Arial"/>
                <a:ea typeface="Arial"/>
                <a:cs typeface="Arial"/>
              </a:rPr>
              <a:t>Do switch frequencies and strategy preferences correspond?</a:t>
            </a:r>
          </a:p>
        </p:txBody>
      </p:sp>
      <p:sp>
        <p:nvSpPr>
          <p:cNvPr id="8" name="Rechteck 7">
            <a:extLst>
              <a:ext uri="{FF2B5EF4-FFF2-40B4-BE49-F238E27FC236}">
                <a16:creationId xmlns:a16="http://schemas.microsoft.com/office/drawing/2014/main" id="{B2068422-181E-4037-86CD-F0B31D77161F}"/>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defRPr sz="975" b="0">
                <a:solidFill>
                  <a:srgbClr val="888888"/>
                </a:solidFill>
                <a:latin typeface="Arial"/>
                <a:ea typeface="Arial"/>
                <a:cs typeface="Arial"/>
              </a:defRPr>
            </a:pPr>
            <a:r>
              <a:rPr sz="975" b="0">
                <a:solidFill>
                  <a:srgbClr val="888888"/>
                </a:solidFill>
                <a:latin typeface="Arial"/>
                <a:ea typeface="Arial"/>
                <a:cs typeface="Arial"/>
              </a:rPr>
              <a:t>9</a:t>
            </a:r>
          </a:p>
        </p:txBody>
      </p:sp>
      <p:sp>
        <p:nvSpPr>
          <p:cNvPr id="11" name="Rechteck 10">
            <a:extLst>
              <a:ext uri="{FF2B5EF4-FFF2-40B4-BE49-F238E27FC236}">
                <a16:creationId xmlns:a16="http://schemas.microsoft.com/office/drawing/2014/main" id="{CBB171B3-9355-42CA-A092-5AA6D9585747}"/>
              </a:ext>
            </a:extLst>
          </p:cNvPr>
          <p:cNvSpPr>
            <a:spLocks noGrp="1"/>
          </p:cNvSpPr>
          <p:nvPr/>
        </p:nvSpPr>
        <p:spPr>
          <a:xfrm>
            <a:off x="752475" y="4079850"/>
            <a:ext cx="8077201" cy="508049"/>
          </a:xfrm>
          <a:prstGeom prst="rect">
            <a:avLst/>
          </a:prstGeom>
          <a:noFill/>
          <a:ln w="0">
            <a:noFill/>
          </a:ln>
        </p:spPr>
        <p:txBody>
          <a:bodyPr lIns="0" tIns="0" rIns="0" bIns="0" anchor="t">
            <a:noAutofit/>
          </a:bodyPr>
          <a:lstStyle/>
          <a:p>
            <a:pPr algn="l">
              <a:defRPr sz="1650" b="0">
                <a:solidFill>
                  <a:srgbClr val="111111"/>
                </a:solidFill>
                <a:latin typeface="Arial"/>
                <a:ea typeface="Arial"/>
                <a:cs typeface="Arial"/>
              </a:defRPr>
            </a:pPr>
            <a:r>
              <a:rPr lang="en-US" sz="1600" b="1" dirty="0">
                <a:solidFill>
                  <a:srgbClr val="111111"/>
                </a:solidFill>
                <a:latin typeface="Arial"/>
                <a:cs typeface="Arial"/>
              </a:rPr>
              <a:t>Shared test battery across the whole experimental </a:t>
            </a:r>
            <a:r>
              <a:rPr lang="en-US" sz="1600" b="1" dirty="0" err="1">
                <a:solidFill>
                  <a:srgbClr val="111111"/>
                </a:solidFill>
                <a:latin typeface="Arial"/>
                <a:cs typeface="Arial"/>
              </a:rPr>
              <a:t>programme</a:t>
            </a:r>
            <a:r>
              <a:rPr lang="de-DE" sz="1600" b="1" dirty="0">
                <a:solidFill>
                  <a:srgbClr val="111111"/>
                </a:solidFill>
                <a:latin typeface="Arial"/>
                <a:cs typeface="Arial"/>
              </a:rPr>
              <a:t>: </a:t>
            </a:r>
          </a:p>
          <a:p>
            <a:pPr>
              <a:defRPr sz="1650" b="0">
                <a:solidFill>
                  <a:srgbClr val="111111"/>
                </a:solidFill>
                <a:latin typeface="Arial"/>
                <a:ea typeface="Arial"/>
                <a:cs typeface="Arial"/>
              </a:defRPr>
            </a:pPr>
            <a:r>
              <a:rPr lang="en-US" sz="1600" dirty="0">
                <a:solidFill>
                  <a:srgbClr val="111111"/>
                </a:solidFill>
                <a:latin typeface="Arial"/>
                <a:ea typeface="Arial"/>
                <a:cs typeface="Arial"/>
              </a:rPr>
              <a:t>50 participants from </a:t>
            </a:r>
            <a:r>
              <a:rPr lang="en-US" sz="1600" b="0" dirty="0">
                <a:solidFill>
                  <a:srgbClr val="111111"/>
                </a:solidFill>
                <a:latin typeface="Arial"/>
                <a:ea typeface="Arial"/>
                <a:cs typeface="Arial"/>
              </a:rPr>
              <a:t>each study site </a:t>
            </a:r>
            <a:r>
              <a:rPr lang="en-US" sz="1600" b="0" dirty="0">
                <a:solidFill>
                  <a:srgbClr val="111111"/>
                </a:solidFill>
                <a:latin typeface="Arial"/>
                <a:ea typeface="Arial"/>
                <a:cs typeface="Arial"/>
                <a:sym typeface="Wingdings" panose="05000000000000000000" pitchFamily="2" charset="2"/>
              </a:rPr>
              <a:t></a:t>
            </a:r>
            <a:r>
              <a:rPr lang="en-US" sz="1600" b="0" dirty="0">
                <a:solidFill>
                  <a:srgbClr val="111111"/>
                </a:solidFill>
                <a:latin typeface="Arial"/>
                <a:ea typeface="Arial"/>
                <a:cs typeface="Arial"/>
              </a:rPr>
              <a:t> Planned </a:t>
            </a:r>
            <a:r>
              <a:rPr lang="en-US" sz="1600" dirty="0">
                <a:solidFill>
                  <a:srgbClr val="111111"/>
                </a:solidFill>
                <a:latin typeface="Arial"/>
                <a:ea typeface="Arial"/>
                <a:cs typeface="Arial"/>
              </a:rPr>
              <a:t>N = 100</a:t>
            </a:r>
          </a:p>
          <a:p>
            <a:pPr>
              <a:defRPr sz="1725" b="0">
                <a:solidFill>
                  <a:srgbClr val="111111"/>
                </a:solidFill>
                <a:latin typeface="Arial"/>
                <a:ea typeface="Arial"/>
                <a:cs typeface="Arial"/>
              </a:defRPr>
            </a:pPr>
            <a:endParaRPr lang="de-DE" sz="1600" dirty="0">
              <a:solidFill>
                <a:srgbClr val="111111"/>
              </a:solidFill>
              <a:latin typeface="Arial"/>
              <a:cs typeface="Arial"/>
            </a:endParaRPr>
          </a:p>
        </p:txBody>
      </p:sp>
    </p:spTree>
    <p:extLst>
      <p:ext uri="{BB962C8B-B14F-4D97-AF65-F5344CB8AC3E}">
        <p14:creationId xmlns:p14="http://schemas.microsoft.com/office/powerpoint/2010/main" val="91598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080FE4-DDB2-6779-9434-4BD8223F1D22}"/>
              </a:ext>
            </a:extLst>
          </p:cNvPr>
          <p:cNvSpPr>
            <a:spLocks noGrp="1"/>
          </p:cNvSpPr>
          <p:nvPr>
            <p:ph type="title"/>
          </p:nvPr>
        </p:nvSpPr>
        <p:spPr/>
        <p:txBody>
          <a:bodyPr>
            <a:normAutofit/>
          </a:bodyPr>
          <a:lstStyle/>
          <a:p>
            <a:r>
              <a:rPr lang="de-DE" sz="2400" b="0" dirty="0" err="1">
                <a:latin typeface="Arial"/>
                <a:cs typeface="Arial"/>
              </a:rPr>
              <a:t>Theoretical</a:t>
            </a:r>
            <a:r>
              <a:rPr lang="de-DE" sz="2400" b="0" dirty="0">
                <a:latin typeface="Arial"/>
                <a:cs typeface="Arial"/>
              </a:rPr>
              <a:t> </a:t>
            </a:r>
            <a:r>
              <a:rPr lang="de-DE" sz="2400" b="0" dirty="0" err="1">
                <a:latin typeface="Arial"/>
                <a:cs typeface="Arial"/>
              </a:rPr>
              <a:t>proposal</a:t>
            </a:r>
            <a:endParaRPr lang="de-DE" sz="2400" b="0" dirty="0">
              <a:latin typeface="Arial"/>
              <a:cs typeface="Arial"/>
            </a:endParaRPr>
          </a:p>
        </p:txBody>
      </p:sp>
      <p:sp>
        <p:nvSpPr>
          <p:cNvPr id="4" name="Foliennummernplatzhalter 3">
            <a:extLst>
              <a:ext uri="{FF2B5EF4-FFF2-40B4-BE49-F238E27FC236}">
                <a16:creationId xmlns:a16="http://schemas.microsoft.com/office/drawing/2014/main" id="{7473FA14-4378-2B6D-FF0E-0390C37CAF0F}"/>
              </a:ext>
            </a:extLst>
          </p:cNvPr>
          <p:cNvSpPr>
            <a:spLocks noGrp="1"/>
          </p:cNvSpPr>
          <p:nvPr>
            <p:ph type="sldNum" sz="quarter" idx="12"/>
          </p:nvPr>
        </p:nvSpPr>
        <p:spPr/>
        <p:txBody>
          <a:bodyPr/>
          <a:lstStyle/>
          <a:p>
            <a:fld id="{5CD88B4E-D815-417B-99FD-41D66E5C06D4}" type="slidenum">
              <a:rPr lang="de-DE" smtClean="0">
                <a:latin typeface="Arial"/>
                <a:cs typeface="Arial"/>
              </a:rPr>
              <a:pPr/>
              <a:t>9</a:t>
            </a:fld>
            <a:endParaRPr lang="de-DE">
              <a:latin typeface="Arial"/>
              <a:cs typeface="Arial"/>
            </a:endParaRPr>
          </a:p>
        </p:txBody>
      </p:sp>
      <p:sp>
        <p:nvSpPr>
          <p:cNvPr id="5" name="Rechteck: abgerundete Ecken 4">
            <a:extLst>
              <a:ext uri="{FF2B5EF4-FFF2-40B4-BE49-F238E27FC236}">
                <a16:creationId xmlns:a16="http://schemas.microsoft.com/office/drawing/2014/main" id="{911574AB-781E-C8CA-EF5D-B0ED9BDF63FD}"/>
              </a:ext>
            </a:extLst>
          </p:cNvPr>
          <p:cNvSpPr/>
          <p:nvPr/>
        </p:nvSpPr>
        <p:spPr>
          <a:xfrm>
            <a:off x="1014056" y="2583119"/>
            <a:ext cx="2444952" cy="362403"/>
          </a:xfrm>
          <a:prstGeom prst="roundRect">
            <a:avLst>
              <a:gd name="adj" fmla="val 19363"/>
            </a:avLst>
          </a:prstGeom>
          <a:noFill/>
          <a:ln w="9525" cap="flat" cmpd="sng" algn="ctr">
            <a:solidFill>
              <a:srgbClr val="B9921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r>
              <a:rPr lang="en-US" sz="1000" dirty="0">
                <a:solidFill>
                  <a:schemeClr val="tx1"/>
                </a:solidFill>
                <a:latin typeface="Arial" panose="020B0604020202020204" pitchFamily="34" charset="0"/>
                <a:ea typeface="Arial Unicode MS" panose="020B0604020202020204"/>
                <a:cs typeface="Arial" panose="020B0604020202020204" pitchFamily="34" charset="0"/>
              </a:rPr>
              <a:t>Subjective cost functions</a:t>
            </a:r>
          </a:p>
        </p:txBody>
      </p:sp>
      <p:sp>
        <p:nvSpPr>
          <p:cNvPr id="7" name="Textfeld 6">
            <a:extLst>
              <a:ext uri="{FF2B5EF4-FFF2-40B4-BE49-F238E27FC236}">
                <a16:creationId xmlns:a16="http://schemas.microsoft.com/office/drawing/2014/main" id="{CFCDC315-09FA-6C03-075D-0486B08BD8B3}"/>
              </a:ext>
            </a:extLst>
          </p:cNvPr>
          <p:cNvSpPr txBox="1"/>
          <p:nvPr/>
        </p:nvSpPr>
        <p:spPr>
          <a:xfrm>
            <a:off x="3707904" y="1378549"/>
            <a:ext cx="5616624" cy="261610"/>
          </a:xfrm>
          <a:prstGeom prst="rect">
            <a:avLst/>
          </a:prstGeom>
          <a:noFill/>
        </p:spPr>
        <p:txBody>
          <a:bodyPr wrap="square" rtlCol="0">
            <a:spAutoFit/>
          </a:bodyPr>
          <a:lstStyle/>
          <a:p>
            <a:r>
              <a:rPr lang="de-DE" sz="1100" dirty="0">
                <a:latin typeface="Arial" panose="020B0604020202020204" pitchFamily="34" charset="0"/>
                <a:ea typeface="Arial Unicode MS" panose="020B0604020202020204"/>
                <a:cs typeface="Arial" panose="020B0604020202020204" pitchFamily="34" charset="0"/>
              </a:rPr>
              <a:t>Proof </a:t>
            </a:r>
            <a:r>
              <a:rPr lang="de-DE" sz="1100" dirty="0" err="1">
                <a:latin typeface="Arial" panose="020B0604020202020204" pitchFamily="34" charset="0"/>
                <a:ea typeface="Arial Unicode MS" panose="020B0604020202020204"/>
                <a:cs typeface="Arial" panose="020B0604020202020204" pitchFamily="34" charset="0"/>
              </a:rPr>
              <a:t>of</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principle</a:t>
            </a:r>
            <a:r>
              <a:rPr lang="de-DE" sz="1100" dirty="0">
                <a:latin typeface="Arial" panose="020B0604020202020204" pitchFamily="34" charset="0"/>
                <a:ea typeface="Arial Unicode MS" panose="020B0604020202020204"/>
                <a:cs typeface="Arial" panose="020B0604020202020204" pitchFamily="34" charset="0"/>
              </a:rPr>
              <a:t> (</a:t>
            </a:r>
            <a:r>
              <a:rPr lang="de-DE" sz="1100" dirty="0">
                <a:solidFill>
                  <a:schemeClr val="accent1">
                    <a:lumMod val="75000"/>
                  </a:schemeClr>
                </a:solidFill>
                <a:latin typeface="Arial" panose="020B0604020202020204" pitchFamily="34" charset="0"/>
                <a:ea typeface="Arial Unicode MS" panose="020B0604020202020204"/>
                <a:cs typeface="Arial" panose="020B0604020202020204" pitchFamily="34" charset="0"/>
                <a:hlinkClick r:id="rId3">
                  <a:extLst>
                    <a:ext uri="{A12FA001-AC4F-418D-AE19-62706E023703}">
                      <ahyp:hlinkClr xmlns:ahyp="http://schemas.microsoft.com/office/drawing/2018/hyperlinkcolor" val="tx"/>
                    </a:ext>
                  </a:extLst>
                </a:hlinkClick>
              </a:rPr>
              <a:t>osf.io/6vspq</a:t>
            </a:r>
            <a:r>
              <a:rPr lang="de-DE" sz="1100" dirty="0">
                <a:latin typeface="Arial" panose="020B0604020202020204" pitchFamily="34" charset="0"/>
                <a:ea typeface="Arial Unicode MS" panose="020B0604020202020204"/>
                <a:cs typeface="Arial" panose="020B0604020202020204" pitchFamily="34" charset="0"/>
              </a:rPr>
              <a:t>) | </a:t>
            </a:r>
            <a:r>
              <a:rPr lang="de-DE" sz="1100" dirty="0" err="1">
                <a:latin typeface="Arial" panose="020B0604020202020204" pitchFamily="34" charset="0"/>
                <a:ea typeface="Arial Unicode MS" panose="020B0604020202020204"/>
                <a:cs typeface="Arial" panose="020B0604020202020204" pitchFamily="34" charset="0"/>
              </a:rPr>
              <a:t>Parameterized</a:t>
            </a:r>
            <a:r>
              <a:rPr lang="de-DE" sz="1100" dirty="0">
                <a:latin typeface="Arial" panose="020B0604020202020204" pitchFamily="34" charset="0"/>
                <a:ea typeface="Arial Unicode MS" panose="020B0604020202020204"/>
                <a:cs typeface="Arial" panose="020B0604020202020204" pitchFamily="34" charset="0"/>
              </a:rPr>
              <a:t> switch and </a:t>
            </a:r>
            <a:r>
              <a:rPr lang="de-DE" sz="1100" dirty="0" err="1">
                <a:latin typeface="Arial" panose="020B0604020202020204" pitchFamily="34" charset="0"/>
                <a:ea typeface="Arial Unicode MS" panose="020B0604020202020204"/>
                <a:cs typeface="Arial" panose="020B0604020202020204" pitchFamily="34" charset="0"/>
              </a:rPr>
              <a:t>task</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imbalance</a:t>
            </a:r>
            <a:r>
              <a:rPr lang="de-DE" sz="1100" dirty="0">
                <a:latin typeface="Arial" panose="020B0604020202020204" pitchFamily="34" charset="0"/>
                <a:ea typeface="Arial Unicode MS" panose="020B0604020202020204"/>
                <a:cs typeface="Arial" panose="020B0604020202020204" pitchFamily="34" charset="0"/>
              </a:rPr>
              <a:t> </a:t>
            </a:r>
            <a:r>
              <a:rPr lang="de-DE" sz="1100" dirty="0" err="1">
                <a:latin typeface="Arial" panose="020B0604020202020204" pitchFamily="34" charset="0"/>
                <a:ea typeface="Arial Unicode MS" panose="020B0604020202020204"/>
                <a:cs typeface="Arial" panose="020B0604020202020204" pitchFamily="34" charset="0"/>
              </a:rPr>
              <a:t>cost</a:t>
            </a:r>
            <a:endParaRPr lang="de-DE" sz="1100" dirty="0">
              <a:latin typeface="Arial" panose="020B0604020202020204" pitchFamily="34" charset="0"/>
              <a:ea typeface="Arial Unicode MS" panose="020B0604020202020204"/>
              <a:cs typeface="Arial" panose="020B0604020202020204" pitchFamily="34" charset="0"/>
            </a:endParaRPr>
          </a:p>
        </p:txBody>
      </p:sp>
      <p:sp>
        <p:nvSpPr>
          <p:cNvPr id="8" name="Rechteck: abgerundete Ecken 7">
            <a:extLst>
              <a:ext uri="{FF2B5EF4-FFF2-40B4-BE49-F238E27FC236}">
                <a16:creationId xmlns:a16="http://schemas.microsoft.com/office/drawing/2014/main" id="{519553F8-98CB-7D51-4374-4734E4360518}"/>
              </a:ext>
            </a:extLst>
          </p:cNvPr>
          <p:cNvSpPr/>
          <p:nvPr/>
        </p:nvSpPr>
        <p:spPr>
          <a:xfrm>
            <a:off x="896620" y="1405437"/>
            <a:ext cx="2679824" cy="3182537"/>
          </a:xfrm>
          <a:prstGeom prst="roundRect">
            <a:avLst>
              <a:gd name="adj" fmla="val 2403"/>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b"/>
          <a:lstStyle/>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endParaRPr lang="de-DE" sz="1200">
              <a:solidFill>
                <a:schemeClr val="tx1"/>
              </a:solidFill>
              <a:latin typeface="Arial" panose="020B0604020202020204" pitchFamily="34" charset="0"/>
              <a:ea typeface="Arial Unicode MS" panose="020B0604020202020204"/>
              <a:cs typeface="Arial" panose="020B0604020202020204" pitchFamily="34" charset="0"/>
            </a:endParaRPr>
          </a:p>
          <a:p>
            <a:pPr algn="r"/>
            <a:r>
              <a:rPr lang="de-DE" sz="1200">
                <a:solidFill>
                  <a:schemeClr val="tx1"/>
                </a:solidFill>
                <a:latin typeface="Arial" panose="020B0604020202020204" pitchFamily="34" charset="0"/>
                <a:ea typeface="Arial Unicode MS" panose="020B0604020202020204"/>
                <a:cs typeface="Arial" panose="020B0604020202020204" pitchFamily="34" charset="0"/>
              </a:rPr>
              <a:t> </a:t>
            </a:r>
          </a:p>
        </p:txBody>
      </p:sp>
      <p:sp>
        <p:nvSpPr>
          <p:cNvPr id="9" name="Rechteck: abgerundete Ecken 8">
            <a:extLst>
              <a:ext uri="{FF2B5EF4-FFF2-40B4-BE49-F238E27FC236}">
                <a16:creationId xmlns:a16="http://schemas.microsoft.com/office/drawing/2014/main" id="{5A4CF246-DE1A-60ED-8C05-9A67E894E1AB}"/>
              </a:ext>
            </a:extLst>
          </p:cNvPr>
          <p:cNvSpPr/>
          <p:nvPr/>
        </p:nvSpPr>
        <p:spPr>
          <a:xfrm>
            <a:off x="899592" y="1405437"/>
            <a:ext cx="2679824" cy="34376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de-DE" sz="1200">
                <a:latin typeface="Arial" panose="020B0604020202020204" pitchFamily="34" charset="0"/>
                <a:ea typeface="Arial Unicode MS" panose="020B0604020202020204"/>
                <a:cs typeface="Arial" panose="020B0604020202020204" pitchFamily="34" charset="0"/>
              </a:rPr>
              <a:t>Rational </a:t>
            </a:r>
            <a:r>
              <a:rPr lang="de-DE" sz="1200" err="1">
                <a:latin typeface="Arial" panose="020B0604020202020204" pitchFamily="34" charset="0"/>
                <a:ea typeface="Arial Unicode MS" panose="020B0604020202020204"/>
                <a:cs typeface="Arial" panose="020B0604020202020204" pitchFamily="34" charset="0"/>
              </a:rPr>
              <a:t>analysis</a:t>
            </a:r>
            <a:endParaRPr lang="en-US" sz="1200">
              <a:latin typeface="Arial" panose="020B0604020202020204" pitchFamily="34" charset="0"/>
              <a:ea typeface="Arial Unicode MS" panose="020B0604020202020204"/>
              <a:cs typeface="Arial" panose="020B0604020202020204" pitchFamily="34" charset="0"/>
            </a:endParaRPr>
          </a:p>
        </p:txBody>
      </p:sp>
      <p:sp>
        <p:nvSpPr>
          <p:cNvPr id="12" name="Rechteck: abgerundete Ecken 11">
            <a:extLst>
              <a:ext uri="{FF2B5EF4-FFF2-40B4-BE49-F238E27FC236}">
                <a16:creationId xmlns:a16="http://schemas.microsoft.com/office/drawing/2014/main" id="{C78D81F5-2DE2-AC86-41B2-6C1D19B292C1}"/>
              </a:ext>
            </a:extLst>
          </p:cNvPr>
          <p:cNvSpPr/>
          <p:nvPr/>
        </p:nvSpPr>
        <p:spPr>
          <a:xfrm>
            <a:off x="1017028" y="4108276"/>
            <a:ext cx="2444952" cy="343762"/>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de-DE" sz="1000" dirty="0">
                <a:solidFill>
                  <a:schemeClr val="tx1"/>
                </a:solidFill>
                <a:latin typeface="Arial" panose="020B0604020202020204" pitchFamily="34" charset="0"/>
                <a:ea typeface="Arial Unicode MS" panose="020B0604020202020204"/>
                <a:cs typeface="Arial" panose="020B0604020202020204" pitchFamily="34" charset="0"/>
              </a:rPr>
              <a:t>Optimal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response</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sequences</a:t>
            </a:r>
            <a:endParaRPr lang="en-US" sz="1000" dirty="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13" name="Pfeil: nach rechts 12">
            <a:extLst>
              <a:ext uri="{FF2B5EF4-FFF2-40B4-BE49-F238E27FC236}">
                <a16:creationId xmlns:a16="http://schemas.microsoft.com/office/drawing/2014/main" id="{5AFD518C-FBCB-E16C-90D3-357CF8E2AC09}"/>
              </a:ext>
            </a:extLst>
          </p:cNvPr>
          <p:cNvSpPr/>
          <p:nvPr/>
        </p:nvSpPr>
        <p:spPr>
          <a:xfrm rot="5400000">
            <a:off x="966724" y="3419108"/>
            <a:ext cx="1162755" cy="215583"/>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1200">
              <a:latin typeface="Arial" panose="020B0604020202020204" pitchFamily="34" charset="0"/>
              <a:ea typeface="Arial Unicode MS" panose="020B0604020202020204"/>
              <a:cs typeface="Arial" panose="020B0604020202020204" pitchFamily="34" charset="0"/>
            </a:endParaRPr>
          </a:p>
        </p:txBody>
      </p:sp>
      <p:sp>
        <p:nvSpPr>
          <p:cNvPr id="14" name="Pfeil: nach rechts 13">
            <a:extLst>
              <a:ext uri="{FF2B5EF4-FFF2-40B4-BE49-F238E27FC236}">
                <a16:creationId xmlns:a16="http://schemas.microsoft.com/office/drawing/2014/main" id="{77FD62BC-3967-3BCC-6BBB-478471EF1DE5}"/>
              </a:ext>
            </a:extLst>
          </p:cNvPr>
          <p:cNvSpPr/>
          <p:nvPr/>
        </p:nvSpPr>
        <p:spPr>
          <a:xfrm rot="16200000">
            <a:off x="2298218" y="3419107"/>
            <a:ext cx="1162754" cy="215583"/>
          </a:xfrm>
          <a:prstGeom prst="rightArrow">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de-DE" sz="1200">
              <a:latin typeface="Arial" panose="020B0604020202020204" pitchFamily="34" charset="0"/>
              <a:ea typeface="Arial Unicode MS" panose="020B0604020202020204"/>
              <a:cs typeface="Arial" panose="020B0604020202020204" pitchFamily="34" charset="0"/>
            </a:endParaRPr>
          </a:p>
        </p:txBody>
      </p:sp>
      <p:sp>
        <p:nvSpPr>
          <p:cNvPr id="15" name="Rechteck: abgerundete Ecken 14">
            <a:extLst>
              <a:ext uri="{FF2B5EF4-FFF2-40B4-BE49-F238E27FC236}">
                <a16:creationId xmlns:a16="http://schemas.microsoft.com/office/drawing/2014/main" id="{6D2802B0-1B77-6CC7-45D2-D9F395B016E7}"/>
              </a:ext>
            </a:extLst>
          </p:cNvPr>
          <p:cNvSpPr/>
          <p:nvPr/>
        </p:nvSpPr>
        <p:spPr>
          <a:xfrm>
            <a:off x="1014056" y="3579623"/>
            <a:ext cx="2444952" cy="343762"/>
          </a:xfrm>
          <a:prstGeom prst="round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Bellman</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equation</a:t>
            </a:r>
            <a:r>
              <a:rPr lang="de-DE" sz="1000" dirty="0">
                <a:solidFill>
                  <a:schemeClr val="tx1"/>
                </a:solidFill>
                <a:latin typeface="Arial" panose="020B0604020202020204" pitchFamily="34" charset="0"/>
                <a:ea typeface="Arial Unicode MS" panose="020B0604020202020204"/>
                <a:cs typeface="Arial" panose="020B0604020202020204" pitchFamily="34" charset="0"/>
              </a:rPr>
              <a:t> </a:t>
            </a:r>
            <a:r>
              <a:rPr lang="de-DE" sz="1000" dirty="0" err="1">
                <a:solidFill>
                  <a:schemeClr val="tx1"/>
                </a:solidFill>
                <a:latin typeface="Arial" panose="020B0604020202020204" pitchFamily="34" charset="0"/>
                <a:ea typeface="Arial Unicode MS" panose="020B0604020202020204"/>
                <a:cs typeface="Arial" panose="020B0604020202020204" pitchFamily="34" charset="0"/>
              </a:rPr>
              <a:t>solution</a:t>
            </a:r>
            <a:endParaRPr lang="en-US" sz="1000" dirty="0">
              <a:solidFill>
                <a:schemeClr val="tx1"/>
              </a:solidFill>
              <a:latin typeface="Arial" panose="020B0604020202020204" pitchFamily="34" charset="0"/>
              <a:ea typeface="Arial Unicode MS" panose="020B0604020202020204"/>
              <a:cs typeface="Arial" panose="020B0604020202020204" pitchFamily="34" charset="0"/>
            </a:endParaRPr>
          </a:p>
        </p:txBody>
      </p:sp>
      <mc:AlternateContent xmlns:mc="http://schemas.openxmlformats.org/markup-compatibility/2006" xmlns:a14="http://schemas.microsoft.com/office/drawing/2010/main">
        <mc:Choice Requires="a14">
          <p:sp>
            <p:nvSpPr>
              <p:cNvPr id="16" name="Textfeld 15">
                <a:extLst>
                  <a:ext uri="{FF2B5EF4-FFF2-40B4-BE49-F238E27FC236}">
                    <a16:creationId xmlns:a16="http://schemas.microsoft.com/office/drawing/2014/main" id="{085B0364-698E-F26B-E578-AF4EF0192B71}"/>
                  </a:ext>
                </a:extLst>
              </p:cNvPr>
              <p:cNvSpPr txBox="1"/>
              <p:nvPr/>
            </p:nvSpPr>
            <p:spPr>
              <a:xfrm>
                <a:off x="1108741" y="1867184"/>
                <a:ext cx="2317301" cy="553998"/>
              </a:xfrm>
              <a:prstGeom prst="rect">
                <a:avLst/>
              </a:prstGeom>
              <a:noFill/>
            </p:spPr>
            <p:txBody>
              <a:bodyPr wrap="none" rtlCol="0">
                <a:spAutoFit/>
              </a:bodyPr>
              <a:lstStyle/>
              <a:p>
                <a:pPr algn="ctr">
                  <a:lnSpc>
                    <a:spcPts val="1800"/>
                  </a:lnSpc>
                </a:pPr>
                <a:r>
                  <a:rPr lang="de-DE" sz="1100" dirty="0">
                    <a:latin typeface="Arial" panose="020B0604020202020204" pitchFamily="34" charset="0"/>
                    <a:cs typeface="Arial" panose="020B0604020202020204" pitchFamily="34" charset="0"/>
                  </a:rPr>
                  <a:t>Markov </a:t>
                </a:r>
                <a:r>
                  <a:rPr lang="de-DE" sz="1100" dirty="0" err="1">
                    <a:latin typeface="Arial" panose="020B0604020202020204" pitchFamily="34" charset="0"/>
                    <a:cs typeface="Arial" panose="020B0604020202020204" pitchFamily="34" charset="0"/>
                  </a:rPr>
                  <a:t>Decision</a:t>
                </a:r>
                <a:r>
                  <a:rPr lang="de-DE" sz="1100" dirty="0">
                    <a:latin typeface="Arial" panose="020B0604020202020204" pitchFamily="34" charset="0"/>
                    <a:cs typeface="Arial" panose="020B0604020202020204" pitchFamily="34" charset="0"/>
                  </a:rPr>
                  <a:t> </a:t>
                </a:r>
                <a:r>
                  <a:rPr lang="de-DE" sz="1100" dirty="0" err="1">
                    <a:latin typeface="Arial" panose="020B0604020202020204" pitchFamily="34" charset="0"/>
                    <a:cs typeface="Arial" panose="020B0604020202020204" pitchFamily="34" charset="0"/>
                  </a:rPr>
                  <a:t>Processes</a:t>
                </a:r>
                <a:endParaRPr lang="de-DE" sz="1100" dirty="0">
                  <a:latin typeface="Arial" panose="020B0604020202020204" pitchFamily="34" charset="0"/>
                  <a:cs typeface="Arial" panose="020B0604020202020204" pitchFamily="34" charset="0"/>
                </a:endParaRPr>
              </a:p>
              <a:p>
                <a:pPr algn="ctr">
                  <a:lnSpc>
                    <a:spcPts val="1800"/>
                  </a:lnSpc>
                </a:pPr>
                <a14:m>
                  <m:oMathPara xmlns:m="http://schemas.openxmlformats.org/officeDocument/2006/math">
                    <m:oMath>
                      <m:d>
                        <m:dPr>
                          <m:ctrlPr>
                            <a:rPr lang="de-DE" sz="1100" i="1">
                              <a:latin typeface="Cambria Math" panose="02040503050406030204" pitchFamily="18" charset="0"/>
                            </a:rPr>
                          </m:ctrlPr>
                        </m:dPr>
                        <m:e>
                          <m:r>
                            <a:rPr lang="de-DE" sz="1100" i="1">
                              <a:latin typeface="Cambria Math" panose="02040503050406030204" pitchFamily="18" charset="0"/>
                            </a:rPr>
                            <m:t>𝑆</m:t>
                          </m:r>
                          <m:r>
                            <a:rPr lang="de-DE" sz="1100" i="1">
                              <a:latin typeface="Cambria Math" panose="02040503050406030204" pitchFamily="18" charset="0"/>
                            </a:rPr>
                            <m:t>,</m:t>
                          </m:r>
                          <m:r>
                            <a:rPr lang="de-DE" sz="1100" i="1">
                              <a:latin typeface="Cambria Math" panose="02040503050406030204" pitchFamily="18" charset="0"/>
                            </a:rPr>
                            <m:t>𝐴</m:t>
                          </m:r>
                          <m:r>
                            <a:rPr lang="de-DE" sz="1100" i="1">
                              <a:latin typeface="Cambria Math" panose="02040503050406030204" pitchFamily="18" charset="0"/>
                            </a:rPr>
                            <m:t>,</m:t>
                          </m:r>
                          <m:r>
                            <a:rPr lang="de-DE" sz="1100" i="1">
                              <a:latin typeface="Cambria Math" panose="02040503050406030204" pitchFamily="18" charset="0"/>
                            </a:rPr>
                            <m:t>𝑝</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1</m:t>
                                  </m:r>
                                </m:sub>
                              </m:sSub>
                            </m:e>
                          </m:d>
                          <m:r>
                            <a:rPr lang="de-DE" sz="1100" i="1">
                              <a:latin typeface="Cambria Math" panose="02040503050406030204" pitchFamily="18" charset="0"/>
                            </a:rPr>
                            <m:t>, </m:t>
                          </m:r>
                          <m:r>
                            <a:rPr lang="de-DE" sz="1100" i="1">
                              <a:latin typeface="Cambria Math" panose="02040503050406030204" pitchFamily="18" charset="0"/>
                            </a:rPr>
                            <m:t>𝑝</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r>
                                    <a:rPr lang="de-DE" sz="1100" i="1">
                                      <a:latin typeface="Cambria Math" panose="02040503050406030204" pitchFamily="18" charset="0"/>
                                    </a:rPr>
                                    <m:t>+1</m:t>
                                  </m:r>
                                </m:sub>
                              </m:sSub>
                            </m:e>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sub>
                              </m:sSub>
                              <m:r>
                                <a:rPr lang="de-DE" sz="1100" i="1">
                                  <a:latin typeface="Cambria Math" panose="02040503050406030204" pitchFamily="18" charset="0"/>
                                </a:rPr>
                                <m:t>,</m:t>
                              </m:r>
                              <m:sSub>
                                <m:sSubPr>
                                  <m:ctrlPr>
                                    <a:rPr lang="de-DE" sz="1100" i="1">
                                      <a:latin typeface="Cambria Math" panose="02040503050406030204" pitchFamily="18" charset="0"/>
                                    </a:rPr>
                                  </m:ctrlPr>
                                </m:sSubPr>
                                <m:e>
                                  <m:r>
                                    <a:rPr lang="de-DE" sz="1100" i="1">
                                      <a:latin typeface="Cambria Math" panose="02040503050406030204" pitchFamily="18" charset="0"/>
                                    </a:rPr>
                                    <m:t>𝑎</m:t>
                                  </m:r>
                                </m:e>
                                <m:sub>
                                  <m:r>
                                    <a:rPr lang="de-DE" sz="1100" i="1">
                                      <a:latin typeface="Cambria Math" panose="02040503050406030204" pitchFamily="18" charset="0"/>
                                    </a:rPr>
                                    <m:t>𝑡</m:t>
                                  </m:r>
                                </m:sub>
                              </m:sSub>
                            </m:e>
                          </m:d>
                          <m:r>
                            <a:rPr lang="de-DE" sz="1100" i="1">
                              <a:latin typeface="Cambria Math" panose="02040503050406030204" pitchFamily="18" charset="0"/>
                            </a:rPr>
                            <m:t>, </m:t>
                          </m:r>
                          <m:r>
                            <a:rPr lang="de-DE" sz="1100" i="1">
                              <a:latin typeface="Cambria Math" panose="02040503050406030204" pitchFamily="18" charset="0"/>
                            </a:rPr>
                            <m:t>𝑟</m:t>
                          </m:r>
                          <m:d>
                            <m:dPr>
                              <m:ctrlPr>
                                <a:rPr lang="de-DE" sz="1100" i="1">
                                  <a:latin typeface="Cambria Math" panose="02040503050406030204" pitchFamily="18" charset="0"/>
                                </a:rPr>
                              </m:ctrlPr>
                            </m:dPr>
                            <m:e>
                              <m:sSub>
                                <m:sSubPr>
                                  <m:ctrlPr>
                                    <a:rPr lang="de-DE" sz="1100" i="1">
                                      <a:latin typeface="Cambria Math" panose="02040503050406030204" pitchFamily="18" charset="0"/>
                                    </a:rPr>
                                  </m:ctrlPr>
                                </m:sSubPr>
                                <m:e>
                                  <m:r>
                                    <a:rPr lang="de-DE" sz="1100" i="1">
                                      <a:latin typeface="Cambria Math" panose="02040503050406030204" pitchFamily="18" charset="0"/>
                                    </a:rPr>
                                    <m:t>𝑠</m:t>
                                  </m:r>
                                </m:e>
                                <m:sub>
                                  <m:r>
                                    <a:rPr lang="de-DE" sz="1100" i="1">
                                      <a:latin typeface="Cambria Math" panose="02040503050406030204" pitchFamily="18" charset="0"/>
                                    </a:rPr>
                                    <m:t>𝑡</m:t>
                                  </m:r>
                                </m:sub>
                              </m:sSub>
                              <m:r>
                                <a:rPr lang="de-DE" sz="1100" i="1">
                                  <a:latin typeface="Cambria Math" panose="02040503050406030204" pitchFamily="18" charset="0"/>
                                </a:rPr>
                                <m:t>,</m:t>
                              </m:r>
                              <m:sSub>
                                <m:sSubPr>
                                  <m:ctrlPr>
                                    <a:rPr lang="de-DE" sz="1100" i="1">
                                      <a:latin typeface="Cambria Math" panose="02040503050406030204" pitchFamily="18" charset="0"/>
                                    </a:rPr>
                                  </m:ctrlPr>
                                </m:sSubPr>
                                <m:e>
                                  <m:r>
                                    <a:rPr lang="de-DE" sz="1100" i="1">
                                      <a:latin typeface="Cambria Math" panose="02040503050406030204" pitchFamily="18" charset="0"/>
                                    </a:rPr>
                                    <m:t>𝑎</m:t>
                                  </m:r>
                                </m:e>
                                <m:sub>
                                  <m:r>
                                    <a:rPr lang="de-DE" sz="1100" i="1">
                                      <a:latin typeface="Cambria Math" panose="02040503050406030204" pitchFamily="18" charset="0"/>
                                    </a:rPr>
                                    <m:t>𝑡</m:t>
                                  </m:r>
                                </m:sub>
                              </m:sSub>
                            </m:e>
                          </m:d>
                        </m:e>
                      </m:d>
                    </m:oMath>
                  </m:oMathPara>
                </a14:m>
                <a:endParaRPr lang="de-DE" sz="1100" dirty="0"/>
              </a:p>
            </p:txBody>
          </p:sp>
        </mc:Choice>
        <mc:Fallback xmlns="">
          <p:sp>
            <p:nvSpPr>
              <p:cNvPr id="16" name="Textfeld 15">
                <a:extLst>
                  <a:ext uri="{FF2B5EF4-FFF2-40B4-BE49-F238E27FC236}">
                    <a16:creationId xmlns:a16="http://schemas.microsoft.com/office/drawing/2014/main" id="{085B0364-698E-F26B-E578-AF4EF0192B71}"/>
                  </a:ext>
                </a:extLst>
              </p:cNvPr>
              <p:cNvSpPr txBox="1">
                <a:spLocks noRot="1" noChangeAspect="1" noMove="1" noResize="1" noEditPoints="1" noAdjustHandles="1" noChangeArrowheads="1" noChangeShapeType="1" noTextEdit="1"/>
              </p:cNvSpPr>
              <p:nvPr/>
            </p:nvSpPr>
            <p:spPr>
              <a:xfrm>
                <a:off x="1108741" y="1867184"/>
                <a:ext cx="2317301" cy="553998"/>
              </a:xfrm>
              <a:prstGeom prst="rect">
                <a:avLst/>
              </a:prstGeom>
              <a:blipFill>
                <a:blip r:embed="rId4"/>
                <a:stretch>
                  <a:fillRect/>
                </a:stretch>
              </a:blipFill>
            </p:spPr>
            <p:txBody>
              <a:bodyPr/>
              <a:lstStyle/>
              <a:p>
                <a:r>
                  <a:rPr lang="de-DE">
                    <a:noFill/>
                  </a:rPr>
                  <a:t> </a:t>
                </a:r>
              </a:p>
            </p:txBody>
          </p:sp>
        </mc:Fallback>
      </mc:AlternateContent>
      <p:sp>
        <p:nvSpPr>
          <p:cNvPr id="17" name="Textfeld 16">
            <a:extLst>
              <a:ext uri="{FF2B5EF4-FFF2-40B4-BE49-F238E27FC236}">
                <a16:creationId xmlns:a16="http://schemas.microsoft.com/office/drawing/2014/main" id="{CCC7BE55-5FB9-FC87-625D-107345C690A8}"/>
              </a:ext>
            </a:extLst>
          </p:cNvPr>
          <p:cNvSpPr txBox="1"/>
          <p:nvPr/>
        </p:nvSpPr>
        <p:spPr>
          <a:xfrm>
            <a:off x="1108741" y="929127"/>
            <a:ext cx="7776864" cy="338554"/>
          </a:xfrm>
          <a:prstGeom prst="rect">
            <a:avLst/>
          </a:prstGeom>
          <a:noFill/>
        </p:spPr>
        <p:txBody>
          <a:bodyPr wrap="square" rtlCol="0">
            <a:spAutoFit/>
          </a:bodyPr>
          <a:lstStyle/>
          <a:p>
            <a:r>
              <a:rPr lang="de-DE" sz="1600">
                <a:latin typeface="Arial" panose="020B0604020202020204" pitchFamily="34" charset="0"/>
                <a:cs typeface="Arial" panose="020B0604020202020204" pitchFamily="34" charset="0"/>
              </a:rPr>
              <a:t>FCDT </a:t>
            </a:r>
            <a:r>
              <a:rPr lang="de-DE" sz="1600" err="1">
                <a:latin typeface="Arial" panose="020B0604020202020204" pitchFamily="34" charset="0"/>
                <a:cs typeface="Arial" panose="020B0604020202020204" pitchFamily="34" charset="0"/>
              </a:rPr>
              <a:t>response</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strategies</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as</a:t>
            </a:r>
            <a:r>
              <a:rPr lang="de-DE" sz="1600">
                <a:latin typeface="Arial" panose="020B0604020202020204" pitchFamily="34" charset="0"/>
                <a:cs typeface="Arial" panose="020B0604020202020204" pitchFamily="34" charset="0"/>
              </a:rPr>
              <a:t> optimal </a:t>
            </a:r>
            <a:r>
              <a:rPr lang="de-DE" sz="1600" err="1">
                <a:latin typeface="Arial" panose="020B0604020202020204" pitchFamily="34" charset="0"/>
                <a:cs typeface="Arial" panose="020B0604020202020204" pitchFamily="34" charset="0"/>
              </a:rPr>
              <a:t>policies</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under</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subjective</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cost</a:t>
            </a:r>
            <a:r>
              <a:rPr lang="de-DE" sz="1600">
                <a:latin typeface="Arial" panose="020B0604020202020204" pitchFamily="34" charset="0"/>
                <a:cs typeface="Arial" panose="020B0604020202020204" pitchFamily="34" charset="0"/>
              </a:rPr>
              <a:t> </a:t>
            </a:r>
            <a:r>
              <a:rPr lang="de-DE" sz="1600" err="1">
                <a:latin typeface="Arial" panose="020B0604020202020204" pitchFamily="34" charset="0"/>
                <a:cs typeface="Arial" panose="020B0604020202020204" pitchFamily="34" charset="0"/>
              </a:rPr>
              <a:t>functions</a:t>
            </a:r>
            <a:endParaRPr lang="de-DE" sz="1600">
              <a:latin typeface="Arial" panose="020B0604020202020204" pitchFamily="34" charset="0"/>
              <a:cs typeface="Arial" panose="020B0604020202020204" pitchFamily="34" charset="0"/>
            </a:endParaRPr>
          </a:p>
        </p:txBody>
      </p:sp>
      <p:sp>
        <p:nvSpPr>
          <p:cNvPr id="18" name="Rechteck: abgerundete Ecken 17">
            <a:extLst>
              <a:ext uri="{FF2B5EF4-FFF2-40B4-BE49-F238E27FC236}">
                <a16:creationId xmlns:a16="http://schemas.microsoft.com/office/drawing/2014/main" id="{A4143FE7-06AD-8B6E-550F-87A29C161A95}"/>
              </a:ext>
            </a:extLst>
          </p:cNvPr>
          <p:cNvSpPr/>
          <p:nvPr/>
        </p:nvSpPr>
        <p:spPr>
          <a:xfrm>
            <a:off x="397869" y="1839920"/>
            <a:ext cx="715416" cy="348215"/>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Freiburg</a:t>
            </a:r>
            <a:endParaRPr lang="en-US">
              <a:solidFill>
                <a:schemeClr val="tx1"/>
              </a:solidFill>
              <a:latin typeface="Arial" panose="020B0604020202020204" pitchFamily="34" charset="0"/>
              <a:cs typeface="Arial" panose="020B0604020202020204" pitchFamily="34" charset="0"/>
            </a:endParaRPr>
          </a:p>
        </p:txBody>
      </p:sp>
      <p:pic>
        <p:nvPicPr>
          <p:cNvPr id="10" name="Grafik 9" descr="Ein Bild, das Text, Diagramm, Reihe, Screenshot enthält.&#10;&#10;KI-generierte Inhalte können fehlerhaft sein.">
            <a:extLst>
              <a:ext uri="{FF2B5EF4-FFF2-40B4-BE49-F238E27FC236}">
                <a16:creationId xmlns:a16="http://schemas.microsoft.com/office/drawing/2014/main" id="{9472D8FB-B0C0-1530-0A38-F3826B80EC1B}"/>
              </a:ext>
            </a:extLst>
          </p:cNvPr>
          <p:cNvPicPr>
            <a:picLocks noChangeAspect="1"/>
          </p:cNvPicPr>
          <p:nvPr/>
        </p:nvPicPr>
        <p:blipFill>
          <a:blip r:embed="rId5"/>
          <a:stretch>
            <a:fillRect/>
          </a:stretch>
        </p:blipFill>
        <p:spPr>
          <a:xfrm>
            <a:off x="3801938" y="1742055"/>
            <a:ext cx="4743875" cy="2846325"/>
          </a:xfrm>
          <a:prstGeom prst="rect">
            <a:avLst/>
          </a:prstGeom>
        </p:spPr>
      </p:pic>
      <p:sp>
        <p:nvSpPr>
          <p:cNvPr id="11" name="Rechteck: abgerundete Ecken 10">
            <a:extLst>
              <a:ext uri="{FF2B5EF4-FFF2-40B4-BE49-F238E27FC236}">
                <a16:creationId xmlns:a16="http://schemas.microsoft.com/office/drawing/2014/main" id="{83AE57F4-23E4-1022-6A5A-018928EA0E40}"/>
              </a:ext>
            </a:extLst>
          </p:cNvPr>
          <p:cNvSpPr/>
          <p:nvPr/>
        </p:nvSpPr>
        <p:spPr>
          <a:xfrm>
            <a:off x="1014056" y="3112776"/>
            <a:ext cx="2444952" cy="343762"/>
          </a:xfrm>
          <a:prstGeom prst="roundRect">
            <a:avLst/>
          </a:prstGeom>
          <a:solidFill>
            <a:schemeClr val="bg1"/>
          </a:solid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t"/>
          <a:lstStyle/>
          <a:p>
            <a:pPr algn="ctr">
              <a:lnSpc>
                <a:spcPct val="150000"/>
              </a:lnSpc>
            </a:pPr>
            <a:r>
              <a:rPr lang="en-US" sz="1000" dirty="0">
                <a:solidFill>
                  <a:schemeClr val="tx1"/>
                </a:solidFill>
                <a:latin typeface="Arial" panose="020B0604020202020204" pitchFamily="34" charset="0"/>
                <a:ea typeface="Arial Unicode MS" panose="020B0604020202020204"/>
                <a:cs typeface="Arial" panose="020B0604020202020204" pitchFamily="34" charset="0"/>
              </a:rPr>
              <a:t>Expected reward maximization</a:t>
            </a:r>
          </a:p>
        </p:txBody>
      </p:sp>
    </p:spTree>
    <p:extLst>
      <p:ext uri="{BB962C8B-B14F-4D97-AF65-F5344CB8AC3E}">
        <p14:creationId xmlns:p14="http://schemas.microsoft.com/office/powerpoint/2010/main" val="202875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188A6D-D34A-9B62-860B-ADEFD1A17E50}"/>
              </a:ext>
            </a:extLst>
          </p:cNvPr>
          <p:cNvSpPr>
            <a:spLocks noGrp="1"/>
          </p:cNvSpPr>
          <p:nvPr>
            <p:ph type="title"/>
          </p:nvPr>
        </p:nvSpPr>
        <p:spPr/>
        <p:txBody>
          <a:bodyPr>
            <a:normAutofit/>
          </a:bodyPr>
          <a:lstStyle/>
          <a:p>
            <a:r>
              <a:rPr lang="de-DE" sz="2400" b="0" dirty="0">
                <a:latin typeface="Arial" panose="020B0604020202020204" pitchFamily="34" charset="0"/>
                <a:cs typeface="Arial" panose="020B0604020202020204" pitchFamily="34" charset="0"/>
              </a:rPr>
              <a:t>First-stage </a:t>
            </a:r>
            <a:r>
              <a:rPr lang="de-DE" sz="2400" b="0" dirty="0" err="1">
                <a:latin typeface="Arial" panose="020B0604020202020204" pitchFamily="34" charset="0"/>
                <a:cs typeface="Arial" panose="020B0604020202020204" pitchFamily="34" charset="0"/>
              </a:rPr>
              <a:t>implementation</a:t>
            </a:r>
            <a:endParaRPr lang="de-DE" sz="2400" b="0" dirty="0">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AD62F993-3240-E5AA-D831-81BD3539D33F}"/>
              </a:ext>
            </a:extLst>
          </p:cNvPr>
          <p:cNvSpPr>
            <a:spLocks noGrp="1"/>
          </p:cNvSpPr>
          <p:nvPr>
            <p:ph idx="1"/>
          </p:nvPr>
        </p:nvSpPr>
        <p:spPr>
          <a:xfrm>
            <a:off x="457200" y="1100747"/>
            <a:ext cx="8229600" cy="3541188"/>
          </a:xfrm>
        </p:spPr>
        <p:txBody>
          <a:bodyPr>
            <a:normAutofit fontScale="77500" lnSpcReduction="20000"/>
          </a:bodyPr>
          <a:lstStyle/>
          <a:p>
            <a:pPr>
              <a:lnSpc>
                <a:spcPct val="160000"/>
              </a:lnSpc>
            </a:pPr>
            <a:r>
              <a:rPr lang="de-DE" sz="1600" dirty="0" err="1"/>
              <a:t>Application</a:t>
            </a:r>
            <a:r>
              <a:rPr lang="de-DE" sz="1600" dirty="0"/>
              <a:t> to Brüning, </a:t>
            </a:r>
            <a:r>
              <a:rPr lang="de-DE" sz="1600" dirty="0" err="1"/>
              <a:t>Manzey</a:t>
            </a:r>
            <a:r>
              <a:rPr lang="de-DE" sz="1600" dirty="0"/>
              <a:t> (2020) </a:t>
            </a:r>
            <a:r>
              <a:rPr lang="de-DE" sz="1600" dirty="0" err="1"/>
              <a:t>data</a:t>
            </a:r>
            <a:r>
              <a:rPr lang="de-DE" sz="1600" dirty="0"/>
              <a:t> </a:t>
            </a:r>
            <a:r>
              <a:rPr lang="de-DE" sz="1600" dirty="0" err="1"/>
              <a:t>subset</a:t>
            </a:r>
            <a:r>
              <a:rPr lang="de-DE" sz="1600" dirty="0"/>
              <a:t> (</a:t>
            </a:r>
            <a:r>
              <a:rPr lang="de-DE" sz="1600" dirty="0">
                <a:hlinkClick r:id="rId2"/>
              </a:rPr>
              <a:t>osf.io/x6n58</a:t>
            </a:r>
            <a:r>
              <a:rPr lang="de-DE" sz="1600" dirty="0"/>
              <a:t>)</a:t>
            </a:r>
          </a:p>
          <a:p>
            <a:pPr>
              <a:lnSpc>
                <a:spcPct val="160000"/>
              </a:lnSpc>
            </a:pPr>
            <a:r>
              <a:rPr lang="de-DE" sz="1600" dirty="0"/>
              <a:t>Full </a:t>
            </a:r>
            <a:r>
              <a:rPr lang="de-DE" sz="1600" dirty="0" err="1"/>
              <a:t>theoretical</a:t>
            </a:r>
            <a:r>
              <a:rPr lang="de-DE" sz="1600" dirty="0"/>
              <a:t> and </a:t>
            </a:r>
            <a:r>
              <a:rPr lang="de-DE" sz="1600" dirty="0" err="1"/>
              <a:t>implementational</a:t>
            </a:r>
            <a:r>
              <a:rPr lang="de-DE" sz="1600" dirty="0"/>
              <a:t> </a:t>
            </a:r>
            <a:r>
              <a:rPr lang="de-DE" sz="1600" dirty="0" err="1"/>
              <a:t>details</a:t>
            </a:r>
            <a:r>
              <a:rPr lang="de-DE" sz="1600" dirty="0"/>
              <a:t> on </a:t>
            </a:r>
            <a:r>
              <a:rPr lang="de-DE" sz="1600" dirty="0">
                <a:hlinkClick r:id="rId3"/>
              </a:rPr>
              <a:t>GitHub</a:t>
            </a:r>
            <a:r>
              <a:rPr lang="de-DE" sz="1600" dirty="0"/>
              <a:t>, </a:t>
            </a:r>
            <a:r>
              <a:rPr lang="de-DE" sz="1600" dirty="0" err="1"/>
              <a:t>including</a:t>
            </a:r>
            <a:r>
              <a:rPr lang="de-DE" sz="1600" dirty="0"/>
              <a:t> an extensive </a:t>
            </a:r>
            <a:r>
              <a:rPr lang="de-DE" sz="1600" dirty="0" err="1"/>
              <a:t>report</a:t>
            </a:r>
            <a:r>
              <a:rPr lang="de-DE" sz="1600" dirty="0"/>
              <a:t> (</a:t>
            </a:r>
            <a:r>
              <a:rPr lang="de-DE" sz="1600" dirty="0">
                <a:hlinkClick r:id="rId4"/>
              </a:rPr>
              <a:t>.</a:t>
            </a:r>
            <a:r>
              <a:rPr lang="de-DE" sz="1600" dirty="0" err="1">
                <a:hlinkClick r:id="rId4"/>
              </a:rPr>
              <a:t>pdf</a:t>
            </a:r>
            <a:r>
              <a:rPr lang="de-DE" sz="1600" dirty="0"/>
              <a:t>)</a:t>
            </a:r>
          </a:p>
          <a:p>
            <a:pPr>
              <a:lnSpc>
                <a:spcPct val="160000"/>
              </a:lnSpc>
            </a:pPr>
            <a:r>
              <a:rPr lang="de-DE" sz="1600" dirty="0"/>
              <a:t>Proof of </a:t>
            </a:r>
            <a:r>
              <a:rPr lang="de-DE" sz="1600" dirty="0" err="1"/>
              <a:t>principle</a:t>
            </a:r>
            <a:r>
              <a:rPr lang="de-DE" sz="1600" dirty="0"/>
              <a:t> </a:t>
            </a:r>
            <a:r>
              <a:rPr lang="de-DE" sz="1600" dirty="0" err="1"/>
              <a:t>shortcomings</a:t>
            </a:r>
            <a:endParaRPr lang="de-DE" sz="1600" dirty="0"/>
          </a:p>
          <a:p>
            <a:pPr lvl="1">
              <a:lnSpc>
                <a:spcPct val="160000"/>
              </a:lnSpc>
              <a:buFont typeface="Courier New" panose="02070309020205020404" pitchFamily="49" charset="0"/>
              <a:buChar char="o"/>
            </a:pPr>
            <a:r>
              <a:rPr lang="de-DE" sz="1600" dirty="0"/>
              <a:t>Generative </a:t>
            </a:r>
            <a:r>
              <a:rPr lang="de-DE" sz="1600" dirty="0" err="1"/>
              <a:t>simulations</a:t>
            </a:r>
            <a:r>
              <a:rPr lang="de-DE" sz="1600" dirty="0"/>
              <a:t> of </a:t>
            </a:r>
            <a:r>
              <a:rPr lang="de-DE" sz="1600" dirty="0" err="1"/>
              <a:t>restricted</a:t>
            </a:r>
            <a:r>
              <a:rPr lang="de-DE" sz="1600" dirty="0"/>
              <a:t> FCDT </a:t>
            </a:r>
            <a:r>
              <a:rPr lang="de-DE" sz="1600" dirty="0" err="1"/>
              <a:t>paradigm</a:t>
            </a:r>
            <a:r>
              <a:rPr lang="de-DE" sz="1600" dirty="0"/>
              <a:t>, </a:t>
            </a:r>
            <a:r>
              <a:rPr lang="de-DE" sz="1600" dirty="0" err="1"/>
              <a:t>no</a:t>
            </a:r>
            <a:r>
              <a:rPr lang="de-DE" sz="1600" dirty="0"/>
              <a:t> </a:t>
            </a:r>
            <a:r>
              <a:rPr lang="de-DE" sz="1600" dirty="0" err="1"/>
              <a:t>application</a:t>
            </a:r>
            <a:r>
              <a:rPr lang="de-DE" sz="1600" dirty="0"/>
              <a:t> to </a:t>
            </a:r>
            <a:r>
              <a:rPr lang="de-DE" sz="1600" dirty="0" err="1"/>
              <a:t>empirical</a:t>
            </a:r>
            <a:r>
              <a:rPr lang="de-DE" sz="1600" dirty="0"/>
              <a:t> </a:t>
            </a:r>
            <a:r>
              <a:rPr lang="de-DE" sz="1600" dirty="0" err="1"/>
              <a:t>data</a:t>
            </a:r>
            <a:endParaRPr lang="de-DE" sz="1600" dirty="0"/>
          </a:p>
          <a:p>
            <a:pPr lvl="1">
              <a:lnSpc>
                <a:spcPct val="160000"/>
              </a:lnSpc>
              <a:buFont typeface="Courier New" panose="02070309020205020404" pitchFamily="49" charset="0"/>
              <a:buChar char="o"/>
            </a:pPr>
            <a:r>
              <a:rPr lang="de-DE" sz="1600" dirty="0" err="1"/>
              <a:t>Reward-discounted</a:t>
            </a:r>
            <a:r>
              <a:rPr lang="de-DE" sz="1600" dirty="0"/>
              <a:t> infinite-</a:t>
            </a:r>
            <a:r>
              <a:rPr lang="de-DE" sz="1600" dirty="0" err="1"/>
              <a:t>horizon</a:t>
            </a:r>
            <a:r>
              <a:rPr lang="de-DE" sz="1600" dirty="0"/>
              <a:t> MDP </a:t>
            </a:r>
            <a:r>
              <a:rPr lang="de-DE" sz="1600" dirty="0" err="1"/>
              <a:t>approximation</a:t>
            </a:r>
            <a:r>
              <a:rPr lang="de-DE" sz="1600" dirty="0"/>
              <a:t> </a:t>
            </a:r>
            <a:r>
              <a:rPr lang="de-DE" sz="1600" dirty="0" err="1"/>
              <a:t>based</a:t>
            </a:r>
            <a:r>
              <a:rPr lang="de-DE" sz="1600" dirty="0"/>
              <a:t> on </a:t>
            </a:r>
            <a:r>
              <a:rPr lang="de-DE" sz="1600" dirty="0" err="1"/>
              <a:t>policy</a:t>
            </a:r>
            <a:r>
              <a:rPr lang="de-DE" sz="1600" dirty="0"/>
              <a:t> </a:t>
            </a:r>
            <a:r>
              <a:rPr lang="de-DE" sz="1600" dirty="0" err="1"/>
              <a:t>iteration</a:t>
            </a:r>
            <a:endParaRPr lang="de-DE" sz="1600" dirty="0"/>
          </a:p>
          <a:p>
            <a:pPr>
              <a:lnSpc>
                <a:spcPct val="160000"/>
              </a:lnSpc>
            </a:pPr>
            <a:r>
              <a:rPr lang="de-DE" sz="1600" dirty="0"/>
              <a:t>First-stage </a:t>
            </a:r>
            <a:r>
              <a:rPr lang="de-DE" sz="1600" dirty="0" err="1"/>
              <a:t>implementation</a:t>
            </a:r>
            <a:r>
              <a:rPr lang="de-DE" sz="1600" dirty="0"/>
              <a:t> </a:t>
            </a:r>
            <a:r>
              <a:rPr lang="de-DE" sz="1600" dirty="0" err="1"/>
              <a:t>advances</a:t>
            </a:r>
            <a:endParaRPr lang="de-DE" sz="1600" dirty="0"/>
          </a:p>
          <a:p>
            <a:pPr lvl="1">
              <a:lnSpc>
                <a:spcPct val="160000"/>
              </a:lnSpc>
              <a:buFont typeface="Courier New" panose="02070309020205020404" pitchFamily="49" charset="0"/>
              <a:buChar char="o"/>
            </a:pPr>
            <a:r>
              <a:rPr lang="de-DE" sz="1600" dirty="0" err="1"/>
              <a:t>Application</a:t>
            </a:r>
            <a:r>
              <a:rPr lang="de-DE" sz="1600" dirty="0"/>
              <a:t> to </a:t>
            </a:r>
            <a:r>
              <a:rPr lang="de-DE" sz="1600" dirty="0" err="1"/>
              <a:t>rich</a:t>
            </a:r>
            <a:r>
              <a:rPr lang="de-DE" sz="1600" dirty="0"/>
              <a:t> </a:t>
            </a:r>
            <a:r>
              <a:rPr lang="de-DE" sz="1600" dirty="0" err="1"/>
              <a:t>empirical</a:t>
            </a:r>
            <a:r>
              <a:rPr lang="de-DE" sz="1600" dirty="0"/>
              <a:t> </a:t>
            </a:r>
            <a:r>
              <a:rPr lang="de-DE" sz="1600" dirty="0" err="1"/>
              <a:t>data</a:t>
            </a:r>
            <a:r>
              <a:rPr lang="de-DE" sz="1600" dirty="0"/>
              <a:t> in the </a:t>
            </a:r>
            <a:r>
              <a:rPr lang="de-DE" sz="1600" dirty="0" err="1"/>
              <a:t>agentic</a:t>
            </a:r>
            <a:r>
              <a:rPr lang="de-DE" sz="1600" dirty="0"/>
              <a:t> behavioral </a:t>
            </a:r>
            <a:r>
              <a:rPr lang="de-DE" sz="1600" dirty="0" err="1"/>
              <a:t>modeling</a:t>
            </a:r>
            <a:r>
              <a:rPr lang="de-DE" sz="1600" dirty="0"/>
              <a:t> </a:t>
            </a:r>
            <a:r>
              <a:rPr lang="de-DE" sz="1600" dirty="0" err="1"/>
              <a:t>framework</a:t>
            </a:r>
            <a:r>
              <a:rPr lang="de-DE" sz="1600" dirty="0"/>
              <a:t> (</a:t>
            </a:r>
            <a:r>
              <a:rPr lang="de-DE" sz="1600" dirty="0">
                <a:hlinkClick r:id="rId5"/>
              </a:rPr>
              <a:t>Ostwald et al. (2026)</a:t>
            </a:r>
            <a:r>
              <a:rPr lang="de-DE" sz="1600" dirty="0"/>
              <a:t>) </a:t>
            </a:r>
          </a:p>
          <a:p>
            <a:pPr lvl="1">
              <a:lnSpc>
                <a:spcPct val="160000"/>
              </a:lnSpc>
              <a:buFont typeface="Courier New" panose="02070309020205020404" pitchFamily="49" charset="0"/>
              <a:buChar char="o"/>
            </a:pPr>
            <a:r>
              <a:rPr lang="de-DE" sz="1600" dirty="0"/>
              <a:t>Finite </a:t>
            </a:r>
            <a:r>
              <a:rPr lang="de-DE" sz="1600" dirty="0" err="1"/>
              <a:t>horizon</a:t>
            </a:r>
            <a:r>
              <a:rPr lang="de-DE" sz="1600" dirty="0"/>
              <a:t> MDP </a:t>
            </a:r>
            <a:r>
              <a:rPr lang="de-DE" sz="1600" dirty="0" err="1"/>
              <a:t>without</a:t>
            </a:r>
            <a:r>
              <a:rPr lang="de-DE" sz="1600" dirty="0"/>
              <a:t> </a:t>
            </a:r>
            <a:r>
              <a:rPr lang="de-DE" sz="1600" dirty="0" err="1"/>
              <a:t>reward</a:t>
            </a:r>
            <a:r>
              <a:rPr lang="de-DE" sz="1600" dirty="0"/>
              <a:t> </a:t>
            </a:r>
            <a:r>
              <a:rPr lang="de-DE" sz="1600" dirty="0" err="1"/>
              <a:t>discounting</a:t>
            </a:r>
            <a:r>
              <a:rPr lang="de-DE" sz="1600" dirty="0"/>
              <a:t> </a:t>
            </a:r>
            <a:r>
              <a:rPr lang="de-DE" sz="1600" dirty="0" err="1"/>
              <a:t>solved</a:t>
            </a:r>
            <a:r>
              <a:rPr lang="de-DE" sz="1600" dirty="0"/>
              <a:t> by </a:t>
            </a:r>
            <a:r>
              <a:rPr lang="de-DE" sz="1600" dirty="0" err="1"/>
              <a:t>backward</a:t>
            </a:r>
            <a:r>
              <a:rPr lang="de-DE" sz="1600" dirty="0"/>
              <a:t> </a:t>
            </a:r>
            <a:r>
              <a:rPr lang="de-DE" sz="1600" dirty="0" err="1"/>
              <a:t>induction</a:t>
            </a:r>
            <a:endParaRPr lang="de-DE" sz="1600" dirty="0"/>
          </a:p>
          <a:p>
            <a:pPr>
              <a:lnSpc>
                <a:spcPct val="160000"/>
              </a:lnSpc>
            </a:pPr>
            <a:r>
              <a:rPr lang="de-DE" sz="1600" dirty="0"/>
              <a:t>First-stage </a:t>
            </a:r>
            <a:r>
              <a:rPr lang="de-DE" sz="1600" dirty="0" err="1"/>
              <a:t>implementation</a:t>
            </a:r>
            <a:r>
              <a:rPr lang="de-DE" sz="1600" dirty="0"/>
              <a:t> </a:t>
            </a:r>
            <a:r>
              <a:rPr lang="de-DE" sz="1600" dirty="0" err="1"/>
              <a:t>shortcomings</a:t>
            </a:r>
            <a:endParaRPr lang="de-DE" sz="1600" dirty="0"/>
          </a:p>
          <a:p>
            <a:pPr lvl="1">
              <a:lnSpc>
                <a:spcPct val="160000"/>
              </a:lnSpc>
              <a:buFont typeface="Courier New" panose="02070309020205020404" pitchFamily="49" charset="0"/>
              <a:buChar char="o"/>
            </a:pPr>
            <a:r>
              <a:rPr lang="de-DE" sz="1600" dirty="0"/>
              <a:t>Focus on </a:t>
            </a:r>
            <a:r>
              <a:rPr lang="de-DE" sz="1600" dirty="0" err="1"/>
              <a:t>response</a:t>
            </a:r>
            <a:r>
              <a:rPr lang="de-DE" sz="1600" dirty="0"/>
              <a:t> </a:t>
            </a:r>
            <a:r>
              <a:rPr lang="de-DE" sz="1600" dirty="0" err="1"/>
              <a:t>data</a:t>
            </a:r>
            <a:r>
              <a:rPr lang="de-DE" sz="1600" dirty="0"/>
              <a:t>, not </a:t>
            </a:r>
            <a:r>
              <a:rPr lang="de-DE" sz="1600" dirty="0" err="1"/>
              <a:t>reaction</a:t>
            </a:r>
            <a:r>
              <a:rPr lang="de-DE" sz="1600" dirty="0"/>
              <a:t> </a:t>
            </a:r>
            <a:r>
              <a:rPr lang="de-DE" sz="1600" dirty="0" err="1"/>
              <a:t>times</a:t>
            </a:r>
            <a:r>
              <a:rPr lang="de-DE" sz="1600" dirty="0"/>
              <a:t> in a semi-MDP </a:t>
            </a:r>
            <a:r>
              <a:rPr lang="de-DE" sz="1600" dirty="0" err="1"/>
              <a:t>extension</a:t>
            </a:r>
            <a:endParaRPr lang="de-DE" sz="1600" dirty="0"/>
          </a:p>
          <a:p>
            <a:pPr lvl="1">
              <a:lnSpc>
                <a:spcPct val="160000"/>
              </a:lnSpc>
              <a:buFont typeface="Courier New" panose="02070309020205020404" pitchFamily="49" charset="0"/>
              <a:buChar char="o"/>
            </a:pPr>
            <a:r>
              <a:rPr lang="de-DE" sz="1600" dirty="0" err="1"/>
              <a:t>No</a:t>
            </a:r>
            <a:r>
              <a:rPr lang="de-DE" sz="1600" dirty="0"/>
              <a:t> </a:t>
            </a:r>
            <a:r>
              <a:rPr lang="de-DE" sz="1600" dirty="0" err="1"/>
              <a:t>consideration</a:t>
            </a:r>
            <a:r>
              <a:rPr lang="de-DE" sz="1600" dirty="0"/>
              <a:t> of dual-task </a:t>
            </a:r>
            <a:r>
              <a:rPr lang="de-DE" sz="1600" dirty="0" err="1"/>
              <a:t>efficiency</a:t>
            </a:r>
            <a:r>
              <a:rPr lang="de-DE" sz="1600" dirty="0"/>
              <a:t> </a:t>
            </a:r>
            <a:r>
              <a:rPr lang="de-DE" sz="1600" dirty="0" err="1"/>
              <a:t>or</a:t>
            </a:r>
            <a:r>
              <a:rPr lang="de-DE" sz="1600" dirty="0"/>
              <a:t> domain-</a:t>
            </a:r>
            <a:r>
              <a:rPr lang="de-DE" sz="1600" dirty="0" err="1"/>
              <a:t>specific</a:t>
            </a:r>
            <a:r>
              <a:rPr lang="de-DE" sz="1600" dirty="0"/>
              <a:t> </a:t>
            </a:r>
            <a:r>
              <a:rPr lang="de-DE" sz="1600" dirty="0" err="1"/>
              <a:t>cognitive</a:t>
            </a:r>
            <a:r>
              <a:rPr lang="de-DE" sz="1600" dirty="0"/>
              <a:t> </a:t>
            </a:r>
            <a:r>
              <a:rPr lang="de-DE" sz="1600" dirty="0" err="1"/>
              <a:t>processing</a:t>
            </a:r>
            <a:r>
              <a:rPr lang="de-DE" sz="1600" dirty="0"/>
              <a:t> </a:t>
            </a:r>
            <a:endParaRPr lang="de-DE" sz="1700" dirty="0"/>
          </a:p>
        </p:txBody>
      </p:sp>
      <p:sp>
        <p:nvSpPr>
          <p:cNvPr id="4" name="Foliennummernplatzhalter 3">
            <a:extLst>
              <a:ext uri="{FF2B5EF4-FFF2-40B4-BE49-F238E27FC236}">
                <a16:creationId xmlns:a16="http://schemas.microsoft.com/office/drawing/2014/main" id="{C1F5C49A-D8F8-DCC1-09BE-615300921DA7}"/>
              </a:ext>
            </a:extLst>
          </p:cNvPr>
          <p:cNvSpPr>
            <a:spLocks noGrp="1"/>
          </p:cNvSpPr>
          <p:nvPr>
            <p:ph type="sldNum" idx="12"/>
          </p:nvPr>
        </p:nvSpPr>
        <p:spPr/>
        <p:txBody>
          <a:bodyPr/>
          <a:lstStyle/>
          <a:p>
            <a:fld id="{5CD88B4E-D815-417B-99FD-41D66E5C06D4}" type="slidenum">
              <a:rPr lang="de-DE" smtClean="0"/>
              <a:t>10</a:t>
            </a:fld>
            <a:endParaRPr lang="de-DE"/>
          </a:p>
        </p:txBody>
      </p:sp>
      <mc:AlternateContent xmlns:mc="http://schemas.openxmlformats.org/markup-compatibility/2006" xmlns:a14="http://schemas.microsoft.com/office/drawing/2010/main">
        <mc:Choice Requires="a14">
          <p:sp>
            <p:nvSpPr>
              <p:cNvPr id="5" name="Textfeld 4">
                <a:extLst>
                  <a:ext uri="{FF2B5EF4-FFF2-40B4-BE49-F238E27FC236}">
                    <a16:creationId xmlns:a16="http://schemas.microsoft.com/office/drawing/2014/main" id="{0D958D6F-CD8E-51BF-149F-122193F5D98E}"/>
                  </a:ext>
                </a:extLst>
              </p:cNvPr>
              <p:cNvSpPr txBox="1"/>
              <p:nvPr/>
            </p:nvSpPr>
            <p:spPr>
              <a:xfrm>
                <a:off x="3562705" y="4426491"/>
                <a:ext cx="5124095" cy="215444"/>
              </a:xfrm>
              <a:prstGeom prst="rect">
                <a:avLst/>
              </a:prstGeom>
              <a:noFill/>
            </p:spPr>
            <p:txBody>
              <a:bodyPr wrap="none" lIns="0" tIns="0" rIns="0" bIns="0" rtlCol="0">
                <a:spAutoFit/>
              </a:bodyPr>
              <a:lstStyle/>
              <a:p>
                <a14:m>
                  <m:oMath xmlns:m="http://schemas.openxmlformats.org/officeDocument/2006/math">
                    <m:r>
                      <a:rPr lang="de-DE" sz="1400" b="0" i="1" smtClean="0">
                        <a:latin typeface="Cambria Math" panose="02040503050406030204" pitchFamily="18" charset="0"/>
                      </a:rPr>
                      <m:t>⇒</m:t>
                    </m:r>
                  </m:oMath>
                </a14:m>
                <a:r>
                  <a:rPr lang="de-DE" sz="1400" dirty="0">
                    <a:latin typeface="Arial" panose="020B0604020202020204" pitchFamily="34" charset="0"/>
                    <a:cs typeface="Arial" panose="020B0604020202020204" pitchFamily="34" charset="0"/>
                  </a:rPr>
                  <a:t> </a:t>
                </a:r>
                <a:r>
                  <a:rPr lang="de-DE" sz="1400" dirty="0">
                    <a:solidFill>
                      <a:srgbClr val="00B050"/>
                    </a:solidFill>
                    <a:latin typeface="Arial" panose="020B0604020202020204" pitchFamily="34" charset="0"/>
                    <a:cs typeface="Arial" panose="020B0604020202020204" pitchFamily="34" charset="0"/>
                  </a:rPr>
                  <a:t>Technical </a:t>
                </a:r>
                <a:r>
                  <a:rPr lang="de-DE" sz="1400" dirty="0" err="1">
                    <a:solidFill>
                      <a:srgbClr val="00B050"/>
                    </a:solidFill>
                    <a:latin typeface="Arial" panose="020B0604020202020204" pitchFamily="34" charset="0"/>
                    <a:cs typeface="Arial" panose="020B0604020202020204" pitchFamily="34" charset="0"/>
                  </a:rPr>
                  <a:t>advance</a:t>
                </a:r>
                <a:r>
                  <a:rPr lang="de-DE" sz="1400" dirty="0">
                    <a:solidFill>
                      <a:srgbClr val="00B050"/>
                    </a:solidFill>
                    <a:latin typeface="Arial" panose="020B0604020202020204" pitchFamily="34" charset="0"/>
                    <a:cs typeface="Arial" panose="020B0604020202020204" pitchFamily="34" charset="0"/>
                  </a:rPr>
                  <a:t> </a:t>
                </a:r>
                <a:r>
                  <a:rPr lang="de-DE" sz="1400" dirty="0">
                    <a:solidFill>
                      <a:srgbClr val="00B050"/>
                    </a:solidFill>
                    <a:latin typeface="Arial" panose="020B0604020202020204" pitchFamily="34" charset="0"/>
                    <a:cs typeface="Arial" panose="020B0604020202020204" pitchFamily="34" charset="0"/>
                    <a:sym typeface="Wingdings" panose="05000000000000000000" pitchFamily="2" charset="2"/>
                  </a:rPr>
                  <a:t> </a:t>
                </a:r>
                <a:r>
                  <a:rPr lang="de-DE" sz="1400" dirty="0">
                    <a:solidFill>
                      <a:schemeClr val="accent6">
                        <a:lumMod val="50000"/>
                      </a:schemeClr>
                    </a:solidFill>
                    <a:latin typeface="Arial" panose="020B0604020202020204" pitchFamily="34" charset="0"/>
                    <a:cs typeface="Arial" panose="020B0604020202020204" pitchFamily="34" charset="0"/>
                  </a:rPr>
                  <a:t>Psychological-</a:t>
                </a:r>
                <a:r>
                  <a:rPr lang="de-DE" sz="1400" dirty="0" err="1">
                    <a:solidFill>
                      <a:schemeClr val="accent6">
                        <a:lumMod val="50000"/>
                      </a:schemeClr>
                    </a:solidFill>
                    <a:latin typeface="Arial" panose="020B0604020202020204" pitchFamily="34" charset="0"/>
                    <a:cs typeface="Arial" panose="020B0604020202020204" pitchFamily="34" charset="0"/>
                  </a:rPr>
                  <a:t>neurocognitive</a:t>
                </a:r>
                <a:r>
                  <a:rPr lang="de-DE" sz="1400" dirty="0">
                    <a:solidFill>
                      <a:schemeClr val="accent6">
                        <a:lumMod val="50000"/>
                      </a:schemeClr>
                    </a:solidFill>
                    <a:latin typeface="Arial" panose="020B0604020202020204" pitchFamily="34" charset="0"/>
                    <a:cs typeface="Arial" panose="020B0604020202020204" pitchFamily="34" charset="0"/>
                  </a:rPr>
                  <a:t> </a:t>
                </a:r>
                <a:r>
                  <a:rPr lang="de-DE" sz="1400" dirty="0" err="1">
                    <a:solidFill>
                      <a:schemeClr val="accent6">
                        <a:lumMod val="50000"/>
                      </a:schemeClr>
                    </a:solidFill>
                    <a:latin typeface="Arial" panose="020B0604020202020204" pitchFamily="34" charset="0"/>
                    <a:cs typeface="Arial" panose="020B0604020202020204" pitchFamily="34" charset="0"/>
                  </a:rPr>
                  <a:t>advance</a:t>
                </a:r>
                <a:r>
                  <a:rPr lang="de-DE" sz="1400" dirty="0">
                    <a:solidFill>
                      <a:schemeClr val="accent6">
                        <a:lumMod val="50000"/>
                      </a:schemeClr>
                    </a:solidFill>
                    <a:latin typeface="Arial" panose="020B0604020202020204" pitchFamily="34" charset="0"/>
                    <a:cs typeface="Arial" panose="020B0604020202020204" pitchFamily="34" charset="0"/>
                  </a:rPr>
                  <a:t> </a:t>
                </a:r>
                <a:r>
                  <a:rPr lang="de-DE" sz="1400" dirty="0">
                    <a:solidFill>
                      <a:schemeClr val="accent6">
                        <a:lumMod val="50000"/>
                      </a:schemeClr>
                    </a:solidFill>
                    <a:latin typeface="Arial" panose="020B0604020202020204" pitchFamily="34" charset="0"/>
                    <a:cs typeface="Arial" panose="020B0604020202020204" pitchFamily="34" charset="0"/>
                    <a:sym typeface="Wingdings" panose="05000000000000000000" pitchFamily="2" charset="2"/>
                  </a:rPr>
                  <a:t></a:t>
                </a:r>
                <a:endParaRPr lang="de-DE" sz="1400" dirty="0">
                  <a:solidFill>
                    <a:schemeClr val="accent6">
                      <a:lumMod val="50000"/>
                    </a:schemeClr>
                  </a:solidFill>
                  <a:latin typeface="Arial" panose="020B0604020202020204" pitchFamily="34" charset="0"/>
                  <a:cs typeface="Arial" panose="020B0604020202020204" pitchFamily="34" charset="0"/>
                </a:endParaRPr>
              </a:p>
            </p:txBody>
          </p:sp>
        </mc:Choice>
        <mc:Fallback xmlns="">
          <p:sp>
            <p:nvSpPr>
              <p:cNvPr id="5" name="Textfeld 4">
                <a:extLst>
                  <a:ext uri="{FF2B5EF4-FFF2-40B4-BE49-F238E27FC236}">
                    <a16:creationId xmlns:a16="http://schemas.microsoft.com/office/drawing/2014/main" id="{0D958D6F-CD8E-51BF-149F-122193F5D98E}"/>
                  </a:ext>
                </a:extLst>
              </p:cNvPr>
              <p:cNvSpPr txBox="1">
                <a:spLocks noRot="1" noChangeAspect="1" noMove="1" noResize="1" noEditPoints="1" noAdjustHandles="1" noChangeArrowheads="1" noChangeShapeType="1" noTextEdit="1"/>
              </p:cNvSpPr>
              <p:nvPr/>
            </p:nvSpPr>
            <p:spPr>
              <a:xfrm>
                <a:off x="3562705" y="4426491"/>
                <a:ext cx="5124095" cy="215444"/>
              </a:xfrm>
              <a:prstGeom prst="rect">
                <a:avLst/>
              </a:prstGeom>
              <a:blipFill>
                <a:blip r:embed="rId6"/>
                <a:stretch>
                  <a:fillRect l="-951" t="-25714" r="-1070" b="-51429"/>
                </a:stretch>
              </a:blipFill>
            </p:spPr>
            <p:txBody>
              <a:bodyPr/>
              <a:lstStyle/>
              <a:p>
                <a:r>
                  <a:rPr lang="de-DE">
                    <a:noFill/>
                  </a:rPr>
                  <a:t> </a:t>
                </a:r>
              </a:p>
            </p:txBody>
          </p:sp>
        </mc:Fallback>
      </mc:AlternateContent>
    </p:spTree>
    <p:extLst>
      <p:ext uri="{BB962C8B-B14F-4D97-AF65-F5344CB8AC3E}">
        <p14:creationId xmlns:p14="http://schemas.microsoft.com/office/powerpoint/2010/main" val="322874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648F-1946-047A-EC11-1A546F6A995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4991C5E-7E98-3982-6E0F-3330563D19C1}"/>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B999576A-0D22-1D16-6046-F234E59FAD4C}"/>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11</a:t>
            </a:fld>
            <a:endParaRPr lang="de-DE"/>
          </a:p>
        </p:txBody>
      </p:sp>
      <p:sp>
        <p:nvSpPr>
          <p:cNvPr id="16" name="Textfeld 15">
            <a:extLst>
              <a:ext uri="{FF2B5EF4-FFF2-40B4-BE49-F238E27FC236}">
                <a16:creationId xmlns:a16="http://schemas.microsoft.com/office/drawing/2014/main" id="{F2484787-F4B8-D35E-E37C-0C2402EFA3BA}"/>
              </a:ext>
            </a:extLst>
          </p:cNvPr>
          <p:cNvSpPr txBox="1"/>
          <p:nvPr/>
        </p:nvSpPr>
        <p:spPr>
          <a:xfrm>
            <a:off x="1132928" y="4379962"/>
            <a:ext cx="6753452" cy="215444"/>
          </a:xfrm>
          <a:prstGeom prst="rect">
            <a:avLst/>
          </a:prstGeom>
          <a:noFill/>
        </p:spPr>
        <p:txBody>
          <a:bodyPr wrap="none" lIns="0" tIns="0" rIns="0" bIns="0" rtlCol="0">
            <a:spAutoFit/>
          </a:bodyPr>
          <a:lstStyle/>
          <a:p>
            <a:r>
              <a:rPr lang="de-DE" sz="1400" dirty="0" err="1">
                <a:latin typeface="Arial" panose="020B0604020202020204" pitchFamily="34" charset="0"/>
                <a:cs typeface="Arial" panose="020B0604020202020204" pitchFamily="34" charset="0"/>
              </a:rPr>
              <a:t>Instructions</a:t>
            </a:r>
            <a:r>
              <a:rPr lang="de-DE" sz="1400" dirty="0">
                <a:latin typeface="Arial" panose="020B0604020202020204" pitchFamily="34" charset="0"/>
                <a:cs typeface="Arial" panose="020B0604020202020204" pitchFamily="34" charset="0"/>
              </a:rPr>
              <a:t> | </a:t>
            </a:r>
            <a:r>
              <a:rPr lang="de-DE" sz="1400" dirty="0" err="1">
                <a:latin typeface="Arial" panose="020B0604020202020204" pitchFamily="34" charset="0"/>
                <a:cs typeface="Arial" panose="020B0604020202020204" pitchFamily="34" charset="0"/>
              </a:rPr>
              <a:t>Balanced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task</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performance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with</a:t>
            </a:r>
            <a:r>
              <a:rPr lang="de-DE" sz="1400" dirty="0">
                <a:latin typeface="Arial" panose="020B0604020202020204" pitchFamily="34" charset="0"/>
                <a:cs typeface="Arial" panose="020B0604020202020204" pitchFamily="34" charset="0"/>
              </a:rPr>
              <a:t> high </a:t>
            </a:r>
            <a:r>
              <a:rPr lang="de-DE" sz="1400" dirty="0" err="1">
                <a:latin typeface="Arial" panose="020B0604020202020204" pitchFamily="34" charset="0"/>
                <a:cs typeface="Arial" panose="020B0604020202020204" pitchFamily="34" charset="0"/>
              </a:rPr>
              <a:t>accuracy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within</a:t>
            </a:r>
            <a:r>
              <a:rPr lang="de-DE" sz="1400" dirty="0">
                <a:latin typeface="Arial" panose="020B0604020202020204" pitchFamily="34" charset="0"/>
                <a:cs typeface="Arial" panose="020B0604020202020204" pitchFamily="34" charset="0"/>
              </a:rPr>
              <a:t> a </a:t>
            </a:r>
            <a:r>
              <a:rPr lang="de-DE" sz="1400" dirty="0" err="1">
                <a:latin typeface="Arial" panose="020B0604020202020204" pitchFamily="34" charset="0"/>
                <a:cs typeface="Arial" panose="020B0604020202020204" pitchFamily="34" charset="0"/>
              </a:rPr>
              <a:t>given</a:t>
            </a:r>
            <a:r>
              <a:rPr lang="de-DE" sz="1400" dirty="0">
                <a:latin typeface="Arial" panose="020B0604020202020204" pitchFamily="34" charset="0"/>
                <a:cs typeface="Arial" panose="020B0604020202020204" pitchFamily="34" charset="0"/>
              </a:rPr>
              <a:t> time </a:t>
            </a:r>
            <a:r>
              <a:rPr lang="de-DE" sz="1400" dirty="0" err="1">
                <a:latin typeface="Arial" panose="020B0604020202020204" pitchFamily="34" charset="0"/>
                <a:cs typeface="Arial" panose="020B0604020202020204" pitchFamily="34" charset="0"/>
              </a:rPr>
              <a:t>limit</a:t>
            </a:r>
            <a:r>
              <a:rPr lang="de-DE" sz="1400" dirty="0">
                <a:latin typeface="Arial" panose="020B0604020202020204" pitchFamily="34" charset="0"/>
                <a:cs typeface="Arial" panose="020B0604020202020204" pitchFamily="34" charset="0"/>
              </a:rPr>
              <a:t>  </a:t>
            </a:r>
          </a:p>
        </p:txBody>
      </p:sp>
      <p:pic>
        <p:nvPicPr>
          <p:cNvPr id="22" name="Grafik 21">
            <a:extLst>
              <a:ext uri="{FF2B5EF4-FFF2-40B4-BE49-F238E27FC236}">
                <a16:creationId xmlns:a16="http://schemas.microsoft.com/office/drawing/2014/main" id="{AFAC9A91-51B3-DC1F-9FC8-ED4D04A82083}"/>
              </a:ext>
            </a:extLst>
          </p:cNvPr>
          <p:cNvPicPr>
            <a:picLocks noChangeAspect="1"/>
          </p:cNvPicPr>
          <p:nvPr/>
        </p:nvPicPr>
        <p:blipFill>
          <a:blip r:embed="rId2">
            <a:extLst>
              <a:ext uri="{28A0092B-C50C-407E-A947-70E740481C1C}">
                <a14:useLocalDpi xmlns:a14="http://schemas.microsoft.com/office/drawing/2010/main" val="0"/>
              </a:ext>
            </a:extLst>
          </a:blip>
          <a:srcRect l="6894" t="2676" b="4005"/>
          <a:stretch>
            <a:fillRect/>
          </a:stretch>
        </p:blipFill>
        <p:spPr>
          <a:xfrm>
            <a:off x="1605305" y="972457"/>
            <a:ext cx="5933389" cy="3345159"/>
          </a:xfrm>
          <a:prstGeom prst="rect">
            <a:avLst/>
          </a:prstGeom>
        </p:spPr>
      </p:pic>
    </p:spTree>
    <p:extLst>
      <p:ext uri="{BB962C8B-B14F-4D97-AF65-F5344CB8AC3E}">
        <p14:creationId xmlns:p14="http://schemas.microsoft.com/office/powerpoint/2010/main" val="2511929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0C717-1EC3-29FD-AD17-7AC420FF63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098E9A-1C5F-DFF3-900B-E55E9EB3C68F}"/>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36B3953C-7EB2-7C87-751C-1CAF1FCFBE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C2EAEB96-9BA7-9EEB-D8EA-0CF4AB09403B}"/>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12</a:t>
            </a:fld>
            <a:endParaRPr lang="de-DE"/>
          </a:p>
        </p:txBody>
      </p:sp>
    </p:spTree>
    <p:extLst>
      <p:ext uri="{BB962C8B-B14F-4D97-AF65-F5344CB8AC3E}">
        <p14:creationId xmlns:p14="http://schemas.microsoft.com/office/powerpoint/2010/main" val="4149499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9E3A6-F850-2B55-2E1F-E18DF88FC4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7F3FE71-C1F0-A271-4424-F859B8A83D00}"/>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780B590C-1FC6-8CA1-E708-7C321145CC1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4F261BA5-DDE2-356A-E6D9-79D8CB223123}"/>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13</a:t>
            </a:fld>
            <a:endParaRPr lang="de-DE"/>
          </a:p>
        </p:txBody>
      </p:sp>
    </p:spTree>
    <p:extLst>
      <p:ext uri="{BB962C8B-B14F-4D97-AF65-F5344CB8AC3E}">
        <p14:creationId xmlns:p14="http://schemas.microsoft.com/office/powerpoint/2010/main" val="1735992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9AF0E-8A93-1805-C387-D6DFF18B2A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0894C5A-34CE-0FFA-EE0A-10C3DEE2ABFA}"/>
              </a:ext>
            </a:extLst>
          </p:cNvPr>
          <p:cNvSpPr>
            <a:spLocks noGrp="1"/>
          </p:cNvSpPr>
          <p:nvPr>
            <p:ph type="title"/>
          </p:nvPr>
        </p:nvSpPr>
        <p:spPr>
          <a:xfrm>
            <a:off x="755577" y="205979"/>
            <a:ext cx="7931223" cy="857250"/>
          </a:xfrm>
        </p:spPr>
        <p:txBody>
          <a:bodyPr anchor="ctr">
            <a:normAutofit/>
          </a:bodyPr>
          <a:lstStyle/>
          <a:p>
            <a:r>
              <a:rPr lang="de-DE" sz="2400" b="0" dirty="0">
                <a:latin typeface="Arial" panose="020B0604020202020204" pitchFamily="34" charset="0"/>
                <a:cs typeface="Arial" panose="020B0604020202020204" pitchFamily="34" charset="0"/>
              </a:rPr>
              <a:t>Experimental </a:t>
            </a:r>
            <a:r>
              <a:rPr lang="de-DE" sz="2400" b="0" dirty="0" err="1">
                <a:latin typeface="Arial" panose="020B0604020202020204" pitchFamily="34" charset="0"/>
                <a:cs typeface="Arial" panose="020B0604020202020204" pitchFamily="34" charset="0"/>
              </a:rPr>
              <a:t>data</a:t>
            </a:r>
            <a:endParaRPr lang="de-DE" sz="2400" b="0" dirty="0">
              <a:latin typeface="Arial" panose="020B0604020202020204" pitchFamily="34" charset="0"/>
              <a:cs typeface="Arial" panose="020B0604020202020204" pitchFamily="34" charset="0"/>
            </a:endParaRPr>
          </a:p>
        </p:txBody>
      </p:sp>
      <p:pic>
        <p:nvPicPr>
          <p:cNvPr id="5" name="Grafik 4">
            <a:extLst>
              <a:ext uri="{FF2B5EF4-FFF2-40B4-BE49-F238E27FC236}">
                <a16:creationId xmlns:a16="http://schemas.microsoft.com/office/drawing/2014/main" id="{497A04FB-CCBB-9CF8-B9BC-7E73340DCD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733885" y="810491"/>
            <a:ext cx="5676229" cy="3803072"/>
          </a:xfrm>
          <a:prstGeom prst="rect">
            <a:avLst/>
          </a:prstGeom>
          <a:noFill/>
        </p:spPr>
      </p:pic>
      <p:sp>
        <p:nvSpPr>
          <p:cNvPr id="4" name="Foliennummernplatzhalter 3">
            <a:extLst>
              <a:ext uri="{FF2B5EF4-FFF2-40B4-BE49-F238E27FC236}">
                <a16:creationId xmlns:a16="http://schemas.microsoft.com/office/drawing/2014/main" id="{62E0850A-FF23-ED31-732F-C94508FDD266}"/>
              </a:ext>
            </a:extLst>
          </p:cNvPr>
          <p:cNvSpPr>
            <a:spLocks noGrp="1"/>
          </p:cNvSpPr>
          <p:nvPr>
            <p:ph type="sldNum" idx="12"/>
          </p:nvPr>
        </p:nvSpPr>
        <p:spPr>
          <a:xfrm>
            <a:off x="8256300" y="4731990"/>
            <a:ext cx="636180" cy="273844"/>
          </a:xfrm>
        </p:spPr>
        <p:txBody>
          <a:bodyPr anchor="ctr">
            <a:normAutofit/>
          </a:bodyPr>
          <a:lstStyle/>
          <a:p>
            <a:pPr>
              <a:spcAft>
                <a:spcPts val="600"/>
              </a:spcAft>
            </a:pPr>
            <a:fld id="{5CD88B4E-D815-417B-99FD-41D66E5C06D4}" type="slidenum">
              <a:rPr lang="de-DE" smtClean="0"/>
              <a:pPr>
                <a:spcAft>
                  <a:spcPts val="600"/>
                </a:spcAft>
              </a:pPr>
              <a:t>14</a:t>
            </a:fld>
            <a:endParaRPr lang="de-DE"/>
          </a:p>
        </p:txBody>
      </p:sp>
    </p:spTree>
    <p:extLst>
      <p:ext uri="{BB962C8B-B14F-4D97-AF65-F5344CB8AC3E}">
        <p14:creationId xmlns:p14="http://schemas.microsoft.com/office/powerpoint/2010/main" val="1906868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D1717-0D0E-8653-0A2C-9B6B6EDBC7F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0B6766-07BD-B12F-FEE4-4CF15885369A}"/>
              </a:ext>
            </a:extLst>
          </p:cNvPr>
          <p:cNvSpPr>
            <a:spLocks noGrp="1"/>
          </p:cNvSpPr>
          <p:nvPr>
            <p:ph type="title"/>
          </p:nvPr>
        </p:nvSpPr>
        <p:spPr/>
        <p:txBody>
          <a:bodyPr>
            <a:normAutofit/>
          </a:bodyPr>
          <a:lstStyle/>
          <a:p>
            <a:r>
              <a:rPr lang="de-DE" sz="2300" b="0" dirty="0" err="1">
                <a:latin typeface="Arial" panose="020B0604020202020204" pitchFamily="34" charset="0"/>
                <a:cs typeface="Arial" panose="020B0604020202020204" pitchFamily="34" charset="0"/>
              </a:rPr>
              <a:t>Agentic</a:t>
            </a:r>
            <a:r>
              <a:rPr lang="de-DE" sz="2300" b="0" dirty="0">
                <a:latin typeface="Arial" panose="020B0604020202020204" pitchFamily="34" charset="0"/>
                <a:cs typeface="Arial" panose="020B0604020202020204" pitchFamily="34" charset="0"/>
              </a:rPr>
              <a:t> behavioral </a:t>
            </a:r>
            <a:r>
              <a:rPr lang="de-DE" sz="2300" b="0" dirty="0" err="1">
                <a:latin typeface="Arial" panose="020B0604020202020204" pitchFamily="34" charset="0"/>
                <a:cs typeface="Arial" panose="020B0604020202020204" pitchFamily="34" charset="0"/>
              </a:rPr>
              <a:t>model</a:t>
            </a:r>
            <a:endParaRPr lang="de-DE" sz="23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136D5393-E2C0-3719-E339-3E20FA958587}"/>
              </a:ext>
            </a:extLst>
          </p:cNvPr>
          <p:cNvSpPr>
            <a:spLocks noGrp="1"/>
          </p:cNvSpPr>
          <p:nvPr>
            <p:ph type="sldNum" idx="12"/>
          </p:nvPr>
        </p:nvSpPr>
        <p:spPr/>
        <p:txBody>
          <a:bodyPr/>
          <a:lstStyle/>
          <a:p>
            <a:fld id="{5CD88B4E-D815-417B-99FD-41D66E5C06D4}" type="slidenum">
              <a:rPr lang="de-DE" smtClean="0">
                <a:latin typeface="Arial" panose="020B0604020202020204" pitchFamily="34" charset="0"/>
                <a:cs typeface="Arial" panose="020B0604020202020204" pitchFamily="34" charset="0"/>
              </a:rPr>
              <a:t>15</a:t>
            </a:fld>
            <a:endParaRPr lang="de-DE">
              <a:latin typeface="Arial" panose="020B0604020202020204" pitchFamily="34" charset="0"/>
              <a:cs typeface="Arial" panose="020B0604020202020204" pitchFamily="34" charset="0"/>
            </a:endParaRPr>
          </a:p>
        </p:txBody>
      </p:sp>
      <p:pic>
        <p:nvPicPr>
          <p:cNvPr id="3" name="Grafik 2" descr="Ein Bild, das Gehirn enthält.&#10;&#10;KI-generierte Inhalte können fehlerhaft sein.">
            <a:extLst>
              <a:ext uri="{FF2B5EF4-FFF2-40B4-BE49-F238E27FC236}">
                <a16:creationId xmlns:a16="http://schemas.microsoft.com/office/drawing/2014/main" id="{BAB5A743-26A0-166D-1EE3-ADDACBEF5749}"/>
              </a:ext>
            </a:extLst>
          </p:cNvPr>
          <p:cNvPicPr>
            <a:picLocks noChangeAspect="1"/>
          </p:cNvPicPr>
          <p:nvPr/>
        </p:nvPicPr>
        <p:blipFill>
          <a:blip r:embed="rId2">
            <a:duotone>
              <a:schemeClr val="accent3">
                <a:shade val="45000"/>
                <a:satMod val="135000"/>
              </a:schemeClr>
              <a:prstClr val="white"/>
            </a:duotone>
            <a:alphaModFix amt="20000"/>
            <a:extLst>
              <a:ext uri="{28A0092B-C50C-407E-A947-70E740481C1C}">
                <a14:useLocalDpi xmlns:a14="http://schemas.microsoft.com/office/drawing/2010/main" val="0"/>
              </a:ext>
            </a:extLst>
          </a:blip>
          <a:stretch>
            <a:fillRect/>
          </a:stretch>
        </p:blipFill>
        <p:spPr>
          <a:xfrm rot="469041" flipH="1">
            <a:off x="4716118" y="1088783"/>
            <a:ext cx="3724912" cy="2418172"/>
          </a:xfrm>
          <a:prstGeom prst="rect">
            <a:avLst/>
          </a:prstGeom>
        </p:spPr>
      </p:pic>
      <p:sp>
        <p:nvSpPr>
          <p:cNvPr id="6" name="Rechteck: abgerundete Ecken 5">
            <a:extLst>
              <a:ext uri="{FF2B5EF4-FFF2-40B4-BE49-F238E27FC236}">
                <a16:creationId xmlns:a16="http://schemas.microsoft.com/office/drawing/2014/main" id="{B5DEA955-7667-AC8B-FCFC-D1406F73CC45}"/>
              </a:ext>
            </a:extLst>
          </p:cNvPr>
          <p:cNvSpPr/>
          <p:nvPr/>
        </p:nvSpPr>
        <p:spPr>
          <a:xfrm>
            <a:off x="900879" y="1246777"/>
            <a:ext cx="3218109" cy="3295486"/>
          </a:xfrm>
          <a:prstGeom prst="roundRect">
            <a:avLst>
              <a:gd name="adj" fmla="val 2994"/>
            </a:avLst>
          </a:prstGeom>
          <a:solidFill>
            <a:schemeClr val="bg1">
              <a:alpha val="80000"/>
            </a:schemeClr>
          </a:solidFill>
          <a:ln w="9525">
            <a:solidFill>
              <a:schemeClr val="bg1">
                <a:lumMod val="65000"/>
              </a:schemeClr>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C7EA569A-3181-9B77-A7E0-0DACF8D5B128}"/>
                  </a:ext>
                </a:extLst>
              </p:cNvPr>
              <p:cNvSpPr txBox="1"/>
              <p:nvPr/>
            </p:nvSpPr>
            <p:spPr>
              <a:xfrm>
                <a:off x="910971" y="1892954"/>
                <a:ext cx="3277500" cy="307777"/>
              </a:xfrm>
              <a:prstGeom prst="rect">
                <a:avLst/>
              </a:prstGeom>
              <a:noFill/>
            </p:spPr>
            <p:txBody>
              <a:bodyPr wrap="none" rtlCol="0">
                <a:spAutoFit/>
              </a:bodyPr>
              <a:lstStyle/>
              <a:p>
                <a:pPr algn="ctr"/>
                <a14:m>
                  <m:oMathPara xmlns:m="http://schemas.openxmlformats.org/officeDocument/2006/math">
                    <m:o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r>
                        <a:rPr lang="de-DE" sz="1400" i="1">
                          <a:latin typeface="Cambria Math" panose="02040503050406030204" pitchFamily="18" charset="0"/>
                        </a:rPr>
                        <m:t>(</m:t>
                      </m:r>
                      <m:r>
                        <m:rPr>
                          <m:sty m:val="p"/>
                        </m:rPr>
                        <a:rPr lang="de-DE" sz="1400" b="0" i="0" smtClean="0">
                          <a:latin typeface="Cambria Math" panose="02040503050406030204" pitchFamily="18" charset="0"/>
                        </a:rPr>
                        <m:t>Stimuli</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Label</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Switch</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Imbalance</m:t>
                      </m:r>
                      <m:r>
                        <a:rPr lang="de-DE" sz="1400" i="1">
                          <a:latin typeface="Cambria Math" panose="02040503050406030204" pitchFamily="18" charset="0"/>
                        </a:rPr>
                        <m:t>)</m:t>
                      </m:r>
                    </m:oMath>
                  </m:oMathPara>
                </a14:m>
                <a:endParaRPr lang="de-DE" sz="1400"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7" name="Textfeld 6">
                <a:extLst>
                  <a:ext uri="{FF2B5EF4-FFF2-40B4-BE49-F238E27FC236}">
                    <a16:creationId xmlns:a16="http://schemas.microsoft.com/office/drawing/2014/main" id="{C7EA569A-3181-9B77-A7E0-0DACF8D5B128}"/>
                  </a:ext>
                </a:extLst>
              </p:cNvPr>
              <p:cNvSpPr txBox="1">
                <a:spLocks noRot="1" noChangeAspect="1" noMove="1" noResize="1" noEditPoints="1" noAdjustHandles="1" noChangeArrowheads="1" noChangeShapeType="1" noTextEdit="1"/>
              </p:cNvSpPr>
              <p:nvPr/>
            </p:nvSpPr>
            <p:spPr>
              <a:xfrm>
                <a:off x="910971" y="1892954"/>
                <a:ext cx="3277500" cy="307777"/>
              </a:xfrm>
              <a:prstGeom prst="rect">
                <a:avLst/>
              </a:prstGeom>
              <a:blipFill>
                <a:blip r:embed="rId3"/>
                <a:stretch>
                  <a:fillRect b="-10000"/>
                </a:stretch>
              </a:blipFill>
            </p:spPr>
            <p:txBody>
              <a:bodyPr/>
              <a:lstStyle/>
              <a:p>
                <a:r>
                  <a:rPr lang="de-DE">
                    <a:noFill/>
                  </a:rPr>
                  <a:t> </a:t>
                </a:r>
              </a:p>
            </p:txBody>
          </p:sp>
        </mc:Fallback>
      </mc:AlternateContent>
      <p:sp>
        <p:nvSpPr>
          <p:cNvPr id="8" name="Rechteck: abgerundete Ecken 7">
            <a:extLst>
              <a:ext uri="{FF2B5EF4-FFF2-40B4-BE49-F238E27FC236}">
                <a16:creationId xmlns:a16="http://schemas.microsoft.com/office/drawing/2014/main" id="{A346B1F1-8197-E7D5-6A27-D3BCA1D19377}"/>
              </a:ext>
            </a:extLst>
          </p:cNvPr>
          <p:cNvSpPr/>
          <p:nvPr/>
        </p:nvSpPr>
        <p:spPr>
          <a:xfrm>
            <a:off x="755576" y="846696"/>
            <a:ext cx="7832601" cy="3806402"/>
          </a:xfrm>
          <a:prstGeom prst="roundRect">
            <a:avLst>
              <a:gd name="adj" fmla="val 1343"/>
            </a:avLst>
          </a:prstGeom>
          <a:noFill/>
          <a:ln w="9525">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Arial" panose="020B0604020202020204" pitchFamily="34" charset="0"/>
              <a:cs typeface="Arial" panose="020B0604020202020204" pitchFamily="34" charset="0"/>
            </a:endParaRPr>
          </a:p>
        </p:txBody>
      </p:sp>
      <p:sp>
        <p:nvSpPr>
          <p:cNvPr id="9" name="Rechteck: abgerundete Ecken 8">
            <a:extLst>
              <a:ext uri="{FF2B5EF4-FFF2-40B4-BE49-F238E27FC236}">
                <a16:creationId xmlns:a16="http://schemas.microsoft.com/office/drawing/2014/main" id="{D41B1D8C-4E85-FE47-3244-EA52C1F2B160}"/>
              </a:ext>
            </a:extLst>
          </p:cNvPr>
          <p:cNvSpPr/>
          <p:nvPr/>
        </p:nvSpPr>
        <p:spPr>
          <a:xfrm>
            <a:off x="4837183" y="1246776"/>
            <a:ext cx="3543242" cy="2581157"/>
          </a:xfrm>
          <a:prstGeom prst="roundRect">
            <a:avLst>
              <a:gd name="adj" fmla="val 2555"/>
            </a:avLst>
          </a:prstGeom>
          <a:solidFill>
            <a:schemeClr val="bg1">
              <a:alpha val="36000"/>
            </a:schemeClr>
          </a:solidFill>
          <a:ln w="9525">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de-DE" sz="1200" dirty="0">
              <a:solidFill>
                <a:schemeClr val="bg1">
                  <a:lumMod val="6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46608798-7518-0586-0E49-FD2D44D4B803}"/>
                  </a:ext>
                </a:extLst>
              </p:cNvPr>
              <p:cNvSpPr txBox="1"/>
              <p:nvPr/>
            </p:nvSpPr>
            <p:spPr>
              <a:xfrm>
                <a:off x="4960993" y="3481581"/>
                <a:ext cx="3488712" cy="278153"/>
              </a:xfrm>
              <a:prstGeom prst="rect">
                <a:avLst/>
              </a:prstGeom>
              <a:noFill/>
            </p:spPr>
            <p:txBody>
              <a:bodyPr wrap="none" rtlCol="0">
                <a:spAutoFit/>
              </a:bodyPr>
              <a:lstStyle/>
              <a:p>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Optimal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action</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value</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r>
                  <a:rPr lang="de-DE" sz="1100" dirty="0" err="1">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functions</a:t>
                </a:r>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sSubSup>
                      <m:sSubSupPr>
                        <m:ctrlP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ctrlPr>
                      </m:sSubSupPr>
                      <m:e>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𝑞</m:t>
                        </m:r>
                      </m:e>
                      <m:sub>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𝜒</m:t>
                        </m:r>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m:t>
                        </m:r>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𝑡</m:t>
                        </m:r>
                      </m:sub>
                      <m:sup>
                        <m:r>
                          <a:rPr lang="de-DE" sz="1100" b="0" i="1" smtClean="0">
                            <a:solidFill>
                              <a:schemeClr val="bg1">
                                <a:lumMod val="65000"/>
                              </a:schemeClr>
                            </a:solidFill>
                            <a:effectLst/>
                            <a:latin typeface="Cambria Math" panose="02040503050406030204" pitchFamily="18" charset="0"/>
                            <a:ea typeface="CMU Serif" panose="02000603000000000000" pitchFamily="2" charset="0"/>
                            <a:cs typeface="Arial" panose="020B0604020202020204" pitchFamily="34" charset="0"/>
                          </a:rPr>
                          <m:t>∗</m:t>
                        </m:r>
                      </m:sup>
                    </m:sSubSup>
                  </m:oMath>
                </a14:m>
                <a:r>
                  <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and decisions </a:t>
                </a:r>
                <a14:m>
                  <m:oMath xmlns:m="http://schemas.openxmlformats.org/officeDocument/2006/math">
                    <m:sSubSup>
                      <m:sSubSupPr>
                        <m:ctrlP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ctrlPr>
                      </m:sSubSupPr>
                      <m:e>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𝑑</m:t>
                        </m:r>
                      </m:e>
                      <m:sub>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𝜒</m:t>
                        </m:r>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m:t>
                        </m:r>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𝑡</m:t>
                        </m:r>
                      </m:sub>
                      <m:sup>
                        <m:r>
                          <a:rPr lang="de-DE" sz="1100" b="0" i="1" smtClean="0">
                            <a:solidFill>
                              <a:schemeClr val="bg1">
                                <a:lumMod val="65000"/>
                              </a:schemeClr>
                            </a:solidFill>
                            <a:effectLst/>
                            <a:latin typeface="Cambria Math" panose="02040503050406030204" pitchFamily="18" charset="0"/>
                            <a:ea typeface="CMU Bright" panose="02000603000000000000" pitchFamily="2" charset="0"/>
                            <a:cs typeface="CMU Bright" panose="02000603000000000000" pitchFamily="2" charset="0"/>
                          </a:rPr>
                          <m:t>∗</m:t>
                        </m:r>
                      </m:sup>
                    </m:sSubSup>
                  </m:oMath>
                </a14:m>
                <a:endParaRPr lang="de-DE" sz="11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11" name="Textfeld 10">
                <a:extLst>
                  <a:ext uri="{FF2B5EF4-FFF2-40B4-BE49-F238E27FC236}">
                    <a16:creationId xmlns:a16="http://schemas.microsoft.com/office/drawing/2014/main" id="{46608798-7518-0586-0E49-FD2D44D4B803}"/>
                  </a:ext>
                </a:extLst>
              </p:cNvPr>
              <p:cNvSpPr txBox="1">
                <a:spLocks noRot="1" noChangeAspect="1" noMove="1" noResize="1" noEditPoints="1" noAdjustHandles="1" noChangeArrowheads="1" noChangeShapeType="1" noTextEdit="1"/>
              </p:cNvSpPr>
              <p:nvPr/>
            </p:nvSpPr>
            <p:spPr>
              <a:xfrm>
                <a:off x="4960993" y="3481581"/>
                <a:ext cx="3488712" cy="278153"/>
              </a:xfrm>
              <a:prstGeom prst="rect">
                <a:avLst/>
              </a:prstGeom>
              <a:blipFill>
                <a:blip r:embed="rId4"/>
                <a:stretch>
                  <a:fillRect t="-2174" b="-65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95EE46C6-B6B6-7F69-189A-1E1624311B65}"/>
                  </a:ext>
                </a:extLst>
              </p:cNvPr>
              <p:cNvSpPr txBox="1"/>
              <p:nvPr/>
            </p:nvSpPr>
            <p:spPr>
              <a:xfrm>
                <a:off x="5150083" y="2458282"/>
                <a:ext cx="3110532" cy="324512"/>
              </a:xfrm>
              <a:prstGeom prst="rect">
                <a:avLst/>
              </a:prstGeom>
              <a:noFill/>
            </p:spPr>
            <p:txBody>
              <a:bodyPr wrap="none" rtlCol="0">
                <a:spAutoFit/>
              </a:bodyPr>
              <a:lstStyle/>
              <a:p>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Subjective</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reward</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r>
                  <a:rPr lang="de-DE" sz="1300" dirty="0" err="1">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function</a:t>
                </a:r>
                <a:r>
                  <a:rPr lang="de-DE" sz="1300" dirty="0">
                    <a:solidFill>
                      <a:schemeClr val="bg1">
                        <a:lumMod val="65000"/>
                      </a:schemeClr>
                    </a:solidFill>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sSub>
                      <m:sSubPr>
                        <m:ctrlPr>
                          <a:rPr lang="de-DE" sz="1300" b="0" i="1" smtClean="0">
                            <a:solidFill>
                              <a:schemeClr val="bg1">
                                <a:lumMod val="65000"/>
                              </a:schemeClr>
                            </a:solidFill>
                            <a:latin typeface="Cambria Math" panose="02040503050406030204" pitchFamily="18" charset="0"/>
                          </a:rPr>
                        </m:ctrlPr>
                      </m:sSubPr>
                      <m:e>
                        <m:r>
                          <a:rPr lang="de-DE" sz="1300" b="0" i="1" smtClean="0">
                            <a:solidFill>
                              <a:schemeClr val="bg1">
                                <a:lumMod val="65000"/>
                              </a:schemeClr>
                            </a:solidFill>
                            <a:latin typeface="Cambria Math" panose="02040503050406030204" pitchFamily="18" charset="0"/>
                          </a:rPr>
                          <m:t>𝜌</m:t>
                        </m:r>
                      </m:e>
                      <m:sub>
                        <m:r>
                          <a:rPr lang="de-DE" sz="1300" b="0" i="1" smtClean="0">
                            <a:solidFill>
                              <a:schemeClr val="bg1">
                                <a:lumMod val="65000"/>
                              </a:schemeClr>
                            </a:solidFill>
                            <a:latin typeface="Cambria Math" panose="02040503050406030204" pitchFamily="18" charset="0"/>
                          </a:rPr>
                          <m:t>𝛽</m:t>
                        </m:r>
                        <m:r>
                          <a:rPr lang="de-DE" sz="1300" b="0" i="1" smtClean="0">
                            <a:solidFill>
                              <a:schemeClr val="bg1">
                                <a:lumMod val="65000"/>
                              </a:schemeClr>
                            </a:solidFill>
                            <a:latin typeface="Cambria Math" panose="02040503050406030204" pitchFamily="18" charset="0"/>
                          </a:rPr>
                          <m:t>,</m:t>
                        </m:r>
                        <m:r>
                          <a:rPr lang="de-DE" sz="1300" b="0" i="1" smtClean="0">
                            <a:solidFill>
                              <a:schemeClr val="bg1">
                                <a:lumMod val="65000"/>
                              </a:schemeClr>
                            </a:solidFill>
                            <a:latin typeface="Cambria Math" panose="02040503050406030204" pitchFamily="18" charset="0"/>
                          </a:rPr>
                          <m:t>𝜎</m:t>
                        </m:r>
                      </m:sub>
                    </m:sSub>
                    <m:d>
                      <m:dPr>
                        <m:ctrlPr>
                          <a:rPr lang="de-DE" sz="1300" b="0" i="1" smtClean="0">
                            <a:solidFill>
                              <a:schemeClr val="bg1">
                                <a:lumMod val="65000"/>
                              </a:schemeClr>
                            </a:solidFill>
                            <a:latin typeface="Cambria Math" panose="02040503050406030204" pitchFamily="18" charset="0"/>
                          </a:rPr>
                        </m:ctrlPr>
                      </m:dPr>
                      <m:e>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𝑠</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r>
                          <a:rPr lang="de-DE" sz="1300" b="0" i="1" smtClean="0">
                            <a:solidFill>
                              <a:schemeClr val="bg1">
                                <a:lumMod val="65000"/>
                              </a:schemeClr>
                            </a:solidFill>
                            <a:latin typeface="Cambria Math" panose="02040503050406030204" pitchFamily="18" charset="0"/>
                          </a:rPr>
                          <m:t>,</m:t>
                        </m:r>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𝑎</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e>
                    </m:d>
                  </m:oMath>
                </a14:m>
                <a:r>
                  <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2" name="Textfeld 11">
                <a:extLst>
                  <a:ext uri="{FF2B5EF4-FFF2-40B4-BE49-F238E27FC236}">
                    <a16:creationId xmlns:a16="http://schemas.microsoft.com/office/drawing/2014/main" id="{95EE46C6-B6B6-7F69-189A-1E1624311B65}"/>
                  </a:ext>
                </a:extLst>
              </p:cNvPr>
              <p:cNvSpPr txBox="1">
                <a:spLocks noRot="1" noChangeAspect="1" noMove="1" noResize="1" noEditPoints="1" noAdjustHandles="1" noChangeArrowheads="1" noChangeShapeType="1" noTextEdit="1"/>
              </p:cNvSpPr>
              <p:nvPr/>
            </p:nvSpPr>
            <p:spPr>
              <a:xfrm>
                <a:off x="5150083" y="2458282"/>
                <a:ext cx="3110532" cy="324512"/>
              </a:xfrm>
              <a:prstGeom prst="rect">
                <a:avLst/>
              </a:prstGeom>
              <a:blipFill>
                <a:blip r:embed="rId5"/>
                <a:stretch>
                  <a:fillRect l="-392" b="-943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EFEB8B81-7EF8-A4C2-9097-D6E038FC73AE}"/>
                  </a:ext>
                </a:extLst>
              </p:cNvPr>
              <p:cNvSpPr txBox="1"/>
              <p:nvPr/>
            </p:nvSpPr>
            <p:spPr>
              <a:xfrm>
                <a:off x="5058809" y="4102885"/>
                <a:ext cx="3293081" cy="326949"/>
              </a:xfrm>
              <a:prstGeom prst="rect">
                <a:avLst/>
              </a:prstGeom>
              <a:noFill/>
            </p:spPr>
            <p:txBody>
              <a:bodyPr wrap="none" rtlCol="0">
                <a:spAutoFit/>
              </a:bodyPr>
              <a:lstStyle/>
              <a:p>
                <a:r>
                  <a:rPr lang="de-DE" sz="1400" dirty="0">
                    <a:effectLst/>
                    <a:latin typeface="Arial" panose="020B0604020202020204" pitchFamily="34" charset="0"/>
                    <a:ea typeface="CMU Serif" panose="02000603000000000000" pitchFamily="2" charset="0"/>
                    <a:cs typeface="Arial" panose="020B0604020202020204" pitchFamily="34" charset="0"/>
                  </a:rPr>
                  <a:t>Action </a:t>
                </a:r>
                <a14:m>
                  <m:oMath xmlns:m="http://schemas.openxmlformats.org/officeDocument/2006/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𝑝</m:t>
                        </m:r>
                      </m:e>
                      <m:sub>
                        <m:r>
                          <a:rPr lang="de-DE" sz="1400" b="0" i="1" smtClean="0">
                            <a:latin typeface="Cambria Math" panose="02040503050406030204" pitchFamily="18" charset="0"/>
                          </a:rPr>
                          <m:t>𝛽</m:t>
                        </m:r>
                        <m:r>
                          <a:rPr lang="de-DE" sz="1400" b="0" i="1" smtClean="0">
                            <a:latin typeface="Cambria Math" panose="02040503050406030204" pitchFamily="18" charset="0"/>
                          </a:rPr>
                          <m:t>, </m:t>
                        </m:r>
                        <m:r>
                          <a:rPr lang="de-DE" sz="1400" b="0" i="1" smtClean="0">
                            <a:latin typeface="Cambria Math" panose="02040503050406030204" pitchFamily="18" charset="0"/>
                          </a:rPr>
                          <m:t>𝜎</m:t>
                        </m:r>
                        <m:r>
                          <a:rPr lang="de-DE" sz="1400" b="0" i="1" smtClean="0">
                            <a:latin typeface="Cambria Math" panose="02040503050406030204" pitchFamily="18" charset="0"/>
                          </a:rPr>
                          <m:t>,</m:t>
                        </m:r>
                        <m:r>
                          <a:rPr lang="de-DE" sz="1400" b="0" i="1" smtClean="0">
                            <a:latin typeface="Cambria Math" panose="02040503050406030204" pitchFamily="18" charset="0"/>
                          </a:rPr>
                          <m:t>𝜏</m:t>
                        </m:r>
                      </m:sub>
                    </m:sSub>
                    <m:r>
                      <a:rPr lang="de-DE" sz="1400" i="1">
                        <a:latin typeface="Cambria Math" panose="02040503050406030204" pitchFamily="18" charset="0"/>
                      </a:rPr>
                      <m:t>(</m:t>
                    </m:r>
                    <m:r>
                      <m:rPr>
                        <m:sty m:val="p"/>
                      </m:rPr>
                      <a:rPr lang="de-DE" sz="1400" b="0" i="0" smtClean="0">
                        <a:latin typeface="Cambria Math" panose="02040503050406030204" pitchFamily="18" charset="0"/>
                      </a:rPr>
                      <m:t>PTD</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RMC</m:t>
                    </m:r>
                    <m:r>
                      <a:rPr lang="de-DE" sz="1400" b="0" i="0" smtClean="0">
                        <a:latin typeface="Cambria Math" panose="02040503050406030204" pitchFamily="18" charset="0"/>
                      </a:rPr>
                      <m:t>, </m:t>
                    </m:r>
                    <m:r>
                      <m:rPr>
                        <m:sty m:val="p"/>
                      </m:rPr>
                      <a:rPr lang="de-DE" sz="1400" b="0" i="0" smtClean="0">
                        <a:latin typeface="Cambria Math" panose="02040503050406030204" pitchFamily="18" charset="0"/>
                      </a:rPr>
                      <m:t>Yes</m:t>
                    </m:r>
                    <m:r>
                      <a:rPr lang="de-DE" sz="1400" b="0" i="0" smtClean="0">
                        <a:latin typeface="Cambria Math" panose="02040503050406030204" pitchFamily="18" charset="0"/>
                      </a:rPr>
                      <m:t>/</m:t>
                    </m:r>
                    <m:r>
                      <m:rPr>
                        <m:sty m:val="p"/>
                      </m:rPr>
                      <a:rPr lang="de-DE" sz="1400" b="0" i="0" smtClean="0">
                        <a:latin typeface="Cambria Math" panose="02040503050406030204" pitchFamily="18" charset="0"/>
                      </a:rPr>
                      <m:t>No</m:t>
                    </m:r>
                    <m:r>
                      <a:rPr lang="de-DE" sz="1400" i="1">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oMath>
                </a14:m>
                <a:endParaRPr lang="de-DE" sz="1400" i="1"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13" name="Textfeld 12">
                <a:extLst>
                  <a:ext uri="{FF2B5EF4-FFF2-40B4-BE49-F238E27FC236}">
                    <a16:creationId xmlns:a16="http://schemas.microsoft.com/office/drawing/2014/main" id="{EFEB8B81-7EF8-A4C2-9097-D6E038FC73AE}"/>
                  </a:ext>
                </a:extLst>
              </p:cNvPr>
              <p:cNvSpPr txBox="1">
                <a:spLocks noRot="1" noChangeAspect="1" noMove="1" noResize="1" noEditPoints="1" noAdjustHandles="1" noChangeArrowheads="1" noChangeShapeType="1" noTextEdit="1"/>
              </p:cNvSpPr>
              <p:nvPr/>
            </p:nvSpPr>
            <p:spPr>
              <a:xfrm>
                <a:off x="5058809" y="4102885"/>
                <a:ext cx="3293081" cy="326949"/>
              </a:xfrm>
              <a:prstGeom prst="rect">
                <a:avLst/>
              </a:prstGeom>
              <a:blipFill>
                <a:blip r:embed="rId6"/>
                <a:stretch>
                  <a:fillRect l="-556" t="-3704" b="-1296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6060388E-6834-D4AF-C934-3B102E20D759}"/>
                  </a:ext>
                </a:extLst>
              </p:cNvPr>
              <p:cNvSpPr txBox="1"/>
              <p:nvPr/>
            </p:nvSpPr>
            <p:spPr>
              <a:xfrm>
                <a:off x="894720" y="855097"/>
                <a:ext cx="3134063" cy="414729"/>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Data </a:t>
                </a:r>
                <a:r>
                  <a:rPr lang="de-DE" sz="1400" dirty="0" err="1">
                    <a:latin typeface="Arial" panose="020B0604020202020204" pitchFamily="34" charset="0"/>
                    <a:ea typeface="CMU Serif" panose="02000603000000000000" pitchFamily="2" charset="0"/>
                    <a:cs typeface="Arial" panose="020B0604020202020204" pitchFamily="34" charset="0"/>
                  </a:rPr>
                  <a:t>model</a:t>
                </a:r>
                <a:r>
                  <a:rPr lang="de-DE" sz="1400" dirty="0">
                    <a:latin typeface="Arial" panose="020B0604020202020204" pitchFamily="34" charset="0"/>
                    <a:ea typeface="CMU Serif" panose="02000603000000000000" pitchFamily="2" charset="0"/>
                    <a:cs typeface="Arial" panose="020B0604020202020204" pitchFamily="34" charset="0"/>
                  </a:rPr>
                  <a:t> </a:t>
                </a:r>
                <a14:m>
                  <m:oMath xmlns:m="http://schemas.openxmlformats.org/officeDocument/2006/math">
                    <m:r>
                      <a:rPr lang="de-DE" sz="1400" b="0" i="1" smtClean="0">
                        <a:latin typeface="Cambria Math" panose="02040503050406030204" pitchFamily="18" charset="0"/>
                        <a:ea typeface="CMU Serif" panose="02000603000000000000" pitchFamily="2" charset="0"/>
                        <a:cs typeface="CMU Serif" panose="02000603000000000000" pitchFamily="2" charset="0"/>
                      </a:rPr>
                      <m:t>𝒟</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d>
                      <m:d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dPr>
                      <m:e>
                        <m:r>
                          <a:rPr lang="de-DE" sz="1400" b="0" i="1" smtClean="0">
                            <a:latin typeface="Cambria Math" panose="02040503050406030204" pitchFamily="18" charset="0"/>
                            <a:ea typeface="CMU Serif" panose="02000603000000000000" pitchFamily="2" charset="0"/>
                            <a:cs typeface="CMU Serif" panose="02000603000000000000" pitchFamily="2" charset="0"/>
                          </a:rPr>
                          <m:t>𝒯</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𝒜</m:t>
                        </m:r>
                        <m:r>
                          <a:rPr lang="de-DE" sz="1400" b="0" i="1" smtClean="0">
                            <a:latin typeface="Cambria Math" panose="02040503050406030204" pitchFamily="18" charset="0"/>
                            <a:ea typeface="CMU Serif" panose="02000603000000000000" pitchFamily="2" charset="0"/>
                            <a:cs typeface="CMU Serif" panose="02000603000000000000" pitchFamily="2" charset="0"/>
                          </a:rPr>
                          <m:t>, </m:t>
                        </m:r>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𝑝</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𝛽</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𝜎</m:t>
                            </m:r>
                            <m:r>
                              <a:rPr lang="de-DE" sz="1400" b="0" i="1" smtClean="0">
                                <a:latin typeface="Cambria Math" panose="02040503050406030204" pitchFamily="18" charset="0"/>
                                <a:ea typeface="CMU Serif" panose="02000603000000000000" pitchFamily="2" charset="0"/>
                                <a:cs typeface="CMU Serif" panose="02000603000000000000" pitchFamily="2" charset="0"/>
                              </a:rPr>
                              <m:t>,</m:t>
                            </m:r>
                            <m:r>
                              <a:rPr lang="de-DE" sz="1400" b="0" i="1" smtClean="0">
                                <a:latin typeface="Cambria Math" panose="02040503050406030204" pitchFamily="18" charset="0"/>
                                <a:ea typeface="CMU Serif" panose="02000603000000000000" pitchFamily="2" charset="0"/>
                                <a:cs typeface="CMU Serif" panose="02000603000000000000" pitchFamily="2" charset="0"/>
                              </a:rPr>
                              <m:t>𝜏</m:t>
                            </m:r>
                          </m:sub>
                        </m:sSub>
                        <m:d>
                          <m:d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𝑎</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𝑡</m:t>
                                </m:r>
                              </m:sub>
                            </m:sSub>
                          </m:e>
                          <m:e>
                            <m:sSub>
                              <m:sSubPr>
                                <m:ctrlPr>
                                  <a:rPr lang="de-DE" sz="14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4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400" b="0" i="1" smtClean="0">
                                    <a:latin typeface="Cambria Math" panose="02040503050406030204" pitchFamily="18" charset="0"/>
                                    <a:ea typeface="CMU Serif" panose="02000603000000000000" pitchFamily="2" charset="0"/>
                                    <a:cs typeface="CMU Serif" panose="02000603000000000000" pitchFamily="2" charset="0"/>
                                  </a:rPr>
                                  <m:t>𝑡</m:t>
                                </m:r>
                              </m:sub>
                            </m:sSub>
                          </m:e>
                        </m:d>
                      </m:e>
                    </m:d>
                  </m:oMath>
                </a14:m>
                <a:r>
                  <a:rPr lang="de-DE" sz="1400" dirty="0">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4" name="Textfeld 13">
                <a:extLst>
                  <a:ext uri="{FF2B5EF4-FFF2-40B4-BE49-F238E27FC236}">
                    <a16:creationId xmlns:a16="http://schemas.microsoft.com/office/drawing/2014/main" id="{6060388E-6834-D4AF-C934-3B102E20D759}"/>
                  </a:ext>
                </a:extLst>
              </p:cNvPr>
              <p:cNvSpPr txBox="1">
                <a:spLocks noRot="1" noChangeAspect="1" noMove="1" noResize="1" noEditPoints="1" noAdjustHandles="1" noChangeArrowheads="1" noChangeShapeType="1" noTextEdit="1"/>
              </p:cNvSpPr>
              <p:nvPr/>
            </p:nvSpPr>
            <p:spPr>
              <a:xfrm>
                <a:off x="894720" y="855097"/>
                <a:ext cx="3134063" cy="414729"/>
              </a:xfrm>
              <a:prstGeom prst="rect">
                <a:avLst/>
              </a:prstGeom>
              <a:blipFill>
                <a:blip r:embed="rId7"/>
                <a:stretch>
                  <a:fillRect l="-584" b="-2941"/>
                </a:stretch>
              </a:blipFill>
            </p:spPr>
            <p:txBody>
              <a:bodyPr/>
              <a:lstStyle/>
              <a:p>
                <a:r>
                  <a:rPr lang="de-DE">
                    <a:noFill/>
                  </a:rPr>
                  <a:t> </a:t>
                </a:r>
              </a:p>
            </p:txBody>
          </p:sp>
        </mc:Fallback>
      </mc:AlternateContent>
      <p:sp>
        <p:nvSpPr>
          <p:cNvPr id="15" name="Textfeld 14">
            <a:extLst>
              <a:ext uri="{FF2B5EF4-FFF2-40B4-BE49-F238E27FC236}">
                <a16:creationId xmlns:a16="http://schemas.microsoft.com/office/drawing/2014/main" id="{B642B268-6F75-02CF-8F3E-E30B9BD231F5}"/>
              </a:ext>
            </a:extLst>
          </p:cNvPr>
          <p:cNvSpPr txBox="1"/>
          <p:nvPr/>
        </p:nvSpPr>
        <p:spPr>
          <a:xfrm>
            <a:off x="910593" y="1301509"/>
            <a:ext cx="1089722" cy="307777"/>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Task </a:t>
            </a:r>
            <a:r>
              <a:rPr lang="de-DE" sz="1400" dirty="0" err="1">
                <a:latin typeface="Arial" panose="020B0604020202020204" pitchFamily="34" charset="0"/>
                <a:ea typeface="CMU Serif" panose="02000603000000000000" pitchFamily="2" charset="0"/>
                <a:cs typeface="Arial" panose="020B0604020202020204" pitchFamily="34" charset="0"/>
              </a:rPr>
              <a:t>model</a:t>
            </a:r>
            <a:endParaRPr lang="de-DE" sz="1400" dirty="0">
              <a:latin typeface="Arial" panose="020B0604020202020204" pitchFamily="34" charset="0"/>
              <a:ea typeface="CMU Serif" panose="02000603000000000000" pitchFamily="2" charset="0"/>
              <a:cs typeface="Arial" panose="020B0604020202020204" pitchFamily="34" charset="0"/>
            </a:endParaRPr>
          </a:p>
        </p:txBody>
      </p:sp>
      <p:sp>
        <p:nvSpPr>
          <p:cNvPr id="16" name="Textfeld 15">
            <a:extLst>
              <a:ext uri="{FF2B5EF4-FFF2-40B4-BE49-F238E27FC236}">
                <a16:creationId xmlns:a16="http://schemas.microsoft.com/office/drawing/2014/main" id="{595EFD39-ED02-7009-860B-7B132A3FF729}"/>
              </a:ext>
            </a:extLst>
          </p:cNvPr>
          <p:cNvSpPr txBox="1"/>
          <p:nvPr/>
        </p:nvSpPr>
        <p:spPr>
          <a:xfrm>
            <a:off x="4859024" y="1294885"/>
            <a:ext cx="1189749" cy="307777"/>
          </a:xfrm>
          <a:prstGeom prst="rect">
            <a:avLst/>
          </a:prstGeom>
          <a:noFill/>
        </p:spPr>
        <p:txBody>
          <a:bodyPr wrap="none" rtlCol="0">
            <a:spAutoFit/>
          </a:bodyPr>
          <a:lstStyle/>
          <a:p>
            <a:r>
              <a:rPr lang="de-DE" sz="1400" dirty="0">
                <a:latin typeface="Arial" panose="020B0604020202020204" pitchFamily="34" charset="0"/>
                <a:ea typeface="CMU Serif" panose="02000603000000000000" pitchFamily="2" charset="0"/>
                <a:cs typeface="Arial" panose="020B0604020202020204" pitchFamily="34" charset="0"/>
              </a:rPr>
              <a:t>Agent </a:t>
            </a:r>
            <a:r>
              <a:rPr lang="de-DE" sz="1400" dirty="0" err="1">
                <a:latin typeface="Arial" panose="020B0604020202020204" pitchFamily="34" charset="0"/>
                <a:ea typeface="CMU Serif" panose="02000603000000000000" pitchFamily="2" charset="0"/>
                <a:cs typeface="Arial" panose="020B0604020202020204" pitchFamily="34" charset="0"/>
              </a:rPr>
              <a:t>model</a:t>
            </a:r>
            <a:endParaRPr lang="de-DE" sz="1400" dirty="0">
              <a:latin typeface="Arial" panose="020B0604020202020204" pitchFamily="34" charset="0"/>
              <a:ea typeface="CMU Serif" panose="02000603000000000000" pitchFamily="2" charset="0"/>
              <a:cs typeface="Arial" panose="020B0604020202020204" pitchFamily="34" charset="0"/>
            </a:endParaRPr>
          </a:p>
        </p:txBody>
      </p:sp>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B0C431EE-69BA-F37C-5A5D-003625AE469D}"/>
                  </a:ext>
                </a:extLst>
              </p:cNvPr>
              <p:cNvSpPr txBox="1"/>
              <p:nvPr/>
            </p:nvSpPr>
            <p:spPr>
              <a:xfrm>
                <a:off x="1307939" y="2942770"/>
                <a:ext cx="2483565" cy="307777"/>
              </a:xfrm>
              <a:prstGeom prst="rect">
                <a:avLst/>
              </a:prstGeom>
              <a:noFill/>
            </p:spPr>
            <p:txBody>
              <a:bodyPr wrap="none" rtlCol="0">
                <a:spAutoFit/>
              </a:bodyPr>
              <a:lstStyle/>
              <a:p>
                <a:pPr algn="ctr"/>
                <a:r>
                  <a:rPr lang="de-DE" sz="1400" dirty="0">
                    <a:latin typeface="Arial" panose="020B0604020202020204" pitchFamily="34" charset="0"/>
                    <a:cs typeface="Arial" panose="020B0604020202020204" pitchFamily="34" charset="0"/>
                  </a:rPr>
                  <a:t>State </a:t>
                </a:r>
                <a:r>
                  <a:rPr lang="de-DE" sz="1400" dirty="0" err="1">
                    <a:latin typeface="Arial" panose="020B0604020202020204" pitchFamily="34" charset="0"/>
                    <a:cs typeface="Arial" panose="020B0604020202020204" pitchFamily="34" charset="0"/>
                  </a:rPr>
                  <a:t>transition</a:t>
                </a:r>
                <a:r>
                  <a:rPr lang="de-DE" sz="1400" dirty="0">
                    <a:latin typeface="Arial" panose="020B0604020202020204" pitchFamily="34" charset="0"/>
                    <a:cs typeface="Arial" panose="020B0604020202020204" pitchFamily="34" charset="0"/>
                  </a:rPr>
                  <a:t> </a:t>
                </a:r>
                <a14:m>
                  <m:oMath xmlns:m="http://schemas.openxmlformats.org/officeDocument/2006/math">
                    <m:r>
                      <a:rPr lang="de-DE" sz="1400" i="1">
                        <a:latin typeface="Cambria Math" panose="02040503050406030204" pitchFamily="18" charset="0"/>
                      </a:rPr>
                      <m:t>𝑝</m:t>
                    </m:r>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r>
                          <a:rPr lang="de-DE" sz="1400" b="0" i="1" smtClean="0">
                            <a:latin typeface="Cambria Math" panose="02040503050406030204" pitchFamily="18" charset="0"/>
                          </a:rPr>
                          <m:t>+1</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i="1">
                        <a:latin typeface="Cambria Math" panose="02040503050406030204" pitchFamily="18" charset="0"/>
                      </a:rPr>
                      <m:t>)</m:t>
                    </m:r>
                  </m:oMath>
                </a14:m>
                <a:r>
                  <a:rPr lang="de-DE" sz="1400" dirty="0">
                    <a:effectLst/>
                    <a:latin typeface="Arial" panose="020B0604020202020204" pitchFamily="34" charset="0"/>
                    <a:ea typeface="CMU Serif" panose="02000603000000000000" pitchFamily="2" charset="0"/>
                    <a:cs typeface="Arial" panose="020B0604020202020204" pitchFamily="34" charset="0"/>
                  </a:rPr>
                  <a:t> </a:t>
                </a:r>
              </a:p>
            </p:txBody>
          </p:sp>
        </mc:Choice>
        <mc:Fallback xmlns="">
          <p:sp>
            <p:nvSpPr>
              <p:cNvPr id="17" name="Textfeld 16">
                <a:extLst>
                  <a:ext uri="{FF2B5EF4-FFF2-40B4-BE49-F238E27FC236}">
                    <a16:creationId xmlns:a16="http://schemas.microsoft.com/office/drawing/2014/main" id="{B0C431EE-69BA-F37C-5A5D-003625AE469D}"/>
                  </a:ext>
                </a:extLst>
              </p:cNvPr>
              <p:cNvSpPr txBox="1">
                <a:spLocks noRot="1" noChangeAspect="1" noMove="1" noResize="1" noEditPoints="1" noAdjustHandles="1" noChangeArrowheads="1" noChangeShapeType="1" noTextEdit="1"/>
              </p:cNvSpPr>
              <p:nvPr/>
            </p:nvSpPr>
            <p:spPr>
              <a:xfrm>
                <a:off x="1307939" y="2942770"/>
                <a:ext cx="2483565" cy="307777"/>
              </a:xfrm>
              <a:prstGeom prst="rect">
                <a:avLst/>
              </a:prstGeom>
              <a:blipFill>
                <a:blip r:embed="rId8"/>
                <a:stretch>
                  <a:fillRect l="-246" t="-4000" b="-20000"/>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68F17912-D719-9B28-5127-58EC4D06A6AB}"/>
              </a:ext>
            </a:extLst>
          </p:cNvPr>
          <p:cNvCxnSpPr>
            <a:cxnSpLocks/>
            <a:stCxn id="41" idx="2"/>
            <a:endCxn id="12" idx="0"/>
          </p:cNvCxnSpPr>
          <p:nvPr/>
        </p:nvCxnSpPr>
        <p:spPr>
          <a:xfrm flipH="1">
            <a:off x="6705349" y="2184672"/>
            <a:ext cx="1" cy="27361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EF345BAE-7551-0A9E-C646-5C6FD5ED7C5F}"/>
              </a:ext>
            </a:extLst>
          </p:cNvPr>
          <p:cNvCxnSpPr>
            <a:cxnSpLocks/>
            <a:stCxn id="11" idx="2"/>
            <a:endCxn id="13" idx="0"/>
          </p:cNvCxnSpPr>
          <p:nvPr/>
        </p:nvCxnSpPr>
        <p:spPr>
          <a:xfrm>
            <a:off x="6705349" y="3759734"/>
            <a:ext cx="1" cy="343151"/>
          </a:xfrm>
          <a:prstGeom prst="straightConnector1">
            <a:avLst/>
          </a:prstGeom>
          <a:ln w="3175">
            <a:solidFill>
              <a:schemeClr val="tx1"/>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Gerade Verbindung mit Pfeil 20">
            <a:extLst>
              <a:ext uri="{FF2B5EF4-FFF2-40B4-BE49-F238E27FC236}">
                <a16:creationId xmlns:a16="http://schemas.microsoft.com/office/drawing/2014/main" id="{7621A82F-FB52-2E82-8807-B7B854D72E2B}"/>
              </a:ext>
            </a:extLst>
          </p:cNvPr>
          <p:cNvCxnSpPr>
            <a:cxnSpLocks/>
            <a:stCxn id="17" idx="0"/>
            <a:endCxn id="7" idx="2"/>
          </p:cNvCxnSpPr>
          <p:nvPr/>
        </p:nvCxnSpPr>
        <p:spPr>
          <a:xfrm flipH="1" flipV="1">
            <a:off x="2549721" y="2200731"/>
            <a:ext cx="1" cy="742039"/>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4E026B0F-3331-D300-43C0-A1F38B11B930}"/>
              </a:ext>
            </a:extLst>
          </p:cNvPr>
          <p:cNvCxnSpPr>
            <a:cxnSpLocks/>
            <a:stCxn id="17" idx="2"/>
            <a:endCxn id="25" idx="0"/>
          </p:cNvCxnSpPr>
          <p:nvPr/>
        </p:nvCxnSpPr>
        <p:spPr>
          <a:xfrm flipH="1">
            <a:off x="2541541" y="3250547"/>
            <a:ext cx="8181" cy="861924"/>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feld 24">
                <a:extLst>
                  <a:ext uri="{FF2B5EF4-FFF2-40B4-BE49-F238E27FC236}">
                    <a16:creationId xmlns:a16="http://schemas.microsoft.com/office/drawing/2014/main" id="{97E49FEF-6E59-41D0-9387-16D8CC1E91C9}"/>
                  </a:ext>
                </a:extLst>
              </p:cNvPr>
              <p:cNvSpPr txBox="1"/>
              <p:nvPr/>
            </p:nvSpPr>
            <p:spPr>
              <a:xfrm>
                <a:off x="1631900" y="4112471"/>
                <a:ext cx="1819281" cy="307777"/>
              </a:xfrm>
              <a:prstGeom prst="rect">
                <a:avLst/>
              </a:prstGeom>
              <a:noFill/>
            </p:spPr>
            <p:txBody>
              <a:bodyPr wrap="none" rtlCol="0">
                <a:spAutoFit/>
              </a:bodyPr>
              <a:lstStyle/>
              <a:p>
                <a:pPr algn="ctr"/>
                <a:r>
                  <a:rPr lang="de-DE" sz="1400" dirty="0">
                    <a:effectLst/>
                    <a:latin typeface="Arial" panose="020B0604020202020204" pitchFamily="34" charset="0"/>
                    <a:ea typeface="CMU Serif" panose="02000603000000000000" pitchFamily="2" charset="0"/>
                    <a:cs typeface="Arial" panose="020B0604020202020204" pitchFamily="34" charset="0"/>
                  </a:rPr>
                  <a:t>Task reward</a:t>
                </a:r>
                <a14:m>
                  <m:oMath xmlns:m="http://schemas.openxmlformats.org/officeDocument/2006/math">
                    <m:r>
                      <a:rPr lang="de-DE" sz="1400" b="0" i="0" smtClean="0">
                        <a:effectLst/>
                        <a:latin typeface="Cambria Math" panose="02040503050406030204" pitchFamily="18" charset="0"/>
                        <a:ea typeface="CMU Serif" panose="02000603000000000000" pitchFamily="2" charset="0"/>
                        <a:cs typeface="CMU Serif" panose="02000603000000000000" pitchFamily="2" charset="0"/>
                      </a:rPr>
                      <m:t> </m:t>
                    </m:r>
                    <m:r>
                      <a:rPr lang="de-DE" sz="1400" i="1" smtClean="0">
                        <a:latin typeface="Cambria Math" panose="02040503050406030204" pitchFamily="18" charset="0"/>
                      </a:rPr>
                      <m:t>𝜚</m:t>
                    </m:r>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𝑠</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r>
                      <a:rPr lang="de-DE" sz="1400" b="0" i="1" smtClean="0">
                        <a:latin typeface="Cambria Math" panose="02040503050406030204" pitchFamily="18" charset="0"/>
                      </a:rPr>
                      <m:t>)</m:t>
                    </m:r>
                  </m:oMath>
                </a14:m>
                <a:endParaRPr lang="de-DE" sz="1400" dirty="0">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25" name="Textfeld 24">
                <a:extLst>
                  <a:ext uri="{FF2B5EF4-FFF2-40B4-BE49-F238E27FC236}">
                    <a16:creationId xmlns:a16="http://schemas.microsoft.com/office/drawing/2014/main" id="{97E49FEF-6E59-41D0-9387-16D8CC1E91C9}"/>
                  </a:ext>
                </a:extLst>
              </p:cNvPr>
              <p:cNvSpPr txBox="1">
                <a:spLocks noRot="1" noChangeAspect="1" noMove="1" noResize="1" noEditPoints="1" noAdjustHandles="1" noChangeArrowheads="1" noChangeShapeType="1" noTextEdit="1"/>
              </p:cNvSpPr>
              <p:nvPr/>
            </p:nvSpPr>
            <p:spPr>
              <a:xfrm>
                <a:off x="1631900" y="4112471"/>
                <a:ext cx="1819281" cy="307777"/>
              </a:xfrm>
              <a:prstGeom prst="rect">
                <a:avLst/>
              </a:prstGeom>
              <a:blipFill>
                <a:blip r:embed="rId9"/>
                <a:stretch>
                  <a:fillRect l="-671" t="-4000" b="-20000"/>
                </a:stretch>
              </a:blipFill>
            </p:spPr>
            <p:txBody>
              <a:bodyPr/>
              <a:lstStyle/>
              <a:p>
                <a:r>
                  <a:rPr lang="de-DE">
                    <a:noFill/>
                  </a:rPr>
                  <a:t> </a:t>
                </a:r>
              </a:p>
            </p:txBody>
          </p:sp>
        </mc:Fallback>
      </mc:AlternateContent>
      <p:sp>
        <p:nvSpPr>
          <p:cNvPr id="26" name="Textfeld 25">
            <a:extLst>
              <a:ext uri="{FF2B5EF4-FFF2-40B4-BE49-F238E27FC236}">
                <a16:creationId xmlns:a16="http://schemas.microsoft.com/office/drawing/2014/main" id="{D1D6E3F5-DB0C-88FF-D1E5-B310CA3D4709}"/>
              </a:ext>
            </a:extLst>
          </p:cNvPr>
          <p:cNvSpPr txBox="1"/>
          <p:nvPr/>
        </p:nvSpPr>
        <p:spPr>
          <a:xfrm>
            <a:off x="5612231" y="3867797"/>
            <a:ext cx="1030799" cy="261610"/>
          </a:xfrm>
          <a:prstGeom prst="rect">
            <a:avLst/>
          </a:prstGeom>
          <a:noFill/>
        </p:spPr>
        <p:txBody>
          <a:bodyPr wrap="square" rtlCol="0">
            <a:spAutoFit/>
          </a:bodyPr>
          <a:lstStyle/>
          <a:p>
            <a:r>
              <a:rPr lang="de-DE" sz="1100" dirty="0">
                <a:latin typeface="Arial" panose="020B0604020202020204" pitchFamily="34" charset="0"/>
                <a:ea typeface="CMU Serif" panose="02000603000000000000" pitchFamily="2" charset="0"/>
                <a:cs typeface="Arial" panose="020B0604020202020204" pitchFamily="34" charset="0"/>
              </a:rPr>
              <a:t>Action </a:t>
            </a:r>
            <a:r>
              <a:rPr lang="de-DE" sz="1100" dirty="0" err="1">
                <a:latin typeface="Arial" panose="020B0604020202020204" pitchFamily="34" charset="0"/>
                <a:ea typeface="CMU Serif" panose="02000603000000000000" pitchFamily="2" charset="0"/>
                <a:cs typeface="Arial" panose="020B0604020202020204" pitchFamily="34" charset="0"/>
              </a:rPr>
              <a:t>lifting</a:t>
            </a:r>
            <a:endParaRPr lang="de-DE" sz="1100" dirty="0">
              <a:latin typeface="Arial" panose="020B0604020202020204" pitchFamily="34" charset="0"/>
              <a:ea typeface="CMU Serif" panose="02000603000000000000" pitchFamily="2" charset="0"/>
              <a:cs typeface="Arial" panose="020B0604020202020204" pitchFamily="34" charset="0"/>
            </a:endParaRPr>
          </a:p>
        </p:txBody>
      </p:sp>
      <p:cxnSp>
        <p:nvCxnSpPr>
          <p:cNvPr id="29" name="Gerade Verbindung mit Pfeil 28">
            <a:extLst>
              <a:ext uri="{FF2B5EF4-FFF2-40B4-BE49-F238E27FC236}">
                <a16:creationId xmlns:a16="http://schemas.microsoft.com/office/drawing/2014/main" id="{7034D96A-B6DA-C589-9C47-2C836FE0971E}"/>
              </a:ext>
            </a:extLst>
          </p:cNvPr>
          <p:cNvCxnSpPr>
            <a:cxnSpLocks/>
          </p:cNvCxnSpPr>
          <p:nvPr/>
        </p:nvCxnSpPr>
        <p:spPr>
          <a:xfrm flipV="1">
            <a:off x="4223481" y="2034994"/>
            <a:ext cx="838723" cy="1"/>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EBB453DC-48EF-7730-C583-5C4AA70BCE97}"/>
              </a:ext>
            </a:extLst>
          </p:cNvPr>
          <p:cNvCxnSpPr>
            <a:cxnSpLocks/>
            <a:stCxn id="13" idx="1"/>
            <a:endCxn id="25" idx="3"/>
          </p:cNvCxnSpPr>
          <p:nvPr/>
        </p:nvCxnSpPr>
        <p:spPr>
          <a:xfrm flipH="1">
            <a:off x="3451181" y="4266360"/>
            <a:ext cx="1607628" cy="0"/>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7691A608-6C91-A8FA-5064-E38F08646ABB}"/>
                  </a:ext>
                </a:extLst>
              </p:cNvPr>
              <p:cNvSpPr txBox="1"/>
              <p:nvPr/>
            </p:nvSpPr>
            <p:spPr>
              <a:xfrm>
                <a:off x="7271104" y="878669"/>
                <a:ext cx="1171154" cy="338554"/>
              </a:xfrm>
              <a:prstGeom prst="rect">
                <a:avLst/>
              </a:prstGeom>
              <a:noFill/>
            </p:spPr>
            <p:txBody>
              <a:bodyPr wrap="none" rtlCol="0">
                <a:spAutoFit/>
              </a:bodyPr>
              <a:lstStyle/>
              <a:p>
                <a:pPr/>
                <a14:m>
                  <m:oMathPara xmlns:m="http://schemas.openxmlformats.org/officeDocument/2006/math">
                    <m:oMath>
                      <m:r>
                        <a:rPr lang="de-DE" sz="1600" b="0" i="1" dirty="0" smtClean="0">
                          <a:latin typeface="Cambria Math" panose="02040503050406030204" pitchFamily="18" charset="0"/>
                          <a:ea typeface="CMU Serif" panose="02000603000000000000" pitchFamily="2" charset="0"/>
                          <a:cs typeface="CMU Serif" panose="02000603000000000000" pitchFamily="2" charset="0"/>
                        </a:rPr>
                        <m:t>𝑡</m:t>
                      </m:r>
                      <m:r>
                        <a:rPr lang="de-DE" sz="1600" i="1" dirty="0" smtClean="0">
                          <a:latin typeface="Cambria Math" panose="02040503050406030204" pitchFamily="18" charset="0"/>
                          <a:ea typeface="CMU Serif" panose="02000603000000000000" pitchFamily="2" charset="0"/>
                          <a:cs typeface="CMU Serif" panose="02000603000000000000" pitchFamily="2" charset="0"/>
                        </a:rPr>
                        <m:t>=</m:t>
                      </m:r>
                      <m:r>
                        <a:rPr lang="de-DE" sz="1600" b="0" i="1" dirty="0" smtClean="0">
                          <a:latin typeface="Cambria Math" panose="02040503050406030204" pitchFamily="18" charset="0"/>
                          <a:ea typeface="CMU Serif" panose="02000603000000000000" pitchFamily="2" charset="0"/>
                          <a:cs typeface="CMU Serif" panose="02000603000000000000" pitchFamily="2" charset="0"/>
                        </a:rPr>
                        <m:t>0</m:t>
                      </m:r>
                      <m:r>
                        <a:rPr lang="de-DE" sz="1600" i="1" dirty="0" smtClean="0">
                          <a:latin typeface="Cambria Math" panose="02040503050406030204" pitchFamily="18" charset="0"/>
                          <a:ea typeface="CMU Serif" panose="02000603000000000000" pitchFamily="2" charset="0"/>
                          <a:cs typeface="CMU Serif" panose="02000603000000000000" pitchFamily="2" charset="0"/>
                        </a:rPr>
                        <m:t>,…,</m:t>
                      </m:r>
                      <m:r>
                        <a:rPr lang="de-DE" sz="1600" b="0" i="1" dirty="0" smtClean="0">
                          <a:latin typeface="Cambria Math" panose="02040503050406030204" pitchFamily="18" charset="0"/>
                          <a:ea typeface="CMU Serif" panose="02000603000000000000" pitchFamily="2" charset="0"/>
                          <a:cs typeface="CMU Serif" panose="02000603000000000000" pitchFamily="2" charset="0"/>
                        </a:rPr>
                        <m:t>𝑛</m:t>
                      </m:r>
                    </m:oMath>
                  </m:oMathPara>
                </a14:m>
                <a:endParaRPr lang="de-DE" sz="1600" dirty="0">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31" name="Textfeld 30">
                <a:extLst>
                  <a:ext uri="{FF2B5EF4-FFF2-40B4-BE49-F238E27FC236}">
                    <a16:creationId xmlns:a16="http://schemas.microsoft.com/office/drawing/2014/main" id="{7691A608-6C91-A8FA-5064-E38F08646ABB}"/>
                  </a:ext>
                </a:extLst>
              </p:cNvPr>
              <p:cNvSpPr txBox="1">
                <a:spLocks noRot="1" noChangeAspect="1" noMove="1" noResize="1" noEditPoints="1" noAdjustHandles="1" noChangeArrowheads="1" noChangeShapeType="1" noTextEdit="1"/>
              </p:cNvSpPr>
              <p:nvPr/>
            </p:nvSpPr>
            <p:spPr>
              <a:xfrm>
                <a:off x="7271104" y="878669"/>
                <a:ext cx="1171154" cy="338554"/>
              </a:xfrm>
              <a:prstGeom prst="rect">
                <a:avLst/>
              </a:prstGeom>
              <a:blipFill>
                <a:blip r:embed="rId10"/>
                <a:stretch>
                  <a:fillRect/>
                </a:stretch>
              </a:blipFill>
            </p:spPr>
            <p:txBody>
              <a:bodyPr/>
              <a:lstStyle/>
              <a:p>
                <a:r>
                  <a:rPr lang="de-DE">
                    <a:noFill/>
                  </a:rPr>
                  <a:t> </a:t>
                </a:r>
              </a:p>
            </p:txBody>
          </p:sp>
        </mc:Fallback>
      </mc:AlternateContent>
      <p:sp>
        <p:nvSpPr>
          <p:cNvPr id="32" name="Textfeld 31">
            <a:extLst>
              <a:ext uri="{FF2B5EF4-FFF2-40B4-BE49-F238E27FC236}">
                <a16:creationId xmlns:a16="http://schemas.microsoft.com/office/drawing/2014/main" id="{9D1AEBE1-FD87-E267-3651-01EE5B9FD571}"/>
              </a:ext>
            </a:extLst>
          </p:cNvPr>
          <p:cNvSpPr txBox="1"/>
          <p:nvPr/>
        </p:nvSpPr>
        <p:spPr>
          <a:xfrm>
            <a:off x="7755272" y="3704606"/>
            <a:ext cx="354219" cy="307777"/>
          </a:xfrm>
          <a:prstGeom prst="rect">
            <a:avLst/>
          </a:prstGeom>
          <a:noFill/>
        </p:spPr>
        <p:txBody>
          <a:bodyPr wrap="square">
            <a:spAutoFit/>
          </a:bodyPr>
          <a:lstStyle/>
          <a:p>
            <a:r>
              <a:rPr lang="de-DE" sz="1400" dirty="0">
                <a:solidFill>
                  <a:schemeClr val="tx1"/>
                </a:solidFill>
                <a:latin typeface="Arial" panose="020B0604020202020204" pitchFamily="34" charset="0"/>
                <a:cs typeface="Arial" panose="020B0604020202020204" pitchFamily="34" charset="0"/>
              </a:rPr>
              <a:t> </a:t>
            </a:r>
          </a:p>
        </p:txBody>
      </p:sp>
      <p:cxnSp>
        <p:nvCxnSpPr>
          <p:cNvPr id="34" name="Verbinder: gewinkelt 33">
            <a:extLst>
              <a:ext uri="{FF2B5EF4-FFF2-40B4-BE49-F238E27FC236}">
                <a16:creationId xmlns:a16="http://schemas.microsoft.com/office/drawing/2014/main" id="{38171AB2-6338-7757-1813-0497F5141691}"/>
              </a:ext>
            </a:extLst>
          </p:cNvPr>
          <p:cNvCxnSpPr>
            <a:cxnSpLocks/>
            <a:endCxn id="17" idx="3"/>
          </p:cNvCxnSpPr>
          <p:nvPr/>
        </p:nvCxnSpPr>
        <p:spPr>
          <a:xfrm rot="16200000" flipV="1">
            <a:off x="3519560" y="3368603"/>
            <a:ext cx="1169700" cy="62581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feld 40">
                <a:extLst>
                  <a:ext uri="{FF2B5EF4-FFF2-40B4-BE49-F238E27FC236}">
                    <a16:creationId xmlns:a16="http://schemas.microsoft.com/office/drawing/2014/main" id="{25AAA040-5559-4EFC-C4FD-CD77037EE781}"/>
                  </a:ext>
                </a:extLst>
              </p:cNvPr>
              <p:cNvSpPr txBox="1"/>
              <p:nvPr/>
            </p:nvSpPr>
            <p:spPr>
              <a:xfrm>
                <a:off x="5125782" y="1869906"/>
                <a:ext cx="3159135" cy="314766"/>
              </a:xfrm>
              <a:prstGeom prst="rect">
                <a:avLst/>
              </a:prstGeom>
              <a:noFill/>
            </p:spPr>
            <p:txBody>
              <a:bodyPr wrap="none" rtlCol="0">
                <a:spAutoFit/>
              </a:bodyPr>
              <a:lstStyle/>
              <a:p>
                <a:pPr algn="ctr"/>
                <a:r>
                  <a:rPr lang="de-DE" sz="1300" b="0" dirty="0">
                    <a:solidFill>
                      <a:schemeClr val="bg1">
                        <a:lumMod val="65000"/>
                      </a:schemeClr>
                    </a:solidFill>
                    <a:latin typeface="Arial" panose="020B0604020202020204" pitchFamily="34" charset="0"/>
                    <a:cs typeface="Arial" panose="020B0604020202020204" pitchFamily="34" charset="0"/>
                  </a:rPr>
                  <a:t>Reduced </a:t>
                </a:r>
                <a:r>
                  <a:rPr lang="de-DE" sz="1300" b="0" dirty="0" err="1">
                    <a:solidFill>
                      <a:schemeClr val="bg1">
                        <a:lumMod val="65000"/>
                      </a:schemeClr>
                    </a:solidFill>
                    <a:latin typeface="Arial" panose="020B0604020202020204" pitchFamily="34" charset="0"/>
                    <a:cs typeface="Arial" panose="020B0604020202020204" pitchFamily="34" charset="0"/>
                  </a:rPr>
                  <a:t>state</a:t>
                </a:r>
                <a:r>
                  <a:rPr lang="de-DE" sz="1300" b="0" dirty="0">
                    <a:solidFill>
                      <a:schemeClr val="bg1">
                        <a:lumMod val="65000"/>
                      </a:schemeClr>
                    </a:solidFill>
                    <a:latin typeface="Arial" panose="020B0604020202020204" pitchFamily="34" charset="0"/>
                    <a:cs typeface="Arial" panose="020B0604020202020204" pitchFamily="34" charset="0"/>
                  </a:rPr>
                  <a:t> </a:t>
                </a:r>
                <a14:m>
                  <m:oMath xmlns:m="http://schemas.openxmlformats.org/officeDocument/2006/math">
                    <m:sSubSup>
                      <m:sSubSupPr>
                        <m:ctrlPr>
                          <a:rPr lang="de-DE" sz="1300" b="0" i="1" smtClean="0">
                            <a:solidFill>
                              <a:schemeClr val="bg1">
                                <a:lumMod val="65000"/>
                              </a:schemeClr>
                            </a:solidFill>
                            <a:latin typeface="Cambria Math" panose="02040503050406030204" pitchFamily="18" charset="0"/>
                          </a:rPr>
                        </m:ctrlPr>
                      </m:sSubSupPr>
                      <m:e>
                        <m:r>
                          <a:rPr lang="de-DE" sz="1300" b="0" i="1" smtClean="0">
                            <a:solidFill>
                              <a:schemeClr val="bg1">
                                <a:lumMod val="65000"/>
                              </a:schemeClr>
                            </a:solidFill>
                            <a:latin typeface="Cambria Math" panose="02040503050406030204" pitchFamily="18" charset="0"/>
                          </a:rPr>
                          <m:t>𝑠</m:t>
                        </m:r>
                      </m:e>
                      <m:sub>
                        <m:r>
                          <a:rPr lang="de-DE" sz="1300" b="0" i="1" smtClean="0">
                            <a:solidFill>
                              <a:schemeClr val="bg1">
                                <a:lumMod val="65000"/>
                              </a:schemeClr>
                            </a:solidFill>
                            <a:latin typeface="Cambria Math" panose="02040503050406030204" pitchFamily="18" charset="0"/>
                          </a:rPr>
                          <m:t>𝑡</m:t>
                        </m:r>
                      </m:sub>
                      <m:sup>
                        <m:r>
                          <a:rPr lang="de-DE" sz="1300" b="0" i="1" smtClean="0">
                            <a:solidFill>
                              <a:schemeClr val="bg1">
                                <a:lumMod val="65000"/>
                              </a:schemeClr>
                            </a:solidFill>
                            <a:latin typeface="Cambria Math" panose="02040503050406030204" pitchFamily="18" charset="0"/>
                          </a:rPr>
                          <m:t>𝜒</m:t>
                        </m:r>
                      </m:sup>
                    </m:sSubSup>
                    <m:r>
                      <a:rPr lang="de-DE" sz="1300" b="0" i="1" smtClean="0">
                        <a:solidFill>
                          <a:schemeClr val="bg1">
                            <a:lumMod val="65000"/>
                          </a:schemeClr>
                        </a:solidFill>
                        <a:latin typeface="Cambria Math" panose="02040503050406030204" pitchFamily="18" charset="0"/>
                      </a:rPr>
                      <m:t>≔</m:t>
                    </m:r>
                    <m:r>
                      <a:rPr lang="de-DE" sz="1300" i="1">
                        <a:solidFill>
                          <a:schemeClr val="bg1">
                            <a:lumMod val="65000"/>
                          </a:schemeClr>
                        </a:solidFill>
                        <a:latin typeface="Cambria Math" panose="02040503050406030204" pitchFamily="18" charset="0"/>
                      </a:rPr>
                      <m:t>(</m:t>
                    </m:r>
                    <m:r>
                      <m:rPr>
                        <m:sty m:val="p"/>
                      </m:rPr>
                      <a:rPr lang="de-DE" sz="1300" b="0" i="0" smtClean="0">
                        <a:solidFill>
                          <a:schemeClr val="bg1">
                            <a:lumMod val="65000"/>
                          </a:schemeClr>
                        </a:solidFill>
                        <a:latin typeface="Cambria Math" panose="02040503050406030204" pitchFamily="18" charset="0"/>
                      </a:rPr>
                      <m:t>Switch</m:t>
                    </m:r>
                    <m:r>
                      <a:rPr lang="de-DE" sz="1300" b="0" i="0" smtClean="0">
                        <a:solidFill>
                          <a:schemeClr val="bg1">
                            <a:lumMod val="65000"/>
                          </a:schemeClr>
                        </a:solidFill>
                        <a:latin typeface="Cambria Math" panose="02040503050406030204" pitchFamily="18" charset="0"/>
                      </a:rPr>
                      <m:t>,</m:t>
                    </m:r>
                    <m:r>
                      <m:rPr>
                        <m:sty m:val="p"/>
                      </m:rPr>
                      <a:rPr lang="de-DE" sz="1300" b="0" i="0" smtClean="0">
                        <a:solidFill>
                          <a:schemeClr val="bg1">
                            <a:lumMod val="65000"/>
                          </a:schemeClr>
                        </a:solidFill>
                        <a:latin typeface="Cambria Math" panose="02040503050406030204" pitchFamily="18" charset="0"/>
                      </a:rPr>
                      <m:t>Imbalance</m:t>
                    </m:r>
                    <m:r>
                      <a:rPr lang="de-DE" sz="1300" i="1">
                        <a:solidFill>
                          <a:schemeClr val="bg1">
                            <a:lumMod val="65000"/>
                          </a:schemeClr>
                        </a:solidFill>
                        <a:latin typeface="Cambria Math" panose="02040503050406030204" pitchFamily="18" charset="0"/>
                      </a:rPr>
                      <m:t>)</m:t>
                    </m:r>
                  </m:oMath>
                </a14:m>
                <a:endPar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mc:Choice>
        <mc:Fallback xmlns="">
          <p:sp>
            <p:nvSpPr>
              <p:cNvPr id="41" name="Textfeld 40">
                <a:extLst>
                  <a:ext uri="{FF2B5EF4-FFF2-40B4-BE49-F238E27FC236}">
                    <a16:creationId xmlns:a16="http://schemas.microsoft.com/office/drawing/2014/main" id="{25AAA040-5559-4EFC-C4FD-CD77037EE781}"/>
                  </a:ext>
                </a:extLst>
              </p:cNvPr>
              <p:cNvSpPr txBox="1">
                <a:spLocks noRot="1" noChangeAspect="1" noMove="1" noResize="1" noEditPoints="1" noAdjustHandles="1" noChangeArrowheads="1" noChangeShapeType="1" noTextEdit="1"/>
              </p:cNvSpPr>
              <p:nvPr/>
            </p:nvSpPr>
            <p:spPr>
              <a:xfrm>
                <a:off x="5125782" y="1869906"/>
                <a:ext cx="3159135" cy="314766"/>
              </a:xfrm>
              <a:prstGeom prst="rect">
                <a:avLst/>
              </a:prstGeom>
              <a:blipFill>
                <a:blip r:embed="rId11"/>
                <a:stretch>
                  <a:fillRect b="-13725"/>
                </a:stretch>
              </a:blipFill>
            </p:spPr>
            <p:txBody>
              <a:bodyPr/>
              <a:lstStyle/>
              <a:p>
                <a:r>
                  <a:rPr lang="de-DE">
                    <a:noFill/>
                  </a:rPr>
                  <a:t> </a:t>
                </a:r>
              </a:p>
            </p:txBody>
          </p:sp>
        </mc:Fallback>
      </mc:AlternateContent>
      <p:sp>
        <p:nvSpPr>
          <p:cNvPr id="57" name="Textfeld 56">
            <a:extLst>
              <a:ext uri="{FF2B5EF4-FFF2-40B4-BE49-F238E27FC236}">
                <a16:creationId xmlns:a16="http://schemas.microsoft.com/office/drawing/2014/main" id="{12C3D6F2-08E4-39F2-0FA9-A36BD4DED39B}"/>
              </a:ext>
            </a:extLst>
          </p:cNvPr>
          <p:cNvSpPr txBox="1"/>
          <p:nvPr/>
        </p:nvSpPr>
        <p:spPr>
          <a:xfrm>
            <a:off x="5010815" y="2980054"/>
            <a:ext cx="3389069" cy="292388"/>
          </a:xfrm>
          <a:prstGeom prst="rect">
            <a:avLst/>
          </a:prstGeom>
          <a:noFill/>
        </p:spPr>
        <p:txBody>
          <a:bodyPr wrap="none" rtlCol="0">
            <a:spAutoFit/>
          </a:bodyPr>
          <a:lstStyle/>
          <a:p>
            <a:r>
              <a:rPr lang="de-DE" sz="1300" dirty="0">
                <a:solidFill>
                  <a:schemeClr val="bg1">
                    <a:lumMod val="65000"/>
                  </a:schemeClr>
                </a:solidFill>
                <a:latin typeface="Arial" panose="020B0604020202020204" pitchFamily="34" charset="0"/>
                <a:cs typeface="Arial" panose="020B0604020202020204" pitchFamily="34" charset="0"/>
              </a:rPr>
              <a:t>Dynamic </a:t>
            </a:r>
            <a:r>
              <a:rPr lang="de-DE" sz="1300" dirty="0" err="1">
                <a:solidFill>
                  <a:schemeClr val="bg1">
                    <a:lumMod val="65000"/>
                  </a:schemeClr>
                </a:solidFill>
                <a:latin typeface="Arial" panose="020B0604020202020204" pitchFamily="34" charset="0"/>
                <a:cs typeface="Arial" panose="020B0604020202020204" pitchFamily="34" charset="0"/>
              </a:rPr>
              <a:t>programming</a:t>
            </a:r>
            <a:r>
              <a:rPr lang="de-DE" sz="1300" dirty="0">
                <a:solidFill>
                  <a:schemeClr val="bg1">
                    <a:lumMod val="65000"/>
                  </a:schemeClr>
                </a:solidFill>
                <a:latin typeface="Arial" panose="020B0604020202020204" pitchFamily="34" charset="0"/>
                <a:cs typeface="Arial" panose="020B0604020202020204" pitchFamily="34" charset="0"/>
              </a:rPr>
              <a:t> </a:t>
            </a:r>
            <a:r>
              <a:rPr lang="de-DE" sz="1300" dirty="0" err="1">
                <a:solidFill>
                  <a:schemeClr val="bg1">
                    <a:lumMod val="65000"/>
                  </a:schemeClr>
                </a:solidFill>
                <a:latin typeface="Arial" panose="020B0604020202020204" pitchFamily="34" charset="0"/>
                <a:cs typeface="Arial" panose="020B0604020202020204" pitchFamily="34" charset="0"/>
              </a:rPr>
              <a:t>backward</a:t>
            </a:r>
            <a:r>
              <a:rPr lang="de-DE" sz="1300" dirty="0">
                <a:solidFill>
                  <a:schemeClr val="bg1">
                    <a:lumMod val="65000"/>
                  </a:schemeClr>
                </a:solidFill>
                <a:latin typeface="Arial" panose="020B0604020202020204" pitchFamily="34" charset="0"/>
                <a:cs typeface="Arial" panose="020B0604020202020204" pitchFamily="34" charset="0"/>
              </a:rPr>
              <a:t> </a:t>
            </a:r>
            <a:r>
              <a:rPr lang="de-DE" sz="1300" dirty="0" err="1">
                <a:solidFill>
                  <a:schemeClr val="bg1">
                    <a:lumMod val="65000"/>
                  </a:schemeClr>
                </a:solidFill>
                <a:latin typeface="Arial" panose="020B0604020202020204" pitchFamily="34" charset="0"/>
                <a:cs typeface="Arial" panose="020B0604020202020204" pitchFamily="34" charset="0"/>
              </a:rPr>
              <a:t>induction</a:t>
            </a:r>
            <a:endParaRPr lang="de-DE" sz="1300" dirty="0">
              <a:solidFill>
                <a:schemeClr val="bg1">
                  <a:lumMod val="65000"/>
                </a:schemeClr>
              </a:solidFill>
              <a:effectLst/>
              <a:latin typeface="Arial" panose="020B0604020202020204" pitchFamily="34" charset="0"/>
              <a:ea typeface="CMU Serif" panose="02000603000000000000" pitchFamily="2" charset="0"/>
              <a:cs typeface="Arial" panose="020B0604020202020204" pitchFamily="34" charset="0"/>
            </a:endParaRPr>
          </a:p>
        </p:txBody>
      </p:sp>
      <p:cxnSp>
        <p:nvCxnSpPr>
          <p:cNvPr id="58" name="Gerade Verbindung mit Pfeil 57">
            <a:extLst>
              <a:ext uri="{FF2B5EF4-FFF2-40B4-BE49-F238E27FC236}">
                <a16:creationId xmlns:a16="http://schemas.microsoft.com/office/drawing/2014/main" id="{E42D293E-9DFB-197D-BE80-8A21A80001FC}"/>
              </a:ext>
            </a:extLst>
          </p:cNvPr>
          <p:cNvCxnSpPr>
            <a:cxnSpLocks/>
            <a:stCxn id="12" idx="2"/>
            <a:endCxn id="57" idx="0"/>
          </p:cNvCxnSpPr>
          <p:nvPr/>
        </p:nvCxnSpPr>
        <p:spPr>
          <a:xfrm>
            <a:off x="6705349" y="2782794"/>
            <a:ext cx="1" cy="197260"/>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F0AF94C2-8F42-F1DB-75FE-AC5ED34B7325}"/>
              </a:ext>
            </a:extLst>
          </p:cNvPr>
          <p:cNvCxnSpPr>
            <a:cxnSpLocks/>
            <a:stCxn id="57" idx="2"/>
            <a:endCxn id="11" idx="0"/>
          </p:cNvCxnSpPr>
          <p:nvPr/>
        </p:nvCxnSpPr>
        <p:spPr>
          <a:xfrm flipH="1">
            <a:off x="6705349" y="3272442"/>
            <a:ext cx="1" cy="209139"/>
          </a:xfrm>
          <a:prstGeom prst="straightConnector1">
            <a:avLst/>
          </a:prstGeom>
          <a:ln w="12700">
            <a:solidFill>
              <a:schemeClr val="bg1">
                <a:lumMod val="6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48447DC3-4379-5AF9-2E32-061CAB3B53A5}"/>
              </a:ext>
            </a:extLst>
          </p:cNvPr>
          <p:cNvSpPr txBox="1"/>
          <p:nvPr/>
        </p:nvSpPr>
        <p:spPr>
          <a:xfrm>
            <a:off x="6737738" y="3867797"/>
            <a:ext cx="1690550" cy="261610"/>
          </a:xfrm>
          <a:prstGeom prst="rect">
            <a:avLst/>
          </a:prstGeom>
          <a:noFill/>
        </p:spPr>
        <p:txBody>
          <a:bodyPr wrap="square" rtlCol="0">
            <a:spAutoFit/>
          </a:bodyPr>
          <a:lstStyle/>
          <a:p>
            <a:r>
              <a:rPr lang="de-DE" sz="1100" dirty="0">
                <a:latin typeface="Arial" panose="020B0604020202020204" pitchFamily="34" charset="0"/>
                <a:ea typeface="CMU Serif" panose="02000603000000000000" pitchFamily="2" charset="0"/>
                <a:cs typeface="Arial" panose="020B0604020202020204" pitchFamily="34" charset="0"/>
              </a:rPr>
              <a:t>Post-</a:t>
            </a:r>
            <a:r>
              <a:rPr lang="de-DE" sz="1100" dirty="0" err="1">
                <a:latin typeface="Arial" panose="020B0604020202020204" pitchFamily="34" charset="0"/>
                <a:ea typeface="CMU Serif" panose="02000603000000000000" pitchFamily="2" charset="0"/>
                <a:cs typeface="Arial" panose="020B0604020202020204" pitchFamily="34" charset="0"/>
              </a:rPr>
              <a:t>decision</a:t>
            </a:r>
            <a:r>
              <a:rPr lang="de-DE" sz="1100" dirty="0">
                <a:latin typeface="Arial" panose="020B0604020202020204" pitchFamily="34" charset="0"/>
                <a:ea typeface="CMU Serif" panose="02000603000000000000" pitchFamily="2" charset="0"/>
                <a:cs typeface="Arial" panose="020B0604020202020204" pitchFamily="34" charset="0"/>
              </a:rPr>
              <a:t> </a:t>
            </a:r>
            <a:r>
              <a:rPr lang="de-DE" sz="1100" dirty="0" err="1">
                <a:latin typeface="Arial" panose="020B0604020202020204" pitchFamily="34" charset="0"/>
                <a:ea typeface="CMU Serif" panose="02000603000000000000" pitchFamily="2" charset="0"/>
                <a:cs typeface="Arial" panose="020B0604020202020204" pitchFamily="34" charset="0"/>
              </a:rPr>
              <a:t>noise</a:t>
            </a:r>
            <a:endParaRPr lang="de-DE" sz="1100" dirty="0">
              <a:latin typeface="Arial" panose="020B0604020202020204" pitchFamily="34" charset="0"/>
              <a:ea typeface="CMU Serif" panose="02000603000000000000" pitchFamily="2" charset="0"/>
              <a:cs typeface="Arial" panose="020B0604020202020204" pitchFamily="34" charset="0"/>
            </a:endParaRPr>
          </a:p>
        </p:txBody>
      </p:sp>
      <mc:AlternateContent xmlns:mc="http://schemas.openxmlformats.org/markup-compatibility/2006" xmlns:a14="http://schemas.microsoft.com/office/drawing/2010/main">
        <mc:Choice Requires="a14">
          <p:sp>
            <p:nvSpPr>
              <p:cNvPr id="71" name="Textfeld 70">
                <a:extLst>
                  <a:ext uri="{FF2B5EF4-FFF2-40B4-BE49-F238E27FC236}">
                    <a16:creationId xmlns:a16="http://schemas.microsoft.com/office/drawing/2014/main" id="{9F821925-19F8-EC5F-11B1-958741699A94}"/>
                  </a:ext>
                </a:extLst>
              </p:cNvPr>
              <p:cNvSpPr txBox="1"/>
              <p:nvPr/>
            </p:nvSpPr>
            <p:spPr>
              <a:xfrm>
                <a:off x="998474" y="1593990"/>
                <a:ext cx="3014113" cy="308161"/>
              </a:xfrm>
              <a:prstGeom prst="rect">
                <a:avLst/>
              </a:prstGeom>
              <a:noFill/>
            </p:spPr>
            <p:txBody>
              <a:bodyPr wrap="square">
                <a:spAutoFit/>
              </a:bodyPr>
              <a:lstStyle/>
              <a:p>
                <a:pPr/>
                <a14:m>
                  <m:oMathPara xmlns:m="http://schemas.openxmlformats.org/officeDocument/2006/math">
                    <m:oMath>
                      <m:r>
                        <a:rPr lang="de-DE" sz="1200" b="0" i="1" smtClean="0">
                          <a:latin typeface="Cambria Math" panose="02040503050406030204" pitchFamily="18" charset="0"/>
                          <a:ea typeface="CMU Serif" panose="02000603000000000000" pitchFamily="2" charset="0"/>
                          <a:cs typeface="CMU Serif" panose="02000603000000000000" pitchFamily="2" charset="0"/>
                        </a:rPr>
                        <m:t>𝒯</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r>
                            <a:rPr lang="de-DE" sz="1200" b="0" i="1" smtClean="0">
                              <a:latin typeface="Cambria Math" panose="02040503050406030204" pitchFamily="18" charset="0"/>
                              <a:ea typeface="CMU Serif" panose="02000603000000000000" pitchFamily="2" charset="0"/>
                              <a:cs typeface="CMU Serif" panose="02000603000000000000" pitchFamily="2" charset="0"/>
                            </a:rPr>
                            <m:t>𝐽</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r>
                            <a:rPr lang="de-DE" sz="1200" b="0" i="1" smtClean="0">
                              <a:latin typeface="Cambria Math" panose="02040503050406030204" pitchFamily="18" charset="0"/>
                              <a:ea typeface="CMU Serif" panose="02000603000000000000" pitchFamily="2" charset="0"/>
                              <a:cs typeface="CMU Serif" panose="02000603000000000000" pitchFamily="2" charset="0"/>
                            </a:rPr>
                            <m:t>𝑆</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r>
                            <a:rPr lang="de-DE" sz="1200" b="0" i="1" smtClean="0">
                              <a:latin typeface="Cambria Math" panose="02040503050406030204" pitchFamily="18" charset="0"/>
                              <a:ea typeface="CMU Serif" panose="02000603000000000000" pitchFamily="2" charset="0"/>
                              <a:cs typeface="CMU Serif" panose="02000603000000000000" pitchFamily="2" charset="0"/>
                            </a:rPr>
                            <m:t>𝐴</m:t>
                          </m:r>
                          <m:r>
                            <a:rPr lang="de-DE" sz="1200" b="0" i="1" smtClean="0">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𝑅</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𝒯</m:t>
                                  </m:r>
                                </m:sub>
                              </m:sSub>
                            </m:e>
                            <m:sub>
                              <m:r>
                                <a:rPr lang="de-DE" sz="1200" b="0" i="1" smtClean="0">
                                  <a:latin typeface="Cambria Math" panose="02040503050406030204" pitchFamily="18" charset="0"/>
                                  <a:ea typeface="CMU Serif" panose="02000603000000000000" pitchFamily="2" charset="0"/>
                                  <a:cs typeface="CMU Serif" panose="02000603000000000000" pitchFamily="2" charset="0"/>
                                </a:rPr>
                                <m:t> </m:t>
                              </m:r>
                            </m:sub>
                          </m:sSub>
                          <m:r>
                            <a:rPr lang="de-DE" sz="1200" b="0" i="1" smtClean="0">
                              <a:latin typeface="Cambria Math" panose="02040503050406030204" pitchFamily="18" charset="0"/>
                              <a:ea typeface="CMU Serif" panose="02000603000000000000" pitchFamily="2" charset="0"/>
                              <a:cs typeface="CMU Serif" panose="02000603000000000000" pitchFamily="2" charset="0"/>
                            </a:rPr>
                            <m:t>, </m:t>
                          </m:r>
                          <m:r>
                            <a:rPr lang="de-DE" sz="1200" b="0" i="1" smtClean="0">
                              <a:latin typeface="Cambria Math" panose="02040503050406030204" pitchFamily="18" charset="0"/>
                              <a:ea typeface="CMU Serif" panose="02000603000000000000" pitchFamily="2" charset="0"/>
                              <a:cs typeface="CMU Serif" panose="02000603000000000000" pitchFamily="2" charset="0"/>
                            </a:rPr>
                            <m:t>𝑝</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0</m:t>
                                  </m:r>
                                </m:sub>
                              </m:sSub>
                            </m:e>
                          </m:d>
                          <m:r>
                            <a:rPr lang="de-DE" sz="1200" b="0" i="1" smtClean="0">
                              <a:latin typeface="Cambria Math" panose="02040503050406030204" pitchFamily="18" charset="0"/>
                              <a:ea typeface="CMU Serif" panose="02000603000000000000" pitchFamily="2" charset="0"/>
                              <a:cs typeface="CMU Serif" panose="02000603000000000000" pitchFamily="2" charset="0"/>
                            </a:rPr>
                            <m:t>, </m:t>
                          </m:r>
                          <m:r>
                            <a:rPr lang="de-DE" sz="1200" b="0" i="1" smtClean="0">
                              <a:latin typeface="Cambria Math" panose="02040503050406030204" pitchFamily="18" charset="0"/>
                              <a:ea typeface="CMU Serif" panose="02000603000000000000" pitchFamily="2" charset="0"/>
                              <a:cs typeface="CMU Serif" panose="02000603000000000000" pitchFamily="2" charset="0"/>
                            </a:rPr>
                            <m:t>𝑝</m:t>
                          </m:r>
                          <m:d>
                            <m:d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r>
                                    <a:rPr lang="de-DE" sz="1200" b="0" i="1" smtClean="0">
                                      <a:latin typeface="Cambria Math" panose="02040503050406030204" pitchFamily="18" charset="0"/>
                                      <a:ea typeface="CMU Serif" panose="02000603000000000000" pitchFamily="2" charset="0"/>
                                      <a:cs typeface="CMU Serif" panose="02000603000000000000" pitchFamily="2" charset="0"/>
                                    </a:rPr>
                                    <m:t>+1</m:t>
                                  </m:r>
                                </m:sub>
                              </m:sSub>
                            </m:e>
                            <m:e>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sub>
                              </m:sSub>
                              <m:r>
                                <a:rPr lang="de-DE" sz="1200" b="0" i="1" smtClean="0">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latin typeface="Cambria Math" panose="02040503050406030204" pitchFamily="18" charset="0"/>
                                      <a:ea typeface="CMU Serif" panose="02000603000000000000" pitchFamily="2" charset="0"/>
                                      <a:cs typeface="CMU Serif" panose="02000603000000000000" pitchFamily="2" charset="0"/>
                                    </a:rPr>
                                    <m:t>𝑎</m:t>
                                  </m:r>
                                </m:e>
                                <m:sub>
                                  <m:r>
                                    <a:rPr lang="de-DE" sz="1200" b="0" i="1" smtClean="0">
                                      <a:latin typeface="Cambria Math" panose="02040503050406030204" pitchFamily="18" charset="0"/>
                                      <a:ea typeface="CMU Serif" panose="02000603000000000000" pitchFamily="2" charset="0"/>
                                      <a:cs typeface="CMU Serif" panose="02000603000000000000" pitchFamily="2" charset="0"/>
                                    </a:rPr>
                                    <m:t>𝑡</m:t>
                                  </m:r>
                                </m:sub>
                              </m:sSub>
                            </m:e>
                          </m:d>
                          <m:r>
                            <a:rPr lang="de-DE" sz="1200" b="0" i="1" smtClean="0">
                              <a:latin typeface="Cambria Math" panose="02040503050406030204" pitchFamily="18" charset="0"/>
                              <a:ea typeface="CMU Serif" panose="02000603000000000000" pitchFamily="2" charset="0"/>
                              <a:cs typeface="CMU Serif" panose="02000603000000000000" pitchFamily="2" charset="0"/>
                            </a:rPr>
                            <m:t>,</m:t>
                          </m:r>
                          <m:r>
                            <m:rPr>
                              <m:sty m:val="p"/>
                            </m:rPr>
                            <a:rPr lang="de-DE" sz="1200" b="0" i="1" smtClean="0">
                              <a:latin typeface="Cambria Math" panose="02040503050406030204" pitchFamily="18" charset="0"/>
                              <a:ea typeface="CMU Serif" panose="02000603000000000000" pitchFamily="2" charset="0"/>
                              <a:cs typeface="CMU Serif" panose="02000603000000000000" pitchFamily="2" charset="0"/>
                            </a:rPr>
                            <m:t>ϱ</m:t>
                          </m:r>
                        </m:e>
                      </m:d>
                    </m:oMath>
                  </m:oMathPara>
                </a14:m>
                <a:endParaRPr lang="de-DE" sz="1200" b="0" i="1" dirty="0">
                  <a:latin typeface="Cambria Math" panose="02040503050406030204" pitchFamily="18" charset="0"/>
                  <a:ea typeface="CMU Serif" panose="02000603000000000000" pitchFamily="2" charset="0"/>
                  <a:cs typeface="CMU Serif" panose="02000603000000000000" pitchFamily="2" charset="0"/>
                </a:endParaRPr>
              </a:p>
            </p:txBody>
          </p:sp>
        </mc:Choice>
        <mc:Fallback xmlns="">
          <p:sp>
            <p:nvSpPr>
              <p:cNvPr id="71" name="Textfeld 70">
                <a:extLst>
                  <a:ext uri="{FF2B5EF4-FFF2-40B4-BE49-F238E27FC236}">
                    <a16:creationId xmlns:a16="http://schemas.microsoft.com/office/drawing/2014/main" id="{9F821925-19F8-EC5F-11B1-958741699A94}"/>
                  </a:ext>
                </a:extLst>
              </p:cNvPr>
              <p:cNvSpPr txBox="1">
                <a:spLocks noRot="1" noChangeAspect="1" noMove="1" noResize="1" noEditPoints="1" noAdjustHandles="1" noChangeArrowheads="1" noChangeShapeType="1" noTextEdit="1"/>
              </p:cNvSpPr>
              <p:nvPr/>
            </p:nvSpPr>
            <p:spPr>
              <a:xfrm>
                <a:off x="998474" y="1593990"/>
                <a:ext cx="3014113" cy="308161"/>
              </a:xfrm>
              <a:prstGeom prst="rect">
                <a:avLst/>
              </a:prstGeom>
              <a:blipFill>
                <a:blip r:embed="rId12"/>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72938CC2-DFFE-5565-A2C4-714A7E9EC19A}"/>
                  </a:ext>
                </a:extLst>
              </p:cNvPr>
              <p:cNvSpPr txBox="1"/>
              <p:nvPr/>
            </p:nvSpPr>
            <p:spPr>
              <a:xfrm>
                <a:off x="5357985" y="1594659"/>
                <a:ext cx="2574396" cy="306687"/>
              </a:xfrm>
              <a:prstGeom prst="rect">
                <a:avLst/>
              </a:prstGeom>
              <a:noFill/>
            </p:spPr>
            <p:txBody>
              <a:bodyPr wrap="square">
                <a:spAutoFit/>
              </a:bodyPr>
              <a:lstStyle/>
              <a:p>
                <a:pPr/>
                <a14:m>
                  <m:oMathPara xmlns:m="http://schemas.openxmlformats.org/officeDocument/2006/math">
                    <m:oMath>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𝒜</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d>
                        <m:d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d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𝐽</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ℳ</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𝜒</m:t>
                              </m:r>
                            </m:sub>
                          </m:s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𝐷</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𝑝</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𝛽</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𝜎</m:t>
                              </m:r>
                            </m:sub>
                          </m:sSub>
                          <m:d>
                            <m:d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dPr>
                            <m:e>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𝑑</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𝑡</m:t>
                                  </m:r>
                                </m:sub>
                              </m:sSub>
                            </m:e>
                            <m:e>
                              <m:sSub>
                                <m:sSubPr>
                                  <m:ctrlP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ctrlPr>
                                </m:sSubPr>
                                <m:e>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𝑠</m:t>
                                  </m:r>
                                </m:e>
                                <m:sub>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𝑡</m:t>
                                  </m:r>
                                </m:sub>
                              </m:sSub>
                            </m:e>
                          </m:d>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m:t>
                          </m:r>
                          <m:r>
                            <a:rPr lang="de-DE" sz="1200" b="0" i="1" smtClean="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rPr>
                            <m:t>𝜌</m:t>
                          </m:r>
                        </m:e>
                      </m:d>
                    </m:oMath>
                  </m:oMathPara>
                </a14:m>
                <a:endParaRPr lang="de-DE" sz="1200" b="0" i="1" dirty="0">
                  <a:solidFill>
                    <a:schemeClr val="bg1">
                      <a:lumMod val="65000"/>
                    </a:schemeClr>
                  </a:solidFill>
                  <a:latin typeface="Cambria Math" panose="02040503050406030204" pitchFamily="18" charset="0"/>
                  <a:ea typeface="CMU Serif" panose="02000603000000000000" pitchFamily="2" charset="0"/>
                  <a:cs typeface="CMU Serif" panose="02000603000000000000" pitchFamily="2" charset="0"/>
                </a:endParaRPr>
              </a:p>
            </p:txBody>
          </p:sp>
        </mc:Choice>
        <mc:Fallback xmlns="">
          <p:sp>
            <p:nvSpPr>
              <p:cNvPr id="73" name="Textfeld 72">
                <a:extLst>
                  <a:ext uri="{FF2B5EF4-FFF2-40B4-BE49-F238E27FC236}">
                    <a16:creationId xmlns:a16="http://schemas.microsoft.com/office/drawing/2014/main" id="{72938CC2-DFFE-5565-A2C4-714A7E9EC19A}"/>
                  </a:ext>
                </a:extLst>
              </p:cNvPr>
              <p:cNvSpPr txBox="1">
                <a:spLocks noRot="1" noChangeAspect="1" noMove="1" noResize="1" noEditPoints="1" noAdjustHandles="1" noChangeArrowheads="1" noChangeShapeType="1" noTextEdit="1"/>
              </p:cNvSpPr>
              <p:nvPr/>
            </p:nvSpPr>
            <p:spPr>
              <a:xfrm>
                <a:off x="5357985" y="1594659"/>
                <a:ext cx="2574396" cy="306687"/>
              </a:xfrm>
              <a:prstGeom prst="rect">
                <a:avLst/>
              </a:prstGeom>
              <a:blipFill>
                <a:blip r:embed="rId13"/>
                <a:stretch>
                  <a:fillRect b="-2000"/>
                </a:stretch>
              </a:blipFill>
            </p:spPr>
            <p:txBody>
              <a:bodyPr/>
              <a:lstStyle/>
              <a:p>
                <a:r>
                  <a:rPr lang="de-DE">
                    <a:noFill/>
                  </a:rPr>
                  <a:t> </a:t>
                </a:r>
              </a:p>
            </p:txBody>
          </p:sp>
        </mc:Fallback>
      </mc:AlternateContent>
    </p:spTree>
    <p:extLst>
      <p:ext uri="{BB962C8B-B14F-4D97-AF65-F5344CB8AC3E}">
        <p14:creationId xmlns:p14="http://schemas.microsoft.com/office/powerpoint/2010/main" val="2903427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C2D0AA-045F-789C-DFC4-25A3EDE5DEF5}"/>
              </a:ext>
            </a:extLst>
          </p:cNvPr>
          <p:cNvSpPr>
            <a:spLocks noGrp="1"/>
          </p:cNvSpPr>
          <p:nvPr>
            <p:ph type="title"/>
          </p:nvPr>
        </p:nvSpPr>
        <p:spPr/>
        <p:txBody>
          <a:bodyPr>
            <a:normAutofit/>
          </a:bodyPr>
          <a:lstStyle/>
          <a:p>
            <a:r>
              <a:rPr lang="de-DE" sz="2200" b="0" dirty="0">
                <a:latin typeface="Arial" panose="020B0604020202020204" pitchFamily="34" charset="0"/>
                <a:cs typeface="Arial" panose="020B0604020202020204" pitchFamily="34" charset="0"/>
              </a:rPr>
              <a:t>Dynamic </a:t>
            </a:r>
            <a:r>
              <a:rPr lang="de-DE" sz="2200" b="0" dirty="0" err="1">
                <a:latin typeface="Arial" panose="020B0604020202020204" pitchFamily="34" charset="0"/>
                <a:cs typeface="Arial" panose="020B0604020202020204" pitchFamily="34" charset="0"/>
              </a:rPr>
              <a:t>programming</a:t>
            </a:r>
            <a:r>
              <a:rPr lang="de-DE" sz="2200" b="0" dirty="0">
                <a:latin typeface="Arial" panose="020B0604020202020204" pitchFamily="34" charset="0"/>
                <a:cs typeface="Arial" panose="020B0604020202020204" pitchFamily="34" charset="0"/>
              </a:rPr>
              <a:t> </a:t>
            </a:r>
            <a:r>
              <a:rPr lang="de-DE" sz="2200" b="0" dirty="0" err="1">
                <a:latin typeface="Arial" panose="020B0604020202020204" pitchFamily="34" charset="0"/>
                <a:cs typeface="Arial" panose="020B0604020202020204" pitchFamily="34" charset="0"/>
              </a:rPr>
              <a:t>backward</a:t>
            </a:r>
            <a:r>
              <a:rPr lang="de-DE" sz="2200" b="0" dirty="0">
                <a:latin typeface="Arial" panose="020B0604020202020204" pitchFamily="34" charset="0"/>
                <a:cs typeface="Arial" panose="020B0604020202020204" pitchFamily="34" charset="0"/>
              </a:rPr>
              <a:t> </a:t>
            </a:r>
            <a:r>
              <a:rPr lang="de-DE" sz="2200" b="0" dirty="0" err="1">
                <a:latin typeface="Arial" panose="020B0604020202020204" pitchFamily="34" charset="0"/>
                <a:cs typeface="Arial" panose="020B0604020202020204" pitchFamily="34" charset="0"/>
              </a:rPr>
              <a:t>induction</a:t>
            </a:r>
            <a:endParaRPr lang="de-DE" sz="2200" b="0" dirty="0">
              <a:latin typeface="Arial" panose="020B0604020202020204" pitchFamily="34" charset="0"/>
              <a:cs typeface="Arial" panose="020B0604020202020204" pitchFamily="34" charset="0"/>
            </a:endParaRPr>
          </a:p>
        </p:txBody>
      </p:sp>
      <p:sp>
        <p:nvSpPr>
          <p:cNvPr id="4" name="Foliennummernplatzhalter 3">
            <a:extLst>
              <a:ext uri="{FF2B5EF4-FFF2-40B4-BE49-F238E27FC236}">
                <a16:creationId xmlns:a16="http://schemas.microsoft.com/office/drawing/2014/main" id="{7E0408ED-CF39-66E4-FBBF-9C6E8F97BFFD}"/>
              </a:ext>
            </a:extLst>
          </p:cNvPr>
          <p:cNvSpPr>
            <a:spLocks noGrp="1"/>
          </p:cNvSpPr>
          <p:nvPr>
            <p:ph type="sldNum" idx="12"/>
          </p:nvPr>
        </p:nvSpPr>
        <p:spPr/>
        <p:txBody>
          <a:bodyPr/>
          <a:lstStyle/>
          <a:p>
            <a:fld id="{5CD88B4E-D815-417B-99FD-41D66E5C06D4}" type="slidenum">
              <a:rPr lang="de-DE" smtClean="0"/>
              <a:t>16</a:t>
            </a:fld>
            <a:endParaRPr lang="de-DE"/>
          </a:p>
        </p:txBody>
      </p:sp>
      <p:sp>
        <p:nvSpPr>
          <p:cNvPr id="5" name="Textfeld 4">
            <a:extLst>
              <a:ext uri="{FF2B5EF4-FFF2-40B4-BE49-F238E27FC236}">
                <a16:creationId xmlns:a16="http://schemas.microsoft.com/office/drawing/2014/main" id="{58BC1476-3561-09DF-51A4-8680B89D8165}"/>
              </a:ext>
            </a:extLst>
          </p:cNvPr>
          <p:cNvSpPr txBox="1"/>
          <p:nvPr/>
        </p:nvSpPr>
        <p:spPr>
          <a:xfrm>
            <a:off x="731648" y="925059"/>
            <a:ext cx="3337773" cy="307777"/>
          </a:xfrm>
          <a:prstGeom prst="rect">
            <a:avLst/>
          </a:prstGeom>
          <a:noFill/>
        </p:spPr>
        <p:txBody>
          <a:bodyPr wrap="none" rtlCol="0">
            <a:spAutoFit/>
          </a:bodyPr>
          <a:lstStyle/>
          <a:p>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non-</a:t>
            </a:r>
            <a:r>
              <a:rPr lang="de-DE" sz="1400" dirty="0" err="1">
                <a:latin typeface="Arial" panose="020B0604020202020204" pitchFamily="34" charset="0"/>
                <a:cs typeface="Arial" panose="020B0604020202020204" pitchFamily="34" charset="0"/>
              </a:rPr>
              <a:t>reduced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function</a:t>
            </a:r>
            <a:endParaRPr lang="de-DE" sz="1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BDA8004F-73E3-B3A1-7312-800EED80F182}"/>
                  </a:ext>
                </a:extLst>
              </p:cNvPr>
              <p:cNvSpPr txBox="1"/>
              <p:nvPr/>
            </p:nvSpPr>
            <p:spPr>
              <a:xfrm>
                <a:off x="2216579" y="1391798"/>
                <a:ext cx="5281574" cy="326949"/>
              </a:xfrm>
              <a:prstGeom prst="rect">
                <a:avLst/>
              </a:prstGeom>
              <a:noFill/>
            </p:spPr>
            <p:txBody>
              <a:bodyPr wrap="none" rtlCol="0">
                <a:spAutoFit/>
              </a:bodyPr>
              <a:lstStyle/>
              <a:p>
                <a:pPr/>
                <a14:m>
                  <m:oMathPara xmlns:m="http://schemas.openxmlformats.org/officeDocument/2006/math">
                    <m:o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𝜌</m:t>
                          </m:r>
                        </m:e>
                        <m:sub>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sub>
                      </m:sSub>
                      <m:r>
                        <a:rPr lang="de-DE" sz="1400" b="0" i="1" smtClean="0">
                          <a:latin typeface="Cambria Math" panose="02040503050406030204" pitchFamily="18" charset="0"/>
                        </a:rPr>
                        <m:t>:</m:t>
                      </m:r>
                      <m:r>
                        <a:rPr lang="de-DE" sz="1400" b="0" i="1" smtClean="0">
                          <a:latin typeface="Cambria Math" panose="02040503050406030204" pitchFamily="18" charset="0"/>
                        </a:rPr>
                        <m:t>𝑆</m:t>
                      </m:r>
                      <m:r>
                        <a:rPr lang="de-DE" sz="1400" b="0" i="1" smtClean="0">
                          <a:latin typeface="Cambria Math" panose="02040503050406030204" pitchFamily="18" charset="0"/>
                        </a:rPr>
                        <m:t>×</m:t>
                      </m:r>
                      <m:r>
                        <a:rPr lang="de-DE" sz="1400" b="0" i="1" smtClean="0">
                          <a:latin typeface="Cambria Math" panose="02040503050406030204" pitchFamily="18" charset="0"/>
                        </a:rPr>
                        <m:t>𝐴</m:t>
                      </m:r>
                      <m:r>
                        <a:rPr lang="de-DE" sz="1400" b="0" i="1" smtClean="0">
                          <a:latin typeface="Cambria Math" panose="02040503050406030204" pitchFamily="18" charset="0"/>
                        </a:rPr>
                        <m:t>→</m:t>
                      </m:r>
                      <m:r>
                        <a:rPr lang="de-DE" sz="1400" b="0" i="1" smtClean="0">
                          <a:latin typeface="Cambria Math" panose="02040503050406030204" pitchFamily="18" charset="0"/>
                        </a:rPr>
                        <m:t>ℝ</m:t>
                      </m:r>
                      <m:r>
                        <a:rPr lang="de-DE" sz="1400" b="0" i="1" smtClean="0">
                          <a:latin typeface="Cambria Math" panose="02040503050406030204" pitchFamily="18" charset="0"/>
                        </a:rPr>
                        <m:t>, </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𝑠</m:t>
                          </m:r>
                          <m:r>
                            <a:rPr lang="de-DE" sz="1400" b="0" i="1" smtClean="0">
                              <a:latin typeface="Cambria Math" panose="02040503050406030204" pitchFamily="18" charset="0"/>
                            </a:rPr>
                            <m:t>,</m:t>
                          </m:r>
                          <m:r>
                            <a:rPr lang="de-DE" sz="1400" b="0" i="1" smtClean="0">
                              <a:latin typeface="Cambria Math" panose="02040503050406030204" pitchFamily="18" charset="0"/>
                            </a:rPr>
                            <m:t>𝑎</m:t>
                          </m:r>
                        </m:e>
                      </m:d>
                      <m:r>
                        <a:rPr lang="de-DE" sz="1400" b="0" i="1" smtClean="0">
                          <a:latin typeface="Cambria Math" panose="02040503050406030204" pitchFamily="18" charset="0"/>
                        </a:rPr>
                        <m:t>↦</m:t>
                      </m:r>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𝜌</m:t>
                          </m:r>
                        </m:e>
                        <m:sub>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sub>
                      </m:sSub>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𝑠</m:t>
                          </m:r>
                          <m:r>
                            <a:rPr lang="de-DE" sz="1400" b="0" i="1" smtClean="0">
                              <a:latin typeface="Cambria Math" panose="02040503050406030204" pitchFamily="18" charset="0"/>
                            </a:rPr>
                            <m:t>,</m:t>
                          </m:r>
                          <m:r>
                            <a:rPr lang="de-DE" sz="1400" b="0" i="1" smtClean="0">
                              <a:latin typeface="Cambria Math" panose="02040503050406030204" pitchFamily="18" charset="0"/>
                            </a:rPr>
                            <m:t>𝑎</m:t>
                          </m:r>
                        </m:e>
                      </m:d>
                      <m:r>
                        <a:rPr lang="de-DE" sz="1400" b="0" i="1" smtClean="0">
                          <a:latin typeface="Cambria Math" panose="02040503050406030204" pitchFamily="18" charset="0"/>
                        </a:rPr>
                        <m:t>≔</m:t>
                      </m:r>
                      <m:r>
                        <a:rPr lang="de-DE" sz="1400" b="0" i="1" smtClean="0">
                          <a:solidFill>
                            <a:srgbClr val="00B050"/>
                          </a:solidFill>
                          <a:latin typeface="Cambria Math" panose="02040503050406030204" pitchFamily="18" charset="0"/>
                        </a:rPr>
                        <m:t>𝜌</m:t>
                      </m:r>
                      <m:d>
                        <m:dPr>
                          <m:ctrlPr>
                            <a:rPr lang="de-DE" sz="1400" b="0" i="1" smtClean="0">
                              <a:solidFill>
                                <a:srgbClr val="00B050"/>
                              </a:solidFill>
                              <a:latin typeface="Cambria Math" panose="02040503050406030204" pitchFamily="18" charset="0"/>
                            </a:rPr>
                          </m:ctrlPr>
                        </m:dPr>
                        <m:e>
                          <m:r>
                            <a:rPr lang="de-DE" sz="1400" b="0" i="1" smtClean="0">
                              <a:solidFill>
                                <a:srgbClr val="00B050"/>
                              </a:solidFill>
                              <a:latin typeface="Cambria Math" panose="02040503050406030204" pitchFamily="18" charset="0"/>
                            </a:rPr>
                            <m:t>𝑠</m:t>
                          </m:r>
                          <m:r>
                            <a:rPr lang="de-DE" sz="1400" b="0" i="1" smtClean="0">
                              <a:solidFill>
                                <a:srgbClr val="00B050"/>
                              </a:solidFill>
                              <a:latin typeface="Cambria Math" panose="02040503050406030204" pitchFamily="18" charset="0"/>
                            </a:rPr>
                            <m:t>,</m:t>
                          </m:r>
                          <m:r>
                            <a:rPr lang="de-DE" sz="1400" b="0" i="1" smtClean="0">
                              <a:solidFill>
                                <a:srgbClr val="00B050"/>
                              </a:solidFill>
                              <a:latin typeface="Cambria Math" panose="02040503050406030204" pitchFamily="18" charset="0"/>
                            </a:rPr>
                            <m:t>𝑎</m:t>
                          </m:r>
                        </m:e>
                      </m:d>
                      <m:r>
                        <a:rPr lang="de-DE" sz="1400" b="0" i="1" smtClean="0">
                          <a:latin typeface="Cambria Math" panose="02040503050406030204" pitchFamily="18" charset="0"/>
                        </a:rPr>
                        <m:t>+</m:t>
                      </m:r>
                      <m:sSub>
                        <m:sSubPr>
                          <m:ctrlPr>
                            <a:rPr lang="de-DE" sz="1400" b="0" i="1" smtClean="0">
                              <a:solidFill>
                                <a:schemeClr val="accent2">
                                  <a:lumMod val="75000"/>
                                </a:schemeClr>
                              </a:solidFill>
                              <a:latin typeface="Cambria Math" panose="02040503050406030204" pitchFamily="18" charset="0"/>
                            </a:rPr>
                          </m:ctrlPr>
                        </m:sSubPr>
                        <m:e>
                          <m:r>
                            <a:rPr lang="de-DE" sz="1400" b="0" i="1" smtClean="0">
                              <a:solidFill>
                                <a:schemeClr val="accent2">
                                  <a:lumMod val="75000"/>
                                </a:schemeClr>
                              </a:solidFill>
                              <a:latin typeface="Cambria Math" panose="02040503050406030204" pitchFamily="18" charset="0"/>
                            </a:rPr>
                            <m:t>𝜌</m:t>
                          </m:r>
                        </m:e>
                        <m:sub>
                          <m:r>
                            <a:rPr lang="de-DE" sz="1400" b="0" i="1" smtClean="0">
                              <a:solidFill>
                                <a:schemeClr val="accent2">
                                  <a:lumMod val="75000"/>
                                </a:schemeClr>
                              </a:solidFill>
                              <a:latin typeface="Cambria Math" panose="02040503050406030204" pitchFamily="18" charset="0"/>
                            </a:rPr>
                            <m:t>𝛽</m:t>
                          </m:r>
                        </m:sub>
                      </m:sSub>
                      <m:d>
                        <m:dPr>
                          <m:ctrlPr>
                            <a:rPr lang="de-DE" sz="1400" b="0" i="1" smtClean="0">
                              <a:solidFill>
                                <a:schemeClr val="accent2">
                                  <a:lumMod val="75000"/>
                                </a:schemeClr>
                              </a:solidFill>
                              <a:latin typeface="Cambria Math" panose="02040503050406030204" pitchFamily="18" charset="0"/>
                            </a:rPr>
                          </m:ctrlPr>
                        </m:dPr>
                        <m:e>
                          <m:r>
                            <a:rPr lang="de-DE" sz="1400" b="0" i="1" smtClean="0">
                              <a:solidFill>
                                <a:schemeClr val="accent2">
                                  <a:lumMod val="75000"/>
                                </a:schemeClr>
                              </a:solidFill>
                              <a:latin typeface="Cambria Math" panose="02040503050406030204" pitchFamily="18" charset="0"/>
                            </a:rPr>
                            <m:t>𝑠</m:t>
                          </m:r>
                          <m:r>
                            <a:rPr lang="de-DE" sz="1400" b="0" i="1" smtClean="0">
                              <a:solidFill>
                                <a:schemeClr val="accent2">
                                  <a:lumMod val="75000"/>
                                </a:schemeClr>
                              </a:solidFill>
                              <a:latin typeface="Cambria Math" panose="02040503050406030204" pitchFamily="18" charset="0"/>
                            </a:rPr>
                            <m:t>,</m:t>
                          </m:r>
                          <m:r>
                            <a:rPr lang="de-DE" sz="1400" b="0" i="1" smtClean="0">
                              <a:solidFill>
                                <a:schemeClr val="accent2">
                                  <a:lumMod val="75000"/>
                                </a:schemeClr>
                              </a:solidFill>
                              <a:latin typeface="Cambria Math" panose="02040503050406030204" pitchFamily="18" charset="0"/>
                            </a:rPr>
                            <m:t>𝑎</m:t>
                          </m:r>
                        </m:e>
                      </m:d>
                      <m:r>
                        <a:rPr lang="de-DE" sz="1400" b="0" i="1" smtClean="0">
                          <a:solidFill>
                            <a:schemeClr val="accent2">
                              <a:lumMod val="75000"/>
                            </a:schemeClr>
                          </a:solidFill>
                          <a:latin typeface="Cambria Math" panose="02040503050406030204" pitchFamily="18" charset="0"/>
                        </a:rPr>
                        <m:t>+</m:t>
                      </m:r>
                      <m:sSub>
                        <m:sSubPr>
                          <m:ctrlPr>
                            <a:rPr lang="de-DE" sz="1400" b="0" i="1" smtClean="0">
                              <a:solidFill>
                                <a:srgbClr val="FF0000"/>
                              </a:solidFill>
                              <a:latin typeface="Cambria Math" panose="02040503050406030204" pitchFamily="18" charset="0"/>
                            </a:rPr>
                          </m:ctrlPr>
                        </m:sSubPr>
                        <m:e>
                          <m:r>
                            <a:rPr lang="de-DE" sz="1400" b="0" i="1" smtClean="0">
                              <a:solidFill>
                                <a:srgbClr val="FF0000"/>
                              </a:solidFill>
                              <a:latin typeface="Cambria Math" panose="02040503050406030204" pitchFamily="18" charset="0"/>
                            </a:rPr>
                            <m:t>𝜌</m:t>
                          </m:r>
                        </m:e>
                        <m:sub>
                          <m:r>
                            <a:rPr lang="de-DE" sz="1400" b="0" i="1" smtClean="0">
                              <a:solidFill>
                                <a:srgbClr val="FF0000"/>
                              </a:solidFill>
                              <a:latin typeface="Cambria Math" panose="02040503050406030204" pitchFamily="18" charset="0"/>
                            </a:rPr>
                            <m:t>𝜎</m:t>
                          </m:r>
                        </m:sub>
                      </m:sSub>
                      <m:r>
                        <a:rPr lang="de-DE" sz="1400" b="0" i="1" smtClean="0">
                          <a:solidFill>
                            <a:srgbClr val="FF0000"/>
                          </a:solidFill>
                          <a:latin typeface="Cambria Math" panose="02040503050406030204" pitchFamily="18" charset="0"/>
                        </a:rPr>
                        <m:t>(</m:t>
                      </m:r>
                      <m:r>
                        <a:rPr lang="de-DE" sz="1400" b="0" i="1" smtClean="0">
                          <a:solidFill>
                            <a:srgbClr val="FF0000"/>
                          </a:solidFill>
                          <a:latin typeface="Cambria Math" panose="02040503050406030204" pitchFamily="18" charset="0"/>
                        </a:rPr>
                        <m:t>𝑠</m:t>
                      </m:r>
                      <m:r>
                        <a:rPr lang="de-DE" sz="1400" b="0" i="1" smtClean="0">
                          <a:solidFill>
                            <a:srgbClr val="FF0000"/>
                          </a:solidFill>
                          <a:latin typeface="Cambria Math" panose="02040503050406030204" pitchFamily="18" charset="0"/>
                        </a:rPr>
                        <m:t>,</m:t>
                      </m:r>
                      <m:r>
                        <a:rPr lang="de-DE" sz="1400" b="0" i="1" smtClean="0">
                          <a:solidFill>
                            <a:srgbClr val="FF0000"/>
                          </a:solidFill>
                          <a:latin typeface="Cambria Math" panose="02040503050406030204" pitchFamily="18" charset="0"/>
                        </a:rPr>
                        <m:t>𝑎</m:t>
                      </m:r>
                      <m:r>
                        <a:rPr lang="de-DE" sz="1400" b="0" i="1" smtClean="0">
                          <a:solidFill>
                            <a:srgbClr val="FF0000"/>
                          </a:solidFill>
                          <a:latin typeface="Cambria Math" panose="02040503050406030204" pitchFamily="18" charset="0"/>
                        </a:rPr>
                        <m:t>)</m:t>
                      </m:r>
                    </m:oMath>
                  </m:oMathPara>
                </a14:m>
                <a:endParaRPr lang="de-DE" sz="1400" dirty="0">
                  <a:latin typeface="Arial" panose="020B0604020202020204" pitchFamily="34" charset="0"/>
                  <a:cs typeface="Arial" panose="020B0604020202020204" pitchFamily="34" charset="0"/>
                </a:endParaRPr>
              </a:p>
            </p:txBody>
          </p:sp>
        </mc:Choice>
        <mc:Fallback xmlns="">
          <p:sp>
            <p:nvSpPr>
              <p:cNvPr id="6" name="Textfeld 5">
                <a:extLst>
                  <a:ext uri="{FF2B5EF4-FFF2-40B4-BE49-F238E27FC236}">
                    <a16:creationId xmlns:a16="http://schemas.microsoft.com/office/drawing/2014/main" id="{BDA8004F-73E3-B3A1-7312-800EED80F182}"/>
                  </a:ext>
                </a:extLst>
              </p:cNvPr>
              <p:cNvSpPr txBox="1">
                <a:spLocks noRot="1" noChangeAspect="1" noMove="1" noResize="1" noEditPoints="1" noAdjustHandles="1" noChangeArrowheads="1" noChangeShapeType="1" noTextEdit="1"/>
              </p:cNvSpPr>
              <p:nvPr/>
            </p:nvSpPr>
            <p:spPr>
              <a:xfrm>
                <a:off x="2216579" y="1391798"/>
                <a:ext cx="5281574" cy="326949"/>
              </a:xfrm>
              <a:prstGeom prst="rect">
                <a:avLst/>
              </a:prstGeom>
              <a:blipFill>
                <a:blip r:embed="rId2"/>
                <a:stretch>
                  <a:fillRect b="-370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9A7BF60D-6E5E-A33D-AA46-0CC5D77232A7}"/>
                  </a:ext>
                </a:extLst>
              </p:cNvPr>
              <p:cNvSpPr txBox="1"/>
              <p:nvPr/>
            </p:nvSpPr>
            <p:spPr>
              <a:xfrm>
                <a:off x="1858816" y="1854757"/>
                <a:ext cx="5997100" cy="237950"/>
              </a:xfrm>
              <a:prstGeom prst="rect">
                <a:avLst/>
              </a:prstGeom>
              <a:noFill/>
            </p:spPr>
            <p:txBody>
              <a:bodyPr wrap="square" lIns="0" tIns="0" rIns="0" bIns="0" rtlCol="0">
                <a:spAutoFit/>
              </a:bodyPr>
              <a:lstStyle/>
              <a:p>
                <a:r>
                  <a:rPr lang="de-DE" sz="1400" dirty="0">
                    <a:solidFill>
                      <a:srgbClr val="00B050"/>
                    </a:solidFill>
                    <a:latin typeface="Arial" panose="020B0604020202020204" pitchFamily="34" charset="0"/>
                    <a:cs typeface="Arial" panose="020B0604020202020204" pitchFamily="34" charset="0"/>
                  </a:rPr>
                  <a:t>Accuray </a:t>
                </a:r>
                <a:r>
                  <a:rPr lang="de-DE" sz="1400" dirty="0" err="1">
                    <a:solidFill>
                      <a:srgbClr val="00B050"/>
                    </a:solidFill>
                    <a:latin typeface="Arial" panose="020B0604020202020204" pitchFamily="34" charset="0"/>
                    <a:cs typeface="Arial" panose="020B0604020202020204" pitchFamily="34" charset="0"/>
                  </a:rPr>
                  <a:t>reward </a:t>
                </a:r>
                <a14:m>
                  <m:oMath xmlns:m="http://schemas.openxmlformats.org/officeDocument/2006/math">
                    <m:r>
                      <a:rPr lang="de-DE" sz="1400" i="1" smtClean="0">
                        <a:solidFill>
                          <a:srgbClr val="00B050"/>
                        </a:solidFill>
                        <a:latin typeface="Cambria Math" panose="02040503050406030204" pitchFamily="18" charset="0"/>
                      </a:rPr>
                      <m:t>𝜌</m:t>
                    </m:r>
                    <m:d>
                      <m:dPr>
                        <m:ctrlPr>
                          <a:rPr lang="de-DE" sz="1400" i="1">
                            <a:solidFill>
                              <a:srgbClr val="00B050"/>
                            </a:solidFill>
                            <a:latin typeface="Cambria Math" panose="02040503050406030204" pitchFamily="18" charset="0"/>
                          </a:rPr>
                        </m:ctrlPr>
                      </m:dPr>
                      <m:e>
                        <m:r>
                          <a:rPr lang="de-DE" sz="1400" i="1">
                            <a:solidFill>
                              <a:srgbClr val="00B050"/>
                            </a:solidFill>
                            <a:latin typeface="Cambria Math" panose="02040503050406030204" pitchFamily="18" charset="0"/>
                          </a:rPr>
                          <m:t>𝑠</m:t>
                        </m:r>
                        <m:r>
                          <a:rPr lang="de-DE" sz="1400" i="1">
                            <a:solidFill>
                              <a:srgbClr val="00B050"/>
                            </a:solidFill>
                            <a:latin typeface="Cambria Math" panose="02040503050406030204" pitchFamily="18" charset="0"/>
                          </a:rPr>
                          <m:t>,</m:t>
                        </m:r>
                        <m:r>
                          <a:rPr lang="de-DE" sz="1400" i="1">
                            <a:solidFill>
                              <a:srgbClr val="00B050"/>
                            </a:solidFill>
                            <a:latin typeface="Cambria Math" panose="02040503050406030204" pitchFamily="18" charset="0"/>
                          </a:rPr>
                          <m:t>𝑎</m:t>
                        </m:r>
                      </m:e>
                    </m:d>
                    <m:r>
                      <m:rPr>
                        <m:nor/>
                      </m:rPr>
                      <a:rPr lang="de-DE" sz="1400" b="0" i="0" smtClean="0">
                        <a:solidFill>
                          <a:srgbClr val="00B050"/>
                        </a:solidFill>
                        <a:latin typeface="Cambria Math" panose="02040503050406030204" pitchFamily="18" charset="0"/>
                      </a:rPr>
                      <m:t>          </m:t>
                    </m:r>
                    <m:r>
                      <m:rPr>
                        <m:nor/>
                      </m:rPr>
                      <a:rPr lang="de-DE" sz="1400" i="0" dirty="0" smtClean="0">
                        <a:solidFill>
                          <a:schemeClr val="accent2">
                            <a:lumMod val="75000"/>
                          </a:schemeClr>
                        </a:solidFill>
                        <a:latin typeface="Arial" panose="020B0604020202020204" pitchFamily="34" charset="0"/>
                        <a:cs typeface="Arial" panose="020B0604020202020204" pitchFamily="34" charset="0"/>
                      </a:rPr>
                      <m:t>Imbalance cost </m:t>
                    </m:r>
                    <m:sSub>
                      <m:sSubPr>
                        <m:ctrlPr>
                          <a:rPr lang="de-DE" sz="1400" i="1">
                            <a:solidFill>
                              <a:schemeClr val="accent2">
                                <a:lumMod val="75000"/>
                              </a:schemeClr>
                            </a:solidFill>
                            <a:latin typeface="Cambria Math" panose="02040503050406030204" pitchFamily="18" charset="0"/>
                          </a:rPr>
                        </m:ctrlPr>
                      </m:sSubPr>
                      <m:e>
                        <m:r>
                          <a:rPr lang="de-DE" sz="1400" i="1">
                            <a:solidFill>
                              <a:schemeClr val="accent2">
                                <a:lumMod val="75000"/>
                              </a:schemeClr>
                            </a:solidFill>
                            <a:latin typeface="Cambria Math" panose="02040503050406030204" pitchFamily="18" charset="0"/>
                          </a:rPr>
                          <m:t>𝜌</m:t>
                        </m:r>
                      </m:e>
                      <m:sub>
                        <m:r>
                          <a:rPr lang="de-DE" sz="1400" i="1">
                            <a:solidFill>
                              <a:schemeClr val="accent2">
                                <a:lumMod val="75000"/>
                              </a:schemeClr>
                            </a:solidFill>
                            <a:latin typeface="Cambria Math" panose="02040503050406030204" pitchFamily="18" charset="0"/>
                          </a:rPr>
                          <m:t>𝛽</m:t>
                        </m:r>
                      </m:sub>
                    </m:sSub>
                    <m:d>
                      <m:dPr>
                        <m:ctrlPr>
                          <a:rPr lang="de-DE" sz="1400" i="1">
                            <a:solidFill>
                              <a:schemeClr val="accent2">
                                <a:lumMod val="75000"/>
                              </a:schemeClr>
                            </a:solidFill>
                            <a:latin typeface="Cambria Math" panose="02040503050406030204" pitchFamily="18" charset="0"/>
                          </a:rPr>
                        </m:ctrlPr>
                      </m:dPr>
                      <m:e>
                        <m:r>
                          <a:rPr lang="de-DE" sz="1400" i="1">
                            <a:solidFill>
                              <a:schemeClr val="accent2">
                                <a:lumMod val="75000"/>
                              </a:schemeClr>
                            </a:solidFill>
                            <a:latin typeface="Cambria Math" panose="02040503050406030204" pitchFamily="18" charset="0"/>
                          </a:rPr>
                          <m:t>𝑠</m:t>
                        </m:r>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𝑎</m:t>
                        </m:r>
                      </m:e>
                    </m:d>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𝛽</m:t>
                    </m:r>
                    <m:r>
                      <a:rPr lang="de-DE" sz="1400" i="1">
                        <a:solidFill>
                          <a:schemeClr val="accent2">
                            <a:lumMod val="75000"/>
                          </a:schemeClr>
                        </a:solidFill>
                        <a:latin typeface="Cambria Math" panose="02040503050406030204" pitchFamily="18" charset="0"/>
                      </a:rPr>
                      <m:t> ⋅|</m:t>
                    </m:r>
                    <m:sSup>
                      <m:sSupPr>
                        <m:ctrlPr>
                          <a:rPr lang="de-DE" sz="1400" i="1">
                            <a:solidFill>
                              <a:schemeClr val="accent2">
                                <a:lumMod val="75000"/>
                              </a:schemeClr>
                            </a:solidFill>
                            <a:latin typeface="Cambria Math" panose="02040503050406030204" pitchFamily="18" charset="0"/>
                          </a:rPr>
                        </m:ctrlPr>
                      </m:sSupPr>
                      <m:e>
                        <m:r>
                          <a:rPr lang="de-DE" sz="1400" i="1">
                            <a:solidFill>
                              <a:schemeClr val="accent2">
                                <a:lumMod val="75000"/>
                              </a:schemeClr>
                            </a:solidFill>
                            <a:latin typeface="Cambria Math" panose="02040503050406030204" pitchFamily="18" charset="0"/>
                          </a:rPr>
                          <m:t>𝑠</m:t>
                        </m:r>
                      </m:e>
                      <m:sup>
                        <m:r>
                          <a:rPr lang="de-DE" sz="1400" i="1">
                            <a:solidFill>
                              <a:schemeClr val="accent2">
                                <a:lumMod val="75000"/>
                              </a:schemeClr>
                            </a:solidFill>
                            <a:latin typeface="Cambria Math" panose="02040503050406030204" pitchFamily="18" charset="0"/>
                          </a:rPr>
                          <m:t>4</m:t>
                        </m:r>
                      </m:sup>
                    </m:sSup>
                    <m:r>
                      <a:rPr lang="de-DE" sz="1400" i="1">
                        <a:solidFill>
                          <a:schemeClr val="accent2">
                            <a:lumMod val="75000"/>
                          </a:schemeClr>
                        </a:solidFill>
                        <a:latin typeface="Cambria Math" panose="02040503050406030204" pitchFamily="18" charset="0"/>
                      </a:rPr>
                      <m:t>+</m:t>
                    </m:r>
                    <m:r>
                      <m:rPr>
                        <m:sty m:val="p"/>
                      </m:rPr>
                      <a:rPr lang="de-DE" sz="1400">
                        <a:solidFill>
                          <a:schemeClr val="accent2">
                            <a:lumMod val="75000"/>
                          </a:schemeClr>
                        </a:solidFill>
                        <a:latin typeface="Cambria Math" panose="02040503050406030204" pitchFamily="18" charset="0"/>
                      </a:rPr>
                      <m:t>Δ</m:t>
                    </m:r>
                    <m:r>
                      <a:rPr lang="de-DE" sz="1400" i="1">
                        <a:solidFill>
                          <a:schemeClr val="accent2">
                            <a:lumMod val="75000"/>
                          </a:schemeClr>
                        </a:solidFill>
                        <a:latin typeface="Cambria Math" panose="02040503050406030204" pitchFamily="18" charset="0"/>
                      </a:rPr>
                      <m:t>(</m:t>
                    </m:r>
                    <m:r>
                      <a:rPr lang="de-DE" sz="1400" i="1">
                        <a:solidFill>
                          <a:schemeClr val="accent2">
                            <a:lumMod val="75000"/>
                          </a:schemeClr>
                        </a:solidFill>
                        <a:latin typeface="Cambria Math" panose="02040503050406030204" pitchFamily="18" charset="0"/>
                      </a:rPr>
                      <m:t>𝑎</m:t>
                    </m:r>
                    <m:r>
                      <a:rPr lang="de-DE" sz="1400" i="1">
                        <a:solidFill>
                          <a:schemeClr val="accent2">
                            <a:lumMod val="75000"/>
                          </a:schemeClr>
                        </a:solidFill>
                        <a:latin typeface="Cambria Math" panose="02040503050406030204" pitchFamily="18" charset="0"/>
                      </a:rPr>
                      <m:t>)|</m:t>
                    </m:r>
                  </m:oMath>
                </a14:m>
                <a:endParaRPr lang="de-DE" sz="1400" dirty="0">
                  <a:latin typeface="Arial" panose="020B0604020202020204" pitchFamily="34" charset="0"/>
                  <a:cs typeface="Arial" panose="020B0604020202020204" pitchFamily="34" charset="0"/>
                </a:endParaRPr>
              </a:p>
            </p:txBody>
          </p:sp>
        </mc:Choice>
        <mc:Fallback xmlns="">
          <p:sp>
            <p:nvSpPr>
              <p:cNvPr id="7" name="Textfeld 6">
                <a:extLst>
                  <a:ext uri="{FF2B5EF4-FFF2-40B4-BE49-F238E27FC236}">
                    <a16:creationId xmlns:a16="http://schemas.microsoft.com/office/drawing/2014/main" id="{9A7BF60D-6E5E-A33D-AA46-0CC5D77232A7}"/>
                  </a:ext>
                </a:extLst>
              </p:cNvPr>
              <p:cNvSpPr txBox="1">
                <a:spLocks noRot="1" noChangeAspect="1" noMove="1" noResize="1" noEditPoints="1" noAdjustHandles="1" noChangeArrowheads="1" noChangeShapeType="1" noTextEdit="1"/>
              </p:cNvSpPr>
              <p:nvPr/>
            </p:nvSpPr>
            <p:spPr>
              <a:xfrm>
                <a:off x="1858816" y="1854757"/>
                <a:ext cx="5997100" cy="237950"/>
              </a:xfrm>
              <a:prstGeom prst="rect">
                <a:avLst/>
              </a:prstGeom>
              <a:blipFill>
                <a:blip r:embed="rId3"/>
                <a:stretch>
                  <a:fillRect l="-1829" t="-23077" b="-3589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F3208D30-2E26-5514-C31B-6F39AD82E9D9}"/>
                  </a:ext>
                </a:extLst>
              </p:cNvPr>
              <p:cNvSpPr txBox="1"/>
              <p:nvPr/>
            </p:nvSpPr>
            <p:spPr>
              <a:xfrm>
                <a:off x="2062563" y="2247686"/>
                <a:ext cx="5018873" cy="215444"/>
              </a:xfrm>
              <a:prstGeom prst="rect">
                <a:avLst/>
              </a:prstGeom>
              <a:noFill/>
            </p:spPr>
            <p:txBody>
              <a:bodyPr wrap="none" lIns="0" tIns="0" rIns="0" bIns="0" rtlCol="0">
                <a:spAutoFit/>
              </a:bodyPr>
              <a:lstStyle/>
              <a:p>
                <a:pPr/>
                <a14:m>
                  <m:oMathPara xmlns:m="http://schemas.openxmlformats.org/officeDocument/2006/math">
                    <m:oMath>
                      <m:r>
                        <m:rPr>
                          <m:nor/>
                        </m:rPr>
                        <a:rPr lang="de-DE" sz="1400" i="0" dirty="0" smtClean="0">
                          <a:solidFill>
                            <a:srgbClr val="FF0000"/>
                          </a:solidFill>
                          <a:latin typeface="Arial" panose="020B0604020202020204" pitchFamily="34" charset="0"/>
                          <a:cs typeface="Arial" panose="020B0604020202020204" pitchFamily="34" charset="0"/>
                        </a:rPr>
                        <m:t>Switch cost</m:t>
                      </m:r>
                      <m:r>
                        <m:rPr>
                          <m:nor/>
                        </m:rPr>
                        <a:rPr lang="de-DE" sz="1400" b="0" i="0" dirty="0" smtClean="0">
                          <a:solidFill>
                            <a:srgbClr val="FF0000"/>
                          </a:solidFill>
                          <a:latin typeface="Arial" panose="020B0604020202020204" pitchFamily="34" charset="0"/>
                          <a:cs typeface="Arial" panose="020B0604020202020204" pitchFamily="34" charset="0"/>
                        </a:rPr>
                        <m:t> </m:t>
                      </m:r>
                      <m:sSub>
                        <m:sSubPr>
                          <m:ctrlPr>
                            <a:rPr lang="de-DE" sz="1400" i="1" smtClean="0">
                              <a:solidFill>
                                <a:srgbClr val="FF0000"/>
                              </a:solidFill>
                              <a:latin typeface="Cambria Math" panose="02040503050406030204" pitchFamily="18" charset="0"/>
                            </a:rPr>
                          </m:ctrlPr>
                        </m:sSubPr>
                        <m:e>
                          <m:r>
                            <a:rPr lang="de-DE" sz="1400" i="1" smtClean="0">
                              <a:solidFill>
                                <a:srgbClr val="FF0000"/>
                              </a:solidFill>
                              <a:latin typeface="Cambria Math" panose="02040503050406030204" pitchFamily="18" charset="0"/>
                            </a:rPr>
                            <m:t>𝜌</m:t>
                          </m:r>
                        </m:e>
                        <m:sub>
                          <m:r>
                            <a:rPr lang="de-DE" sz="1400" b="0" i="1" smtClean="0">
                              <a:solidFill>
                                <a:srgbClr val="FF0000"/>
                              </a:solidFill>
                              <a:latin typeface="Cambria Math" panose="02040503050406030204" pitchFamily="18" charset="0"/>
                            </a:rPr>
                            <m:t>𝜎</m:t>
                          </m:r>
                        </m:sub>
                      </m:sSub>
                      <m:d>
                        <m:dPr>
                          <m:ctrlPr>
                            <a:rPr lang="de-DE" sz="1400" i="1">
                              <a:solidFill>
                                <a:srgbClr val="FF0000"/>
                              </a:solidFill>
                              <a:latin typeface="Cambria Math" panose="02040503050406030204" pitchFamily="18" charset="0"/>
                            </a:rPr>
                          </m:ctrlPr>
                        </m:dPr>
                        <m:e>
                          <m:r>
                            <a:rPr lang="de-DE" sz="1400" i="1">
                              <a:solidFill>
                                <a:srgbClr val="FF0000"/>
                              </a:solidFill>
                              <a:latin typeface="Cambria Math" panose="02040503050406030204" pitchFamily="18" charset="0"/>
                            </a:rPr>
                            <m:t>𝑠</m:t>
                          </m:r>
                          <m:r>
                            <a:rPr lang="de-DE" sz="1400" i="1">
                              <a:solidFill>
                                <a:srgbClr val="FF0000"/>
                              </a:solidFill>
                              <a:latin typeface="Cambria Math" panose="02040503050406030204" pitchFamily="18" charset="0"/>
                            </a:rPr>
                            <m:t>,</m:t>
                          </m:r>
                          <m:r>
                            <a:rPr lang="de-DE" sz="1400" i="1">
                              <a:solidFill>
                                <a:srgbClr val="FF0000"/>
                              </a:solidFill>
                              <a:latin typeface="Cambria Math" panose="02040503050406030204" pitchFamily="18" charset="0"/>
                            </a:rPr>
                            <m:t>𝑎</m:t>
                          </m:r>
                        </m:e>
                      </m:d>
                      <m:r>
                        <a:rPr lang="de-DE" sz="1400" b="0" i="1" smtClean="0">
                          <a:solidFill>
                            <a:srgbClr val="FF0000"/>
                          </a:solidFill>
                          <a:latin typeface="Cambria Math" panose="02040503050406030204" pitchFamily="18" charset="0"/>
                        </a:rPr>
                        <m:t>≔−</m:t>
                      </m:r>
                      <m:r>
                        <a:rPr lang="de-DE" sz="1400" i="1">
                          <a:solidFill>
                            <a:srgbClr val="FF0000"/>
                          </a:solidFill>
                          <a:latin typeface="Cambria Math" panose="02040503050406030204" pitchFamily="18" charset="0"/>
                        </a:rPr>
                        <m:t>𝜎</m:t>
                      </m:r>
                      <m:r>
                        <a:rPr lang="de-DE" sz="1400" i="1">
                          <a:solidFill>
                            <a:srgbClr val="FF0000"/>
                          </a:solidFill>
                          <a:latin typeface="Cambria Math" panose="02040503050406030204" pitchFamily="18" charset="0"/>
                        </a:rPr>
                        <m:t>⋅</m:t>
                      </m:r>
                      <m:d>
                        <m:dPr>
                          <m:begChr m:val="⟦"/>
                          <m:endChr m:val="⟧"/>
                          <m:ctrlPr>
                            <a:rPr lang="de-DE" sz="1400" b="0" i="1" smtClean="0">
                              <a:solidFill>
                                <a:srgbClr val="FF0000"/>
                              </a:solidFill>
                              <a:latin typeface="Cambria Math" panose="02040503050406030204" pitchFamily="18" charset="0"/>
                            </a:rPr>
                          </m:ctrlPr>
                        </m:dPr>
                        <m:e>
                          <m:d>
                            <m:dPr>
                              <m:ctrlPr>
                                <a:rPr lang="de-DE" sz="1400" b="0" i="1" smtClean="0">
                                  <a:solidFill>
                                    <a:srgbClr val="FF0000"/>
                                  </a:solidFill>
                                  <a:latin typeface="Cambria Math" panose="02040503050406030204" pitchFamily="18" charset="0"/>
                                </a:rPr>
                              </m:ctrlPr>
                            </m:dPr>
                            <m:e>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𝑠</m:t>
                                  </m:r>
                                </m:e>
                                <m:sup>
                                  <m:r>
                                    <a:rPr lang="de-DE" sz="1400" b="0" i="1" smtClean="0">
                                      <a:solidFill>
                                        <a:srgbClr val="FF0000"/>
                                      </a:solidFill>
                                      <a:latin typeface="Cambria Math" panose="02040503050406030204" pitchFamily="18" charset="0"/>
                                    </a:rPr>
                                    <m:t>3</m:t>
                                  </m:r>
                                </m:sup>
                              </m:sSup>
                              <m:r>
                                <a:rPr lang="de-DE" sz="1400" b="0" i="1" smtClean="0">
                                  <a:solidFill>
                                    <a:srgbClr val="FF0000"/>
                                  </a:solidFill>
                                  <a:latin typeface="Cambria Math" panose="02040503050406030204" pitchFamily="18" charset="0"/>
                                </a:rPr>
                                <m:t>=1∧</m:t>
                              </m:r>
                              <m:r>
                                <a:rPr lang="de-DE" sz="1400" b="0" i="1" smtClean="0">
                                  <a:solidFill>
                                    <a:srgbClr val="FF0000"/>
                                  </a:solidFill>
                                  <a:latin typeface="Cambria Math" panose="02040503050406030204" pitchFamily="18" charset="0"/>
                                </a:rPr>
                                <m:t>𝑎</m:t>
                              </m:r>
                              <m:r>
                                <a:rPr lang="de-DE" sz="1400" b="0" i="1" smtClean="0">
                                  <a:solidFill>
                                    <a:srgbClr val="FF0000"/>
                                  </a:solidFill>
                                  <a:latin typeface="Cambria Math" panose="02040503050406030204" pitchFamily="18" charset="0"/>
                                </a:rPr>
                                <m:t>∈</m:t>
                              </m:r>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𝐴</m:t>
                                  </m:r>
                                </m:e>
                                <m:sup>
                                  <m:r>
                                    <a:rPr lang="de-DE" sz="1400" b="0" i="1" smtClean="0">
                                      <a:solidFill>
                                        <a:srgbClr val="FF0000"/>
                                      </a:solidFill>
                                      <a:latin typeface="Cambria Math" panose="02040503050406030204" pitchFamily="18" charset="0"/>
                                    </a:rPr>
                                    <m:t>2</m:t>
                                  </m:r>
                                </m:sup>
                              </m:sSup>
                            </m:e>
                          </m:d>
                          <m:r>
                            <a:rPr lang="de-DE" sz="1400" b="0" i="1" smtClean="0">
                              <a:solidFill>
                                <a:srgbClr val="FF0000"/>
                              </a:solidFill>
                              <a:latin typeface="Cambria Math" panose="02040503050406030204" pitchFamily="18" charset="0"/>
                            </a:rPr>
                            <m:t>∨</m:t>
                          </m:r>
                          <m:d>
                            <m:dPr>
                              <m:ctrlPr>
                                <a:rPr lang="de-DE" sz="1400" b="0" i="1" smtClean="0">
                                  <a:solidFill>
                                    <a:srgbClr val="FF0000"/>
                                  </a:solidFill>
                                  <a:latin typeface="Cambria Math" panose="02040503050406030204" pitchFamily="18" charset="0"/>
                                </a:rPr>
                              </m:ctrlPr>
                            </m:dPr>
                            <m:e>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𝑠</m:t>
                                  </m:r>
                                </m:e>
                                <m:sup>
                                  <m:r>
                                    <a:rPr lang="de-DE" sz="1400" b="0" i="1" smtClean="0">
                                      <a:solidFill>
                                        <a:srgbClr val="FF0000"/>
                                      </a:solidFill>
                                      <a:latin typeface="Cambria Math" panose="02040503050406030204" pitchFamily="18" charset="0"/>
                                    </a:rPr>
                                    <m:t>3</m:t>
                                  </m:r>
                                </m:sup>
                              </m:sSup>
                              <m:r>
                                <a:rPr lang="de-DE" sz="1400" b="0" i="1" smtClean="0">
                                  <a:solidFill>
                                    <a:srgbClr val="FF0000"/>
                                  </a:solidFill>
                                  <a:latin typeface="Cambria Math" panose="02040503050406030204" pitchFamily="18" charset="0"/>
                                </a:rPr>
                                <m:t>=2∧</m:t>
                              </m:r>
                              <m:sSup>
                                <m:sSupPr>
                                  <m:ctrlPr>
                                    <a:rPr lang="de-DE" sz="1400" b="0" i="1" smtClean="0">
                                      <a:solidFill>
                                        <a:srgbClr val="FF0000"/>
                                      </a:solidFill>
                                      <a:latin typeface="Cambria Math" panose="02040503050406030204" pitchFamily="18" charset="0"/>
                                    </a:rPr>
                                  </m:ctrlPr>
                                </m:sSupPr>
                                <m:e>
                                  <m:r>
                                    <a:rPr lang="de-DE" sz="1400" b="0" i="1" smtClean="0">
                                      <a:solidFill>
                                        <a:srgbClr val="FF0000"/>
                                      </a:solidFill>
                                      <a:latin typeface="Cambria Math" panose="02040503050406030204" pitchFamily="18" charset="0"/>
                                    </a:rPr>
                                    <m:t>𝐴</m:t>
                                  </m:r>
                                </m:e>
                                <m:sup>
                                  <m:r>
                                    <a:rPr lang="de-DE" sz="1400" b="0" i="1" smtClean="0">
                                      <a:solidFill>
                                        <a:srgbClr val="FF0000"/>
                                      </a:solidFill>
                                      <a:latin typeface="Cambria Math" panose="02040503050406030204" pitchFamily="18" charset="0"/>
                                    </a:rPr>
                                    <m:t>1</m:t>
                                  </m:r>
                                </m:sup>
                              </m:sSup>
                            </m:e>
                          </m:d>
                          <m:r>
                            <a:rPr lang="de-DE" sz="1400" b="0" i="1" smtClean="0">
                              <a:solidFill>
                                <a:srgbClr val="FF0000"/>
                              </a:solidFill>
                              <a:latin typeface="Cambria Math" panose="02040503050406030204" pitchFamily="18" charset="0"/>
                            </a:rPr>
                            <m:t> </m:t>
                          </m:r>
                        </m:e>
                      </m:d>
                    </m:oMath>
                  </m:oMathPara>
                </a14:m>
                <a:endParaRPr lang="de-DE" sz="1400" dirty="0">
                  <a:latin typeface="Arial" panose="020B0604020202020204" pitchFamily="34" charset="0"/>
                  <a:cs typeface="Arial" panose="020B0604020202020204" pitchFamily="34" charset="0"/>
                </a:endParaRPr>
              </a:p>
            </p:txBody>
          </p:sp>
        </mc:Choice>
        <mc:Fallback xmlns="">
          <p:sp>
            <p:nvSpPr>
              <p:cNvPr id="11" name="Textfeld 10">
                <a:extLst>
                  <a:ext uri="{FF2B5EF4-FFF2-40B4-BE49-F238E27FC236}">
                    <a16:creationId xmlns:a16="http://schemas.microsoft.com/office/drawing/2014/main" id="{F3208D30-2E26-5514-C31B-6F39AD82E9D9}"/>
                  </a:ext>
                </a:extLst>
              </p:cNvPr>
              <p:cNvSpPr txBox="1">
                <a:spLocks noRot="1" noChangeAspect="1" noMove="1" noResize="1" noEditPoints="1" noAdjustHandles="1" noChangeArrowheads="1" noChangeShapeType="1" noTextEdit="1"/>
              </p:cNvSpPr>
              <p:nvPr/>
            </p:nvSpPr>
            <p:spPr>
              <a:xfrm>
                <a:off x="2062563" y="2247686"/>
                <a:ext cx="5018873" cy="215444"/>
              </a:xfrm>
              <a:prstGeom prst="rect">
                <a:avLst/>
              </a:prstGeom>
              <a:blipFill>
                <a:blip r:embed="rId4"/>
                <a:stretch>
                  <a:fillRect l="-364" b="-2571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2B21CF57-8C54-64AA-0038-DD3122022BB6}"/>
                  </a:ext>
                </a:extLst>
              </p:cNvPr>
              <p:cNvSpPr txBox="1"/>
              <p:nvPr/>
            </p:nvSpPr>
            <p:spPr>
              <a:xfrm>
                <a:off x="731648" y="2631616"/>
                <a:ext cx="3018199" cy="307777"/>
              </a:xfrm>
              <a:prstGeom prst="rect">
                <a:avLst/>
              </a:prstGeom>
              <a:noFill/>
            </p:spPr>
            <p:txBody>
              <a:bodyPr wrap="none" rtlCol="0">
                <a:spAutoFit/>
              </a:bodyPr>
              <a:lstStyle/>
              <a:p>
                <a:r>
                  <a:rPr lang="de-DE" sz="1400" dirty="0">
                    <a:latin typeface="Arial" panose="020B0604020202020204" pitchFamily="34" charset="0"/>
                    <a:cs typeface="Arial" panose="020B0604020202020204" pitchFamily="34" charset="0"/>
                  </a:rPr>
                  <a:t>Backward </a:t>
                </a:r>
                <a:r>
                  <a:rPr lang="de-DE" sz="1400" dirty="0" err="1">
                    <a:latin typeface="Arial" panose="020B0604020202020204" pitchFamily="34" charset="0"/>
                    <a:cs typeface="Arial" panose="020B0604020202020204" pitchFamily="34" charset="0"/>
                  </a:rPr>
                  <a:t>induction</a:t>
                </a:r>
                <a:r>
                  <a:rPr lang="de-DE" sz="1400" dirty="0">
                    <a:latin typeface="Arial" panose="020B0604020202020204" pitchFamily="34" charset="0"/>
                    <a:cs typeface="Arial" panose="020B0604020202020204" pitchFamily="34" charset="0"/>
                  </a:rPr>
                  <a:t> </a:t>
                </a:r>
                <a14:m>
                  <m:oMath xmlns:m="http://schemas.openxmlformats.org/officeDocument/2006/math">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𝛾</m:t>
                    </m:r>
                    <m:r>
                      <a:rPr lang="de-DE" sz="1400" b="0" i="1" smtClean="0">
                        <a:latin typeface="Cambria Math" panose="02040503050406030204" pitchFamily="18" charset="0"/>
                        <a:cs typeface="Arial" panose="020B0604020202020204" pitchFamily="34" charset="0"/>
                      </a:rPr>
                      <m:t>≔1, </m:t>
                    </m:r>
                    <m:sSubSup>
                      <m:sSubSupPr>
                        <m:ctrlPr>
                          <a:rPr lang="de-DE" sz="1400" b="0" i="1" smtClean="0">
                            <a:latin typeface="Cambria Math" panose="02040503050406030204" pitchFamily="18" charset="0"/>
                            <a:cs typeface="Arial" panose="020B0604020202020204" pitchFamily="34" charset="0"/>
                          </a:rPr>
                        </m:ctrlPr>
                      </m:sSubSupPr>
                      <m:e>
                        <m:r>
                          <a:rPr lang="de-DE" sz="1400" b="0" i="1" smtClean="0">
                            <a:latin typeface="Cambria Math" panose="02040503050406030204" pitchFamily="18" charset="0"/>
                            <a:cs typeface="Arial" panose="020B0604020202020204" pitchFamily="34" charset="0"/>
                          </a:rPr>
                          <m:t>𝑣</m:t>
                        </m:r>
                      </m:e>
                      <m:sub>
                        <m:r>
                          <a:rPr lang="de-DE" sz="1400" b="0" i="1" smtClean="0">
                            <a:latin typeface="Cambria Math" panose="02040503050406030204" pitchFamily="18" charset="0"/>
                            <a:cs typeface="Arial" panose="020B0604020202020204" pitchFamily="34" charset="0"/>
                          </a:rPr>
                          <m:t>𝑛</m:t>
                        </m:r>
                      </m:sub>
                      <m:sup>
                        <m:r>
                          <a:rPr lang="de-DE" sz="1400" b="0" i="1" smtClean="0">
                            <a:latin typeface="Cambria Math" panose="02040503050406030204" pitchFamily="18" charset="0"/>
                            <a:cs typeface="Arial" panose="020B0604020202020204" pitchFamily="34" charset="0"/>
                          </a:rPr>
                          <m:t>∗</m:t>
                        </m:r>
                      </m:sup>
                    </m:sSubSup>
                    <m:r>
                      <a:rPr lang="de-DE" sz="1400" b="0" i="1" smtClean="0">
                        <a:latin typeface="Cambria Math" panose="02040503050406030204" pitchFamily="18" charset="0"/>
                        <a:cs typeface="Arial" panose="020B0604020202020204" pitchFamily="34" charset="0"/>
                      </a:rPr>
                      <m:t>≔0)</m:t>
                    </m:r>
                  </m:oMath>
                </a14:m>
                <a:endParaRPr lang="de-DE" sz="1400" dirty="0">
                  <a:latin typeface="Arial" panose="020B0604020202020204" pitchFamily="34" charset="0"/>
                  <a:cs typeface="Arial" panose="020B0604020202020204" pitchFamily="34" charset="0"/>
                </a:endParaRPr>
              </a:p>
            </p:txBody>
          </p:sp>
        </mc:Choice>
        <mc:Fallback xmlns="">
          <p:sp>
            <p:nvSpPr>
              <p:cNvPr id="13" name="Textfeld 12">
                <a:extLst>
                  <a:ext uri="{FF2B5EF4-FFF2-40B4-BE49-F238E27FC236}">
                    <a16:creationId xmlns:a16="http://schemas.microsoft.com/office/drawing/2014/main" id="{2B21CF57-8C54-64AA-0038-DD3122022BB6}"/>
                  </a:ext>
                </a:extLst>
              </p:cNvPr>
              <p:cNvSpPr txBox="1">
                <a:spLocks noRot="1" noChangeAspect="1" noMove="1" noResize="1" noEditPoints="1" noAdjustHandles="1" noChangeArrowheads="1" noChangeShapeType="1" noTextEdit="1"/>
              </p:cNvSpPr>
              <p:nvPr/>
            </p:nvSpPr>
            <p:spPr>
              <a:xfrm>
                <a:off x="731648" y="2631616"/>
                <a:ext cx="3018199" cy="307777"/>
              </a:xfrm>
              <a:prstGeom prst="rect">
                <a:avLst/>
              </a:prstGeom>
              <a:blipFill>
                <a:blip r:embed="rId5"/>
                <a:stretch>
                  <a:fillRect l="-606" t="-4000" b="-2000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75AF0117-CD2F-B9E1-957B-9C9A9F6B28C5}"/>
                  </a:ext>
                </a:extLst>
              </p:cNvPr>
              <p:cNvSpPr txBox="1"/>
              <p:nvPr/>
            </p:nvSpPr>
            <p:spPr>
              <a:xfrm>
                <a:off x="1037466" y="3414184"/>
                <a:ext cx="3819900" cy="294568"/>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r>
                      <a:rPr lang="de-DE" sz="1200" b="0" i="1" smtClean="0">
                        <a:latin typeface="Cambria Math" panose="02040503050406030204" pitchFamily="18" charset="0"/>
                      </a:rPr>
                      <m:t>𝜌</m:t>
                    </m:r>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r>
                      <a:rPr lang="de-DE" sz="1200" b="0" i="1" smtClean="0">
                        <a:latin typeface="Cambria Math" panose="02040503050406030204" pitchFamily="18" charset="0"/>
                      </a:rPr>
                      <m:t>𝛾</m:t>
                    </m:r>
                    <m:nary>
                      <m:naryPr>
                        <m:chr m:val="∑"/>
                        <m:supHide m:val="on"/>
                        <m:ctrlPr>
                          <a:rPr lang="de-DE" sz="1200" b="0" i="1" smtClean="0">
                            <a:latin typeface="Cambria Math" panose="02040503050406030204" pitchFamily="18" charset="0"/>
                          </a:rPr>
                        </m:ctrlPr>
                      </m:naryPr>
                      <m:sub>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sub>
                      <m:sup/>
                      <m:e>
                        <m:r>
                          <a:rPr lang="de-DE" sz="1200" b="0" i="1" smtClean="0">
                            <a:latin typeface="Cambria Math" panose="02040503050406030204" pitchFamily="18" charset="0"/>
                          </a:rPr>
                          <m:t>𝑝</m:t>
                        </m:r>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e>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 </m:t>
                            </m:r>
                          </m:e>
                        </m:d>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𝑣</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r>
                                  <a:rPr lang="de-DE" sz="1200" b="0" i="1" smtClean="0">
                                    <a:latin typeface="Cambria Math" panose="02040503050406030204" pitchFamily="18" charset="0"/>
                                  </a:rPr>
                                  <m:t>+1</m:t>
                                </m:r>
                              </m:sub>
                            </m:sSub>
                          </m:e>
                        </m:d>
                        <m:r>
                          <a:rPr lang="de-DE" sz="1200" b="0" i="1" smtClean="0">
                            <a:latin typeface="Cambria Math" panose="02040503050406030204" pitchFamily="18" charset="0"/>
                          </a:rPr>
                          <m:t> </m:t>
                        </m:r>
                      </m:e>
                    </m:nary>
                  </m:oMath>
                </a14:m>
                <a:r>
                  <a:rPr lang="de-DE" sz="1200" dirty="0">
                    <a:latin typeface="Arial" panose="020B0604020202020204" pitchFamily="34" charset="0"/>
                    <a:cs typeface="Arial" panose="020B0604020202020204" pitchFamily="34" charset="0"/>
                  </a:rPr>
                  <a:t> </a:t>
                </a:r>
              </a:p>
            </p:txBody>
          </p:sp>
        </mc:Choice>
        <mc:Fallback xmlns="">
          <p:sp>
            <p:nvSpPr>
              <p:cNvPr id="15" name="Textfeld 14">
                <a:extLst>
                  <a:ext uri="{FF2B5EF4-FFF2-40B4-BE49-F238E27FC236}">
                    <a16:creationId xmlns:a16="http://schemas.microsoft.com/office/drawing/2014/main" id="{75AF0117-CD2F-B9E1-957B-9C9A9F6B28C5}"/>
                  </a:ext>
                </a:extLst>
              </p:cNvPr>
              <p:cNvSpPr txBox="1">
                <a:spLocks noRot="1" noChangeAspect="1" noMove="1" noResize="1" noEditPoints="1" noAdjustHandles="1" noChangeArrowheads="1" noChangeShapeType="1" noTextEdit="1"/>
              </p:cNvSpPr>
              <p:nvPr/>
            </p:nvSpPr>
            <p:spPr>
              <a:xfrm>
                <a:off x="1037466" y="3414184"/>
                <a:ext cx="3819900" cy="294568"/>
              </a:xfrm>
              <a:prstGeom prst="rect">
                <a:avLst/>
              </a:prstGeom>
              <a:blipFill>
                <a:blip r:embed="rId6"/>
                <a:stretch>
                  <a:fillRect t="-91667" b="-1458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FD0D6BB-3F73-4D89-D839-52461DE63B23}"/>
                  </a:ext>
                </a:extLst>
              </p:cNvPr>
              <p:cNvSpPr txBox="1"/>
              <p:nvPr/>
            </p:nvSpPr>
            <p:spPr>
              <a:xfrm>
                <a:off x="814776" y="3046049"/>
                <a:ext cx="1553971" cy="276999"/>
              </a:xfrm>
              <a:prstGeom prst="rect">
                <a:avLst/>
              </a:prstGeom>
              <a:noFill/>
            </p:spPr>
            <p:txBody>
              <a:bodyPr wrap="square">
                <a:spAutoFit/>
              </a:bodyPr>
              <a:lstStyle/>
              <a:p>
                <a:r>
                  <a:rPr lang="de-DE" sz="1200" b="0" dirty="0"/>
                  <a:t>For </a:t>
                </a:r>
                <a14:m>
                  <m:oMath xmlns:m="http://schemas.openxmlformats.org/officeDocument/2006/math">
                    <m:r>
                      <a:rPr lang="de-DE" sz="1200" b="0" i="1" smtClean="0">
                        <a:latin typeface="Cambria Math" panose="02040503050406030204" pitchFamily="18" charset="0"/>
                      </a:rPr>
                      <m:t>𝑡</m:t>
                    </m:r>
                    <m:r>
                      <a:rPr lang="de-DE" sz="1200" b="0" i="1" smtClean="0">
                        <a:latin typeface="Cambria Math" panose="02040503050406030204" pitchFamily="18" charset="0"/>
                      </a:rPr>
                      <m:t>=</m:t>
                    </m:r>
                    <m:r>
                      <a:rPr lang="de-DE" sz="1200" b="0" i="1" smtClean="0">
                        <a:latin typeface="Cambria Math" panose="02040503050406030204" pitchFamily="18" charset="0"/>
                      </a:rPr>
                      <m:t>𝑛</m:t>
                    </m:r>
                    <m:r>
                      <a:rPr lang="de-DE" sz="1200" b="0" i="1" smtClean="0">
                        <a:latin typeface="Cambria Math" panose="02040503050406030204" pitchFamily="18" charset="0"/>
                      </a:rPr>
                      <m:t>−1,…,0</m:t>
                    </m:r>
                  </m:oMath>
                </a14:m>
                <a:endParaRPr lang="de-DE" sz="1200" dirty="0"/>
              </a:p>
            </p:txBody>
          </p:sp>
        </mc:Choice>
        <mc:Fallback xmlns="">
          <p:sp>
            <p:nvSpPr>
              <p:cNvPr id="17" name="Textfeld 16">
                <a:extLst>
                  <a:ext uri="{FF2B5EF4-FFF2-40B4-BE49-F238E27FC236}">
                    <a16:creationId xmlns:a16="http://schemas.microsoft.com/office/drawing/2014/main" id="{DFD0D6BB-3F73-4D89-D839-52461DE63B23}"/>
                  </a:ext>
                </a:extLst>
              </p:cNvPr>
              <p:cNvSpPr txBox="1">
                <a:spLocks noRot="1" noChangeAspect="1" noMove="1" noResize="1" noEditPoints="1" noAdjustHandles="1" noChangeArrowheads="1" noChangeShapeType="1" noTextEdit="1"/>
              </p:cNvSpPr>
              <p:nvPr/>
            </p:nvSpPr>
            <p:spPr>
              <a:xfrm>
                <a:off x="814776" y="3046049"/>
                <a:ext cx="1553971" cy="276999"/>
              </a:xfrm>
              <a:prstGeom prst="rect">
                <a:avLst/>
              </a:prstGeom>
              <a:blipFill>
                <a:blip r:embed="rId7"/>
                <a:stretch>
                  <a:fillRect l="-392" t="-2222" b="-17778"/>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9" name="Textfeld 18">
                <a:extLst>
                  <a:ext uri="{FF2B5EF4-FFF2-40B4-BE49-F238E27FC236}">
                    <a16:creationId xmlns:a16="http://schemas.microsoft.com/office/drawing/2014/main" id="{5A8B7F76-A224-FF6F-8519-DAB4B8D79779}"/>
                  </a:ext>
                </a:extLst>
              </p:cNvPr>
              <p:cNvSpPr txBox="1"/>
              <p:nvPr/>
            </p:nvSpPr>
            <p:spPr>
              <a:xfrm>
                <a:off x="1037466" y="4157422"/>
                <a:ext cx="2519332" cy="389209"/>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𝑑</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func>
                      <m:funcPr>
                        <m:ctrlPr>
                          <a:rPr lang="de-DE" sz="1200" b="0" i="1" smtClean="0">
                            <a:latin typeface="Cambria Math" panose="02040503050406030204" pitchFamily="18" charset="0"/>
                          </a:rPr>
                        </m:ctrlPr>
                      </m:funcPr>
                      <m:fName>
                        <m:limLow>
                          <m:limLowPr>
                            <m:ctrlPr>
                              <a:rPr lang="de-DE" sz="1200" b="0" i="0" smtClean="0">
                                <a:latin typeface="Cambria Math" panose="02040503050406030204" pitchFamily="18" charset="0"/>
                              </a:rPr>
                            </m:ctrlPr>
                          </m:limLowPr>
                          <m:e>
                            <m:r>
                              <m:rPr>
                                <m:sty m:val="p"/>
                              </m:rPr>
                              <a:rPr lang="de-DE" sz="1200" b="0" i="0" smtClean="0">
                                <a:latin typeface="Cambria Math" panose="02040503050406030204" pitchFamily="18" charset="0"/>
                              </a:rPr>
                              <m:t>argmax</m:t>
                            </m:r>
                          </m:e>
                          <m:li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r>
                              <a:rPr lang="de-DE" sz="1200" b="0" i="1" smtClean="0">
                                <a:latin typeface="Cambria Math" panose="02040503050406030204" pitchFamily="18" charset="0"/>
                              </a:rPr>
                              <m:t>𝐴</m:t>
                            </m:r>
                          </m:lim>
                        </m:limLow>
                      </m:fName>
                      <m:e>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e>
                    </m:func>
                  </m:oMath>
                </a14:m>
                <a:r>
                  <a:rPr lang="de-DE" sz="1200" dirty="0">
                    <a:latin typeface="Arial" panose="020B0604020202020204" pitchFamily="34" charset="0"/>
                    <a:cs typeface="Arial" panose="020B0604020202020204" pitchFamily="34" charset="0"/>
                  </a:rPr>
                  <a:t>   </a:t>
                </a:r>
              </a:p>
            </p:txBody>
          </p:sp>
        </mc:Choice>
        <mc:Fallback xmlns="">
          <p:sp>
            <p:nvSpPr>
              <p:cNvPr id="19" name="Textfeld 18">
                <a:extLst>
                  <a:ext uri="{FF2B5EF4-FFF2-40B4-BE49-F238E27FC236}">
                    <a16:creationId xmlns:a16="http://schemas.microsoft.com/office/drawing/2014/main" id="{5A8B7F76-A224-FF6F-8519-DAB4B8D79779}"/>
                  </a:ext>
                </a:extLst>
              </p:cNvPr>
              <p:cNvSpPr txBox="1">
                <a:spLocks noRot="1" noChangeAspect="1" noMove="1" noResize="1" noEditPoints="1" noAdjustHandles="1" noChangeArrowheads="1" noChangeShapeType="1" noTextEdit="1"/>
              </p:cNvSpPr>
              <p:nvPr/>
            </p:nvSpPr>
            <p:spPr>
              <a:xfrm>
                <a:off x="1037466" y="4157422"/>
                <a:ext cx="2519332" cy="389209"/>
              </a:xfrm>
              <a:prstGeom prst="rect">
                <a:avLst/>
              </a:prstGeom>
              <a:blipFill>
                <a:blip r:embed="rId8"/>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1" name="Textfeld 20">
                <a:extLst>
                  <a:ext uri="{FF2B5EF4-FFF2-40B4-BE49-F238E27FC236}">
                    <a16:creationId xmlns:a16="http://schemas.microsoft.com/office/drawing/2014/main" id="{EB6F9B29-5D93-0CE1-79F7-903D3D17AE9C}"/>
                  </a:ext>
                </a:extLst>
              </p:cNvPr>
              <p:cNvSpPr txBox="1"/>
              <p:nvPr/>
            </p:nvSpPr>
            <p:spPr>
              <a:xfrm>
                <a:off x="1037466" y="3799888"/>
                <a:ext cx="2519332" cy="356829"/>
              </a:xfrm>
              <a:prstGeom prst="rect">
                <a:avLst/>
              </a:prstGeom>
              <a:noFill/>
            </p:spPr>
            <p:txBody>
              <a:bodyPr wrap="square" rtlCol="0">
                <a:spAutoFit/>
              </a:bodyPr>
              <a:lstStyle/>
              <a:p>
                <a14:m>
                  <m:oMath xmlns:m="http://schemas.openxmlformats.org/officeDocument/2006/math">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𝑣</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e>
                    </m:d>
                    <m:r>
                      <a:rPr lang="de-DE" sz="1200" b="0" i="1" smtClean="0">
                        <a:latin typeface="Cambria Math" panose="02040503050406030204" pitchFamily="18" charset="0"/>
                      </a:rPr>
                      <m:t>=</m:t>
                    </m:r>
                    <m:func>
                      <m:funcPr>
                        <m:ctrlPr>
                          <a:rPr lang="de-DE" sz="1200" b="0" i="1" smtClean="0">
                            <a:latin typeface="Cambria Math" panose="02040503050406030204" pitchFamily="18" charset="0"/>
                          </a:rPr>
                        </m:ctrlPr>
                      </m:funcPr>
                      <m:fName>
                        <m:limLow>
                          <m:limLowPr>
                            <m:ctrlPr>
                              <a:rPr lang="de-DE" sz="1200" b="0" i="0" smtClean="0">
                                <a:latin typeface="Cambria Math" panose="02040503050406030204" pitchFamily="18" charset="0"/>
                              </a:rPr>
                            </m:ctrlPr>
                          </m:limLowPr>
                          <m:e>
                            <m:r>
                              <m:rPr>
                                <m:sty m:val="p"/>
                              </m:rPr>
                              <a:rPr lang="de-DE" sz="1200" b="0" i="0" smtClean="0">
                                <a:latin typeface="Cambria Math" panose="02040503050406030204" pitchFamily="18" charset="0"/>
                              </a:rPr>
                              <m:t>max</m:t>
                            </m:r>
                          </m:e>
                          <m:lim>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r>
                              <a:rPr lang="de-DE" sz="1200" b="0" i="1" smtClean="0">
                                <a:latin typeface="Cambria Math" panose="02040503050406030204" pitchFamily="18" charset="0"/>
                              </a:rPr>
                              <m:t>𝐴</m:t>
                            </m:r>
                          </m:lim>
                        </m:limLow>
                      </m:fName>
                      <m:e>
                        <m:sSubSup>
                          <m:sSubSupPr>
                            <m:ctrlPr>
                              <a:rPr lang="de-DE" sz="1200" b="0" i="1" smtClean="0">
                                <a:latin typeface="Cambria Math" panose="02040503050406030204" pitchFamily="18" charset="0"/>
                              </a:rPr>
                            </m:ctrlPr>
                          </m:sSubSupPr>
                          <m:e>
                            <m:r>
                              <a:rPr lang="de-DE" sz="1200" b="0" i="1" smtClean="0">
                                <a:latin typeface="Cambria Math" panose="02040503050406030204" pitchFamily="18" charset="0"/>
                              </a:rPr>
                              <m:t>𝑞</m:t>
                            </m:r>
                          </m:e>
                          <m:sub>
                            <m:r>
                              <a:rPr lang="de-DE" sz="1200" b="0" i="1" smtClean="0">
                                <a:latin typeface="Cambria Math" panose="02040503050406030204" pitchFamily="18" charset="0"/>
                              </a:rPr>
                              <m:t>𝑡</m:t>
                            </m:r>
                          </m:sub>
                          <m:sup>
                            <m:r>
                              <a:rPr lang="de-DE" sz="1200" b="0" i="1" smtClean="0">
                                <a:latin typeface="Cambria Math" panose="02040503050406030204" pitchFamily="18" charset="0"/>
                              </a:rPr>
                              <m:t>∗</m:t>
                            </m:r>
                          </m:sup>
                        </m:sSubSup>
                        <m:d>
                          <m:dPr>
                            <m:ctrlPr>
                              <a:rPr lang="de-DE" sz="1200" b="0" i="1" smtClean="0">
                                <a:latin typeface="Cambria Math" panose="02040503050406030204" pitchFamily="18" charset="0"/>
                              </a:rPr>
                            </m:ctrlPr>
                          </m:dPr>
                          <m:e>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𝑠</m:t>
                                </m:r>
                              </m:e>
                              <m:sub>
                                <m:r>
                                  <a:rPr lang="de-DE" sz="1200" b="0" i="1" smtClean="0">
                                    <a:latin typeface="Cambria Math" panose="02040503050406030204" pitchFamily="18" charset="0"/>
                                  </a:rPr>
                                  <m:t>𝑡</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𝑎</m:t>
                                </m:r>
                              </m:e>
                              <m:sub>
                                <m:r>
                                  <a:rPr lang="de-DE" sz="1200" b="0" i="1" smtClean="0">
                                    <a:latin typeface="Cambria Math" panose="02040503050406030204" pitchFamily="18" charset="0"/>
                                  </a:rPr>
                                  <m:t>𝑡</m:t>
                                </m:r>
                              </m:sub>
                            </m:sSub>
                          </m:e>
                        </m:d>
                      </m:e>
                    </m:func>
                  </m:oMath>
                </a14:m>
                <a:r>
                  <a:rPr lang="de-DE" sz="1200" dirty="0">
                    <a:latin typeface="Arial" panose="020B0604020202020204" pitchFamily="34" charset="0"/>
                    <a:cs typeface="Arial" panose="020B0604020202020204" pitchFamily="34" charset="0"/>
                  </a:rPr>
                  <a:t>   </a:t>
                </a:r>
              </a:p>
            </p:txBody>
          </p:sp>
        </mc:Choice>
        <mc:Fallback xmlns="">
          <p:sp>
            <p:nvSpPr>
              <p:cNvPr id="21" name="Textfeld 20">
                <a:extLst>
                  <a:ext uri="{FF2B5EF4-FFF2-40B4-BE49-F238E27FC236}">
                    <a16:creationId xmlns:a16="http://schemas.microsoft.com/office/drawing/2014/main" id="{EB6F9B29-5D93-0CE1-79F7-903D3D17AE9C}"/>
                  </a:ext>
                </a:extLst>
              </p:cNvPr>
              <p:cNvSpPr txBox="1">
                <a:spLocks noRot="1" noChangeAspect="1" noMove="1" noResize="1" noEditPoints="1" noAdjustHandles="1" noChangeArrowheads="1" noChangeShapeType="1" noTextEdit="1"/>
              </p:cNvSpPr>
              <p:nvPr/>
            </p:nvSpPr>
            <p:spPr>
              <a:xfrm>
                <a:off x="1037466" y="3799888"/>
                <a:ext cx="2519332" cy="356829"/>
              </a:xfrm>
              <a:prstGeom prst="rect">
                <a:avLst/>
              </a:prstGeom>
              <a:blipFill>
                <a:blip r:embed="rId9"/>
                <a:stretch>
                  <a:fillRect/>
                </a:stretch>
              </a:blipFill>
            </p:spPr>
            <p:txBody>
              <a:bodyPr/>
              <a:lstStyle/>
              <a:p>
                <a:r>
                  <a:rPr lang="de-DE">
                    <a:noFill/>
                  </a:rPr>
                  <a:t> </a:t>
                </a:r>
              </a:p>
            </p:txBody>
          </p:sp>
        </mc:Fallback>
      </mc:AlternateContent>
      <p:pic>
        <p:nvPicPr>
          <p:cNvPr id="25" name="Grafik 24">
            <a:extLst>
              <a:ext uri="{FF2B5EF4-FFF2-40B4-BE49-F238E27FC236}">
                <a16:creationId xmlns:a16="http://schemas.microsoft.com/office/drawing/2014/main" id="{5220168F-7A5E-8770-81E9-A3478252CFC3}"/>
              </a:ext>
            </a:extLst>
          </p:cNvPr>
          <p:cNvPicPr>
            <a:picLocks noChangeAspect="1"/>
          </p:cNvPicPr>
          <p:nvPr/>
        </p:nvPicPr>
        <p:blipFill>
          <a:blip r:embed="rId10"/>
          <a:stretch>
            <a:fillRect/>
          </a:stretch>
        </p:blipFill>
        <p:spPr>
          <a:xfrm>
            <a:off x="5012635" y="3157848"/>
            <a:ext cx="3525240" cy="1284080"/>
          </a:xfrm>
          <a:prstGeom prst="rect">
            <a:avLst/>
          </a:prstGeom>
          <a:ln>
            <a:solidFill>
              <a:schemeClr val="bg1">
                <a:lumMod val="65000"/>
              </a:schemeClr>
            </a:solidFill>
          </a:ln>
        </p:spPr>
      </p:pic>
    </p:spTree>
    <p:extLst>
      <p:ext uri="{BB962C8B-B14F-4D97-AF65-F5344CB8AC3E}">
        <p14:creationId xmlns:p14="http://schemas.microsoft.com/office/powerpoint/2010/main" val="265660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579AB-CE1A-D2A2-C405-EBC24E8169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CC2AB0E-713F-607F-13F1-A79532E352D6}"/>
              </a:ext>
            </a:extLst>
          </p:cNvPr>
          <p:cNvSpPr>
            <a:spLocks noGrp="1"/>
          </p:cNvSpPr>
          <p:nvPr>
            <p:ph type="title"/>
          </p:nvPr>
        </p:nvSpPr>
        <p:spPr/>
        <p:txBody>
          <a:bodyPr>
            <a:normAutofit/>
          </a:bodyPr>
          <a:lstStyle/>
          <a:p>
            <a:r>
              <a:rPr lang="de-DE" sz="2200" b="0" dirty="0" err="1"/>
              <a:t>Sequential</a:t>
            </a:r>
            <a:r>
              <a:rPr lang="de-DE" sz="2200" b="0" dirty="0"/>
              <a:t> </a:t>
            </a:r>
            <a:r>
              <a:rPr lang="de-DE" sz="2200" b="0" dirty="0" err="1"/>
              <a:t>conditional</a:t>
            </a:r>
            <a:r>
              <a:rPr lang="de-DE" sz="2200" b="0" dirty="0"/>
              <a:t> log </a:t>
            </a:r>
            <a:r>
              <a:rPr lang="de-DE" sz="2200" b="0" dirty="0" err="1"/>
              <a:t>likelihood</a:t>
            </a:r>
            <a:r>
              <a:rPr lang="de-DE" sz="2200" b="0" dirty="0"/>
              <a:t> </a:t>
            </a:r>
            <a:r>
              <a:rPr lang="de-DE" sz="2200" b="0" dirty="0" err="1"/>
              <a:t>maximization</a:t>
            </a:r>
            <a:endParaRPr lang="de-DE" sz="2200" b="0" dirty="0"/>
          </a:p>
        </p:txBody>
      </p:sp>
      <p:sp>
        <p:nvSpPr>
          <p:cNvPr id="4" name="Foliennummernplatzhalter 3">
            <a:extLst>
              <a:ext uri="{FF2B5EF4-FFF2-40B4-BE49-F238E27FC236}">
                <a16:creationId xmlns:a16="http://schemas.microsoft.com/office/drawing/2014/main" id="{9AE22114-52FC-0C43-B4D1-7EA3CB259372}"/>
              </a:ext>
            </a:extLst>
          </p:cNvPr>
          <p:cNvSpPr>
            <a:spLocks noGrp="1"/>
          </p:cNvSpPr>
          <p:nvPr>
            <p:ph type="sldNum" idx="12"/>
          </p:nvPr>
        </p:nvSpPr>
        <p:spPr/>
        <p:txBody>
          <a:bodyPr/>
          <a:lstStyle/>
          <a:p>
            <a:fld id="{5CD88B4E-D815-417B-99FD-41D66E5C06D4}" type="slidenum">
              <a:rPr lang="de-DE" smtClean="0"/>
              <a:t>17</a:t>
            </a:fld>
            <a:endParaRPr lang="de-DE"/>
          </a:p>
        </p:txBody>
      </p:sp>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ED3E8CCD-F0EE-9CAF-1547-97AD1F6823DF}"/>
                  </a:ext>
                </a:extLst>
              </p:cNvPr>
              <p:cNvSpPr txBox="1"/>
              <p:nvPr/>
            </p:nvSpPr>
            <p:spPr>
              <a:xfrm>
                <a:off x="1386279" y="3821935"/>
                <a:ext cx="6669817" cy="357918"/>
              </a:xfrm>
              <a:prstGeom prst="rect">
                <a:avLst/>
              </a:prstGeom>
              <a:noFill/>
            </p:spPr>
            <p:txBody>
              <a:bodyPr wrap="square">
                <a:spAutoFit/>
              </a:bodyPr>
              <a:lstStyle/>
              <a:p>
                <a14:m>
                  <m:oMath xmlns:m="http://schemas.openxmlformats.org/officeDocument/2006/math">
                    <m:r>
                      <m:rPr>
                        <m:sty m:val="p"/>
                      </m:rPr>
                      <a:rPr lang="de-DE" sz="1400" b="0" i="1" smtClean="0">
                        <a:latin typeface="Cambria Math" panose="02040503050406030204" pitchFamily="18" charset="0"/>
                      </a:rPr>
                      <m:t>ℓ</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𝛽</m:t>
                        </m:r>
                        <m:r>
                          <a:rPr lang="de-DE" sz="1400" b="0" i="1" smtClean="0">
                            <a:latin typeface="Cambria Math" panose="02040503050406030204" pitchFamily="18" charset="0"/>
                          </a:rPr>
                          <m:t>,</m:t>
                        </m:r>
                        <m:r>
                          <a:rPr lang="de-DE" sz="1400" b="0" i="1" smtClean="0">
                            <a:latin typeface="Cambria Math" panose="02040503050406030204" pitchFamily="18" charset="0"/>
                          </a:rPr>
                          <m:t>𝜎</m:t>
                        </m:r>
                        <m:r>
                          <a:rPr lang="de-DE" sz="1400" b="0" i="1" smtClean="0">
                            <a:latin typeface="Cambria Math" panose="02040503050406030204" pitchFamily="18" charset="0"/>
                          </a:rPr>
                          <m:t>,</m:t>
                        </m:r>
                        <m:r>
                          <a:rPr lang="de-DE" sz="1400" b="0" i="1" smtClean="0">
                            <a:latin typeface="Cambria Math" panose="02040503050406030204" pitchFamily="18" charset="0"/>
                          </a:rPr>
                          <m:t>𝜏</m:t>
                        </m:r>
                      </m:e>
                    </m:d>
                    <m:r>
                      <a:rPr lang="de-DE" sz="1400" b="0" i="1" smtClean="0">
                        <a:latin typeface="Cambria Math" panose="02040503050406030204" pitchFamily="18" charset="0"/>
                      </a:rPr>
                      <m:t>=</m:t>
                    </m:r>
                    <m:nary>
                      <m:naryPr>
                        <m:chr m:val="∑"/>
                        <m:ctrlPr>
                          <a:rPr lang="de-DE" sz="1400" b="0" i="1" smtClean="0">
                            <a:latin typeface="Cambria Math" panose="02040503050406030204" pitchFamily="18" charset="0"/>
                          </a:rPr>
                        </m:ctrlPr>
                      </m:naryPr>
                      <m:sub>
                        <m:r>
                          <a:rPr lang="de-DE" sz="1400" b="0" i="1" smtClean="0">
                            <a:latin typeface="Cambria Math" panose="02040503050406030204" pitchFamily="18" charset="0"/>
                          </a:rPr>
                          <m:t>𝑏</m:t>
                        </m:r>
                        <m:r>
                          <a:rPr lang="de-DE" sz="1400" b="0" i="1" smtClean="0">
                            <a:latin typeface="Cambria Math" panose="02040503050406030204" pitchFamily="18" charset="0"/>
                          </a:rPr>
                          <m:t>=1</m:t>
                        </m:r>
                      </m:sub>
                      <m:sup>
                        <m:r>
                          <a:rPr lang="de-DE" sz="1400" b="0" i="1" smtClean="0">
                            <a:latin typeface="Cambria Math" panose="02040503050406030204" pitchFamily="18" charset="0"/>
                          </a:rPr>
                          <m:t>𝑚</m:t>
                        </m:r>
                      </m:sup>
                      <m:e>
                        <m:nary>
                          <m:naryPr>
                            <m:chr m:val="∑"/>
                            <m:ctrlPr>
                              <a:rPr lang="de-DE" sz="1400" b="0" i="1" smtClean="0">
                                <a:latin typeface="Cambria Math" panose="02040503050406030204" pitchFamily="18" charset="0"/>
                              </a:rPr>
                            </m:ctrlPr>
                          </m:naryPr>
                          <m:sub>
                            <m:r>
                              <a:rPr lang="de-DE" sz="1400" b="0" i="1" smtClean="0">
                                <a:latin typeface="Cambria Math" panose="02040503050406030204" pitchFamily="18" charset="0"/>
                              </a:rPr>
                              <m:t>𝑡</m:t>
                            </m:r>
                            <m:r>
                              <a:rPr lang="de-DE" sz="1400" b="0" i="1" smtClean="0">
                                <a:latin typeface="Cambria Math" panose="02040503050406030204" pitchFamily="18" charset="0"/>
                              </a:rPr>
                              <m:t>=0</m:t>
                            </m:r>
                          </m:sub>
                          <m:sup>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𝑛</m:t>
                                </m:r>
                              </m:e>
                              <m:sub>
                                <m:r>
                                  <a:rPr lang="de-DE" sz="1400" b="0" i="1" smtClean="0">
                                    <a:latin typeface="Cambria Math" panose="02040503050406030204" pitchFamily="18" charset="0"/>
                                  </a:rPr>
                                  <m:t>𝑏</m:t>
                                </m:r>
                              </m:sub>
                            </m:sSub>
                          </m:sup>
                          <m:e>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r>
                                  <a:rPr lang="de-DE" sz="1400" b="0" i="1" smtClean="0">
                                    <a:latin typeface="Cambria Math" panose="02040503050406030204" pitchFamily="18" charset="0"/>
                                  </a:rPr>
                                  <m:t>/</m:t>
                                </m:r>
                                <m:r>
                                  <a:rPr lang="de-DE" sz="1400" b="0" i="1" smtClean="0">
                                    <a:latin typeface="Cambria Math" panose="02040503050406030204" pitchFamily="18" charset="0"/>
                                  </a:rPr>
                                  <m:t>𝜏</m:t>
                                </m:r>
                                <m:r>
                                  <a:rPr lang="de-DE" sz="1400" b="0" i="1" smtClean="0">
                                    <a:latin typeface="Cambria Math" panose="02040503050406030204" pitchFamily="18" charset="0"/>
                                  </a:rPr>
                                  <m:t>−</m:t>
                                </m:r>
                                <m:func>
                                  <m:funcPr>
                                    <m:ctrlPr>
                                      <a:rPr lang="de-DE" sz="1400" b="0" i="0" smtClean="0">
                                        <a:latin typeface="Cambria Math" panose="02040503050406030204" pitchFamily="18" charset="0"/>
                                      </a:rPr>
                                    </m:ctrlPr>
                                  </m:funcPr>
                                  <m:fName>
                                    <m:r>
                                      <m:rPr>
                                        <m:sty m:val="p"/>
                                      </m:rPr>
                                      <a:rPr lang="de-DE" sz="1400" b="0" i="0" smtClean="0">
                                        <a:latin typeface="Cambria Math" panose="02040503050406030204" pitchFamily="18" charset="0"/>
                                      </a:rPr>
                                      <m:t>ln</m:t>
                                    </m:r>
                                  </m:fName>
                                  <m:e>
                                    <m:d>
                                      <m:dPr>
                                        <m:ctrlPr>
                                          <a:rPr lang="de-DE" sz="1400" b="0" i="1" smtClean="0">
                                            <a:latin typeface="Cambria Math" panose="02040503050406030204" pitchFamily="18" charset="0"/>
                                          </a:rPr>
                                        </m:ctrlPr>
                                      </m:dPr>
                                      <m:e>
                                        <m:nary>
                                          <m:naryPr>
                                            <m:chr m:val="∑"/>
                                            <m:supHide m:val="on"/>
                                            <m:ctrlPr>
                                              <a:rPr lang="de-DE" sz="1400" i="1">
                                                <a:latin typeface="Cambria Math" panose="02040503050406030204" pitchFamily="18" charset="0"/>
                                              </a:rPr>
                                            </m:ctrlPr>
                                          </m:naryPr>
                                          <m:sub>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b="0" i="1" smtClean="0">
                                                    <a:latin typeface="Cambria Math" panose="02040503050406030204" pitchFamily="18" charset="0"/>
                                                  </a:rPr>
                                                  <m:t>𝑏</m:t>
                                                </m:r>
                                                <m:r>
                                                  <a:rPr lang="de-DE" sz="1400" b="0" i="1" smtClean="0">
                                                    <a:latin typeface="Cambria Math" panose="02040503050406030204" pitchFamily="18" charset="0"/>
                                                  </a:rPr>
                                                  <m:t>,</m:t>
                                                </m:r>
                                                <m:r>
                                                  <a:rPr lang="de-DE" sz="1400" b="0" i="1" smtClean="0">
                                                    <a:latin typeface="Cambria Math" panose="02040503050406030204" pitchFamily="18" charset="0"/>
                                                  </a:rPr>
                                                  <m:t>𝑡</m:t>
                                                </m:r>
                                                <m:r>
                                                  <a:rPr lang="de-DE" sz="1400" b="0" i="1" smtClean="0">
                                                    <a:latin typeface="Cambria Math" panose="02040503050406030204" pitchFamily="18" charset="0"/>
                                                  </a:rPr>
                                                  <m:t> </m:t>
                                                </m:r>
                                              </m:sub>
                                            </m:sSub>
                                          </m:sub>
                                          <m:sup/>
                                          <m:e>
                                            <m:func>
                                              <m:funcPr>
                                                <m:ctrlPr>
                                                  <a:rPr lang="de-DE" sz="1400">
                                                    <a:latin typeface="Cambria Math" panose="02040503050406030204" pitchFamily="18" charset="0"/>
                                                  </a:rPr>
                                                </m:ctrlPr>
                                              </m:funcPr>
                                              <m:fName>
                                                <m:r>
                                                  <m:rPr>
                                                    <m:sty m:val="p"/>
                                                  </m:rPr>
                                                  <a:rPr lang="de-DE" sz="1400">
                                                    <a:latin typeface="Cambria Math" panose="02040503050406030204" pitchFamily="18" charset="0"/>
                                                  </a:rPr>
                                                  <m:t>exp</m:t>
                                                </m:r>
                                              </m:fName>
                                              <m:e>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𝑏</m:t>
                                                            </m:r>
                                                            <m:r>
                                                              <a:rPr lang="de-DE" sz="1400" i="1">
                                                                <a:latin typeface="Cambria Math" panose="02040503050406030204" pitchFamily="18" charset="0"/>
                                                              </a:rPr>
                                                              <m:t>,</m:t>
                                                            </m:r>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r>
                                                      <a:rPr lang="de-DE" sz="1400" b="0" i="1" smtClean="0">
                                                        <a:latin typeface="Cambria Math" panose="02040503050406030204" pitchFamily="18" charset="0"/>
                                                      </a:rPr>
                                                      <m:t>/</m:t>
                                                    </m:r>
                                                    <m:r>
                                                      <a:rPr lang="de-DE" sz="1400" b="0" i="1" smtClean="0">
                                                        <a:latin typeface="Cambria Math" panose="02040503050406030204" pitchFamily="18" charset="0"/>
                                                      </a:rPr>
                                                      <m:t>𝜏</m:t>
                                                    </m:r>
                                                  </m:e>
                                                </m:d>
                                              </m:e>
                                            </m:func>
                                          </m:e>
                                        </m:nary>
                                      </m:e>
                                    </m:d>
                                  </m:e>
                                </m:func>
                              </m:e>
                            </m:d>
                            <m:r>
                              <a:rPr lang="de-DE" sz="1400" b="0" i="1" smtClean="0">
                                <a:latin typeface="Cambria Math" panose="02040503050406030204" pitchFamily="18" charset="0"/>
                              </a:rPr>
                              <m:t> </m:t>
                            </m:r>
                          </m:e>
                        </m:nary>
                      </m:e>
                    </m:nary>
                  </m:oMath>
                </a14:m>
                <a:r>
                  <a:rPr lang="de-DE" sz="1400" dirty="0"/>
                  <a:t> </a:t>
                </a:r>
              </a:p>
            </p:txBody>
          </p:sp>
        </mc:Choice>
        <mc:Fallback xmlns="">
          <p:sp>
            <p:nvSpPr>
              <p:cNvPr id="8" name="Textfeld 7">
                <a:extLst>
                  <a:ext uri="{FF2B5EF4-FFF2-40B4-BE49-F238E27FC236}">
                    <a16:creationId xmlns:a16="http://schemas.microsoft.com/office/drawing/2014/main" id="{ED3E8CCD-F0EE-9CAF-1547-97AD1F6823DF}"/>
                  </a:ext>
                </a:extLst>
              </p:cNvPr>
              <p:cNvSpPr txBox="1">
                <a:spLocks noRot="1" noChangeAspect="1" noMove="1" noResize="1" noEditPoints="1" noAdjustHandles="1" noChangeArrowheads="1" noChangeShapeType="1" noTextEdit="1"/>
              </p:cNvSpPr>
              <p:nvPr/>
            </p:nvSpPr>
            <p:spPr>
              <a:xfrm>
                <a:off x="1386279" y="3821935"/>
                <a:ext cx="6669817" cy="357918"/>
              </a:xfrm>
              <a:prstGeom prst="rect">
                <a:avLst/>
              </a:prstGeom>
              <a:blipFill>
                <a:blip r:embed="rId2"/>
                <a:stretch>
                  <a:fillRect t="-83051" b="-12711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7ABCB11E-E975-AC83-D570-6309B4C28992}"/>
                  </a:ext>
                </a:extLst>
              </p:cNvPr>
              <p:cNvSpPr txBox="1"/>
              <p:nvPr/>
            </p:nvSpPr>
            <p:spPr>
              <a:xfrm>
                <a:off x="618772" y="2012953"/>
                <a:ext cx="5722913" cy="292388"/>
              </a:xfrm>
              <a:prstGeom prst="rect">
                <a:avLst/>
              </a:prstGeom>
              <a:noFill/>
            </p:spPr>
            <p:txBody>
              <a:bodyPr wrap="none" rtlCol="0">
                <a:spAutoFit/>
              </a:bodyPr>
              <a:lstStyle/>
              <a:p>
                <a:r>
                  <a:rPr lang="de-DE" sz="1300" dirty="0">
                    <a:latin typeface="Arial" panose="020B0604020202020204" pitchFamily="34" charset="0"/>
                    <a:cs typeface="Arial" panose="020B0604020202020204" pitchFamily="34" charset="0"/>
                  </a:rPr>
                  <a:t>Agentic behavioral </a:t>
                </a:r>
                <a:r>
                  <a:rPr lang="de-DE" sz="1300" dirty="0" err="1">
                    <a:latin typeface="Arial" panose="020B0604020202020204" pitchFamily="34" charset="0"/>
                    <a:cs typeface="Arial" panose="020B0604020202020204" pitchFamily="34" charset="0"/>
                  </a:rPr>
                  <a:t>model</a:t>
                </a:r>
                <a:r>
                  <a:rPr lang="de-DE" sz="1300" dirty="0">
                    <a:latin typeface="Arial" panose="020B0604020202020204" pitchFamily="34" charset="0"/>
                    <a:cs typeface="Arial" panose="020B0604020202020204" pitchFamily="34" charset="0"/>
                  </a:rPr>
                  <a:t> (</a:t>
                </a:r>
                <a14:m>
                  <m:oMath xmlns:m="http://schemas.openxmlformats.org/officeDocument/2006/math">
                    <m:r>
                      <a:rPr lang="de-DE" sz="1300" b="0" i="1" smtClean="0">
                        <a:latin typeface="Cambria Math" panose="02040503050406030204" pitchFamily="18" charset="0"/>
                        <a:cs typeface="Arial" panose="020B0604020202020204" pitchFamily="34" charset="0"/>
                      </a:rPr>
                      <m:t>𝑏</m:t>
                    </m:r>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block</m:t>
                    </m:r>
                    <m:r>
                      <a:rPr lang="de-DE" sz="1300" b="0" i="1" smtClean="0">
                        <a:latin typeface="Cambria Math" panose="02040503050406030204" pitchFamily="18" charset="0"/>
                        <a:cs typeface="Arial" panose="020B0604020202020204" pitchFamily="34" charset="0"/>
                      </a:rPr>
                      <m:t>, </m:t>
                    </m:r>
                    <m:r>
                      <a:rPr lang="de-DE" sz="1300" b="0" i="1" smtClean="0">
                        <a:latin typeface="Cambria Math" panose="02040503050406030204" pitchFamily="18" charset="0"/>
                        <a:cs typeface="Arial" panose="020B0604020202020204" pitchFamily="34" charset="0"/>
                      </a:rPr>
                      <m:t>𝑡</m:t>
                    </m:r>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trial</m:t>
                    </m:r>
                    <m:r>
                      <a:rPr lang="de-DE" sz="1300" b="0" i="1" smtClean="0">
                        <a:latin typeface="Cambria Math" panose="02040503050406030204" pitchFamily="18" charset="0"/>
                        <a:cs typeface="Arial" panose="020B0604020202020204" pitchFamily="34" charset="0"/>
                      </a:rPr>
                      <m:t>, </m:t>
                    </m:r>
                    <m:sSub>
                      <m:sSubPr>
                        <m:ctrlPr>
                          <a:rPr lang="de-DE" sz="1300" b="0" i="1" smtClean="0">
                            <a:latin typeface="Cambria Math" panose="02040503050406030204" pitchFamily="18" charset="0"/>
                            <a:cs typeface="Arial" panose="020B0604020202020204" pitchFamily="34" charset="0"/>
                          </a:rPr>
                        </m:ctrlPr>
                      </m:sSubPr>
                      <m:e>
                        <m:r>
                          <a:rPr lang="de-DE" sz="1300" b="0" i="1" smtClean="0">
                            <a:latin typeface="Cambria Math" panose="02040503050406030204" pitchFamily="18" charset="0"/>
                            <a:cs typeface="Arial" panose="020B0604020202020204" pitchFamily="34" charset="0"/>
                          </a:rPr>
                          <m:t>𝑛</m:t>
                        </m:r>
                      </m:e>
                      <m:sub>
                        <m:r>
                          <a:rPr lang="de-DE" sz="1300" b="0" i="1" smtClean="0">
                            <a:latin typeface="Cambria Math" panose="02040503050406030204" pitchFamily="18" charset="0"/>
                            <a:cs typeface="Arial" panose="020B0604020202020204" pitchFamily="34" charset="0"/>
                          </a:rPr>
                          <m:t>𝑏</m:t>
                        </m:r>
                      </m:sub>
                    </m:sSub>
                    <m:r>
                      <a:rPr lang="de-DE" sz="1300" b="0" i="1" smtClean="0">
                        <a:latin typeface="Cambria Math" panose="02040503050406030204" pitchFamily="18" charset="0"/>
                        <a:cs typeface="Arial" panose="020B0604020202020204" pitchFamily="34" charset="0"/>
                      </a:rPr>
                      <m:t>=</m:t>
                    </m:r>
                    <m:r>
                      <m:rPr>
                        <m:sty m:val="p"/>
                      </m:rPr>
                      <a:rPr lang="de-DE" sz="1300" b="0" i="0" smtClean="0">
                        <a:latin typeface="Cambria Math" panose="02040503050406030204" pitchFamily="18" charset="0"/>
                        <a:cs typeface="Arial" panose="020B0604020202020204" pitchFamily="34" charset="0"/>
                      </a:rPr>
                      <m:t>number</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of</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trials</m:t>
                    </m:r>
                    <m:r>
                      <a:rPr lang="de-DE" sz="1300" b="0" i="0" smtClean="0">
                        <a:latin typeface="Cambria Math" panose="02040503050406030204" pitchFamily="18" charset="0"/>
                        <a:cs typeface="Arial" panose="020B0604020202020204" pitchFamily="34" charset="0"/>
                      </a:rPr>
                      <m:t> </m:t>
                    </m:r>
                    <m:r>
                      <m:rPr>
                        <m:sty m:val="p"/>
                      </m:rPr>
                      <a:rPr lang="de-DE" sz="1300" b="0" i="0" smtClean="0">
                        <a:latin typeface="Cambria Math" panose="02040503050406030204" pitchFamily="18" charset="0"/>
                        <a:cs typeface="Arial" panose="020B0604020202020204" pitchFamily="34" charset="0"/>
                      </a:rPr>
                      <m:t>in</m:t>
                    </m:r>
                    <m:r>
                      <a:rPr lang="de-DE" sz="1300" b="0" i="0" smtClean="0">
                        <a:latin typeface="Cambria Math" panose="02040503050406030204" pitchFamily="18" charset="0"/>
                        <a:cs typeface="Arial" panose="020B0604020202020204" pitchFamily="34" charset="0"/>
                      </a:rPr>
                      <m:t> </m:t>
                    </m:r>
                    <m:r>
                      <a:rPr lang="de-DE" sz="1300" b="0" i="1" smtClean="0">
                        <a:latin typeface="Cambria Math" panose="02040503050406030204" pitchFamily="18" charset="0"/>
                        <a:cs typeface="Arial" panose="020B0604020202020204" pitchFamily="34" charset="0"/>
                      </a:rPr>
                      <m:t>𝑏</m:t>
                    </m:r>
                  </m:oMath>
                </a14:m>
                <a:r>
                  <a:rPr lang="de-DE" sz="1300" dirty="0">
                    <a:latin typeface="Arial" panose="020B0604020202020204" pitchFamily="34" charset="0"/>
                    <a:cs typeface="Arial" panose="020B0604020202020204" pitchFamily="34" charset="0"/>
                  </a:rPr>
                  <a:t> )</a:t>
                </a:r>
              </a:p>
            </p:txBody>
          </p:sp>
        </mc:Choice>
        <mc:Fallback xmlns="">
          <p:sp>
            <p:nvSpPr>
              <p:cNvPr id="11" name="Textfeld 10">
                <a:extLst>
                  <a:ext uri="{FF2B5EF4-FFF2-40B4-BE49-F238E27FC236}">
                    <a16:creationId xmlns:a16="http://schemas.microsoft.com/office/drawing/2014/main" id="{7ABCB11E-E975-AC83-D570-6309B4C28992}"/>
                  </a:ext>
                </a:extLst>
              </p:cNvPr>
              <p:cNvSpPr txBox="1">
                <a:spLocks noRot="1" noChangeAspect="1" noMove="1" noResize="1" noEditPoints="1" noAdjustHandles="1" noChangeArrowheads="1" noChangeShapeType="1" noTextEdit="1"/>
              </p:cNvSpPr>
              <p:nvPr/>
            </p:nvSpPr>
            <p:spPr>
              <a:xfrm>
                <a:off x="618772" y="2012953"/>
                <a:ext cx="5722913" cy="292388"/>
              </a:xfrm>
              <a:prstGeom prst="rect">
                <a:avLst/>
              </a:prstGeom>
              <a:blipFill>
                <a:blip r:embed="rId3"/>
                <a:stretch>
                  <a:fillRect l="-213" t="-2083" b="-16667"/>
                </a:stretch>
              </a:blipFill>
            </p:spPr>
            <p:txBody>
              <a:bodyPr/>
              <a:lstStyle/>
              <a:p>
                <a:r>
                  <a:rPr lang="de-DE">
                    <a:noFill/>
                  </a:rPr>
                  <a:t> </a:t>
                </a:r>
              </a:p>
            </p:txBody>
          </p:sp>
        </mc:Fallback>
      </mc:AlternateContent>
      <p:sp>
        <p:nvSpPr>
          <p:cNvPr id="13" name="Textfeld 12">
            <a:extLst>
              <a:ext uri="{FF2B5EF4-FFF2-40B4-BE49-F238E27FC236}">
                <a16:creationId xmlns:a16="http://schemas.microsoft.com/office/drawing/2014/main" id="{EF947837-1447-B901-0E92-FFE79C680398}"/>
              </a:ext>
            </a:extLst>
          </p:cNvPr>
          <p:cNvSpPr txBox="1"/>
          <p:nvPr/>
        </p:nvSpPr>
        <p:spPr>
          <a:xfrm>
            <a:off x="618772" y="3420300"/>
            <a:ext cx="2829621" cy="292388"/>
          </a:xfrm>
          <a:prstGeom prst="rect">
            <a:avLst/>
          </a:prstGeom>
          <a:noFill/>
        </p:spPr>
        <p:txBody>
          <a:bodyPr wrap="none" rtlCol="0">
            <a:spAutoFit/>
          </a:bodyPr>
          <a:lstStyle/>
          <a:p>
            <a:r>
              <a:rPr lang="de-DE" sz="1300" dirty="0" err="1">
                <a:latin typeface="Arial" panose="020B0604020202020204" pitchFamily="34" charset="0"/>
                <a:cs typeface="Arial" panose="020B0604020202020204" pitchFamily="34" charset="0"/>
              </a:rPr>
              <a:t>Sequential</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conditional</a:t>
            </a:r>
            <a:r>
              <a:rPr lang="de-DE" sz="1300" dirty="0">
                <a:latin typeface="Arial" panose="020B0604020202020204" pitchFamily="34" charset="0"/>
                <a:cs typeface="Arial" panose="020B0604020202020204" pitchFamily="34" charset="0"/>
              </a:rPr>
              <a:t> log </a:t>
            </a:r>
            <a:r>
              <a:rPr lang="de-DE" sz="1300" dirty="0" err="1">
                <a:latin typeface="Arial" panose="020B0604020202020204" pitchFamily="34" charset="0"/>
                <a:cs typeface="Arial" panose="020B0604020202020204" pitchFamily="34" charset="0"/>
              </a:rPr>
              <a:t>likelihood</a:t>
            </a:r>
            <a:endParaRPr lang="de-DE" sz="13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BB47569E-3AE6-9A5C-877B-4B108D360CE9}"/>
                  </a:ext>
                </a:extLst>
              </p:cNvPr>
              <p:cNvSpPr txBox="1"/>
              <p:nvPr/>
            </p:nvSpPr>
            <p:spPr>
              <a:xfrm>
                <a:off x="1181521" y="4179853"/>
                <a:ext cx="6780958" cy="379848"/>
              </a:xfrm>
              <a:prstGeom prst="rect">
                <a:avLst/>
              </a:prstGeom>
              <a:noFill/>
            </p:spPr>
            <p:txBody>
              <a:bodyPr wrap="square" rtlCol="0">
                <a:spAutoFit/>
              </a:bodyPr>
              <a:lstStyle/>
              <a:p>
                <a:pPr>
                  <a:lnSpc>
                    <a:spcPct val="150000"/>
                  </a:lnSpc>
                </a:pPr>
                <a:r>
                  <a:rPr lang="de-DE" sz="1200" dirty="0">
                    <a:latin typeface="Arial" panose="020B0604020202020204" pitchFamily="34" charset="0"/>
                    <a:cs typeface="Arial" panose="020B0604020202020204" pitchFamily="34" charset="0"/>
                  </a:rPr>
                  <a:t>Adaptive Nelder-Mead </a:t>
                </a:r>
                <a:r>
                  <a:rPr lang="de-DE" sz="1200" dirty="0" err="1">
                    <a:latin typeface="Arial" panose="020B0604020202020204" pitchFamily="34" charset="0"/>
                    <a:cs typeface="Arial" panose="020B0604020202020204" pitchFamily="34" charset="0"/>
                  </a:rPr>
                  <a:t>optimization</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scipy.optimize.minimize</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with</a:t>
                </a:r>
                <a14:m>
                  <m:oMath xmlns:m="http://schemas.openxmlformats.org/officeDocument/2006/math">
                    <m:r>
                      <a:rPr lang="de-DE" sz="1200" b="0" i="0" smtClean="0">
                        <a:latin typeface="Cambria Math" panose="02040503050406030204" pitchFamily="18" charset="0"/>
                      </a:rPr>
                      <m:t> </m:t>
                    </m:r>
                    <m:d>
                      <m:dPr>
                        <m:ctrlPr>
                          <a:rPr lang="de-DE" sz="1200" i="1">
                            <a:latin typeface="Cambria Math" panose="02040503050406030204" pitchFamily="18" charset="0"/>
                          </a:rPr>
                        </m:ctrlPr>
                      </m:dPr>
                      <m:e>
                        <m:sSup>
                          <m:sSupPr>
                            <m:ctrlPr>
                              <a:rPr lang="de-DE" sz="1200" i="1">
                                <a:latin typeface="Cambria Math" panose="02040503050406030204" pitchFamily="18" charset="0"/>
                              </a:rPr>
                            </m:ctrlPr>
                          </m:sSupPr>
                          <m:e>
                            <m:r>
                              <a:rPr lang="de-DE" sz="1200" i="1">
                                <a:latin typeface="Cambria Math" panose="02040503050406030204" pitchFamily="18" charset="0"/>
                              </a:rPr>
                              <m:t>𝛽</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r>
                          <a:rPr lang="de-DE" sz="1200" i="1">
                            <a:latin typeface="Cambria Math" panose="02040503050406030204" pitchFamily="18" charset="0"/>
                          </a:rPr>
                          <m:t>,</m:t>
                        </m:r>
                        <m:sSup>
                          <m:sSupPr>
                            <m:ctrlPr>
                              <a:rPr lang="de-DE" sz="1200" i="1">
                                <a:latin typeface="Cambria Math" panose="02040503050406030204" pitchFamily="18" charset="0"/>
                              </a:rPr>
                            </m:ctrlPr>
                          </m:sSupPr>
                          <m:e>
                            <m:r>
                              <a:rPr lang="de-DE" sz="1200" i="1">
                                <a:latin typeface="Cambria Math" panose="02040503050406030204" pitchFamily="18" charset="0"/>
                              </a:rPr>
                              <m:t>𝜎</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r>
                          <a:rPr lang="de-DE" sz="1200" i="1">
                            <a:latin typeface="Cambria Math" panose="02040503050406030204" pitchFamily="18" charset="0"/>
                          </a:rPr>
                          <m:t>,</m:t>
                        </m:r>
                        <m:sSup>
                          <m:sSupPr>
                            <m:ctrlPr>
                              <a:rPr lang="de-DE" sz="1200" i="1">
                                <a:latin typeface="Cambria Math" panose="02040503050406030204" pitchFamily="18" charset="0"/>
                              </a:rPr>
                            </m:ctrlPr>
                          </m:sSupPr>
                          <m:e>
                            <m:r>
                              <a:rPr lang="de-DE" sz="1200" i="1">
                                <a:latin typeface="Cambria Math" panose="02040503050406030204" pitchFamily="18" charset="0"/>
                              </a:rPr>
                              <m:t>𝜏</m:t>
                            </m:r>
                          </m:e>
                          <m:sup>
                            <m:d>
                              <m:dPr>
                                <m:ctrlPr>
                                  <a:rPr lang="de-DE" sz="1200" b="0" i="1" smtClean="0">
                                    <a:latin typeface="Cambria Math" panose="02040503050406030204" pitchFamily="18" charset="0"/>
                                  </a:rPr>
                                </m:ctrlPr>
                              </m:dPr>
                              <m:e>
                                <m:r>
                                  <a:rPr lang="de-DE" sz="1200" b="0" i="1" smtClean="0">
                                    <a:latin typeface="Cambria Math" panose="02040503050406030204" pitchFamily="18" charset="0"/>
                                  </a:rPr>
                                  <m:t>0</m:t>
                                </m:r>
                              </m:e>
                            </m:d>
                          </m:sup>
                        </m:sSup>
                      </m:e>
                    </m:d>
                    <m:r>
                      <a:rPr lang="de-DE" sz="1200" b="0" i="1" smtClean="0">
                        <a:latin typeface="Cambria Math" panose="02040503050406030204" pitchFamily="18" charset="0"/>
                      </a:rPr>
                      <m:t>≔(0.01,0.1,0.3)</m:t>
                    </m:r>
                  </m:oMath>
                </a14:m>
                <a:endParaRPr lang="de-DE" sz="1200" dirty="0">
                  <a:latin typeface="Arial" panose="020B0604020202020204" pitchFamily="34" charset="0"/>
                  <a:cs typeface="Arial" panose="020B0604020202020204" pitchFamily="34" charset="0"/>
                </a:endParaRPr>
              </a:p>
            </p:txBody>
          </p:sp>
        </mc:Choice>
        <mc:Fallback xmlns="">
          <p:sp>
            <p:nvSpPr>
              <p:cNvPr id="15" name="Textfeld 14">
                <a:extLst>
                  <a:ext uri="{FF2B5EF4-FFF2-40B4-BE49-F238E27FC236}">
                    <a16:creationId xmlns:a16="http://schemas.microsoft.com/office/drawing/2014/main" id="{BB47569E-3AE6-9A5C-877B-4B108D360CE9}"/>
                  </a:ext>
                </a:extLst>
              </p:cNvPr>
              <p:cNvSpPr txBox="1">
                <a:spLocks noRot="1" noChangeAspect="1" noMove="1" noResize="1" noEditPoints="1" noAdjustHandles="1" noChangeArrowheads="1" noChangeShapeType="1" noTextEdit="1"/>
              </p:cNvSpPr>
              <p:nvPr/>
            </p:nvSpPr>
            <p:spPr>
              <a:xfrm>
                <a:off x="1181521" y="4179853"/>
                <a:ext cx="6780958" cy="379848"/>
              </a:xfrm>
              <a:prstGeom prst="rect">
                <a:avLst/>
              </a:prstGeom>
              <a:blipFill>
                <a:blip r:embed="rId4"/>
                <a:stretch>
                  <a:fillRect l="-90" b="-806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7" name="Textfeld 16">
                <a:extLst>
                  <a:ext uri="{FF2B5EF4-FFF2-40B4-BE49-F238E27FC236}">
                    <a16:creationId xmlns:a16="http://schemas.microsoft.com/office/drawing/2014/main" id="{DCB9EB60-3274-561C-B418-9225CEB087DF}"/>
                  </a:ext>
                </a:extLst>
              </p:cNvPr>
              <p:cNvSpPr txBox="1"/>
              <p:nvPr/>
            </p:nvSpPr>
            <p:spPr>
              <a:xfrm>
                <a:off x="1571198" y="1380420"/>
                <a:ext cx="6299980" cy="528093"/>
              </a:xfrm>
              <a:prstGeom prst="rect">
                <a:avLst/>
              </a:prstGeom>
              <a:noFill/>
            </p:spPr>
            <p:txBody>
              <a:bodyPr wrap="square" rtlCol="0">
                <a:spAutoFit/>
              </a:bodyPr>
              <a:lstStyle/>
              <a:p>
                <a14:m>
                  <m:oMath xmlns:m="http://schemas.openxmlformats.org/officeDocument/2006/math">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𝑝</m:t>
                        </m:r>
                      </m:e>
                      <m:sub>
                        <m:r>
                          <a:rPr lang="de-DE" sz="1400" b="0" i="1" smtClean="0">
                            <a:latin typeface="Cambria Math" panose="02040503050406030204" pitchFamily="18" charset="0"/>
                            <a:cs typeface="Arial" panose="020B0604020202020204" pitchFamily="34" charset="0"/>
                          </a:rPr>
                          <m:t>𝛽</m:t>
                        </m:r>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𝜎</m:t>
                        </m:r>
                        <m:r>
                          <a:rPr lang="de-DE" sz="1400" b="0" i="1" smtClean="0">
                            <a:latin typeface="Cambria Math" panose="02040503050406030204" pitchFamily="18" charset="0"/>
                            <a:cs typeface="Arial" panose="020B0604020202020204" pitchFamily="34" charset="0"/>
                          </a:rPr>
                          <m:t>,</m:t>
                        </m:r>
                        <m:r>
                          <a:rPr lang="de-DE" sz="1400" b="0" i="1" smtClean="0">
                            <a:latin typeface="Cambria Math" panose="02040503050406030204" pitchFamily="18" charset="0"/>
                            <a:cs typeface="Arial" panose="020B0604020202020204" pitchFamily="34" charset="0"/>
                          </a:rPr>
                          <m:t>𝜏</m:t>
                        </m:r>
                      </m:sub>
                    </m:sSub>
                    <m:d>
                      <m:dPr>
                        <m:ctrlPr>
                          <a:rPr lang="de-DE" sz="1400" b="0" i="1" smtClean="0">
                            <a:latin typeface="Cambria Math" panose="02040503050406030204" pitchFamily="18" charset="0"/>
                            <a:cs typeface="Arial" panose="020B0604020202020204" pitchFamily="34" charset="0"/>
                          </a:rPr>
                        </m:ctrlPr>
                      </m:dPr>
                      <m:e>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𝑎</m:t>
                            </m:r>
                          </m:e>
                          <m:sub>
                            <m:r>
                              <a:rPr lang="de-DE" sz="1400" b="0" i="1" smtClean="0">
                                <a:latin typeface="Cambria Math" panose="02040503050406030204" pitchFamily="18" charset="0"/>
                                <a:cs typeface="Arial" panose="020B0604020202020204" pitchFamily="34" charset="0"/>
                              </a:rPr>
                              <m:t>𝑡</m:t>
                            </m:r>
                          </m:sub>
                        </m:sSub>
                      </m:e>
                      <m:e>
                        <m:sSub>
                          <m:sSubPr>
                            <m:ctrlPr>
                              <a:rPr lang="de-DE" sz="1400" b="0" i="1" smtClean="0">
                                <a:latin typeface="Cambria Math" panose="02040503050406030204" pitchFamily="18" charset="0"/>
                                <a:cs typeface="Arial" panose="020B0604020202020204" pitchFamily="34" charset="0"/>
                              </a:rPr>
                            </m:ctrlPr>
                          </m:sSubPr>
                          <m:e>
                            <m:r>
                              <a:rPr lang="de-DE" sz="1400" b="0" i="1" smtClean="0">
                                <a:latin typeface="Cambria Math" panose="02040503050406030204" pitchFamily="18" charset="0"/>
                                <a:cs typeface="Arial" panose="020B0604020202020204" pitchFamily="34" charset="0"/>
                              </a:rPr>
                              <m:t>𝑠</m:t>
                            </m:r>
                          </m:e>
                          <m:sub>
                            <m:r>
                              <a:rPr lang="de-DE" sz="1400" b="0" i="1" smtClean="0">
                                <a:latin typeface="Cambria Math" panose="02040503050406030204" pitchFamily="18" charset="0"/>
                                <a:cs typeface="Arial" panose="020B0604020202020204" pitchFamily="34" charset="0"/>
                              </a:rPr>
                              <m:t>𝑡</m:t>
                            </m:r>
                          </m:sub>
                        </m:sSub>
                      </m:e>
                    </m:d>
                    <m:r>
                      <a:rPr lang="de-DE" sz="1400" b="0" i="1" smtClean="0">
                        <a:latin typeface="Cambria Math" panose="02040503050406030204" pitchFamily="18" charset="0"/>
                        <a:cs typeface="Arial" panose="020B0604020202020204" pitchFamily="34" charset="0"/>
                      </a:rPr>
                      <m:t>≔</m:t>
                    </m:r>
                    <m:f>
                      <m:fPr>
                        <m:ctrlPr>
                          <a:rPr lang="de-DE" sz="1400" b="0" i="1" smtClean="0">
                            <a:latin typeface="Cambria Math" panose="02040503050406030204" pitchFamily="18" charset="0"/>
                            <a:cs typeface="Arial" panose="020B0604020202020204" pitchFamily="34" charset="0"/>
                          </a:rPr>
                        </m:ctrlPr>
                      </m:fPr>
                      <m:num>
                        <m:r>
                          <m:rPr>
                            <m:sty m:val="p"/>
                          </m:rPr>
                          <a:rPr lang="de-DE" sz="1400" b="0" i="1" smtClean="0">
                            <a:latin typeface="Cambria Math" panose="02040503050406030204" pitchFamily="18" charset="0"/>
                            <a:cs typeface="Arial" panose="020B0604020202020204" pitchFamily="34" charset="0"/>
                          </a:rPr>
                          <m:t>exp</m:t>
                        </m:r>
                        <m:d>
                          <m:dPr>
                            <m:ctrlPr>
                              <a:rPr lang="de-DE" sz="1400" b="0" i="1" smtClean="0">
                                <a:latin typeface="Cambria Math" panose="02040503050406030204" pitchFamily="18" charset="0"/>
                                <a:cs typeface="Arial" panose="020B0604020202020204" pitchFamily="34" charset="0"/>
                              </a:rPr>
                            </m:ctrlPr>
                          </m:dPr>
                          <m:e>
                            <m:sSubSup>
                              <m:sSubSupPr>
                                <m:ctrlPr>
                                  <a:rPr lang="de-DE" sz="1400" b="0" i="1" smtClean="0">
                                    <a:latin typeface="Cambria Math" panose="02040503050406030204" pitchFamily="18" charset="0"/>
                                    <a:cs typeface="Arial" panose="020B0604020202020204" pitchFamily="34" charset="0"/>
                                  </a:rPr>
                                </m:ctrlPr>
                              </m:sSubSupPr>
                              <m:e>
                                <m:r>
                                  <a:rPr lang="de-DE" sz="1400" b="0" i="1" smtClean="0">
                                    <a:latin typeface="Cambria Math" panose="02040503050406030204" pitchFamily="18" charset="0"/>
                                    <a:cs typeface="Arial" panose="020B0604020202020204" pitchFamily="34" charset="0"/>
                                  </a:rPr>
                                  <m:t>𝑞</m:t>
                                </m:r>
                              </m:e>
                              <m:sub>
                                <m:r>
                                  <a:rPr lang="de-DE" sz="1400" b="0" i="1" smtClean="0">
                                    <a:latin typeface="Cambria Math" panose="02040503050406030204" pitchFamily="18" charset="0"/>
                                    <a:cs typeface="Arial" panose="020B0604020202020204" pitchFamily="34" charset="0"/>
                                  </a:rPr>
                                  <m:t>𝑡</m:t>
                                </m:r>
                              </m:sub>
                              <m:sup>
                                <m:r>
                                  <a:rPr lang="de-DE" sz="1400" b="0" i="1" smtClean="0">
                                    <a:latin typeface="Cambria Math" panose="02040503050406030204" pitchFamily="18" charset="0"/>
                                    <a:cs typeface="Arial" panose="020B0604020202020204" pitchFamily="34"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e>
                        </m:d>
                      </m:num>
                      <m:den>
                        <m:nary>
                          <m:naryPr>
                            <m:chr m:val="∑"/>
                            <m:supHide m:val="on"/>
                            <m:ctrlPr>
                              <a:rPr lang="de-DE" sz="1400" b="0" i="1" smtClean="0">
                                <a:latin typeface="Cambria Math" panose="02040503050406030204" pitchFamily="18" charset="0"/>
                              </a:rPr>
                            </m:ctrlPr>
                          </m:naryPr>
                          <m:sub>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𝑎</m:t>
                                </m:r>
                              </m:e>
                              <m:sub>
                                <m:r>
                                  <a:rPr lang="de-DE" sz="1400" b="0" i="1" smtClean="0">
                                    <a:latin typeface="Cambria Math" panose="02040503050406030204" pitchFamily="18" charset="0"/>
                                  </a:rPr>
                                  <m:t>𝑡</m:t>
                                </m:r>
                              </m:sub>
                            </m:sSub>
                          </m:sub>
                          <m:sup/>
                          <m:e>
                            <m:r>
                              <m:rPr>
                                <m:sty m:val="p"/>
                              </m:rPr>
                              <a:rPr lang="de-DE" sz="1400" i="1">
                                <a:latin typeface="Cambria Math" panose="02040503050406030204" pitchFamily="18" charset="0"/>
                                <a:cs typeface="Arial" panose="020B0604020202020204" pitchFamily="34" charset="0"/>
                              </a:rPr>
                              <m:t>exp</m:t>
                            </m:r>
                            <m:d>
                              <m:dPr>
                                <m:ctrlPr>
                                  <a:rPr lang="de-DE" sz="1400" i="1">
                                    <a:latin typeface="Cambria Math" panose="02040503050406030204" pitchFamily="18" charset="0"/>
                                  </a:rPr>
                                </m:ctrlPr>
                              </m:dPr>
                              <m:e>
                                <m:sSubSup>
                                  <m:sSubSupPr>
                                    <m:ctrlPr>
                                      <a:rPr lang="de-DE" sz="1400" i="1">
                                        <a:latin typeface="Cambria Math" panose="02040503050406030204" pitchFamily="18" charset="0"/>
                                      </a:rPr>
                                    </m:ctrlPr>
                                  </m:sSubSupPr>
                                  <m:e>
                                    <m:r>
                                      <a:rPr lang="de-DE" sz="1400" i="1">
                                        <a:latin typeface="Cambria Math" panose="02040503050406030204" pitchFamily="18" charset="0"/>
                                      </a:rPr>
                                      <m:t>𝑞</m:t>
                                    </m:r>
                                  </m:e>
                                  <m:sub>
                                    <m:r>
                                      <a:rPr lang="de-DE" sz="1400" i="1">
                                        <a:latin typeface="Cambria Math" panose="02040503050406030204" pitchFamily="18" charset="0"/>
                                      </a:rPr>
                                      <m:t>𝑡</m:t>
                                    </m:r>
                                  </m:sub>
                                  <m:sup>
                                    <m:r>
                                      <a:rPr lang="de-DE" sz="1400" i="1">
                                        <a:latin typeface="Cambria Math" panose="02040503050406030204" pitchFamily="18" charset="0"/>
                                      </a:rPr>
                                      <m:t>∗</m:t>
                                    </m:r>
                                  </m:sup>
                                </m:sSubSup>
                                <m:d>
                                  <m:dPr>
                                    <m:ctrlPr>
                                      <a:rPr lang="de-DE" sz="1400" i="1">
                                        <a:latin typeface="Cambria Math" panose="02040503050406030204" pitchFamily="18" charset="0"/>
                                      </a:rPr>
                                    </m:ctrlPr>
                                  </m:dPr>
                                  <m:e>
                                    <m:sSub>
                                      <m:sSubPr>
                                        <m:ctrlPr>
                                          <a:rPr lang="de-DE" sz="1400" i="1">
                                            <a:latin typeface="Cambria Math" panose="02040503050406030204" pitchFamily="18" charset="0"/>
                                          </a:rPr>
                                        </m:ctrlPr>
                                      </m:sSubPr>
                                      <m:e>
                                        <m:r>
                                          <a:rPr lang="de-DE" sz="1400" i="1">
                                            <a:latin typeface="Cambria Math" panose="02040503050406030204" pitchFamily="18" charset="0"/>
                                          </a:rPr>
                                          <m:t>𝑠</m:t>
                                        </m:r>
                                      </m:e>
                                      <m:sub>
                                        <m:r>
                                          <a:rPr lang="de-DE" sz="1400" i="1">
                                            <a:latin typeface="Cambria Math" panose="02040503050406030204" pitchFamily="18" charset="0"/>
                                          </a:rPr>
                                          <m:t>𝑡</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𝑎</m:t>
                                        </m:r>
                                      </m:e>
                                      <m:sub>
                                        <m:r>
                                          <a:rPr lang="de-DE" sz="1400" i="1">
                                            <a:latin typeface="Cambria Math" panose="02040503050406030204" pitchFamily="18" charset="0"/>
                                          </a:rPr>
                                          <m:t>𝑡</m:t>
                                        </m:r>
                                      </m:sub>
                                    </m:sSub>
                                    <m:r>
                                      <a:rPr lang="de-DE" sz="1400" i="1">
                                        <a:latin typeface="Cambria Math" panose="02040503050406030204" pitchFamily="18" charset="0"/>
                                      </a:rPr>
                                      <m:t>;</m:t>
                                    </m:r>
                                    <m:r>
                                      <a:rPr lang="de-DE" sz="1400" i="1">
                                        <a:latin typeface="Cambria Math" panose="02040503050406030204" pitchFamily="18" charset="0"/>
                                      </a:rPr>
                                      <m:t>𝛽</m:t>
                                    </m:r>
                                    <m:r>
                                      <a:rPr lang="de-DE" sz="1400" i="1">
                                        <a:latin typeface="Cambria Math" panose="02040503050406030204" pitchFamily="18" charset="0"/>
                                      </a:rPr>
                                      <m:t>,</m:t>
                                    </m:r>
                                    <m:r>
                                      <a:rPr lang="de-DE" sz="1400" i="1">
                                        <a:latin typeface="Cambria Math" panose="02040503050406030204" pitchFamily="18" charset="0"/>
                                      </a:rPr>
                                      <m:t>𝜎</m:t>
                                    </m:r>
                                  </m:e>
                                </m:d>
                              </m:e>
                            </m:d>
                          </m:e>
                        </m:nary>
                      </m:den>
                    </m:f>
                    <m:r>
                      <a:rPr lang="de-DE" sz="1400" i="1">
                        <a:latin typeface="Cambria Math" panose="02040503050406030204" pitchFamily="18" charset="0"/>
                      </a:rPr>
                      <m:t>⇒</m:t>
                    </m:r>
                  </m:oMath>
                </a14:m>
                <a:r>
                  <a:rPr lang="de-DE" sz="1400" dirty="0"/>
                  <a:t> </a:t>
                </a:r>
                <a:r>
                  <a:rPr lang="de-DE" sz="1400" dirty="0">
                    <a:latin typeface="Arial" panose="020B0604020202020204" pitchFamily="34" charset="0"/>
                    <a:cs typeface="Arial" panose="020B0604020202020204" pitchFamily="34" charset="0"/>
                  </a:rPr>
                  <a:t>Action as </a:t>
                </a:r>
                <a:r>
                  <a:rPr lang="de-DE" sz="1400" dirty="0" err="1">
                    <a:latin typeface="Arial" panose="020B0604020202020204" pitchFamily="34" charset="0"/>
                    <a:cs typeface="Arial" panose="020B0604020202020204" pitchFamily="34" charset="0"/>
                  </a:rPr>
                  <a:t>noisy</a:t>
                </a:r>
                <a:r>
                  <a:rPr lang="de-DE" sz="1400" dirty="0">
                    <a:latin typeface="Arial" panose="020B0604020202020204" pitchFamily="34" charset="0"/>
                    <a:cs typeface="Arial" panose="020B0604020202020204" pitchFamily="34" charset="0"/>
                  </a:rPr>
                  <a:t> (soft-</a:t>
                </a:r>
                <a:r>
                  <a:rPr lang="de-DE" sz="1400" dirty="0" err="1">
                    <a:latin typeface="Arial" panose="020B0604020202020204" pitchFamily="34" charset="0"/>
                    <a:cs typeface="Arial" panose="020B0604020202020204" pitchFamily="34" charset="0"/>
                  </a:rPr>
                  <a:t>maximizing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decision</a:t>
                </a:r>
                <a:endParaRPr lang="de-DE" sz="1400" dirty="0">
                  <a:latin typeface="Arial" panose="020B0604020202020204" pitchFamily="34" charset="0"/>
                  <a:cs typeface="Arial" panose="020B0604020202020204" pitchFamily="34" charset="0"/>
                </a:endParaRPr>
              </a:p>
            </p:txBody>
          </p:sp>
        </mc:Choice>
        <mc:Fallback xmlns="">
          <p:sp>
            <p:nvSpPr>
              <p:cNvPr id="17" name="Textfeld 16">
                <a:extLst>
                  <a:ext uri="{FF2B5EF4-FFF2-40B4-BE49-F238E27FC236}">
                    <a16:creationId xmlns:a16="http://schemas.microsoft.com/office/drawing/2014/main" id="{DCB9EB60-3274-561C-B418-9225CEB087DF}"/>
                  </a:ext>
                </a:extLst>
              </p:cNvPr>
              <p:cNvSpPr txBox="1">
                <a:spLocks noRot="1" noChangeAspect="1" noMove="1" noResize="1" noEditPoints="1" noAdjustHandles="1" noChangeArrowheads="1" noChangeShapeType="1" noTextEdit="1"/>
              </p:cNvSpPr>
              <p:nvPr/>
            </p:nvSpPr>
            <p:spPr>
              <a:xfrm>
                <a:off x="1571198" y="1380420"/>
                <a:ext cx="6299980" cy="528093"/>
              </a:xfrm>
              <a:prstGeom prst="rect">
                <a:avLst/>
              </a:prstGeom>
              <a:blipFill>
                <a:blip r:embed="rId5"/>
                <a:stretch>
                  <a:fillRect b="-59770"/>
                </a:stretch>
              </a:blipFill>
            </p:spPr>
            <p:txBody>
              <a:bodyPr/>
              <a:lstStyle/>
              <a:p>
                <a:r>
                  <a:rPr lang="de-DE">
                    <a:noFill/>
                  </a:rPr>
                  <a:t> </a:t>
                </a:r>
              </a:p>
            </p:txBody>
          </p:sp>
        </mc:Fallback>
      </mc:AlternateContent>
      <p:sp>
        <p:nvSpPr>
          <p:cNvPr id="19" name="Textfeld 18">
            <a:extLst>
              <a:ext uri="{FF2B5EF4-FFF2-40B4-BE49-F238E27FC236}">
                <a16:creationId xmlns:a16="http://schemas.microsoft.com/office/drawing/2014/main" id="{61627905-10F9-2A03-FE97-7C6DB41C22AE}"/>
              </a:ext>
            </a:extLst>
          </p:cNvPr>
          <p:cNvSpPr txBox="1"/>
          <p:nvPr/>
        </p:nvSpPr>
        <p:spPr>
          <a:xfrm>
            <a:off x="618772" y="1088032"/>
            <a:ext cx="1399720" cy="292388"/>
          </a:xfrm>
          <a:prstGeom prst="rect">
            <a:avLst/>
          </a:prstGeom>
          <a:noFill/>
        </p:spPr>
        <p:txBody>
          <a:bodyPr wrap="square">
            <a:spAutoFit/>
          </a:bodyPr>
          <a:lstStyle/>
          <a:p>
            <a:r>
              <a:rPr lang="de-DE" sz="1300" dirty="0">
                <a:latin typeface="Arial" panose="020B0604020202020204" pitchFamily="34" charset="0"/>
                <a:cs typeface="Arial" panose="020B0604020202020204" pitchFamily="34" charset="0"/>
              </a:rPr>
              <a:t>Data </a:t>
            </a:r>
            <a:r>
              <a:rPr lang="de-DE" sz="1300" dirty="0" err="1">
                <a:latin typeface="Arial" panose="020B0604020202020204" pitchFamily="34" charset="0"/>
                <a:cs typeface="Arial" panose="020B0604020202020204" pitchFamily="34" charset="0"/>
              </a:rPr>
              <a:t>model</a:t>
            </a:r>
            <a:endParaRPr lang="de-DE" sz="1300" dirty="0"/>
          </a:p>
        </p:txBody>
      </p:sp>
      <p:pic>
        <p:nvPicPr>
          <p:cNvPr id="5" name="Grafik 4">
            <a:extLst>
              <a:ext uri="{FF2B5EF4-FFF2-40B4-BE49-F238E27FC236}">
                <a16:creationId xmlns:a16="http://schemas.microsoft.com/office/drawing/2014/main" id="{DB34F578-40DE-7B08-AF49-497A4CBD5D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7059" y="2409781"/>
            <a:ext cx="7931223" cy="899631"/>
          </a:xfrm>
          <a:prstGeom prst="rect">
            <a:avLst/>
          </a:prstGeom>
        </p:spPr>
      </p:pic>
    </p:spTree>
    <p:extLst>
      <p:ext uri="{BB962C8B-B14F-4D97-AF65-F5344CB8AC3E}">
        <p14:creationId xmlns:p14="http://schemas.microsoft.com/office/powerpoint/2010/main" val="2387473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4206E013-74B9-2E90-19ED-A76F5F08090B}"/>
              </a:ext>
            </a:extLst>
          </p:cNvPr>
          <p:cNvSpPr>
            <a:spLocks noGrp="1"/>
          </p:cNvSpPr>
          <p:nvPr/>
        </p:nvSpPr>
        <p:spPr>
          <a:xfrm>
            <a:off x="8467725" y="4810125"/>
            <a:ext cx="323850" cy="200025"/>
          </a:xfrm>
          <a:prstGeom prst="rect">
            <a:avLst/>
          </a:prstGeom>
          <a:noFill/>
          <a:ln w="0">
            <a:noFill/>
          </a:ln>
        </p:spPr>
        <p:txBody>
          <a:bodyPr lIns="0" tIns="0" rIns="0" bIns="0" anchor="t">
            <a:noAutofit/>
          </a:bodyPr>
          <a:lstStyle/>
          <a:p>
            <a:pPr algn="r">
              <a:buNone/>
              <a:defRPr sz="975" b="0">
                <a:solidFill>
                  <a:srgbClr val="888888"/>
                </a:solidFill>
                <a:latin typeface="Arial"/>
                <a:ea typeface="Arial"/>
                <a:cs typeface="Arial"/>
              </a:defRPr>
            </a:pPr>
            <a:r>
              <a:rPr sz="975" b="0">
                <a:solidFill>
                  <a:srgbClr val="888888"/>
                </a:solidFill>
                <a:latin typeface="Arial"/>
                <a:ea typeface="Arial"/>
                <a:cs typeface="Arial"/>
              </a:rPr>
              <a:t>9</a:t>
            </a:r>
          </a:p>
        </p:txBody>
      </p:sp>
      <mc:AlternateContent xmlns:mc="http://schemas.openxmlformats.org/markup-compatibility/2006">
        <mc:Choice xmlns:a14="http://schemas.microsoft.com/office/drawing/2010/main" Requires="a14">
          <p:sp>
            <p:nvSpPr>
              <p:cNvPr id="10" name="BIC result">
                <a:extLst>
                  <a:ext uri="{FF2B5EF4-FFF2-40B4-BE49-F238E27FC236}">
                    <a16:creationId xmlns:a16="http://schemas.microsoft.com/office/drawing/2014/main" id="{DBFE0C61-21F8-41EF-8CEA-93A7F5BC0823}"/>
                  </a:ext>
                </a:extLst>
              </p:cNvPr>
              <p:cNvSpPr>
                <a:spLocks noGrp="1"/>
              </p:cNvSpPr>
              <p:nvPr/>
            </p:nvSpPr>
            <p:spPr>
              <a:xfrm>
                <a:off x="932584" y="824933"/>
                <a:ext cx="7810500" cy="361950"/>
              </a:xfrm>
              <a:prstGeom prst="rect">
                <a:avLst/>
              </a:prstGeom>
              <a:noFill/>
              <a:ln w="0">
                <a:noFill/>
              </a:ln>
            </p:spPr>
            <p:txBody>
              <a:bodyPr lIns="0" tIns="0" rIns="0" bIns="0" anchor="ctr">
                <a:normAutofit/>
              </a:bodyPr>
              <a:lstStyle/>
              <a:p>
                <a:pPr marL="114300">
                  <a:spcAft>
                    <a:spcPts val="0"/>
                  </a:spcAft>
                  <a:defRPr sz="1500">
                    <a:solidFill>
                      <a:srgbClr val="111111"/>
                    </a:solidFill>
                    <a:latin typeface="Arial"/>
                    <a:ea typeface="Arial"/>
                    <a:cs typeface="Arial"/>
                  </a:defRPr>
                </a:pPr>
                <a14:m>
                  <m:oMath xmlns:m="http://schemas.openxmlformats.org/officeDocument/2006/math">
                    <m:r>
                      <a:rPr lang="en-US" sz="1300" b="0" i="1" smtClean="0">
                        <a:solidFill>
                          <a:srgbClr val="111111"/>
                        </a:solidFill>
                        <a:latin typeface="Cambria Math" panose="02040503050406030204" pitchFamily="18" charset="0"/>
                        <a:ea typeface="Arial"/>
                        <a:cs typeface="Arial"/>
                      </a:rPr>
                      <m:t>𝒜</m:t>
                    </m:r>
                    <m:r>
                      <a:rPr lang="de-DE" sz="1300" b="0" i="1" smtClean="0">
                        <a:solidFill>
                          <a:srgbClr val="111111"/>
                        </a:solidFill>
                        <a:latin typeface="Cambria Math" panose="02040503050406030204" pitchFamily="18" charset="0"/>
                        <a:ea typeface="Arial"/>
                        <a:cs typeface="Arial"/>
                      </a:rPr>
                      <m:t> </m:t>
                    </m:r>
                  </m:oMath>
                </a14:m>
                <a:r>
                  <a:rPr lang="en-US" sz="1300" dirty="0">
                    <a:solidFill>
                      <a:srgbClr val="111111"/>
                    </a:solidFill>
                    <a:latin typeface="Arial"/>
                    <a:ea typeface="Arial"/>
                    <a:cs typeface="Arial"/>
                  </a:rPr>
                  <a:t>had a higher BIC than a </a:t>
                </a:r>
                <a:r>
                  <a:rPr lang="en-US" sz="1300" dirty="0" err="1">
                    <a:solidFill>
                      <a:srgbClr val="111111"/>
                    </a:solidFill>
                    <a:latin typeface="Arial"/>
                    <a:ea typeface="Arial"/>
                    <a:cs typeface="Arial"/>
                  </a:rPr>
                  <a:t>random</a:t>
                </a:r>
                <a:r>
                  <a:rPr lang="en-US" sz="1300" dirty="0">
                    <a:solidFill>
                      <a:srgbClr val="111111"/>
                    </a:solidFill>
                    <a:latin typeface="Arial"/>
                    <a:ea typeface="Arial"/>
                    <a:cs typeface="Arial"/>
                  </a:rPr>
                  <a:t> </a:t>
                </a:r>
                <a:r>
                  <a:rPr lang="en-US" sz="1300" dirty="0" err="1">
                    <a:solidFill>
                      <a:srgbClr val="111111"/>
                    </a:solidFill>
                    <a:latin typeface="Arial"/>
                    <a:ea typeface="Arial"/>
                    <a:cs typeface="Arial"/>
                  </a:rPr>
                  <a:t>choice</a:t>
                </a:r>
                <a:r>
                  <a:rPr lang="en-US" sz="1300" dirty="0">
                    <a:solidFill>
                      <a:srgbClr val="111111"/>
                    </a:solidFill>
                    <a:latin typeface="Arial"/>
                    <a:ea typeface="Arial"/>
                    <a:cs typeface="Arial"/>
                  </a:rPr>
                  <a:t> </a:t>
                </a:r>
                <a:r>
                  <a:rPr lang="en-US" sz="1300" dirty="0" err="1">
                    <a:solidFill>
                      <a:srgbClr val="111111"/>
                    </a:solidFill>
                    <a:latin typeface="Arial"/>
                    <a:ea typeface="Arial"/>
                    <a:cs typeface="Arial"/>
                  </a:rPr>
                  <a:t>model</a:t>
                </a:r>
                <a:r>
                  <a:rPr lang="en-US" sz="1300" dirty="0">
                    <a:solidFill>
                      <a:srgbClr val="111111"/>
                    </a:solidFill>
                    <a:latin typeface="Arial"/>
                    <a:ea typeface="Arial"/>
                    <a:cs typeface="Arial"/>
                  </a:rPr>
                  <a:t> for all 49 participants (ΔBIC: 475.19 to 1374.70)</a:t>
                </a:r>
                <a:endParaRPr lang="de-DE" sz="1300" dirty="0">
                  <a:solidFill>
                    <a:srgbClr val="111111"/>
                  </a:solidFill>
                  <a:latin typeface="Arial"/>
                  <a:ea typeface="Arial"/>
                  <a:cs typeface="Arial"/>
                </a:endParaRPr>
              </a:p>
            </p:txBody>
          </p:sp>
        </mc:Choice>
        <mc:Fallback>
          <p:sp>
            <p:nvSpPr>
              <p:cNvPr id="10" name="BIC result">
                <a:extLst>
                  <a:ext uri="{FF2B5EF4-FFF2-40B4-BE49-F238E27FC236}">
                    <a16:creationId xmlns:a16="http://schemas.microsoft.com/office/drawing/2014/main" id="{DBFE0C61-21F8-41EF-8CEA-93A7F5BC0823}"/>
                  </a:ext>
                </a:extLst>
              </p:cNvPr>
              <p:cNvSpPr>
                <a:spLocks noGrp="1" noRot="1" noChangeAspect="1" noMove="1" noResize="1" noEditPoints="1" noAdjustHandles="1" noChangeArrowheads="1" noChangeShapeType="1" noTextEdit="1"/>
              </p:cNvSpPr>
              <p:nvPr/>
            </p:nvSpPr>
            <p:spPr>
              <a:xfrm>
                <a:off x="932584" y="824933"/>
                <a:ext cx="7810500" cy="361950"/>
              </a:xfrm>
              <a:prstGeom prst="rect">
                <a:avLst/>
              </a:prstGeom>
              <a:blipFill>
                <a:blip r:embed="rId3"/>
                <a:stretch>
                  <a:fillRect b="-3333"/>
                </a:stretch>
              </a:blipFill>
              <a:ln w="0">
                <a:noFill/>
              </a:ln>
            </p:spPr>
            <p:txBody>
              <a:bodyPr/>
              <a:lstStyle/>
              <a:p>
                <a:r>
                  <a:rPr lang="de-DE">
                    <a:noFill/>
                  </a:rPr>
                  <a:t> </a:t>
                </a:r>
              </a:p>
            </p:txBody>
          </p:sp>
        </mc:Fallback>
      </mc:AlternateContent>
      <p:pic>
        <p:nvPicPr>
          <p:cNvPr id="3" name="Grafik 2">
            <a:extLst>
              <a:ext uri="{FF2B5EF4-FFF2-40B4-BE49-F238E27FC236}">
                <a16:creationId xmlns:a16="http://schemas.microsoft.com/office/drawing/2014/main" id="{A034D822-A6D0-08CF-B814-810C8B8E30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68064" y="1159305"/>
            <a:ext cx="5399661" cy="3528596"/>
          </a:xfrm>
          <a:prstGeom prst="rect">
            <a:avLst/>
          </a:prstGeom>
        </p:spPr>
      </p:pic>
      <p:sp>
        <p:nvSpPr>
          <p:cNvPr id="13" name="Textfeld 12">
            <a:extLst>
              <a:ext uri="{FF2B5EF4-FFF2-40B4-BE49-F238E27FC236}">
                <a16:creationId xmlns:a16="http://schemas.microsoft.com/office/drawing/2014/main" id="{6005D5E2-A5C1-DC29-9984-CDA360627B11}"/>
              </a:ext>
            </a:extLst>
          </p:cNvPr>
          <p:cNvSpPr txBox="1"/>
          <p:nvPr/>
        </p:nvSpPr>
        <p:spPr>
          <a:xfrm>
            <a:off x="408708" y="1606695"/>
            <a:ext cx="2722419" cy="955518"/>
          </a:xfrm>
          <a:prstGeom prst="rect">
            <a:avLst/>
          </a:prstGeom>
          <a:noFill/>
        </p:spPr>
        <p:txBody>
          <a:bodyPr wrap="square" rtlCol="0">
            <a:spAutoFit/>
          </a:bodyPr>
          <a:lstStyle/>
          <a:p>
            <a:pPr algn="ctr">
              <a:lnSpc>
                <a:spcPct val="150000"/>
              </a:lnSpc>
            </a:pPr>
            <a:r>
              <a:rPr lang="de-DE" sz="1300" dirty="0" err="1">
                <a:latin typeface="Arial" panose="020B0604020202020204" pitchFamily="34" charset="0"/>
                <a:cs typeface="Arial" panose="020B0604020202020204" pitchFamily="34" charset="0"/>
              </a:rPr>
              <a:t>Sequential</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conditional</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log </a:t>
            </a:r>
            <a:r>
              <a:rPr lang="de-DE" sz="1300" dirty="0" err="1">
                <a:latin typeface="Arial" panose="020B0604020202020204" pitchFamily="34" charset="0"/>
                <a:cs typeface="Arial" panose="020B0604020202020204" pitchFamily="34" charset="0"/>
              </a:rPr>
              <a:t>likelihood</a:t>
            </a:r>
            <a:r>
              <a:rPr lang="de-DE" sz="1300" dirty="0">
                <a:latin typeface="Arial" panose="020B0604020202020204" pitchFamily="34" charset="0"/>
                <a:cs typeface="Arial" panose="020B0604020202020204" pitchFamily="34" charset="0"/>
              </a:rPr>
              <a:t> </a:t>
            </a:r>
            <a:r>
              <a:rPr lang="de-DE" sz="1300" dirty="0" err="1">
                <a:latin typeface="Arial" panose="020B0604020202020204" pitchFamily="34" charset="0"/>
                <a:cs typeface="Arial" panose="020B0604020202020204" pitchFamily="34" charset="0"/>
              </a:rPr>
              <a:t>Surfaces</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(N = 3)</a:t>
            </a:r>
          </a:p>
        </p:txBody>
      </p:sp>
      <p:sp>
        <p:nvSpPr>
          <p:cNvPr id="15" name="Textfeld 14">
            <a:extLst>
              <a:ext uri="{FF2B5EF4-FFF2-40B4-BE49-F238E27FC236}">
                <a16:creationId xmlns:a16="http://schemas.microsoft.com/office/drawing/2014/main" id="{26FD7E59-7AE2-CECB-1922-99984A8DA1F8}"/>
              </a:ext>
            </a:extLst>
          </p:cNvPr>
          <p:cNvSpPr txBox="1"/>
          <p:nvPr/>
        </p:nvSpPr>
        <p:spPr>
          <a:xfrm>
            <a:off x="569767" y="3101149"/>
            <a:ext cx="2400300" cy="955518"/>
          </a:xfrm>
          <a:prstGeom prst="rect">
            <a:avLst/>
          </a:prstGeom>
          <a:noFill/>
        </p:spPr>
        <p:txBody>
          <a:bodyPr wrap="square" rtlCol="0">
            <a:spAutoFit/>
          </a:bodyPr>
          <a:lstStyle/>
          <a:p>
            <a:pPr algn="ctr">
              <a:lnSpc>
                <a:spcPct val="150000"/>
              </a:lnSpc>
            </a:pPr>
            <a:r>
              <a:rPr lang="de-DE" sz="1300" dirty="0">
                <a:latin typeface="Arial" panose="020B0604020202020204" pitchFamily="34" charset="0"/>
                <a:cs typeface="Arial" panose="020B0604020202020204" pitchFamily="34" charset="0"/>
              </a:rPr>
              <a:t>Parameter </a:t>
            </a:r>
            <a:r>
              <a:rPr lang="de-DE" sz="1300" dirty="0" err="1">
                <a:latin typeface="Arial" panose="020B0604020202020204" pitchFamily="34" charset="0"/>
                <a:cs typeface="Arial" panose="020B0604020202020204" pitchFamily="34" charset="0"/>
              </a:rPr>
              <a:t>estimate</a:t>
            </a:r>
            <a:endParaRPr lang="de-DE" sz="1300" dirty="0">
              <a:latin typeface="Arial" panose="020B0604020202020204" pitchFamily="34" charset="0"/>
              <a:cs typeface="Arial" panose="020B0604020202020204" pitchFamily="34" charset="0"/>
            </a:endParaRPr>
          </a:p>
          <a:p>
            <a:pPr algn="ctr">
              <a:lnSpc>
                <a:spcPct val="150000"/>
              </a:lnSpc>
            </a:pPr>
            <a:r>
              <a:rPr lang="de-DE" sz="1300" dirty="0" err="1">
                <a:latin typeface="Arial" panose="020B0604020202020204" pitchFamily="34" charset="0"/>
                <a:cs typeface="Arial" panose="020B0604020202020204" pitchFamily="34" charset="0"/>
              </a:rPr>
              <a:t>projections</a:t>
            </a:r>
            <a:endParaRPr lang="de-DE" sz="1300" dirty="0">
              <a:latin typeface="Arial" panose="020B0604020202020204" pitchFamily="34" charset="0"/>
              <a:cs typeface="Arial" panose="020B0604020202020204" pitchFamily="34" charset="0"/>
            </a:endParaRPr>
          </a:p>
          <a:p>
            <a:pPr algn="ctr">
              <a:lnSpc>
                <a:spcPct val="150000"/>
              </a:lnSpc>
            </a:pPr>
            <a:r>
              <a:rPr lang="de-DE" sz="1300" dirty="0">
                <a:latin typeface="Arial" panose="020B0604020202020204" pitchFamily="34" charset="0"/>
                <a:cs typeface="Arial" panose="020B0604020202020204" pitchFamily="34" charset="0"/>
              </a:rPr>
              <a:t>(N = 49)</a:t>
            </a:r>
          </a:p>
        </p:txBody>
      </p:sp>
      <p:sp>
        <p:nvSpPr>
          <p:cNvPr id="16" name="Titel 1">
            <a:extLst>
              <a:ext uri="{FF2B5EF4-FFF2-40B4-BE49-F238E27FC236}">
                <a16:creationId xmlns:a16="http://schemas.microsoft.com/office/drawing/2014/main" id="{B18F3487-45CC-06B7-B5F2-7C0048AFFBEE}"/>
              </a:ext>
            </a:extLst>
          </p:cNvPr>
          <p:cNvSpPr>
            <a:spLocks noGrp="1"/>
          </p:cNvSpPr>
          <p:nvPr>
            <p:ph type="title"/>
          </p:nvPr>
        </p:nvSpPr>
        <p:spPr>
          <a:xfrm>
            <a:off x="755577" y="205979"/>
            <a:ext cx="7931223" cy="857250"/>
          </a:xfrm>
        </p:spPr>
        <p:txBody>
          <a:bodyPr>
            <a:normAutofit/>
          </a:bodyPr>
          <a:lstStyle/>
          <a:p>
            <a:r>
              <a:rPr lang="de-DE" sz="2200" b="0" dirty="0"/>
              <a:t>Model </a:t>
            </a:r>
            <a:r>
              <a:rPr lang="de-DE" sz="2200" b="0" dirty="0" err="1"/>
              <a:t>comparison</a:t>
            </a:r>
            <a:r>
              <a:rPr lang="de-DE" sz="2200" b="0" dirty="0"/>
              <a:t> and </a:t>
            </a:r>
            <a:r>
              <a:rPr lang="de-DE" sz="2200" b="0" dirty="0" err="1"/>
              <a:t>parameter</a:t>
            </a:r>
            <a:r>
              <a:rPr lang="de-DE" sz="2200" b="0" dirty="0"/>
              <a:t> </a:t>
            </a:r>
            <a:r>
              <a:rPr lang="de-DE" sz="2200" b="0" dirty="0" err="1"/>
              <a:t>estimates</a:t>
            </a:r>
            <a:endParaRPr lang="de-DE" sz="2200" b="0" dirty="0"/>
          </a:p>
        </p:txBody>
      </p:sp>
    </p:spTree>
    <p:extLst>
      <p:ext uri="{BB962C8B-B14F-4D97-AF65-F5344CB8AC3E}">
        <p14:creationId xmlns:p14="http://schemas.microsoft.com/office/powerpoint/2010/main" val="2721985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D4A93424-992C-949A-F2A2-9FC3469513C7}"/>
              </a:ext>
            </a:extLst>
          </p:cNvPr>
          <p:cNvSpPr txBox="1"/>
          <p:nvPr/>
        </p:nvSpPr>
        <p:spPr>
          <a:xfrm>
            <a:off x="496586" y="2241778"/>
            <a:ext cx="4812026"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2.2 | Agent-</a:t>
            </a:r>
            <a:r>
              <a:rPr lang="de-DE" sz="1400" dirty="0" err="1">
                <a:latin typeface="Arial" panose="020B0604020202020204" pitchFamily="34" charset="0"/>
                <a:cs typeface="Arial" panose="020B0604020202020204" pitchFamily="34" charset="0"/>
              </a:rPr>
              <a:t>based</a:t>
            </a:r>
            <a:r>
              <a:rPr lang="de-DE" sz="1400" dirty="0">
                <a:latin typeface="Arial" panose="020B0604020202020204" pitchFamily="34" charset="0"/>
                <a:cs typeface="Arial" panose="020B0604020202020204" pitchFamily="34" charset="0"/>
              </a:rPr>
              <a:t> behavioral </a:t>
            </a:r>
            <a:r>
              <a:rPr lang="de-DE" sz="1400" dirty="0" err="1">
                <a:latin typeface="Arial" panose="020B0604020202020204" pitchFamily="34" charset="0"/>
                <a:cs typeface="Arial" panose="020B0604020202020204" pitchFamily="34" charset="0"/>
              </a:rPr>
              <a:t>modeling</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Statistical </a:t>
            </a:r>
            <a:r>
              <a:rPr lang="de-DE" sz="1400" dirty="0" err="1">
                <a:latin typeface="Arial" panose="020B0604020202020204" pitchFamily="34" charset="0"/>
                <a:cs typeface="Arial" panose="020B0604020202020204" pitchFamily="34" charset="0"/>
              </a:rPr>
              <a:t>model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embedding</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inference</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Model and </a:t>
            </a:r>
            <a:r>
              <a:rPr lang="de-DE" sz="1400" dirty="0" err="1">
                <a:latin typeface="Arial" panose="020B0604020202020204" pitchFamily="34" charset="0"/>
                <a:cs typeface="Arial" panose="020B0604020202020204" pitchFamily="34" charset="0"/>
              </a:rPr>
              <a:t>parameter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recovery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validation</a:t>
            </a:r>
            <a:endParaRPr lang="de-DE" sz="1400" dirty="0">
              <a:latin typeface="Arial" panose="020B0604020202020204" pitchFamily="34" charset="0"/>
              <a:cs typeface="Arial" panose="020B0604020202020204" pitchFamily="34" charset="0"/>
            </a:endParaRPr>
          </a:p>
        </p:txBody>
      </p:sp>
      <p:sp>
        <p:nvSpPr>
          <p:cNvPr id="2" name="Titel 1">
            <a:extLst>
              <a:ext uri="{FF2B5EF4-FFF2-40B4-BE49-F238E27FC236}">
                <a16:creationId xmlns:a16="http://schemas.microsoft.com/office/drawing/2014/main" id="{8C796E9C-8FCE-97F3-235C-AB7CC0047404}"/>
              </a:ext>
            </a:extLst>
          </p:cNvPr>
          <p:cNvSpPr>
            <a:spLocks noGrp="1"/>
          </p:cNvSpPr>
          <p:nvPr>
            <p:ph type="title"/>
          </p:nvPr>
        </p:nvSpPr>
        <p:spPr/>
        <p:txBody>
          <a:bodyPr>
            <a:normAutofit/>
          </a:bodyPr>
          <a:lstStyle/>
          <a:p>
            <a:r>
              <a:rPr lang="de-DE" sz="2600" b="0" err="1">
                <a:latin typeface="Arial"/>
                <a:cs typeface="Arial"/>
              </a:rPr>
              <a:t>Theoretical</a:t>
            </a:r>
            <a:r>
              <a:rPr lang="de-DE" sz="2600" b="0">
                <a:latin typeface="Arial"/>
                <a:cs typeface="Arial"/>
              </a:rPr>
              <a:t> </a:t>
            </a:r>
            <a:r>
              <a:rPr lang="de-DE" sz="2600" b="0" err="1">
                <a:latin typeface="Arial"/>
                <a:cs typeface="Arial"/>
              </a:rPr>
              <a:t>work</a:t>
            </a:r>
            <a:r>
              <a:rPr lang="de-DE" sz="2600" b="0">
                <a:latin typeface="Arial"/>
                <a:cs typeface="Arial"/>
              </a:rPr>
              <a:t> </a:t>
            </a:r>
            <a:r>
              <a:rPr lang="de-DE" sz="2600" b="0" err="1">
                <a:latin typeface="Arial"/>
                <a:cs typeface="Arial"/>
              </a:rPr>
              <a:t>packages</a:t>
            </a:r>
            <a:endParaRPr lang="de-DE" sz="2600" b="0">
              <a:latin typeface="Arial"/>
              <a:cs typeface="Arial"/>
            </a:endParaRPr>
          </a:p>
        </p:txBody>
      </p:sp>
      <p:sp>
        <p:nvSpPr>
          <p:cNvPr id="4" name="Foliennummernplatzhalter 3">
            <a:extLst>
              <a:ext uri="{FF2B5EF4-FFF2-40B4-BE49-F238E27FC236}">
                <a16:creationId xmlns:a16="http://schemas.microsoft.com/office/drawing/2014/main" id="{F2188B60-43E7-25FA-0477-F9CFB0938E86}"/>
              </a:ext>
            </a:extLst>
          </p:cNvPr>
          <p:cNvSpPr>
            <a:spLocks noGrp="1"/>
          </p:cNvSpPr>
          <p:nvPr>
            <p:ph type="sldNum" sz="quarter" idx="12"/>
          </p:nvPr>
        </p:nvSpPr>
        <p:spPr/>
        <p:txBody>
          <a:bodyPr/>
          <a:lstStyle/>
          <a:p>
            <a:fld id="{5CD88B4E-D815-417B-99FD-41D66E5C06D4}" type="slidenum">
              <a:rPr lang="de-DE" smtClean="0">
                <a:latin typeface="Arial"/>
                <a:cs typeface="Arial"/>
              </a:rPr>
              <a:pPr/>
              <a:t>19</a:t>
            </a:fld>
            <a:endParaRPr lang="de-DE">
              <a:latin typeface="Arial"/>
              <a:cs typeface="Arial"/>
            </a:endParaRPr>
          </a:p>
        </p:txBody>
      </p:sp>
      <p:sp>
        <p:nvSpPr>
          <p:cNvPr id="10" name="Textfeld 9">
            <a:extLst>
              <a:ext uri="{FF2B5EF4-FFF2-40B4-BE49-F238E27FC236}">
                <a16:creationId xmlns:a16="http://schemas.microsoft.com/office/drawing/2014/main" id="{CB6D906D-F193-6F1C-A21B-9DDF0E2A540F}"/>
              </a:ext>
            </a:extLst>
          </p:cNvPr>
          <p:cNvSpPr txBox="1"/>
          <p:nvPr/>
        </p:nvSpPr>
        <p:spPr>
          <a:xfrm>
            <a:off x="496586" y="1063229"/>
            <a:ext cx="4812025"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2.1 | Offline and online rational </a:t>
            </a:r>
            <a:r>
              <a:rPr lang="de-DE" sz="1400" dirty="0" err="1">
                <a:latin typeface="Arial" panose="020B0604020202020204" pitchFamily="34" charset="0"/>
                <a:cs typeface="Arial" panose="020B0604020202020204" pitchFamily="34" charset="0"/>
              </a:rPr>
              <a:t>analysis</a:t>
            </a:r>
            <a:r>
              <a:rPr lang="de-DE" sz="1400" dirty="0">
                <a:latin typeface="Arial" panose="020B0604020202020204" pitchFamily="34" charset="0"/>
                <a:cs typeface="Arial" panose="020B0604020202020204" pitchFamily="34" charset="0"/>
              </a:rPr>
              <a:t>  </a:t>
            </a: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Error- and </a:t>
            </a:r>
            <a:r>
              <a:rPr lang="de-DE" sz="1400" dirty="0" err="1">
                <a:latin typeface="Arial" panose="020B0604020202020204" pitchFamily="34" charset="0"/>
                <a:cs typeface="Arial" panose="020B0604020202020204" pitchFamily="34" charset="0"/>
              </a:rPr>
              <a:t>reward-sensitivity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parameterization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Temporal, </a:t>
            </a:r>
            <a:r>
              <a:rPr lang="de-DE" sz="1400" dirty="0" err="1">
                <a:latin typeface="Arial" panose="020B0604020202020204" pitchFamily="34" charset="0"/>
                <a:cs typeface="Arial" panose="020B0604020202020204" pitchFamily="34" charset="0"/>
              </a:rPr>
              <a:t>hierarchical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concurrent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characteristics</a:t>
            </a:r>
            <a:endParaRPr lang="de-DE" sz="1400" dirty="0">
              <a:latin typeface="Arial" panose="020B0604020202020204" pitchFamily="34" charset="0"/>
              <a:cs typeface="Arial" panose="020B0604020202020204" pitchFamily="34" charset="0"/>
            </a:endParaRPr>
          </a:p>
        </p:txBody>
      </p:sp>
      <p:sp>
        <p:nvSpPr>
          <p:cNvPr id="6" name="Textfeld 5">
            <a:extLst>
              <a:ext uri="{FF2B5EF4-FFF2-40B4-BE49-F238E27FC236}">
                <a16:creationId xmlns:a16="http://schemas.microsoft.com/office/drawing/2014/main" id="{59E6FD6A-B703-C7C3-4124-7B661FDF6CC9}"/>
              </a:ext>
            </a:extLst>
          </p:cNvPr>
          <p:cNvSpPr txBox="1"/>
          <p:nvPr/>
        </p:nvSpPr>
        <p:spPr>
          <a:xfrm>
            <a:off x="496586" y="3406373"/>
            <a:ext cx="6425603"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 Package 2.3 | ERN and FRN </a:t>
            </a:r>
            <a:r>
              <a:rPr lang="de-DE" sz="1400" dirty="0" err="1">
                <a:latin typeface="Arial" panose="020B0604020202020204" pitchFamily="34" charset="0"/>
                <a:cs typeface="Arial" panose="020B0604020202020204" pitchFamily="34" charset="0"/>
              </a:rPr>
              <a:t>integration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err="1">
                <a:latin typeface="Arial" panose="020B0604020202020204" pitchFamily="34" charset="0"/>
                <a:cs typeface="Arial" panose="020B0604020202020204" pitchFamily="34" charset="0"/>
              </a:rPr>
              <a:t>Neural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mass</a:t>
            </a:r>
            <a:r>
              <a:rPr lang="de-DE" sz="1400" dirty="0">
                <a:latin typeface="Arial" panose="020B0604020202020204" pitchFamily="34" charset="0"/>
                <a:cs typeface="Arial" panose="020B0604020202020204" pitchFamily="34" charset="0"/>
              </a:rPr>
              <a:t> and EEG </a:t>
            </a:r>
            <a:r>
              <a:rPr lang="de-DE" sz="1400" dirty="0" err="1">
                <a:latin typeface="Arial" panose="020B0604020202020204" pitchFamily="34" charset="0"/>
                <a:cs typeface="Arial" panose="020B0604020202020204" pitchFamily="34" charset="0"/>
              </a:rPr>
              <a:t>forward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model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augmentation</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Error/</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index-</a:t>
            </a:r>
            <a:r>
              <a:rPr lang="de-DE" sz="1400" dirty="0" err="1">
                <a:latin typeface="Arial" panose="020B0604020202020204" pitchFamily="34" charset="0"/>
                <a:cs typeface="Arial" panose="020B0604020202020204" pitchFamily="34" charset="0"/>
              </a:rPr>
              <a:t>dependent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effective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connectivity</a:t>
            </a:r>
            <a:endParaRPr lang="de-DE" sz="1400" dirty="0">
              <a:latin typeface="Arial" panose="020B0604020202020204" pitchFamily="34" charset="0"/>
              <a:cs typeface="Arial" panose="020B0604020202020204" pitchFamily="34" charset="0"/>
            </a:endParaRPr>
          </a:p>
        </p:txBody>
      </p:sp>
      <p:sp>
        <p:nvSpPr>
          <p:cNvPr id="11" name="Rechteck: abgerundete Ecken 10">
            <a:extLst>
              <a:ext uri="{FF2B5EF4-FFF2-40B4-BE49-F238E27FC236}">
                <a16:creationId xmlns:a16="http://schemas.microsoft.com/office/drawing/2014/main" id="{7F6470BF-8274-3BDF-1435-7AE59585704D}"/>
              </a:ext>
            </a:extLst>
          </p:cNvPr>
          <p:cNvSpPr/>
          <p:nvPr/>
        </p:nvSpPr>
        <p:spPr>
          <a:xfrm>
            <a:off x="5104903" y="2571750"/>
            <a:ext cx="1032936" cy="437783"/>
          </a:xfrm>
          <a:prstGeom prst="roundRect">
            <a:avLst/>
          </a:prstGeom>
          <a:solidFill>
            <a:srgbClr val="F6D9D7"/>
          </a:solidFill>
          <a:ln>
            <a:solidFill>
              <a:srgbClr val="D662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Tübingen</a:t>
            </a:r>
            <a:endParaRPr lang="en-US" sz="1000">
              <a:solidFill>
                <a:schemeClr val="tx1"/>
              </a:solidFill>
              <a:latin typeface="Arial" panose="020B0604020202020204" pitchFamily="34" charset="0"/>
              <a:cs typeface="Arial" panose="020B0604020202020204" pitchFamily="34" charset="0"/>
            </a:endParaRPr>
          </a:p>
        </p:txBody>
      </p:sp>
      <p:sp>
        <p:nvSpPr>
          <p:cNvPr id="13" name="Rechteck: abgerundete Ecken 12">
            <a:extLst>
              <a:ext uri="{FF2B5EF4-FFF2-40B4-BE49-F238E27FC236}">
                <a16:creationId xmlns:a16="http://schemas.microsoft.com/office/drawing/2014/main" id="{0650930A-4016-8846-548F-473400007458}"/>
              </a:ext>
            </a:extLst>
          </p:cNvPr>
          <p:cNvSpPr/>
          <p:nvPr/>
        </p:nvSpPr>
        <p:spPr>
          <a:xfrm>
            <a:off x="5004049" y="1322045"/>
            <a:ext cx="1088063" cy="447761"/>
          </a:xfrm>
          <a:prstGeom prst="roundRect">
            <a:avLst/>
          </a:prstGeom>
          <a:solidFill>
            <a:srgbClr val="CFE2F3"/>
          </a:solidFill>
          <a:ln>
            <a:solidFill>
              <a:srgbClr val="0B79C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Köln</a:t>
            </a:r>
            <a:endParaRPr lang="en-US" sz="1000">
              <a:solidFill>
                <a:schemeClr val="tx1"/>
              </a:solidFill>
              <a:latin typeface="Arial" panose="020B0604020202020204" pitchFamily="34" charset="0"/>
              <a:cs typeface="Arial" panose="020B0604020202020204" pitchFamily="34" charset="0"/>
            </a:endParaRPr>
          </a:p>
        </p:txBody>
      </p:sp>
      <p:pic>
        <p:nvPicPr>
          <p:cNvPr id="14" name="Grafik 13" descr="Computer Silhouette">
            <a:extLst>
              <a:ext uri="{FF2B5EF4-FFF2-40B4-BE49-F238E27FC236}">
                <a16:creationId xmlns:a16="http://schemas.microsoft.com/office/drawing/2014/main" id="{B828AC9A-9B23-396B-3092-755A928100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5071" y="2342058"/>
            <a:ext cx="914400" cy="914400"/>
          </a:xfrm>
          <a:prstGeom prst="rect">
            <a:avLst/>
          </a:prstGeom>
        </p:spPr>
      </p:pic>
      <p:pic>
        <p:nvPicPr>
          <p:cNvPr id="16" name="Grafik 15" descr="Kopf mit Zahnrädern Silhouette">
            <a:extLst>
              <a:ext uri="{FF2B5EF4-FFF2-40B4-BE49-F238E27FC236}">
                <a16:creationId xmlns:a16="http://schemas.microsoft.com/office/drawing/2014/main" id="{D28C15D5-8573-0E72-0E4E-728AB5015C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85415" y="1225211"/>
            <a:ext cx="857250" cy="857250"/>
          </a:xfrm>
          <a:prstGeom prst="rect">
            <a:avLst/>
          </a:prstGeom>
        </p:spPr>
      </p:pic>
      <p:pic>
        <p:nvPicPr>
          <p:cNvPr id="24" name="Grafik 23">
            <a:extLst>
              <a:ext uri="{FF2B5EF4-FFF2-40B4-BE49-F238E27FC236}">
                <a16:creationId xmlns:a16="http://schemas.microsoft.com/office/drawing/2014/main" id="{3BCC8E38-AC47-7BA7-04B9-07D136ED4CA7}"/>
              </a:ext>
            </a:extLst>
          </p:cNvPr>
          <p:cNvPicPr>
            <a:picLocks noChangeAspect="1"/>
          </p:cNvPicPr>
          <p:nvPr/>
        </p:nvPicPr>
        <p:blipFill>
          <a:blip r:embed="rId5"/>
          <a:stretch>
            <a:fillRect/>
          </a:stretch>
        </p:blipFill>
        <p:spPr>
          <a:xfrm>
            <a:off x="7265245" y="1444860"/>
            <a:ext cx="1498216" cy="463210"/>
          </a:xfrm>
          <a:prstGeom prst="rect">
            <a:avLst/>
          </a:prstGeom>
        </p:spPr>
      </p:pic>
      <p:pic>
        <p:nvPicPr>
          <p:cNvPr id="26" name="Grafik 25">
            <a:extLst>
              <a:ext uri="{FF2B5EF4-FFF2-40B4-BE49-F238E27FC236}">
                <a16:creationId xmlns:a16="http://schemas.microsoft.com/office/drawing/2014/main" id="{7A738835-00FC-DC65-0639-5378B75545D0}"/>
              </a:ext>
            </a:extLst>
          </p:cNvPr>
          <p:cNvPicPr>
            <a:picLocks noChangeAspect="1"/>
          </p:cNvPicPr>
          <p:nvPr/>
        </p:nvPicPr>
        <p:blipFill>
          <a:blip r:embed="rId6"/>
          <a:stretch>
            <a:fillRect/>
          </a:stretch>
        </p:blipFill>
        <p:spPr>
          <a:xfrm>
            <a:off x="7271996" y="2443584"/>
            <a:ext cx="1484714" cy="624239"/>
          </a:xfrm>
          <a:prstGeom prst="rect">
            <a:avLst/>
          </a:prstGeom>
        </p:spPr>
      </p:pic>
      <p:sp>
        <p:nvSpPr>
          <p:cNvPr id="8" name="Rechteck: abgerundete Ecken 7">
            <a:extLst>
              <a:ext uri="{FF2B5EF4-FFF2-40B4-BE49-F238E27FC236}">
                <a16:creationId xmlns:a16="http://schemas.microsoft.com/office/drawing/2014/main" id="{45C4374F-4B95-4C3D-48E7-CD7564E5B4F1}"/>
              </a:ext>
            </a:extLst>
          </p:cNvPr>
          <p:cNvSpPr/>
          <p:nvPr/>
        </p:nvSpPr>
        <p:spPr>
          <a:xfrm>
            <a:off x="5124000" y="1646674"/>
            <a:ext cx="1109355" cy="447761"/>
          </a:xfrm>
          <a:prstGeom prst="roundRect">
            <a:avLst/>
          </a:prstGeom>
          <a:solidFill>
            <a:srgbClr val="E8D6EF"/>
          </a:solidFill>
          <a:ln>
            <a:solidFill>
              <a:srgbClr val="6B53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a:solidFill>
                  <a:schemeClr val="tx1"/>
                </a:solidFill>
                <a:latin typeface="Arial" panose="020B0604020202020204" pitchFamily="34" charset="0"/>
                <a:cs typeface="Arial" panose="020B0604020202020204" pitchFamily="34" charset="0"/>
              </a:rPr>
              <a:t>Freiburg</a:t>
            </a:r>
            <a:endParaRPr lang="en-US">
              <a:solidFill>
                <a:schemeClr val="tx1"/>
              </a:solidFill>
              <a:latin typeface="Arial" panose="020B0604020202020204" pitchFamily="34" charset="0"/>
              <a:cs typeface="Arial" panose="020B0604020202020204" pitchFamily="34" charset="0"/>
            </a:endParaRPr>
          </a:p>
        </p:txBody>
      </p:sp>
      <p:grpSp>
        <p:nvGrpSpPr>
          <p:cNvPr id="22" name="Gruppieren 21">
            <a:extLst>
              <a:ext uri="{FF2B5EF4-FFF2-40B4-BE49-F238E27FC236}">
                <a16:creationId xmlns:a16="http://schemas.microsoft.com/office/drawing/2014/main" id="{D286514F-BEE7-4F59-A679-DDE57A061A84}"/>
              </a:ext>
            </a:extLst>
          </p:cNvPr>
          <p:cNvGrpSpPr/>
          <p:nvPr/>
        </p:nvGrpSpPr>
        <p:grpSpPr>
          <a:xfrm>
            <a:off x="7010597" y="3485452"/>
            <a:ext cx="1673449" cy="996704"/>
            <a:chOff x="7099686" y="3516055"/>
            <a:chExt cx="1673449" cy="996704"/>
          </a:xfrm>
        </p:grpSpPr>
        <p:sp>
          <p:nvSpPr>
            <p:cNvPr id="15" name="Rechteck 14">
              <a:extLst>
                <a:ext uri="{FF2B5EF4-FFF2-40B4-BE49-F238E27FC236}">
                  <a16:creationId xmlns:a16="http://schemas.microsoft.com/office/drawing/2014/main" id="{F125DA24-171C-3D32-750C-F00D9D4027CE}"/>
                </a:ext>
              </a:extLst>
            </p:cNvPr>
            <p:cNvSpPr/>
            <p:nvPr/>
          </p:nvSpPr>
          <p:spPr>
            <a:xfrm>
              <a:off x="8136731" y="4214813"/>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0" name="Gruppieren 19">
              <a:extLst>
                <a:ext uri="{FF2B5EF4-FFF2-40B4-BE49-F238E27FC236}">
                  <a16:creationId xmlns:a16="http://schemas.microsoft.com/office/drawing/2014/main" id="{647C771E-B215-F278-2796-F7292B20FC19}"/>
                </a:ext>
              </a:extLst>
            </p:cNvPr>
            <p:cNvGrpSpPr/>
            <p:nvPr/>
          </p:nvGrpSpPr>
          <p:grpSpPr>
            <a:xfrm>
              <a:off x="7099686" y="3516055"/>
              <a:ext cx="1673449" cy="996704"/>
              <a:chOff x="7099686" y="3516055"/>
              <a:chExt cx="1673449" cy="996704"/>
            </a:xfrm>
          </p:grpSpPr>
          <p:pic>
            <p:nvPicPr>
              <p:cNvPr id="12" name="Grafik 11">
                <a:extLst>
                  <a:ext uri="{FF2B5EF4-FFF2-40B4-BE49-F238E27FC236}">
                    <a16:creationId xmlns:a16="http://schemas.microsoft.com/office/drawing/2014/main" id="{427AE364-7CA9-521F-14DE-CCF9079BDF93}"/>
                  </a:ext>
                </a:extLst>
              </p:cNvPr>
              <p:cNvPicPr>
                <a:picLocks noChangeAspect="1"/>
              </p:cNvPicPr>
              <p:nvPr/>
            </p:nvPicPr>
            <p:blipFill>
              <a:blip r:embed="rId7"/>
              <a:stretch>
                <a:fillRect/>
              </a:stretch>
            </p:blipFill>
            <p:spPr>
              <a:xfrm>
                <a:off x="7739465" y="3598359"/>
                <a:ext cx="1033670" cy="914400"/>
              </a:xfrm>
              <a:prstGeom prst="rect">
                <a:avLst/>
              </a:prstGeom>
            </p:spPr>
          </p:pic>
          <p:pic>
            <p:nvPicPr>
              <p:cNvPr id="18" name="Grafik 17">
                <a:extLst>
                  <a:ext uri="{FF2B5EF4-FFF2-40B4-BE49-F238E27FC236}">
                    <a16:creationId xmlns:a16="http://schemas.microsoft.com/office/drawing/2014/main" id="{6BBDA8A3-3495-BA56-6F67-7BC7F180FBB7}"/>
                  </a:ext>
                </a:extLst>
              </p:cNvPr>
              <p:cNvPicPr>
                <a:picLocks noChangeAspect="1"/>
              </p:cNvPicPr>
              <p:nvPr/>
            </p:nvPicPr>
            <p:blipFill>
              <a:blip r:embed="rId8"/>
              <a:stretch>
                <a:fillRect/>
              </a:stretch>
            </p:blipFill>
            <p:spPr>
              <a:xfrm>
                <a:off x="7136955" y="3544458"/>
                <a:ext cx="656458" cy="914401"/>
              </a:xfrm>
              <a:prstGeom prst="rect">
                <a:avLst/>
              </a:prstGeom>
            </p:spPr>
          </p:pic>
          <p:sp>
            <p:nvSpPr>
              <p:cNvPr id="19" name="Rechteck 18">
                <a:extLst>
                  <a:ext uri="{FF2B5EF4-FFF2-40B4-BE49-F238E27FC236}">
                    <a16:creationId xmlns:a16="http://schemas.microsoft.com/office/drawing/2014/main" id="{7C32DC97-2EB3-6B57-9E0D-B96216E7F4A1}"/>
                  </a:ext>
                </a:extLst>
              </p:cNvPr>
              <p:cNvSpPr/>
              <p:nvPr/>
            </p:nvSpPr>
            <p:spPr>
              <a:xfrm>
                <a:off x="7099686" y="3516055"/>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1" name="Rechteck 20">
              <a:extLst>
                <a:ext uri="{FF2B5EF4-FFF2-40B4-BE49-F238E27FC236}">
                  <a16:creationId xmlns:a16="http://schemas.microsoft.com/office/drawing/2014/main" id="{EE6AF23C-5253-550B-E094-94AEB2411FEC}"/>
                </a:ext>
              </a:extLst>
            </p:cNvPr>
            <p:cNvSpPr/>
            <p:nvPr/>
          </p:nvSpPr>
          <p:spPr>
            <a:xfrm>
              <a:off x="8136731" y="4214813"/>
              <a:ext cx="119569" cy="10920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9" name="Grafik 8">
            <a:extLst>
              <a:ext uri="{FF2B5EF4-FFF2-40B4-BE49-F238E27FC236}">
                <a16:creationId xmlns:a16="http://schemas.microsoft.com/office/drawing/2014/main" id="{6C8BCF83-050A-F22C-071E-39CB9BE3FBBD}"/>
              </a:ext>
            </a:extLst>
          </p:cNvPr>
          <p:cNvPicPr>
            <a:picLocks noChangeAspect="1"/>
          </p:cNvPicPr>
          <p:nvPr/>
        </p:nvPicPr>
        <p:blipFill rotWithShape="1">
          <a:blip r:embed="rId9"/>
          <a:srcRect l="115" r="115"/>
          <a:stretch/>
        </p:blipFill>
        <p:spPr>
          <a:xfrm flipH="1">
            <a:off x="5701166" y="3551333"/>
            <a:ext cx="1017053" cy="806525"/>
          </a:xfrm>
          <a:prstGeom prst="rect">
            <a:avLst/>
          </a:prstGeom>
          <a:noFill/>
          <a:ln w="9525" cap="flat" cmpd="sng" algn="ctr">
            <a:noFill/>
            <a:prstDash val="solid"/>
            <a:round/>
            <a:headEnd type="none" w="med" len="med"/>
            <a:tailEnd type="none" w="med" len="med"/>
          </a:ln>
        </p:spPr>
      </p:pic>
    </p:spTree>
    <p:extLst>
      <p:ext uri="{BB962C8B-B14F-4D97-AF65-F5344CB8AC3E}">
        <p14:creationId xmlns:p14="http://schemas.microsoft.com/office/powerpoint/2010/main" val="4242650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C123D-C115-8553-7221-82BBBE231B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22A526B-4CC8-53C1-8ACE-44E9FC96F770}"/>
              </a:ext>
            </a:extLst>
          </p:cNvPr>
          <p:cNvSpPr>
            <a:spLocks noGrp="1"/>
          </p:cNvSpPr>
          <p:nvPr>
            <p:ph type="title"/>
          </p:nvPr>
        </p:nvSpPr>
        <p:spPr/>
        <p:txBody>
          <a:bodyPr>
            <a:normAutofit/>
          </a:bodyPr>
          <a:lstStyle/>
          <a:p>
            <a:r>
              <a:rPr lang="de-DE" sz="2600" b="0">
                <a:latin typeface="Arial"/>
                <a:cs typeface="Arial"/>
              </a:rPr>
              <a:t>Summary</a:t>
            </a:r>
          </a:p>
        </p:txBody>
      </p:sp>
      <p:sp>
        <p:nvSpPr>
          <p:cNvPr id="4" name="Foliennummernplatzhalter 3">
            <a:extLst>
              <a:ext uri="{FF2B5EF4-FFF2-40B4-BE49-F238E27FC236}">
                <a16:creationId xmlns:a16="http://schemas.microsoft.com/office/drawing/2014/main" id="{84426E88-A212-CBF1-02D2-B20786B07242}"/>
              </a:ext>
            </a:extLst>
          </p:cNvPr>
          <p:cNvSpPr>
            <a:spLocks noGrp="1"/>
          </p:cNvSpPr>
          <p:nvPr>
            <p:ph type="sldNum" sz="quarter" idx="12"/>
          </p:nvPr>
        </p:nvSpPr>
        <p:spPr>
          <a:xfrm>
            <a:off x="8256300" y="4684284"/>
            <a:ext cx="636180" cy="273844"/>
          </a:xfrm>
        </p:spPr>
        <p:txBody>
          <a:bodyPr/>
          <a:lstStyle/>
          <a:p>
            <a:fld id="{5CD88B4E-D815-417B-99FD-41D66E5C06D4}" type="slidenum">
              <a:rPr lang="de-DE" smtClean="0">
                <a:latin typeface="Arial"/>
                <a:cs typeface="Arial"/>
              </a:rPr>
              <a:pPr/>
              <a:t>20</a:t>
            </a:fld>
            <a:endParaRPr lang="de-DE">
              <a:latin typeface="Arial"/>
              <a:cs typeface="Arial"/>
            </a:endParaRPr>
          </a:p>
        </p:txBody>
      </p:sp>
      <p:sp>
        <p:nvSpPr>
          <p:cNvPr id="3" name="Textfeld 2">
            <a:extLst>
              <a:ext uri="{FF2B5EF4-FFF2-40B4-BE49-F238E27FC236}">
                <a16:creationId xmlns:a16="http://schemas.microsoft.com/office/drawing/2014/main" id="{75BF64B1-230F-DC86-AC1E-CAC52EF65A53}"/>
              </a:ext>
            </a:extLst>
          </p:cNvPr>
          <p:cNvSpPr txBox="1"/>
          <p:nvPr/>
        </p:nvSpPr>
        <p:spPr>
          <a:xfrm>
            <a:off x="788426" y="2202720"/>
            <a:ext cx="8280920"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Working </a:t>
            </a:r>
            <a:r>
              <a:rPr lang="de-DE" sz="1400" dirty="0" err="1">
                <a:latin typeface="Arial" panose="020B0604020202020204" pitchFamily="34" charset="0"/>
                <a:cs typeface="Arial" panose="020B0604020202020204" pitchFamily="34" charset="0"/>
              </a:rPr>
              <a:t>hypotheses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Task </a:t>
            </a:r>
            <a:r>
              <a:rPr lang="de-DE" sz="1400" dirty="0" err="1">
                <a:latin typeface="Arial" panose="020B0604020202020204" pitchFamily="34" charset="0"/>
                <a:cs typeface="Arial" panose="020B0604020202020204" pitchFamily="34" charset="0"/>
              </a:rPr>
              <a:t>switching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optimal </a:t>
            </a:r>
            <a:r>
              <a:rPr lang="de-DE" sz="1400" dirty="0" err="1">
                <a:latin typeface="Arial" panose="020B0604020202020204" pitchFamily="34" charset="0"/>
                <a:cs typeface="Arial" panose="020B0604020202020204" pitchFamily="34" charset="0"/>
              </a:rPr>
              <a:t>behavior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under</a:t>
            </a:r>
            <a:r>
              <a:rPr lang="de-DE" sz="1400" dirty="0">
                <a:latin typeface="Arial" panose="020B0604020202020204" pitchFamily="34" charset="0"/>
                <a:cs typeface="Arial" panose="020B0604020202020204" pitchFamily="34" charset="0"/>
              </a:rPr>
              <a:t> individual </a:t>
            </a:r>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cost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functions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Individual </a:t>
            </a:r>
            <a:r>
              <a:rPr lang="de-DE" sz="1400" dirty="0" err="1">
                <a:latin typeface="Arial" panose="020B0604020202020204" pitchFamily="34" charset="0"/>
                <a:cs typeface="Arial" panose="020B0604020202020204" pitchFamily="34" charset="0"/>
              </a:rPr>
              <a:t>error</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reward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sensitivities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modulators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subjective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cost</a:t>
            </a:r>
            <a:endParaRPr lang="de-DE" sz="1400" dirty="0">
              <a:latin typeface="Arial" panose="020B0604020202020204" pitchFamily="34" charset="0"/>
              <a:cs typeface="Arial" panose="020B0604020202020204" pitchFamily="34" charset="0"/>
            </a:endParaRPr>
          </a:p>
        </p:txBody>
      </p:sp>
      <p:sp>
        <p:nvSpPr>
          <p:cNvPr id="7" name="Textfeld 6">
            <a:extLst>
              <a:ext uri="{FF2B5EF4-FFF2-40B4-BE49-F238E27FC236}">
                <a16:creationId xmlns:a16="http://schemas.microsoft.com/office/drawing/2014/main" id="{8A3B6414-67BC-8648-7B71-E040221C808E}"/>
              </a:ext>
            </a:extLst>
          </p:cNvPr>
          <p:cNvSpPr txBox="1"/>
          <p:nvPr/>
        </p:nvSpPr>
        <p:spPr>
          <a:xfrm>
            <a:off x="788426" y="963094"/>
            <a:ext cx="7776864"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Research </a:t>
            </a:r>
            <a:r>
              <a:rPr lang="de-DE" sz="1400" dirty="0" err="1">
                <a:latin typeface="Arial" panose="020B0604020202020204" pitchFamily="34" charset="0"/>
                <a:cs typeface="Arial" panose="020B0604020202020204" pitchFamily="34" charset="0"/>
              </a:rPr>
              <a:t>questions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Computational </a:t>
            </a:r>
            <a:r>
              <a:rPr lang="de-DE" sz="1400" dirty="0" err="1">
                <a:latin typeface="Arial" panose="020B0604020202020204" pitchFamily="34" charset="0"/>
                <a:cs typeface="Arial" panose="020B0604020202020204" pitchFamily="34" charset="0"/>
              </a:rPr>
              <a:t>mechanisms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experimentally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established</a:t>
            </a:r>
            <a:r>
              <a:rPr lang="de-DE" sz="1400" dirty="0">
                <a:latin typeface="Arial" panose="020B0604020202020204" pitchFamily="34" charset="0"/>
                <a:cs typeface="Arial" panose="020B0604020202020204" pitchFamily="34" charset="0"/>
              </a:rPr>
              <a:t> FCDT </a:t>
            </a:r>
            <a:r>
              <a:rPr lang="de-DE" sz="1400" dirty="0" err="1">
                <a:latin typeface="Arial" panose="020B0604020202020204" pitchFamily="34" charset="0"/>
                <a:cs typeface="Arial" panose="020B0604020202020204" pitchFamily="34" charset="0"/>
              </a:rPr>
              <a:t>response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strategies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Individual </a:t>
            </a:r>
            <a:r>
              <a:rPr lang="de-DE" sz="1400" dirty="0" err="1">
                <a:latin typeface="Arial" panose="020B0604020202020204" pitchFamily="34" charset="0"/>
                <a:cs typeface="Arial" panose="020B0604020202020204" pitchFamily="34" charset="0"/>
              </a:rPr>
              <a:t>determinants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of</a:t>
            </a:r>
            <a:r>
              <a:rPr lang="de-DE" sz="1400" dirty="0">
                <a:latin typeface="Arial" panose="020B0604020202020204" pitchFamily="34" charset="0"/>
                <a:cs typeface="Arial" panose="020B0604020202020204" pitchFamily="34" charset="0"/>
              </a:rPr>
              <a:t> FCDT </a:t>
            </a:r>
            <a:r>
              <a:rPr lang="de-DE" sz="1400" dirty="0" err="1">
                <a:latin typeface="Arial" panose="020B0604020202020204" pitchFamily="34" charset="0"/>
                <a:cs typeface="Arial" panose="020B0604020202020204" pitchFamily="34" charset="0"/>
              </a:rPr>
              <a:t>response</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strategy</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formation</a:t>
            </a:r>
            <a:r>
              <a:rPr lang="de-DE" sz="1400" dirty="0">
                <a:latin typeface="Arial" panose="020B0604020202020204" pitchFamily="34" charset="0"/>
                <a:cs typeface="Arial" panose="020B0604020202020204" pitchFamily="34" charset="0"/>
              </a:rPr>
              <a:t> </a:t>
            </a:r>
          </a:p>
        </p:txBody>
      </p:sp>
      <p:sp>
        <p:nvSpPr>
          <p:cNvPr id="11" name="Rechteck: abgerundete Ecken 10">
            <a:extLst>
              <a:ext uri="{FF2B5EF4-FFF2-40B4-BE49-F238E27FC236}">
                <a16:creationId xmlns:a16="http://schemas.microsoft.com/office/drawing/2014/main" id="{26448C50-3E88-424C-5CCD-008AC30DC088}"/>
              </a:ext>
            </a:extLst>
          </p:cNvPr>
          <p:cNvSpPr/>
          <p:nvPr/>
        </p:nvSpPr>
        <p:spPr>
          <a:xfrm>
            <a:off x="711246" y="2214017"/>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8" name="Rechteck: abgerundete Ecken 7">
            <a:extLst>
              <a:ext uri="{FF2B5EF4-FFF2-40B4-BE49-F238E27FC236}">
                <a16:creationId xmlns:a16="http://schemas.microsoft.com/office/drawing/2014/main" id="{294D5CBF-AD82-2732-249A-9D1D469405A9}"/>
              </a:ext>
            </a:extLst>
          </p:cNvPr>
          <p:cNvSpPr/>
          <p:nvPr/>
        </p:nvSpPr>
        <p:spPr>
          <a:xfrm>
            <a:off x="711246" y="965063"/>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
        <p:nvSpPr>
          <p:cNvPr id="5" name="Textfeld 4">
            <a:extLst>
              <a:ext uri="{FF2B5EF4-FFF2-40B4-BE49-F238E27FC236}">
                <a16:creationId xmlns:a16="http://schemas.microsoft.com/office/drawing/2014/main" id="{37326886-527B-964D-2DAA-1B754D798290}"/>
              </a:ext>
            </a:extLst>
          </p:cNvPr>
          <p:cNvSpPr txBox="1"/>
          <p:nvPr/>
        </p:nvSpPr>
        <p:spPr>
          <a:xfrm>
            <a:off x="788426" y="3492359"/>
            <a:ext cx="8280920" cy="1021883"/>
          </a:xfrm>
          <a:prstGeom prst="rect">
            <a:avLst/>
          </a:prstGeom>
          <a:noFill/>
        </p:spPr>
        <p:txBody>
          <a:bodyPr wrap="square" rtlCol="0">
            <a:spAutoFit/>
          </a:bodyPr>
          <a:lstStyle/>
          <a:p>
            <a:pPr>
              <a:lnSpc>
                <a:spcPct val="150000"/>
              </a:lnSpc>
            </a:pPr>
            <a:r>
              <a:rPr lang="de-DE" sz="1400" dirty="0">
                <a:latin typeface="Arial" panose="020B0604020202020204" pitchFamily="34" charset="0"/>
                <a:cs typeface="Arial" panose="020B0604020202020204" pitchFamily="34" charset="0"/>
              </a:rPr>
              <a:t>Research </a:t>
            </a:r>
            <a:r>
              <a:rPr lang="de-DE" sz="1400" dirty="0" err="1">
                <a:latin typeface="Arial" panose="020B0604020202020204" pitchFamily="34" charset="0"/>
                <a:cs typeface="Arial" panose="020B0604020202020204" pitchFamily="34" charset="0"/>
              </a:rPr>
              <a:t>unit</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contributions</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FCDT </a:t>
            </a:r>
            <a:r>
              <a:rPr lang="de-DE" sz="1400" dirty="0" err="1">
                <a:latin typeface="Arial" panose="020B0604020202020204" pitchFamily="34" charset="0"/>
                <a:cs typeface="Arial" panose="020B0604020202020204" pitchFamily="34" charset="0"/>
              </a:rPr>
              <a:t>paradigm</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as</a:t>
            </a:r>
            <a:r>
              <a:rPr lang="de-DE" sz="1400" dirty="0">
                <a:latin typeface="Arial" panose="020B0604020202020204" pitchFamily="34" charset="0"/>
                <a:cs typeface="Arial" panose="020B0604020202020204" pitchFamily="34" charset="0"/>
              </a:rPr>
              <a:t> experimental </a:t>
            </a:r>
            <a:r>
              <a:rPr lang="de-DE" sz="1400" dirty="0" err="1">
                <a:latin typeface="Arial" panose="020B0604020202020204" pitchFamily="34" charset="0"/>
                <a:cs typeface="Arial" panose="020B0604020202020204" pitchFamily="34" charset="0"/>
              </a:rPr>
              <a:t>testbed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for</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studying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task</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switching</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behavior</a:t>
            </a:r>
            <a:endParaRPr lang="de-DE" sz="1400"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de-DE" sz="1400" dirty="0">
                <a:latin typeface="Arial" panose="020B0604020202020204" pitchFamily="34" charset="0"/>
                <a:cs typeface="Arial" panose="020B0604020202020204" pitchFamily="34" charset="0"/>
              </a:rPr>
              <a:t>Rational </a:t>
            </a:r>
            <a:r>
              <a:rPr lang="de-DE" sz="1400" dirty="0" err="1">
                <a:latin typeface="Arial" panose="020B0604020202020204" pitchFamily="34" charset="0"/>
                <a:cs typeface="Arial" panose="020B0604020202020204" pitchFamily="34" charset="0"/>
              </a:rPr>
              <a:t>analysis</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perspective</a:t>
            </a:r>
            <a:r>
              <a:rPr lang="de-DE" sz="1400" dirty="0">
                <a:latin typeface="Arial" panose="020B0604020202020204" pitchFamily="34" charset="0"/>
                <a:cs typeface="Arial" panose="020B0604020202020204" pitchFamily="34" charset="0"/>
              </a:rPr>
              <a:t> and </a:t>
            </a:r>
            <a:r>
              <a:rPr lang="de-DE" sz="1400" dirty="0" err="1">
                <a:latin typeface="Arial" panose="020B0604020202020204" pitchFamily="34" charset="0"/>
                <a:cs typeface="Arial" panose="020B0604020202020204" pitchFamily="34" charset="0"/>
              </a:rPr>
              <a:t>agent-based</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neurobehavioral</a:t>
            </a:r>
            <a:r>
              <a:rPr lang="de-DE" sz="1400" dirty="0">
                <a:latin typeface="Arial" panose="020B0604020202020204" pitchFamily="34" charset="0"/>
                <a:cs typeface="Arial" panose="020B0604020202020204" pitchFamily="34" charset="0"/>
              </a:rPr>
              <a:t> </a:t>
            </a:r>
            <a:r>
              <a:rPr lang="de-DE" sz="1400" dirty="0" err="1">
                <a:latin typeface="Arial" panose="020B0604020202020204" pitchFamily="34" charset="0"/>
                <a:cs typeface="Arial" panose="020B0604020202020204" pitchFamily="34" charset="0"/>
              </a:rPr>
              <a:t>modeling</a:t>
            </a:r>
            <a:r>
              <a:rPr lang="de-DE" sz="1400" dirty="0">
                <a:latin typeface="Arial" panose="020B0604020202020204" pitchFamily="34" charset="0"/>
                <a:cs typeface="Arial" panose="020B0604020202020204" pitchFamily="34" charset="0"/>
              </a:rPr>
              <a:t>  </a:t>
            </a:r>
          </a:p>
        </p:txBody>
      </p:sp>
      <p:sp>
        <p:nvSpPr>
          <p:cNvPr id="6" name="Rechteck: abgerundete Ecken 5">
            <a:extLst>
              <a:ext uri="{FF2B5EF4-FFF2-40B4-BE49-F238E27FC236}">
                <a16:creationId xmlns:a16="http://schemas.microsoft.com/office/drawing/2014/main" id="{90EBA53F-7F65-0493-9FA0-F42F92840063}"/>
              </a:ext>
            </a:extLst>
          </p:cNvPr>
          <p:cNvSpPr/>
          <p:nvPr/>
        </p:nvSpPr>
        <p:spPr>
          <a:xfrm>
            <a:off x="711246" y="3496512"/>
            <a:ext cx="7931223" cy="1088311"/>
          </a:xfrm>
          <a:prstGeom prst="roundRect">
            <a:avLst>
              <a:gd name="adj" fmla="val 6334"/>
            </a:avLst>
          </a:prstGeom>
          <a:noFill/>
          <a:ln w="190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lnSpc>
                <a:spcPct val="150000"/>
              </a:lnSpc>
            </a:pPr>
            <a:endParaRPr lang="en-US" sz="1000">
              <a:solidFill>
                <a:schemeClr val="tx1"/>
              </a:solidFill>
              <a:latin typeface="Arial" panose="020B0604020202020204" pitchFamily="34" charset="0"/>
              <a:ea typeface="Arial Unicode MS" panose="020B0604020202020204"/>
              <a:cs typeface="Arial" panose="020B0604020202020204" pitchFamily="34" charset="0"/>
            </a:endParaRPr>
          </a:p>
        </p:txBody>
      </p:sp>
    </p:spTree>
    <p:extLst>
      <p:ext uri="{BB962C8B-B14F-4D97-AF65-F5344CB8AC3E}">
        <p14:creationId xmlns:p14="http://schemas.microsoft.com/office/powerpoint/2010/main" val="976863031"/>
      </p:ext>
    </p:extLst>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3050</Words>
  <Application>Microsoft Office PowerPoint</Application>
  <DocSecurity>0</DocSecurity>
  <PresentationFormat>Bildschirmpräsentation (16:9)</PresentationFormat>
  <Paragraphs>308</Paragraphs>
  <Slides>20</Slides>
  <Notes>12</Notes>
  <HiddenSlides>0</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20</vt:i4>
      </vt:variant>
    </vt:vector>
  </HeadingPairs>
  <TitlesOfParts>
    <vt:vector size="30" baseType="lpstr">
      <vt:lpstr>Aptos</vt:lpstr>
      <vt:lpstr>Arial</vt:lpstr>
      <vt:lpstr>Arial Unicode MS</vt:lpstr>
      <vt:lpstr>Calibri</vt:lpstr>
      <vt:lpstr>Cambria Math</vt:lpstr>
      <vt:lpstr>Courier New</vt:lpstr>
      <vt:lpstr>Symbol</vt:lpstr>
      <vt:lpstr>Times New Roman</vt:lpstr>
      <vt:lpstr>Wingdings</vt:lpstr>
      <vt:lpstr>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Theoretical proposal</vt:lpstr>
      <vt:lpstr>First-stage implementation</vt:lpstr>
      <vt:lpstr>Experimental data</vt:lpstr>
      <vt:lpstr>Experimental data</vt:lpstr>
      <vt:lpstr>Experimental data</vt:lpstr>
      <vt:lpstr>Experimental data</vt:lpstr>
      <vt:lpstr>Agentic behavioral model</vt:lpstr>
      <vt:lpstr>Dynamic programming backward induction</vt:lpstr>
      <vt:lpstr>Sequential conditional log likelihood maximization</vt:lpstr>
      <vt:lpstr>Model comparison and parameter estimates</vt:lpstr>
      <vt:lpstr>Theoretical work packages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Dirk Ostwald</cp:lastModifiedBy>
  <cp:revision>49</cp:revision>
  <dcterms:created xsi:type="dcterms:W3CDTF">2026-09-13T10:03:12Z</dcterms:created>
  <dcterms:modified xsi:type="dcterms:W3CDTF">2026-09-17T11:39:10Z</dcterms:modified>
</cp:coreProperties>
</file>