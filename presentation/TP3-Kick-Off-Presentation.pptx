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5C5353-D6B6-4F32-A6FB-7D0A3485BA1D}" name="Gastbenutzer" initials="Ga" userId="Gastbenutz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303"/>
              </a:spcBef>
              <a:buNone/>
            </a:pPr>
            <a:r>
              <a:t>Target time: 0:50</a:t>
            </a:r>
          </a:p>
          <a:p>
            <a:pPr marL="346706" indent="-346706" algn="l" defTabSz="924550">
              <a:lnSpc>
                <a:spcPct val="115000"/>
              </a:lnSpc>
              <a:spcBef>
                <a:spcPts val="303"/>
              </a:spcBef>
              <a:buFont typeface="Symbol"/>
              <a:buChar char=""/>
            </a:pPr>
            <a:endParaRPr/>
          </a:p>
          <a:p>
            <a:pPr marL="0" marR="0" lvl="0" indent="0" algn="l" defTabSz="91440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We’re presenting project 3, which is located at Magdeburg University and Constructor University in Bremen </a:t>
            </a:r>
          </a:p>
          <a:p>
            <a:pPr marL="0" marR="0" lvl="0" indent="0" algn="l" defTabSz="91440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Tx/>
              <a:buNone/>
            </a:pP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346706" marR="0" lvl="0" indent="-346706" algn="l" defTabSz="92455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 typeface="Symbol"/>
              <a:buChar char=""/>
            </a:pPr>
            <a:r>
              <a:rPr sz="10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My name is </a:t>
            </a:r>
            <a:r>
              <a:rPr sz="1000" b="0" i="0" u="non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Jovita Brüning and together with Doruntinë Zogaj, I will conduct the </a:t>
            </a:r>
            <a:r>
              <a:rPr sz="1000">
                <a:solidFill>
                  <a:srgbClr val="000000"/>
                </a:solidFill>
                <a:latin typeface="+mn-lt"/>
                <a:ea typeface="+mn-lt"/>
                <a:cs typeface="+mn-lt"/>
              </a:rPr>
              <a:t>empirical part of Project 3, which I will briefly introduce today </a:t>
            </a:r>
            <a:endParaRPr sz="10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6706" marR="0" lvl="0" indent="-346706" algn="l" defTabSz="92455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 typeface="Symbol"/>
              <a:buChar char=""/>
            </a:pPr>
            <a:r>
              <a:rPr sz="10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 Domenic Groh and Dirk Ostwald make up our team that is working on the theoretical objectives</a:t>
            </a:r>
          </a:p>
          <a:p>
            <a:pPr marL="346706" marR="0" lvl="0" indent="-346706" algn="l" defTabSz="92455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 typeface="Symbol"/>
              <a:buChar char=""/>
            </a:pPr>
            <a:r>
              <a:rPr sz="10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Markus Ullsperger – unfortunately cannot be here today – but he’s our expert in decision making and neuroscience and advising on the neurophysiological measures</a:t>
            </a:r>
          </a:p>
          <a:p>
            <a:pPr marL="346706" marR="0" lvl="0" indent="-346706" algn="l" defTabSz="92455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 typeface="Symbol"/>
              <a:buChar char=""/>
            </a:pPr>
            <a:r>
              <a:rPr sz="10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Our joint project focuses on how individuals form response strategies in voluntary task switching</a:t>
            </a:r>
          </a:p>
          <a:p>
            <a:pPr marL="346706" marR="0" lvl="0" indent="-346706" algn="l" defTabSz="924550">
              <a:lnSpc>
                <a:spcPct val="115000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 typeface="Symbol"/>
              <a:buChar char=""/>
            </a:pPr>
            <a:endParaRPr sz="10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14999"/>
              </a:lnSpc>
              <a:spcBef>
                <a:spcPts val="303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So our </a:t>
            </a:r>
            <a:r>
              <a:rPr sz="10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central question is</a:t>
            </a:r>
            <a:r>
              <a:rPr sz="1000" b="0" i="0" u="non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: What determines which response strategy a person develops </a:t>
            </a:r>
            <a:r>
              <a:rPr sz="1000" b="0" i="0" u="none" cap="none" spc="0">
                <a:ln>
                  <a:noFill/>
                </a:ln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when they have the freedom to </a:t>
            </a:r>
            <a:r>
              <a:rPr sz="1000" b="0" i="0" u="non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choose between tasks?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BIC uses the log-likelihood-scale Schwarz definition in the project report. Participant-level ΔBIC values range from 475.19 to 1374.70.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E5EB6-51D3-4CEE-866B-DD0507A8A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buNone/>
              <a:defRPr>
                <a:solidFill>
                  <a:srgbClr val="3A77AD"/>
                </a:solidFill>
              </a:defRPr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07E1D3-AE35-44F2-9141-BC0877E7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3A77AD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293F25-B3EA-407B-9553-634452D613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D25DDA-D26E-4C65-81E7-886BFA2DBF4B}" type="datetime1">
              <a:t>16.09.2026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D50551-C1AF-4734-A668-4A8DF1C3E5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7F039B-F4C6-4131-81AF-F9DDB7D5C9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44703E-4150-4FCF-AC26-4C412DDF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Arial Unicode MS"/>
                <a:ea typeface="Arial Unicode MS"/>
                <a:cs typeface="Arial Unicode MS"/>
              </a:defRPr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2DA99-6AD5-4B52-A2D7-C464763F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0802"/>
            <a:ext cx="8229600" cy="3315816"/>
          </a:xfrm>
        </p:spPr>
        <p:txBody>
          <a:bodyPr/>
          <a:lstStyle>
            <a:lvl4pPr>
              <a:buNone/>
              <a:defRPr>
                <a:latin typeface="Arial Unicode MS"/>
                <a:ea typeface="Arial Unicode MS"/>
                <a:cs typeface="Arial Unicode MS"/>
              </a:defRPr>
            </a:lvl4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329583-F0C0-49DB-9BCF-D833FB7B88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56300" y="4731990"/>
            <a:ext cx="636180" cy="273844"/>
          </a:xfrm>
        </p:spPr>
        <p:txBody>
          <a:bodyPr/>
          <a:lstStyle>
            <a:lvl1pPr marL="0" algn="r" defTabSz="685800">
              <a:buNone/>
              <a:defRPr sz="1050" kern="1200">
                <a:solidFill>
                  <a:schemeClr val="tx2">
                    <a:lumMod val="75000"/>
                  </a:schemeClr>
                </a:solidFill>
                <a:latin typeface="Arial Unicode MS"/>
                <a:ea typeface="Arial Unicode MS"/>
                <a:cs typeface="Arial Unicode MS"/>
              </a:defRPr>
            </a:lvl1pPr>
          </a:lstStyle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62C48E-9A13-4A7E-AA6A-87D1AC3AC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buNone/>
              <a:defRPr sz="3000" b="1" cap="all"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4E126F-A99D-41A9-8219-84AE61304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DBB60F-DFD5-4B33-9F9C-A2FFA0EE7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291B1E-1756-4A5C-A79F-F2FEDD9B6C08}" type="datetime1">
              <a:t>16.09.2026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A99A6B-C707-44EE-88B8-49D6478239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15729B-94BB-4880-8D89-388D064965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37635-A623-4E98-AC3E-8D62F1F6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6A68D-62E8-4097-BC94-596C357F9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73D382-90A3-4817-9579-52D81369CD3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1B4D72-53C5-4B48-8E28-0C570A263D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25EF7E3-34C6-4F29-A3E8-B2123BFC8360}" type="datetime1">
              <a:t>16.09.2026</a:t>
            </a:fld>
            <a:endParaRPr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3D247-3AB3-4E5E-889D-EE9388E9EC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CA68E8-FF76-48FE-89E1-16FF04182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7D3AF-0732-426A-A34C-0295E4BF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87ACE4-EFE3-4305-A1A4-F639026E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F85B3D-6B72-4821-BA1D-586B02D936A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41FB17-AB68-4403-8F78-7E5BE36A034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51470F-342E-4D82-8CE0-B825E6A6C8F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DACECA-CCE4-4F0F-8AE2-CFD22C219D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F2F809-AE36-447A-BE8D-DBD43813230D}" type="datetime1">
              <a:t>16.09.2026</a:t>
            </a:fld>
            <a:endParaRPr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B2DCED-C1E2-4728-81C3-E60969112E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FF7CEF-7F67-4E4E-86B0-78A1E6B20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EF8EA-3A79-4D0A-9E9D-BAF23103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8F1E3A-15F2-4079-B8C7-AF16AD23D9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E9AD70-BBFA-4BDA-AD17-94996E01E40D}" type="datetime1">
              <a:t>16.09.2026</a:t>
            </a:fld>
            <a:endParaRPr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63DFE6-88B7-41D6-AC99-59B0CABFD6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E91E78-25D0-4CF5-A737-3772314480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529D24-EA50-4266-96C2-1DBB992D2A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A5E7E-DC59-44FF-98CB-32ED5C7DF30F}" type="datetime1">
              <a:t>16.09.2026</a:t>
            </a:fld>
            <a:endParaRPr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661DB9-2EA2-429E-A720-C292CF5B74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DD4549-9270-49D6-914B-C325B4F77D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9C704-CC59-470C-A759-B25A9213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D0AAFD-0EE3-46C1-B594-44E21917D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63634A-BDEE-4064-9945-987A40D320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91EBD8-A766-492C-8454-76F8A2163A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CBFBE5-D840-46F9-A1EC-71EE2BFB233E}" type="datetime1">
              <a:t>16.09.2026</a:t>
            </a:fld>
            <a:endParaRPr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CD980-E304-4A72-AFD4-5342C146FA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66403A-C0D9-4D47-B0EC-F95FB97E0F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FB180-EE0F-4027-BA8D-50FE31578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8112F38-0E7C-4D9D-93C2-26A65DC63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B453E4-51BE-4E13-BCD4-FA22985B28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buNone/>
            </a:pPr>
            <a:r>
              <a:t>Textmasterformat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13AA27-DB99-44AB-B0BD-894EA22534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0E40CA-5887-4B04-9981-5E3E0EE4CEE6}" type="datetime1">
              <a:t>16.09.2026</a:t>
            </a:fld>
            <a:endParaRPr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6C6D9D-C975-4602-89B4-E211853F0C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8DCE36-D6A4-4ECE-AE3A-273B0C226E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D05A9-9078-497C-98D1-1F2E12AA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4284EF-FBB4-41A6-91E9-7A93FCF5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C6ECC1-85D3-4B69-8B8B-B945D02D5E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4F1C03-9221-492F-9D3B-13656BBDDDDC}" type="datetime1">
              <a:t>16.09.2026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4F05A0-5111-474A-891A-48581C68A5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7E9626-667F-4400-99BC-058667B94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FDB7F3A-C943-437B-BB4A-B1E3FFC5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t>Titelmasterformat durch Klicken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95BEDB-392B-4986-B832-2E040B13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459150-CB49-45BA-A531-B7E7C06385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3166C5-6A3D-4F25-B59A-7D1EDABF349D}" type="datetime1">
              <a:t>16.09.2026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1E3B44-68C0-4706-BC0B-8423E0178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8E25A-0757-45B4-97B6-09DF8F345E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D88B4E-D815-417B-99FD-41D66E5C06D4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62DA7F-7B37-45AC-8D5B-D52FDF86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7" y="205979"/>
            <a:ext cx="7931223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6A4A0B-2EAD-4B56-8353-55727E004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1200151"/>
            <a:ext cx="7931224" cy="33944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Textmasterformat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B9373-53D0-4D71-924F-6E81CB085E9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55576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1A5F7C02-8BB9-4009-8E62-D4DC00232FF2}" type="datetime1">
              <a:t>16.09.2026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9F69B2-373B-46FF-B918-0101AFF2B3A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73388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SPP Initiative – Kognitive Mehrfachanforderungen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A0E01D-2C9B-4046-9075-C22947680F7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5CD88B4E-D815-417B-99FD-41D66E5C06D4}" type="slidenum">
              <a:t>‹Nr.›</a:t>
            </a:fld>
            <a:endParaRPr/>
          </a:p>
        </p:txBody>
      </p:sp>
      <p:sp>
        <p:nvSpPr>
          <p:cNvPr id="8" name="Gerader Verbinder 7">
            <a:extLst>
              <a:ext uri="{FF2B5EF4-FFF2-40B4-BE49-F238E27FC236}">
                <a16:creationId xmlns:a16="http://schemas.microsoft.com/office/drawing/2014/main" id="{4124E9D7-1368-4C6A-94E9-DF3FDBE52726}"/>
              </a:ext>
            </a:extLst>
          </p:cNvPr>
          <p:cNvSpPr>
            <a:spLocks noGrp="1"/>
          </p:cNvSpPr>
          <p:nvPr/>
        </p:nvSpPr>
        <p:spPr>
          <a:xfrm>
            <a:off x="-54260" y="4731990"/>
            <a:ext cx="92525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9" name="Gerader Verbinder 8">
            <a:extLst>
              <a:ext uri="{FF2B5EF4-FFF2-40B4-BE49-F238E27FC236}">
                <a16:creationId xmlns:a16="http://schemas.microsoft.com/office/drawing/2014/main" id="{27361209-E306-411F-8181-39425E970A31}"/>
              </a:ext>
            </a:extLst>
          </p:cNvPr>
          <p:cNvSpPr>
            <a:spLocks noGrp="1"/>
          </p:cNvSpPr>
          <p:nvPr/>
        </p:nvSpPr>
        <p:spPr>
          <a:xfrm rot="5400000">
            <a:off x="-2286472" y="2591437"/>
            <a:ext cx="5220000" cy="0"/>
          </a:xfrm>
          <a:prstGeom prst="line">
            <a:avLst/>
          </a:prstGeom>
          <a:ln w="28575">
            <a:solidFill>
              <a:srgbClr val="3A77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pic>
        <p:nvPicPr>
          <p:cNvPr id="18" name="Grafik 1"/>
          <p:cNvPicPr>
            <a:picLocks noChangeAspect="1"/>
          </p:cNvPicPr>
          <p:nvPr/>
        </p:nvPicPr>
        <p:blipFill rotWithShape="1">
          <a:blip r:embed="rId13">
            <a:alphaModFix/>
          </a:blip>
          <a:srcRect t="7963" b="13843"/>
          <a:stretch/>
        </p:blipFill>
        <p:spPr>
          <a:xfrm>
            <a:off x="-569046" y="3907081"/>
            <a:ext cx="1816322" cy="822222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685800">
        <a:spcBef>
          <a:spcPct val="0"/>
        </a:spcBef>
        <a:buNone/>
        <a:defRPr sz="3300" b="1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57175" indent="-257175" algn="l" defTabSz="6858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1pPr>
      <a:lvl2pPr marL="557213" indent="-214313" algn="l" defTabSz="6858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Arial"/>
          <a:cs typeface="Arial"/>
        </a:defRPr>
      </a:lvl2pPr>
      <a:lvl3pPr marL="857250" indent="-171450" algn="l" defTabSz="6858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200150" indent="-171450" algn="l" defTabSz="6858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Arial"/>
          <a:cs typeface="Arial"/>
        </a:defRPr>
      </a:lvl4pPr>
      <a:lvl5pPr marL="1543050" indent="-171450" algn="l" defTabSz="6858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Arial"/>
          <a:cs typeface="Arial"/>
        </a:defRPr>
      </a:lvl5pPr>
      <a:lvl6pPr marL="18859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5"/>
          <p:cNvPicPr>
            <a:picLocks noChangeAspect="1"/>
          </p:cNvPicPr>
          <p:nvPr/>
        </p:nvPicPr>
        <p:blipFill rotWithShape="1">
          <a:blip r:embed="rId3">
            <a:grayscl/>
          </a:blip>
          <a:srcRect l="18334" t="10835" r="26100" b="13312"/>
          <a:stretch/>
        </p:blipFill>
        <p:spPr>
          <a:xfrm rot="5400000">
            <a:off x="689616" y="2288144"/>
            <a:ext cx="790783" cy="809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Grafik 11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 flipH="1">
            <a:off x="6229934" y="2291698"/>
            <a:ext cx="809625" cy="809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" name="Grafik 9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2070845" y="2286000"/>
            <a:ext cx="809625" cy="809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Grafik 13"/>
          <p:cNvPicPr>
            <a:picLocks noChangeAspect="1"/>
          </p:cNvPicPr>
          <p:nvPr/>
        </p:nvPicPr>
        <p:blipFill rotWithShape="1">
          <a:blip r:embed="rId6">
            <a:grayscl/>
          </a:blip>
          <a:srcRect r="5593" b="25169"/>
          <a:stretch/>
        </p:blipFill>
        <p:spPr>
          <a:xfrm>
            <a:off x="4817139" y="2301083"/>
            <a:ext cx="809625" cy="809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03455CD6-646D-4694-AB97-4BDBA83F6458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79343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26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3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897CB27-ED0B-4784-82DC-2A8331A0435F}"/>
              </a:ext>
            </a:extLst>
          </p:cNvPr>
          <p:cNvSpPr>
            <a:spLocks noGrp="1"/>
          </p:cNvSpPr>
          <p:nvPr/>
        </p:nvSpPr>
        <p:spPr>
          <a:xfrm>
            <a:off x="762000" y="1057275"/>
            <a:ext cx="79248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Individual determinants of response strategy</a:t>
            </a:r>
          </a:p>
          <a:p>
            <a:pPr algn="l">
              <a:buNone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formation in voluntary task switching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43A130D-7623-4B53-8681-2E1A4BC4BD1E}"/>
              </a:ext>
            </a:extLst>
          </p:cNvPr>
          <p:cNvSpPr>
            <a:spLocks noGrp="1"/>
          </p:cNvSpPr>
          <p:nvPr/>
        </p:nvSpPr>
        <p:spPr>
          <a:xfrm>
            <a:off x="1882942" y="3200400"/>
            <a:ext cx="1190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Jovita Brüning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1A8A4B2-7080-47DA-B5AB-BED4121E2193}"/>
              </a:ext>
            </a:extLst>
          </p:cNvPr>
          <p:cNvSpPr>
            <a:spLocks noGrp="1"/>
          </p:cNvSpPr>
          <p:nvPr/>
        </p:nvSpPr>
        <p:spPr>
          <a:xfrm>
            <a:off x="4712364" y="3200400"/>
            <a:ext cx="1190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Dirk Ostwald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55CD67F-90CA-4ACA-979C-CAC109338799}"/>
              </a:ext>
            </a:extLst>
          </p:cNvPr>
          <p:cNvSpPr>
            <a:spLocks noGrp="1"/>
          </p:cNvSpPr>
          <p:nvPr/>
        </p:nvSpPr>
        <p:spPr>
          <a:xfrm>
            <a:off x="5743584" y="3200400"/>
            <a:ext cx="1782323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Markus Ullsperger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11609E7-B87F-42D7-A188-39200EE97C30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7924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AD86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D8600"/>
                </a:solidFill>
                <a:latin typeface="Arial"/>
                <a:ea typeface="Arial"/>
                <a:cs typeface="Arial"/>
              </a:rPr>
              <a:t>What determines which strategy a person uses</a:t>
            </a:r>
          </a:p>
          <a:p>
            <a:pPr algn="l">
              <a:buNone/>
              <a:defRPr sz="2175" b="1">
                <a:solidFill>
                  <a:srgbClr val="AD86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D8600"/>
                </a:solidFill>
                <a:latin typeface="Arial"/>
                <a:ea typeface="Arial"/>
                <a:cs typeface="Arial"/>
              </a:rPr>
              <a:t>when they can freely choose between tasks?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DA0ACD5-E0AB-44B3-9909-C9B09434FDFE}"/>
              </a:ext>
            </a:extLst>
          </p:cNvPr>
          <p:cNvSpPr>
            <a:spLocks noGrp="1"/>
          </p:cNvSpPr>
          <p:nvPr/>
        </p:nvSpPr>
        <p:spPr>
          <a:xfrm>
            <a:off x="8467725" y="4810125"/>
            <a:ext cx="32385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3C84E71-DF16-44E3-8D8D-99894BB2902A}"/>
              </a:ext>
            </a:extLst>
          </p:cNvPr>
          <p:cNvSpPr>
            <a:spLocks noGrp="1"/>
          </p:cNvSpPr>
          <p:nvPr/>
        </p:nvSpPr>
        <p:spPr>
          <a:xfrm>
            <a:off x="3378864" y="3200400"/>
            <a:ext cx="1190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Domenic Groh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C9337A1-EC53-4C4D-9249-51CC0A3AA99D}"/>
              </a:ext>
            </a:extLst>
          </p:cNvPr>
          <p:cNvSpPr>
            <a:spLocks noGrp="1"/>
          </p:cNvSpPr>
          <p:nvPr/>
        </p:nvSpPr>
        <p:spPr>
          <a:xfrm>
            <a:off x="480623" y="3200400"/>
            <a:ext cx="1190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Doruntinë Zogaj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15CDA0F-5363-47D7-A666-2CD4973D7500}"/>
              </a:ext>
            </a:extLst>
          </p:cNvPr>
          <p:cNvSpPr>
            <a:spLocks noGrp="1"/>
          </p:cNvSpPr>
          <p:nvPr/>
        </p:nvSpPr>
        <p:spPr>
          <a:xfrm>
            <a:off x="3536609" y="2293148"/>
            <a:ext cx="816296" cy="810000"/>
          </a:xfrm>
          <a:prstGeom prst="rect">
            <a:avLst/>
          </a:prstGeom>
          <a:noFill/>
          <a:ln w="38100" cmpd="sng">
            <a:solidFill>
              <a:schemeClr val="dk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5" name="Grafik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7557" y="2315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4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53E5533-106A-D9CA-9446-8608ECB02B92}"/>
              </a:ext>
            </a:extLst>
          </p:cNvPr>
          <p:cNvSpPr>
            <a:spLocks noGrp="1"/>
          </p:cNvSpPr>
          <p:nvPr/>
        </p:nvSpPr>
        <p:spPr>
          <a:xfrm>
            <a:off x="752475" y="257175"/>
            <a:ext cx="79343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26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de-DE" sz="2400" b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A1 Parameter </a:t>
            </a:r>
            <a:r>
              <a:rPr lang="de-DE" sz="2400" b="0" dirty="0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estimates</a:t>
            </a:r>
            <a:endParaRPr sz="2400" b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206E013-74B9-2E90-19ED-A76F5F08090B}"/>
              </a:ext>
            </a:extLst>
          </p:cNvPr>
          <p:cNvSpPr>
            <a:spLocks noGrp="1"/>
          </p:cNvSpPr>
          <p:nvPr/>
        </p:nvSpPr>
        <p:spPr>
          <a:xfrm>
            <a:off x="8467725" y="4810125"/>
            <a:ext cx="32385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975" b="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8888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BIC result">
            <a:extLst>
              <a:ext uri="{FF2B5EF4-FFF2-40B4-BE49-F238E27FC236}">
                <a16:creationId xmlns:a16="http://schemas.microsoft.com/office/drawing/2014/main" id="{DBFE0C61-21F8-41EF-8CEA-93A7F5BC0823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7810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228600" indent="-114300">
              <a:spcAft>
                <a:spcPts val="0"/>
              </a:spcAft>
              <a:buChar char="•"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A1 had a higher BIC than A0 for all 49 participants (ΔBIC: 475.19 to 1374.70)</a:t>
            </a:r>
            <a:endParaRPr lang="de-DE" sz="150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704576"/>
            <a:ext cx="7810500" cy="267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8516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DocSecurity>0</DocSecurity>
  <PresentationFormat>Bildschirmpräsentation (16:9)</PresentationFormat>
  <Paragraphs>25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Arial Unicode MS</vt:lpstr>
      <vt:lpstr>Calibri</vt:lpstr>
      <vt:lpstr>Symbol</vt:lpstr>
      <vt:lpstr>Larissa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Dirk Ostwald</cp:lastModifiedBy>
  <cp:revision>1</cp:revision>
  <dcterms:created xsi:type="dcterms:W3CDTF">2026-09-16T08:33:18Z</dcterms:created>
  <dcterms:modified xsi:type="dcterms:W3CDTF">2026-09-16T08:35:19Z</dcterms:modified>
</cp:coreProperties>
</file>