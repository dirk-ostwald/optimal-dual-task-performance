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7559675" cy="106918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A43E3D3-19E2-46F8-B229-48DBACC16B60}">
          <p14:sldIdLst>
            <p14:sldId id="256"/>
          </p14:sldIdLst>
        </p14:section>
        <p14:section name="People" id="{161D3715-8996-4C13-8C1E-8EB53DECBA58}">
          <p14:sldIdLst>
            <p14:sldId id="257"/>
          </p14:sldIdLst>
        </p14:section>
        <p14:section name="General Organization" id="{897D9C6A-AF8B-4F16-8805-3243A9561EF7}">
          <p14:sldIdLst>
            <p14:sldId id="258"/>
            <p14:sldId id="259"/>
            <p14:sldId id="260"/>
            <p14:sldId id="261"/>
          </p14:sldIdLst>
        </p14:section>
        <p14:section name="Github" id="{5EACBF9B-FBCD-4040-8E7C-5C61EAF39DF3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RDMO" id="{0A383457-1EDA-46BD-B38F-F63A30E52E2B}">
          <p14:sldIdLst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defTabSz="685800">
              <a:lnSpc>
                <a:spcPct val="93000"/>
              </a:lnSpc>
              <a:tabLst>
                <a:tab pos="0" algn="l"/>
              </a:tabLst>
            </a:pPr>
            <a:r>
              <a:rPr lang="de-DE" sz="3000" b="1" u="none" strike="noStrike" cap="all">
                <a:solidFill>
                  <a:schemeClr val="dk1"/>
                </a:solidFill>
                <a:effectLst/>
                <a:uFillTx/>
                <a:latin typeface="Arial"/>
              </a:rPr>
              <a:t>Folie mittels Klicken verschieben</a:t>
            </a: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lnSpc>
                <a:spcPct val="83000"/>
              </a:lnSpc>
              <a:buNone/>
            </a:pPr>
            <a:r>
              <a:rPr lang="de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Format der Notizen mittels Klicken bearbeiten</a:t>
            </a:r>
          </a:p>
        </p:txBody>
      </p:sp>
      <p:sp>
        <p:nvSpPr>
          <p:cNvPr id="7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lnSpc>
                <a:spcPct val="83000"/>
              </a:lnSpc>
              <a:buNone/>
            </a:pPr>
            <a:r>
              <a: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&lt;Kopfzeile&gt;</a:t>
            </a:r>
          </a:p>
        </p:txBody>
      </p:sp>
      <p:sp>
        <p:nvSpPr>
          <p:cNvPr id="80" name="PlaceHolder 4"/>
          <p:cNvSpPr>
            <a:spLocks noGrp="1"/>
          </p:cNvSpPr>
          <p:nvPr>
            <p:ph type="dt" idx="28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83000"/>
              </a:lnSpc>
              <a:buNone/>
              <a:def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83000"/>
              </a:lnSpc>
              <a:buNone/>
            </a:pPr>
            <a:r>
              <a: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&lt;Datum/Uhrzeit&gt;</a:t>
            </a:r>
          </a:p>
        </p:txBody>
      </p:sp>
      <p:sp>
        <p:nvSpPr>
          <p:cNvPr id="81" name="PlaceHolder 5"/>
          <p:cNvSpPr>
            <a:spLocks noGrp="1"/>
          </p:cNvSpPr>
          <p:nvPr>
            <p:ph type="ftr" idx="29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83000"/>
              </a:lnSpc>
              <a:buNone/>
              <a:def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83000"/>
              </a:lnSpc>
              <a:buNone/>
            </a:pPr>
            <a:r>
              <a: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</a:p>
        </p:txBody>
      </p:sp>
      <p:sp>
        <p:nvSpPr>
          <p:cNvPr id="82" name="PlaceHolder 6"/>
          <p:cNvSpPr>
            <a:spLocks noGrp="1"/>
          </p:cNvSpPr>
          <p:nvPr>
            <p:ph type="sldNum" idx="30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83000"/>
              </a:lnSpc>
              <a:buNone/>
              <a:def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83000"/>
              </a:lnSpc>
              <a:buNone/>
            </a:pPr>
            <a:fld id="{24F2537F-1D5E-419F-B600-3A58A9F1D44B}" type="slidenum">
              <a:rPr lang="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‹Nr.›</a:t>
            </a:fld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Why mendeley?</a:t>
            </a:r>
            <a:endParaRPr lang="de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Zotero not for groups with larger 300 MB, Citavi/Endnote $$, </a:t>
            </a:r>
            <a:endParaRPr lang="de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58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5B28DA4-6B62-41B1-98D2-21F7872F6542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</a:t>
            </a:fld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Why mendeley?</a:t>
            </a:r>
            <a:endParaRPr lang="de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Zotero not for groups with larger 300 MB, Citavi/Endnote $$, </a:t>
            </a:r>
            <a:endParaRPr lang="de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59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6885566-9834-4526-A7CF-9B92E5F6469A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</a:t>
            </a:fld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Haupttitel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r Verbinder 7"/>
          <p:cNvCxnSpPr/>
          <p:nvPr/>
        </p:nvCxnSpPr>
        <p:spPr>
          <a:xfrm>
            <a:off x="-54000" y="4731840"/>
            <a:ext cx="9252720" cy="720"/>
          </a:xfrm>
          <a:prstGeom prst="straightConnector1">
            <a:avLst/>
          </a:prstGeom>
          <a:ln w="28575">
            <a:solidFill>
              <a:srgbClr val="000000"/>
            </a:solidFill>
            <a:round/>
          </a:ln>
        </p:spPr>
      </p:cxnSp>
      <p:cxnSp>
        <p:nvCxnSpPr>
          <p:cNvPr id="3" name="Gerader Verbinder 8"/>
          <p:cNvCxnSpPr/>
          <p:nvPr/>
        </p:nvCxnSpPr>
        <p:spPr>
          <a:xfrm>
            <a:off x="323280" y="-74520"/>
            <a:ext cx="720" cy="6940080"/>
          </a:xfrm>
          <a:prstGeom prst="straightConnector1">
            <a:avLst/>
          </a:prstGeom>
          <a:ln w="28575">
            <a:solidFill>
              <a:srgbClr val="3A77AD"/>
            </a:solidFill>
            <a:round/>
          </a:ln>
        </p:spPr>
      </p:cxnSp>
      <p:pic>
        <p:nvPicPr>
          <p:cNvPr id="4" name="Grafik 1"/>
          <p:cNvPicPr/>
          <p:nvPr/>
        </p:nvPicPr>
        <p:blipFill>
          <a:blip r:embed="rId2"/>
          <a:srcRect t="7958" b="13838"/>
          <a:stretch/>
        </p:blipFill>
        <p:spPr>
          <a:xfrm>
            <a:off x="-569160" y="3907080"/>
            <a:ext cx="1815480" cy="82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1680" cy="102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de-DE" sz="3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Titelmasterformat durch Klicken bearbeiten</a:t>
            </a:r>
            <a:endParaRPr lang="de-DE" sz="3000" b="1" u="none" strike="noStrike" cap="all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 hasCustomPrompt="1"/>
          </p:nvPr>
        </p:nvSpPr>
        <p:spPr>
          <a:xfrm>
            <a:off x="722160" y="2180160"/>
            <a:ext cx="7771680" cy="112428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1440" bIns="45720" anchor="b">
            <a:normAutofit/>
          </a:bodyPr>
          <a:lstStyle>
            <a:lvl1pPr indent="0" algn="l" defTabSz="6858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6858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Textmasterformat bearbeiten</a:t>
            </a:r>
            <a:endParaRPr lang="de-DE" sz="15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1"/>
          </p:nvPr>
        </p:nvSpPr>
        <p:spPr>
          <a:xfrm>
            <a:off x="75564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2"/>
          </p:nvPr>
        </p:nvSpPr>
        <p:spPr>
          <a:xfrm>
            <a:off x="32734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&lt;Fußzeile&gt;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8B8698F-7B6F-4BC2-9754-99F3C87F7CF7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bschnit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erader Verbinder 7"/>
          <p:cNvCxnSpPr/>
          <p:nvPr/>
        </p:nvCxnSpPr>
        <p:spPr>
          <a:xfrm>
            <a:off x="-54000" y="4731840"/>
            <a:ext cx="9252720" cy="720"/>
          </a:xfrm>
          <a:prstGeom prst="straightConnector1">
            <a:avLst/>
          </a:prstGeom>
          <a:ln w="28575">
            <a:solidFill>
              <a:srgbClr val="000000"/>
            </a:solidFill>
            <a:round/>
          </a:ln>
        </p:spPr>
      </p:cxnSp>
      <p:cxnSp>
        <p:nvCxnSpPr>
          <p:cNvPr id="11" name="Gerader Verbinder 8"/>
          <p:cNvCxnSpPr/>
          <p:nvPr/>
        </p:nvCxnSpPr>
        <p:spPr>
          <a:xfrm>
            <a:off x="323280" y="-74520"/>
            <a:ext cx="720" cy="6940080"/>
          </a:xfrm>
          <a:prstGeom prst="straightConnector1">
            <a:avLst/>
          </a:prstGeom>
          <a:ln w="28575">
            <a:solidFill>
              <a:srgbClr val="3A77AD"/>
            </a:solidFill>
            <a:round/>
          </a:ln>
        </p:spPr>
      </p:cxnSp>
      <p:pic>
        <p:nvPicPr>
          <p:cNvPr id="12" name="Grafik 1"/>
          <p:cNvPicPr/>
          <p:nvPr/>
        </p:nvPicPr>
        <p:blipFill>
          <a:blip r:embed="rId2"/>
          <a:srcRect t="7958" b="13838"/>
          <a:stretch/>
        </p:blipFill>
        <p:spPr>
          <a:xfrm>
            <a:off x="-569160" y="3907080"/>
            <a:ext cx="1815480" cy="82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1680" cy="110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de-DE" sz="3300" b="1" u="none" strike="noStrike">
                <a:solidFill>
                  <a:srgbClr val="3A77AD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rgbClr val="3A77AD"/>
                </a:solidFill>
                <a:effectLst/>
                <a:uFillTx/>
                <a:latin typeface="Arial"/>
                <a:ea typeface="Arial"/>
              </a:rPr>
              <a:t>Titelmasterformat durch Klicken bearbeiten</a:t>
            </a:r>
            <a:endParaRPr lang="de-DE" sz="3300" b="1" u="none" strike="noStrike">
              <a:solidFill>
                <a:srgbClr val="3A77AD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dt" idx="4"/>
          </p:nvPr>
        </p:nvSpPr>
        <p:spPr>
          <a:xfrm>
            <a:off x="75564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5"/>
          </p:nvPr>
        </p:nvSpPr>
        <p:spPr>
          <a:xfrm>
            <a:off x="32734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&lt;Fußzeile&gt;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01C2E45-6D40-4BC6-A3AC-E53EF6ADB9D0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lnSpc>
                <a:spcPct val="102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2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2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2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2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2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2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2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</a:p>
          <a:p>
            <a:pPr marL="864000" lvl="1" indent="-324000" algn="l">
              <a:lnSpc>
                <a:spcPct val="102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</a:p>
          <a:p>
            <a:pPr marL="1296000" lvl="2" indent="-288000" algn="l">
              <a:lnSpc>
                <a:spcPct val="102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</a:p>
          <a:p>
            <a:pPr marL="1728000" lvl="3" indent="-216000" algn="l">
              <a:lnSpc>
                <a:spcPct val="102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</a:p>
          <a:p>
            <a:pPr marL="2160000" lvl="4" indent="-216000" algn="l">
              <a:lnSpc>
                <a:spcPct val="102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</a:p>
          <a:p>
            <a:pPr marL="2592000" lvl="5" indent="-216000" algn="l">
              <a:lnSpc>
                <a:spcPct val="102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</a:p>
          <a:p>
            <a:pPr marL="3024000" lvl="6" indent="-216000" algn="l">
              <a:lnSpc>
                <a:spcPct val="102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und Inha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erader Verbinder 7"/>
          <p:cNvCxnSpPr/>
          <p:nvPr/>
        </p:nvCxnSpPr>
        <p:spPr>
          <a:xfrm>
            <a:off x="-54000" y="4731840"/>
            <a:ext cx="9252720" cy="720"/>
          </a:xfrm>
          <a:prstGeom prst="straightConnector1">
            <a:avLst/>
          </a:prstGeom>
          <a:ln w="28575">
            <a:solidFill>
              <a:srgbClr val="000000"/>
            </a:solidFill>
            <a:round/>
          </a:ln>
        </p:spPr>
      </p:cxnSp>
      <p:cxnSp>
        <p:nvCxnSpPr>
          <p:cNvPr id="19" name="Gerader Verbinder 8"/>
          <p:cNvCxnSpPr/>
          <p:nvPr/>
        </p:nvCxnSpPr>
        <p:spPr>
          <a:xfrm>
            <a:off x="323280" y="-74520"/>
            <a:ext cx="720" cy="6940080"/>
          </a:xfrm>
          <a:prstGeom prst="straightConnector1">
            <a:avLst/>
          </a:prstGeom>
          <a:ln w="28575">
            <a:solidFill>
              <a:srgbClr val="3A77AD"/>
            </a:solidFill>
            <a:round/>
          </a:ln>
        </p:spPr>
      </p:cxnSp>
      <p:pic>
        <p:nvPicPr>
          <p:cNvPr id="20" name="Grafik 1"/>
          <p:cNvPicPr/>
          <p:nvPr/>
        </p:nvPicPr>
        <p:blipFill>
          <a:blip r:embed="rId2"/>
          <a:srcRect t="7958" b="13838"/>
          <a:stretch/>
        </p:blipFill>
        <p:spPr>
          <a:xfrm>
            <a:off x="-569160" y="3907080"/>
            <a:ext cx="1815480" cy="82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 hasCustomPrompt="1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US" sz="3300" b="1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1" u="none" strike="noStrike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Titelmasterformat durch Klicken bearbeiten</a:t>
            </a:r>
            <a:endParaRPr lang="en-US" sz="3300" b="1" u="none" strike="noStrike">
              <a:solidFill>
                <a:schemeClr val="accent1"/>
              </a:solidFill>
              <a:effectLst/>
              <a:uFillTx/>
              <a:latin typeface="Arial Unicode M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7"/>
          </p:nvPr>
        </p:nvSpPr>
        <p:spPr>
          <a:xfrm>
            <a:off x="6285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8"/>
          </p:nvPr>
        </p:nvSpPr>
        <p:spPr>
          <a:xfrm>
            <a:off x="302904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&lt;Fußzeile&gt;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9"/>
          </p:nvPr>
        </p:nvSpPr>
        <p:spPr>
          <a:xfrm>
            <a:off x="645804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5D9D41-4A3F-47F4-A99D-49114B934723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 hasCustomPrompt="1"/>
          </p:nvPr>
        </p:nvSpPr>
        <p:spPr>
          <a:xfrm>
            <a:off x="755640" y="1204200"/>
            <a:ext cx="7928280" cy="3407040"/>
          </a:xfrm>
          <a:prstGeom prst="rect">
            <a:avLst/>
          </a:prstGeom>
          <a:solidFill>
            <a:schemeClr val="lt1"/>
          </a:solidFill>
          <a:ln w="2556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3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Erste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Zweite 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20000" lvl="2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Dritte 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Zwei Inhalt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erader Verbinder 7"/>
          <p:cNvCxnSpPr/>
          <p:nvPr/>
        </p:nvCxnSpPr>
        <p:spPr>
          <a:xfrm>
            <a:off x="-54000" y="4731840"/>
            <a:ext cx="9252720" cy="720"/>
          </a:xfrm>
          <a:prstGeom prst="straightConnector1">
            <a:avLst/>
          </a:prstGeom>
          <a:ln w="28575">
            <a:solidFill>
              <a:srgbClr val="000000"/>
            </a:solidFill>
            <a:round/>
          </a:ln>
        </p:spPr>
      </p:cxnSp>
      <p:cxnSp>
        <p:nvCxnSpPr>
          <p:cNvPr id="27" name="Gerader Verbinder 8"/>
          <p:cNvCxnSpPr/>
          <p:nvPr/>
        </p:nvCxnSpPr>
        <p:spPr>
          <a:xfrm>
            <a:off x="323280" y="-74520"/>
            <a:ext cx="720" cy="6940080"/>
          </a:xfrm>
          <a:prstGeom prst="straightConnector1">
            <a:avLst/>
          </a:prstGeom>
          <a:ln w="28575">
            <a:solidFill>
              <a:srgbClr val="3A77AD"/>
            </a:solidFill>
            <a:round/>
          </a:ln>
        </p:spPr>
      </p:cxnSp>
      <p:pic>
        <p:nvPicPr>
          <p:cNvPr id="28" name="Grafik 1"/>
          <p:cNvPicPr/>
          <p:nvPr/>
        </p:nvPicPr>
        <p:blipFill>
          <a:blip r:embed="rId2"/>
          <a:srcRect t="7958" b="13838"/>
          <a:stretch/>
        </p:blipFill>
        <p:spPr>
          <a:xfrm>
            <a:off x="-569160" y="3907080"/>
            <a:ext cx="1815480" cy="82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de-DE" sz="3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Titelmasterformat durch Klicken bearbeiten</a:t>
            </a:r>
            <a:endParaRPr lang="de-DE" sz="33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0"/>
          </p:nvPr>
        </p:nvSpPr>
        <p:spPr>
          <a:xfrm>
            <a:off x="75564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1"/>
          </p:nvPr>
        </p:nvSpPr>
        <p:spPr>
          <a:xfrm>
            <a:off x="32734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&lt;Fußzeile&gt;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92C6131-33D7-49AB-B047-5A6A35AC4A5B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 hasCustomPrompt="1"/>
          </p:nvPr>
        </p:nvSpPr>
        <p:spPr>
          <a:xfrm>
            <a:off x="755640" y="1204200"/>
            <a:ext cx="3727800" cy="3407040"/>
          </a:xfrm>
          <a:prstGeom prst="rect">
            <a:avLst/>
          </a:prstGeom>
          <a:solidFill>
            <a:schemeClr val="lt1"/>
          </a:solidFill>
          <a:ln w="2556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3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Erste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Zweite 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20000" lvl="2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Dritte 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body" hasCustomPrompt="1"/>
          </p:nvPr>
        </p:nvSpPr>
        <p:spPr>
          <a:xfrm>
            <a:off x="4689000" y="1204200"/>
            <a:ext cx="3997080" cy="3407040"/>
          </a:xfrm>
          <a:prstGeom prst="rect">
            <a:avLst/>
          </a:prstGeom>
          <a:solidFill>
            <a:schemeClr val="lt1"/>
          </a:solidFill>
          <a:ln w="2556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3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Erste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Zweite 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20000" lvl="2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Dritte 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ergleich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erader Verbinder 7"/>
          <p:cNvCxnSpPr/>
          <p:nvPr/>
        </p:nvCxnSpPr>
        <p:spPr>
          <a:xfrm>
            <a:off x="-54000" y="4731840"/>
            <a:ext cx="9252720" cy="720"/>
          </a:xfrm>
          <a:prstGeom prst="straightConnector1">
            <a:avLst/>
          </a:prstGeom>
          <a:ln w="28575">
            <a:solidFill>
              <a:srgbClr val="000000"/>
            </a:solidFill>
            <a:round/>
          </a:ln>
        </p:spPr>
      </p:cxnSp>
      <p:cxnSp>
        <p:nvCxnSpPr>
          <p:cNvPr id="36" name="Gerader Verbinder 8"/>
          <p:cNvCxnSpPr/>
          <p:nvPr/>
        </p:nvCxnSpPr>
        <p:spPr>
          <a:xfrm>
            <a:off x="323280" y="-74520"/>
            <a:ext cx="720" cy="6940080"/>
          </a:xfrm>
          <a:prstGeom prst="straightConnector1">
            <a:avLst/>
          </a:prstGeom>
          <a:ln w="28575">
            <a:solidFill>
              <a:srgbClr val="3A77AD"/>
            </a:solidFill>
            <a:round/>
          </a:ln>
        </p:spPr>
      </p:cxnSp>
      <p:pic>
        <p:nvPicPr>
          <p:cNvPr id="37" name="Grafik 1"/>
          <p:cNvPicPr/>
          <p:nvPr/>
        </p:nvPicPr>
        <p:blipFill>
          <a:blip r:embed="rId2"/>
          <a:srcRect t="7958" b="13838"/>
          <a:stretch/>
        </p:blipFill>
        <p:spPr>
          <a:xfrm>
            <a:off x="-569160" y="3907080"/>
            <a:ext cx="1815480" cy="82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de-DE" sz="3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Titelmasterformat durch Klicken bearbeiten</a:t>
            </a:r>
            <a:endParaRPr lang="de-DE" sz="33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5640" y="1151280"/>
            <a:ext cx="3741120" cy="47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marL="228600" indent="0" algn="l" defTabSz="6858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marL="228600" indent="0" algn="l" defTabSz="6858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Textmasterformat bearbeiten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000" cy="47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marL="228600" indent="0" algn="l" defTabSz="6858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marL="228600" indent="0" algn="l" defTabSz="6858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Textmasterformat bearbeiten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3"/>
          </p:nvPr>
        </p:nvSpPr>
        <p:spPr>
          <a:xfrm>
            <a:off x="75564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14"/>
          </p:nvPr>
        </p:nvSpPr>
        <p:spPr>
          <a:xfrm>
            <a:off x="32734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&lt;Fußzeile&gt;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878436-D9AE-4811-8844-9A53E82FBF0A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body" hasCustomPrompt="1"/>
          </p:nvPr>
        </p:nvSpPr>
        <p:spPr>
          <a:xfrm>
            <a:off x="755640" y="1661760"/>
            <a:ext cx="3740760" cy="2949480"/>
          </a:xfrm>
          <a:prstGeom prst="rect">
            <a:avLst/>
          </a:prstGeom>
          <a:solidFill>
            <a:schemeClr val="lt1"/>
          </a:solidFill>
          <a:ln w="2556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3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Erste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Zweite 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20000" lvl="2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Dritte 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body" hasCustomPrompt="1"/>
          </p:nvPr>
        </p:nvSpPr>
        <p:spPr>
          <a:xfrm>
            <a:off x="4645080" y="1661760"/>
            <a:ext cx="4041000" cy="2949480"/>
          </a:xfrm>
          <a:prstGeom prst="rect">
            <a:avLst/>
          </a:prstGeom>
          <a:solidFill>
            <a:schemeClr val="lt1"/>
          </a:solidFill>
          <a:ln w="2556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3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Erste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Zweite 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20000" lvl="2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Dritte 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Gerader Verbinder 7"/>
          <p:cNvCxnSpPr/>
          <p:nvPr/>
        </p:nvCxnSpPr>
        <p:spPr>
          <a:xfrm>
            <a:off x="-54000" y="4731840"/>
            <a:ext cx="9252720" cy="720"/>
          </a:xfrm>
          <a:prstGeom prst="straightConnector1">
            <a:avLst/>
          </a:prstGeom>
          <a:ln w="28575">
            <a:solidFill>
              <a:srgbClr val="000000"/>
            </a:solidFill>
            <a:round/>
          </a:ln>
        </p:spPr>
      </p:cxnSp>
      <p:cxnSp>
        <p:nvCxnSpPr>
          <p:cNvPr id="47" name="Gerader Verbinder 8"/>
          <p:cNvCxnSpPr/>
          <p:nvPr/>
        </p:nvCxnSpPr>
        <p:spPr>
          <a:xfrm>
            <a:off x="323280" y="-74520"/>
            <a:ext cx="720" cy="6940080"/>
          </a:xfrm>
          <a:prstGeom prst="straightConnector1">
            <a:avLst/>
          </a:prstGeom>
          <a:ln w="28575">
            <a:solidFill>
              <a:srgbClr val="3A77AD"/>
            </a:solidFill>
            <a:round/>
          </a:ln>
        </p:spPr>
      </p:cxnSp>
      <p:pic>
        <p:nvPicPr>
          <p:cNvPr id="48" name="Grafik 1"/>
          <p:cNvPicPr/>
          <p:nvPr/>
        </p:nvPicPr>
        <p:blipFill>
          <a:blip r:embed="rId2"/>
          <a:srcRect t="7958" b="13838"/>
          <a:stretch/>
        </p:blipFill>
        <p:spPr>
          <a:xfrm>
            <a:off x="-569160" y="3907080"/>
            <a:ext cx="1815480" cy="82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de-DE" sz="3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Titelmasterformat durch Klicken bearbeiten</a:t>
            </a:r>
            <a:endParaRPr lang="de-DE" sz="33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dt" idx="16"/>
          </p:nvPr>
        </p:nvSpPr>
        <p:spPr>
          <a:xfrm>
            <a:off x="75564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17"/>
          </p:nvPr>
        </p:nvSpPr>
        <p:spPr>
          <a:xfrm>
            <a:off x="32734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&lt;Fußzeile&gt;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13D00EA-AF17-42A7-AE57-94E79A6C309B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erader Verbinder 7"/>
          <p:cNvCxnSpPr/>
          <p:nvPr/>
        </p:nvCxnSpPr>
        <p:spPr>
          <a:xfrm>
            <a:off x="-54000" y="4731840"/>
            <a:ext cx="9252720" cy="720"/>
          </a:xfrm>
          <a:prstGeom prst="straightConnector1">
            <a:avLst/>
          </a:prstGeom>
          <a:ln w="28575">
            <a:solidFill>
              <a:srgbClr val="000000"/>
            </a:solidFill>
            <a:round/>
          </a:ln>
        </p:spPr>
      </p:cxnSp>
      <p:cxnSp>
        <p:nvCxnSpPr>
          <p:cNvPr id="54" name="Gerader Verbinder 8"/>
          <p:cNvCxnSpPr/>
          <p:nvPr/>
        </p:nvCxnSpPr>
        <p:spPr>
          <a:xfrm>
            <a:off x="323280" y="-74520"/>
            <a:ext cx="720" cy="6940080"/>
          </a:xfrm>
          <a:prstGeom prst="straightConnector1">
            <a:avLst/>
          </a:prstGeom>
          <a:ln w="28575">
            <a:solidFill>
              <a:srgbClr val="3A77AD"/>
            </a:solidFill>
            <a:round/>
          </a:ln>
        </p:spPr>
      </p:cxnSp>
      <p:pic>
        <p:nvPicPr>
          <p:cNvPr id="55" name="Grafik 1"/>
          <p:cNvPicPr/>
          <p:nvPr/>
        </p:nvPicPr>
        <p:blipFill>
          <a:blip r:embed="rId2"/>
          <a:srcRect t="7958" b="13838"/>
          <a:stretch/>
        </p:blipFill>
        <p:spPr>
          <a:xfrm>
            <a:off x="-569160" y="3907080"/>
            <a:ext cx="1815480" cy="82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dt" idx="19"/>
          </p:nvPr>
        </p:nvSpPr>
        <p:spPr>
          <a:xfrm>
            <a:off x="75564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20"/>
          </p:nvPr>
        </p:nvSpPr>
        <p:spPr>
          <a:xfrm>
            <a:off x="32734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&lt;Fußzeile&gt;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A1795E6-5C8C-42E8-AEBA-38ED28A3D513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recht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Gerader Verbinder 7"/>
          <p:cNvCxnSpPr/>
          <p:nvPr/>
        </p:nvCxnSpPr>
        <p:spPr>
          <a:xfrm>
            <a:off x="-54000" y="4731840"/>
            <a:ext cx="9252720" cy="720"/>
          </a:xfrm>
          <a:prstGeom prst="straightConnector1">
            <a:avLst/>
          </a:prstGeom>
          <a:ln w="28575">
            <a:solidFill>
              <a:srgbClr val="000000"/>
            </a:solidFill>
            <a:round/>
          </a:ln>
        </p:spPr>
      </p:cxnSp>
      <p:cxnSp>
        <p:nvCxnSpPr>
          <p:cNvPr id="60" name="Gerader Verbinder 8"/>
          <p:cNvCxnSpPr/>
          <p:nvPr/>
        </p:nvCxnSpPr>
        <p:spPr>
          <a:xfrm>
            <a:off x="323280" y="-74520"/>
            <a:ext cx="720" cy="6940080"/>
          </a:xfrm>
          <a:prstGeom prst="straightConnector1">
            <a:avLst/>
          </a:prstGeom>
          <a:ln w="28575">
            <a:solidFill>
              <a:srgbClr val="3A77AD"/>
            </a:solidFill>
            <a:round/>
          </a:ln>
        </p:spPr>
      </p:cxnSp>
      <p:pic>
        <p:nvPicPr>
          <p:cNvPr id="61" name="Grafik 1"/>
          <p:cNvPicPr/>
          <p:nvPr/>
        </p:nvPicPr>
        <p:blipFill>
          <a:blip r:embed="rId2"/>
          <a:srcRect t="7958" b="13838"/>
          <a:stretch/>
        </p:blipFill>
        <p:spPr>
          <a:xfrm>
            <a:off x="-569160" y="3907080"/>
            <a:ext cx="1815480" cy="82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440" cy="87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de-DE" sz="15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5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Titelmasterformat durch Klicken bearbeiten</a:t>
            </a:r>
            <a:endParaRPr lang="de-DE" sz="15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440" cy="351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0" algn="l" defTabSz="6858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05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marL="228600" indent="0" algn="l" defTabSz="6858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05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Textmasterformat bearbeiten</a:t>
            </a:r>
            <a:endParaRPr lang="de-DE" sz="10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22"/>
          </p:nvPr>
        </p:nvSpPr>
        <p:spPr>
          <a:xfrm>
            <a:off x="75564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ftr" idx="23"/>
          </p:nvPr>
        </p:nvSpPr>
        <p:spPr>
          <a:xfrm>
            <a:off x="32734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&lt;Fußzeile&gt;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4C8AE8-1A15-4B59-B219-7EBB12E7DBDF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body" hasCustomPrompt="1"/>
          </p:nvPr>
        </p:nvSpPr>
        <p:spPr>
          <a:xfrm>
            <a:off x="3591360" y="204840"/>
            <a:ext cx="5092200" cy="4387320"/>
          </a:xfrm>
          <a:prstGeom prst="rect">
            <a:avLst/>
          </a:prstGeom>
          <a:solidFill>
            <a:schemeClr val="lt1"/>
          </a:solidFill>
          <a:ln w="2556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3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Erste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Zweite 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20000" lvl="2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Dritte 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ld mit Überschrif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erader Verbinder 7"/>
          <p:cNvCxnSpPr/>
          <p:nvPr/>
        </p:nvCxnSpPr>
        <p:spPr>
          <a:xfrm>
            <a:off x="-54000" y="4731840"/>
            <a:ext cx="9252720" cy="720"/>
          </a:xfrm>
          <a:prstGeom prst="straightConnector1">
            <a:avLst/>
          </a:prstGeom>
          <a:ln w="28575">
            <a:solidFill>
              <a:srgbClr val="000000"/>
            </a:solidFill>
            <a:round/>
          </a:ln>
        </p:spPr>
      </p:cxnSp>
      <p:cxnSp>
        <p:nvCxnSpPr>
          <p:cNvPr id="69" name="Gerader Verbinder 8"/>
          <p:cNvCxnSpPr/>
          <p:nvPr/>
        </p:nvCxnSpPr>
        <p:spPr>
          <a:xfrm>
            <a:off x="323280" y="-74520"/>
            <a:ext cx="720" cy="6940080"/>
          </a:xfrm>
          <a:prstGeom prst="straightConnector1">
            <a:avLst/>
          </a:prstGeom>
          <a:ln w="28575">
            <a:solidFill>
              <a:srgbClr val="3A77AD"/>
            </a:solidFill>
            <a:round/>
          </a:ln>
        </p:spPr>
      </p:cxnSp>
      <p:pic>
        <p:nvPicPr>
          <p:cNvPr id="70" name="Grafik 1"/>
          <p:cNvPicPr/>
          <p:nvPr/>
        </p:nvPicPr>
        <p:blipFill>
          <a:blip r:embed="rId2"/>
          <a:srcRect t="7958" b="13838"/>
          <a:stretch/>
        </p:blipFill>
        <p:spPr>
          <a:xfrm>
            <a:off x="-569160" y="3907080"/>
            <a:ext cx="1815480" cy="82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5680" cy="4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de-DE" sz="15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5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Titelmasterformat durch Klicken bearbeiten</a:t>
            </a:r>
            <a:endParaRPr lang="de-DE" sz="15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5680" cy="60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0" algn="l" defTabSz="6858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05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marL="228600" indent="0" algn="l" defTabSz="6858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05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Textmasterformat bearbeiten</a:t>
            </a:r>
            <a:endParaRPr lang="de-DE" sz="10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dt" idx="25"/>
          </p:nvPr>
        </p:nvSpPr>
        <p:spPr>
          <a:xfrm>
            <a:off x="75564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ftr" idx="26"/>
          </p:nvPr>
        </p:nvSpPr>
        <p:spPr>
          <a:xfrm>
            <a:off x="32734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&lt;Fußzeile&gt;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C41305-46A9-480B-948A-4CACF0B1B753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 hasCustomPrompt="1"/>
          </p:nvPr>
        </p:nvSpPr>
        <p:spPr>
          <a:xfrm>
            <a:off x="1789200" y="445320"/>
            <a:ext cx="5488200" cy="3119040"/>
          </a:xfrm>
          <a:prstGeom prst="rect">
            <a:avLst/>
          </a:prstGeom>
          <a:solidFill>
            <a:schemeClr val="lt1"/>
          </a:solidFill>
          <a:ln w="2556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3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Erste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Zweite 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20000" lvl="2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Dritte 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erminplaner6.dfn.de/" TargetMode="External"/><Relationship Id="rId2" Type="http://schemas.openxmlformats.org/officeDocument/2006/relationships/hyperlink" Target="https://dshs-koeln.sciebo.de/s/sW66sffkTTWKDbP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iscord.gg/Yt7vDDPTV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OR-6047/FOR_6047_Sandbox.g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sycharchives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-scm.com/install/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ithub.com/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FOR-6047/FOR_6047_Sandbox.git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FOR-6047/FOR_6047_Sandbox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steve.kaminski@uni-tuebingen.de" TargetMode="External"/><Relationship Id="rId2" Type="http://schemas.openxmlformats.org/officeDocument/2006/relationships/hyperlink" Target="https://rdmo.dh-center.uni-tuebingen.de/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osnaplan.ub.uni-osnabrueck.de/" TargetMode="External"/><Relationship Id="rId4" Type="http://schemas.openxmlformats.org/officeDocument/2006/relationships/hyperlink" Target="https://rdmo.oth-regensburg.de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1680" cy="102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FOR 6047 - Organization</a:t>
            </a:r>
            <a:endParaRPr lang="de-DE" sz="3000" b="1" u="none" strike="noStrike" cap="all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440" cy="87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500" b="1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Dorina Weichert, </a:t>
            </a:r>
            <a:br>
              <a:rPr sz="1500"/>
            </a:br>
            <a:r>
              <a:rPr lang="de-DE" sz="1500" b="1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Coordinating Post-Doc</a:t>
            </a:r>
            <a:endParaRPr lang="de-DE" sz="15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dt" idx="31"/>
          </p:nvPr>
        </p:nvSpPr>
        <p:spPr>
          <a:xfrm>
            <a:off x="75564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hasCustomPrompt="1"/>
          </p:nvPr>
        </p:nvSpPr>
        <p:spPr>
          <a:xfrm>
            <a:off x="3591360" y="732960"/>
            <a:ext cx="5092200" cy="3859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My Tasks include: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Coordination of the Research Unit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Managing Data, Code, Files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Organizing Joint Meetings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Organization of the PhD program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Ensuring joint work, by: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Joint PhD papers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 Meta-Analysis in the Field of Voluntary Task-Switching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Model Comparisons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Writing a Benchmark List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Organizing a Conference and a Special Issue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" name="Textfeld 8"/>
          <p:cNvSpPr/>
          <p:nvPr/>
        </p:nvSpPr>
        <p:spPr>
          <a:xfrm>
            <a:off x="755640" y="1149480"/>
            <a:ext cx="2517480" cy="134532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Placeholder for a Photo</a:t>
            </a:r>
            <a:endParaRPr lang="d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feld 9"/>
          <p:cNvSpPr/>
          <p:nvPr/>
        </p:nvSpPr>
        <p:spPr>
          <a:xfrm>
            <a:off x="3591360" y="3626280"/>
            <a:ext cx="5092200" cy="78408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 Black"/>
                <a:ea typeface="Arial"/>
              </a:rPr>
              <a:t>You can always reach out to me. </a:t>
            </a:r>
            <a:br>
              <a:rPr sz="1800"/>
            </a:b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 Black"/>
                <a:ea typeface="Arial"/>
              </a:rPr>
              <a:t>I‘m here to support you.</a:t>
            </a:r>
            <a:endParaRPr lang="d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feld 5"/>
          <p:cNvSpPr/>
          <p:nvPr/>
        </p:nvSpPr>
        <p:spPr>
          <a:xfrm>
            <a:off x="755640" y="2662560"/>
            <a:ext cx="2517480" cy="30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Coordinating Post-Doc</a:t>
            </a:r>
            <a:endParaRPr lang="de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PhD in Computer Science</a:t>
            </a:r>
            <a:endParaRPr lang="de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Bachelor &amp; Master in Mechanical Engineering</a:t>
            </a:r>
            <a:endParaRPr lang="de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lang="de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___________________________</a:t>
            </a:r>
            <a:endParaRPr lang="de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German Sports University Cologne</a:t>
            </a:r>
            <a:endParaRPr lang="de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Institute for Psychology</a:t>
            </a:r>
            <a:endParaRPr lang="de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Department for Performance Psychology</a:t>
            </a:r>
            <a:endParaRPr lang="de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Building VI, Room 121</a:t>
            </a:r>
            <a:endParaRPr lang="de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lang="de-DE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: +49 221/ 4982-5515</a:t>
            </a:r>
            <a:endParaRPr lang="de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lang="de-DE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</a:t>
            </a: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: d.weichert@dshs-koeln.de</a:t>
            </a:r>
            <a:endParaRPr lang="de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lang="de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lang="de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lang="de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lang="de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FOR 6047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541F935F-E4C7-47BB-BDE9-571E39BD6ECF}" type="slidenum"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 hasCustomPrompt="1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 Unicode MS"/>
                <a:ea typeface="Arial Unicode MS"/>
              </a:rPr>
              <a:t>How to organize…</a:t>
            </a:r>
            <a:endParaRPr lang="en-US" sz="3300" b="1" u="none" strike="noStrike">
              <a:solidFill>
                <a:schemeClr val="accent1"/>
              </a:solidFill>
              <a:effectLst/>
              <a:uFillTx/>
              <a:latin typeface="Arial Unicode MS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dt" idx="32"/>
          </p:nvPr>
        </p:nvSpPr>
        <p:spPr>
          <a:xfrm>
            <a:off x="6285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hasCustomPrompt="1"/>
          </p:nvPr>
        </p:nvSpPr>
        <p:spPr>
          <a:xfrm>
            <a:off x="755640" y="1204200"/>
            <a:ext cx="297540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5720" tIns="91440" rIns="45720" bIns="91440" anchor="t">
            <a:noAutofit/>
          </a:bodyPr>
          <a:lstStyle/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3200" b="1" u="none" strike="noStrike" cap="all" dirty="0" err="1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Organizing</a:t>
            </a:r>
            <a:r>
              <a:rPr lang="de-DE" sz="3200" b="1" u="none" strike="noStrike" cap="all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de-DE" sz="3200" b="1" u="none" strike="noStrike" cap="all" dirty="0" err="1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the</a:t>
            </a:r>
            <a:r>
              <a:rPr lang="de-DE" sz="3200" b="1" u="none" strike="noStrike" cap="all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Project</a:t>
            </a:r>
            <a:endParaRPr lang="de-DE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93" name="Grafik 9"/>
          <p:cNvPicPr/>
          <p:nvPr/>
        </p:nvPicPr>
        <p:blipFill>
          <a:blip r:embed="rId2"/>
          <a:stretch/>
        </p:blipFill>
        <p:spPr>
          <a:xfrm>
            <a:off x="3731040" y="0"/>
            <a:ext cx="77155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FOR 6047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4AC3480F-16B9-4F88-B7FA-1A6BF3B00BB6}" type="slidenum"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General Project Organization</a:t>
            </a:r>
            <a:endParaRPr lang="de-DE" sz="33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dt" idx="33"/>
          </p:nvPr>
        </p:nvSpPr>
        <p:spPr>
          <a:xfrm>
            <a:off x="75564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34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E66AEBC-3A3E-4203-A52B-89FE552ECE97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4</a:t>
            </a:fld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hasCustomPrompt="1"/>
          </p:nvPr>
        </p:nvSpPr>
        <p:spPr>
          <a:xfrm>
            <a:off x="755640" y="1204200"/>
            <a:ext cx="372780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Files, e.g.,: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Proposals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Slides and Documents from Joint Meetings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Templates in Corporate Design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</a:pP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Meeting Organization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Communication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</a:pP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</a:pP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hasCustomPrompt="1"/>
          </p:nvPr>
        </p:nvSpPr>
        <p:spPr>
          <a:xfrm>
            <a:off x="4689000" y="1204200"/>
            <a:ext cx="399708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On sciebo: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20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14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2"/>
              </a:rPr>
              <a:t>https://dshs-koeln.sciebo.de/s/sW66sffkTTWKDbP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via DFN: </a:t>
            </a:r>
            <a:r>
              <a:rPr lang="de-DE" sz="16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3"/>
              </a:rPr>
              <a:t>https://terminplaner6.dfn.de/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Discord: </a:t>
            </a:r>
            <a:r>
              <a:rPr lang="de-DE" sz="16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4"/>
              </a:rPr>
              <a:t>https://discord.gg/Yt7vDDPTV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Mail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Wingdings"/>
                <a:ea typeface="Arial"/>
              </a:rPr>
              <a:t>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please contact Dorina if you‘re not in the mailing list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FOR 6047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Sharing and Documenting </a:t>
            </a:r>
            <a:br>
              <a:rPr sz="3300"/>
            </a:b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your Experiments, Data &amp; Code</a:t>
            </a:r>
            <a:endParaRPr lang="de-DE" sz="33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dt" idx="35"/>
          </p:nvPr>
        </p:nvSpPr>
        <p:spPr>
          <a:xfrm>
            <a:off x="75564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36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284118E-5D28-4ED0-BE3B-CB36BD0824BB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5</a:t>
            </a:fld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hasCustomPrompt="1"/>
          </p:nvPr>
        </p:nvSpPr>
        <p:spPr>
          <a:xfrm>
            <a:off x="755640" y="1204200"/>
            <a:ext cx="372780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Your Data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FAIR Metadata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Data itself (shareable .csv with all columns)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</a:pP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Your Code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Joint Literature Server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hasCustomPrompt="1"/>
          </p:nvPr>
        </p:nvSpPr>
        <p:spPr>
          <a:xfrm>
            <a:off x="4689000" y="1204200"/>
            <a:ext cx="436320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Depending on data type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ED7D31"/>
              </a:buClr>
              <a:buFont typeface="Arial"/>
              <a:buChar char="›"/>
            </a:pPr>
            <a:r>
              <a:rPr lang="de-DE" sz="1400" b="0" u="none" strike="noStrike">
                <a:solidFill>
                  <a:schemeClr val="accent2"/>
                </a:solidFill>
                <a:effectLst/>
                <a:uFillTx/>
                <a:latin typeface="Arial"/>
                <a:ea typeface="Arial"/>
              </a:rPr>
              <a:t>RDMO </a:t>
            </a:r>
            <a:r>
              <a:rPr lang="de-DE" sz="1400" b="0" u="none" strike="noStrike">
                <a:solidFill>
                  <a:schemeClr val="accent2"/>
                </a:solidFill>
                <a:effectLst/>
                <a:uFillTx/>
                <a:latin typeface="Wingdings"/>
                <a:ea typeface="Arial"/>
              </a:rPr>
              <a:t></a:t>
            </a:r>
            <a:r>
              <a:rPr lang="de-DE" sz="1400" b="0" u="none" strike="noStrike">
                <a:solidFill>
                  <a:schemeClr val="accent2"/>
                </a:solidFill>
                <a:effectLst/>
                <a:uFillTx/>
                <a:latin typeface="Arial"/>
                <a:ea typeface="Arial"/>
              </a:rPr>
              <a:t> use Tuebingen?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Github and Sciebo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Wingdings"/>
                <a:ea typeface="Arial"/>
              </a:rPr>
              <a:t>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Please reach out to Dorina in case of large data (&gt; 500 MB).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</a:pP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Github: </a:t>
            </a:r>
            <a:r>
              <a:rPr lang="de-DE" sz="16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3"/>
              </a:rPr>
              <a:t>https://github.com/FOR-6047/FOR_6047_Sandbox.git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Zotero group. You‘ll get an invitation by mail.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FOR 6047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Sharing and Documenting </a:t>
            </a:r>
            <a:br>
              <a:rPr sz="3300"/>
            </a:b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your Experiments, Data &amp; Code</a:t>
            </a:r>
            <a:endParaRPr lang="de-DE" sz="3300" b="1" u="none" strike="noStrike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dt" idx="37"/>
          </p:nvPr>
        </p:nvSpPr>
        <p:spPr>
          <a:xfrm>
            <a:off x="75564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38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3C6A48-E968-4BD8-BD4B-008B41002C02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6</a:t>
            </a:fld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hasCustomPrompt="1"/>
          </p:nvPr>
        </p:nvSpPr>
        <p:spPr>
          <a:xfrm>
            <a:off x="755640" y="1204200"/>
            <a:ext cx="372780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Your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Publications, Data and Code</a:t>
            </a: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Documenting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your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project</a:t>
            </a: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endParaRPr lang="de-DE" sz="1600" b="0" dirty="0"/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dirty="0" err="1"/>
              <a:t>Mentioning</a:t>
            </a:r>
            <a:r>
              <a:rPr lang="de-DE" sz="1600" b="0" dirty="0"/>
              <a:t> </a:t>
            </a:r>
            <a:r>
              <a:rPr lang="de-DE" sz="1600" b="0" dirty="0" err="1"/>
              <a:t>the</a:t>
            </a:r>
            <a:r>
              <a:rPr lang="de-DE" sz="1600" b="0" dirty="0"/>
              <a:t> FOR in </a:t>
            </a:r>
            <a:r>
              <a:rPr lang="de-DE" sz="1600" b="0" dirty="0" err="1"/>
              <a:t>your</a:t>
            </a:r>
            <a:r>
              <a:rPr lang="de-DE" sz="1600" b="0" dirty="0"/>
              <a:t> </a:t>
            </a:r>
            <a:r>
              <a:rPr lang="de-DE" sz="1600" b="0" dirty="0" err="1"/>
              <a:t>papers</a:t>
            </a:r>
            <a:r>
              <a:rPr lang="de-DE" sz="1600" b="0" dirty="0"/>
              <a:t> (</a:t>
            </a:r>
            <a:r>
              <a:rPr lang="de-DE" sz="1600" b="0" dirty="0" err="1"/>
              <a:t>mandatory</a:t>
            </a:r>
            <a:r>
              <a:rPr lang="de-DE" sz="1600" b="0" dirty="0"/>
              <a:t>!)</a:t>
            </a: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</a:pPr>
            <a:endParaRPr lang="de-DE" sz="1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hasCustomPrompt="1"/>
          </p:nvPr>
        </p:nvSpPr>
        <p:spPr>
          <a:xfrm>
            <a:off x="4689000" y="1204200"/>
            <a:ext cx="436320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sng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3"/>
              </a:rPr>
              <a:t>https://psycharchives.org/</a:t>
            </a: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Please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preregister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your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experiments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at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prereg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and do open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science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:.)</a:t>
            </a:r>
            <a:endParaRPr lang="de-DE" sz="1600" b="0" dirty="0"/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„Gefördert durch die Deutsche Forschungsgemeinschaft (DFG) – </a:t>
            </a:r>
            <a:r>
              <a:rPr lang="de-DE" sz="1600" b="0" i="0" u="none" strike="noStrike" baseline="0" dirty="0">
                <a:latin typeface="ArialMT"/>
              </a:rPr>
              <a:t>564829065</a:t>
            </a:r>
            <a:r>
              <a:rPr lang="de-DE" sz="1800" b="0" i="0" u="none" strike="noStrike" baseline="0" dirty="0">
                <a:latin typeface="ArialMT"/>
              </a:rPr>
              <a:t>“</a:t>
            </a:r>
            <a:br>
              <a:rPr lang="de-DE" sz="16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de-DE" sz="16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„</a:t>
            </a:r>
            <a:r>
              <a:rPr lang="de-DE" sz="16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funded</a:t>
            </a:r>
            <a:r>
              <a:rPr lang="de-DE" sz="16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sz="16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by</a:t>
            </a:r>
            <a:r>
              <a:rPr lang="de-DE" sz="16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sz="16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the</a:t>
            </a:r>
            <a:r>
              <a:rPr lang="de-DE" sz="16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Deutsche Forschungsgemeinschaft (DFG, German Research </a:t>
            </a:r>
            <a:r>
              <a:rPr lang="de-DE" sz="16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Foundation</a:t>
            </a:r>
            <a:r>
              <a:rPr lang="de-DE" sz="16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) – </a:t>
            </a:r>
            <a:r>
              <a:rPr lang="de-DE" sz="1600" b="0" i="0" u="none" strike="noStrike" baseline="0" dirty="0">
                <a:latin typeface="ArialMT"/>
              </a:rPr>
              <a:t>564829065</a:t>
            </a:r>
            <a:r>
              <a:rPr lang="de-DE" sz="1800" b="0" i="0" u="none" strike="noStrike" baseline="0" dirty="0">
                <a:latin typeface="ArialMT"/>
              </a:rPr>
              <a:t>“</a:t>
            </a: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FOR 6047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1680" cy="110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rgbClr val="3A77AD"/>
                </a:solidFill>
                <a:effectLst/>
                <a:uFillTx/>
                <a:latin typeface="Arial"/>
                <a:ea typeface="Arial"/>
              </a:rPr>
              <a:t>Versioning your Code using Git(hub)</a:t>
            </a:r>
            <a:endParaRPr lang="de-DE" sz="3300" b="1" u="none" strike="noStrike">
              <a:solidFill>
                <a:srgbClr val="3A77AD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dt" idx="39"/>
          </p:nvPr>
        </p:nvSpPr>
        <p:spPr>
          <a:xfrm>
            <a:off x="75564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40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0FA33C9-525C-4561-8309-04A878E1B38B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7</a:t>
            </a:fld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FOR 6047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 hasCustomPrompt="1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 Unicode MS"/>
                <a:ea typeface="Arial Unicode MS"/>
              </a:rPr>
              <a:t>Git – first steps</a:t>
            </a:r>
            <a:endParaRPr lang="en-US" sz="3300" b="1" u="none" strike="noStrike">
              <a:solidFill>
                <a:schemeClr val="accent1"/>
              </a:solidFill>
              <a:effectLst/>
              <a:uFillTx/>
              <a:latin typeface="Arial Unicode MS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dt" idx="41"/>
          </p:nvPr>
        </p:nvSpPr>
        <p:spPr>
          <a:xfrm>
            <a:off x="6285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hasCustomPrompt="1"/>
          </p:nvPr>
        </p:nvSpPr>
        <p:spPr>
          <a:xfrm>
            <a:off x="753480" y="1196640"/>
            <a:ext cx="792828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3080" indent="-34308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AutoNum type="arabicParenR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Download the software from </a:t>
            </a:r>
            <a:r>
              <a:rPr lang="de-DE" sz="12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2"/>
              </a:rPr>
              <a:t>https://git-scm.com/install/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and install. Usually, default options work. If you have questions, reach out :.)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AutoNum type="arabicParenR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If installing for the first time, setup your user name and mail in your favourite shell, e.g. windows powershell, bash, .. (example in git bash):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15" name="Grafik 20"/>
          <p:cNvPicPr/>
          <p:nvPr/>
        </p:nvPicPr>
        <p:blipFill>
          <a:blip r:embed="rId3"/>
          <a:stretch/>
        </p:blipFill>
        <p:spPr>
          <a:xfrm>
            <a:off x="1204560" y="2122920"/>
            <a:ext cx="3991320" cy="11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Geschweifte Klammer rechts 21"/>
          <p:cNvSpPr/>
          <p:nvPr/>
        </p:nvSpPr>
        <p:spPr>
          <a:xfrm>
            <a:off x="5394960" y="2446200"/>
            <a:ext cx="174960" cy="848520"/>
          </a:xfrm>
          <a:prstGeom prst="rightBrace">
            <a:avLst>
              <a:gd name="adj1" fmla="val 8333"/>
              <a:gd name="adj2" fmla="val 50000"/>
            </a:avLst>
          </a:prstGeom>
          <a:noFill/>
          <a:ln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feld 22"/>
          <p:cNvSpPr/>
          <p:nvPr/>
        </p:nvSpPr>
        <p:spPr>
          <a:xfrm>
            <a:off x="5829480" y="2446200"/>
            <a:ext cx="2026440" cy="73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Username and mail will be used when working collaboratively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FOR 6047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6998EF4-1C6A-4E3A-BF6B-1A21FE405EF5}" type="slidenum"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 hasCustomPrompt="1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 Unicode MS"/>
                <a:ea typeface="Arial Unicode MS"/>
              </a:rPr>
              <a:t>Git – first steps</a:t>
            </a:r>
            <a:endParaRPr lang="en-US" sz="3300" b="1" u="none" strike="noStrike">
              <a:solidFill>
                <a:schemeClr val="accent1"/>
              </a:solidFill>
              <a:effectLst/>
              <a:uFillTx/>
              <a:latin typeface="Arial Unicode MS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dt" idx="42"/>
          </p:nvPr>
        </p:nvSpPr>
        <p:spPr>
          <a:xfrm>
            <a:off x="6285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hasCustomPrompt="1"/>
          </p:nvPr>
        </p:nvSpPr>
        <p:spPr>
          <a:xfrm>
            <a:off x="755640" y="1204200"/>
            <a:ext cx="792828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If not already done, create a free account on </a:t>
            </a:r>
            <a:r>
              <a:rPr lang="de-DE" sz="16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2"/>
              </a:rPr>
              <a:t>www.github.com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using the mail address you are also using as your global git credentials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Please let me know your username or the mail address you used, so I can invite you to the FOR 6047 organization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FOR 6047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0253A40-08F0-4197-B867-00A6569A94E8}" type="slidenum"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 hasCustomPrompt="1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 Unicode MS"/>
                <a:ea typeface="Arial Unicode MS"/>
              </a:rPr>
              <a:t>Git – first steps</a:t>
            </a:r>
            <a:endParaRPr lang="en-US" sz="3300" b="1" u="none" strike="noStrike">
              <a:solidFill>
                <a:schemeClr val="accent1"/>
              </a:solidFill>
              <a:effectLst/>
              <a:uFillTx/>
              <a:latin typeface="Arial Unicode MS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dt" idx="43"/>
          </p:nvPr>
        </p:nvSpPr>
        <p:spPr>
          <a:xfrm>
            <a:off x="6285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hasCustomPrompt="1"/>
          </p:nvPr>
        </p:nvSpPr>
        <p:spPr>
          <a:xfrm>
            <a:off x="753480" y="1196640"/>
            <a:ext cx="792828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3080" indent="-34308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AutoNum type="arabicParenR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In your IDE, e.g., VS Code, Rstudio, …, checkout </a:t>
            </a:r>
            <a:r>
              <a:rPr lang="de-DE" sz="12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2"/>
              </a:rPr>
              <a:t>https://github.com/FOR-6047/FOR_6047_Sandbox.git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AutoNum type="arabicParenR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Example in VS Code:  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24" name="Grafik 6"/>
          <p:cNvPicPr/>
          <p:nvPr/>
        </p:nvPicPr>
        <p:blipFill>
          <a:blip r:embed="rId3"/>
          <a:stretch/>
        </p:blipFill>
        <p:spPr>
          <a:xfrm>
            <a:off x="1118160" y="2289240"/>
            <a:ext cx="2231280" cy="207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Grafik 8" descr="Cursor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2769840" y="3531960"/>
            <a:ext cx="258840" cy="25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rafik 9"/>
          <p:cNvPicPr/>
          <p:nvPr/>
        </p:nvPicPr>
        <p:blipFill>
          <a:blip r:embed="rId6"/>
          <a:srcRect r="30677"/>
          <a:stretch/>
        </p:blipFill>
        <p:spPr>
          <a:xfrm>
            <a:off x="3516840" y="2301120"/>
            <a:ext cx="2487600" cy="5407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27" name="Verbinder: gewinkelt 11"/>
          <p:cNvCxnSpPr/>
          <p:nvPr/>
        </p:nvCxnSpPr>
        <p:spPr>
          <a:xfrm>
            <a:off x="4135680" y="2900160"/>
            <a:ext cx="726120" cy="636480"/>
          </a:xfrm>
          <a:prstGeom prst="bentConnector3">
            <a:avLst>
              <a:gd name="adj1" fmla="val 50000"/>
            </a:avLst>
          </a:prstGeom>
          <a:ln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28" name="Textfeld 16"/>
          <p:cNvSpPr/>
          <p:nvPr/>
        </p:nvSpPr>
        <p:spPr>
          <a:xfrm>
            <a:off x="5235120" y="2987640"/>
            <a:ext cx="2735280" cy="73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Select path on your local computer, download and open the repo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129" name="Gerade Verbindung mit Pfeil 18"/>
          <p:cNvCxnSpPr/>
          <p:nvPr/>
        </p:nvCxnSpPr>
        <p:spPr>
          <a:xfrm>
            <a:off x="3349800" y="2682000"/>
            <a:ext cx="167040" cy="360"/>
          </a:xfrm>
          <a:prstGeom prst="straightConnector1">
            <a:avLst/>
          </a:prstGeom>
          <a:ln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FOR 6047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9BB530A-4D06-4405-8BA3-516172285C15}" type="slidenum"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 hasCustomPrompt="1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 Unicode MS"/>
                <a:ea typeface="Arial Unicode MS"/>
              </a:rPr>
              <a:t>Fetch your git branch</a:t>
            </a:r>
            <a:endParaRPr lang="en-US" sz="3300" b="1" u="none" strike="noStrike">
              <a:solidFill>
                <a:schemeClr val="accent1"/>
              </a:solidFill>
              <a:effectLst/>
              <a:uFillTx/>
              <a:latin typeface="Arial Unicode MS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dt" idx="44"/>
          </p:nvPr>
        </p:nvSpPr>
        <p:spPr>
          <a:xfrm>
            <a:off x="6285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hasCustomPrompt="1"/>
          </p:nvPr>
        </p:nvSpPr>
        <p:spPr>
          <a:xfrm>
            <a:off x="755640" y="1204200"/>
            <a:ext cx="792828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Example in VS Code (continued):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On lower left: 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In the arising menu, select the branch related to your subproject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Now all the changes you make are only tracked </a:t>
            </a:r>
            <a:br>
              <a:rPr sz="1200"/>
            </a:b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with reference to your subproject 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3" name="Grafik 7"/>
          <p:cNvPicPr/>
          <p:nvPr/>
        </p:nvPicPr>
        <p:blipFill>
          <a:blip r:embed="rId2"/>
          <a:srcRect r="27681"/>
          <a:stretch/>
        </p:blipFill>
        <p:spPr>
          <a:xfrm>
            <a:off x="2270520" y="1558440"/>
            <a:ext cx="2567880" cy="160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rafik 9" descr="Cursor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257640" y="3093480"/>
            <a:ext cx="258840" cy="25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Grafik 10"/>
          <p:cNvPicPr/>
          <p:nvPr/>
        </p:nvPicPr>
        <p:blipFill>
          <a:blip r:embed="rId5"/>
          <a:stretch/>
        </p:blipFill>
        <p:spPr>
          <a:xfrm>
            <a:off x="5437440" y="2186280"/>
            <a:ext cx="3348360" cy="233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Grafik 11" descr="Cursor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227720" y="2795760"/>
            <a:ext cx="258840" cy="25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FOR 6047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140ADDD7-53B6-4547-B8CB-096C2345D1DF}" type="slidenum"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 hasCustomPrompt="1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 Unicode MS"/>
                <a:ea typeface="Arial Unicode MS"/>
              </a:rPr>
              <a:t>Git – first steps</a:t>
            </a:r>
            <a:endParaRPr lang="en-US" sz="3300" b="1" u="none" strike="noStrike">
              <a:solidFill>
                <a:schemeClr val="accent1"/>
              </a:solidFill>
              <a:effectLst/>
              <a:uFillTx/>
              <a:latin typeface="Arial Unicode MS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dt" idx="45"/>
          </p:nvPr>
        </p:nvSpPr>
        <p:spPr>
          <a:xfrm>
            <a:off x="6285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hasCustomPrompt="1"/>
          </p:nvPr>
        </p:nvSpPr>
        <p:spPr>
          <a:xfrm>
            <a:off x="755640" y="1204200"/>
            <a:ext cx="792828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On your local system, change a file.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If you want to keep the changes, stage them (you can select multiple files that all belong to a specific task)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Write a commit message shortly describing your changes and press commit: now, on your local system, all your changes are registered to git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40" name="Grafik 7"/>
          <p:cNvPicPr/>
          <p:nvPr/>
        </p:nvPicPr>
        <p:blipFill>
          <a:blip r:embed="rId2"/>
          <a:stretch/>
        </p:blipFill>
        <p:spPr>
          <a:xfrm>
            <a:off x="1106280" y="2126880"/>
            <a:ext cx="2968560" cy="1561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1" name="Gruppieren 15"/>
          <p:cNvGrpSpPr/>
          <p:nvPr/>
        </p:nvGrpSpPr>
        <p:grpSpPr>
          <a:xfrm>
            <a:off x="4365360" y="1800720"/>
            <a:ext cx="4022640" cy="1612800"/>
            <a:chOff x="4365360" y="1800720"/>
            <a:chExt cx="4022640" cy="1612800"/>
          </a:xfrm>
        </p:grpSpPr>
        <p:pic>
          <p:nvPicPr>
            <p:cNvPr id="142" name="Grafik 8"/>
            <p:cNvPicPr/>
            <p:nvPr/>
          </p:nvPicPr>
          <p:blipFill>
            <a:blip r:embed="rId3"/>
            <a:stretch/>
          </p:blipFill>
          <p:spPr>
            <a:xfrm>
              <a:off x="4365360" y="2126880"/>
              <a:ext cx="4022640" cy="1286640"/>
            </a:xfrm>
            <a:prstGeom prst="rect">
              <a:avLst/>
            </a:prstGeom>
            <a:noFill/>
            <a:ln w="0">
              <a:noFill/>
            </a:ln>
          </p:spPr>
        </p:pic>
        <p:cxnSp>
          <p:nvCxnSpPr>
            <p:cNvPr id="143" name="Gerade Verbindung mit Pfeil 10"/>
            <p:cNvCxnSpPr/>
            <p:nvPr/>
          </p:nvCxnSpPr>
          <p:spPr>
            <a:xfrm flipH="1">
              <a:off x="5204160" y="1971000"/>
              <a:ext cx="602640" cy="693360"/>
            </a:xfrm>
            <a:prstGeom prst="straightConnector1">
              <a:avLst/>
            </a:prstGeom>
            <a:ln>
              <a:solidFill>
                <a:srgbClr val="000000"/>
              </a:solidFill>
              <a:round/>
              <a:tailEnd type="triangle" w="med" len="med"/>
            </a:ln>
          </p:spPr>
        </p:cxnSp>
        <p:sp>
          <p:nvSpPr>
            <p:cNvPr id="144" name="Textfeld 14"/>
            <p:cNvSpPr/>
            <p:nvPr/>
          </p:nvSpPr>
          <p:spPr>
            <a:xfrm>
              <a:off x="5792040" y="1800720"/>
              <a:ext cx="1904760" cy="27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de-DE" sz="12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Arial"/>
                </a:rPr>
                <a:t>Commit message</a:t>
              </a:r>
              <a:endParaRPr lang="de" sz="12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145" name="Grafik 11" descr="Cursor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2769840" y="3155040"/>
            <a:ext cx="258840" cy="25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Grafik 12" descr="Cursor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376680" y="2741400"/>
            <a:ext cx="258840" cy="25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FOR 6047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D697526F-0899-4B72-89D1-BD526AB8978C}" type="slidenum"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 hasCustomPrompt="1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 Unicode MS"/>
                <a:ea typeface="Arial Unicode MS"/>
              </a:rPr>
              <a:t>Git – first steps</a:t>
            </a:r>
            <a:endParaRPr lang="en-US" sz="3300" b="1" u="none" strike="noStrike">
              <a:solidFill>
                <a:schemeClr val="accent1"/>
              </a:solidFill>
              <a:effectLst/>
              <a:uFillTx/>
              <a:latin typeface="Arial Unicode MS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dt" idx="46"/>
          </p:nvPr>
        </p:nvSpPr>
        <p:spPr>
          <a:xfrm>
            <a:off x="6285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hasCustomPrompt="1"/>
          </p:nvPr>
        </p:nvSpPr>
        <p:spPr>
          <a:xfrm>
            <a:off x="755640" y="1204200"/>
            <a:ext cx="792828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If you know want to publish your changes for all users, push them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Now, the changes are „in the cloud“, but still on the subproject-related branch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50" name="Grafik 6"/>
          <p:cNvPicPr/>
          <p:nvPr/>
        </p:nvPicPr>
        <p:blipFill>
          <a:blip r:embed="rId2"/>
          <a:stretch/>
        </p:blipFill>
        <p:spPr>
          <a:xfrm>
            <a:off x="1066680" y="1545480"/>
            <a:ext cx="2874240" cy="166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Grafik 7" descr="Cursor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351600" y="2312640"/>
            <a:ext cx="258840" cy="25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FOR 6047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D5477689-093F-41A6-A33F-43019D65FDA0}" type="slidenum"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 hasCustomPrompt="1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 Unicode MS"/>
                <a:ea typeface="Arial Unicode MS"/>
              </a:rPr>
              <a:t>Git – first steps</a:t>
            </a:r>
            <a:endParaRPr lang="en-US" sz="3300" b="1" u="none" strike="noStrike">
              <a:solidFill>
                <a:schemeClr val="accent1"/>
              </a:solidFill>
              <a:effectLst/>
              <a:uFillTx/>
              <a:latin typeface="Arial Unicode MS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dt" idx="47"/>
          </p:nvPr>
        </p:nvSpPr>
        <p:spPr>
          <a:xfrm>
            <a:off x="6285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hasCustomPrompt="1"/>
          </p:nvPr>
        </p:nvSpPr>
        <p:spPr>
          <a:xfrm>
            <a:off x="755640" y="1204200"/>
            <a:ext cx="792828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If your changes are viable for the whole project, create a pull request: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On </a:t>
            </a:r>
            <a:r>
              <a:rPr lang="de-DE" sz="16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2"/>
              </a:rPr>
              <a:t>https://github.com/FOR-6047/FOR_6047_Sandbox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login with your github account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on compare and create a pull request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55" name="Grafik 7"/>
          <p:cNvPicPr/>
          <p:nvPr/>
        </p:nvPicPr>
        <p:blipFill>
          <a:blip r:embed="rId3"/>
          <a:stretch/>
        </p:blipFill>
        <p:spPr>
          <a:xfrm>
            <a:off x="889560" y="2208240"/>
            <a:ext cx="6433560" cy="173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Grafik 8" descr="Cursor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000920" y="2908080"/>
            <a:ext cx="258840" cy="25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FOR 6047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DB2CEFA-03D0-43BB-A68B-41161873F278}" type="slidenum"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 hasCustomPrompt="1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 Unicode MS"/>
                <a:ea typeface="Arial Unicode MS"/>
              </a:rPr>
              <a:t>Git – first steps</a:t>
            </a:r>
            <a:endParaRPr lang="en-US" sz="3300" b="1" u="none" strike="noStrike">
              <a:solidFill>
                <a:schemeClr val="accent1"/>
              </a:solidFill>
              <a:effectLst/>
              <a:uFillTx/>
              <a:latin typeface="Arial Unicode MS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dt" idx="48"/>
          </p:nvPr>
        </p:nvSpPr>
        <p:spPr>
          <a:xfrm>
            <a:off x="6285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hasCustomPrompt="1"/>
          </p:nvPr>
        </p:nvSpPr>
        <p:spPr>
          <a:xfrm>
            <a:off x="755640" y="1204200"/>
            <a:ext cx="792828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60" name="Grafik 6"/>
          <p:cNvPicPr/>
          <p:nvPr/>
        </p:nvPicPr>
        <p:blipFill>
          <a:blip r:embed="rId2"/>
          <a:stretch/>
        </p:blipFill>
        <p:spPr>
          <a:xfrm>
            <a:off x="825120" y="864000"/>
            <a:ext cx="4069800" cy="366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feld 9"/>
          <p:cNvSpPr/>
          <p:nvPr/>
        </p:nvSpPr>
        <p:spPr>
          <a:xfrm>
            <a:off x="4895280" y="1062720"/>
            <a:ext cx="3706920" cy="353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This will open another page. There are three important parts: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Check if „base“ is main and „compare“ your branch. This means that changes from your branch will be inserted into main.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Describe what you have done.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"/>
              <a:buAutoNum type="arabicPeriod" startAt="3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Check that dweichert123 is the suggested reviewer.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"/>
              <a:buAutoNum type="arabicPeriod" startAt="3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Below it shows what exactly has changed. Red: deletions, green: additions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feld 10"/>
          <p:cNvSpPr/>
          <p:nvPr/>
        </p:nvSpPr>
        <p:spPr>
          <a:xfrm>
            <a:off x="631440" y="1081080"/>
            <a:ext cx="387360" cy="30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1.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feld 11"/>
          <p:cNvSpPr/>
          <p:nvPr/>
        </p:nvSpPr>
        <p:spPr>
          <a:xfrm>
            <a:off x="631440" y="2047320"/>
            <a:ext cx="387360" cy="30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2.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4" name="Geschweifte Klammer links 12"/>
          <p:cNvSpPr/>
          <p:nvPr/>
        </p:nvSpPr>
        <p:spPr>
          <a:xfrm>
            <a:off x="1019160" y="1388880"/>
            <a:ext cx="45360" cy="164628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feld 13"/>
          <p:cNvSpPr/>
          <p:nvPr/>
        </p:nvSpPr>
        <p:spPr>
          <a:xfrm>
            <a:off x="631440" y="4015440"/>
            <a:ext cx="387360" cy="30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3.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FOR 6047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5DF80A6E-41A9-459E-BD51-F942DFEA7977}" type="slidenum"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 hasCustomPrompt="1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 Unicode MS"/>
                <a:ea typeface="Arial Unicode MS"/>
              </a:rPr>
              <a:t>Git – first steps</a:t>
            </a:r>
            <a:endParaRPr lang="en-US" sz="3300" b="1" u="none" strike="noStrike">
              <a:solidFill>
                <a:schemeClr val="accent1"/>
              </a:solidFill>
              <a:effectLst/>
              <a:uFillTx/>
              <a:latin typeface="Arial Unicode MS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dt" idx="49"/>
          </p:nvPr>
        </p:nvSpPr>
        <p:spPr>
          <a:xfrm>
            <a:off x="6285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hasCustomPrompt="1"/>
          </p:nvPr>
        </p:nvSpPr>
        <p:spPr>
          <a:xfrm>
            <a:off x="755640" y="1204200"/>
            <a:ext cx="792828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What happens next?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Dorina will review the changes in your pull request and merge it into the main branch. 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Please do not do it yourself, but let a second set of eyes check the code.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FOR 6047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129372A5-8E56-4F8E-B32D-B2EFD224154D}" type="slidenum"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 hasCustomPrompt="1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 Unicode MS"/>
                <a:ea typeface="Arial Unicode MS"/>
              </a:rPr>
              <a:t>Git – organization</a:t>
            </a:r>
            <a:endParaRPr lang="en-US" sz="3300" b="1" u="none" strike="noStrike">
              <a:solidFill>
                <a:schemeClr val="accent1"/>
              </a:solidFill>
              <a:effectLst/>
              <a:uFillTx/>
              <a:latin typeface="Arial Unicode MS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dt" idx="50"/>
          </p:nvPr>
        </p:nvSpPr>
        <p:spPr>
          <a:xfrm>
            <a:off x="6285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hasCustomPrompt="1"/>
          </p:nvPr>
        </p:nvSpPr>
        <p:spPr>
          <a:xfrm>
            <a:off x="755640" y="1204200"/>
            <a:ext cx="792828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Please commit your changes as fine-grained as necessary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(Proposal:) At the end of the week, (e.g. Friday, 2 pm), create the pull request, so I can merge everything as soon as possible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FOR 6047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6D478BF5-C4F3-4AD0-A452-D76C84D4FB86}" type="slidenum"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 hasCustomPrompt="1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 Unicode MS"/>
                <a:ea typeface="Arial Unicode MS"/>
              </a:rPr>
              <a:t>RDMO: Questions</a:t>
            </a:r>
            <a:endParaRPr lang="en-US" sz="3300" b="1" u="none" strike="noStrike">
              <a:solidFill>
                <a:schemeClr val="accent1"/>
              </a:solidFill>
              <a:effectLst/>
              <a:uFillTx/>
              <a:latin typeface="Arial Unicode MS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dt" idx="51"/>
          </p:nvPr>
        </p:nvSpPr>
        <p:spPr>
          <a:xfrm>
            <a:off x="6285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hasCustomPrompt="1"/>
          </p:nvPr>
        </p:nvSpPr>
        <p:spPr>
          <a:xfrm>
            <a:off x="755640" y="1204200"/>
            <a:ext cx="792828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Use RDMO from Uni Tuebingen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(</a:t>
            </a:r>
            <a:r>
              <a:rPr lang="de-DE" sz="16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2"/>
              </a:rPr>
              <a:t>https://rdmo.dh-center.uni-tuebingen.de/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)? X (Login via Orcid ID possible!) 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FF0000"/>
              </a:buClr>
              <a:buFont typeface="Arial"/>
              <a:buChar char="›"/>
            </a:pPr>
            <a:r>
              <a:rPr lang="de-DE" sz="1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Contact (I think someone from Tuebingen should ask!):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Digital Humanities Center, </a:t>
            </a:r>
            <a:r>
              <a:rPr lang="de-DE" sz="14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3"/>
              </a:rPr>
              <a:t>steve.kaminski@uni-tuebingen.de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is linked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OTH Regensburg (</a:t>
            </a:r>
            <a:r>
              <a:rPr lang="de-DE" sz="16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4"/>
              </a:rPr>
              <a:t>https://rdmo.oth-regensburg.de/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Osnabrück (</a:t>
            </a:r>
            <a:r>
              <a:rPr lang="de-DE" sz="16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5"/>
              </a:rPr>
              <a:t>https://osnaplan.ub.uni-osnabrueck.de/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Alternativ: selbst aufsetzen, aber benötigt Hard- und Software für Webserver, Zugriff auf Mailserver, …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FOR 6047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19AD48B-B22E-4B50-992F-7D4F1169698C}" type="slidenum"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 hasCustomPrompt="1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 Unicode MS"/>
                <a:ea typeface="Arial Unicode MS"/>
              </a:rPr>
              <a:t>RDMO setup TODOs (Dorina Slide)</a:t>
            </a:r>
            <a:endParaRPr lang="en-US" sz="3300" b="1" u="none" strike="noStrike">
              <a:solidFill>
                <a:schemeClr val="accent1"/>
              </a:solidFill>
              <a:effectLst/>
              <a:uFillTx/>
              <a:latin typeface="Arial Unicode MS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dt" idx="52"/>
          </p:nvPr>
        </p:nvSpPr>
        <p:spPr>
          <a:xfrm>
            <a:off x="6285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hasCustomPrompt="1"/>
          </p:nvPr>
        </p:nvSpPr>
        <p:spPr>
          <a:xfrm>
            <a:off x="755640" y="1204200"/>
            <a:ext cx="792828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IT department: ask for help OR at least for port for a Linux webserver and a Mail account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https://rdmo.readthedocs.io/en/latest/installation/index.html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Setup a RDMO on a Linux (web)server, so we can launch RDMO as a web service with a dedicated user account (works also with WSL2)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Install a database (Postgres, MySQL, or </a:t>
            </a:r>
            <a:r>
              <a:rPr lang="de-DE" sz="1600" b="0" u="none" strike="sng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SQLite</a:t>
            </a:r>
            <a:r>
              <a:rPr lang="de-DE" sz="16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Setup Apache server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Configure Mail Server (RDMO needs to send E-Mails to its users)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Help and documentation: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FF0000"/>
              </a:buClr>
              <a:buFont typeface="Arial"/>
              <a:buChar char="›"/>
            </a:pPr>
            <a:r>
              <a:rPr lang="de-DE" sz="1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https://rdmo.readthedocs.io/en/latest/faq/index.html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FF0000"/>
              </a:buClr>
              <a:buFont typeface="Arial"/>
              <a:buChar char="›"/>
            </a:pPr>
            <a:r>
              <a:rPr lang="de-DE" sz="1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https://www.forschungsdaten.org/index.php/RDMO_FAQ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FOR 6047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EA14018B-5497-426F-9155-5DE6B3329ECA}" type="slidenum"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 hasCustomPrompt="1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 Unicode MS"/>
                <a:ea typeface="Arial Unicode MS"/>
              </a:rPr>
              <a:t>Login to our RDMO</a:t>
            </a:r>
            <a:endParaRPr lang="en-US" sz="3300" b="1" u="none" strike="noStrike">
              <a:solidFill>
                <a:schemeClr val="accent1"/>
              </a:solidFill>
              <a:effectLst/>
              <a:uFillTx/>
              <a:latin typeface="Arial Unicode MS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dt" idx="53"/>
          </p:nvPr>
        </p:nvSpPr>
        <p:spPr>
          <a:xfrm>
            <a:off x="6285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hasCustomPrompt="1"/>
          </p:nvPr>
        </p:nvSpPr>
        <p:spPr>
          <a:xfrm>
            <a:off x="755640" y="1204200"/>
            <a:ext cx="792828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Who? The PhD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When? update every ½ year 1 week before joint meeting (I‘ll check :.))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What? Document your data, e.g., what kind of data there is, who is responsible, …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FOR 6047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132A855D-4B5D-46ED-8FEC-1440FF65668D}" type="slidenum"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 hasCustomPrompt="1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 Unicode MS"/>
                <a:ea typeface="Arial Unicode MS"/>
              </a:rPr>
              <a:t>RDMO documentation</a:t>
            </a:r>
            <a:endParaRPr lang="en-US" sz="3300" b="1" u="none" strike="noStrike">
              <a:solidFill>
                <a:schemeClr val="accent1"/>
              </a:solidFill>
              <a:effectLst/>
              <a:uFillTx/>
              <a:latin typeface="Arial Unicode MS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dt" idx="54"/>
          </p:nvPr>
        </p:nvSpPr>
        <p:spPr>
          <a:xfrm>
            <a:off x="6285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83" name="Grafik 6"/>
          <p:cNvPicPr/>
          <p:nvPr/>
        </p:nvPicPr>
        <p:blipFill>
          <a:blip r:embed="rId2"/>
          <a:stretch/>
        </p:blipFill>
        <p:spPr>
          <a:xfrm>
            <a:off x="628560" y="937080"/>
            <a:ext cx="5640120" cy="22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Textfeld 7"/>
          <p:cNvSpPr/>
          <p:nvPr/>
        </p:nvSpPr>
        <p:spPr>
          <a:xfrm>
            <a:off x="628560" y="3295800"/>
            <a:ext cx="642204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Proposal: one data set per subproject or is there more?</a:t>
            </a:r>
            <a:endParaRPr lang="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lang="de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FOR 6047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E8E3F61F-EDA3-40FD-90A8-31F5AD29B6DE}" type="slidenum"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 hasCustomPrompt="1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 Unicode MS"/>
                <a:ea typeface="Arial Unicode MS"/>
              </a:rPr>
              <a:t>RDMO documentation – the form</a:t>
            </a:r>
            <a:endParaRPr lang="en-US" sz="3300" b="1" u="none" strike="noStrike">
              <a:solidFill>
                <a:schemeClr val="accent1"/>
              </a:solidFill>
              <a:effectLst/>
              <a:uFillTx/>
              <a:latin typeface="Arial Unicode MS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dt" idx="55"/>
          </p:nvPr>
        </p:nvSpPr>
        <p:spPr>
          <a:xfrm>
            <a:off x="6285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hasCustomPrompt="1"/>
          </p:nvPr>
        </p:nvSpPr>
        <p:spPr>
          <a:xfrm>
            <a:off x="755640" y="1204200"/>
            <a:ext cx="792828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Contentwise Data Description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How does your project generate new data?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Are existing data reused?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Technical Data Description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Which data types in terms of data formats arise in your project?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In what way is the data processed in your project?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What is the anticipated data volume?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Documentation and Data Quality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Documentation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20000" lvl="2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What approaches are being taken to describe the data in a comprehensible manner? (Proposal: datawiz (https://datawiz.leibniz-psychology.org/DataWiz/))</a:t>
            </a:r>
            <a:endParaRPr lang="de-DE" sz="1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20000" lvl="2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What digital methods and tools (e.g. software) are required to use the data?</a:t>
            </a:r>
            <a:endParaRPr lang="de-DE" sz="1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25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Data Quality</a:t>
            </a:r>
            <a:endParaRPr lang="de-DE" sz="12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20000" lvl="2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What measures are being adopted to ensure high data quality?</a:t>
            </a:r>
            <a:endParaRPr lang="de-DE" sz="10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20000" lvl="2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Are quality controls foreseen and if so, how do they operate?</a:t>
            </a:r>
            <a:endParaRPr lang="de-DE" sz="10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</a:pPr>
            <a:endParaRPr lang="de-DE" sz="10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de-DE" sz="16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FOR 6047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2DB3BB20-C7E1-4189-ADAB-8B7F06E38B78}" type="slidenum"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 hasCustomPrompt="1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 Unicode MS"/>
                <a:ea typeface="Arial Unicode MS"/>
              </a:rPr>
              <a:t>RDMO documentation – the form</a:t>
            </a:r>
            <a:endParaRPr lang="en-US" sz="3300" b="1" u="none" strike="noStrike">
              <a:solidFill>
                <a:schemeClr val="accent1"/>
              </a:solidFill>
              <a:effectLst/>
              <a:uFillTx/>
              <a:latin typeface="Arial Unicode MS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dt" idx="56"/>
          </p:nvPr>
        </p:nvSpPr>
        <p:spPr>
          <a:xfrm>
            <a:off x="6285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hasCustomPrompt="1"/>
          </p:nvPr>
        </p:nvSpPr>
        <p:spPr>
          <a:xfrm>
            <a:off x="755640" y="1204200"/>
            <a:ext cx="792828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Storage and technical protection measures during the project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How are data stored and secured during the project duration?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What is in place to address security of sensitive data during the project (access and use controls)?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Legal obligations and conditions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Publication restrictions (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Do you anticipate any implications or restrictions regarding subsequent publication or accessibility?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Scientific specifics (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Are there any significant research codes or professional standards to be taken into account?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Legal restrictions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20000" lvl="2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How are aspects of use and copyright law as well as ownership issues considered?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20000" lvl="2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Which further legal specifics apply to the handling of research data in your project?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</a:pPr>
            <a:endParaRPr lang="de-DE" sz="16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FOR 6047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D449CD8-1814-4FD3-A2BB-A3B640C902D1}" type="slidenum"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 hasCustomPrompt="1"/>
          </p:nvPr>
        </p:nvSpPr>
        <p:spPr>
          <a:xfrm>
            <a:off x="755640" y="205920"/>
            <a:ext cx="79304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300" b="1" u="none" strike="noStrike">
                <a:solidFill>
                  <a:schemeClr val="accent1"/>
                </a:solidFill>
                <a:effectLst/>
                <a:uFillTx/>
                <a:latin typeface="Arial Unicode MS"/>
                <a:ea typeface="Arial Unicode MS"/>
              </a:rPr>
              <a:t>RDMO documentation – the form</a:t>
            </a:r>
            <a:endParaRPr lang="en-US" sz="3300" b="1" u="none" strike="noStrike">
              <a:solidFill>
                <a:schemeClr val="accent1"/>
              </a:solidFill>
              <a:effectLst/>
              <a:uFillTx/>
              <a:latin typeface="Arial Unicode MS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dt" idx="57"/>
          </p:nvPr>
        </p:nvSpPr>
        <p:spPr>
          <a:xfrm>
            <a:off x="6285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hasCustomPrompt="1"/>
          </p:nvPr>
        </p:nvSpPr>
        <p:spPr>
          <a:xfrm>
            <a:off x="755640" y="1204200"/>
            <a:ext cx="7928280" cy="340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Data exchange and long-term data accessibility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Reuse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20000" lvl="2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Are these data suitable for subsequent use in other contexts?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20000" lvl="2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Which criteria are used to select research data to make them available for subsequent use by others?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20000" lvl="2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When are the research data available for use by third parties?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Archival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20000" lvl="2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Are you planning to archive your data in a suitable infrastructure? How and where?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Responsibilities and Resources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Responsibilities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20000" lvl="2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Who is responsible for adequate handling of the research data?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20000" lvl="2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Who is responsible for curating the data after the end of the project?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lvl="1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›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Resources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20000" lvl="2" indent="-180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Which resources (costs, time or other) are required to implement adequate handling of research data within the project?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</a:pPr>
            <a:endParaRPr lang="de-DE" sz="16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FOR 6047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2D76540F-FD6A-4171-BB6D-41C48180365D}" type="slidenum">
              <a:t>24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lassic">
      <a:dk1>
        <a:srgbClr val="000000"/>
      </a:dk1>
      <a:lt1>
        <a:srgbClr val="FFFFFF"/>
      </a:lt1>
      <a:dk2>
        <a:srgbClr val="2E2706"/>
      </a:dk2>
      <a:lt2>
        <a:srgbClr val="EEEEEE"/>
      </a:lt2>
      <a:accent1>
        <a:srgbClr val="3465A4"/>
      </a:accent1>
      <a:accent2>
        <a:srgbClr val="168253"/>
      </a:accent2>
      <a:accent3>
        <a:srgbClr val="D62E4E"/>
      </a:accent3>
      <a:accent4>
        <a:srgbClr val="729FCF"/>
      </a:accent4>
      <a:accent5>
        <a:srgbClr val="5EB91E"/>
      </a:accent5>
      <a:accent6>
        <a:srgbClr val="EA7500"/>
      </a:accent6>
      <a:hlink>
        <a:srgbClr val="0060FF"/>
      </a:hlink>
      <a:folHlink>
        <a:srgbClr val="8020D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1791</Words>
  <Application>Microsoft Office PowerPoint</Application>
  <PresentationFormat>Bildschirmpräsentation (16:9)</PresentationFormat>
  <Paragraphs>284</Paragraphs>
  <Slides>24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33" baseType="lpstr">
      <vt:lpstr>Arial</vt:lpstr>
      <vt:lpstr>Arial Black</vt:lpstr>
      <vt:lpstr>Arial Unicode MS</vt:lpstr>
      <vt:lpstr>ArialMT</vt:lpstr>
      <vt:lpstr>Calibri</vt:lpstr>
      <vt:lpstr>OpenSymbol</vt:lpstr>
      <vt:lpstr>Symbol</vt:lpstr>
      <vt:lpstr>Wingdings</vt:lpstr>
      <vt:lpstr>Larissa</vt:lpstr>
      <vt:lpstr>FOR 6047 - Organization</vt:lpstr>
      <vt:lpstr>Dorina Weichert,  Coordinating Post-Doc</vt:lpstr>
      <vt:lpstr>How to organize…</vt:lpstr>
      <vt:lpstr>General Project Organization</vt:lpstr>
      <vt:lpstr>Sharing and Documenting  your Experiments, Data &amp; Code</vt:lpstr>
      <vt:lpstr>Sharing and Documenting  your Experiments, Data &amp; Code</vt:lpstr>
      <vt:lpstr>Versioning your Code using Git(hub)</vt:lpstr>
      <vt:lpstr>Git – first steps</vt:lpstr>
      <vt:lpstr>Git – first steps</vt:lpstr>
      <vt:lpstr>Git – first steps</vt:lpstr>
      <vt:lpstr>Fetch your git branch</vt:lpstr>
      <vt:lpstr>Git – first steps</vt:lpstr>
      <vt:lpstr>Git – first steps</vt:lpstr>
      <vt:lpstr>Git – first steps</vt:lpstr>
      <vt:lpstr>Git – first steps</vt:lpstr>
      <vt:lpstr>Git – first steps</vt:lpstr>
      <vt:lpstr>Git – organization</vt:lpstr>
      <vt:lpstr>RDMO: Questions</vt:lpstr>
      <vt:lpstr>RDMO setup TODOs (Dorina Slide)</vt:lpstr>
      <vt:lpstr>Login to our RDMO</vt:lpstr>
      <vt:lpstr>RDMO documentation</vt:lpstr>
      <vt:lpstr>RDMO documentation – the form</vt:lpstr>
      <vt:lpstr>RDMO documentation – the form</vt:lpstr>
      <vt:lpstr>RDMO documentation – the form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Hüther-Pape</dc:creator>
  <dc:description/>
  <cp:lastModifiedBy>Weichert, Dorina</cp:lastModifiedBy>
  <cp:revision>378</cp:revision>
  <cp:lastPrinted>2025-07-16T10:00:35Z</cp:lastPrinted>
  <dcterms:created xsi:type="dcterms:W3CDTF">2013-05-06T16:21:35Z</dcterms:created>
  <dcterms:modified xsi:type="dcterms:W3CDTF">2026-08-05T13:30:39Z</dcterms:modified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12</vt:r8>
  </property>
  <property fmtid="{D5CDD505-2E9C-101B-9397-08002B2CF9AE}" pid="3" name="Notes">
    <vt:i4>2</vt:i4>
  </property>
  <property fmtid="{D5CDD505-2E9C-101B-9397-08002B2CF9AE}" pid="4" name="PresentationFormat">
    <vt:lpwstr>Bildschirmpräsentation (16:9)</vt:lpwstr>
  </property>
  <property fmtid="{D5CDD505-2E9C-101B-9397-08002B2CF9AE}" pid="5" name="Slides">
    <vt:i4>24</vt:i4>
  </property>
</Properties>
</file>