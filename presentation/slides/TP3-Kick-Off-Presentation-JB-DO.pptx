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Lst>
  <p:notesMasterIdLst>
    <p:notesMasterId r:id="rId44"/>
  </p:notesMasterIdLst>
  <p:sldIdLst>
    <p:sldId id="256" r:id="rId4"/>
    <p:sldId id="384" r:id="rId5"/>
    <p:sldId id="391" r:id="rId6"/>
    <p:sldId id="385" r:id="rId7"/>
    <p:sldId id="386" r:id="rId8"/>
    <p:sldId id="387" r:id="rId9"/>
    <p:sldId id="388" r:id="rId10"/>
    <p:sldId id="389" r:id="rId11"/>
    <p:sldId id="390" r:id="rId12"/>
    <p:sldId id="342" r:id="rId13"/>
    <p:sldId id="345" r:id="rId14"/>
    <p:sldId id="346" r:id="rId15"/>
    <p:sldId id="347" r:id="rId16"/>
    <p:sldId id="348" r:id="rId17"/>
    <p:sldId id="349" r:id="rId18"/>
    <p:sldId id="350" r:id="rId19"/>
    <p:sldId id="351" r:id="rId20"/>
    <p:sldId id="352" r:id="rId21"/>
    <p:sldId id="353" r:id="rId22"/>
    <p:sldId id="343" r:id="rId23"/>
    <p:sldId id="344" r:id="rId24"/>
    <p:sldId id="371" r:id="rId25"/>
    <p:sldId id="367" r:id="rId26"/>
    <p:sldId id="368" r:id="rId27"/>
    <p:sldId id="379" r:id="rId28"/>
    <p:sldId id="381" r:id="rId29"/>
    <p:sldId id="369" r:id="rId30"/>
    <p:sldId id="375" r:id="rId31"/>
    <p:sldId id="356" r:id="rId32"/>
    <p:sldId id="357" r:id="rId33"/>
    <p:sldId id="362" r:id="rId34"/>
    <p:sldId id="363" r:id="rId35"/>
    <p:sldId id="361" r:id="rId36"/>
    <p:sldId id="383" r:id="rId37"/>
    <p:sldId id="364" r:id="rId38"/>
    <p:sldId id="358" r:id="rId39"/>
    <p:sldId id="359" r:id="rId40"/>
    <p:sldId id="360" r:id="rId41"/>
    <p:sldId id="382" r:id="rId42"/>
    <p:sldId id="377" r:id="rId4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6D1F2034-E724-47F7-B534-C26522C59B14}">
          <p14:sldIdLst>
            <p14:sldId id="256"/>
            <p14:sldId id="384"/>
            <p14:sldId id="391"/>
            <p14:sldId id="385"/>
            <p14:sldId id="386"/>
            <p14:sldId id="387"/>
            <p14:sldId id="388"/>
            <p14:sldId id="389"/>
            <p14:sldId id="390"/>
            <p14:sldId id="342"/>
            <p14:sldId id="345"/>
            <p14:sldId id="346"/>
            <p14:sldId id="347"/>
            <p14:sldId id="348"/>
            <p14:sldId id="349"/>
            <p14:sldId id="350"/>
            <p14:sldId id="351"/>
            <p14:sldId id="352"/>
            <p14:sldId id="353"/>
            <p14:sldId id="343"/>
            <p14:sldId id="344"/>
          </p14:sldIdLst>
        </p14:section>
        <p14:section name="Backup" id="{1DC6A880-F456-45AD-8893-FA31D9D21659}">
          <p14:sldIdLst>
            <p14:sldId id="371"/>
            <p14:sldId id="367"/>
            <p14:sldId id="368"/>
            <p14:sldId id="379"/>
            <p14:sldId id="381"/>
            <p14:sldId id="369"/>
            <p14:sldId id="375"/>
            <p14:sldId id="356"/>
            <p14:sldId id="357"/>
            <p14:sldId id="362"/>
            <p14:sldId id="363"/>
            <p14:sldId id="361"/>
            <p14:sldId id="383"/>
            <p14:sldId id="364"/>
            <p14:sldId id="358"/>
            <p14:sldId id="359"/>
            <p14:sldId id="360"/>
            <p14:sldId id="382"/>
            <p14:sldId id="37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85C5353-D6B6-4F32-A6FB-7D0A3485BA1D}" name="Gastbenutzer" initials="Ga" userId="Gastbenutzer"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8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5542" autoAdjust="0"/>
  </p:normalViewPr>
  <p:slideViewPr>
    <p:cSldViewPr snapToGrid="0">
      <p:cViewPr varScale="1">
        <p:scale>
          <a:sx n="74" d="100"/>
          <a:sy n="74" d="100"/>
        </p:scale>
        <p:origin x="1066" y="43"/>
      </p:cViewPr>
      <p:guideLst/>
    </p:cSldViewPr>
  </p:slideViewPr>
  <p:notesTextViewPr>
    <p:cViewPr>
      <p:scale>
        <a:sx n="125" d="100"/>
        <a:sy n="125"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microsoft.com/office/2018/10/relationships/authors" Target="author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Anzahl</c:v>
                </c:pt>
              </c:strCache>
            </c:strRef>
          </c:tx>
          <c:spPr>
            <a:ln w="12700">
              <a:solidFill>
                <a:srgbClr val="E9D38B"/>
              </a:solidFill>
            </a:ln>
          </c:spPr>
          <c:dPt>
            <c:idx val="0"/>
            <c:bubble3D val="0"/>
            <c:spPr>
              <a:solidFill>
                <a:srgbClr val="9D7B0F"/>
              </a:solidFill>
              <a:ln w="12700">
                <a:solidFill>
                  <a:srgbClr val="E9D38B"/>
                </a:solidFill>
              </a:ln>
              <a:effectLst/>
            </c:spPr>
            <c:extLst>
              <c:ext xmlns:c16="http://schemas.microsoft.com/office/drawing/2014/chart" uri="{C3380CC4-5D6E-409C-BE32-E72D297353CC}">
                <c16:uniqueId val="{00000001-EF2A-4541-B768-DD148CF7B8A4}"/>
              </c:ext>
            </c:extLst>
          </c:dPt>
          <c:dPt>
            <c:idx val="1"/>
            <c:bubble3D val="0"/>
            <c:spPr>
              <a:solidFill>
                <a:srgbClr val="CCA326"/>
              </a:solidFill>
              <a:ln w="12700">
                <a:solidFill>
                  <a:srgbClr val="E9D38B"/>
                </a:solidFill>
              </a:ln>
              <a:effectLst/>
            </c:spPr>
            <c:extLst>
              <c:ext xmlns:c16="http://schemas.microsoft.com/office/drawing/2014/chart" uri="{C3380CC4-5D6E-409C-BE32-E72D297353CC}">
                <c16:uniqueId val="{00000003-EF2A-4541-B768-DD148CF7B8A4}"/>
              </c:ext>
            </c:extLst>
          </c:dPt>
          <c:dPt>
            <c:idx val="2"/>
            <c:bubble3D val="0"/>
            <c:spPr>
              <a:solidFill>
                <a:srgbClr val="92918E"/>
              </a:solidFill>
              <a:ln w="12700">
                <a:solidFill>
                  <a:srgbClr val="E9D38B"/>
                </a:solidFill>
              </a:ln>
              <a:effectLst/>
            </c:spPr>
            <c:extLst>
              <c:ext xmlns:c16="http://schemas.microsoft.com/office/drawing/2014/chart" uri="{C3380CC4-5D6E-409C-BE32-E72D297353CC}">
                <c16:uniqueId val="{00000005-EF2A-4541-B768-DD148CF7B8A4}"/>
              </c:ext>
            </c:extLst>
          </c:dPt>
          <c:dPt>
            <c:idx val="3"/>
            <c:bubble3D val="0"/>
            <c:spPr>
              <a:solidFill>
                <a:schemeClr val="accent6">
                  <a:lumMod val="60000"/>
                </a:schemeClr>
              </a:solidFill>
              <a:ln w="12700">
                <a:solidFill>
                  <a:srgbClr val="E9D38B"/>
                </a:solidFill>
              </a:ln>
              <a:effectLst/>
            </c:spPr>
            <c:extLst>
              <c:ext xmlns:c16="http://schemas.microsoft.com/office/drawing/2014/chart" uri="{C3380CC4-5D6E-409C-BE32-E72D297353CC}">
                <c16:uniqueId val="{00000007-EF2A-4541-B768-DD148CF7B8A4}"/>
              </c:ext>
            </c:extLst>
          </c:dPt>
          <c:cat>
            <c:strRef>
              <c:f>Tabelle1!$A$2:$A$5</c:f>
              <c:strCache>
                <c:ptCount val="3"/>
                <c:pt idx="0">
                  <c:v>Blocker n = 6</c:v>
                </c:pt>
                <c:pt idx="1">
                  <c:v>Switcher n = 6l</c:v>
                </c:pt>
                <c:pt idx="2">
                  <c:v>Grouper n = 5</c:v>
                </c:pt>
              </c:strCache>
            </c:strRef>
          </c:cat>
          <c:val>
            <c:numRef>
              <c:f>Tabelle1!$B$2:$B$5</c:f>
              <c:numCache>
                <c:formatCode>General</c:formatCode>
                <c:ptCount val="4"/>
                <c:pt idx="0">
                  <c:v>6</c:v>
                </c:pt>
                <c:pt idx="1">
                  <c:v>6</c:v>
                </c:pt>
                <c:pt idx="2">
                  <c:v>5</c:v>
                </c:pt>
              </c:numCache>
            </c:numRef>
          </c:val>
          <c:extLst>
            <c:ext xmlns:c16="http://schemas.microsoft.com/office/drawing/2014/chart" uri="{C3380CC4-5D6E-409C-BE32-E72D297353CC}">
              <c16:uniqueId val="{00000008-EF2A-4541-B768-DD148CF7B8A4}"/>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ln>
            <a:solidFill>
              <a:srgbClr val="FFFFFF"/>
            </a:solidFill>
          </a:ln>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Anzahl</c:v>
                </c:pt>
              </c:strCache>
            </c:strRef>
          </c:tx>
          <c:spPr>
            <a:ln w="12700">
              <a:solidFill>
                <a:srgbClr val="E9D38B"/>
              </a:solidFill>
            </a:ln>
          </c:spPr>
          <c:dPt>
            <c:idx val="0"/>
            <c:bubble3D val="0"/>
            <c:spPr>
              <a:solidFill>
                <a:srgbClr val="9D7B0F"/>
              </a:solidFill>
              <a:ln w="12700">
                <a:solidFill>
                  <a:srgbClr val="E9D38B"/>
                </a:solidFill>
              </a:ln>
              <a:effectLst/>
            </c:spPr>
            <c:extLst>
              <c:ext xmlns:c16="http://schemas.microsoft.com/office/drawing/2014/chart" uri="{C3380CC4-5D6E-409C-BE32-E72D297353CC}">
                <c16:uniqueId val="{00000001-1082-40F5-85FE-9A39C8953A19}"/>
              </c:ext>
            </c:extLst>
          </c:dPt>
          <c:dPt>
            <c:idx val="1"/>
            <c:bubble3D val="0"/>
            <c:spPr>
              <a:solidFill>
                <a:srgbClr val="CCA326"/>
              </a:solidFill>
              <a:ln w="12700">
                <a:solidFill>
                  <a:srgbClr val="E9D38B"/>
                </a:solidFill>
              </a:ln>
              <a:effectLst/>
            </c:spPr>
            <c:extLst>
              <c:ext xmlns:c16="http://schemas.microsoft.com/office/drawing/2014/chart" uri="{C3380CC4-5D6E-409C-BE32-E72D297353CC}">
                <c16:uniqueId val="{00000003-1082-40F5-85FE-9A39C8953A19}"/>
              </c:ext>
            </c:extLst>
          </c:dPt>
          <c:dPt>
            <c:idx val="2"/>
            <c:bubble3D val="0"/>
            <c:spPr>
              <a:solidFill>
                <a:srgbClr val="92918E"/>
              </a:solidFill>
              <a:ln w="12700">
                <a:solidFill>
                  <a:srgbClr val="E9D38B"/>
                </a:solidFill>
              </a:ln>
              <a:effectLst/>
            </c:spPr>
            <c:extLst>
              <c:ext xmlns:c16="http://schemas.microsoft.com/office/drawing/2014/chart" uri="{C3380CC4-5D6E-409C-BE32-E72D297353CC}">
                <c16:uniqueId val="{00000005-1082-40F5-85FE-9A39C8953A19}"/>
              </c:ext>
            </c:extLst>
          </c:dPt>
          <c:dPt>
            <c:idx val="3"/>
            <c:bubble3D val="0"/>
            <c:spPr>
              <a:solidFill>
                <a:schemeClr val="accent6">
                  <a:lumMod val="60000"/>
                </a:schemeClr>
              </a:solidFill>
              <a:ln w="12700">
                <a:solidFill>
                  <a:srgbClr val="E9D38B"/>
                </a:solidFill>
              </a:ln>
              <a:effectLst/>
            </c:spPr>
            <c:extLst>
              <c:ext xmlns:c16="http://schemas.microsoft.com/office/drawing/2014/chart" uri="{C3380CC4-5D6E-409C-BE32-E72D297353CC}">
                <c16:uniqueId val="{00000007-1082-40F5-85FE-9A39C8953A19}"/>
              </c:ext>
            </c:extLst>
          </c:dPt>
          <c:cat>
            <c:strRef>
              <c:f>Tabelle1!$A$2:$A$5</c:f>
              <c:strCache>
                <c:ptCount val="3"/>
                <c:pt idx="0">
                  <c:v>Blocker n = 16</c:v>
                </c:pt>
                <c:pt idx="1">
                  <c:v>Switcher n = 22</c:v>
                </c:pt>
                <c:pt idx="2">
                  <c:v>Grouper n = 32</c:v>
                </c:pt>
              </c:strCache>
            </c:strRef>
          </c:cat>
          <c:val>
            <c:numRef>
              <c:f>Tabelle1!$B$2:$B$5</c:f>
              <c:numCache>
                <c:formatCode>General</c:formatCode>
                <c:ptCount val="4"/>
                <c:pt idx="0">
                  <c:v>32</c:v>
                </c:pt>
                <c:pt idx="1">
                  <c:v>22</c:v>
                </c:pt>
                <c:pt idx="2">
                  <c:v>16</c:v>
                </c:pt>
              </c:numCache>
            </c:numRef>
          </c:val>
          <c:extLst>
            <c:ext xmlns:c16="http://schemas.microsoft.com/office/drawing/2014/chart" uri="{C3380CC4-5D6E-409C-BE32-E72D297353CC}">
              <c16:uniqueId val="{00000008-1082-40F5-85FE-9A39C8953A19}"/>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ln>
            <a:solidFill>
              <a:srgbClr val="FFFFFF"/>
            </a:solidFill>
          </a:ln>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Anzahl</c:v>
                </c:pt>
              </c:strCache>
            </c:strRef>
          </c:tx>
          <c:spPr>
            <a:ln w="12700">
              <a:solidFill>
                <a:srgbClr val="E9D38B"/>
              </a:solidFill>
            </a:ln>
          </c:spPr>
          <c:dPt>
            <c:idx val="0"/>
            <c:bubble3D val="0"/>
            <c:spPr>
              <a:solidFill>
                <a:srgbClr val="9D7B0F"/>
              </a:solidFill>
              <a:ln w="12700">
                <a:solidFill>
                  <a:srgbClr val="E9D38B"/>
                </a:solidFill>
              </a:ln>
              <a:effectLst/>
            </c:spPr>
            <c:extLst>
              <c:ext xmlns:c16="http://schemas.microsoft.com/office/drawing/2014/chart" uri="{C3380CC4-5D6E-409C-BE32-E72D297353CC}">
                <c16:uniqueId val="{00000001-6D06-4EA8-8FFE-71BEBAC87C4E}"/>
              </c:ext>
            </c:extLst>
          </c:dPt>
          <c:dPt>
            <c:idx val="1"/>
            <c:bubble3D val="0"/>
            <c:spPr>
              <a:solidFill>
                <a:srgbClr val="CCA326"/>
              </a:solidFill>
              <a:ln w="12700">
                <a:solidFill>
                  <a:srgbClr val="E9D38B"/>
                </a:solidFill>
              </a:ln>
              <a:effectLst/>
            </c:spPr>
            <c:extLst>
              <c:ext xmlns:c16="http://schemas.microsoft.com/office/drawing/2014/chart" uri="{C3380CC4-5D6E-409C-BE32-E72D297353CC}">
                <c16:uniqueId val="{00000003-6D06-4EA8-8FFE-71BEBAC87C4E}"/>
              </c:ext>
            </c:extLst>
          </c:dPt>
          <c:dPt>
            <c:idx val="2"/>
            <c:bubble3D val="0"/>
            <c:spPr>
              <a:solidFill>
                <a:srgbClr val="92918E"/>
              </a:solidFill>
              <a:ln w="12700">
                <a:solidFill>
                  <a:srgbClr val="E9D38B"/>
                </a:solidFill>
              </a:ln>
              <a:effectLst/>
            </c:spPr>
            <c:extLst>
              <c:ext xmlns:c16="http://schemas.microsoft.com/office/drawing/2014/chart" uri="{C3380CC4-5D6E-409C-BE32-E72D297353CC}">
                <c16:uniqueId val="{00000005-6D06-4EA8-8FFE-71BEBAC87C4E}"/>
              </c:ext>
            </c:extLst>
          </c:dPt>
          <c:dPt>
            <c:idx val="3"/>
            <c:bubble3D val="0"/>
            <c:spPr>
              <a:solidFill>
                <a:schemeClr val="accent6">
                  <a:lumMod val="60000"/>
                </a:schemeClr>
              </a:solidFill>
              <a:ln w="12700">
                <a:solidFill>
                  <a:srgbClr val="E9D38B"/>
                </a:solidFill>
              </a:ln>
              <a:effectLst/>
            </c:spPr>
            <c:extLst>
              <c:ext xmlns:c16="http://schemas.microsoft.com/office/drawing/2014/chart" uri="{C3380CC4-5D6E-409C-BE32-E72D297353CC}">
                <c16:uniqueId val="{00000007-6D06-4EA8-8FFE-71BEBAC87C4E}"/>
              </c:ext>
            </c:extLst>
          </c:dPt>
          <c:cat>
            <c:strRef>
              <c:f>Tabelle1!$A$2:$A$5</c:f>
              <c:strCache>
                <c:ptCount val="3"/>
                <c:pt idx="0">
                  <c:v>Blocker n = 16</c:v>
                </c:pt>
                <c:pt idx="1">
                  <c:v>Switcher n = 22</c:v>
                </c:pt>
                <c:pt idx="2">
                  <c:v>Grouper n = 32</c:v>
                </c:pt>
              </c:strCache>
            </c:strRef>
          </c:cat>
          <c:val>
            <c:numRef>
              <c:f>Tabelle1!$B$2:$B$5</c:f>
              <c:numCache>
                <c:formatCode>General</c:formatCode>
                <c:ptCount val="4"/>
                <c:pt idx="0">
                  <c:v>25</c:v>
                </c:pt>
                <c:pt idx="1">
                  <c:v>14</c:v>
                </c:pt>
                <c:pt idx="2">
                  <c:v>6</c:v>
                </c:pt>
              </c:numCache>
            </c:numRef>
          </c:val>
          <c:extLst>
            <c:ext xmlns:c16="http://schemas.microsoft.com/office/drawing/2014/chart" uri="{C3380CC4-5D6E-409C-BE32-E72D297353CC}">
              <c16:uniqueId val="{00000008-6D06-4EA8-8FFE-71BEBAC87C4E}"/>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ln>
            <a:solidFill>
              <a:srgbClr val="FFFFFF"/>
            </a:solidFill>
          </a:ln>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Spalte1</c:v>
                </c:pt>
              </c:strCache>
            </c:strRef>
          </c:tx>
          <c:spPr>
            <a:ln w="12700">
              <a:solidFill>
                <a:srgbClr val="E9D38B"/>
              </a:solidFill>
            </a:ln>
          </c:spPr>
          <c:dPt>
            <c:idx val="0"/>
            <c:bubble3D val="0"/>
            <c:spPr>
              <a:solidFill>
                <a:srgbClr val="9D7B0F"/>
              </a:solidFill>
              <a:ln w="12700">
                <a:solidFill>
                  <a:srgbClr val="E9D38B"/>
                </a:solidFill>
              </a:ln>
              <a:effectLst/>
            </c:spPr>
            <c:extLst>
              <c:ext xmlns:c16="http://schemas.microsoft.com/office/drawing/2014/chart" uri="{C3380CC4-5D6E-409C-BE32-E72D297353CC}">
                <c16:uniqueId val="{00000001-0A12-45E0-81EC-DBA8A6F62470}"/>
              </c:ext>
            </c:extLst>
          </c:dPt>
          <c:dPt>
            <c:idx val="1"/>
            <c:bubble3D val="0"/>
            <c:spPr>
              <a:solidFill>
                <a:srgbClr val="CCA326"/>
              </a:solidFill>
              <a:ln w="12700">
                <a:solidFill>
                  <a:srgbClr val="E9D38B"/>
                </a:solidFill>
              </a:ln>
              <a:effectLst/>
            </c:spPr>
            <c:extLst>
              <c:ext xmlns:c16="http://schemas.microsoft.com/office/drawing/2014/chart" uri="{C3380CC4-5D6E-409C-BE32-E72D297353CC}">
                <c16:uniqueId val="{00000003-0A12-45E0-81EC-DBA8A6F62470}"/>
              </c:ext>
            </c:extLst>
          </c:dPt>
          <c:dPt>
            <c:idx val="2"/>
            <c:bubble3D val="0"/>
            <c:spPr>
              <a:solidFill>
                <a:srgbClr val="92918E"/>
              </a:solidFill>
              <a:ln w="12700">
                <a:solidFill>
                  <a:srgbClr val="E9D38B"/>
                </a:solidFill>
              </a:ln>
              <a:effectLst/>
            </c:spPr>
            <c:extLst>
              <c:ext xmlns:c16="http://schemas.microsoft.com/office/drawing/2014/chart" uri="{C3380CC4-5D6E-409C-BE32-E72D297353CC}">
                <c16:uniqueId val="{00000005-0A12-45E0-81EC-DBA8A6F62470}"/>
              </c:ext>
            </c:extLst>
          </c:dPt>
          <c:dPt>
            <c:idx val="3"/>
            <c:bubble3D val="0"/>
            <c:spPr>
              <a:solidFill>
                <a:schemeClr val="accent6">
                  <a:lumMod val="60000"/>
                </a:schemeClr>
              </a:solidFill>
              <a:ln w="12700">
                <a:solidFill>
                  <a:srgbClr val="E9D38B"/>
                </a:solidFill>
              </a:ln>
              <a:effectLst/>
            </c:spPr>
            <c:extLst>
              <c:ext xmlns:c16="http://schemas.microsoft.com/office/drawing/2014/chart" uri="{C3380CC4-5D6E-409C-BE32-E72D297353CC}">
                <c16:uniqueId val="{00000007-0A12-45E0-81EC-DBA8A6F62470}"/>
              </c:ext>
            </c:extLst>
          </c:dPt>
          <c:cat>
            <c:strRef>
              <c:f>Tabelle1!$A$2:$A$5</c:f>
              <c:strCache>
                <c:ptCount val="3"/>
                <c:pt idx="0">
                  <c:v>Blocker n = 16</c:v>
                </c:pt>
                <c:pt idx="1">
                  <c:v>Switcher n = 22</c:v>
                </c:pt>
                <c:pt idx="2">
                  <c:v>Grouper n = 32</c:v>
                </c:pt>
              </c:strCache>
            </c:strRef>
          </c:cat>
          <c:val>
            <c:numRef>
              <c:f>Tabelle1!$B$2:$B$5</c:f>
              <c:numCache>
                <c:formatCode>General</c:formatCode>
                <c:ptCount val="4"/>
                <c:pt idx="0">
                  <c:v>18</c:v>
                </c:pt>
                <c:pt idx="1">
                  <c:v>19</c:v>
                </c:pt>
                <c:pt idx="2">
                  <c:v>10</c:v>
                </c:pt>
              </c:numCache>
            </c:numRef>
          </c:val>
          <c:extLst>
            <c:ext xmlns:c16="http://schemas.microsoft.com/office/drawing/2014/chart" uri="{C3380CC4-5D6E-409C-BE32-E72D297353CC}">
              <c16:uniqueId val="{00000008-0A12-45E0-81EC-DBA8A6F62470}"/>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ln>
            <a:solidFill>
              <a:srgbClr val="FFFFFF"/>
            </a:solidFill>
          </a:ln>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Anzahl</c:v>
                </c:pt>
              </c:strCache>
            </c:strRef>
          </c:tx>
          <c:spPr>
            <a:ln w="12700">
              <a:solidFill>
                <a:srgbClr val="E9D38B"/>
              </a:solidFill>
            </a:ln>
          </c:spPr>
          <c:dPt>
            <c:idx val="0"/>
            <c:bubble3D val="0"/>
            <c:spPr>
              <a:solidFill>
                <a:srgbClr val="9D7B0F"/>
              </a:solidFill>
              <a:ln w="12700">
                <a:solidFill>
                  <a:srgbClr val="E9D38B"/>
                </a:solidFill>
              </a:ln>
              <a:effectLst/>
            </c:spPr>
            <c:extLst>
              <c:ext xmlns:c16="http://schemas.microsoft.com/office/drawing/2014/chart" uri="{C3380CC4-5D6E-409C-BE32-E72D297353CC}">
                <c16:uniqueId val="{00000001-7EBD-4DA0-9277-608821A219E3}"/>
              </c:ext>
            </c:extLst>
          </c:dPt>
          <c:dPt>
            <c:idx val="1"/>
            <c:bubble3D val="0"/>
            <c:spPr>
              <a:solidFill>
                <a:srgbClr val="CCA326"/>
              </a:solidFill>
              <a:ln w="12700">
                <a:solidFill>
                  <a:srgbClr val="E9D38B"/>
                </a:solidFill>
              </a:ln>
              <a:effectLst/>
            </c:spPr>
            <c:extLst>
              <c:ext xmlns:c16="http://schemas.microsoft.com/office/drawing/2014/chart" uri="{C3380CC4-5D6E-409C-BE32-E72D297353CC}">
                <c16:uniqueId val="{00000003-7EBD-4DA0-9277-608821A219E3}"/>
              </c:ext>
            </c:extLst>
          </c:dPt>
          <c:dPt>
            <c:idx val="2"/>
            <c:bubble3D val="0"/>
            <c:spPr>
              <a:solidFill>
                <a:srgbClr val="92918E"/>
              </a:solidFill>
              <a:ln w="12700">
                <a:solidFill>
                  <a:srgbClr val="E9D38B"/>
                </a:solidFill>
              </a:ln>
              <a:effectLst/>
            </c:spPr>
            <c:extLst>
              <c:ext xmlns:c16="http://schemas.microsoft.com/office/drawing/2014/chart" uri="{C3380CC4-5D6E-409C-BE32-E72D297353CC}">
                <c16:uniqueId val="{00000005-7EBD-4DA0-9277-608821A219E3}"/>
              </c:ext>
            </c:extLst>
          </c:dPt>
          <c:dPt>
            <c:idx val="3"/>
            <c:bubble3D val="0"/>
            <c:spPr>
              <a:solidFill>
                <a:schemeClr val="accent6">
                  <a:lumMod val="60000"/>
                </a:schemeClr>
              </a:solidFill>
              <a:ln w="12700">
                <a:solidFill>
                  <a:srgbClr val="E9D38B"/>
                </a:solidFill>
              </a:ln>
              <a:effectLst/>
            </c:spPr>
            <c:extLst>
              <c:ext xmlns:c16="http://schemas.microsoft.com/office/drawing/2014/chart" uri="{C3380CC4-5D6E-409C-BE32-E72D297353CC}">
                <c16:uniqueId val="{00000007-7EBD-4DA0-9277-608821A219E3}"/>
              </c:ext>
            </c:extLst>
          </c:dPt>
          <c:cat>
            <c:strRef>
              <c:f>Tabelle1!$A$2:$A$5</c:f>
              <c:strCache>
                <c:ptCount val="3"/>
                <c:pt idx="0">
                  <c:v>Blocker n = 17</c:v>
                </c:pt>
                <c:pt idx="1">
                  <c:v>Switcher n = 22</c:v>
                </c:pt>
                <c:pt idx="2">
                  <c:v>Response Grouper = 9</c:v>
                </c:pt>
              </c:strCache>
            </c:strRef>
          </c:cat>
          <c:val>
            <c:numRef>
              <c:f>Tabelle1!$B$2:$B$5</c:f>
              <c:numCache>
                <c:formatCode>General</c:formatCode>
                <c:ptCount val="4"/>
                <c:pt idx="0">
                  <c:v>17</c:v>
                </c:pt>
                <c:pt idx="1">
                  <c:v>22</c:v>
                </c:pt>
                <c:pt idx="2">
                  <c:v>9</c:v>
                </c:pt>
              </c:numCache>
            </c:numRef>
          </c:val>
          <c:extLst>
            <c:ext xmlns:c16="http://schemas.microsoft.com/office/drawing/2014/chart" uri="{C3380CC4-5D6E-409C-BE32-E72D297353CC}">
              <c16:uniqueId val="{00000008-7EBD-4DA0-9277-608821A219E3}"/>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ln>
            <a:solidFill>
              <a:srgbClr val="FFFFFF"/>
            </a:solidFill>
          </a:ln>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Anzahl</c:v>
                </c:pt>
              </c:strCache>
            </c:strRef>
          </c:tx>
          <c:spPr>
            <a:ln w="12700">
              <a:solidFill>
                <a:srgbClr val="E9D38B"/>
              </a:solidFill>
            </a:ln>
          </c:spPr>
          <c:dPt>
            <c:idx val="0"/>
            <c:bubble3D val="0"/>
            <c:spPr>
              <a:solidFill>
                <a:srgbClr val="9D7B0F"/>
              </a:solidFill>
              <a:ln w="12700">
                <a:solidFill>
                  <a:srgbClr val="E9D38B"/>
                </a:solidFill>
              </a:ln>
              <a:effectLst/>
            </c:spPr>
            <c:extLst>
              <c:ext xmlns:c16="http://schemas.microsoft.com/office/drawing/2014/chart" uri="{C3380CC4-5D6E-409C-BE32-E72D297353CC}">
                <c16:uniqueId val="{00000001-EF9D-4DDE-9C1A-48E0E55FDFF9}"/>
              </c:ext>
            </c:extLst>
          </c:dPt>
          <c:dPt>
            <c:idx val="1"/>
            <c:bubble3D val="0"/>
            <c:spPr>
              <a:solidFill>
                <a:srgbClr val="CCA326"/>
              </a:solidFill>
              <a:ln w="12700">
                <a:solidFill>
                  <a:srgbClr val="E9D38B"/>
                </a:solidFill>
              </a:ln>
              <a:effectLst/>
            </c:spPr>
            <c:extLst>
              <c:ext xmlns:c16="http://schemas.microsoft.com/office/drawing/2014/chart" uri="{C3380CC4-5D6E-409C-BE32-E72D297353CC}">
                <c16:uniqueId val="{00000003-EF9D-4DDE-9C1A-48E0E55FDFF9}"/>
              </c:ext>
            </c:extLst>
          </c:dPt>
          <c:dPt>
            <c:idx val="2"/>
            <c:bubble3D val="0"/>
            <c:spPr>
              <a:solidFill>
                <a:srgbClr val="92918E"/>
              </a:solidFill>
              <a:ln w="12700">
                <a:solidFill>
                  <a:srgbClr val="E9D38B"/>
                </a:solidFill>
              </a:ln>
              <a:effectLst/>
            </c:spPr>
            <c:extLst>
              <c:ext xmlns:c16="http://schemas.microsoft.com/office/drawing/2014/chart" uri="{C3380CC4-5D6E-409C-BE32-E72D297353CC}">
                <c16:uniqueId val="{00000005-EF9D-4DDE-9C1A-48E0E55FDFF9}"/>
              </c:ext>
            </c:extLst>
          </c:dPt>
          <c:dPt>
            <c:idx val="3"/>
            <c:bubble3D val="0"/>
            <c:spPr>
              <a:solidFill>
                <a:schemeClr val="accent6">
                  <a:lumMod val="60000"/>
                </a:schemeClr>
              </a:solidFill>
              <a:ln w="12700">
                <a:solidFill>
                  <a:srgbClr val="E9D38B"/>
                </a:solidFill>
              </a:ln>
              <a:effectLst/>
            </c:spPr>
            <c:extLst>
              <c:ext xmlns:c16="http://schemas.microsoft.com/office/drawing/2014/chart" uri="{C3380CC4-5D6E-409C-BE32-E72D297353CC}">
                <c16:uniqueId val="{00000007-EF9D-4DDE-9C1A-48E0E55FDFF9}"/>
              </c:ext>
            </c:extLst>
          </c:dPt>
          <c:cat>
            <c:strRef>
              <c:f>Tabelle1!$A$2:$A$5</c:f>
              <c:strCache>
                <c:ptCount val="3"/>
                <c:pt idx="0">
                  <c:v>Blocker n = 43</c:v>
                </c:pt>
                <c:pt idx="1">
                  <c:v>Switcher n = 27</c:v>
                </c:pt>
                <c:pt idx="2">
                  <c:v>Grouper n = 47</c:v>
                </c:pt>
              </c:strCache>
            </c:strRef>
          </c:cat>
          <c:val>
            <c:numRef>
              <c:f>Tabelle1!$B$2:$B$5</c:f>
              <c:numCache>
                <c:formatCode>General</c:formatCode>
                <c:ptCount val="4"/>
                <c:pt idx="0">
                  <c:v>43</c:v>
                </c:pt>
                <c:pt idx="1">
                  <c:v>27</c:v>
                </c:pt>
                <c:pt idx="2">
                  <c:v>47</c:v>
                </c:pt>
              </c:numCache>
            </c:numRef>
          </c:val>
          <c:extLst>
            <c:ext xmlns:c16="http://schemas.microsoft.com/office/drawing/2014/chart" uri="{C3380CC4-5D6E-409C-BE32-E72D297353CC}">
              <c16:uniqueId val="{00000008-EF9D-4DDE-9C1A-48E0E55FDFF9}"/>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ln>
            <a:solidFill>
              <a:srgbClr val="FFFFFF"/>
            </a:solidFill>
          </a:ln>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9057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15000"/>
              </a:lnSpc>
              <a:spcBef>
                <a:spcPts val="303"/>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a:ea typeface="Times New Roman" panose="02020603050405020304" pitchFamily="18" charset="0"/>
                <a:cs typeface="+mn-cs"/>
              </a:rPr>
              <a:t>We’re presenting project 3, which is located at Magdeburg University and Constructor University in Bremen </a:t>
            </a:r>
          </a:p>
          <a:p>
            <a:pPr marL="0" marR="0" lvl="0" indent="0" algn="l" defTabSz="914400" rtl="0" eaLnBrk="1" fontAlgn="auto" latinLnBrk="0" hangingPunct="1">
              <a:lnSpc>
                <a:spcPct val="115000"/>
              </a:lnSpc>
              <a:spcBef>
                <a:spcPts val="303"/>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a:ea typeface="Times New Roman" panose="02020603050405020304" pitchFamily="18" charset="0"/>
              <a:cs typeface="+mn-cs"/>
            </a:endParaRP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My name is </a:t>
            </a:r>
            <a:r>
              <a:rPr kumimoji="0" lang="en-US" sz="1000" b="0" i="0" u="none" strike="noStrike" kern="1200" cap="none" spc="0" normalizeH="0" baseline="0" noProof="0" dirty="0">
                <a:ln>
                  <a:noFill/>
                </a:ln>
                <a:solidFill>
                  <a:prstClr val="black"/>
                </a:solidFill>
                <a:effectLst/>
                <a:uLnTx/>
                <a:uFillTx/>
                <a:latin typeface="Calibri"/>
                <a:ea typeface="Times New Roman" panose="02020603050405020304" pitchFamily="18" charset="0"/>
                <a:cs typeface="+mn-cs"/>
              </a:rPr>
              <a:t>Jovita Brüning and together with </a:t>
            </a:r>
            <a:r>
              <a:rPr kumimoji="0" lang="en-US" sz="1000" b="0" i="0" u="none" strike="noStrike" kern="1200" cap="none" spc="0" normalizeH="0" baseline="0" noProof="0" dirty="0" err="1">
                <a:ln>
                  <a:noFill/>
                </a:ln>
                <a:solidFill>
                  <a:prstClr val="black"/>
                </a:solidFill>
                <a:effectLst/>
                <a:uLnTx/>
                <a:uFillTx/>
                <a:latin typeface="Calibri"/>
                <a:ea typeface="Times New Roman" panose="02020603050405020304" pitchFamily="18" charset="0"/>
                <a:cs typeface="+mn-cs"/>
              </a:rPr>
              <a:t>Doruntinë</a:t>
            </a:r>
            <a:r>
              <a:rPr kumimoji="0" lang="en-US" sz="1000" b="0" i="0" u="none" strike="noStrike" kern="1200" cap="none" spc="0" normalizeH="0" baseline="0" noProof="0" dirty="0">
                <a:ln>
                  <a:noFill/>
                </a:ln>
                <a:solidFill>
                  <a:prstClr val="black"/>
                </a:solidFill>
                <a:effectLst/>
                <a:uLnTx/>
                <a:uFillTx/>
                <a:latin typeface="Calibri"/>
                <a:ea typeface="Times New Roman" panose="02020603050405020304" pitchFamily="18" charset="0"/>
                <a:cs typeface="+mn-cs"/>
              </a:rPr>
              <a:t> </a:t>
            </a:r>
            <a:r>
              <a:rPr kumimoji="0" lang="en-US" sz="1000" b="0" i="0" u="none" strike="noStrike" kern="1200" cap="none" spc="0" normalizeH="0" baseline="0" noProof="0" dirty="0" err="1">
                <a:ln>
                  <a:noFill/>
                </a:ln>
                <a:solidFill>
                  <a:prstClr val="black"/>
                </a:solidFill>
                <a:effectLst/>
                <a:uLnTx/>
                <a:uFillTx/>
                <a:latin typeface="Calibri"/>
                <a:ea typeface="Times New Roman" panose="02020603050405020304" pitchFamily="18" charset="0"/>
                <a:cs typeface="+mn-cs"/>
              </a:rPr>
              <a:t>Zogaj</a:t>
            </a:r>
            <a:r>
              <a:rPr kumimoji="0" lang="en-US" sz="1000" b="0" i="0" u="none" strike="noStrike" kern="1200" cap="none" spc="0" normalizeH="0" baseline="0" noProof="0" dirty="0">
                <a:ln>
                  <a:noFill/>
                </a:ln>
                <a:solidFill>
                  <a:prstClr val="black"/>
                </a:solidFill>
                <a:effectLst/>
                <a:uLnTx/>
                <a:uFillTx/>
                <a:latin typeface="Calibri"/>
                <a:ea typeface="Times New Roman" panose="02020603050405020304" pitchFamily="18" charset="0"/>
                <a:cs typeface="+mn-cs"/>
              </a:rPr>
              <a:t>, I will conduct the </a:t>
            </a:r>
            <a:r>
              <a:rPr lang="en-US" sz="1000" dirty="0">
                <a:solidFill>
                  <a:srgbClr val="000000"/>
                </a:solidFill>
                <a:latin typeface="+mn-lt"/>
                <a:ea typeface="+mn-lt"/>
                <a:cs typeface="+mn-lt"/>
              </a:rPr>
              <a:t>empirical part of Project 3, which I will briefly introduce today </a:t>
            </a:r>
            <a:endParaRPr kumimoji="0" lang="en-US" sz="1000" b="0" i="0" u="none" strike="noStrike" kern="1200" cap="none" spc="0" normalizeH="0" baseline="0" noProof="0" dirty="0">
              <a:ln>
                <a:noFill/>
              </a:ln>
              <a:solidFill>
                <a:srgbClr val="000000"/>
              </a:solidFill>
              <a:effectLst/>
              <a:uLnTx/>
              <a:uFillTx/>
              <a:latin typeface="Calibri"/>
              <a:ea typeface="+mn-ea"/>
              <a:cs typeface="+mn-cs"/>
            </a:endParaRP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Domenic Groh and Dirk Ostwald are the members of our team focusing on the theoretical objectives</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Markus </a:t>
            </a:r>
            <a:r>
              <a:rPr kumimoji="0" lang="en-US" sz="1000" b="0" i="0" u="none" strike="noStrike" kern="1200" cap="none" spc="0" normalizeH="0" baseline="0" noProof="0" dirty="0" err="1">
                <a:ln>
                  <a:noFill/>
                </a:ln>
                <a:solidFill>
                  <a:srgbClr val="000000"/>
                </a:solidFill>
                <a:effectLst/>
                <a:uLnTx/>
                <a:uFillTx/>
                <a:latin typeface="Calibri"/>
                <a:ea typeface="+mn-ea"/>
                <a:cs typeface="+mn-cs"/>
              </a:rPr>
              <a:t>Ullsperger</a:t>
            </a:r>
            <a:r>
              <a:rPr kumimoji="0" lang="en-US" sz="1000" b="0" i="0" u="none" strike="noStrike" kern="1200" cap="none" spc="0" normalizeH="0" baseline="0" noProof="0" dirty="0">
                <a:ln>
                  <a:noFill/>
                </a:ln>
                <a:solidFill>
                  <a:srgbClr val="000000"/>
                </a:solidFill>
                <a:effectLst/>
                <a:uLnTx/>
                <a:uFillTx/>
                <a:latin typeface="Calibri"/>
                <a:ea typeface="+mn-ea"/>
                <a:cs typeface="+mn-cs"/>
              </a:rPr>
              <a:t> – unfortunately cannot be here today – but he’s our expert in decision making and neuroscience and advising on the neurophysiological measures</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Our joint project focuses on how individuals form response strategies in voluntary task switching</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endParaRPr kumimoji="0" lang="en-US" sz="10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14999"/>
              </a:lnSpc>
              <a:spcBef>
                <a:spcPts val="303"/>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a:ea typeface="+mn-ea"/>
                <a:cs typeface="+mn-cs"/>
              </a:rPr>
              <a:t>So our </a:t>
            </a:r>
            <a:r>
              <a:rPr kumimoji="0" lang="en-US" sz="1000" b="0" i="0" u="none" strike="noStrike" kern="1200" cap="none" spc="0" normalizeH="0" baseline="0" noProof="0" dirty="0">
                <a:ln>
                  <a:noFill/>
                </a:ln>
                <a:solidFill>
                  <a:srgbClr val="000000"/>
                </a:solidFill>
                <a:effectLst/>
                <a:uLnTx/>
                <a:uFillTx/>
                <a:latin typeface="Calibri"/>
                <a:ea typeface="+mn-ea"/>
                <a:cs typeface="+mn-cs"/>
              </a:rPr>
              <a:t>central question is</a:t>
            </a:r>
            <a:r>
              <a:rPr kumimoji="0" lang="en-US" sz="1000" b="0" i="0" u="none" strike="noStrike" kern="1200" cap="none" spc="0" normalizeH="0" baseline="0" noProof="0" dirty="0">
                <a:ln>
                  <a:noFill/>
                </a:ln>
                <a:solidFill>
                  <a:prstClr val="black"/>
                </a:solidFill>
                <a:effectLst/>
                <a:uLnTx/>
                <a:uFillTx/>
                <a:latin typeface="Calibri"/>
                <a:ea typeface="+mn-ea"/>
                <a:cs typeface="+mn-cs"/>
              </a:rPr>
              <a:t>: What determines which response strategy a person develops </a:t>
            </a:r>
            <a:r>
              <a:rPr kumimoji="0" lang="en-US" sz="1000" b="0" i="0" u="none" strike="noStrike" kern="1200" cap="none" spc="0" normalizeH="0" baseline="0" noProof="0" dirty="0">
                <a:ln>
                  <a:noFill/>
                </a:ln>
                <a:solidFill>
                  <a:srgbClr val="000000"/>
                </a:solidFill>
                <a:effectLst/>
                <a:uLnTx/>
                <a:uFillTx/>
                <a:latin typeface="Calibri"/>
                <a:ea typeface="+mn-ea"/>
                <a:cs typeface="+mn-cs"/>
              </a:rPr>
              <a:t>when they have the freedom to </a:t>
            </a:r>
            <a:r>
              <a:rPr kumimoji="0" lang="en-US" sz="1000" b="0" i="0" u="none" strike="noStrike" kern="1200" cap="none" spc="0" normalizeH="0" baseline="0" noProof="0" dirty="0">
                <a:ln>
                  <a:noFill/>
                </a:ln>
                <a:solidFill>
                  <a:prstClr val="black"/>
                </a:solidFill>
                <a:effectLst/>
                <a:uLnTx/>
                <a:uFillTx/>
                <a:latin typeface="Calibri"/>
                <a:ea typeface="+mn-ea"/>
                <a:cs typeface="+mn-cs"/>
              </a:rPr>
              <a:t>choose between tasks?</a:t>
            </a:r>
            <a:endParaRPr kumimoji="0" lang="en-US" sz="10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15000"/>
              </a:lnSpc>
              <a:spcBef>
                <a:spcPts val="303"/>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In earlier work, we were interested in how people approach multiple task demands if they are free to choose which task to perform. Starting with a limited set of just two tasks, we found that they indeed develop different approaches. </a:t>
            </a:r>
          </a:p>
          <a:p>
            <a:pPr marL="0" marR="0" lvl="0" indent="0" algn="l" defTabSz="914400" rtl="0" eaLnBrk="1" fontAlgn="auto" latinLnBrk="0" hangingPunct="1">
              <a:lnSpc>
                <a:spcPct val="115000"/>
              </a:lnSpc>
              <a:spcBef>
                <a:spcPts val="303"/>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15000"/>
              </a:lnSpc>
              <a:spcBef>
                <a:spcPts val="303"/>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To address this, </a:t>
            </a:r>
            <a:r>
              <a:rPr kumimoji="0" lang="en-US" sz="1000" b="0" i="0" u="none" strike="noStrike" kern="1200" cap="none" spc="0" normalizeH="0" baseline="0" noProof="0" dirty="0">
                <a:ln>
                  <a:noFill/>
                </a:ln>
                <a:solidFill>
                  <a:prstClr val="black"/>
                </a:solidFill>
                <a:effectLst/>
                <a:uLnTx/>
                <a:uFillTx/>
                <a:latin typeface="Calibri"/>
                <a:ea typeface="Times New Roman" panose="02020603050405020304" pitchFamily="18" charset="0"/>
                <a:cs typeface="+mn-cs"/>
              </a:rPr>
              <a:t>w</a:t>
            </a:r>
            <a:r>
              <a:rPr kumimoji="0" lang="en-US" sz="1000" b="0" i="0" u="none" strike="noStrike" kern="1200" cap="none" spc="0" normalizeH="0" baseline="0" noProof="0" dirty="0">
                <a:ln>
                  <a:noFill/>
                </a:ln>
                <a:solidFill>
                  <a:srgbClr val="000000"/>
                </a:solidFill>
                <a:effectLst/>
                <a:uLnTx/>
                <a:uFillTx/>
                <a:latin typeface="Calibri"/>
                <a:ea typeface="+mn-ea"/>
                <a:cs typeface="+mn-cs"/>
              </a:rPr>
              <a:t>e use the </a:t>
            </a:r>
            <a:r>
              <a:rPr kumimoji="0" lang="en-US" sz="1000" b="1" i="0" u="none" strike="noStrike" kern="1200" cap="none" spc="0" normalizeH="0" baseline="0" noProof="0" dirty="0">
                <a:ln>
                  <a:noFill/>
                </a:ln>
                <a:solidFill>
                  <a:srgbClr val="000000"/>
                </a:solidFill>
                <a:effectLst/>
                <a:uLnTx/>
                <a:uFillTx/>
                <a:latin typeface="Calibri"/>
                <a:ea typeface="+mn-ea"/>
                <a:cs typeface="+mn-cs"/>
              </a:rPr>
              <a:t>Free Concurrent Dual-Tasking</a:t>
            </a:r>
            <a:r>
              <a:rPr kumimoji="0" lang="en-US" sz="1000" b="0" i="0" u="none" strike="noStrike" kern="1200" cap="none" spc="0" normalizeH="0" baseline="0" noProof="0" dirty="0">
                <a:ln>
                  <a:noFill/>
                </a:ln>
                <a:solidFill>
                  <a:srgbClr val="000000"/>
                </a:solidFill>
                <a:effectLst/>
                <a:uLnTx/>
                <a:uFillTx/>
                <a:latin typeface="Calibri"/>
                <a:ea typeface="+mn-ea"/>
                <a:cs typeface="+mn-cs"/>
              </a:rPr>
              <a:t> paradigm</a:t>
            </a:r>
            <a:r>
              <a:rPr kumimoji="0" lang="en-US" sz="1000" b="1" i="0" u="none" strike="noStrike" kern="1200" cap="none" spc="0" normalizeH="0" baseline="0" noProof="0" dirty="0">
                <a:ln>
                  <a:noFill/>
                </a:ln>
                <a:solidFill>
                  <a:srgbClr val="000000"/>
                </a:solidFill>
                <a:effectLst/>
                <a:uLnTx/>
                <a:uFillTx/>
                <a:latin typeface="Calibri"/>
                <a:ea typeface="+mn-ea"/>
                <a:cs typeface="+mn-cs"/>
              </a:rPr>
              <a:t> (FCDT for short) </a:t>
            </a:r>
            <a:r>
              <a:rPr kumimoji="0" lang="en-US" sz="1000" b="0" i="0" u="none" strike="noStrike" kern="1200" cap="none" spc="0" normalizeH="0" baseline="0" noProof="0" dirty="0">
                <a:ln>
                  <a:noFill/>
                </a:ln>
                <a:solidFill>
                  <a:srgbClr val="000000"/>
                </a:solidFill>
                <a:effectLst/>
                <a:uLnTx/>
                <a:uFillTx/>
                <a:latin typeface="Calibri"/>
                <a:ea typeface="+mn-ea"/>
                <a:cs typeface="+mn-cs"/>
              </a:rPr>
              <a:t>as briefly introduced by the Cologne project</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Here, participants work on two simultaneously visible threads of tasks, one typically requires participants to categorize letters the other one digits</a:t>
            </a:r>
          </a:p>
          <a:p>
            <a:pPr marL="803906" marR="0" lvl="1"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lang="en-US" sz="1000" dirty="0"/>
              <a:t>Participants classify the letters as a vowel or consonant and the digits as odd or even, using separate response keys for the two tasks. </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On each trial participants choose which task to perform and indicate to which category the respective stimulus belongs with the finger that is allocated to the respective category</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lang="en-US" sz="1000" dirty="0">
                <a:effectLst/>
                <a:latin typeface="Calibri" panose="020F0502020204030204" pitchFamily="34" charset="0"/>
                <a:ea typeface="Calibri" panose="020F0502020204030204" pitchFamily="34" charset="0"/>
                <a:cs typeface="Times New Roman" panose="02020603050405020304" pitchFamily="18" charset="0"/>
              </a:rPr>
              <a:t>Which allows to precisely track, which of the tasks is being responded to across a sequence of trials =&gt; and thus the sequence of the participant’s task choices </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lang="en-US" sz="1000" dirty="0"/>
              <a:t>The sequence on the left shows an example of how a participant could approach the tasks: </a:t>
            </a:r>
          </a:p>
          <a:p>
            <a:pPr marL="803906" marR="0" lvl="1"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lang="en-US" sz="1000" dirty="0"/>
              <a:t>In this case, after responding three times to the letter task, the participant performed one trial of the digit task, then returned to the letter task, before choosing to continue with the digit task.</a:t>
            </a:r>
          </a:p>
          <a:p>
            <a:endParaRPr lang="en-US" sz="1200" dirty="0">
              <a:solidFill>
                <a:srgbClr val="000000"/>
              </a:solidFill>
              <a:latin typeface="+mn-lt"/>
              <a:ea typeface="+mn-lt"/>
              <a:cs typeface="+mn-lt"/>
            </a:endParaRP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lang="en-US" sz="1000" dirty="0"/>
              <a:t>Crucially, the stimuli are visible until a response is given =&gt; thus, there is no artificial timeout</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lang="en-US" sz="1000" dirty="0"/>
              <a:t>The unchosen stimulus remains available. After a letter response, only the letter changes, while the digit remains on screen. After a digit response, only the digit changes. </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lang="en-US" sz="1000" dirty="0"/>
              <a:t>Participants can therefore prepare the next task while still working on the current one, but the paradigm does not force them to use this preview.</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Importantly, while participants are instructed to perform the tasks equally and as efficient as possible – that is </a:t>
            </a:r>
            <a:r>
              <a:rPr lang="en-US" sz="1000" dirty="0"/>
              <a:t>to maximize correct responses – </a:t>
            </a:r>
            <a:r>
              <a:rPr kumimoji="0" lang="en-US" sz="1000" b="0" i="0" u="none" strike="noStrike" kern="1200" cap="none" spc="0" normalizeH="0" baseline="0" noProof="0" dirty="0">
                <a:ln>
                  <a:noFill/>
                </a:ln>
                <a:solidFill>
                  <a:srgbClr val="000000"/>
                </a:solidFill>
                <a:effectLst/>
                <a:uLnTx/>
                <a:uFillTx/>
                <a:latin typeface="Calibri"/>
                <a:ea typeface="+mn-ea"/>
                <a:cs typeface="+mn-cs"/>
              </a:rPr>
              <a:t>it is actually up to them how to achieve this </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endParaRPr kumimoji="0" lang="en-US" sz="1000" b="0" i="0" u="none" strike="noStrike" kern="1200" cap="none" spc="0" normalizeH="0" baseline="0" noProof="0" dirty="0">
              <a:ln>
                <a:noFill/>
              </a:ln>
              <a:solidFill>
                <a:srgbClr val="000000"/>
              </a:solidFill>
              <a:effectLst/>
              <a:uLnTx/>
              <a:uFillTx/>
              <a:latin typeface="Calibri"/>
              <a:ea typeface="+mn-ea"/>
              <a:cs typeface="+mn-cs"/>
            </a:endParaRPr>
          </a:p>
          <a:p>
            <a:endParaRPr lang="en-US" sz="1200" dirty="0">
              <a:solidFill>
                <a:srgbClr val="000000"/>
              </a:solidFill>
              <a:latin typeface="+mn-lt"/>
              <a:ea typeface="+mn-lt"/>
              <a:cs typeface="+mn-lt"/>
            </a:endParaRP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19588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ts val="303"/>
              </a:spcBef>
            </a:pPr>
            <a:r>
              <a:rPr lang="en-US" dirty="0">
                <a:solidFill>
                  <a:srgbClr val="000000"/>
                </a:solidFill>
              </a:rPr>
              <a:t>The same task setting allows different prototypical response patterns. </a:t>
            </a:r>
            <a:r>
              <a:rPr lang="en-US" kern="1200" dirty="0">
                <a:solidFill>
                  <a:srgbClr val="000000"/>
                </a:solidFill>
                <a:effectLst/>
                <a:cs typeface="Times New Roman"/>
              </a:rPr>
              <a:t>Using this paradig</a:t>
            </a:r>
            <a:r>
              <a:rPr lang="en-US" dirty="0">
                <a:solidFill>
                  <a:srgbClr val="000000"/>
                </a:solidFill>
                <a:cs typeface="Times New Roman"/>
              </a:rPr>
              <a:t>m, we repeatedly and reproducibl</a:t>
            </a:r>
            <a:r>
              <a:rPr lang="en-US" kern="1200" dirty="0">
                <a:solidFill>
                  <a:srgbClr val="000000"/>
                </a:solidFill>
                <a:effectLst/>
                <a:cs typeface="Times New Roman"/>
              </a:rPr>
              <a:t>y found that participants adhere to one of three response strategies: </a:t>
            </a:r>
          </a:p>
          <a:p>
            <a:pPr marL="346706" indent="-346706">
              <a:lnSpc>
                <a:spcPct val="115000"/>
              </a:lnSpc>
              <a:spcBef>
                <a:spcPts val="303"/>
              </a:spcBef>
              <a:buFont typeface="Symbol" panose="05050102010706020507" pitchFamily="18" charset="2"/>
              <a:buChar char=""/>
            </a:pPr>
            <a:r>
              <a:rPr lang="en-US" dirty="0">
                <a:solidFill>
                  <a:srgbClr val="000000"/>
                </a:solidFill>
                <a:cs typeface="Times New Roman"/>
              </a:rPr>
              <a:t>blocking, switching, or response grouping</a:t>
            </a:r>
          </a:p>
          <a:p>
            <a:pPr marL="346706" indent="-346706">
              <a:lnSpc>
                <a:spcPct val="115000"/>
              </a:lnSpc>
              <a:spcBef>
                <a:spcPts val="303"/>
              </a:spcBef>
              <a:buFont typeface="Symbol" panose="05050102010706020507" pitchFamily="18" charset="2"/>
              <a:buChar char=""/>
            </a:pPr>
            <a:r>
              <a:rPr lang="en-US" dirty="0">
                <a:solidFill>
                  <a:srgbClr val="000000"/>
                </a:solidFill>
              </a:rPr>
              <a:t>One substantial group are </a:t>
            </a:r>
            <a:r>
              <a:rPr lang="en-US" b="1" dirty="0">
                <a:solidFill>
                  <a:srgbClr val="000000"/>
                </a:solidFill>
              </a:rPr>
              <a:t>Blockers</a:t>
            </a:r>
            <a:r>
              <a:rPr lang="en-US" b="0" dirty="0">
                <a:solidFill>
                  <a:srgbClr val="000000"/>
                </a:solidFill>
              </a:rPr>
              <a:t>, who</a:t>
            </a:r>
            <a:r>
              <a:rPr lang="en-US" b="1" dirty="0">
                <a:solidFill>
                  <a:srgbClr val="000000"/>
                </a:solidFill>
              </a:rPr>
              <a:t> </a:t>
            </a:r>
            <a:r>
              <a:rPr lang="en-US" dirty="0">
                <a:solidFill>
                  <a:srgbClr val="000000"/>
                </a:solidFill>
              </a:rPr>
              <a:t>complete long runs of one task before switching -&gt; typically, they produce more than 10 trials and are accordingly classified as Blockers when their switch rate is below 10%. </a:t>
            </a:r>
            <a:endParaRPr lang="en-US" dirty="0">
              <a:solidFill>
                <a:srgbClr val="000000"/>
              </a:solidFill>
              <a:cs typeface="Times New Roman"/>
            </a:endParaRPr>
          </a:p>
          <a:p>
            <a:pPr marL="346706" indent="-346706">
              <a:lnSpc>
                <a:spcPct val="115000"/>
              </a:lnSpc>
              <a:spcBef>
                <a:spcPts val="303"/>
              </a:spcBef>
              <a:buFont typeface="Symbol" panose="05050102010706020507" pitchFamily="18" charset="2"/>
              <a:buChar char=""/>
            </a:pPr>
            <a:r>
              <a:rPr lang="en-US" dirty="0">
                <a:solidFill>
                  <a:srgbClr val="000000"/>
                </a:solidFill>
              </a:rPr>
              <a:t>Switchers interleave tasks more frequently, but their switch pattern is rather irregular. They choose to work on the other task approximately every three to seven trials.</a:t>
            </a:r>
          </a:p>
          <a:p>
            <a:pPr marL="346706" indent="-346706">
              <a:lnSpc>
                <a:spcPct val="115000"/>
              </a:lnSpc>
              <a:spcBef>
                <a:spcPts val="303"/>
              </a:spcBef>
              <a:buFont typeface="Symbol" panose="05050102010706020507" pitchFamily="18" charset="2"/>
              <a:buChar char=""/>
            </a:pPr>
            <a:r>
              <a:rPr lang="en-US" dirty="0">
                <a:solidFill>
                  <a:srgbClr val="000000"/>
                </a:solidFill>
              </a:rPr>
              <a:t>Response groupers switch very frequently </a:t>
            </a:r>
            <a:r>
              <a:rPr lang="en-US" dirty="0">
                <a:solidFill>
                  <a:srgbClr val="000000"/>
                </a:solidFill>
                <a:sym typeface="Wingdings" panose="05000000000000000000" pitchFamily="2" charset="2"/>
              </a:rPr>
              <a:t>and </a:t>
            </a:r>
            <a:r>
              <a:rPr lang="en-US" dirty="0">
                <a:solidFill>
                  <a:srgbClr val="000000"/>
                </a:solidFill>
              </a:rPr>
              <a:t>prepare both task responses before releasing them in quick succession. That is, usually a seemingly long response is followed by an extremely fast one</a:t>
            </a:r>
            <a:endParaRPr lang="en-US" dirty="0">
              <a:solidFill>
                <a:srgbClr val="000000"/>
              </a:solidFill>
              <a:cs typeface="Times New Roman"/>
            </a:endParaRPr>
          </a:p>
          <a:p>
            <a:pPr marL="346706" marR="0" lvl="0" indent="-346706" algn="l" defTabSz="924550" rtl="0" eaLnBrk="1" fontAlgn="auto" latinLnBrk="0" hangingPunct="1">
              <a:lnSpc>
                <a:spcPct val="114999"/>
              </a:lnSpc>
              <a:spcBef>
                <a:spcPts val="303"/>
              </a:spcBef>
              <a:spcAft>
                <a:spcPts val="0"/>
              </a:spcAft>
              <a:buClrTx/>
              <a:buSzTx/>
              <a:buFont typeface="Symbol" panose="05050102010706020507" pitchFamily="18" charset="2"/>
              <a:buChar char=""/>
              <a:tabLst/>
              <a:defRPr/>
            </a:pPr>
            <a:r>
              <a:rPr lang="en-US" dirty="0">
                <a:solidFill>
                  <a:srgbClr val="000000"/>
                </a:solidFill>
              </a:rPr>
              <a:t>For the planned experiments, we assess both the strategy categories and the underlying continuous response measures.</a:t>
            </a:r>
          </a:p>
          <a:p>
            <a:pPr marL="346706" indent="-346706" defTabSz="924550">
              <a:lnSpc>
                <a:spcPct val="114999"/>
              </a:lnSpc>
              <a:spcBef>
                <a:spcPts val="303"/>
              </a:spcBef>
              <a:buFont typeface="Symbol" panose="05050102010706020507" pitchFamily="18" charset="2"/>
              <a:buChar char=""/>
            </a:pPr>
            <a:endParaRPr lang="en-US" kern="1200" dirty="0">
              <a:solidFill>
                <a:srgbClr val="000000"/>
              </a:solidFill>
              <a:effectLst/>
              <a:cs typeface="Times New Roman"/>
            </a:endParaRPr>
          </a:p>
          <a:p>
            <a:pPr marL="346706" indent="-346706" defTabSz="924550">
              <a:lnSpc>
                <a:spcPct val="114999"/>
              </a:lnSpc>
              <a:spcBef>
                <a:spcPts val="303"/>
              </a:spcBef>
              <a:buFont typeface="Symbol" panose="05050102010706020507" pitchFamily="18" charset="2"/>
              <a:buChar char=""/>
            </a:pPr>
            <a:r>
              <a:rPr lang="en-US" kern="1200" dirty="0">
                <a:solidFill>
                  <a:srgbClr val="000000"/>
                </a:solidFill>
                <a:effectLst/>
                <a:cs typeface="Times New Roman"/>
              </a:rPr>
              <a:t>We observed the response strategies across different task combinations and across sessions, suggesting that they reflect stable biases that occur independent of the exact task features</a:t>
            </a:r>
          </a:p>
          <a:p>
            <a:pPr marL="346706" indent="-346706" defTabSz="924550">
              <a:lnSpc>
                <a:spcPct val="114999"/>
              </a:lnSpc>
              <a:spcBef>
                <a:spcPts val="303"/>
              </a:spcBef>
              <a:buFont typeface="Symbol" panose="05050102010706020507" pitchFamily="18" charset="2"/>
              <a:buChar char=""/>
            </a:pPr>
            <a:r>
              <a:rPr lang="en-US" dirty="0"/>
              <a:t>Yet, their consequences for performance can change: a strategy that works well for one task combination may be less efficient for another</a:t>
            </a:r>
          </a:p>
          <a:p>
            <a:pPr marL="346706" indent="-346706" defTabSz="924550">
              <a:lnSpc>
                <a:spcPct val="114999"/>
              </a:lnSpc>
              <a:spcBef>
                <a:spcPts val="303"/>
              </a:spcBef>
              <a:buFont typeface="Symbol" panose="05050102010706020507" pitchFamily="18" charset="2"/>
              <a:buChar char=""/>
            </a:pPr>
            <a:endParaRPr lang="en-US" kern="1200" dirty="0">
              <a:solidFill>
                <a:srgbClr val="000000"/>
              </a:solidFill>
              <a:effectLst/>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raises the question of what drives these preferences in the first place =&gt; How can we explain the strategies’ formation?</a:t>
            </a:r>
            <a:endParaRPr lang="en-US" dirty="0">
              <a:solidFill>
                <a:srgbClr val="000000"/>
              </a:solidFill>
            </a:endParaRPr>
          </a:p>
          <a:p>
            <a:endParaRPr lang="de-DE" dirty="0"/>
          </a:p>
          <a:p>
            <a:endParaRPr dirty="0"/>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consider three sets of potential determinants. The first concerns learning and error sensitivity. People who learn the tasks efficiently may free up capacity for preparing and coordinating task switches, and sensitivity to their own errors could support this learning process.</a:t>
            </a:r>
          </a:p>
          <a:p>
            <a:endParaRPr lang="de-DE" dirty="0"/>
          </a:p>
          <a:p>
            <a:r>
              <a:rPr dirty="0"/>
              <a:t>Second, people may differ in how strongly rewards motivate them to change their </a:t>
            </a:r>
            <a:r>
              <a:rPr lang="de-DE" dirty="0" err="1"/>
              <a:t>bias</a:t>
            </a:r>
            <a:r>
              <a:rPr lang="de-DE" dirty="0"/>
              <a:t> in </a:t>
            </a:r>
            <a:r>
              <a:rPr dirty="0"/>
              <a:t>task choices. Our working hypothesis is that switching and response grouping may reflect a stronger motivation to maximize performance, whereas blocking may place more weight on minimizing coordination effort. </a:t>
            </a:r>
            <a:endParaRPr lang="de-DE" dirty="0"/>
          </a:p>
          <a:p>
            <a:endParaRPr lang="de-DE" dirty="0"/>
          </a:p>
          <a:p>
            <a:r>
              <a:rPr lang="en-US" dirty="0"/>
              <a:t>Beyond these mechanisms, we also ask whether more stable characteristics, such as psychological traits, multitasking preferences, and cognitive abilities, help explain these strategy differences.</a:t>
            </a:r>
            <a:endParaRPr lang="de-DE" dirty="0"/>
          </a:p>
          <a:p>
            <a:endParaRPr lang="de-DE" dirty="0"/>
          </a:p>
          <a:p>
            <a:r>
              <a:rPr lang="en-US" dirty="0"/>
              <a:t>To address these questions, we combine behavioral experiments with EEG markers of error and reward sensitivity, questionnaires, and measures of cognitive ability. This allows us to examine how individual characteristics interact with task conditions to shape strategy use. Let me now briefly walk you through the planned experiments.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first pair of experiments examines learning ability and error sensitivity, with ninety participants planned for each experiment. </a:t>
            </a:r>
            <a:endParaRPr lang="de-DE" dirty="0"/>
          </a:p>
          <a:p>
            <a:pPr marL="171450" indent="-171450">
              <a:buFont typeface="Arial" panose="020B0604020202020204" pitchFamily="34" charset="0"/>
              <a:buChar char="•"/>
            </a:pPr>
            <a:r>
              <a:rPr lang="en-US" dirty="0"/>
              <a:t>In Experiment 1a, participants complete the standard FCDT procedure with two additional runs. This gives us more time to observe task acquisition and the development of efficient coordination.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Experiment 1b adds easier and more difficult stimulus discriminations to examine how task difficulty interacts with individual learning ability and strategy preference.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We will explore changes in reaction times and error rates across practice, together with changes in task choices in their response patterns. </a:t>
            </a:r>
          </a:p>
          <a:p>
            <a:pPr marL="171450" indent="-171450">
              <a:buFont typeface="Arial" panose="020B0604020202020204" pitchFamily="34" charset="0"/>
              <a:buChar char="•"/>
            </a:pPr>
            <a:r>
              <a:rPr lang="en-US" dirty="0"/>
              <a:t>We record EEG during the FCDT and then use a separate flanker task to obtain an independent measure of error sensitivity, the error-related negativity</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The idea is that learning from errors may help participants acquire the tasks more efficiently, making frequent switching easier to coordinate =&gt; We therefore predict greater learning gains and a larger ERN magnitude in switchers and response groupers than in blockers. </a:t>
            </a:r>
          </a:p>
          <a:p>
            <a:endParaRPr lang="de-DE" dirty="0"/>
          </a:p>
          <a:p>
            <a:r>
              <a:rPr lang="de-DE" dirty="0"/>
              <a:t>[</a:t>
            </a:r>
            <a:r>
              <a:rPr lang="de-DE" dirty="0" err="1"/>
              <a:t>prediction</a:t>
            </a:r>
            <a:r>
              <a:rPr lang="de-DE" dirty="0"/>
              <a:t> </a:t>
            </a:r>
            <a:r>
              <a:rPr lang="de-DE" dirty="0" err="1"/>
              <a:t>refers</a:t>
            </a:r>
            <a:r>
              <a:rPr lang="de-DE" dirty="0"/>
              <a:t> </a:t>
            </a:r>
            <a:r>
              <a:rPr lang="de-DE" dirty="0" err="1"/>
              <a:t>to</a:t>
            </a:r>
            <a:r>
              <a:rPr lang="de-DE" dirty="0"/>
              <a:t> 1a: </a:t>
            </a:r>
            <a:r>
              <a:rPr lang="en-US" dirty="0"/>
              <a:t>greater reductions in reaction times and errors; regarding 1b: will depend on 1a, but if efficient task acquisition supports frequent switching, increasing task difficulty should reduce switching particularly in switchers and response groupers, thereby narrowing the differences between strategy groups</a:t>
            </a:r>
            <a:r>
              <a:rPr lang="de-DE" dirty="0"/>
              <a:t>]</a:t>
            </a:r>
          </a:p>
          <a:p>
            <a:r>
              <a:rPr lang="de-DE" dirty="0"/>
              <a:t>[</a:t>
            </a:r>
            <a:r>
              <a:rPr dirty="0"/>
              <a:t>Across both experiments, we can also examine midfrontal theta as a correlate of effort and beta lateralization before a response as a correlate of upcoming task selection.</a:t>
            </a:r>
            <a:r>
              <a:rPr lang="de-DE" dirty="0"/>
              <a:t>]</a:t>
            </a:r>
            <a:endParaRPr dirty="0"/>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examined learning and error sensitivity, we next ask how incentives influence task choices. Both experiments will comprise ninety participants and the preferred strategy will be first assessed at baseline. </a:t>
            </a:r>
          </a:p>
          <a:p>
            <a:pPr marL="171450" indent="-171450">
              <a:buFont typeface="Arial" panose="020B0604020202020204" pitchFamily="34" charset="0"/>
              <a:buChar char="•"/>
            </a:pPr>
            <a:r>
              <a:rPr lang="en-US" dirty="0"/>
              <a:t>Experiment 2a then varies the global reward prospect for correct responses, regardless of which task they choose. </a:t>
            </a:r>
          </a:p>
          <a:p>
            <a:pPr marL="628650" lvl="1" indent="-171450">
              <a:buFont typeface="Arial" panose="020B0604020202020204" pitchFamily="34" charset="0"/>
              <a:buChar char="•"/>
            </a:pPr>
            <a:r>
              <a:rPr lang="en-US" dirty="0"/>
              <a:t>Every five to fifteen responses, a cue indicates a high or low reward prospect.</a:t>
            </a:r>
          </a:p>
          <a:p>
            <a:pPr marL="628650" lvl="1" indent="-171450">
              <a:buFont typeface="Arial" panose="020B0604020202020204" pitchFamily="34" charset="0"/>
              <a:buChar char="•"/>
            </a:pPr>
            <a:r>
              <a:rPr lang="de-DE" dirty="0"/>
              <a:t>This </a:t>
            </a:r>
            <a:r>
              <a:rPr dirty="0" err="1"/>
              <a:t>creat</a:t>
            </a:r>
            <a:r>
              <a:rPr lang="de-DE" dirty="0"/>
              <a:t>es</a:t>
            </a:r>
            <a:r>
              <a:rPr dirty="0"/>
              <a:t> four </a:t>
            </a:r>
            <a:r>
              <a:rPr lang="de-DE" dirty="0" err="1"/>
              <a:t>reward</a:t>
            </a:r>
            <a:r>
              <a:rPr lang="de-DE" dirty="0"/>
              <a:t> </a:t>
            </a:r>
            <a:r>
              <a:rPr lang="de-DE" dirty="0" err="1"/>
              <a:t>conditions</a:t>
            </a:r>
            <a:r>
              <a:rPr dirty="0"/>
              <a:t>: remain low, increase, remain high, and decrease. </a:t>
            </a:r>
            <a:endParaRPr lang="de-DE" dirty="0"/>
          </a:p>
          <a:p>
            <a:pPr marL="171450" indent="-171450">
              <a:buFont typeface="Arial" panose="020B0604020202020204" pitchFamily="34" charset="0"/>
              <a:buChar char="•"/>
            </a:pPr>
            <a:r>
              <a:rPr lang="en-US" dirty="0"/>
              <a:t>We expect stronger incentive effects on task choices in switchers and response groupers than in blockers. Specifically, increasing rewards should promote switching, whereas sustained high rewards should favor repetition.</a:t>
            </a:r>
          </a:p>
          <a:p>
            <a:pPr marL="171450" indent="-171450">
              <a:buFont typeface="Arial" panose="020B0604020202020204" pitchFamily="34" charset="0"/>
              <a:buChar char="•"/>
            </a:pPr>
            <a:endParaRPr lang="de-DE" dirty="0"/>
          </a:p>
          <a:p>
            <a:pPr marL="171450" indent="-171450">
              <a:buFont typeface="Arial" panose="020B0604020202020204" pitchFamily="34" charset="0"/>
              <a:buChar char="•"/>
            </a:pPr>
            <a:r>
              <a:rPr dirty="0"/>
              <a:t>Experiment 2b provides a more direct incentive. A colored frame signals that switching to the alternative task can earn a bonus. </a:t>
            </a:r>
            <a:endParaRPr lang="de-DE" dirty="0"/>
          </a:p>
          <a:p>
            <a:pPr marL="171450" indent="-171450">
              <a:buFont typeface="Arial" panose="020B0604020202020204" pitchFamily="34" charset="0"/>
              <a:buChar char="•"/>
            </a:pPr>
            <a:r>
              <a:rPr lang="de-DE" dirty="0"/>
              <a:t>Here, w</a:t>
            </a:r>
            <a:r>
              <a:rPr dirty="0"/>
              <a:t>e compare bonus and no-bonus conditions to test whether explicit rewards can overcome a preferred response strategy. </a:t>
            </a:r>
            <a:endParaRPr lang="de-DE" dirty="0"/>
          </a:p>
          <a:p>
            <a:pPr marL="171450" indent="-171450">
              <a:buFont typeface="Arial" panose="020B0604020202020204" pitchFamily="34" charset="0"/>
              <a:buChar char="•"/>
            </a:pPr>
            <a:r>
              <a:rPr lang="de-DE" dirty="0"/>
              <a:t>W</a:t>
            </a:r>
            <a:r>
              <a:rPr dirty="0"/>
              <a:t>e expect even blockers to increase switching, although less strongly than </a:t>
            </a:r>
            <a:r>
              <a:rPr lang="en-US" dirty="0"/>
              <a:t>switchers and response groupers</a:t>
            </a:r>
            <a:r>
              <a:rPr dirty="0"/>
              <a:t>. </a:t>
            </a:r>
            <a:endParaRPr lang="de-DE"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In addition to EEG during the FCDT, a probabilistic learning task provides an independent measure of reward sensitivity, including feedback-related ERP measures. The main outcome is how switch rates change as a function of incentive condition and baseline strategy. We will also assess multitasking efficiency.</a:t>
            </a:r>
          </a:p>
          <a:p>
            <a:endParaRPr lang="de-DE" dirty="0"/>
          </a:p>
          <a:p>
            <a:r>
              <a:rPr lang="de-DE" dirty="0"/>
              <a:t>[</a:t>
            </a:r>
            <a:r>
              <a:rPr dirty="0"/>
              <a:t>Visual color changes or frames also appear at baseline without the additional reward instructions, which helps separate incentive effects from visual changes. </a:t>
            </a:r>
            <a:endParaRPr lang="de-DE" dirty="0"/>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Alongside these experiments, we ask whether more stable individual characteristics help explain strategy preferences.</a:t>
            </a:r>
          </a:p>
          <a:p>
            <a:endParaRPr lang="en-US" dirty="0"/>
          </a:p>
          <a:p>
            <a:pPr marL="171450" indent="-171450">
              <a:buFont typeface="Arial" panose="020B0604020202020204" pitchFamily="34" charset="0"/>
              <a:buChar char="•"/>
            </a:pPr>
            <a:r>
              <a:rPr lang="en-US" dirty="0"/>
              <a:t>Participants in each of the four experiments therefore complete the same test battery in a second session. Including our contribution to the joint study with Freiburg, this gives us a planned total of 410 participants.</a:t>
            </a:r>
          </a:p>
          <a:p>
            <a:endParaRPr lang="de-DE" dirty="0"/>
          </a:p>
          <a:p>
            <a:pPr marL="171450" indent="-171450">
              <a:buFont typeface="Arial" panose="020B0604020202020204" pitchFamily="34" charset="0"/>
              <a:buChar char="•"/>
            </a:pPr>
            <a:r>
              <a:rPr dirty="0"/>
              <a:t>The battery covers motivation and multitasking preferences, including Need for Cognition, Trait Persistence, </a:t>
            </a:r>
            <a:r>
              <a:rPr dirty="0" err="1"/>
              <a:t>Polychronicity</a:t>
            </a:r>
            <a:r>
              <a:rPr dirty="0"/>
              <a:t>, and the BIS/BAS scales. </a:t>
            </a:r>
            <a:endParaRPr lang="de-DE" dirty="0"/>
          </a:p>
          <a:p>
            <a:pPr marL="171450" indent="-171450">
              <a:buFont typeface="Arial" panose="020B0604020202020204" pitchFamily="34" charset="0"/>
              <a:buChar char="•"/>
            </a:pPr>
            <a:r>
              <a:rPr lang="en-US" dirty="0"/>
              <a:t>We also assess the Big Five, and use Operation Span and Symmetry Span to measure working memory capacity.</a:t>
            </a:r>
          </a:p>
          <a:p>
            <a:pPr marL="171450" indent="-171450">
              <a:buFont typeface="Arial" panose="020B0604020202020204" pitchFamily="34" charset="0"/>
              <a:buChar char="•"/>
            </a:pPr>
            <a:endParaRPr lang="de-DE" dirty="0"/>
          </a:p>
          <a:p>
            <a:pPr marL="171450" indent="-171450">
              <a:buFont typeface="Arial" panose="020B0604020202020204" pitchFamily="34" charset="0"/>
              <a:buChar char="•"/>
            </a:pPr>
            <a:r>
              <a:rPr dirty="0"/>
              <a:t>This allows us to examine whether the proposed motivational and cognitive differences relate to strategy categories and to continuous switch rates. </a:t>
            </a:r>
            <a:endParaRPr lang="de-DE" dirty="0"/>
          </a:p>
          <a:p>
            <a:pPr marL="171450" indent="-171450">
              <a:buFont typeface="Arial" panose="020B0604020202020204" pitchFamily="34" charset="0"/>
              <a:buChar char="•"/>
            </a:pPr>
            <a:r>
              <a:rPr dirty="0"/>
              <a:t>For example, </a:t>
            </a:r>
            <a:r>
              <a:rPr lang="en-US" noProof="0" dirty="0"/>
              <a:t>our</a:t>
            </a:r>
            <a:r>
              <a:rPr dirty="0"/>
              <a:t> proposal predicts higher Need for Cognition and reward sensitivity among people who favor interleaving. </a:t>
            </a:r>
            <a:endParaRPr lang="de-DE" dirty="0"/>
          </a:p>
          <a:p>
            <a:pPr marL="171450" indent="-171450">
              <a:buFont typeface="Arial" panose="020B0604020202020204" pitchFamily="34" charset="0"/>
              <a:buChar char="•"/>
            </a:pPr>
            <a:endParaRPr lang="de-DE" dirty="0"/>
          </a:p>
          <a:p>
            <a:pPr marL="171450" indent="-171450">
              <a:buFont typeface="Arial" panose="020B0604020202020204" pitchFamily="34" charset="0"/>
              <a:buChar char="•"/>
            </a:pPr>
            <a:r>
              <a:rPr dirty="0"/>
              <a:t>These analyses complement the experimental manipulations by addressing more persistent individual differences.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Finally, the joint experiment with Project 2 in Freiburg asks whether these preferences generalize across paradigms. </a:t>
            </a:r>
            <a:endParaRPr lang="de-DE" dirty="0"/>
          </a:p>
          <a:p>
            <a:endParaRPr lang="de-DE" dirty="0"/>
          </a:p>
          <a:p>
            <a:pPr marL="171450" indent="-171450">
              <a:buFont typeface="Arial" panose="020B0604020202020204" pitchFamily="34" charset="0"/>
              <a:buChar char="•"/>
            </a:pPr>
            <a:r>
              <a:rPr dirty="0"/>
              <a:t>One hundred participants will complete both FCDT and the self-organized task-switching paradigm in a counterbalanced order, using the same simple classification tasks. </a:t>
            </a:r>
            <a:endParaRPr lang="de-DE" dirty="0"/>
          </a:p>
          <a:p>
            <a:pPr marL="171450" indent="-171450">
              <a:buFont typeface="Arial" panose="020B0604020202020204" pitchFamily="34" charset="0"/>
              <a:buChar char="•"/>
            </a:pPr>
            <a:r>
              <a:rPr dirty="0"/>
              <a:t>The latter paradigm introduces waiting times and distinguishes local from global strategies. </a:t>
            </a:r>
            <a:endParaRPr lang="de-DE" dirty="0"/>
          </a:p>
          <a:p>
            <a:pPr marL="171450" indent="-171450">
              <a:buFont typeface="Arial" panose="020B0604020202020204" pitchFamily="34" charset="0"/>
              <a:buChar char="•"/>
            </a:pPr>
            <a:endParaRPr lang="de-DE" dirty="0"/>
          </a:p>
          <a:p>
            <a:pPr marL="171450" indent="-171450">
              <a:buFont typeface="Arial" panose="020B0604020202020204" pitchFamily="34" charset="0"/>
              <a:buChar char="•"/>
            </a:pPr>
            <a:r>
              <a:rPr dirty="0"/>
              <a:t>We will test whether switch frequencies correlate </a:t>
            </a:r>
            <a:r>
              <a:rPr lang="de-DE" dirty="0"/>
              <a:t>and </a:t>
            </a:r>
            <a:r>
              <a:rPr lang="en-US" noProof="0" dirty="0"/>
              <a:t>the strategies correspond </a:t>
            </a:r>
            <a:r>
              <a:rPr dirty="0"/>
              <a:t>across the two paradigms. </a:t>
            </a:r>
            <a:r>
              <a:rPr lang="en-US" dirty="0"/>
              <a:t>This will show how far the individual differences extend beyond one task setting.</a:t>
            </a:r>
            <a:endParaRPr lang="de-DE" dirty="0"/>
          </a:p>
          <a:p>
            <a:endParaRPr lang="de-DE" dirty="0"/>
          </a:p>
          <a:p>
            <a:r>
              <a:rPr lang="en-US" dirty="0"/>
              <a:t>Together, these studies examine how strategy preferences develop, when they change, and how far they generalize across task settings. Dirk will now introduce the modeling approach that complements this empirical </a:t>
            </a:r>
            <a:r>
              <a:rPr lang="en-US" dirty="0" err="1"/>
              <a:t>programme</a:t>
            </a:r>
            <a:r>
              <a:rPr lang="en-US" dirty="0"/>
              <a:t>.</a:t>
            </a:r>
            <a:endParaRPr lang="de-DE" dirty="0"/>
          </a:p>
          <a:p>
            <a:endParaRPr lang="de-DE" dirty="0"/>
          </a:p>
          <a:p>
            <a:endParaRPr lang="de-DE" dirty="0"/>
          </a:p>
          <a:p>
            <a:r>
              <a:rPr lang="de-DE" dirty="0"/>
              <a:t>[</a:t>
            </a:r>
            <a:r>
              <a:rPr dirty="0"/>
              <a:t>The hypothesis is that FCDT interleaving corresponds more closely to a global strategy, whereas blocking corresponds more closely to a local strategy.</a:t>
            </a:r>
            <a:r>
              <a:rPr lang="de-DE" dirty="0"/>
              <a:t>]</a:t>
            </a:r>
            <a:endParaRPr dirty="0"/>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1B1A4A1F-8532-488D-8645-6753A9A98617}" type="slidenum">
              <a:rPr lang="de-DE" smtClean="0"/>
              <a:pPr/>
              <a:t>10</a:t>
            </a:fld>
            <a:endParaRPr lang="de-DE"/>
          </a:p>
        </p:txBody>
      </p:sp>
    </p:spTree>
    <p:extLst>
      <p:ext uri="{BB962C8B-B14F-4D97-AF65-F5344CB8AC3E}">
        <p14:creationId xmlns:p14="http://schemas.microsoft.com/office/powerpoint/2010/main" val="1660337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BIC uses the log-likelihood-scale Schwarz definition in the project report. Participant-level ΔBIC values range from 475.19 to 1374.70.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a:xfrm>
            <a:off x="391889" y="4760398"/>
            <a:ext cx="6052457" cy="4509849"/>
          </a:xfrm>
        </p:spPr>
        <p:txBody>
          <a:bodyPr/>
          <a:lstStyle/>
          <a:p>
            <a:pPr algn="just"/>
            <a:r>
              <a:rPr lang="en-US" sz="900" kern="1200" dirty="0">
                <a:solidFill>
                  <a:schemeClr val="tx1"/>
                </a:solidFill>
                <a:effectLst/>
                <a:latin typeface="+mn-lt"/>
                <a:ea typeface="+mn-ea"/>
                <a:cs typeface="+mn-cs"/>
              </a:rPr>
              <a:t>In WP2.1 </a:t>
            </a:r>
          </a:p>
          <a:p>
            <a:pPr marL="171450" indent="-171450" algn="just">
              <a:buFont typeface="Arial" panose="020B0604020202020204" pitchFamily="34" charset="0"/>
              <a:buChar char="•"/>
            </a:pPr>
            <a:r>
              <a:rPr lang="en-US" sz="900" dirty="0"/>
              <a:t>W</a:t>
            </a:r>
            <a:r>
              <a:rPr lang="en-US" sz="900" kern="1200" dirty="0">
                <a:solidFill>
                  <a:schemeClr val="tx1"/>
                </a:solidFill>
                <a:effectLst/>
                <a:latin typeface="+mn-lt"/>
                <a:ea typeface="+mn-ea"/>
                <a:cs typeface="+mn-cs"/>
              </a:rPr>
              <a:t>e want to further develop this theoretical approach with a particular focus on the online scenario</a:t>
            </a:r>
            <a:r>
              <a:rPr lang="en-US" sz="900" dirty="0"/>
              <a:t>.</a:t>
            </a:r>
          </a:p>
          <a:p>
            <a:pPr marL="173353" indent="-173353" algn="just">
              <a:buFont typeface="Arial" panose="020B0604020202020204" pitchFamily="34" charset="0"/>
              <a:buChar char="•"/>
            </a:pPr>
            <a:r>
              <a:rPr lang="en-US" sz="900" kern="1200" dirty="0">
                <a:solidFill>
                  <a:schemeClr val="tx1"/>
                </a:solidFill>
                <a:effectLst/>
                <a:latin typeface="+mn-lt"/>
                <a:ea typeface="+mn-ea"/>
                <a:cs typeface="+mn-cs"/>
              </a:rPr>
              <a:t>We here also include the experimentally </a:t>
            </a:r>
            <a:r>
              <a:rPr lang="en-US" sz="900" dirty="0"/>
              <a:t>addressed </a:t>
            </a:r>
            <a:r>
              <a:rPr lang="en-US" sz="900" kern="1200" dirty="0">
                <a:solidFill>
                  <a:schemeClr val="tx1"/>
                </a:solidFill>
                <a:effectLst/>
                <a:latin typeface="+mn-lt"/>
                <a:ea typeface="+mn-ea"/>
                <a:cs typeface="+mn-cs"/>
              </a:rPr>
              <a:t>error- and reward sensitivities, as we also exemplified in the proposal  </a:t>
            </a:r>
          </a:p>
          <a:p>
            <a:pPr marL="173353" indent="-173353" algn="just">
              <a:buFont typeface="Arial" panose="020B0604020202020204" pitchFamily="34" charset="0"/>
              <a:buChar char="•"/>
            </a:pPr>
            <a:r>
              <a:rPr lang="en-US" sz="900" kern="1200" dirty="0">
                <a:solidFill>
                  <a:schemeClr val="tx1"/>
                </a:solidFill>
                <a:effectLst/>
                <a:latin typeface="+mn-lt"/>
                <a:ea typeface="+mn-ea"/>
                <a:cs typeface="+mn-cs"/>
              </a:rPr>
              <a:t>We will generalize the framework to continuous time, account for hierarchical decision processes in collaboration with Cologne and address the potential benefits of concurrent stimulus processing in collaboration with Freiburg. </a:t>
            </a:r>
          </a:p>
          <a:p>
            <a:pPr algn="just"/>
            <a:endParaRPr lang="de-DE" sz="900" kern="1200" dirty="0">
              <a:solidFill>
                <a:schemeClr val="tx1"/>
              </a:solidFill>
              <a:effectLst/>
              <a:latin typeface="+mn-lt"/>
              <a:ea typeface="+mn-ea"/>
              <a:cs typeface="+mn-cs"/>
            </a:endParaRPr>
          </a:p>
          <a:p>
            <a:pPr algn="just"/>
            <a:r>
              <a:rPr lang="en-US" sz="900" kern="1200" dirty="0">
                <a:solidFill>
                  <a:schemeClr val="tx1"/>
                </a:solidFill>
                <a:effectLst/>
                <a:latin typeface="+mn-lt"/>
                <a:ea typeface="+mn-ea"/>
                <a:cs typeface="+mn-cs"/>
              </a:rPr>
              <a:t>In WP2.2  </a:t>
            </a:r>
          </a:p>
          <a:p>
            <a:pPr marL="171450" indent="-171450" algn="just">
              <a:buFont typeface="Arial" panose="020B0604020202020204" pitchFamily="34" charset="0"/>
              <a:buChar char="•"/>
            </a:pPr>
            <a:r>
              <a:rPr lang="en-US" sz="900" kern="1200" dirty="0">
                <a:solidFill>
                  <a:schemeClr val="tx1"/>
                </a:solidFill>
                <a:effectLst/>
                <a:latin typeface="+mn-lt"/>
                <a:ea typeface="+mn-ea"/>
                <a:cs typeface="+mn-cs"/>
              </a:rPr>
              <a:t>We will embed the deterministic models developed in WP2.1 in an agent-based behavioral modeling framework that we have used extensively in recent years</a:t>
            </a:r>
            <a:r>
              <a:rPr lang="en-US" sz="900" dirty="0"/>
              <a:t>.</a:t>
            </a:r>
          </a:p>
          <a:p>
            <a:pPr marL="0" indent="0" algn="just">
              <a:buFont typeface="Arial" panose="020B0604020202020204" pitchFamily="34" charset="0"/>
              <a:buNone/>
            </a:pPr>
            <a:endParaRPr lang="de-DE" sz="900" kern="1200" dirty="0">
              <a:solidFill>
                <a:schemeClr val="tx1"/>
              </a:solidFill>
              <a:effectLst/>
              <a:latin typeface="+mn-lt"/>
              <a:ea typeface="+mn-ea"/>
              <a:cs typeface="+mn-cs"/>
            </a:endParaRPr>
          </a:p>
          <a:p>
            <a:pPr algn="just"/>
            <a:r>
              <a:rPr lang="en-US" sz="900" kern="1200" dirty="0">
                <a:solidFill>
                  <a:schemeClr val="tx1"/>
                </a:solidFill>
                <a:effectLst/>
                <a:latin typeface="+mn-lt"/>
                <a:ea typeface="+mn-ea"/>
                <a:cs typeface="+mn-cs"/>
              </a:rPr>
              <a:t>Finally, in WP2.3 </a:t>
            </a:r>
          </a:p>
          <a:p>
            <a:pPr marL="171450" indent="-171450" algn="just">
              <a:buFont typeface="Arial" panose="020B0604020202020204" pitchFamily="34" charset="0"/>
              <a:buChar char="•"/>
            </a:pPr>
            <a:r>
              <a:rPr lang="en-US" sz="900" dirty="0"/>
              <a:t>W</a:t>
            </a:r>
            <a:r>
              <a:rPr lang="en-US" sz="900" kern="1200" dirty="0">
                <a:solidFill>
                  <a:schemeClr val="tx1"/>
                </a:solidFill>
                <a:effectLst/>
                <a:latin typeface="+mn-lt"/>
                <a:ea typeface="+mn-ea"/>
                <a:cs typeface="+mn-cs"/>
              </a:rPr>
              <a:t>e will integrate the individual EEG error- and reward-sensitivity measurements in the estimation of the parameterized agent-based models.  </a:t>
            </a:r>
          </a:p>
          <a:p>
            <a:pPr marL="171450" indent="-171450" algn="just">
              <a:buFont typeface="Arial" panose="020B0604020202020204" pitchFamily="34" charset="0"/>
              <a:buChar char="•"/>
            </a:pPr>
            <a:r>
              <a:rPr lang="en-US" sz="900" kern="1200" dirty="0">
                <a:solidFill>
                  <a:schemeClr val="tx1"/>
                </a:solidFill>
                <a:effectLst/>
                <a:latin typeface="+mn-lt"/>
                <a:ea typeface="+mn-ea"/>
                <a:cs typeface="+mn-cs"/>
              </a:rPr>
              <a:t>For this, we will augment the agents with neural mass models, where the error and reward sensitivities affect the connectivity between neural masses to generate differential ERPs</a:t>
            </a:r>
          </a:p>
          <a:p>
            <a:pPr marL="173353" indent="-173353" algn="just">
              <a:buFont typeface="Arial" panose="020B0604020202020204" pitchFamily="34" charset="0"/>
              <a:buChar char="•"/>
            </a:pPr>
            <a:r>
              <a:rPr lang="en-US" sz="900" dirty="0"/>
              <a:t>T</a:t>
            </a:r>
            <a:r>
              <a:rPr lang="en-US" sz="900" kern="1200" dirty="0">
                <a:solidFill>
                  <a:schemeClr val="tx1"/>
                </a:solidFill>
                <a:effectLst/>
                <a:latin typeface="+mn-lt"/>
                <a:ea typeface="+mn-ea"/>
                <a:cs typeface="+mn-cs"/>
              </a:rPr>
              <a:t>hese  ERP </a:t>
            </a:r>
            <a:r>
              <a:rPr lang="en-US" sz="900" dirty="0"/>
              <a:t>predictions </a:t>
            </a:r>
            <a:r>
              <a:rPr lang="en-US" sz="900" kern="1200" dirty="0">
                <a:solidFill>
                  <a:schemeClr val="tx1"/>
                </a:solidFill>
                <a:effectLst/>
                <a:latin typeface="+mn-lt"/>
                <a:ea typeface="+mn-ea"/>
                <a:cs typeface="+mn-cs"/>
              </a:rPr>
              <a:t>can then, together with the behavioral data, be used to infer agent parameters - in a Bayesian sensor fusion sense. </a:t>
            </a:r>
            <a:endParaRPr lang="de-DE" sz="900" kern="1200" dirty="0">
              <a:solidFill>
                <a:schemeClr val="tx1"/>
              </a:solidFill>
              <a:effectLst/>
              <a:latin typeface="+mn-lt"/>
              <a:ea typeface="+mn-ea"/>
              <a:cs typeface="+mn-cs"/>
            </a:endParaRPr>
          </a:p>
          <a:p>
            <a:pPr marL="173353" indent="-173353" algn="just">
              <a:buFont typeface="Arial" panose="020B0604020202020204" pitchFamily="34" charset="0"/>
              <a:buChar char="•"/>
            </a:pPr>
            <a:endParaRPr lang="de-DE" sz="900" kern="1200" dirty="0">
              <a:solidFill>
                <a:schemeClr val="tx1"/>
              </a:solidFill>
              <a:effectLst/>
              <a:latin typeface="+mn-lt"/>
              <a:ea typeface="+mn-ea"/>
              <a:cs typeface="+mn-cs"/>
            </a:endParaRPr>
          </a:p>
          <a:p>
            <a:endParaRPr lang="de-DE" dirty="0"/>
          </a:p>
        </p:txBody>
      </p:sp>
      <p:sp>
        <p:nvSpPr>
          <p:cNvPr id="4" name="Foliennummernplatzhalter 3"/>
          <p:cNvSpPr>
            <a:spLocks noGrp="1"/>
          </p:cNvSpPr>
          <p:nvPr>
            <p:ph type="sldNum" sz="quarter" idx="5"/>
          </p:nvPr>
        </p:nvSpPr>
        <p:spPr/>
        <p:txBody>
          <a:bodyPr/>
          <a:lstStyle/>
          <a:p>
            <a:fld id="{1B1A4A1F-8532-488D-8645-6753A9A98617}" type="slidenum">
              <a:rPr lang="de-DE" smtClean="0"/>
              <a:pPr/>
              <a:t>20</a:t>
            </a:fld>
            <a:endParaRPr lang="de-DE"/>
          </a:p>
        </p:txBody>
      </p:sp>
    </p:spTree>
    <p:extLst>
      <p:ext uri="{BB962C8B-B14F-4D97-AF65-F5344CB8AC3E}">
        <p14:creationId xmlns:p14="http://schemas.microsoft.com/office/powerpoint/2010/main" val="1644922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800" kern="1200" dirty="0">
                <a:solidFill>
                  <a:schemeClr val="tx1"/>
                </a:solidFill>
                <a:effectLst/>
                <a:ea typeface="+mn-ea"/>
                <a:cs typeface="+mn-cs"/>
              </a:rPr>
              <a:t>In summary, in our project</a:t>
            </a:r>
          </a:p>
          <a:p>
            <a:pPr marL="171450" indent="-171450">
              <a:buFont typeface="Arial" panose="020B0604020202020204" pitchFamily="34" charset="0"/>
              <a:buChar char="•"/>
            </a:pPr>
            <a:r>
              <a:rPr lang="en-US" sz="800" kern="1200" dirty="0">
                <a:solidFill>
                  <a:schemeClr val="tx1"/>
                </a:solidFill>
                <a:effectLst/>
                <a:ea typeface="+mn-ea"/>
                <a:cs typeface="+mn-cs"/>
              </a:rPr>
              <a:t>We want to understand the computational mechanisms of FCDT response strategies and</a:t>
            </a:r>
          </a:p>
          <a:p>
            <a:pPr marL="171450" indent="-171450">
              <a:buFont typeface="Arial" panose="020B0604020202020204" pitchFamily="34" charset="0"/>
              <a:buChar char="•"/>
            </a:pPr>
            <a:r>
              <a:rPr lang="en-US" sz="800" dirty="0"/>
              <a:t>We want to </a:t>
            </a:r>
            <a:r>
              <a:rPr lang="en-US" sz="800" kern="1200" dirty="0">
                <a:solidFill>
                  <a:schemeClr val="tx1"/>
                </a:solidFill>
                <a:effectLst/>
                <a:ea typeface="+mn-ea"/>
                <a:cs typeface="+mn-cs"/>
              </a:rPr>
              <a:t>study the individual determinants of FCDT response strategy formation both experimentally and theoretically</a:t>
            </a:r>
            <a:endParaRPr lang="de-DE" sz="800" kern="1200" dirty="0">
              <a:solidFill>
                <a:schemeClr val="tx1"/>
              </a:solidFill>
              <a:effectLst/>
              <a:ea typeface="+mn-ea"/>
              <a:cs typeface="+mn-cs"/>
            </a:endParaRPr>
          </a:p>
          <a:p>
            <a:pPr marL="173353" indent="-173353">
              <a:buFont typeface="Arial" panose="020B0604020202020204" pitchFamily="34" charset="0"/>
              <a:buChar char="•"/>
            </a:pPr>
            <a:endParaRPr lang="en-US" sz="800" kern="1200" dirty="0">
              <a:solidFill>
                <a:schemeClr val="tx1"/>
              </a:solidFill>
              <a:effectLst/>
              <a:ea typeface="+mn-ea"/>
              <a:cs typeface="+mn-cs"/>
            </a:endParaRPr>
          </a:p>
          <a:p>
            <a:r>
              <a:rPr lang="en-US" sz="800" kern="1200" dirty="0">
                <a:solidFill>
                  <a:schemeClr val="tx1"/>
                </a:solidFill>
                <a:effectLst/>
                <a:ea typeface="+mn-ea"/>
                <a:cs typeface="+mn-cs"/>
              </a:rPr>
              <a:t>Our working hypotheses are </a:t>
            </a:r>
          </a:p>
          <a:p>
            <a:pPr marL="171450" indent="-171450">
              <a:buFont typeface="Arial" panose="020B0604020202020204" pitchFamily="34" charset="0"/>
              <a:buChar char="•"/>
            </a:pPr>
            <a:r>
              <a:rPr lang="en-US" sz="800" kern="1200" dirty="0">
                <a:solidFill>
                  <a:schemeClr val="tx1"/>
                </a:solidFill>
                <a:effectLst/>
                <a:ea typeface="+mn-ea"/>
                <a:cs typeface="+mn-cs"/>
              </a:rPr>
              <a:t>That task switching behavior emerges as optimal behavior under subjective cost functions and</a:t>
            </a:r>
          </a:p>
          <a:p>
            <a:pPr marL="171450" indent="-171450">
              <a:buFont typeface="Arial" panose="020B0604020202020204" pitchFamily="34" charset="0"/>
              <a:buChar char="•"/>
            </a:pPr>
            <a:r>
              <a:rPr lang="en-US" sz="800" kern="1200" dirty="0">
                <a:solidFill>
                  <a:schemeClr val="tx1"/>
                </a:solidFill>
                <a:effectLst/>
                <a:ea typeface="+mn-ea"/>
                <a:cs typeface="+mn-cs"/>
              </a:rPr>
              <a:t>That individual error and reward sensitivity act as determinants of task-switching strategy formation</a:t>
            </a:r>
          </a:p>
          <a:p>
            <a:pPr marL="171450" indent="-171450">
              <a:buFont typeface="Arial" panose="020B0604020202020204" pitchFamily="34" charset="0"/>
              <a:buChar char="•"/>
            </a:pPr>
            <a:endParaRPr lang="en-US" sz="800" kern="1200" dirty="0">
              <a:solidFill>
                <a:schemeClr val="tx1"/>
              </a:solidFill>
              <a:effectLst/>
              <a:ea typeface="+mn-ea"/>
              <a:cs typeface="+mn-cs"/>
            </a:endParaRPr>
          </a:p>
          <a:p>
            <a:pPr marL="0" indent="0">
              <a:buFont typeface="Arial" panose="020B0604020202020204" pitchFamily="34" charset="0"/>
              <a:buNone/>
            </a:pPr>
            <a:r>
              <a:rPr lang="en-US" sz="800" kern="1200" dirty="0">
                <a:solidFill>
                  <a:schemeClr val="tx1"/>
                </a:solidFill>
                <a:effectLst/>
                <a:ea typeface="+mn-ea"/>
                <a:cs typeface="+mn-cs"/>
              </a:rPr>
              <a:t>Our main contributions to the research unit are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00" dirty="0">
                <a:cs typeface="Arial" panose="020B0604020202020204" pitchFamily="34" charset="0"/>
              </a:rPr>
              <a:t>On the experimental </a:t>
            </a:r>
            <a:r>
              <a:rPr lang="de-DE" sz="800" dirty="0" err="1">
                <a:cs typeface="Arial" panose="020B0604020202020204" pitchFamily="34" charset="0"/>
              </a:rPr>
              <a:t>side</a:t>
            </a:r>
            <a:r>
              <a:rPr lang="de-DE" sz="800" dirty="0">
                <a:cs typeface="Arial" panose="020B0604020202020204" pitchFamily="34" charset="0"/>
              </a:rPr>
              <a:t>, the FCDT </a:t>
            </a:r>
            <a:r>
              <a:rPr lang="de-DE" sz="800" dirty="0" err="1">
                <a:cs typeface="Arial" panose="020B0604020202020204" pitchFamily="34" charset="0"/>
              </a:rPr>
              <a:t>paradigm</a:t>
            </a:r>
            <a:r>
              <a:rPr lang="de-DE" sz="800" dirty="0">
                <a:cs typeface="Arial" panose="020B0604020202020204" pitchFamily="34" charset="0"/>
              </a:rPr>
              <a:t> </a:t>
            </a:r>
            <a:r>
              <a:rPr lang="de-DE" sz="800" dirty="0" err="1">
                <a:cs typeface="Arial" panose="020B0604020202020204" pitchFamily="34" charset="0"/>
              </a:rPr>
              <a:t>as</a:t>
            </a:r>
            <a:r>
              <a:rPr lang="de-DE" sz="800" dirty="0">
                <a:cs typeface="Arial" panose="020B0604020202020204" pitchFamily="34" charset="0"/>
              </a:rPr>
              <a:t> an experimental </a:t>
            </a:r>
            <a:r>
              <a:rPr lang="de-DE" sz="800" dirty="0" err="1">
                <a:cs typeface="Arial" panose="020B0604020202020204" pitchFamily="34" charset="0"/>
              </a:rPr>
              <a:t>testbed</a:t>
            </a:r>
            <a:r>
              <a:rPr lang="de-DE" sz="800" dirty="0">
                <a:cs typeface="Arial" panose="020B0604020202020204" pitchFamily="34" charset="0"/>
              </a:rPr>
              <a:t> </a:t>
            </a:r>
            <a:r>
              <a:rPr lang="de-DE" sz="800" dirty="0" err="1">
                <a:cs typeface="Arial" panose="020B0604020202020204" pitchFamily="34" charset="0"/>
              </a:rPr>
              <a:t>for</a:t>
            </a:r>
            <a:r>
              <a:rPr lang="de-DE" sz="800" dirty="0">
                <a:cs typeface="Arial" panose="020B0604020202020204" pitchFamily="34" charset="0"/>
              </a:rPr>
              <a:t> </a:t>
            </a:r>
            <a:r>
              <a:rPr lang="de-DE" sz="800" dirty="0" err="1">
                <a:cs typeface="Arial" panose="020B0604020202020204" pitchFamily="34" charset="0"/>
              </a:rPr>
              <a:t>studying</a:t>
            </a:r>
            <a:r>
              <a:rPr lang="de-DE" sz="800" dirty="0">
                <a:cs typeface="Arial" panose="020B0604020202020204" pitchFamily="34" charset="0"/>
              </a:rPr>
              <a:t> </a:t>
            </a:r>
            <a:r>
              <a:rPr lang="de-DE" sz="800" dirty="0" err="1">
                <a:cs typeface="Arial" panose="020B0604020202020204" pitchFamily="34" charset="0"/>
              </a:rPr>
              <a:t>task</a:t>
            </a:r>
            <a:r>
              <a:rPr lang="de-DE" sz="800" dirty="0">
                <a:cs typeface="Arial" panose="020B0604020202020204" pitchFamily="34" charset="0"/>
              </a:rPr>
              <a:t> </a:t>
            </a:r>
            <a:r>
              <a:rPr lang="de-DE" sz="800" dirty="0" err="1">
                <a:cs typeface="Arial" panose="020B0604020202020204" pitchFamily="34" charset="0"/>
              </a:rPr>
              <a:t>switching</a:t>
            </a:r>
            <a:r>
              <a:rPr lang="de-DE" sz="800" dirty="0">
                <a:cs typeface="Arial" panose="020B0604020202020204" pitchFamily="34" charset="0"/>
              </a:rPr>
              <a:t> </a:t>
            </a:r>
            <a:r>
              <a:rPr lang="de-DE" sz="800" dirty="0" err="1">
                <a:cs typeface="Arial" panose="020B0604020202020204" pitchFamily="34" charset="0"/>
              </a:rPr>
              <a:t>behavior</a:t>
            </a:r>
            <a:endParaRPr lang="de-DE" sz="800" dirty="0">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00" dirty="0">
                <a:cs typeface="Arial" panose="020B0604020202020204" pitchFamily="34" charset="0"/>
              </a:rPr>
              <a:t>On the </a:t>
            </a:r>
            <a:r>
              <a:rPr lang="de-DE" sz="800" dirty="0" err="1">
                <a:cs typeface="Arial" panose="020B0604020202020204" pitchFamily="34" charset="0"/>
              </a:rPr>
              <a:t>theoretical</a:t>
            </a:r>
            <a:r>
              <a:rPr lang="de-DE" sz="800" dirty="0">
                <a:cs typeface="Arial" panose="020B0604020202020204" pitchFamily="34" charset="0"/>
              </a:rPr>
              <a:t> </a:t>
            </a:r>
            <a:r>
              <a:rPr lang="de-DE" sz="800" dirty="0" err="1">
                <a:cs typeface="Arial" panose="020B0604020202020204" pitchFamily="34" charset="0"/>
              </a:rPr>
              <a:t>side</a:t>
            </a:r>
            <a:r>
              <a:rPr lang="de-DE" sz="800" dirty="0">
                <a:cs typeface="Arial" panose="020B0604020202020204" pitchFamily="34" charset="0"/>
              </a:rPr>
              <a:t>, a rational </a:t>
            </a:r>
            <a:r>
              <a:rPr lang="de-DE" sz="800" dirty="0" err="1">
                <a:cs typeface="Arial" panose="020B0604020202020204" pitchFamily="34" charset="0"/>
              </a:rPr>
              <a:t>analysis</a:t>
            </a:r>
            <a:r>
              <a:rPr lang="de-DE" sz="800" dirty="0">
                <a:cs typeface="Arial" panose="020B0604020202020204" pitchFamily="34" charset="0"/>
              </a:rPr>
              <a:t> </a:t>
            </a:r>
            <a:r>
              <a:rPr lang="de-DE" sz="800" dirty="0" err="1">
                <a:cs typeface="Arial" panose="020B0604020202020204" pitchFamily="34" charset="0"/>
              </a:rPr>
              <a:t>perspective</a:t>
            </a:r>
            <a:r>
              <a:rPr lang="de-DE" sz="800" dirty="0">
                <a:cs typeface="Arial" panose="020B0604020202020204" pitchFamily="34" charset="0"/>
              </a:rPr>
              <a:t> and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00" dirty="0" err="1">
                <a:cs typeface="Arial" panose="020B0604020202020204" pitchFamily="34" charset="0"/>
              </a:rPr>
              <a:t>For</a:t>
            </a:r>
            <a:r>
              <a:rPr lang="de-DE" sz="800" dirty="0">
                <a:cs typeface="Arial" panose="020B0604020202020204" pitchFamily="34" charset="0"/>
              </a:rPr>
              <a:t> </a:t>
            </a:r>
            <a:r>
              <a:rPr lang="de-DE" sz="800" dirty="0" err="1">
                <a:cs typeface="Arial" panose="020B0604020202020204" pitchFamily="34" charset="0"/>
              </a:rPr>
              <a:t>integrating</a:t>
            </a:r>
            <a:r>
              <a:rPr lang="de-DE" sz="800" dirty="0">
                <a:cs typeface="Arial" panose="020B0604020202020204" pitchFamily="34" charset="0"/>
              </a:rPr>
              <a:t> </a:t>
            </a:r>
            <a:r>
              <a:rPr lang="de-DE" sz="800" dirty="0" err="1">
                <a:cs typeface="Arial" panose="020B0604020202020204" pitchFamily="34" charset="0"/>
              </a:rPr>
              <a:t>theory</a:t>
            </a:r>
            <a:r>
              <a:rPr lang="de-DE" sz="800" dirty="0">
                <a:cs typeface="Arial" panose="020B0604020202020204" pitchFamily="34" charset="0"/>
              </a:rPr>
              <a:t> and </a:t>
            </a:r>
            <a:r>
              <a:rPr lang="de-DE" sz="800" dirty="0" err="1">
                <a:cs typeface="Arial" panose="020B0604020202020204" pitchFamily="34" charset="0"/>
              </a:rPr>
              <a:t>experiment</a:t>
            </a:r>
            <a:r>
              <a:rPr lang="de-DE" sz="800" dirty="0">
                <a:cs typeface="Arial" panose="020B0604020202020204" pitchFamily="34" charset="0"/>
              </a:rPr>
              <a:t>, an </a:t>
            </a:r>
            <a:r>
              <a:rPr lang="de-DE" sz="800" dirty="0" err="1">
                <a:cs typeface="Arial" panose="020B0604020202020204" pitchFamily="34" charset="0"/>
              </a:rPr>
              <a:t>agent-based</a:t>
            </a:r>
            <a:r>
              <a:rPr lang="de-DE" sz="800" dirty="0">
                <a:cs typeface="Arial" panose="020B0604020202020204" pitchFamily="34" charset="0"/>
              </a:rPr>
              <a:t> </a:t>
            </a:r>
            <a:r>
              <a:rPr lang="de-DE" sz="800" dirty="0" err="1">
                <a:cs typeface="Arial" panose="020B0604020202020204" pitchFamily="34" charset="0"/>
              </a:rPr>
              <a:t>neurobehavioral</a:t>
            </a:r>
            <a:r>
              <a:rPr lang="de-DE" sz="800" dirty="0">
                <a:cs typeface="Arial" panose="020B0604020202020204" pitchFamily="34" charset="0"/>
              </a:rPr>
              <a:t> </a:t>
            </a:r>
            <a:r>
              <a:rPr lang="de-DE" sz="800" dirty="0" err="1">
                <a:cs typeface="Arial" panose="020B0604020202020204" pitchFamily="34" charset="0"/>
              </a:rPr>
              <a:t>modeling</a:t>
            </a:r>
            <a:r>
              <a:rPr lang="de-DE" sz="800" dirty="0">
                <a:cs typeface="Arial" panose="020B0604020202020204" pitchFamily="34" charset="0"/>
              </a:rPr>
              <a:t> </a:t>
            </a:r>
            <a:r>
              <a:rPr lang="de-DE" sz="800" dirty="0" err="1">
                <a:cs typeface="Arial" panose="020B0604020202020204" pitchFamily="34" charset="0"/>
              </a:rPr>
              <a:t>framework</a:t>
            </a:r>
            <a:r>
              <a:rPr lang="de-DE" sz="800" dirty="0">
                <a:cs typeface="Arial" panose="020B0604020202020204" pitchFamily="34" charset="0"/>
              </a:rPr>
              <a:t>.</a:t>
            </a:r>
          </a:p>
          <a:p>
            <a:pPr marL="0" indent="0">
              <a:buFont typeface="Arial" panose="020B0604020202020204" pitchFamily="34" charset="0"/>
              <a:buNone/>
            </a:pPr>
            <a:endParaRPr lang="de-DE" dirty="0"/>
          </a:p>
        </p:txBody>
      </p:sp>
      <p:sp>
        <p:nvSpPr>
          <p:cNvPr id="4" name="Foliennummernplatzhalter 3"/>
          <p:cNvSpPr>
            <a:spLocks noGrp="1"/>
          </p:cNvSpPr>
          <p:nvPr>
            <p:ph type="sldNum" sz="quarter" idx="5"/>
          </p:nvPr>
        </p:nvSpPr>
        <p:spPr/>
        <p:txBody>
          <a:bodyPr/>
          <a:lstStyle/>
          <a:p>
            <a:fld id="{1B1A4A1F-8532-488D-8645-6753A9A98617}" type="slidenum">
              <a:rPr lang="de-DE" smtClean="0"/>
              <a:pPr/>
              <a:t>21</a:t>
            </a:fld>
            <a:endParaRPr lang="de-DE"/>
          </a:p>
        </p:txBody>
      </p:sp>
    </p:spTree>
    <p:extLst>
      <p:ext uri="{BB962C8B-B14F-4D97-AF65-F5344CB8AC3E}">
        <p14:creationId xmlns:p14="http://schemas.microsoft.com/office/powerpoint/2010/main" val="27809025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55737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defTabSz="924550">
              <a:defRPr/>
            </a:pPr>
            <a:r>
              <a:rPr lang="en-US" sz="1800" u="sng" dirty="0">
                <a:latin typeface="Arial" panose="020B0604020202020204" pitchFamily="34" charset="0"/>
                <a:ea typeface="Times New Roman" panose="02020603050405020304" pitchFamily="18" charset="0"/>
                <a:cs typeface="Times New Roman" panose="02020603050405020304" pitchFamily="18" charset="0"/>
              </a:rPr>
              <a:t>Hypotheses:</a:t>
            </a:r>
            <a:r>
              <a:rPr lang="en-US" sz="1800" dirty="0">
                <a:latin typeface="Arial" panose="020B0604020202020204" pitchFamily="34" charset="0"/>
                <a:ea typeface="Times New Roman" panose="02020603050405020304" pitchFamily="18" charset="0"/>
                <a:cs typeface="Times New Roman" panose="02020603050405020304" pitchFamily="18" charset="0"/>
              </a:rPr>
              <a:t> We expect that switchers and response groupers, compared to blockers, will show a greater reduction in RTs and ERs, along with a higher amplitude in the ERN, indicating stronger learning ability and error sensitivity, which supports such more demanding strategies characterized by higher switch frequencies. Differences between switchers and response groupers will be explored in this and the following experiments. </a:t>
            </a:r>
          </a:p>
          <a:p>
            <a:pPr defTabSz="924550">
              <a:defRPr/>
            </a:pPr>
            <a:endParaRPr lang="en-US" sz="1800" dirty="0"/>
          </a:p>
          <a:p>
            <a:r>
              <a:rPr lang="en-US" sz="1800" dirty="0">
                <a:latin typeface="Arial" panose="020B0604020202020204" pitchFamily="34" charset="0"/>
                <a:ea typeface="Times New Roman" panose="02020603050405020304" pitchFamily="18" charset="0"/>
                <a:cs typeface="Times New Roman" panose="02020603050405020304" pitchFamily="18" charset="0"/>
              </a:rPr>
              <a:t>Q: How does an individual’s ability to reliably and efficiently acquire the FCDT stimulus-response mappings (i.e., learning ability and error sensitivity) determine the selection of response strategies + focus on error processing and sensitivity, examining EEG markers such as ERN and Pe (error-related positivity) </a:t>
            </a:r>
          </a:p>
          <a:p>
            <a:r>
              <a:rPr lang="en-US" sz="1800" u="sng" dirty="0">
                <a:latin typeface="Arial" panose="020B0604020202020204" pitchFamily="34" charset="0"/>
                <a:ea typeface="Times New Roman" panose="02020603050405020304" pitchFamily="18" charset="0"/>
                <a:cs typeface="Times New Roman" panose="02020603050405020304" pitchFamily="18" charset="0"/>
              </a:rPr>
              <a:t>Sample:</a:t>
            </a:r>
            <a:r>
              <a:rPr lang="en-US" sz="1800" dirty="0">
                <a:latin typeface="Arial" panose="020B0604020202020204" pitchFamily="34" charset="0"/>
                <a:ea typeface="Times New Roman" panose="02020603050405020304" pitchFamily="18" charset="0"/>
                <a:cs typeface="Times New Roman" panose="02020603050405020304" pitchFamily="18" charset="0"/>
              </a:rPr>
              <a:t> N=90 participants. </a:t>
            </a:r>
          </a:p>
          <a:p>
            <a:r>
              <a:rPr lang="en-US" sz="1800" u="sng" dirty="0">
                <a:latin typeface="Arial" panose="020B0604020202020204" pitchFamily="34" charset="0"/>
                <a:ea typeface="Times New Roman" panose="02020603050405020304" pitchFamily="18" charset="0"/>
                <a:cs typeface="Times New Roman" panose="02020603050405020304" pitchFamily="18" charset="0"/>
              </a:rPr>
              <a:t>Design and procedure:</a:t>
            </a:r>
            <a:r>
              <a:rPr lang="en-US" sz="1800" dirty="0">
                <a:latin typeface="Arial" panose="020B0604020202020204" pitchFamily="34" charset="0"/>
                <a:ea typeface="Times New Roman" panose="02020603050405020304" pitchFamily="18" charset="0"/>
                <a:cs typeface="Times New Roman" panose="02020603050405020304" pitchFamily="18" charset="0"/>
              </a:rPr>
              <a:t> extended FCDT paradigm (two additional runs to allow more time for task acquisition and training of efficient task coordination) + Flanker Task =&gt; participants' EEG will be recorded using 64 scalp electrodes at a 500 Hz sampling rate. </a:t>
            </a:r>
          </a:p>
          <a:p>
            <a:r>
              <a:rPr lang="en-US" sz="1800" u="sng" dirty="0">
                <a:latin typeface="Arial" panose="020B0604020202020204" pitchFamily="34" charset="0"/>
                <a:ea typeface="Times New Roman" panose="02020603050405020304" pitchFamily="18" charset="0"/>
                <a:cs typeface="Times New Roman" panose="02020603050405020304" pitchFamily="18" charset="0"/>
              </a:rPr>
              <a:t>Planned analyses:</a:t>
            </a:r>
            <a:r>
              <a:rPr lang="en-US" sz="1800" dirty="0">
                <a:latin typeface="Arial" panose="020B0604020202020204" pitchFamily="34" charset="0"/>
                <a:ea typeface="Times New Roman" panose="02020603050405020304" pitchFamily="18" charset="0"/>
                <a:cs typeface="Times New Roman" panose="02020603050405020304" pitchFamily="18" charset="0"/>
              </a:rPr>
              <a:t> We will compare response patterns in the FCDT paradigm between the three response strategy groups, focusing on reductions in reaction times (RTs) and error rates (ERs) to assess task-related learning abilities. </a:t>
            </a:r>
          </a:p>
          <a:p>
            <a:r>
              <a:rPr lang="en-US" sz="1800" dirty="0">
                <a:latin typeface="Arial" panose="020B0604020202020204" pitchFamily="34" charset="0"/>
                <a:ea typeface="Times New Roman" panose="02020603050405020304" pitchFamily="18" charset="0"/>
                <a:cs typeface="Times New Roman" panose="02020603050405020304" pitchFamily="18" charset="0"/>
              </a:rPr>
              <a:t>For EEG analysis: we will compare the amplitude of the ERN and Pe between groups using EEGLAB for second-level statistics (e.g., Fischer et al., 2016). Additionally, EEG data from the FCDT will be analyzed for correlates of cognitive effort, such as midfrontal theta activity (e.g., Zhu et al., 2021).</a:t>
            </a:r>
            <a:r>
              <a:rPr lang="en-US" sz="1800" b="1" dirty="0">
                <a:latin typeface="Arial" panose="020B0604020202020204" pitchFamily="34" charset="0"/>
                <a:ea typeface="Times New Roman" panose="02020603050405020304" pitchFamily="18" charset="0"/>
                <a:cs typeface="Times New Roman" panose="02020603050405020304" pitchFamily="18" charset="0"/>
              </a:rPr>
              <a:t> </a:t>
            </a:r>
            <a:r>
              <a:rPr lang="en-US" sz="1800" dirty="0">
                <a:latin typeface="Arial" panose="020B0604020202020204" pitchFamily="34" charset="0"/>
                <a:ea typeface="Times New Roman" panose="02020603050405020304" pitchFamily="18" charset="0"/>
                <a:cs typeface="Times New Roman" panose="02020603050405020304" pitchFamily="18" charset="0"/>
              </a:rPr>
              <a:t>As the tasks are mapped onto the left and right hands, pre-response beta power lateralization can serve as a correlate of a decision variable representing task selection (e.g., Rogge et al., 2022).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035402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u="sng" dirty="0"/>
              <a:t>Hypotheses:</a:t>
            </a:r>
            <a:r>
              <a:rPr lang="en-US" dirty="0"/>
              <a:t> Will depend on Experiment 1a but we assume an interaction effect between task difficulty and response strategies on task choice. [probably, if </a:t>
            </a:r>
            <a:r>
              <a:rPr lang="en-US" dirty="0" err="1"/>
              <a:t>interleaver</a:t>
            </a:r>
            <a:r>
              <a:rPr lang="en-US" dirty="0"/>
              <a:t> possess a higher learning ability]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Q: A follow-up experiment will address task difficulty, investigating how varying levels of difficulty in stimulus-response mappings influence error sensitivity, response strategies, and subsequent task choices. Specifically, we will examine whether increased task difficulty amplifies EEG markers of error processing (ERN, Pe) and how individual differences in learning ability moderate these effects. </a:t>
            </a:r>
          </a:p>
          <a:p>
            <a:r>
              <a:rPr lang="en-US" u="sng" dirty="0"/>
              <a:t>Sample: </a:t>
            </a:r>
            <a:r>
              <a:rPr lang="en-US" dirty="0"/>
              <a:t>N=90 participants. </a:t>
            </a:r>
          </a:p>
          <a:p>
            <a:r>
              <a:rPr lang="en-US" u="sng" dirty="0"/>
              <a:t>Design, procedure and planned analyses: </a:t>
            </a:r>
            <a:r>
              <a:rPr lang="en-US" dirty="0"/>
              <a:t>Following the structure of Experiment 1a, with the key difference that task difficulty will be systematically manipulated using classification tasks of letters (i.e., minimal rotation (easy) vs. strong rotation (hard) of letters) and colors (i.e., clear majority (easy) vs. balanced (hard) number of red/blue dots in a color patch).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192380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800" u="sng" dirty="0">
                <a:latin typeface="Arial" panose="020B0604020202020204" pitchFamily="34" charset="0"/>
                <a:ea typeface="Times New Roman" panose="02020603050405020304" pitchFamily="18" charset="0"/>
                <a:cs typeface="Times New Roman" panose="02020603050405020304" pitchFamily="18" charset="0"/>
              </a:rPr>
              <a:t>Hypotheses:</a:t>
            </a:r>
            <a:r>
              <a:rPr lang="en-US" sz="1800" dirty="0">
                <a:latin typeface="Arial" panose="020B0604020202020204" pitchFamily="34" charset="0"/>
                <a:ea typeface="Times New Roman" panose="02020603050405020304" pitchFamily="18" charset="0"/>
                <a:cs typeface="Times New Roman" panose="02020603050405020304" pitchFamily="18" charset="0"/>
              </a:rPr>
              <a:t> We predict that switchers and response groupers will show higher reward sensitivity and, aiming to maximize performance, an increased switch rate when reward prospect increases, potentially accompanied by more parallel processing (reflected in higher fast switch rates). As previous research has shown that unchanged high rewards tend to encourage task repetitions rather than voluntary switches (e.g., </a:t>
            </a:r>
            <a:r>
              <a:rPr lang="en-US" sz="1800" dirty="0" err="1">
                <a:latin typeface="Arial" panose="020B0604020202020204" pitchFamily="34" charset="0"/>
                <a:ea typeface="Times New Roman" panose="02020603050405020304" pitchFamily="18" charset="0"/>
                <a:cs typeface="Times New Roman" panose="02020603050405020304" pitchFamily="18" charset="0"/>
              </a:rPr>
              <a:t>Fröber</a:t>
            </a:r>
            <a:r>
              <a:rPr lang="en-US" sz="1800" dirty="0">
                <a:latin typeface="Arial" panose="020B0604020202020204" pitchFamily="34" charset="0"/>
                <a:ea typeface="Times New Roman" panose="02020603050405020304" pitchFamily="18" charset="0"/>
                <a:cs typeface="Times New Roman" panose="02020603050405020304" pitchFamily="18" charset="0"/>
              </a:rPr>
              <a:t> &amp; </a:t>
            </a:r>
            <a:r>
              <a:rPr lang="en-US" sz="1800" dirty="0" err="1">
                <a:latin typeface="Arial" panose="020B0604020202020204" pitchFamily="34" charset="0"/>
                <a:ea typeface="Times New Roman" panose="02020603050405020304" pitchFamily="18" charset="0"/>
                <a:cs typeface="Times New Roman" panose="02020603050405020304" pitchFamily="18" charset="0"/>
              </a:rPr>
              <a:t>Dreisbach</a:t>
            </a:r>
            <a:r>
              <a:rPr lang="en-US" sz="1800" dirty="0">
                <a:latin typeface="Arial" panose="020B0604020202020204" pitchFamily="34" charset="0"/>
                <a:ea typeface="Times New Roman" panose="02020603050405020304" pitchFamily="18" charset="0"/>
                <a:cs typeface="Times New Roman" panose="02020603050405020304" pitchFamily="18" charset="0"/>
              </a:rPr>
              <a:t>, 2016), an unchanged high reward may in turn promote less flexible response organization and more serial processing, leading to a reduced switch rate. Since blockers' task-choice behavior is generally quite stable and seems to be driven by effort minimization, we expect it to be minimally affected, if at all, by variations in reward prospect. </a:t>
            </a:r>
          </a:p>
          <a:p>
            <a:endParaRPr lang="en-US" sz="1800" dirty="0">
              <a:latin typeface="Arial" panose="020B0604020202020204" pitchFamily="34" charset="0"/>
              <a:ea typeface="Times New Roman" panose="02020603050405020304" pitchFamily="18" charset="0"/>
              <a:cs typeface="Times New Roman" panose="02020603050405020304" pitchFamily="18" charset="0"/>
            </a:endParaRPr>
          </a:p>
          <a:p>
            <a:r>
              <a:rPr lang="en-US" sz="1800" dirty="0">
                <a:latin typeface="Arial" panose="020B0604020202020204" pitchFamily="34" charset="0"/>
                <a:ea typeface="Times New Roman" panose="02020603050405020304" pitchFamily="18" charset="0"/>
                <a:cs typeface="Times New Roman" panose="02020603050405020304" pitchFamily="18" charset="0"/>
              </a:rPr>
              <a:t>Q: This experiment investigates how stable vs. varying task-independent rewards influence chosen response strategies and the role of individual reward sensitivity. </a:t>
            </a:r>
          </a:p>
          <a:p>
            <a:r>
              <a:rPr lang="en-US" sz="1800" u="sng" dirty="0">
                <a:latin typeface="Arial" panose="020B0604020202020204" pitchFamily="34" charset="0"/>
                <a:ea typeface="Times New Roman" panose="02020603050405020304" pitchFamily="18" charset="0"/>
                <a:cs typeface="Times New Roman" panose="02020603050405020304" pitchFamily="18" charset="0"/>
              </a:rPr>
              <a:t>Sample:</a:t>
            </a:r>
            <a:r>
              <a:rPr lang="en-US" sz="1800" dirty="0">
                <a:latin typeface="Arial" panose="020B0604020202020204" pitchFamily="34" charset="0"/>
                <a:ea typeface="Times New Roman" panose="02020603050405020304" pitchFamily="18" charset="0"/>
                <a:cs typeface="Times New Roman" panose="02020603050405020304" pitchFamily="18" charset="0"/>
              </a:rPr>
              <a:t> N=90 participants. </a:t>
            </a:r>
          </a:p>
          <a:p>
            <a:r>
              <a:rPr lang="en-US" sz="1800" u="sng" dirty="0">
                <a:latin typeface="Arial" panose="020B0604020202020204" pitchFamily="34" charset="0"/>
                <a:ea typeface="Times New Roman" panose="02020603050405020304" pitchFamily="18" charset="0"/>
                <a:cs typeface="Times New Roman" panose="02020603050405020304" pitchFamily="18" charset="0"/>
              </a:rPr>
              <a:t>Procedure:</a:t>
            </a:r>
            <a:r>
              <a:rPr lang="en-US" sz="1800" dirty="0">
                <a:latin typeface="Arial" panose="020B0604020202020204" pitchFamily="34" charset="0"/>
                <a:ea typeface="Times New Roman" panose="02020603050405020304" pitchFamily="18" charset="0"/>
                <a:cs typeface="Times New Roman" panose="02020603050405020304" pitchFamily="18" charset="0"/>
              </a:rPr>
              <a:t> Participants first complete the classic FCDT categorization procedure with a global reward for correct responses. =&gt; Next, task-independent rewards will be introduced, where participants receive a high or low reward prospect that changes response locked every 5-15 trials, indicated by changing background colors (categorization phase will also include background color changes without instructions about reward magnitude, serving as a baseline). </a:t>
            </a:r>
          </a:p>
          <a:p>
            <a:r>
              <a:rPr lang="en-US" sz="1800" u="sng" dirty="0">
                <a:latin typeface="Arial" panose="020B0604020202020204" pitchFamily="34" charset="0"/>
                <a:ea typeface="Times New Roman" panose="02020603050405020304" pitchFamily="18" charset="0"/>
                <a:cs typeface="Times New Roman" panose="02020603050405020304" pitchFamily="18" charset="0"/>
              </a:rPr>
              <a:t>Design</a:t>
            </a:r>
            <a:r>
              <a:rPr lang="en-US" sz="1800" dirty="0">
                <a:latin typeface="Arial" panose="020B0604020202020204" pitchFamily="34" charset="0"/>
                <a:ea typeface="Times New Roman" panose="02020603050405020304" pitchFamily="18" charset="0"/>
                <a:cs typeface="Times New Roman" panose="02020603050405020304" pitchFamily="18" charset="0"/>
              </a:rPr>
              <a:t>: remain low, increase, remain high, decrease. EEG will be recorded during the reward variant of the FCDT, a flanker task (to capture error sensitivity) and a simple probabilistic learning task (to measure reward sensitivity, e.g., Kirschner et al., 2022). </a:t>
            </a:r>
          </a:p>
          <a:p>
            <a:r>
              <a:rPr lang="en-US" sz="1800" u="sng" dirty="0">
                <a:latin typeface="Arial" panose="020B0604020202020204" pitchFamily="34" charset="0"/>
                <a:ea typeface="Times New Roman" panose="02020603050405020304" pitchFamily="18" charset="0"/>
                <a:cs typeface="Times New Roman" panose="02020603050405020304" pitchFamily="18" charset="0"/>
              </a:rPr>
              <a:t>Planned analyses:</a:t>
            </a:r>
            <a:r>
              <a:rPr lang="en-US" sz="1800" dirty="0">
                <a:latin typeface="Arial" panose="020B0604020202020204" pitchFamily="34" charset="0"/>
                <a:ea typeface="Times New Roman" panose="02020603050405020304" pitchFamily="18" charset="0"/>
                <a:cs typeface="Times New Roman" panose="02020603050405020304" pitchFamily="18" charset="0"/>
              </a:rPr>
              <a:t> 4(remain low vs. increase vs. remain high vs. decrease) x 3(blocker vs. switcher vs. response grouper) ANOVA on the switch rate. The design will allow to compare the expected reward effects on the overall multitasking efficiency. </a:t>
            </a:r>
            <a:endParaRPr lang="en-US"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007515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u="sng" dirty="0">
                <a:latin typeface="Arial" panose="020B0604020202020204" pitchFamily="34" charset="0"/>
                <a:ea typeface="Times New Roman" panose="02020603050405020304" pitchFamily="18" charset="0"/>
                <a:cs typeface="Times New Roman" panose="02020603050405020304" pitchFamily="18" charset="0"/>
              </a:rPr>
              <a:t>Hypotheses:</a:t>
            </a:r>
            <a:r>
              <a:rPr lang="en-US" sz="1200" dirty="0">
                <a:latin typeface="Arial" panose="020B0604020202020204" pitchFamily="34" charset="0"/>
                <a:ea typeface="Times New Roman" panose="02020603050405020304" pitchFamily="18" charset="0"/>
                <a:cs typeface="Times New Roman" panose="02020603050405020304" pitchFamily="18" charset="0"/>
              </a:rPr>
              <a:t> We expect reward to significantly increase switch rates for switchers and response groupers, when switches are rewarded. Given the explicit reward for a task-switching decision, task-dependent rewards will likely also increase switch rates for blockers, but to a lesser extent. We expect these changes in switch rates to be related to the EEG measures of reward sensitivity. Moreover, upcoming switches will be predicted by beta power lateralization. </a:t>
            </a:r>
          </a:p>
          <a:p>
            <a:endParaRPr lang="en-US" sz="1200" dirty="0">
              <a:latin typeface="Arial" panose="020B0604020202020204" pitchFamily="34" charset="0"/>
              <a:ea typeface="Times New Roman" panose="02020603050405020304" pitchFamily="18" charset="0"/>
              <a:cs typeface="Times New Roman" panose="02020603050405020304" pitchFamily="18" charset="0"/>
            </a:endParaRPr>
          </a:p>
          <a:p>
            <a:r>
              <a:rPr lang="en-US" sz="1200" dirty="0">
                <a:latin typeface="Arial" panose="020B0604020202020204" pitchFamily="34" charset="0"/>
                <a:ea typeface="Times New Roman" panose="02020603050405020304" pitchFamily="18" charset="0"/>
                <a:cs typeface="Times New Roman" panose="02020603050405020304" pitchFamily="18" charset="0"/>
              </a:rPr>
              <a:t>Q: Given the high stability of response strategies (Brüning et al., 2020; Reinert &amp; Brüning, 2022), Experiment 2b will take an even more direct approach and examine the influence of task-dependent rewards on response strategies, comparing reward vs. no-reward conditions. </a:t>
            </a:r>
          </a:p>
          <a:p>
            <a:r>
              <a:rPr lang="en-US" sz="1200" u="sng" dirty="0">
                <a:latin typeface="Arial" panose="020B0604020202020204" pitchFamily="34" charset="0"/>
                <a:ea typeface="Times New Roman" panose="02020603050405020304" pitchFamily="18" charset="0"/>
                <a:cs typeface="Times New Roman" panose="02020603050405020304" pitchFamily="18" charset="0"/>
              </a:rPr>
              <a:t>Sample:</a:t>
            </a:r>
            <a:r>
              <a:rPr lang="en-US" sz="1200" dirty="0">
                <a:latin typeface="Arial" panose="020B0604020202020204" pitchFamily="34" charset="0"/>
                <a:ea typeface="Times New Roman" panose="02020603050405020304" pitchFamily="18" charset="0"/>
                <a:cs typeface="Times New Roman" panose="02020603050405020304" pitchFamily="18" charset="0"/>
              </a:rPr>
              <a:t> N=90 participants. </a:t>
            </a:r>
          </a:p>
          <a:p>
            <a:r>
              <a:rPr lang="en-US" sz="1200" u="sng" dirty="0">
                <a:latin typeface="Arial" panose="020B0604020202020204" pitchFamily="34" charset="0"/>
                <a:ea typeface="Times New Roman" panose="02020603050405020304" pitchFamily="18" charset="0"/>
                <a:cs typeface="Times New Roman" panose="02020603050405020304" pitchFamily="18" charset="0"/>
              </a:rPr>
              <a:t>Design and procedure:</a:t>
            </a:r>
            <a:r>
              <a:rPr lang="en-US" sz="1200" dirty="0">
                <a:latin typeface="Arial" panose="020B0604020202020204" pitchFamily="34" charset="0"/>
                <a:ea typeface="Times New Roman" panose="02020603050405020304" pitchFamily="18" charset="0"/>
                <a:cs typeface="Times New Roman" panose="02020603050405020304" pitchFamily="18" charset="0"/>
              </a:rPr>
              <a:t> Again, classic FCDT with a global reward for correct responses. =&gt; then informed that a trial-wise reward will be introduced in the FCDT paradigm indicated by a colored frame around the respective task stimulus, where they can receive a bonus for switching to the respective other task. This reward prospect will be given response locked after every 5-15 trials. The last performed task will also be surrounded by a frame to avoid mere saliency effects, with colors for switches vs. repetitions counterbalanced across participants. The categorization procedure will also include these frames without reward instructions, serving as a baseline. EEG will be recorded as in Experiment 2a. </a:t>
            </a:r>
          </a:p>
          <a:p>
            <a:r>
              <a:rPr lang="en-US" sz="1200" u="sng" dirty="0">
                <a:latin typeface="Arial" panose="020B0604020202020204" pitchFamily="34" charset="0"/>
                <a:ea typeface="Times New Roman" panose="02020603050405020304" pitchFamily="18" charset="0"/>
                <a:cs typeface="Times New Roman" panose="02020603050405020304" pitchFamily="18" charset="0"/>
              </a:rPr>
              <a:t>Planned analyses:</a:t>
            </a:r>
            <a:r>
              <a:rPr lang="en-US" sz="1200" dirty="0">
                <a:latin typeface="Arial" panose="020B0604020202020204" pitchFamily="34" charset="0"/>
                <a:ea typeface="Times New Roman" panose="02020603050405020304" pitchFamily="18" charset="0"/>
                <a:cs typeface="Times New Roman" panose="02020603050405020304" pitchFamily="18" charset="0"/>
              </a:rPr>
              <a:t> The interplay of response strategies and reward will be examined using a 2(bonus vs. no-bonus) x 3(blocker vs. switcher vs. response grouper) ANOVA on the switch rate. This design will also allow comparison of reward effects on multitasking efficiency. </a:t>
            </a:r>
            <a:endParaRPr lang="en-US"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575572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03188" y="750888"/>
            <a:ext cx="6683375" cy="3759200"/>
          </a:xfrm>
        </p:spPr>
      </p:sp>
      <p:sp>
        <p:nvSpPr>
          <p:cNvPr id="3" name="Notizenplatzhalter 2"/>
          <p:cNvSpPr>
            <a:spLocks noGrp="1"/>
          </p:cNvSpPr>
          <p:nvPr>
            <p:ph type="body" idx="1"/>
          </p:nvPr>
        </p:nvSpPr>
        <p:spPr/>
        <p:txBody>
          <a:bodyPr/>
          <a:lstStyle/>
          <a:p>
            <a:pPr>
              <a:lnSpc>
                <a:spcPct val="115000"/>
              </a:lnSpc>
              <a:spcBef>
                <a:spcPts val="303"/>
              </a:spcBef>
              <a:spcAft>
                <a:spcPts val="809"/>
              </a:spcAft>
            </a:pPr>
            <a:r>
              <a:rPr lang="en-US" sz="1800" dirty="0">
                <a:latin typeface="Times New Roman" panose="02020603050405020304" pitchFamily="18" charset="0"/>
                <a:ea typeface="Times New Roman" panose="02020603050405020304" pitchFamily="18" charset="0"/>
                <a:cs typeface="Arial" panose="020B0604020202020204" pitchFamily="34" charset="0"/>
              </a:rPr>
              <a:t>TODO: </a:t>
            </a:r>
            <a:r>
              <a:rPr lang="en-US" sz="1800" dirty="0" err="1">
                <a:latin typeface="Times New Roman" panose="02020603050405020304" pitchFamily="18" charset="0"/>
                <a:ea typeface="Times New Roman" panose="02020603050405020304" pitchFamily="18" charset="0"/>
                <a:cs typeface="Arial" panose="020B0604020202020204" pitchFamily="34" charset="0"/>
              </a:rPr>
              <a:t>nur</a:t>
            </a:r>
            <a:r>
              <a:rPr lang="en-US" sz="1800" dirty="0">
                <a:latin typeface="Times New Roman" panose="02020603050405020304" pitchFamily="18" charset="0"/>
                <a:ea typeface="Times New Roman" panose="02020603050405020304" pitchFamily="18" charset="0"/>
                <a:cs typeface="Arial" panose="020B0604020202020204" pitchFamily="34" charset="0"/>
              </a:rPr>
              <a:t> </a:t>
            </a:r>
            <a:r>
              <a:rPr lang="en-US" sz="1800" dirty="0" err="1">
                <a:latin typeface="Times New Roman" panose="02020603050405020304" pitchFamily="18" charset="0"/>
                <a:ea typeface="Times New Roman" panose="02020603050405020304" pitchFamily="18" charset="0"/>
                <a:cs typeface="Arial" panose="020B0604020202020204" pitchFamily="34" charset="0"/>
              </a:rPr>
              <a:t>als</a:t>
            </a:r>
            <a:r>
              <a:rPr lang="en-US" sz="1800" dirty="0">
                <a:latin typeface="Times New Roman" panose="02020603050405020304" pitchFamily="18" charset="0"/>
                <a:ea typeface="Times New Roman" panose="02020603050405020304" pitchFamily="18" charset="0"/>
                <a:cs typeface="Arial" panose="020B0604020202020204" pitchFamily="34" charset="0"/>
              </a:rPr>
              <a:t> bullet point an </a:t>
            </a:r>
            <a:r>
              <a:rPr lang="en-US" sz="1800" dirty="0" err="1">
                <a:latin typeface="Times New Roman" panose="02020603050405020304" pitchFamily="18" charset="0"/>
                <a:ea typeface="Times New Roman" panose="02020603050405020304" pitchFamily="18" charset="0"/>
                <a:cs typeface="Arial" panose="020B0604020202020204" pitchFamily="34" charset="0"/>
              </a:rPr>
              <a:t>vorherigen</a:t>
            </a:r>
            <a:r>
              <a:rPr lang="en-US" sz="1800" dirty="0">
                <a:latin typeface="Times New Roman" panose="02020603050405020304" pitchFamily="18" charset="0"/>
                <a:ea typeface="Times New Roman" panose="02020603050405020304" pitchFamily="18" charset="0"/>
                <a:cs typeface="Arial" panose="020B0604020202020204" pitchFamily="34" charset="0"/>
              </a:rPr>
              <a:t> </a:t>
            </a:r>
          </a:p>
          <a:p>
            <a:pPr>
              <a:lnSpc>
                <a:spcPct val="115000"/>
              </a:lnSpc>
              <a:spcBef>
                <a:spcPts val="303"/>
              </a:spcBef>
              <a:spcAft>
                <a:spcPts val="809"/>
              </a:spcAft>
            </a:pPr>
            <a:r>
              <a:rPr lang="en-US" sz="1800" dirty="0">
                <a:latin typeface="Times New Roman" panose="02020603050405020304" pitchFamily="18" charset="0"/>
                <a:ea typeface="Times New Roman" panose="02020603050405020304" pitchFamily="18" charset="0"/>
                <a:cs typeface="Arial" panose="020B0604020202020204" pitchFamily="34" charset="0"/>
              </a:rPr>
              <a:t>… identifying which of these shape responses strategy formation is our last empirical objective. We focus on three trait groups:</a:t>
            </a:r>
            <a:endParaRPr lang="en-US" sz="1800" dirty="0">
              <a:latin typeface="Calibri" panose="020F0502020204030204" pitchFamily="34" charset="0"/>
              <a:ea typeface="Calibri" panose="020F0502020204030204" pitchFamily="34" charset="0"/>
              <a:cs typeface="Arial" panose="020B0604020202020204" pitchFamily="34" charset="0"/>
            </a:endParaRPr>
          </a:p>
          <a:p>
            <a:pPr marL="346706" indent="-346706">
              <a:lnSpc>
                <a:spcPct val="115000"/>
              </a:lnSpc>
              <a:spcBef>
                <a:spcPts val="303"/>
              </a:spcBef>
              <a:buFont typeface="Symbol" panose="05050102010706020507" pitchFamily="18" charset="2"/>
              <a:buChar char=""/>
            </a:pPr>
            <a:r>
              <a:rPr lang="en-US" sz="1800" dirty="0">
                <a:solidFill>
                  <a:srgbClr val="000000"/>
                </a:solidFill>
                <a:latin typeface="Times New Roman" panose="02020603050405020304" pitchFamily="18" charset="0"/>
              </a:rPr>
              <a:t>Addressing motivation and effort, we assess: </a:t>
            </a:r>
            <a:r>
              <a:rPr lang="en-US" sz="1800" b="1" dirty="0">
                <a:solidFill>
                  <a:srgbClr val="000000"/>
                </a:solidFill>
                <a:latin typeface="Times New Roman" panose="02020603050405020304" pitchFamily="18" charset="0"/>
              </a:rPr>
              <a:t>Need for Cognition, Trait Persistence, Behavioral Activation System</a:t>
            </a:r>
            <a:endParaRPr lang="en-US" sz="1800" dirty="0">
              <a:latin typeface="Times New Roman" panose="02020603050405020304" pitchFamily="18" charset="0"/>
              <a:ea typeface="Times New Roman" panose="02020603050405020304" pitchFamily="18" charset="0"/>
            </a:endParaRPr>
          </a:p>
          <a:p>
            <a:pPr marL="346706" indent="-346706">
              <a:lnSpc>
                <a:spcPct val="115000"/>
              </a:lnSpc>
              <a:spcBef>
                <a:spcPts val="303"/>
              </a:spcBef>
              <a:buFont typeface="Symbol" panose="05050102010706020507" pitchFamily="18" charset="2"/>
              <a:buChar char=""/>
            </a:pPr>
            <a:r>
              <a:rPr lang="en-US" sz="1800" dirty="0">
                <a:solidFill>
                  <a:srgbClr val="000000"/>
                </a:solidFill>
                <a:latin typeface="Times New Roman" panose="02020603050405020304" pitchFamily="18" charset="0"/>
              </a:rPr>
              <a:t>Regarding Personality &amp; Attitude: </a:t>
            </a:r>
            <a:r>
              <a:rPr lang="en-US" sz="1800" b="1" dirty="0">
                <a:solidFill>
                  <a:srgbClr val="000000"/>
                </a:solidFill>
                <a:latin typeface="Times New Roman" panose="02020603050405020304" pitchFamily="18" charset="0"/>
              </a:rPr>
              <a:t>Big Five and Polychronicity</a:t>
            </a:r>
            <a:r>
              <a:rPr lang="en-US" sz="1800" dirty="0">
                <a:solidFill>
                  <a:srgbClr val="000000"/>
                </a:solidFill>
                <a:latin typeface="Times New Roman" panose="02020603050405020304" pitchFamily="18" charset="0"/>
              </a:rPr>
              <a:t> </a:t>
            </a:r>
            <a:endParaRPr lang="en-US" sz="1800" dirty="0">
              <a:latin typeface="Times New Roman" panose="02020603050405020304" pitchFamily="18" charset="0"/>
              <a:ea typeface="Times New Roman" panose="02020603050405020304" pitchFamily="18" charset="0"/>
            </a:endParaRPr>
          </a:p>
          <a:p>
            <a:pPr marL="346706" indent="-346706">
              <a:lnSpc>
                <a:spcPct val="115000"/>
              </a:lnSpc>
              <a:spcBef>
                <a:spcPts val="303"/>
              </a:spcBef>
              <a:buFont typeface="Symbol" panose="05050102010706020507" pitchFamily="18" charset="2"/>
              <a:buChar char=""/>
            </a:pPr>
            <a:r>
              <a:rPr lang="en-US" sz="1800" dirty="0">
                <a:solidFill>
                  <a:srgbClr val="000000"/>
                </a:solidFill>
                <a:latin typeface="Times New Roman" panose="02020603050405020304" pitchFamily="18" charset="0"/>
              </a:rPr>
              <a:t>Like all projects, we also assess </a:t>
            </a:r>
            <a:r>
              <a:rPr lang="en-US" sz="1800" b="1" dirty="0">
                <a:solidFill>
                  <a:srgbClr val="000000"/>
                </a:solidFill>
                <a:latin typeface="Times New Roman" panose="02020603050405020304" pitchFamily="18" charset="0"/>
              </a:rPr>
              <a:t>Working Memory Capacity</a:t>
            </a:r>
            <a:r>
              <a:rPr lang="en-US" sz="1800" dirty="0">
                <a:solidFill>
                  <a:srgbClr val="000000"/>
                </a:solidFill>
                <a:latin typeface="Times New Roman" panose="02020603050405020304" pitchFamily="18" charset="0"/>
              </a:rPr>
              <a:t> as a key cognitive ability</a:t>
            </a:r>
            <a:endParaRPr lang="en-US" sz="1800" dirty="0">
              <a:latin typeface="Times New Roman" panose="02020603050405020304" pitchFamily="18" charset="0"/>
              <a:ea typeface="Times New Roman" panose="02020603050405020304" pitchFamily="18" charset="0"/>
            </a:endParaRPr>
          </a:p>
          <a:p>
            <a:endParaRPr lang="de-DE" sz="1800" dirty="0">
              <a:latin typeface="Times New Roman" panose="02020603050405020304" pitchFamily="18" charset="0"/>
              <a:ea typeface="Calibri" panose="020F0502020204030204" pitchFamily="34" charset="0"/>
              <a:cs typeface="Arial" panose="020B0604020202020204" pitchFamily="34" charset="0"/>
            </a:endParaRPr>
          </a:p>
          <a:p>
            <a:r>
              <a:rPr lang="en-US" sz="1800" u="sng" dirty="0">
                <a:latin typeface="Arial" panose="020B0604020202020204" pitchFamily="34" charset="0"/>
                <a:ea typeface="Times New Roman" panose="02020603050405020304" pitchFamily="18" charset="0"/>
                <a:cs typeface="Times New Roman" panose="02020603050405020304" pitchFamily="18" charset="0"/>
              </a:rPr>
              <a:t>Hypotheses:</a:t>
            </a:r>
            <a:r>
              <a:rPr lang="en-US" sz="1800" dirty="0">
                <a:latin typeface="Arial" panose="020B0604020202020204" pitchFamily="34" charset="0"/>
                <a:ea typeface="Times New Roman" panose="02020603050405020304" pitchFamily="18" charset="0"/>
                <a:cs typeface="Times New Roman" panose="02020603050405020304" pitchFamily="18" charset="0"/>
              </a:rPr>
              <a:t> Individuals who favor switching and response grouping strategies appear to willingly exert greater cognitive effort, as evidenced by their frequent voluntary task switches. Since this behavior suggests a higher level of motivation to optimize performance continuously, we expect them to score higher on the Need for Cognition, Trait Persistence, and Polychronicity scales, reflecting their motivation to optimize performance (the latter in real-life situations). We also anticipate higher scores on the BAS system, indicating reward sensitivity, and on the Openness and Conscientiousness subscales of the Big Five, which are associated with trait persistence and need for cognition. In contrast, blockers, who avoid effortful task switching and may be less influenced by rewards, are expected to score lower on these scales and higher on the BIS system, reflecting a tendency to avoid effort or challenges.</a:t>
            </a:r>
          </a:p>
          <a:p>
            <a:endParaRPr lang="en-US" sz="1800" dirty="0">
              <a:latin typeface="Arial" panose="020B0604020202020204" pitchFamily="34" charset="0"/>
              <a:ea typeface="Times New Roman" panose="02020603050405020304" pitchFamily="18" charset="0"/>
              <a:cs typeface="Times New Roman" panose="02020603050405020304" pitchFamily="18" charset="0"/>
            </a:endParaRPr>
          </a:p>
          <a:p>
            <a:r>
              <a:rPr lang="en-US" sz="1800" dirty="0">
                <a:latin typeface="Arial" panose="020B0604020202020204" pitchFamily="34" charset="0"/>
                <a:ea typeface="Times New Roman" panose="02020603050405020304" pitchFamily="18" charset="0"/>
                <a:cs typeface="Times New Roman" panose="02020603050405020304" pitchFamily="18" charset="0"/>
              </a:rPr>
              <a:t>Q: This WP will explore whether personality traits and WMC are related to response strategies using a selective psychological test battery. </a:t>
            </a:r>
          </a:p>
          <a:p>
            <a:r>
              <a:rPr lang="en-US" sz="1800" u="sng" dirty="0">
                <a:latin typeface="Arial" panose="020B0604020202020204" pitchFamily="34" charset="0"/>
                <a:ea typeface="Times New Roman" panose="02020603050405020304" pitchFamily="18" charset="0"/>
                <a:cs typeface="Times New Roman" panose="02020603050405020304" pitchFamily="18" charset="0"/>
              </a:rPr>
              <a:t>Participants, design and procedure:</a:t>
            </a:r>
            <a:r>
              <a:rPr lang="en-US" sz="1800" dirty="0">
                <a:latin typeface="Arial" panose="020B0604020202020204" pitchFamily="34" charset="0"/>
                <a:ea typeface="Times New Roman" panose="02020603050405020304" pitchFamily="18" charset="0"/>
                <a:cs typeface="Times New Roman" panose="02020603050405020304" pitchFamily="18" charset="0"/>
              </a:rPr>
              <a:t> Data collection will be integrated with WP 1.1, 1.2 and 3, extending these experiments (4 x N=90) and the data collected in WP 3 (N=50) with a second session, resulting in 410 participants. They</a:t>
            </a:r>
            <a:r>
              <a:rPr lang="en-US" sz="1800" b="1" dirty="0">
                <a:latin typeface="Arial" panose="020B0604020202020204" pitchFamily="34" charset="0"/>
                <a:ea typeface="Times New Roman" panose="02020603050405020304" pitchFamily="18" charset="0"/>
                <a:cs typeface="Times New Roman" panose="02020603050405020304" pitchFamily="18" charset="0"/>
              </a:rPr>
              <a:t> </a:t>
            </a:r>
            <a:r>
              <a:rPr lang="en-US" sz="1800" dirty="0">
                <a:latin typeface="Arial" panose="020B0604020202020204" pitchFamily="34" charset="0"/>
                <a:ea typeface="Times New Roman" panose="02020603050405020304" pitchFamily="18" charset="0"/>
                <a:cs typeface="Times New Roman" panose="02020603050405020304" pitchFamily="18" charset="0"/>
              </a:rPr>
              <a:t>will complete the BIS/BAS scales, Big5 questionnaire, Need for Cognition scale, Trait Persistence scale, and Multitasking Preference Inventory, as well as the Operation Span Task and the Symmetry Span Task (Unsworth et al., 2009; Redick et al., 2012), to assess WMC. </a:t>
            </a:r>
          </a:p>
          <a:p>
            <a:r>
              <a:rPr lang="en-US" sz="1800" u="sng" dirty="0">
                <a:latin typeface="Arial" panose="020B0604020202020204" pitchFamily="34" charset="0"/>
                <a:ea typeface="Times New Roman" panose="02020603050405020304" pitchFamily="18" charset="0"/>
                <a:cs typeface="Times New Roman" panose="02020603050405020304" pitchFamily="18" charset="0"/>
              </a:rPr>
              <a:t>Planned analyses:</a:t>
            </a:r>
            <a:r>
              <a:rPr lang="en-US" sz="1800" dirty="0">
                <a:latin typeface="Arial" panose="020B0604020202020204" pitchFamily="34" charset="0"/>
                <a:ea typeface="Times New Roman" panose="02020603050405020304" pitchFamily="18" charset="0"/>
                <a:cs typeface="Times New Roman" panose="02020603050405020304" pitchFamily="18" charset="0"/>
              </a:rPr>
              <a:t> Data analyses will proceed in two steps. First, differences between the response strategy groups will be tested using a between-subjects ANOVA for the respective tests. Second, a correlational approach will examine the relationship between switch rates and test scores. </a:t>
            </a:r>
            <a:endParaRPr lang="de-DE" sz="1800" dirty="0" err="1">
              <a:latin typeface="Calibri" panose="020F0502020204030204" pitchFamily="34" charset="0"/>
              <a:ea typeface="Calibri" panose="020F0502020204030204" pitchFamily="34" charset="0"/>
              <a:cs typeface="Arial" panose="020B0604020202020204" pitchFamily="34" charset="0"/>
            </a:endParaRP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106366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03188" y="750888"/>
            <a:ext cx="6683375" cy="3759200"/>
          </a:xfrm>
        </p:spPr>
      </p:sp>
      <p:sp>
        <p:nvSpPr>
          <p:cNvPr id="3" name="Notizenplatzhalter 2"/>
          <p:cNvSpPr>
            <a:spLocks noGrp="1"/>
          </p:cNvSpPr>
          <p:nvPr>
            <p:ph type="body" idx="1"/>
          </p:nvPr>
        </p:nvSpPr>
        <p:spPr/>
        <p:txBody>
          <a:bodyPr/>
          <a:lstStyle/>
          <a:p>
            <a:pPr defTabSz="924550">
              <a:lnSpc>
                <a:spcPct val="115000"/>
              </a:lnSpc>
              <a:spcBef>
                <a:spcPts val="303"/>
              </a:spcBef>
              <a:spcAft>
                <a:spcPts val="809"/>
              </a:spcAft>
              <a:defRPr/>
            </a:pPr>
            <a:r>
              <a:rPr lang="en-US" sz="1800" u="sng" dirty="0">
                <a:solidFill>
                  <a:srgbClr val="000000"/>
                </a:solidFill>
                <a:latin typeface="ArialMT"/>
              </a:rPr>
              <a:t>Hypotheses: </a:t>
            </a:r>
            <a:r>
              <a:rPr lang="en-US" sz="1800" dirty="0">
                <a:solidFill>
                  <a:srgbClr val="000000"/>
                </a:solidFill>
                <a:latin typeface="ArialMT"/>
              </a:rPr>
              <a:t>We expect participants with higher switch frequencies in FCDT to also switch more in the self-organized task-switching paradigm, compared to those who switch less. Switching and response grouping should align with the global strategy, reflecting proactive task processing and performance maximization, while blockers should follow the local strategy, minimizing effort by switching only when necessary.</a:t>
            </a:r>
            <a:r>
              <a:rPr lang="en-US" sz="2800" dirty="0"/>
              <a:t> </a:t>
            </a:r>
            <a:br>
              <a:rPr lang="en-US" sz="2800" dirty="0"/>
            </a:br>
            <a:endParaRPr lang="en-US" sz="1800" dirty="0"/>
          </a:p>
          <a:p>
            <a:pPr>
              <a:lnSpc>
                <a:spcPct val="115000"/>
              </a:lnSpc>
              <a:spcBef>
                <a:spcPts val="303"/>
              </a:spcBef>
              <a:spcAft>
                <a:spcPts val="809"/>
              </a:spcAft>
            </a:pPr>
            <a:r>
              <a:rPr lang="en-US" sz="1800" dirty="0">
                <a:solidFill>
                  <a:srgbClr val="000000"/>
                </a:solidFill>
                <a:latin typeface="ArialMT"/>
              </a:rPr>
              <a:t>Q: Prior research (</a:t>
            </a:r>
            <a:r>
              <a:rPr lang="en-US" sz="1800" dirty="0" err="1">
                <a:solidFill>
                  <a:srgbClr val="000000"/>
                </a:solidFill>
                <a:latin typeface="ArialMT"/>
              </a:rPr>
              <a:t>Monno</a:t>
            </a:r>
            <a:r>
              <a:rPr lang="en-US" sz="1800" dirty="0">
                <a:solidFill>
                  <a:srgbClr val="000000"/>
                </a:solidFill>
                <a:latin typeface="ArialMT"/>
              </a:rPr>
              <a:t> et al., 2021) has distinguished between a local and a global task-processing strategy. The local strategy involves switching only when waiting times match switch costs, optimizing trial-by-trial performance. The global strategy prioritizes overall efficiency by switching earlier, despite initial switch costs. The latter reflects a proactive approach that maximizes performance across a sequence of trials by minimizing overall waiting times. </a:t>
            </a:r>
          </a:p>
          <a:p>
            <a:pPr>
              <a:lnSpc>
                <a:spcPct val="115000"/>
              </a:lnSpc>
              <a:spcBef>
                <a:spcPts val="303"/>
              </a:spcBef>
              <a:spcAft>
                <a:spcPts val="809"/>
              </a:spcAft>
            </a:pPr>
            <a:r>
              <a:rPr lang="en-US" sz="1800" u="sng" dirty="0">
                <a:solidFill>
                  <a:srgbClr val="000000"/>
                </a:solidFill>
                <a:latin typeface="ArialMT"/>
              </a:rPr>
              <a:t>Sample, design and procedure:</a:t>
            </a:r>
            <a:r>
              <a:rPr lang="en-US" sz="1800" dirty="0">
                <a:solidFill>
                  <a:srgbClr val="000000"/>
                </a:solidFill>
                <a:latin typeface="ArialMT"/>
              </a:rPr>
              <a:t> Participants (N=100, 50 of which are collected in Freiburg) will complete both paradigms in a counterbalanced order using the same simple classification tasks to isolate individual differences. </a:t>
            </a:r>
          </a:p>
          <a:p>
            <a:pPr>
              <a:lnSpc>
                <a:spcPct val="115000"/>
              </a:lnSpc>
              <a:spcBef>
                <a:spcPts val="303"/>
              </a:spcBef>
              <a:spcAft>
                <a:spcPts val="809"/>
              </a:spcAft>
            </a:pPr>
            <a:r>
              <a:rPr lang="en-US" sz="1800" u="sng" dirty="0">
                <a:solidFill>
                  <a:srgbClr val="000000"/>
                </a:solidFill>
                <a:latin typeface="ArialMT"/>
              </a:rPr>
              <a:t>Planned analyses: </a:t>
            </a:r>
            <a:r>
              <a:rPr lang="en-US" sz="1800" dirty="0">
                <a:solidFill>
                  <a:srgbClr val="000000"/>
                </a:solidFill>
                <a:latin typeface="ArialMT"/>
              </a:rPr>
              <a:t>To examine whether individual differences in switch frequency generalize, they will be correlated across paradigms. Strategy overlap will be assessed using a chi-squared test, comparing the proportion of participants classified as blockers or switchers/response groupers in FCDT to those using local or global strategies in the self-organized paradigm. </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546358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015645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307615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Each individual reaction corresponds to a data point or a reaction:</a:t>
            </a:r>
          </a:p>
          <a:p>
            <a:r>
              <a:rPr lang="en-US" dirty="0"/>
              <a:t>Purple = pure task repetitions</a:t>
            </a:r>
          </a:p>
          <a:p>
            <a:r>
              <a:rPr lang="en-US" dirty="0"/>
              <a:t>Blue = task repetitions before a change</a:t>
            </a:r>
          </a:p>
          <a:p>
            <a:r>
              <a:rPr lang="en-US" dirty="0"/>
              <a:t>Red &amp; green = task changes</a:t>
            </a:r>
          </a:p>
          <a:p>
            <a:endParaRPr lang="en-US"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47726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581190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184138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088709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942842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413147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074729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84789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1A4A1F-8532-488D-8645-6753A9A98617}"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9908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1E5EB6-51D3-4CEE-866B-DD0507A8A478}"/>
              </a:ext>
            </a:extLst>
          </p:cNvPr>
          <p:cNvSpPr>
            <a:spLocks noGrp="1"/>
          </p:cNvSpPr>
          <p:nvPr>
            <p:ph type="ctrTitle"/>
          </p:nvPr>
        </p:nvSpPr>
        <p:spPr>
          <a:xfrm>
            <a:off x="685800" y="1597819"/>
            <a:ext cx="7772400" cy="1102519"/>
          </a:xfrm>
        </p:spPr>
        <p:txBody>
          <a:bodyPr/>
          <a:lstStyle>
            <a:lvl1pPr>
              <a:buNone/>
              <a:defRPr>
                <a:solidFill>
                  <a:srgbClr val="3A77AD"/>
                </a:solidFill>
              </a:defRPr>
            </a:lvl1pPr>
          </a:lstStyle>
          <a:p>
            <a:r>
              <a:t>Titelmasterformat durch Klicken bearbeiten</a:t>
            </a:r>
          </a:p>
        </p:txBody>
      </p:sp>
      <p:sp>
        <p:nvSpPr>
          <p:cNvPr id="3" name="Untertitel 2">
            <a:extLst>
              <a:ext uri="{FF2B5EF4-FFF2-40B4-BE49-F238E27FC236}">
                <a16:creationId xmlns:a16="http://schemas.microsoft.com/office/drawing/2014/main" id="{D607E1D3-AE35-44F2-9141-BC0877E756E5}"/>
              </a:ext>
            </a:extLst>
          </p:cNvPr>
          <p:cNvSpPr>
            <a:spLocks noGrp="1"/>
          </p:cNvSpPr>
          <p:nvPr>
            <p:ph type="subTitle" idx="1"/>
          </p:nvPr>
        </p:nvSpPr>
        <p:spPr>
          <a:xfrm>
            <a:off x="1371600" y="2914650"/>
            <a:ext cx="6400800" cy="1314450"/>
          </a:xfrm>
        </p:spPr>
        <p:txBody>
          <a:bodyPr/>
          <a:lstStyle>
            <a:lvl1pPr marL="0" indent="0" algn="ctr">
              <a:buNone/>
              <a:defRPr>
                <a:solidFill>
                  <a:srgbClr val="3A77AD"/>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t>Formatvorlage des Untertitelmasters durch Klicken bearbeiten</a:t>
            </a:r>
          </a:p>
        </p:txBody>
      </p:sp>
      <p:sp>
        <p:nvSpPr>
          <p:cNvPr id="4" name="Datumsplatzhalter 3">
            <a:extLst>
              <a:ext uri="{FF2B5EF4-FFF2-40B4-BE49-F238E27FC236}">
                <a16:creationId xmlns:a16="http://schemas.microsoft.com/office/drawing/2014/main" id="{60293F25-B3EA-407B-9553-634452D613E5}"/>
              </a:ext>
            </a:extLst>
          </p:cNvPr>
          <p:cNvSpPr>
            <a:spLocks noGrp="1"/>
          </p:cNvSpPr>
          <p:nvPr>
            <p:ph type="dt" idx="10"/>
          </p:nvPr>
        </p:nvSpPr>
        <p:spPr/>
        <p:txBody>
          <a:bodyPr/>
          <a:lstStyle/>
          <a:p>
            <a:fld id="{8DD25DDA-D26E-4C65-81E7-886BFA2DBF4B}" type="datetime1">
              <a:t>9/17/2026</a:t>
            </a:fld>
            <a:endParaRPr/>
          </a:p>
        </p:txBody>
      </p:sp>
      <p:sp>
        <p:nvSpPr>
          <p:cNvPr id="5" name="Fußzeilenplatzhalter 4">
            <a:extLst>
              <a:ext uri="{FF2B5EF4-FFF2-40B4-BE49-F238E27FC236}">
                <a16:creationId xmlns:a16="http://schemas.microsoft.com/office/drawing/2014/main" id="{65D50551-C1AF-4734-A668-4A8DF1C3E57F}"/>
              </a:ext>
            </a:extLst>
          </p:cNvPr>
          <p:cNvSpPr>
            <a:spLocks noGrp="1"/>
          </p:cNvSpPr>
          <p:nvPr>
            <p:ph type="ftr" idx="11"/>
          </p:nvPr>
        </p:nvSpPr>
        <p:spPr/>
        <p:txBody>
          <a:bodyPr/>
          <a:lstStyle/>
          <a:p>
            <a:r>
              <a:t>SPP Initiative – Kognitive Mehrfachanforderungen</a:t>
            </a:r>
          </a:p>
        </p:txBody>
      </p:sp>
      <p:sp>
        <p:nvSpPr>
          <p:cNvPr id="6" name="Foliennummernplatzhalter 5">
            <a:extLst>
              <a:ext uri="{FF2B5EF4-FFF2-40B4-BE49-F238E27FC236}">
                <a16:creationId xmlns:a16="http://schemas.microsoft.com/office/drawing/2014/main" id="{D47F039B-F4C6-4131-81AF-F9DDB7D5C99B}"/>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44703E-4150-4FCF-AC26-4C412DDF59A1}"/>
              </a:ext>
            </a:extLst>
          </p:cNvPr>
          <p:cNvSpPr>
            <a:spLocks noGrp="1"/>
          </p:cNvSpPr>
          <p:nvPr>
            <p:ph type="title"/>
          </p:nvPr>
        </p:nvSpPr>
        <p:spPr/>
        <p:txBody>
          <a:bodyPr/>
          <a:lstStyle>
            <a:lvl1pPr>
              <a:buNone/>
              <a:defRPr>
                <a:latin typeface="Arial Unicode MS"/>
                <a:ea typeface="Arial Unicode MS"/>
                <a:cs typeface="Arial Unicode MS"/>
              </a:defRPr>
            </a:lvl1pPr>
          </a:lstStyle>
          <a:p>
            <a:r>
              <a:rPr dirty="0" err="1"/>
              <a:t>Titelmasterformat</a:t>
            </a:r>
            <a:r>
              <a:rPr dirty="0"/>
              <a:t> </a:t>
            </a:r>
            <a:r>
              <a:rPr dirty="0" err="1"/>
              <a:t>durch</a:t>
            </a:r>
            <a:r>
              <a:rPr dirty="0"/>
              <a:t> </a:t>
            </a:r>
            <a:r>
              <a:rPr dirty="0" err="1"/>
              <a:t>Klicken</a:t>
            </a:r>
            <a:r>
              <a:rPr dirty="0"/>
              <a:t> </a:t>
            </a:r>
            <a:r>
              <a:rPr dirty="0" err="1"/>
              <a:t>bearbeiten</a:t>
            </a:r>
            <a:endParaRPr dirty="0"/>
          </a:p>
        </p:txBody>
      </p:sp>
      <p:sp>
        <p:nvSpPr>
          <p:cNvPr id="3" name="Inhaltsplatzhalter 2">
            <a:extLst>
              <a:ext uri="{FF2B5EF4-FFF2-40B4-BE49-F238E27FC236}">
                <a16:creationId xmlns:a16="http://schemas.microsoft.com/office/drawing/2014/main" id="{D512DA99-6AD5-4B52-A2D7-C464763F3879}"/>
              </a:ext>
            </a:extLst>
          </p:cNvPr>
          <p:cNvSpPr>
            <a:spLocks noGrp="1"/>
          </p:cNvSpPr>
          <p:nvPr>
            <p:ph idx="1"/>
          </p:nvPr>
        </p:nvSpPr>
        <p:spPr>
          <a:xfrm>
            <a:off x="457200" y="1190802"/>
            <a:ext cx="8229600" cy="3315816"/>
          </a:xfrm>
        </p:spPr>
        <p:txBody>
          <a:bodyPr/>
          <a:lstStyle>
            <a:lvl4pPr>
              <a:buNone/>
              <a:defRPr>
                <a:latin typeface="Arial Unicode MS"/>
                <a:ea typeface="Arial Unicode MS"/>
                <a:cs typeface="Arial Unicode MS"/>
              </a:defRPr>
            </a:lvl4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6" name="Foliennummernplatzhalter 5">
            <a:extLst>
              <a:ext uri="{FF2B5EF4-FFF2-40B4-BE49-F238E27FC236}">
                <a16:creationId xmlns:a16="http://schemas.microsoft.com/office/drawing/2014/main" id="{C0329583-F0C0-49DB-9BCF-D833FB7B88AC}"/>
              </a:ext>
            </a:extLst>
          </p:cNvPr>
          <p:cNvSpPr>
            <a:spLocks noGrp="1"/>
          </p:cNvSpPr>
          <p:nvPr>
            <p:ph type="sldNum" idx="12"/>
          </p:nvPr>
        </p:nvSpPr>
        <p:spPr>
          <a:xfrm>
            <a:off x="8256300" y="4731990"/>
            <a:ext cx="636180" cy="273844"/>
          </a:xfrm>
        </p:spPr>
        <p:txBody>
          <a:bodyPr/>
          <a:lstStyle>
            <a:lvl1pPr marL="0" algn="r" defTabSz="685800">
              <a:buNone/>
              <a:defRPr sz="1050" kern="1200">
                <a:solidFill>
                  <a:schemeClr val="tx2">
                    <a:lumMod val="75000"/>
                  </a:schemeClr>
                </a:solidFill>
                <a:latin typeface="Arial Unicode MS"/>
                <a:ea typeface="Arial Unicode MS"/>
                <a:cs typeface="Arial Unicode MS"/>
              </a:defRPr>
            </a:lvl1pPr>
          </a:lstStyle>
          <a:p>
            <a:fld id="{5CD88B4E-D815-417B-99FD-41D66E5C06D4}" type="slidenum">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62C48E-9A13-4A7E-AA6A-87D1AC3AC0C8}"/>
              </a:ext>
            </a:extLst>
          </p:cNvPr>
          <p:cNvSpPr>
            <a:spLocks noGrp="1"/>
          </p:cNvSpPr>
          <p:nvPr>
            <p:ph type="title"/>
          </p:nvPr>
        </p:nvSpPr>
        <p:spPr>
          <a:xfrm>
            <a:off x="722313" y="3305176"/>
            <a:ext cx="7772400" cy="1021556"/>
          </a:xfrm>
        </p:spPr>
        <p:txBody>
          <a:bodyPr anchor="t"/>
          <a:lstStyle>
            <a:lvl1pPr algn="l">
              <a:buNone/>
              <a:defRPr sz="3000" b="1" cap="all"/>
            </a:lvl1pPr>
          </a:lstStyle>
          <a:p>
            <a:r>
              <a:t>Titelmasterformat durch Klicken bearbeiten</a:t>
            </a:r>
          </a:p>
        </p:txBody>
      </p:sp>
      <p:sp>
        <p:nvSpPr>
          <p:cNvPr id="3" name="Textplatzhalter 2">
            <a:extLst>
              <a:ext uri="{FF2B5EF4-FFF2-40B4-BE49-F238E27FC236}">
                <a16:creationId xmlns:a16="http://schemas.microsoft.com/office/drawing/2014/main" id="{B24E126F-A99D-41A9-8219-84AE61304FC1}"/>
              </a:ext>
            </a:extLst>
          </p:cNvPr>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buNone/>
            </a:pPr>
            <a:r>
              <a:t>Textmasterformat bearbeiten</a:t>
            </a:r>
          </a:p>
        </p:txBody>
      </p:sp>
      <p:sp>
        <p:nvSpPr>
          <p:cNvPr id="4" name="Datumsplatzhalter 3">
            <a:extLst>
              <a:ext uri="{FF2B5EF4-FFF2-40B4-BE49-F238E27FC236}">
                <a16:creationId xmlns:a16="http://schemas.microsoft.com/office/drawing/2014/main" id="{0CDBB60F-DFD5-4B33-9F9C-A2FFA0EE74A1}"/>
              </a:ext>
            </a:extLst>
          </p:cNvPr>
          <p:cNvSpPr>
            <a:spLocks noGrp="1"/>
          </p:cNvSpPr>
          <p:nvPr>
            <p:ph type="dt" idx="10"/>
          </p:nvPr>
        </p:nvSpPr>
        <p:spPr/>
        <p:txBody>
          <a:bodyPr/>
          <a:lstStyle/>
          <a:p>
            <a:fld id="{82291B1E-1756-4A5C-A79F-F2FEDD9B6C08}" type="datetime1">
              <a:t>9/17/2026</a:t>
            </a:fld>
            <a:endParaRPr/>
          </a:p>
        </p:txBody>
      </p:sp>
      <p:sp>
        <p:nvSpPr>
          <p:cNvPr id="5" name="Fußzeilenplatzhalter 4">
            <a:extLst>
              <a:ext uri="{FF2B5EF4-FFF2-40B4-BE49-F238E27FC236}">
                <a16:creationId xmlns:a16="http://schemas.microsoft.com/office/drawing/2014/main" id="{CDA99A6B-C707-44EE-88B8-49D64782391E}"/>
              </a:ext>
            </a:extLst>
          </p:cNvPr>
          <p:cNvSpPr>
            <a:spLocks noGrp="1"/>
          </p:cNvSpPr>
          <p:nvPr>
            <p:ph type="ftr" idx="11"/>
          </p:nvPr>
        </p:nvSpPr>
        <p:spPr/>
        <p:txBody>
          <a:bodyPr/>
          <a:lstStyle/>
          <a:p>
            <a:r>
              <a:t>SPP Initiative – Kognitive Mehrfachanforderungen</a:t>
            </a:r>
          </a:p>
        </p:txBody>
      </p:sp>
      <p:sp>
        <p:nvSpPr>
          <p:cNvPr id="6" name="Foliennummernplatzhalter 5">
            <a:extLst>
              <a:ext uri="{FF2B5EF4-FFF2-40B4-BE49-F238E27FC236}">
                <a16:creationId xmlns:a16="http://schemas.microsoft.com/office/drawing/2014/main" id="{6A15729B-94BB-4880-8D89-388D0649657A}"/>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A37635-A623-4E98-AC3E-8D62F1F648D6}"/>
              </a:ext>
            </a:extLst>
          </p:cNvPr>
          <p:cNvSpPr>
            <a:spLocks noGrp="1"/>
          </p:cNvSpPr>
          <p:nvPr>
            <p:ph type="title"/>
          </p:nvPr>
        </p:nvSpPr>
        <p:spPr/>
        <p:txBody>
          <a:bodyPr/>
          <a:lstStyle/>
          <a:p>
            <a:r>
              <a:t>Titelmasterformat durch Klicken bearbeiten</a:t>
            </a:r>
          </a:p>
        </p:txBody>
      </p:sp>
      <p:sp>
        <p:nvSpPr>
          <p:cNvPr id="3" name="Inhaltsplatzhalter 2">
            <a:extLst>
              <a:ext uri="{FF2B5EF4-FFF2-40B4-BE49-F238E27FC236}">
                <a16:creationId xmlns:a16="http://schemas.microsoft.com/office/drawing/2014/main" id="{1FA6A68D-62E8-4097-BC94-596C357F941D}"/>
              </a:ext>
            </a:extLst>
          </p:cNvPr>
          <p:cNvSpPr>
            <a:spLocks noGrp="1"/>
          </p:cNvSpPr>
          <p:nvPr>
            <p:ph idx="1"/>
          </p:nvPr>
        </p:nvSpPr>
        <p:spPr>
          <a:xfrm>
            <a:off x="457200" y="1200151"/>
            <a:ext cx="4038600" cy="3394472"/>
          </a:xfrm>
        </p:spPr>
        <p:txBody>
          <a:bodyPr/>
          <a:lstStyle>
            <a:lvl1pPr>
              <a:buNone/>
              <a:defRPr sz="2100"/>
            </a:lvl1pPr>
            <a:lvl2pPr>
              <a:buNone/>
              <a:defRPr sz="1800"/>
            </a:lvl2pPr>
            <a:lvl3pPr>
              <a:buNone/>
              <a:defRPr sz="1500"/>
            </a:lvl3pPr>
            <a:lvl4pPr>
              <a:buNone/>
              <a:defRPr sz="1350"/>
            </a:lvl4pPr>
            <a:lvl5pPr>
              <a:buNone/>
              <a:defRPr sz="1350"/>
            </a:lvl5pPr>
            <a:lvl6pPr>
              <a:buNone/>
              <a:defRPr sz="1350"/>
            </a:lvl6pPr>
            <a:lvl7pPr>
              <a:buNone/>
              <a:defRPr sz="1350"/>
            </a:lvl7pPr>
            <a:lvl8pPr>
              <a:buNone/>
              <a:defRPr sz="1350"/>
            </a:lvl8pPr>
            <a:lvl9pPr>
              <a:buNone/>
              <a:defRPr sz="135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Inhaltsplatzhalter 3">
            <a:extLst>
              <a:ext uri="{FF2B5EF4-FFF2-40B4-BE49-F238E27FC236}">
                <a16:creationId xmlns:a16="http://schemas.microsoft.com/office/drawing/2014/main" id="{4073D382-90A3-4817-9579-52D81369CD33}"/>
              </a:ext>
            </a:extLst>
          </p:cNvPr>
          <p:cNvSpPr>
            <a:spLocks noGrp="1"/>
          </p:cNvSpPr>
          <p:nvPr>
            <p:ph idx="2"/>
          </p:nvPr>
        </p:nvSpPr>
        <p:spPr>
          <a:xfrm>
            <a:off x="4648200" y="1200151"/>
            <a:ext cx="4038600" cy="3394472"/>
          </a:xfrm>
        </p:spPr>
        <p:txBody>
          <a:bodyPr/>
          <a:lstStyle>
            <a:lvl1pPr>
              <a:buNone/>
              <a:defRPr sz="2100"/>
            </a:lvl1pPr>
            <a:lvl2pPr>
              <a:buNone/>
              <a:defRPr sz="1800"/>
            </a:lvl2pPr>
            <a:lvl3pPr>
              <a:buNone/>
              <a:defRPr sz="1500"/>
            </a:lvl3pPr>
            <a:lvl4pPr>
              <a:buNone/>
              <a:defRPr sz="1350"/>
            </a:lvl4pPr>
            <a:lvl5pPr>
              <a:buNone/>
              <a:defRPr sz="1350"/>
            </a:lvl5pPr>
            <a:lvl6pPr>
              <a:buNone/>
              <a:defRPr sz="1350"/>
            </a:lvl6pPr>
            <a:lvl7pPr>
              <a:buNone/>
              <a:defRPr sz="1350"/>
            </a:lvl7pPr>
            <a:lvl8pPr>
              <a:buNone/>
              <a:defRPr sz="1350"/>
            </a:lvl8pPr>
            <a:lvl9pPr>
              <a:buNone/>
              <a:defRPr sz="135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5" name="Datumsplatzhalter 4">
            <a:extLst>
              <a:ext uri="{FF2B5EF4-FFF2-40B4-BE49-F238E27FC236}">
                <a16:creationId xmlns:a16="http://schemas.microsoft.com/office/drawing/2014/main" id="{C01B4D72-53C5-4B48-8E28-0C570A263DC0}"/>
              </a:ext>
            </a:extLst>
          </p:cNvPr>
          <p:cNvSpPr>
            <a:spLocks noGrp="1"/>
          </p:cNvSpPr>
          <p:nvPr>
            <p:ph type="dt" idx="10"/>
          </p:nvPr>
        </p:nvSpPr>
        <p:spPr/>
        <p:txBody>
          <a:bodyPr/>
          <a:lstStyle/>
          <a:p>
            <a:fld id="{C25EF7E3-34C6-4F29-A3E8-B2123BFC8360}" type="datetime1">
              <a:t>9/17/2026</a:t>
            </a:fld>
            <a:endParaRPr/>
          </a:p>
        </p:txBody>
      </p:sp>
      <p:sp>
        <p:nvSpPr>
          <p:cNvPr id="6" name="Fußzeilenplatzhalter 5">
            <a:extLst>
              <a:ext uri="{FF2B5EF4-FFF2-40B4-BE49-F238E27FC236}">
                <a16:creationId xmlns:a16="http://schemas.microsoft.com/office/drawing/2014/main" id="{8E43D247-3AB3-4E5E-889D-EE9388E9EC09}"/>
              </a:ext>
            </a:extLst>
          </p:cNvPr>
          <p:cNvSpPr>
            <a:spLocks noGrp="1"/>
          </p:cNvSpPr>
          <p:nvPr>
            <p:ph type="ftr" idx="11"/>
          </p:nvPr>
        </p:nvSpPr>
        <p:spPr/>
        <p:txBody>
          <a:bodyPr/>
          <a:lstStyle/>
          <a:p>
            <a:r>
              <a:t>SPP Initiative – Kognitive Mehrfachanforderungen</a:t>
            </a:r>
          </a:p>
        </p:txBody>
      </p:sp>
      <p:sp>
        <p:nvSpPr>
          <p:cNvPr id="7" name="Foliennummernplatzhalter 6">
            <a:extLst>
              <a:ext uri="{FF2B5EF4-FFF2-40B4-BE49-F238E27FC236}">
                <a16:creationId xmlns:a16="http://schemas.microsoft.com/office/drawing/2014/main" id="{29CA68E8-FF76-48FE-89E1-16FF04182F43}"/>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57D3AF-0732-426A-A34C-0295E4BFB97B}"/>
              </a:ext>
            </a:extLst>
          </p:cNvPr>
          <p:cNvSpPr>
            <a:spLocks noGrp="1"/>
          </p:cNvSpPr>
          <p:nvPr>
            <p:ph type="title"/>
          </p:nvPr>
        </p:nvSpPr>
        <p:spPr/>
        <p:txBody>
          <a:bodyPr/>
          <a:lstStyle>
            <a:lvl1pPr>
              <a:buNone/>
              <a:defRPr/>
            </a:lvl1pPr>
          </a:lstStyle>
          <a:p>
            <a:r>
              <a:t>Titelmasterformat durch Klicken bearbeiten</a:t>
            </a:r>
          </a:p>
        </p:txBody>
      </p:sp>
      <p:sp>
        <p:nvSpPr>
          <p:cNvPr id="3" name="Textplatzhalter 2">
            <a:extLst>
              <a:ext uri="{FF2B5EF4-FFF2-40B4-BE49-F238E27FC236}">
                <a16:creationId xmlns:a16="http://schemas.microsoft.com/office/drawing/2014/main" id="{5387ACE4-EFE3-4305-A1A4-F639026E10D7}"/>
              </a:ext>
            </a:extLst>
          </p:cNvPr>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Textmasterformat bearbeiten</a:t>
            </a:r>
          </a:p>
        </p:txBody>
      </p:sp>
      <p:sp>
        <p:nvSpPr>
          <p:cNvPr id="4" name="Inhaltsplatzhalter 3">
            <a:extLst>
              <a:ext uri="{FF2B5EF4-FFF2-40B4-BE49-F238E27FC236}">
                <a16:creationId xmlns:a16="http://schemas.microsoft.com/office/drawing/2014/main" id="{43F85B3D-6B72-4821-BA1D-586B02D936A2}"/>
              </a:ext>
            </a:extLst>
          </p:cNvPr>
          <p:cNvSpPr>
            <a:spLocks noGrp="1"/>
          </p:cNvSpPr>
          <p:nvPr>
            <p:ph idx="2"/>
          </p:nvPr>
        </p:nvSpPr>
        <p:spPr>
          <a:xfrm>
            <a:off x="457200" y="1631156"/>
            <a:ext cx="4040188" cy="2963466"/>
          </a:xfrm>
        </p:spPr>
        <p:txBody>
          <a:bodyPr/>
          <a:lstStyle>
            <a:lvl1pPr>
              <a:buNone/>
              <a:defRPr sz="1800"/>
            </a:lvl1pPr>
            <a:lvl2pPr>
              <a:buNone/>
              <a:defRPr sz="1500"/>
            </a:lvl2pPr>
            <a:lvl3pPr>
              <a:buNone/>
              <a:defRPr sz="1350"/>
            </a:lvl3pPr>
            <a:lvl4pPr>
              <a:buNone/>
              <a:defRPr sz="1200"/>
            </a:lvl4pPr>
            <a:lvl5pPr>
              <a:buNone/>
              <a:defRPr sz="1200"/>
            </a:lvl5pPr>
            <a:lvl6pPr>
              <a:buNone/>
              <a:defRPr sz="1200"/>
            </a:lvl6pPr>
            <a:lvl7pPr>
              <a:buNone/>
              <a:defRPr sz="1200"/>
            </a:lvl7pPr>
            <a:lvl8pPr>
              <a:buNone/>
              <a:defRPr sz="1200"/>
            </a:lvl8pPr>
            <a:lvl9pPr>
              <a:buNone/>
              <a:defRPr sz="120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5" name="Textplatzhalter 4">
            <a:extLst>
              <a:ext uri="{FF2B5EF4-FFF2-40B4-BE49-F238E27FC236}">
                <a16:creationId xmlns:a16="http://schemas.microsoft.com/office/drawing/2014/main" id="{F441FB17-AB68-4403-8F78-7E5BE36A0347}"/>
              </a:ext>
            </a:extLst>
          </p:cNvPr>
          <p:cNvSpPr>
            <a:spLocks noGrp="1"/>
          </p:cNvSpPr>
          <p:nvPr>
            <p:ph type="body"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Textmasterformat bearbeiten</a:t>
            </a:r>
          </a:p>
        </p:txBody>
      </p:sp>
      <p:sp>
        <p:nvSpPr>
          <p:cNvPr id="6" name="Inhaltsplatzhalter 5">
            <a:extLst>
              <a:ext uri="{FF2B5EF4-FFF2-40B4-BE49-F238E27FC236}">
                <a16:creationId xmlns:a16="http://schemas.microsoft.com/office/drawing/2014/main" id="{2151470F-342E-4D82-8CE0-B825E6A6C8FD}"/>
              </a:ext>
            </a:extLst>
          </p:cNvPr>
          <p:cNvSpPr>
            <a:spLocks noGrp="1"/>
          </p:cNvSpPr>
          <p:nvPr>
            <p:ph idx="4"/>
          </p:nvPr>
        </p:nvSpPr>
        <p:spPr>
          <a:xfrm>
            <a:off x="4645026" y="1631156"/>
            <a:ext cx="4041775" cy="2963466"/>
          </a:xfrm>
        </p:spPr>
        <p:txBody>
          <a:bodyPr/>
          <a:lstStyle>
            <a:lvl1pPr>
              <a:buNone/>
              <a:defRPr sz="1800"/>
            </a:lvl1pPr>
            <a:lvl2pPr>
              <a:buNone/>
              <a:defRPr sz="1500"/>
            </a:lvl2pPr>
            <a:lvl3pPr>
              <a:buNone/>
              <a:defRPr sz="1350"/>
            </a:lvl3pPr>
            <a:lvl4pPr>
              <a:buNone/>
              <a:defRPr sz="1200"/>
            </a:lvl4pPr>
            <a:lvl5pPr>
              <a:buNone/>
              <a:defRPr sz="1200"/>
            </a:lvl5pPr>
            <a:lvl6pPr>
              <a:buNone/>
              <a:defRPr sz="1200"/>
            </a:lvl6pPr>
            <a:lvl7pPr>
              <a:buNone/>
              <a:defRPr sz="1200"/>
            </a:lvl7pPr>
            <a:lvl8pPr>
              <a:buNone/>
              <a:defRPr sz="1200"/>
            </a:lvl8pPr>
            <a:lvl9pPr>
              <a:buNone/>
              <a:defRPr sz="120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7" name="Datumsplatzhalter 6">
            <a:extLst>
              <a:ext uri="{FF2B5EF4-FFF2-40B4-BE49-F238E27FC236}">
                <a16:creationId xmlns:a16="http://schemas.microsoft.com/office/drawing/2014/main" id="{D8DACECA-CCE4-4F0F-8AE2-CFD22C219D99}"/>
              </a:ext>
            </a:extLst>
          </p:cNvPr>
          <p:cNvSpPr>
            <a:spLocks noGrp="1"/>
          </p:cNvSpPr>
          <p:nvPr>
            <p:ph type="dt" idx="10"/>
          </p:nvPr>
        </p:nvSpPr>
        <p:spPr/>
        <p:txBody>
          <a:bodyPr/>
          <a:lstStyle/>
          <a:p>
            <a:fld id="{9BF2F809-AE36-447A-BE8D-DBD43813230D}" type="datetime1">
              <a:t>9/17/2026</a:t>
            </a:fld>
            <a:endParaRPr/>
          </a:p>
        </p:txBody>
      </p:sp>
      <p:sp>
        <p:nvSpPr>
          <p:cNvPr id="8" name="Fußzeilenplatzhalter 7">
            <a:extLst>
              <a:ext uri="{FF2B5EF4-FFF2-40B4-BE49-F238E27FC236}">
                <a16:creationId xmlns:a16="http://schemas.microsoft.com/office/drawing/2014/main" id="{7DB2DCED-C1E2-4728-81C3-E60969112EA0}"/>
              </a:ext>
            </a:extLst>
          </p:cNvPr>
          <p:cNvSpPr>
            <a:spLocks noGrp="1"/>
          </p:cNvSpPr>
          <p:nvPr>
            <p:ph type="ftr" idx="11"/>
          </p:nvPr>
        </p:nvSpPr>
        <p:spPr/>
        <p:txBody>
          <a:bodyPr/>
          <a:lstStyle/>
          <a:p>
            <a:r>
              <a:t>SPP Initiative – Kognitive Mehrfachanforderungen</a:t>
            </a:r>
          </a:p>
        </p:txBody>
      </p:sp>
      <p:sp>
        <p:nvSpPr>
          <p:cNvPr id="9" name="Foliennummernplatzhalter 8">
            <a:extLst>
              <a:ext uri="{FF2B5EF4-FFF2-40B4-BE49-F238E27FC236}">
                <a16:creationId xmlns:a16="http://schemas.microsoft.com/office/drawing/2014/main" id="{22FF7CEF-7F67-4E4E-86B0-78A1E6B20463}"/>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5EF8EA-3A79-4D0A-9E9D-BAF231039B8C}"/>
              </a:ext>
            </a:extLst>
          </p:cNvPr>
          <p:cNvSpPr>
            <a:spLocks noGrp="1"/>
          </p:cNvSpPr>
          <p:nvPr>
            <p:ph type="title"/>
          </p:nvPr>
        </p:nvSpPr>
        <p:spPr/>
        <p:txBody>
          <a:bodyPr/>
          <a:lstStyle/>
          <a:p>
            <a:r>
              <a:t>Titelmasterformat durch Klicken bearbeiten</a:t>
            </a:r>
          </a:p>
        </p:txBody>
      </p:sp>
      <p:sp>
        <p:nvSpPr>
          <p:cNvPr id="3" name="Datumsplatzhalter 2">
            <a:extLst>
              <a:ext uri="{FF2B5EF4-FFF2-40B4-BE49-F238E27FC236}">
                <a16:creationId xmlns:a16="http://schemas.microsoft.com/office/drawing/2014/main" id="{FA8F1E3A-15F2-4079-B8C7-AF16AD23D982}"/>
              </a:ext>
            </a:extLst>
          </p:cNvPr>
          <p:cNvSpPr>
            <a:spLocks noGrp="1"/>
          </p:cNvSpPr>
          <p:nvPr>
            <p:ph type="dt" idx="10"/>
          </p:nvPr>
        </p:nvSpPr>
        <p:spPr/>
        <p:txBody>
          <a:bodyPr/>
          <a:lstStyle/>
          <a:p>
            <a:fld id="{C3E9AD70-BBFA-4BDA-AD17-94996E01E40D}" type="datetime1">
              <a:t>9/17/2026</a:t>
            </a:fld>
            <a:endParaRPr/>
          </a:p>
        </p:txBody>
      </p:sp>
      <p:sp>
        <p:nvSpPr>
          <p:cNvPr id="4" name="Fußzeilenplatzhalter 3">
            <a:extLst>
              <a:ext uri="{FF2B5EF4-FFF2-40B4-BE49-F238E27FC236}">
                <a16:creationId xmlns:a16="http://schemas.microsoft.com/office/drawing/2014/main" id="{9663DFE6-88B7-41D6-AC99-59B0CABFD6D8}"/>
              </a:ext>
            </a:extLst>
          </p:cNvPr>
          <p:cNvSpPr>
            <a:spLocks noGrp="1"/>
          </p:cNvSpPr>
          <p:nvPr>
            <p:ph type="ftr" idx="11"/>
          </p:nvPr>
        </p:nvSpPr>
        <p:spPr/>
        <p:txBody>
          <a:bodyPr/>
          <a:lstStyle/>
          <a:p>
            <a:r>
              <a:t>SPP Initiative – Kognitive Mehrfachanforderungen</a:t>
            </a:r>
          </a:p>
        </p:txBody>
      </p:sp>
      <p:sp>
        <p:nvSpPr>
          <p:cNvPr id="5" name="Foliennummernplatzhalter 4">
            <a:extLst>
              <a:ext uri="{FF2B5EF4-FFF2-40B4-BE49-F238E27FC236}">
                <a16:creationId xmlns:a16="http://schemas.microsoft.com/office/drawing/2014/main" id="{1DE91E78-25D0-4CF5-A737-377231448080}"/>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A1529D24-EA50-4266-96C2-1DBB992D2A7A}"/>
              </a:ext>
            </a:extLst>
          </p:cNvPr>
          <p:cNvSpPr>
            <a:spLocks noGrp="1"/>
          </p:cNvSpPr>
          <p:nvPr>
            <p:ph type="dt" idx="10"/>
          </p:nvPr>
        </p:nvSpPr>
        <p:spPr/>
        <p:txBody>
          <a:bodyPr/>
          <a:lstStyle/>
          <a:p>
            <a:fld id="{012A5E7E-DC59-44FF-98CB-32ED5C7DF30F}" type="datetime1">
              <a:t>9/17/2026</a:t>
            </a:fld>
            <a:endParaRPr/>
          </a:p>
        </p:txBody>
      </p:sp>
      <p:sp>
        <p:nvSpPr>
          <p:cNvPr id="3" name="Fußzeilenplatzhalter 2">
            <a:extLst>
              <a:ext uri="{FF2B5EF4-FFF2-40B4-BE49-F238E27FC236}">
                <a16:creationId xmlns:a16="http://schemas.microsoft.com/office/drawing/2014/main" id="{37661DB9-2EA2-429E-A720-C292CF5B74B6}"/>
              </a:ext>
            </a:extLst>
          </p:cNvPr>
          <p:cNvSpPr>
            <a:spLocks noGrp="1"/>
          </p:cNvSpPr>
          <p:nvPr>
            <p:ph type="ftr" idx="11"/>
          </p:nvPr>
        </p:nvSpPr>
        <p:spPr/>
        <p:txBody>
          <a:bodyPr/>
          <a:lstStyle/>
          <a:p>
            <a:r>
              <a:t>SPP Initiative – Kognitive Mehrfachanforderungen</a:t>
            </a:r>
          </a:p>
        </p:txBody>
      </p:sp>
      <p:sp>
        <p:nvSpPr>
          <p:cNvPr id="4" name="Foliennummernplatzhalter 3">
            <a:extLst>
              <a:ext uri="{FF2B5EF4-FFF2-40B4-BE49-F238E27FC236}">
                <a16:creationId xmlns:a16="http://schemas.microsoft.com/office/drawing/2014/main" id="{FADD4549-9270-49D6-914B-C325B4F77D5A}"/>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59C704-CC59-470C-A759-B25A9213345D}"/>
              </a:ext>
            </a:extLst>
          </p:cNvPr>
          <p:cNvSpPr>
            <a:spLocks noGrp="1"/>
          </p:cNvSpPr>
          <p:nvPr>
            <p:ph type="title"/>
          </p:nvPr>
        </p:nvSpPr>
        <p:spPr>
          <a:xfrm>
            <a:off x="457201" y="204787"/>
            <a:ext cx="3008313" cy="871538"/>
          </a:xfrm>
        </p:spPr>
        <p:txBody>
          <a:bodyPr anchor="b"/>
          <a:lstStyle>
            <a:lvl1pPr algn="l">
              <a:buNone/>
              <a:defRPr sz="1500" b="1"/>
            </a:lvl1pPr>
          </a:lstStyle>
          <a:p>
            <a:r>
              <a:t>Titelmasterformat durch Klicken bearbeiten</a:t>
            </a:r>
          </a:p>
        </p:txBody>
      </p:sp>
      <p:sp>
        <p:nvSpPr>
          <p:cNvPr id="3" name="Inhaltsplatzhalter 2">
            <a:extLst>
              <a:ext uri="{FF2B5EF4-FFF2-40B4-BE49-F238E27FC236}">
                <a16:creationId xmlns:a16="http://schemas.microsoft.com/office/drawing/2014/main" id="{21D0AAFD-0EE3-46C1-B594-44E21917D6D0}"/>
              </a:ext>
            </a:extLst>
          </p:cNvPr>
          <p:cNvSpPr>
            <a:spLocks noGrp="1"/>
          </p:cNvSpPr>
          <p:nvPr>
            <p:ph idx="1"/>
          </p:nvPr>
        </p:nvSpPr>
        <p:spPr>
          <a:xfrm>
            <a:off x="3575050" y="204788"/>
            <a:ext cx="5111750" cy="4389835"/>
          </a:xfrm>
        </p:spPr>
        <p:txBody>
          <a:bodyPr/>
          <a:lstStyle>
            <a:lvl1pPr>
              <a:buNone/>
              <a:defRPr sz="2400"/>
            </a:lvl1pPr>
            <a:lvl2pPr>
              <a:buNone/>
              <a:defRPr sz="2100"/>
            </a:lvl2pPr>
            <a:lvl3pPr>
              <a:buNone/>
              <a:defRPr sz="1800"/>
            </a:lvl3pPr>
            <a:lvl4pPr>
              <a:buNone/>
              <a:defRPr sz="1500"/>
            </a:lvl4pPr>
            <a:lvl5pPr>
              <a:buNone/>
              <a:defRPr sz="1500"/>
            </a:lvl5pPr>
            <a:lvl6pPr>
              <a:buNone/>
              <a:defRPr sz="1500"/>
            </a:lvl6pPr>
            <a:lvl7pPr>
              <a:buNone/>
              <a:defRPr sz="1500"/>
            </a:lvl7pPr>
            <a:lvl8pPr>
              <a:buNone/>
              <a:defRPr sz="1500"/>
            </a:lvl8pPr>
            <a:lvl9pPr>
              <a:buNone/>
              <a:defRPr sz="150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Textplatzhalter 3">
            <a:extLst>
              <a:ext uri="{FF2B5EF4-FFF2-40B4-BE49-F238E27FC236}">
                <a16:creationId xmlns:a16="http://schemas.microsoft.com/office/drawing/2014/main" id="{A663634A-BDEE-4064-9945-987A40D32096}"/>
              </a:ext>
            </a:extLst>
          </p:cNvPr>
          <p:cNvSpPr>
            <a:spLocks noGrp="1"/>
          </p:cNvSpPr>
          <p:nvPr>
            <p:ph type="body"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buNone/>
            </a:pPr>
            <a:r>
              <a:t>Textmasterformat bearbeiten</a:t>
            </a:r>
          </a:p>
        </p:txBody>
      </p:sp>
      <p:sp>
        <p:nvSpPr>
          <p:cNvPr id="5" name="Datumsplatzhalter 4">
            <a:extLst>
              <a:ext uri="{FF2B5EF4-FFF2-40B4-BE49-F238E27FC236}">
                <a16:creationId xmlns:a16="http://schemas.microsoft.com/office/drawing/2014/main" id="{5391EBD8-A766-492C-8454-76F8A2163A62}"/>
              </a:ext>
            </a:extLst>
          </p:cNvPr>
          <p:cNvSpPr>
            <a:spLocks noGrp="1"/>
          </p:cNvSpPr>
          <p:nvPr>
            <p:ph type="dt" idx="10"/>
          </p:nvPr>
        </p:nvSpPr>
        <p:spPr/>
        <p:txBody>
          <a:bodyPr/>
          <a:lstStyle/>
          <a:p>
            <a:fld id="{75CBFBE5-D840-46F9-A1EC-71EE2BFB233E}" type="datetime1">
              <a:t>9/17/2026</a:t>
            </a:fld>
            <a:endParaRPr/>
          </a:p>
        </p:txBody>
      </p:sp>
      <p:sp>
        <p:nvSpPr>
          <p:cNvPr id="6" name="Fußzeilenplatzhalter 5">
            <a:extLst>
              <a:ext uri="{FF2B5EF4-FFF2-40B4-BE49-F238E27FC236}">
                <a16:creationId xmlns:a16="http://schemas.microsoft.com/office/drawing/2014/main" id="{9B9CD980-E304-4A72-AFD4-5342C146FA8B}"/>
              </a:ext>
            </a:extLst>
          </p:cNvPr>
          <p:cNvSpPr>
            <a:spLocks noGrp="1"/>
          </p:cNvSpPr>
          <p:nvPr>
            <p:ph type="ftr" idx="11"/>
          </p:nvPr>
        </p:nvSpPr>
        <p:spPr/>
        <p:txBody>
          <a:bodyPr/>
          <a:lstStyle/>
          <a:p>
            <a:r>
              <a:t>SPP Initiative – Kognitive Mehrfachanforderungen</a:t>
            </a:r>
          </a:p>
        </p:txBody>
      </p:sp>
      <p:sp>
        <p:nvSpPr>
          <p:cNvPr id="7" name="Foliennummernplatzhalter 6">
            <a:extLst>
              <a:ext uri="{FF2B5EF4-FFF2-40B4-BE49-F238E27FC236}">
                <a16:creationId xmlns:a16="http://schemas.microsoft.com/office/drawing/2014/main" id="{B566403A-C0D9-4D47-B0EC-F95FB97E0F5E}"/>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AFB180-EE0F-4027-BA8D-50FE31578E90}"/>
              </a:ext>
            </a:extLst>
          </p:cNvPr>
          <p:cNvSpPr>
            <a:spLocks noGrp="1"/>
          </p:cNvSpPr>
          <p:nvPr>
            <p:ph type="title"/>
          </p:nvPr>
        </p:nvSpPr>
        <p:spPr>
          <a:xfrm>
            <a:off x="1792288" y="3600450"/>
            <a:ext cx="5486400" cy="425054"/>
          </a:xfrm>
        </p:spPr>
        <p:txBody>
          <a:bodyPr anchor="b"/>
          <a:lstStyle>
            <a:lvl1pPr algn="l">
              <a:buNone/>
              <a:defRPr sz="1500" b="1"/>
            </a:lvl1pPr>
          </a:lstStyle>
          <a:p>
            <a:r>
              <a:t>Titelmasterformat durch Klicken bearbeiten</a:t>
            </a:r>
          </a:p>
        </p:txBody>
      </p:sp>
      <p:sp>
        <p:nvSpPr>
          <p:cNvPr id="3" name="Bildplatzhalter 2">
            <a:extLst>
              <a:ext uri="{FF2B5EF4-FFF2-40B4-BE49-F238E27FC236}">
                <a16:creationId xmlns:a16="http://schemas.microsoft.com/office/drawing/2014/main" id="{D8112F38-0E7C-4D9D-93C2-26A65DC635EF}"/>
              </a:ext>
            </a:extLst>
          </p:cNvPr>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a:p>
        </p:txBody>
      </p:sp>
      <p:sp>
        <p:nvSpPr>
          <p:cNvPr id="4" name="Textplatzhalter 3">
            <a:extLst>
              <a:ext uri="{FF2B5EF4-FFF2-40B4-BE49-F238E27FC236}">
                <a16:creationId xmlns:a16="http://schemas.microsoft.com/office/drawing/2014/main" id="{3CB453E4-51BE-4E13-BCD4-FA22985B28CF}"/>
              </a:ext>
            </a:extLst>
          </p:cNvPr>
          <p:cNvSpPr>
            <a:spLocks noGrp="1"/>
          </p:cNvSpPr>
          <p:nvPr>
            <p:ph type="body"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buNone/>
            </a:pPr>
            <a:r>
              <a:t>Textmasterformat bearbeiten</a:t>
            </a:r>
          </a:p>
        </p:txBody>
      </p:sp>
      <p:sp>
        <p:nvSpPr>
          <p:cNvPr id="5" name="Datumsplatzhalter 4">
            <a:extLst>
              <a:ext uri="{FF2B5EF4-FFF2-40B4-BE49-F238E27FC236}">
                <a16:creationId xmlns:a16="http://schemas.microsoft.com/office/drawing/2014/main" id="{2713AA27-DB99-44AB-B0BD-894EA22534D7}"/>
              </a:ext>
            </a:extLst>
          </p:cNvPr>
          <p:cNvSpPr>
            <a:spLocks noGrp="1"/>
          </p:cNvSpPr>
          <p:nvPr>
            <p:ph type="dt" idx="10"/>
          </p:nvPr>
        </p:nvSpPr>
        <p:spPr/>
        <p:txBody>
          <a:bodyPr/>
          <a:lstStyle/>
          <a:p>
            <a:fld id="{310E40CA-5887-4B04-9981-5E3E0EE4CEE6}" type="datetime1">
              <a:t>9/17/2026</a:t>
            </a:fld>
            <a:endParaRPr/>
          </a:p>
        </p:txBody>
      </p:sp>
      <p:sp>
        <p:nvSpPr>
          <p:cNvPr id="6" name="Fußzeilenplatzhalter 5">
            <a:extLst>
              <a:ext uri="{FF2B5EF4-FFF2-40B4-BE49-F238E27FC236}">
                <a16:creationId xmlns:a16="http://schemas.microsoft.com/office/drawing/2014/main" id="{146C6D9D-C975-4602-89B4-E211853F0C12}"/>
              </a:ext>
            </a:extLst>
          </p:cNvPr>
          <p:cNvSpPr>
            <a:spLocks noGrp="1"/>
          </p:cNvSpPr>
          <p:nvPr>
            <p:ph type="ftr" idx="11"/>
          </p:nvPr>
        </p:nvSpPr>
        <p:spPr/>
        <p:txBody>
          <a:bodyPr/>
          <a:lstStyle/>
          <a:p>
            <a:r>
              <a:t>SPP Initiative – Kognitive Mehrfachanforderungen</a:t>
            </a:r>
          </a:p>
        </p:txBody>
      </p:sp>
      <p:sp>
        <p:nvSpPr>
          <p:cNvPr id="7" name="Foliennummernplatzhalter 6">
            <a:extLst>
              <a:ext uri="{FF2B5EF4-FFF2-40B4-BE49-F238E27FC236}">
                <a16:creationId xmlns:a16="http://schemas.microsoft.com/office/drawing/2014/main" id="{1F8DCE36-D6A4-4ECE-AE3A-273B0C226E7C}"/>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DD05A9-9078-497C-98D1-1F2E12AA8CE1}"/>
              </a:ext>
            </a:extLst>
          </p:cNvPr>
          <p:cNvSpPr>
            <a:spLocks noGrp="1"/>
          </p:cNvSpPr>
          <p:nvPr>
            <p:ph type="title"/>
          </p:nvPr>
        </p:nvSpPr>
        <p:spPr/>
        <p:txBody>
          <a:bodyPr/>
          <a:lstStyle/>
          <a:p>
            <a:r>
              <a:t>Titelmasterformat durch Klicken bearbeiten</a:t>
            </a:r>
          </a:p>
        </p:txBody>
      </p:sp>
      <p:sp>
        <p:nvSpPr>
          <p:cNvPr id="3" name="Vertikaler Textplatzhalter 2">
            <a:extLst>
              <a:ext uri="{FF2B5EF4-FFF2-40B4-BE49-F238E27FC236}">
                <a16:creationId xmlns:a16="http://schemas.microsoft.com/office/drawing/2014/main" id="{804284EF-FBB4-41A6-91E9-7A93FCF52BAD}"/>
              </a:ext>
            </a:extLst>
          </p:cNvPr>
          <p:cNvSpPr>
            <a:spLocks noGrp="1"/>
          </p:cNvSpPr>
          <p:nvPr>
            <p:ph type="body" idx="1"/>
          </p:nvPr>
        </p:nvSpPr>
        <p:spPr/>
        <p:txBody>
          <a:bodyPr vert="eaVert"/>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Datumsplatzhalter 3">
            <a:extLst>
              <a:ext uri="{FF2B5EF4-FFF2-40B4-BE49-F238E27FC236}">
                <a16:creationId xmlns:a16="http://schemas.microsoft.com/office/drawing/2014/main" id="{E6C6ECC1-85D3-4B69-8B8B-B945D02D5E9A}"/>
              </a:ext>
            </a:extLst>
          </p:cNvPr>
          <p:cNvSpPr>
            <a:spLocks noGrp="1"/>
          </p:cNvSpPr>
          <p:nvPr>
            <p:ph type="dt" idx="10"/>
          </p:nvPr>
        </p:nvSpPr>
        <p:spPr/>
        <p:txBody>
          <a:bodyPr/>
          <a:lstStyle/>
          <a:p>
            <a:fld id="{984F1C03-9221-492F-9D3B-13656BBDDDDC}" type="datetime1">
              <a:t>9/17/2026</a:t>
            </a:fld>
            <a:endParaRPr/>
          </a:p>
        </p:txBody>
      </p:sp>
      <p:sp>
        <p:nvSpPr>
          <p:cNvPr id="5" name="Fußzeilenplatzhalter 4">
            <a:extLst>
              <a:ext uri="{FF2B5EF4-FFF2-40B4-BE49-F238E27FC236}">
                <a16:creationId xmlns:a16="http://schemas.microsoft.com/office/drawing/2014/main" id="{754F05A0-5111-474A-891A-48581C68A5B4}"/>
              </a:ext>
            </a:extLst>
          </p:cNvPr>
          <p:cNvSpPr>
            <a:spLocks noGrp="1"/>
          </p:cNvSpPr>
          <p:nvPr>
            <p:ph type="ftr" idx="11"/>
          </p:nvPr>
        </p:nvSpPr>
        <p:spPr/>
        <p:txBody>
          <a:bodyPr/>
          <a:lstStyle/>
          <a:p>
            <a:r>
              <a:t>SPP Initiative – Kognitive Mehrfachanforderungen</a:t>
            </a:r>
          </a:p>
        </p:txBody>
      </p:sp>
      <p:sp>
        <p:nvSpPr>
          <p:cNvPr id="6" name="Foliennummernplatzhalter 5">
            <a:extLst>
              <a:ext uri="{FF2B5EF4-FFF2-40B4-BE49-F238E27FC236}">
                <a16:creationId xmlns:a16="http://schemas.microsoft.com/office/drawing/2014/main" id="{D27E9626-667F-4400-99BC-058667B9482E}"/>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2FDB7F3A-C943-437B-BB4A-B1E3FFC53F7D}"/>
              </a:ext>
            </a:extLst>
          </p:cNvPr>
          <p:cNvSpPr>
            <a:spLocks noGrp="1"/>
          </p:cNvSpPr>
          <p:nvPr>
            <p:ph type="title"/>
          </p:nvPr>
        </p:nvSpPr>
        <p:spPr>
          <a:xfrm>
            <a:off x="6629400" y="205979"/>
            <a:ext cx="2057400" cy="4388644"/>
          </a:xfrm>
        </p:spPr>
        <p:txBody>
          <a:bodyPr vert="eaVert"/>
          <a:lstStyle/>
          <a:p>
            <a:r>
              <a:t>Titelmasterformat durch Klicken bearbeiten</a:t>
            </a:r>
          </a:p>
        </p:txBody>
      </p:sp>
      <p:sp>
        <p:nvSpPr>
          <p:cNvPr id="3" name="Vertikaler Textplatzhalter 2">
            <a:extLst>
              <a:ext uri="{FF2B5EF4-FFF2-40B4-BE49-F238E27FC236}">
                <a16:creationId xmlns:a16="http://schemas.microsoft.com/office/drawing/2014/main" id="{D295BEDB-392B-4986-B832-2E040B1335E4}"/>
              </a:ext>
            </a:extLst>
          </p:cNvPr>
          <p:cNvSpPr>
            <a:spLocks noGrp="1"/>
          </p:cNvSpPr>
          <p:nvPr>
            <p:ph type="body" idx="1"/>
          </p:nvPr>
        </p:nvSpPr>
        <p:spPr>
          <a:xfrm>
            <a:off x="457200" y="205979"/>
            <a:ext cx="6019800" cy="4388644"/>
          </a:xfrm>
        </p:spPr>
        <p:txBody>
          <a:bodyPr vert="eaVert"/>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Datumsplatzhalter 3">
            <a:extLst>
              <a:ext uri="{FF2B5EF4-FFF2-40B4-BE49-F238E27FC236}">
                <a16:creationId xmlns:a16="http://schemas.microsoft.com/office/drawing/2014/main" id="{26459150-CB49-45BA-A531-B7E7C0638532}"/>
              </a:ext>
            </a:extLst>
          </p:cNvPr>
          <p:cNvSpPr>
            <a:spLocks noGrp="1"/>
          </p:cNvSpPr>
          <p:nvPr>
            <p:ph type="dt" idx="10"/>
          </p:nvPr>
        </p:nvSpPr>
        <p:spPr/>
        <p:txBody>
          <a:bodyPr/>
          <a:lstStyle/>
          <a:p>
            <a:fld id="{C03166C5-6A3D-4F25-B59A-7D1EDABF349D}" type="datetime1">
              <a:t>9/17/2026</a:t>
            </a:fld>
            <a:endParaRPr/>
          </a:p>
        </p:txBody>
      </p:sp>
      <p:sp>
        <p:nvSpPr>
          <p:cNvPr id="5" name="Fußzeilenplatzhalter 4">
            <a:extLst>
              <a:ext uri="{FF2B5EF4-FFF2-40B4-BE49-F238E27FC236}">
                <a16:creationId xmlns:a16="http://schemas.microsoft.com/office/drawing/2014/main" id="{B51E3B44-68C0-4706-BC0B-8423E01780BD}"/>
              </a:ext>
            </a:extLst>
          </p:cNvPr>
          <p:cNvSpPr>
            <a:spLocks noGrp="1"/>
          </p:cNvSpPr>
          <p:nvPr>
            <p:ph type="ftr" idx="11"/>
          </p:nvPr>
        </p:nvSpPr>
        <p:spPr/>
        <p:txBody>
          <a:bodyPr/>
          <a:lstStyle/>
          <a:p>
            <a:r>
              <a:t>SPP Initiative – Kognitive Mehrfachanforderungen</a:t>
            </a:r>
          </a:p>
        </p:txBody>
      </p:sp>
      <p:sp>
        <p:nvSpPr>
          <p:cNvPr id="6" name="Foliennummernplatzhalter 5">
            <a:extLst>
              <a:ext uri="{FF2B5EF4-FFF2-40B4-BE49-F238E27FC236}">
                <a16:creationId xmlns:a16="http://schemas.microsoft.com/office/drawing/2014/main" id="{18E8E25A-0757-45B4-97B6-09DF8F345E46}"/>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1597819"/>
            <a:ext cx="7772400" cy="1102519"/>
          </a:xfrm>
        </p:spPr>
        <p:txBody>
          <a:bodyPr/>
          <a:lstStyle>
            <a:lvl1pPr>
              <a:defRPr>
                <a:solidFill>
                  <a:srgbClr val="3A77AD"/>
                </a:solidFill>
              </a:defRPr>
            </a:lvl1pPr>
          </a:lstStyle>
          <a:p>
            <a:r>
              <a:rPr lang="de-DE"/>
              <a:t>Titelmasterformat durch Klicken bearbeiten</a:t>
            </a:r>
          </a:p>
        </p:txBody>
      </p:sp>
      <p:sp>
        <p:nvSpPr>
          <p:cNvPr id="3" name="Untertitel 2"/>
          <p:cNvSpPr>
            <a:spLocks noGrp="1"/>
          </p:cNvSpPr>
          <p:nvPr>
            <p:ph type="subTitle" idx="1"/>
          </p:nvPr>
        </p:nvSpPr>
        <p:spPr>
          <a:xfrm>
            <a:off x="1371600" y="2914650"/>
            <a:ext cx="6400800" cy="1314450"/>
          </a:xfrm>
        </p:spPr>
        <p:txBody>
          <a:bodyPr/>
          <a:lstStyle>
            <a:lvl1pPr marL="0" indent="0" algn="ctr">
              <a:buNone/>
              <a:defRPr>
                <a:solidFill>
                  <a:srgbClr val="3A77AD"/>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8DD25DDA-D26E-4C65-81E7-886BFA2DBF4B}" type="datetime1">
              <a:rPr lang="de-DE" smtClean="0"/>
              <a:pPr/>
              <a:t>17.09.2026</a:t>
            </a:fld>
            <a:endParaRPr lang="de-DE"/>
          </a:p>
        </p:txBody>
      </p:sp>
      <p:sp>
        <p:nvSpPr>
          <p:cNvPr id="5" name="Fußzeilenplatzhalter 4"/>
          <p:cNvSpPr>
            <a:spLocks noGrp="1"/>
          </p:cNvSpPr>
          <p:nvPr>
            <p:ph type="ftr" sz="quarter" idx="11"/>
          </p:nvPr>
        </p:nvSpPr>
        <p:spPr/>
        <p:txBody>
          <a:bodyPr/>
          <a:lstStyle/>
          <a:p>
            <a:r>
              <a:rPr lang="de-DE"/>
              <a:t>SPP Initiative – Kognitive Mehrfachanforderungen</a:t>
            </a:r>
          </a:p>
        </p:txBody>
      </p:sp>
      <p:sp>
        <p:nvSpPr>
          <p:cNvPr id="6" name="Foliennummernplatzhalter 5"/>
          <p:cNvSpPr>
            <a:spLocks noGrp="1"/>
          </p:cNvSpPr>
          <p:nvPr>
            <p:ph type="sldNum" sz="quarter" idx="12"/>
          </p:nvPr>
        </p:nvSpPr>
        <p:spPr/>
        <p:txBody>
          <a:bodyPr/>
          <a:lstStyle/>
          <a:p>
            <a:fld id="{5CD88B4E-D815-417B-99FD-41D66E5C06D4}" type="slidenum">
              <a:rPr lang="de-DE" smtClean="0"/>
              <a:pPr/>
              <a:t>‹Nr.›</a:t>
            </a:fld>
            <a:endParaRPr lang="de-DE"/>
          </a:p>
        </p:txBody>
      </p:sp>
    </p:spTree>
    <p:extLst>
      <p:ext uri="{BB962C8B-B14F-4D97-AF65-F5344CB8AC3E}">
        <p14:creationId xmlns:p14="http://schemas.microsoft.com/office/powerpoint/2010/main" val="18263240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atin typeface="Arial Unicode MS" pitchFamily="34" charset="-128"/>
                <a:ea typeface="Arial Unicode MS" pitchFamily="34" charset="-128"/>
                <a:cs typeface="Arial Unicode MS" pitchFamily="34" charset="-128"/>
              </a:defRPr>
            </a:lvl1pPr>
          </a:lstStyle>
          <a:p>
            <a:r>
              <a:rPr lang="en-US" noProof="0" err="1"/>
              <a:t>Titelmasterformat</a:t>
            </a:r>
            <a:r>
              <a:rPr lang="en-US" noProof="0"/>
              <a:t> </a:t>
            </a:r>
            <a:r>
              <a:rPr lang="en-US" noProof="0" err="1"/>
              <a:t>durch</a:t>
            </a:r>
            <a:r>
              <a:rPr lang="en-US" noProof="0"/>
              <a:t> </a:t>
            </a:r>
            <a:r>
              <a:rPr lang="en-US" noProof="0" err="1"/>
              <a:t>Klicken</a:t>
            </a:r>
            <a:r>
              <a:rPr lang="en-US" noProof="0"/>
              <a:t> </a:t>
            </a:r>
            <a:r>
              <a:rPr lang="en-US" noProof="0" err="1"/>
              <a:t>bearbeiten</a:t>
            </a:r>
            <a:endParaRPr lang="en-US" noProof="0"/>
          </a:p>
        </p:txBody>
      </p:sp>
      <p:sp>
        <p:nvSpPr>
          <p:cNvPr id="3" name="Inhaltsplatzhalter 2"/>
          <p:cNvSpPr>
            <a:spLocks noGrp="1"/>
          </p:cNvSpPr>
          <p:nvPr>
            <p:ph idx="1"/>
          </p:nvPr>
        </p:nvSpPr>
        <p:spPr>
          <a:xfrm>
            <a:off x="457200" y="1190802"/>
            <a:ext cx="8229600" cy="3315816"/>
          </a:xfrm>
        </p:spPr>
        <p:txBody>
          <a:bodyPr/>
          <a:lstStyle>
            <a:lvl4pPr>
              <a:defRPr>
                <a:latin typeface="Arial Unicode MS" pitchFamily="34" charset="-128"/>
                <a:ea typeface="Arial Unicode MS" pitchFamily="34" charset="-128"/>
                <a:cs typeface="Arial Unicode MS" pitchFamily="34" charset="-128"/>
              </a:defRPr>
            </a:lvl4pPr>
          </a:lstStyle>
          <a:p>
            <a:pPr lvl="0"/>
            <a:r>
              <a:rPr lang="en-US" noProof="0" err="1"/>
              <a:t>Textmasterformat</a:t>
            </a:r>
            <a:r>
              <a:rPr lang="en-US" noProof="0"/>
              <a:t> </a:t>
            </a:r>
            <a:r>
              <a:rPr lang="en-US" noProof="0" err="1"/>
              <a:t>bearbeiten</a:t>
            </a:r>
            <a:endParaRPr lang="en-US" noProof="0"/>
          </a:p>
          <a:p>
            <a:pPr lvl="1"/>
            <a:r>
              <a:rPr lang="en-US" noProof="0" err="1"/>
              <a:t>Zweite</a:t>
            </a:r>
            <a:r>
              <a:rPr lang="en-US" noProof="0"/>
              <a:t> </a:t>
            </a:r>
            <a:r>
              <a:rPr lang="en-US" noProof="0" err="1"/>
              <a:t>Ebene</a:t>
            </a:r>
            <a:endParaRPr lang="en-US" noProof="0"/>
          </a:p>
          <a:p>
            <a:pPr lvl="2"/>
            <a:r>
              <a:rPr lang="en-US" noProof="0" err="1"/>
              <a:t>Dritte</a:t>
            </a:r>
            <a:r>
              <a:rPr lang="en-US" noProof="0"/>
              <a:t> </a:t>
            </a:r>
            <a:r>
              <a:rPr lang="en-US" noProof="0" err="1"/>
              <a:t>Ebene</a:t>
            </a:r>
            <a:endParaRPr lang="en-US" noProof="0"/>
          </a:p>
          <a:p>
            <a:pPr lvl="3"/>
            <a:r>
              <a:rPr lang="en-US" noProof="0" err="1"/>
              <a:t>Vierte</a:t>
            </a:r>
            <a:r>
              <a:rPr lang="en-US" noProof="0"/>
              <a:t> </a:t>
            </a:r>
            <a:r>
              <a:rPr lang="en-US" noProof="0" err="1"/>
              <a:t>Ebene</a:t>
            </a:r>
            <a:endParaRPr lang="en-US" noProof="0"/>
          </a:p>
          <a:p>
            <a:pPr lvl="4"/>
            <a:r>
              <a:rPr lang="en-US" noProof="0" err="1"/>
              <a:t>Fünfte</a:t>
            </a:r>
            <a:r>
              <a:rPr lang="en-US" noProof="0"/>
              <a:t> </a:t>
            </a:r>
            <a:r>
              <a:rPr lang="en-US" noProof="0" err="1"/>
              <a:t>Ebene</a:t>
            </a:r>
            <a:endParaRPr lang="en-US" noProof="0"/>
          </a:p>
        </p:txBody>
      </p:sp>
      <p:sp>
        <p:nvSpPr>
          <p:cNvPr id="6" name="Foliennummernplatzhalter 5"/>
          <p:cNvSpPr>
            <a:spLocks noGrp="1"/>
          </p:cNvSpPr>
          <p:nvPr>
            <p:ph type="sldNum" sz="quarter" idx="12"/>
          </p:nvPr>
        </p:nvSpPr>
        <p:spPr>
          <a:xfrm>
            <a:off x="8256300" y="4731990"/>
            <a:ext cx="636180" cy="273844"/>
          </a:xfrm>
        </p:spPr>
        <p:txBody>
          <a:bodyPr/>
          <a:lstStyle>
            <a:lvl1pPr marL="0" algn="r" defTabSz="685800" rtl="0" eaLnBrk="1" latinLnBrk="0" hangingPunct="1">
              <a:defRPr lang="de-DE" sz="1050" kern="1200" smtClean="0">
                <a:solidFill>
                  <a:schemeClr val="tx2">
                    <a:lumMod val="75000"/>
                  </a:schemeClr>
                </a:solidFill>
                <a:latin typeface="Arial Unicode MS" pitchFamily="34" charset="-128"/>
                <a:ea typeface="Arial Unicode MS" pitchFamily="34" charset="-128"/>
                <a:cs typeface="Arial Unicode MS" pitchFamily="34" charset="-128"/>
              </a:defRPr>
            </a:lvl1pPr>
          </a:lstStyle>
          <a:p>
            <a:fld id="{5CD88B4E-D815-417B-99FD-41D66E5C06D4}" type="slidenum">
              <a:rPr lang="de-DE" smtClean="0"/>
              <a:pPr/>
              <a:t>‹Nr.›</a:t>
            </a:fld>
            <a:endParaRPr lang="de-DE"/>
          </a:p>
        </p:txBody>
      </p:sp>
    </p:spTree>
    <p:extLst>
      <p:ext uri="{BB962C8B-B14F-4D97-AF65-F5344CB8AC3E}">
        <p14:creationId xmlns:p14="http://schemas.microsoft.com/office/powerpoint/2010/main" val="28514212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3305176"/>
            <a:ext cx="7772400" cy="1021556"/>
          </a:xfrm>
        </p:spPr>
        <p:txBody>
          <a:bodyPr anchor="t"/>
          <a:lstStyle>
            <a:lvl1pPr algn="l">
              <a:defRPr sz="3000" b="1" cap="all"/>
            </a:lvl1pPr>
          </a:lstStyle>
          <a:p>
            <a:r>
              <a:rPr lang="de-DE"/>
              <a:t>Titelmasterformat durch Klicken bearbeiten</a:t>
            </a:r>
          </a:p>
        </p:txBody>
      </p:sp>
      <p:sp>
        <p:nvSpPr>
          <p:cNvPr id="3" name="Textplatzhalt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de-DE"/>
              <a:t>Textmasterformat bearbeiten</a:t>
            </a:r>
          </a:p>
        </p:txBody>
      </p:sp>
      <p:sp>
        <p:nvSpPr>
          <p:cNvPr id="4" name="Datumsplatzhalter 3"/>
          <p:cNvSpPr>
            <a:spLocks noGrp="1"/>
          </p:cNvSpPr>
          <p:nvPr>
            <p:ph type="dt" sz="half" idx="10"/>
          </p:nvPr>
        </p:nvSpPr>
        <p:spPr/>
        <p:txBody>
          <a:bodyPr/>
          <a:lstStyle/>
          <a:p>
            <a:fld id="{82291B1E-1756-4A5C-A79F-F2FEDD9B6C08}" type="datetime1">
              <a:rPr lang="de-DE" smtClean="0"/>
              <a:pPr/>
              <a:t>17.09.2026</a:t>
            </a:fld>
            <a:endParaRPr lang="de-DE"/>
          </a:p>
        </p:txBody>
      </p:sp>
      <p:sp>
        <p:nvSpPr>
          <p:cNvPr id="5" name="Fußzeilenplatzhalter 4"/>
          <p:cNvSpPr>
            <a:spLocks noGrp="1"/>
          </p:cNvSpPr>
          <p:nvPr>
            <p:ph type="ftr" sz="quarter" idx="11"/>
          </p:nvPr>
        </p:nvSpPr>
        <p:spPr/>
        <p:txBody>
          <a:bodyPr/>
          <a:lstStyle/>
          <a:p>
            <a:r>
              <a:rPr lang="de-DE"/>
              <a:t>SPP Initiative – Kognitive Mehrfachanforderungen</a:t>
            </a:r>
          </a:p>
        </p:txBody>
      </p:sp>
      <p:sp>
        <p:nvSpPr>
          <p:cNvPr id="6" name="Foliennummernplatzhalter 5"/>
          <p:cNvSpPr>
            <a:spLocks noGrp="1"/>
          </p:cNvSpPr>
          <p:nvPr>
            <p:ph type="sldNum" sz="quarter" idx="12"/>
          </p:nvPr>
        </p:nvSpPr>
        <p:spPr/>
        <p:txBody>
          <a:bodyPr/>
          <a:lstStyle/>
          <a:p>
            <a:fld id="{5CD88B4E-D815-417B-99FD-41D66E5C06D4}" type="slidenum">
              <a:rPr lang="de-DE" smtClean="0"/>
              <a:pPr/>
              <a:t>‹Nr.›</a:t>
            </a:fld>
            <a:endParaRPr lang="de-DE"/>
          </a:p>
        </p:txBody>
      </p:sp>
    </p:spTree>
    <p:extLst>
      <p:ext uri="{BB962C8B-B14F-4D97-AF65-F5344CB8AC3E}">
        <p14:creationId xmlns:p14="http://schemas.microsoft.com/office/powerpoint/2010/main" val="15475080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C25EF7E3-34C6-4F29-A3E8-B2123BFC8360}" type="datetime1">
              <a:rPr lang="de-DE" smtClean="0"/>
              <a:pPr/>
              <a:t>17.09.2026</a:t>
            </a:fld>
            <a:endParaRPr lang="de-DE"/>
          </a:p>
        </p:txBody>
      </p:sp>
      <p:sp>
        <p:nvSpPr>
          <p:cNvPr id="6" name="Fußzeilenplatzhalter 5"/>
          <p:cNvSpPr>
            <a:spLocks noGrp="1"/>
          </p:cNvSpPr>
          <p:nvPr>
            <p:ph type="ftr" sz="quarter" idx="11"/>
          </p:nvPr>
        </p:nvSpPr>
        <p:spPr/>
        <p:txBody>
          <a:bodyPr/>
          <a:lstStyle/>
          <a:p>
            <a:r>
              <a:rPr lang="de-DE"/>
              <a:t>SPP Initiative – Kognitive Mehrfachanforderungen</a:t>
            </a:r>
          </a:p>
        </p:txBody>
      </p:sp>
      <p:sp>
        <p:nvSpPr>
          <p:cNvPr id="7" name="Foliennummernplatzhalter 6"/>
          <p:cNvSpPr>
            <a:spLocks noGrp="1"/>
          </p:cNvSpPr>
          <p:nvPr>
            <p:ph type="sldNum" sz="quarter" idx="12"/>
          </p:nvPr>
        </p:nvSpPr>
        <p:spPr/>
        <p:txBody>
          <a:bodyPr/>
          <a:lstStyle/>
          <a:p>
            <a:fld id="{5CD88B4E-D815-417B-99FD-41D66E5C06D4}" type="slidenum">
              <a:rPr lang="de-DE" smtClean="0"/>
              <a:pPr/>
              <a:t>‹Nr.›</a:t>
            </a:fld>
            <a:endParaRPr lang="de-DE"/>
          </a:p>
        </p:txBody>
      </p:sp>
    </p:spTree>
    <p:extLst>
      <p:ext uri="{BB962C8B-B14F-4D97-AF65-F5344CB8AC3E}">
        <p14:creationId xmlns:p14="http://schemas.microsoft.com/office/powerpoint/2010/main" val="18716638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Titelmasterformat durch Klicken bearbeiten</a:t>
            </a:r>
          </a:p>
        </p:txBody>
      </p:sp>
      <p:sp>
        <p:nvSpPr>
          <p:cNvPr id="3" name="Textplatzhalt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Textmasterformat bearbeiten</a:t>
            </a:r>
          </a:p>
        </p:txBody>
      </p:sp>
      <p:sp>
        <p:nvSpPr>
          <p:cNvPr id="4" name="Inhaltsplatzhalt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Textmasterformat bearbeiten</a:t>
            </a:r>
          </a:p>
        </p:txBody>
      </p:sp>
      <p:sp>
        <p:nvSpPr>
          <p:cNvPr id="6" name="Inhaltsplatzhalt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9BF2F809-AE36-447A-BE8D-DBD43813230D}" type="datetime1">
              <a:rPr lang="de-DE" smtClean="0"/>
              <a:pPr/>
              <a:t>17.09.2026</a:t>
            </a:fld>
            <a:endParaRPr lang="de-DE"/>
          </a:p>
        </p:txBody>
      </p:sp>
      <p:sp>
        <p:nvSpPr>
          <p:cNvPr id="8" name="Fußzeilenplatzhalter 7"/>
          <p:cNvSpPr>
            <a:spLocks noGrp="1"/>
          </p:cNvSpPr>
          <p:nvPr>
            <p:ph type="ftr" sz="quarter" idx="11"/>
          </p:nvPr>
        </p:nvSpPr>
        <p:spPr/>
        <p:txBody>
          <a:bodyPr/>
          <a:lstStyle/>
          <a:p>
            <a:r>
              <a:rPr lang="de-DE"/>
              <a:t>SPP Initiative – Kognitive Mehrfachanforderungen</a:t>
            </a:r>
          </a:p>
        </p:txBody>
      </p:sp>
      <p:sp>
        <p:nvSpPr>
          <p:cNvPr id="9" name="Foliennummernplatzhalter 8"/>
          <p:cNvSpPr>
            <a:spLocks noGrp="1"/>
          </p:cNvSpPr>
          <p:nvPr>
            <p:ph type="sldNum" sz="quarter" idx="12"/>
          </p:nvPr>
        </p:nvSpPr>
        <p:spPr/>
        <p:txBody>
          <a:bodyPr/>
          <a:lstStyle/>
          <a:p>
            <a:fld id="{5CD88B4E-D815-417B-99FD-41D66E5C06D4}" type="slidenum">
              <a:rPr lang="de-DE" smtClean="0"/>
              <a:pPr/>
              <a:t>‹Nr.›</a:t>
            </a:fld>
            <a:endParaRPr lang="de-DE"/>
          </a:p>
        </p:txBody>
      </p:sp>
    </p:spTree>
    <p:extLst>
      <p:ext uri="{BB962C8B-B14F-4D97-AF65-F5344CB8AC3E}">
        <p14:creationId xmlns:p14="http://schemas.microsoft.com/office/powerpoint/2010/main" val="32566832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C3E9AD70-BBFA-4BDA-AD17-94996E01E40D}" type="datetime1">
              <a:rPr lang="de-DE" smtClean="0"/>
              <a:pPr/>
              <a:t>17.09.2026</a:t>
            </a:fld>
            <a:endParaRPr lang="de-DE"/>
          </a:p>
        </p:txBody>
      </p:sp>
      <p:sp>
        <p:nvSpPr>
          <p:cNvPr id="4" name="Fußzeilenplatzhalter 3"/>
          <p:cNvSpPr>
            <a:spLocks noGrp="1"/>
          </p:cNvSpPr>
          <p:nvPr>
            <p:ph type="ftr" sz="quarter" idx="11"/>
          </p:nvPr>
        </p:nvSpPr>
        <p:spPr/>
        <p:txBody>
          <a:bodyPr/>
          <a:lstStyle/>
          <a:p>
            <a:r>
              <a:rPr lang="de-DE"/>
              <a:t>SPP Initiative – Kognitive Mehrfachanforderungen</a:t>
            </a:r>
          </a:p>
        </p:txBody>
      </p:sp>
      <p:sp>
        <p:nvSpPr>
          <p:cNvPr id="5" name="Foliennummernplatzhalter 4"/>
          <p:cNvSpPr>
            <a:spLocks noGrp="1"/>
          </p:cNvSpPr>
          <p:nvPr>
            <p:ph type="sldNum" sz="quarter" idx="12"/>
          </p:nvPr>
        </p:nvSpPr>
        <p:spPr/>
        <p:txBody>
          <a:bodyPr/>
          <a:lstStyle/>
          <a:p>
            <a:fld id="{5CD88B4E-D815-417B-99FD-41D66E5C06D4}" type="slidenum">
              <a:rPr lang="de-DE" smtClean="0"/>
              <a:pPr/>
              <a:t>‹Nr.›</a:t>
            </a:fld>
            <a:endParaRPr lang="de-DE"/>
          </a:p>
        </p:txBody>
      </p:sp>
    </p:spTree>
    <p:extLst>
      <p:ext uri="{BB962C8B-B14F-4D97-AF65-F5344CB8AC3E}">
        <p14:creationId xmlns:p14="http://schemas.microsoft.com/office/powerpoint/2010/main" val="11754340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12A5E7E-DC59-44FF-98CB-32ED5C7DF30F}" type="datetime1">
              <a:rPr lang="de-DE" smtClean="0"/>
              <a:pPr/>
              <a:t>17.09.2026</a:t>
            </a:fld>
            <a:endParaRPr lang="de-DE"/>
          </a:p>
        </p:txBody>
      </p:sp>
      <p:sp>
        <p:nvSpPr>
          <p:cNvPr id="3" name="Fußzeilenplatzhalter 2"/>
          <p:cNvSpPr>
            <a:spLocks noGrp="1"/>
          </p:cNvSpPr>
          <p:nvPr>
            <p:ph type="ftr" sz="quarter" idx="11"/>
          </p:nvPr>
        </p:nvSpPr>
        <p:spPr/>
        <p:txBody>
          <a:bodyPr/>
          <a:lstStyle/>
          <a:p>
            <a:r>
              <a:rPr lang="de-DE"/>
              <a:t>SPP Initiative – Kognitive Mehrfachanforderungen</a:t>
            </a:r>
          </a:p>
        </p:txBody>
      </p:sp>
      <p:sp>
        <p:nvSpPr>
          <p:cNvPr id="4" name="Foliennummernplatzhalter 3"/>
          <p:cNvSpPr>
            <a:spLocks noGrp="1"/>
          </p:cNvSpPr>
          <p:nvPr>
            <p:ph type="sldNum" sz="quarter" idx="12"/>
          </p:nvPr>
        </p:nvSpPr>
        <p:spPr/>
        <p:txBody>
          <a:bodyPr/>
          <a:lstStyle/>
          <a:p>
            <a:fld id="{5CD88B4E-D815-417B-99FD-41D66E5C06D4}" type="slidenum">
              <a:rPr lang="de-DE" smtClean="0"/>
              <a:pPr/>
              <a:t>‹Nr.›</a:t>
            </a:fld>
            <a:endParaRPr lang="de-DE"/>
          </a:p>
        </p:txBody>
      </p:sp>
    </p:spTree>
    <p:extLst>
      <p:ext uri="{BB962C8B-B14F-4D97-AF65-F5344CB8AC3E}">
        <p14:creationId xmlns:p14="http://schemas.microsoft.com/office/powerpoint/2010/main" val="11504002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1" y="204787"/>
            <a:ext cx="3008313" cy="871538"/>
          </a:xfrm>
        </p:spPr>
        <p:txBody>
          <a:bodyPr anchor="b"/>
          <a:lstStyle>
            <a:lvl1pPr algn="l">
              <a:defRPr sz="1500" b="1"/>
            </a:lvl1pPr>
          </a:lstStyle>
          <a:p>
            <a:r>
              <a:rPr lang="de-DE"/>
              <a:t>Titelmasterformat durch Klicken bearbeiten</a:t>
            </a:r>
          </a:p>
        </p:txBody>
      </p:sp>
      <p:sp>
        <p:nvSpPr>
          <p:cNvPr id="3" name="Inhaltsplatzhalt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de-DE"/>
              <a:t>Textmasterformat bearbeiten</a:t>
            </a:r>
          </a:p>
        </p:txBody>
      </p:sp>
      <p:sp>
        <p:nvSpPr>
          <p:cNvPr id="5" name="Datumsplatzhalter 4"/>
          <p:cNvSpPr>
            <a:spLocks noGrp="1"/>
          </p:cNvSpPr>
          <p:nvPr>
            <p:ph type="dt" sz="half" idx="10"/>
          </p:nvPr>
        </p:nvSpPr>
        <p:spPr/>
        <p:txBody>
          <a:bodyPr/>
          <a:lstStyle/>
          <a:p>
            <a:fld id="{75CBFBE5-D840-46F9-A1EC-71EE2BFB233E}" type="datetime1">
              <a:rPr lang="de-DE" smtClean="0"/>
              <a:pPr/>
              <a:t>17.09.2026</a:t>
            </a:fld>
            <a:endParaRPr lang="de-DE"/>
          </a:p>
        </p:txBody>
      </p:sp>
      <p:sp>
        <p:nvSpPr>
          <p:cNvPr id="6" name="Fußzeilenplatzhalter 5"/>
          <p:cNvSpPr>
            <a:spLocks noGrp="1"/>
          </p:cNvSpPr>
          <p:nvPr>
            <p:ph type="ftr" sz="quarter" idx="11"/>
          </p:nvPr>
        </p:nvSpPr>
        <p:spPr/>
        <p:txBody>
          <a:bodyPr/>
          <a:lstStyle/>
          <a:p>
            <a:r>
              <a:rPr lang="de-DE"/>
              <a:t>SPP Initiative – Kognitive Mehrfachanforderungen</a:t>
            </a:r>
          </a:p>
        </p:txBody>
      </p:sp>
      <p:sp>
        <p:nvSpPr>
          <p:cNvPr id="7" name="Foliennummernplatzhalter 6"/>
          <p:cNvSpPr>
            <a:spLocks noGrp="1"/>
          </p:cNvSpPr>
          <p:nvPr>
            <p:ph type="sldNum" sz="quarter" idx="12"/>
          </p:nvPr>
        </p:nvSpPr>
        <p:spPr/>
        <p:txBody>
          <a:bodyPr/>
          <a:lstStyle/>
          <a:p>
            <a:fld id="{5CD88B4E-D815-417B-99FD-41D66E5C06D4}" type="slidenum">
              <a:rPr lang="de-DE" smtClean="0"/>
              <a:pPr/>
              <a:t>‹Nr.›</a:t>
            </a:fld>
            <a:endParaRPr lang="de-DE"/>
          </a:p>
        </p:txBody>
      </p:sp>
    </p:spTree>
    <p:extLst>
      <p:ext uri="{BB962C8B-B14F-4D97-AF65-F5344CB8AC3E}">
        <p14:creationId xmlns:p14="http://schemas.microsoft.com/office/powerpoint/2010/main" val="38919150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3600450"/>
            <a:ext cx="5486400" cy="425054"/>
          </a:xfrm>
        </p:spPr>
        <p:txBody>
          <a:bodyPr anchor="b"/>
          <a:lstStyle>
            <a:lvl1pPr algn="l">
              <a:defRPr sz="1500" b="1"/>
            </a:lvl1pPr>
          </a:lstStyle>
          <a:p>
            <a:r>
              <a:rPr lang="de-DE"/>
              <a:t>Titelmasterformat durch Klicken bearbeiten</a:t>
            </a:r>
          </a:p>
        </p:txBody>
      </p:sp>
      <p:sp>
        <p:nvSpPr>
          <p:cNvPr id="3" name="Bildplatzhalt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de-DE"/>
          </a:p>
        </p:txBody>
      </p:sp>
      <p:sp>
        <p:nvSpPr>
          <p:cNvPr id="4" name="Textplatzhalt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de-DE"/>
              <a:t>Textmasterformat bearbeiten</a:t>
            </a:r>
          </a:p>
        </p:txBody>
      </p:sp>
      <p:sp>
        <p:nvSpPr>
          <p:cNvPr id="5" name="Datumsplatzhalter 4"/>
          <p:cNvSpPr>
            <a:spLocks noGrp="1"/>
          </p:cNvSpPr>
          <p:nvPr>
            <p:ph type="dt" sz="half" idx="10"/>
          </p:nvPr>
        </p:nvSpPr>
        <p:spPr/>
        <p:txBody>
          <a:bodyPr/>
          <a:lstStyle/>
          <a:p>
            <a:fld id="{310E40CA-5887-4B04-9981-5E3E0EE4CEE6}" type="datetime1">
              <a:rPr lang="de-DE" smtClean="0"/>
              <a:pPr/>
              <a:t>17.09.2026</a:t>
            </a:fld>
            <a:endParaRPr lang="de-DE"/>
          </a:p>
        </p:txBody>
      </p:sp>
      <p:sp>
        <p:nvSpPr>
          <p:cNvPr id="6" name="Fußzeilenplatzhalter 5"/>
          <p:cNvSpPr>
            <a:spLocks noGrp="1"/>
          </p:cNvSpPr>
          <p:nvPr>
            <p:ph type="ftr" sz="quarter" idx="11"/>
          </p:nvPr>
        </p:nvSpPr>
        <p:spPr/>
        <p:txBody>
          <a:bodyPr/>
          <a:lstStyle/>
          <a:p>
            <a:r>
              <a:rPr lang="de-DE"/>
              <a:t>SPP Initiative – Kognitive Mehrfachanforderungen</a:t>
            </a:r>
          </a:p>
        </p:txBody>
      </p:sp>
      <p:sp>
        <p:nvSpPr>
          <p:cNvPr id="7" name="Foliennummernplatzhalter 6"/>
          <p:cNvSpPr>
            <a:spLocks noGrp="1"/>
          </p:cNvSpPr>
          <p:nvPr>
            <p:ph type="sldNum" sz="quarter" idx="12"/>
          </p:nvPr>
        </p:nvSpPr>
        <p:spPr/>
        <p:txBody>
          <a:bodyPr/>
          <a:lstStyle/>
          <a:p>
            <a:fld id="{5CD88B4E-D815-417B-99FD-41D66E5C06D4}" type="slidenum">
              <a:rPr lang="de-DE" smtClean="0"/>
              <a:pPr/>
              <a:t>‹Nr.›</a:t>
            </a:fld>
            <a:endParaRPr lang="de-DE"/>
          </a:p>
        </p:txBody>
      </p:sp>
    </p:spTree>
    <p:extLst>
      <p:ext uri="{BB962C8B-B14F-4D97-AF65-F5344CB8AC3E}">
        <p14:creationId xmlns:p14="http://schemas.microsoft.com/office/powerpoint/2010/main" val="19860852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984F1C03-9221-492F-9D3B-13656BBDDDDC}" type="datetime1">
              <a:rPr lang="de-DE" smtClean="0"/>
              <a:pPr/>
              <a:t>17.09.2026</a:t>
            </a:fld>
            <a:endParaRPr lang="de-DE"/>
          </a:p>
        </p:txBody>
      </p:sp>
      <p:sp>
        <p:nvSpPr>
          <p:cNvPr id="5" name="Fußzeilenplatzhalter 4"/>
          <p:cNvSpPr>
            <a:spLocks noGrp="1"/>
          </p:cNvSpPr>
          <p:nvPr>
            <p:ph type="ftr" sz="quarter" idx="11"/>
          </p:nvPr>
        </p:nvSpPr>
        <p:spPr/>
        <p:txBody>
          <a:bodyPr/>
          <a:lstStyle/>
          <a:p>
            <a:r>
              <a:rPr lang="de-DE"/>
              <a:t>SPP Initiative – Kognitive Mehrfachanforderungen</a:t>
            </a:r>
          </a:p>
        </p:txBody>
      </p:sp>
      <p:sp>
        <p:nvSpPr>
          <p:cNvPr id="6" name="Foliennummernplatzhalter 5"/>
          <p:cNvSpPr>
            <a:spLocks noGrp="1"/>
          </p:cNvSpPr>
          <p:nvPr>
            <p:ph type="sldNum" sz="quarter" idx="12"/>
          </p:nvPr>
        </p:nvSpPr>
        <p:spPr/>
        <p:txBody>
          <a:bodyPr/>
          <a:lstStyle/>
          <a:p>
            <a:fld id="{5CD88B4E-D815-417B-99FD-41D66E5C06D4}" type="slidenum">
              <a:rPr lang="de-DE" smtClean="0"/>
              <a:pPr/>
              <a:t>‹Nr.›</a:t>
            </a:fld>
            <a:endParaRPr lang="de-DE"/>
          </a:p>
        </p:txBody>
      </p:sp>
    </p:spTree>
    <p:extLst>
      <p:ext uri="{BB962C8B-B14F-4D97-AF65-F5344CB8AC3E}">
        <p14:creationId xmlns:p14="http://schemas.microsoft.com/office/powerpoint/2010/main" val="22408777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05979"/>
            <a:ext cx="2057400" cy="4388644"/>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457200" y="205979"/>
            <a:ext cx="6019800" cy="4388644"/>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C03166C5-6A3D-4F25-B59A-7D1EDABF349D}" type="datetime1">
              <a:rPr lang="de-DE" smtClean="0"/>
              <a:pPr/>
              <a:t>17.09.2026</a:t>
            </a:fld>
            <a:endParaRPr lang="de-DE"/>
          </a:p>
        </p:txBody>
      </p:sp>
      <p:sp>
        <p:nvSpPr>
          <p:cNvPr id="5" name="Fußzeilenplatzhalter 4"/>
          <p:cNvSpPr>
            <a:spLocks noGrp="1"/>
          </p:cNvSpPr>
          <p:nvPr>
            <p:ph type="ftr" sz="quarter" idx="11"/>
          </p:nvPr>
        </p:nvSpPr>
        <p:spPr/>
        <p:txBody>
          <a:bodyPr/>
          <a:lstStyle/>
          <a:p>
            <a:r>
              <a:rPr lang="de-DE"/>
              <a:t>SPP Initiative – Kognitive Mehrfachanforderungen</a:t>
            </a:r>
          </a:p>
        </p:txBody>
      </p:sp>
      <p:sp>
        <p:nvSpPr>
          <p:cNvPr id="6" name="Foliennummernplatzhalter 5"/>
          <p:cNvSpPr>
            <a:spLocks noGrp="1"/>
          </p:cNvSpPr>
          <p:nvPr>
            <p:ph type="sldNum" sz="quarter" idx="12"/>
          </p:nvPr>
        </p:nvSpPr>
        <p:spPr/>
        <p:txBody>
          <a:bodyPr/>
          <a:lstStyle/>
          <a:p>
            <a:fld id="{5CD88B4E-D815-417B-99FD-41D66E5C06D4}" type="slidenum">
              <a:rPr lang="de-DE" smtClean="0"/>
              <a:pPr/>
              <a:t>‹Nr.›</a:t>
            </a:fld>
            <a:endParaRPr lang="de-DE"/>
          </a:p>
        </p:txBody>
      </p:sp>
    </p:spTree>
    <p:extLst>
      <p:ext uri="{BB962C8B-B14F-4D97-AF65-F5344CB8AC3E}">
        <p14:creationId xmlns:p14="http://schemas.microsoft.com/office/powerpoint/2010/main" val="36185616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1E5EB6-51D3-4CEE-866B-DD0507A8A478}"/>
              </a:ext>
            </a:extLst>
          </p:cNvPr>
          <p:cNvSpPr>
            <a:spLocks noGrp="1"/>
          </p:cNvSpPr>
          <p:nvPr>
            <p:ph type="ctrTitle"/>
          </p:nvPr>
        </p:nvSpPr>
        <p:spPr>
          <a:xfrm>
            <a:off x="685800" y="1597819"/>
            <a:ext cx="7772400" cy="1102519"/>
          </a:xfrm>
        </p:spPr>
        <p:txBody>
          <a:bodyPr/>
          <a:lstStyle>
            <a:lvl1pPr>
              <a:buNone/>
              <a:defRPr>
                <a:solidFill>
                  <a:srgbClr val="3A77AD"/>
                </a:solidFill>
              </a:defRPr>
            </a:lvl1pPr>
          </a:lstStyle>
          <a:p>
            <a:r>
              <a:t>Titelmasterformat durch Klicken bearbeiten</a:t>
            </a:r>
          </a:p>
        </p:txBody>
      </p:sp>
      <p:sp>
        <p:nvSpPr>
          <p:cNvPr id="3" name="Untertitel 2">
            <a:extLst>
              <a:ext uri="{FF2B5EF4-FFF2-40B4-BE49-F238E27FC236}">
                <a16:creationId xmlns:a16="http://schemas.microsoft.com/office/drawing/2014/main" id="{D607E1D3-AE35-44F2-9141-BC0877E756E5}"/>
              </a:ext>
            </a:extLst>
          </p:cNvPr>
          <p:cNvSpPr>
            <a:spLocks noGrp="1"/>
          </p:cNvSpPr>
          <p:nvPr>
            <p:ph type="subTitle" idx="1"/>
          </p:nvPr>
        </p:nvSpPr>
        <p:spPr>
          <a:xfrm>
            <a:off x="1371600" y="2914650"/>
            <a:ext cx="6400800" cy="1314450"/>
          </a:xfrm>
        </p:spPr>
        <p:txBody>
          <a:bodyPr/>
          <a:lstStyle>
            <a:lvl1pPr marL="0" indent="0" algn="ctr">
              <a:buNone/>
              <a:defRPr>
                <a:solidFill>
                  <a:srgbClr val="3A77AD"/>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t>Formatvorlage des Untertitelmasters durch Klicken bearbeiten</a:t>
            </a:r>
          </a:p>
        </p:txBody>
      </p:sp>
      <p:sp>
        <p:nvSpPr>
          <p:cNvPr id="4" name="Datumsplatzhalter 3">
            <a:extLst>
              <a:ext uri="{FF2B5EF4-FFF2-40B4-BE49-F238E27FC236}">
                <a16:creationId xmlns:a16="http://schemas.microsoft.com/office/drawing/2014/main" id="{60293F25-B3EA-407B-9553-634452D613E5}"/>
              </a:ext>
            </a:extLst>
          </p:cNvPr>
          <p:cNvSpPr>
            <a:spLocks noGrp="1"/>
          </p:cNvSpPr>
          <p:nvPr>
            <p:ph type="dt" idx="10"/>
          </p:nvPr>
        </p:nvSpPr>
        <p:spPr/>
        <p:txBody>
          <a:bodyPr/>
          <a:lstStyle/>
          <a:p>
            <a:fld id="{8DD25DDA-D26E-4C65-81E7-886BFA2DBF4B}" type="datetime1">
              <a:rPr lang="en-US"/>
              <a:t>9/17/2026</a:t>
            </a:fld>
            <a:endParaRPr/>
          </a:p>
        </p:txBody>
      </p:sp>
      <p:sp>
        <p:nvSpPr>
          <p:cNvPr id="5" name="Fußzeilenplatzhalter 4">
            <a:extLst>
              <a:ext uri="{FF2B5EF4-FFF2-40B4-BE49-F238E27FC236}">
                <a16:creationId xmlns:a16="http://schemas.microsoft.com/office/drawing/2014/main" id="{65D50551-C1AF-4734-A668-4A8DF1C3E57F}"/>
              </a:ext>
            </a:extLst>
          </p:cNvPr>
          <p:cNvSpPr>
            <a:spLocks noGrp="1"/>
          </p:cNvSpPr>
          <p:nvPr>
            <p:ph type="ftr" idx="11"/>
          </p:nvPr>
        </p:nvSpPr>
        <p:spPr/>
        <p:txBody>
          <a:bodyPr/>
          <a:lstStyle/>
          <a:p>
            <a:r>
              <a:t>SPP Initiative – Kognitive Mehrfachanforderungen</a:t>
            </a:r>
          </a:p>
        </p:txBody>
      </p:sp>
      <p:sp>
        <p:nvSpPr>
          <p:cNvPr id="6" name="Foliennummernplatzhalter 5">
            <a:extLst>
              <a:ext uri="{FF2B5EF4-FFF2-40B4-BE49-F238E27FC236}">
                <a16:creationId xmlns:a16="http://schemas.microsoft.com/office/drawing/2014/main" id="{D47F039B-F4C6-4131-81AF-F9DDB7D5C99B}"/>
              </a:ext>
            </a:extLst>
          </p:cNvPr>
          <p:cNvSpPr>
            <a:spLocks noGrp="1"/>
          </p:cNvSpPr>
          <p:nvPr>
            <p:ph type="sldNum" idx="12"/>
          </p:nvPr>
        </p:nvSpPr>
        <p:spPr/>
        <p:txBody>
          <a:bodyPr/>
          <a:lstStyle/>
          <a:p>
            <a:fld id="{5CD88B4E-D815-417B-99FD-41D66E5C06D4}" type="slidenum">
              <a:rPr/>
              <a:t>‹Nr.›</a:t>
            </a:fld>
            <a:endParaRPr/>
          </a:p>
        </p:txBody>
      </p:sp>
    </p:spTree>
    <p:extLst>
      <p:ext uri="{BB962C8B-B14F-4D97-AF65-F5344CB8AC3E}">
        <p14:creationId xmlns:p14="http://schemas.microsoft.com/office/powerpoint/2010/main" val="32327590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44703E-4150-4FCF-AC26-4C412DDF59A1}"/>
              </a:ext>
            </a:extLst>
          </p:cNvPr>
          <p:cNvSpPr>
            <a:spLocks noGrp="1"/>
          </p:cNvSpPr>
          <p:nvPr>
            <p:ph type="title"/>
          </p:nvPr>
        </p:nvSpPr>
        <p:spPr/>
        <p:txBody>
          <a:bodyPr/>
          <a:lstStyle>
            <a:lvl1pPr>
              <a:buNone/>
              <a:defRPr>
                <a:latin typeface="Arial Unicode MS"/>
                <a:ea typeface="Arial Unicode MS"/>
                <a:cs typeface="Arial Unicode MS"/>
              </a:defRPr>
            </a:lvl1pPr>
          </a:lstStyle>
          <a:p>
            <a:r>
              <a:rPr dirty="0" err="1"/>
              <a:t>Titelmasterformat</a:t>
            </a:r>
            <a:r>
              <a:rPr dirty="0"/>
              <a:t> </a:t>
            </a:r>
            <a:r>
              <a:rPr dirty="0" err="1"/>
              <a:t>durch</a:t>
            </a:r>
            <a:r>
              <a:rPr dirty="0"/>
              <a:t> </a:t>
            </a:r>
            <a:r>
              <a:rPr dirty="0" err="1"/>
              <a:t>Klicken</a:t>
            </a:r>
            <a:r>
              <a:rPr dirty="0"/>
              <a:t> </a:t>
            </a:r>
            <a:r>
              <a:rPr dirty="0" err="1"/>
              <a:t>bearbeiten</a:t>
            </a:r>
            <a:endParaRPr dirty="0"/>
          </a:p>
        </p:txBody>
      </p:sp>
      <p:sp>
        <p:nvSpPr>
          <p:cNvPr id="3" name="Inhaltsplatzhalter 2">
            <a:extLst>
              <a:ext uri="{FF2B5EF4-FFF2-40B4-BE49-F238E27FC236}">
                <a16:creationId xmlns:a16="http://schemas.microsoft.com/office/drawing/2014/main" id="{D512DA99-6AD5-4B52-A2D7-C464763F3879}"/>
              </a:ext>
            </a:extLst>
          </p:cNvPr>
          <p:cNvSpPr>
            <a:spLocks noGrp="1"/>
          </p:cNvSpPr>
          <p:nvPr>
            <p:ph idx="1"/>
          </p:nvPr>
        </p:nvSpPr>
        <p:spPr>
          <a:xfrm>
            <a:off x="457200" y="1190802"/>
            <a:ext cx="8229600" cy="3315816"/>
          </a:xfrm>
        </p:spPr>
        <p:txBody>
          <a:bodyPr/>
          <a:lstStyle>
            <a:lvl4pPr>
              <a:buNone/>
              <a:defRPr>
                <a:latin typeface="Arial Unicode MS"/>
                <a:ea typeface="Arial Unicode MS"/>
                <a:cs typeface="Arial Unicode MS"/>
              </a:defRPr>
            </a:lvl4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6" name="Foliennummernplatzhalter 5">
            <a:extLst>
              <a:ext uri="{FF2B5EF4-FFF2-40B4-BE49-F238E27FC236}">
                <a16:creationId xmlns:a16="http://schemas.microsoft.com/office/drawing/2014/main" id="{C0329583-F0C0-49DB-9BCF-D833FB7B88AC}"/>
              </a:ext>
            </a:extLst>
          </p:cNvPr>
          <p:cNvSpPr>
            <a:spLocks noGrp="1"/>
          </p:cNvSpPr>
          <p:nvPr>
            <p:ph type="sldNum" idx="12"/>
          </p:nvPr>
        </p:nvSpPr>
        <p:spPr>
          <a:xfrm>
            <a:off x="8256300" y="4731990"/>
            <a:ext cx="636180" cy="273844"/>
          </a:xfrm>
        </p:spPr>
        <p:txBody>
          <a:bodyPr/>
          <a:lstStyle>
            <a:lvl1pPr marL="0" algn="r" defTabSz="685800">
              <a:buNone/>
              <a:defRPr sz="1050" kern="1200">
                <a:solidFill>
                  <a:schemeClr val="tx2">
                    <a:lumMod val="75000"/>
                  </a:schemeClr>
                </a:solidFill>
                <a:latin typeface="Arial Unicode MS"/>
                <a:ea typeface="Arial Unicode MS"/>
                <a:cs typeface="Arial Unicode MS"/>
              </a:defRPr>
            </a:lvl1pPr>
          </a:lstStyle>
          <a:p>
            <a:fld id="{5CD88B4E-D815-417B-99FD-41D66E5C06D4}" type="slidenum">
              <a:rPr/>
              <a:t>‹Nr.›</a:t>
            </a:fld>
            <a:endParaRPr/>
          </a:p>
        </p:txBody>
      </p:sp>
    </p:spTree>
    <p:extLst>
      <p:ext uri="{BB962C8B-B14F-4D97-AF65-F5344CB8AC3E}">
        <p14:creationId xmlns:p14="http://schemas.microsoft.com/office/powerpoint/2010/main" val="32808080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62C48E-9A13-4A7E-AA6A-87D1AC3AC0C8}"/>
              </a:ext>
            </a:extLst>
          </p:cNvPr>
          <p:cNvSpPr>
            <a:spLocks noGrp="1"/>
          </p:cNvSpPr>
          <p:nvPr>
            <p:ph type="title"/>
          </p:nvPr>
        </p:nvSpPr>
        <p:spPr>
          <a:xfrm>
            <a:off x="722313" y="3305176"/>
            <a:ext cx="7772400" cy="1021556"/>
          </a:xfrm>
        </p:spPr>
        <p:txBody>
          <a:bodyPr anchor="t"/>
          <a:lstStyle>
            <a:lvl1pPr algn="l">
              <a:buNone/>
              <a:defRPr sz="3000" b="1" cap="all"/>
            </a:lvl1pPr>
          </a:lstStyle>
          <a:p>
            <a:r>
              <a:t>Titelmasterformat durch Klicken bearbeiten</a:t>
            </a:r>
          </a:p>
        </p:txBody>
      </p:sp>
      <p:sp>
        <p:nvSpPr>
          <p:cNvPr id="3" name="Textplatzhalter 2">
            <a:extLst>
              <a:ext uri="{FF2B5EF4-FFF2-40B4-BE49-F238E27FC236}">
                <a16:creationId xmlns:a16="http://schemas.microsoft.com/office/drawing/2014/main" id="{B24E126F-A99D-41A9-8219-84AE61304FC1}"/>
              </a:ext>
            </a:extLst>
          </p:cNvPr>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buNone/>
            </a:pPr>
            <a:r>
              <a:t>Textmasterformat bearbeiten</a:t>
            </a:r>
          </a:p>
        </p:txBody>
      </p:sp>
      <p:sp>
        <p:nvSpPr>
          <p:cNvPr id="4" name="Datumsplatzhalter 3">
            <a:extLst>
              <a:ext uri="{FF2B5EF4-FFF2-40B4-BE49-F238E27FC236}">
                <a16:creationId xmlns:a16="http://schemas.microsoft.com/office/drawing/2014/main" id="{0CDBB60F-DFD5-4B33-9F9C-A2FFA0EE74A1}"/>
              </a:ext>
            </a:extLst>
          </p:cNvPr>
          <p:cNvSpPr>
            <a:spLocks noGrp="1"/>
          </p:cNvSpPr>
          <p:nvPr>
            <p:ph type="dt" idx="10"/>
          </p:nvPr>
        </p:nvSpPr>
        <p:spPr/>
        <p:txBody>
          <a:bodyPr/>
          <a:lstStyle/>
          <a:p>
            <a:fld id="{82291B1E-1756-4A5C-A79F-F2FEDD9B6C08}" type="datetime1">
              <a:rPr lang="en-US"/>
              <a:t>9/17/2026</a:t>
            </a:fld>
            <a:endParaRPr/>
          </a:p>
        </p:txBody>
      </p:sp>
      <p:sp>
        <p:nvSpPr>
          <p:cNvPr id="5" name="Fußzeilenplatzhalter 4">
            <a:extLst>
              <a:ext uri="{FF2B5EF4-FFF2-40B4-BE49-F238E27FC236}">
                <a16:creationId xmlns:a16="http://schemas.microsoft.com/office/drawing/2014/main" id="{CDA99A6B-C707-44EE-88B8-49D64782391E}"/>
              </a:ext>
            </a:extLst>
          </p:cNvPr>
          <p:cNvSpPr>
            <a:spLocks noGrp="1"/>
          </p:cNvSpPr>
          <p:nvPr>
            <p:ph type="ftr" idx="11"/>
          </p:nvPr>
        </p:nvSpPr>
        <p:spPr/>
        <p:txBody>
          <a:bodyPr/>
          <a:lstStyle/>
          <a:p>
            <a:r>
              <a:t>SPP Initiative – Kognitive Mehrfachanforderungen</a:t>
            </a:r>
          </a:p>
        </p:txBody>
      </p:sp>
      <p:sp>
        <p:nvSpPr>
          <p:cNvPr id="6" name="Foliennummernplatzhalter 5">
            <a:extLst>
              <a:ext uri="{FF2B5EF4-FFF2-40B4-BE49-F238E27FC236}">
                <a16:creationId xmlns:a16="http://schemas.microsoft.com/office/drawing/2014/main" id="{6A15729B-94BB-4880-8D89-388D0649657A}"/>
              </a:ext>
            </a:extLst>
          </p:cNvPr>
          <p:cNvSpPr>
            <a:spLocks noGrp="1"/>
          </p:cNvSpPr>
          <p:nvPr>
            <p:ph type="sldNum" idx="12"/>
          </p:nvPr>
        </p:nvSpPr>
        <p:spPr/>
        <p:txBody>
          <a:bodyPr/>
          <a:lstStyle/>
          <a:p>
            <a:fld id="{5CD88B4E-D815-417B-99FD-41D66E5C06D4}" type="slidenum">
              <a:rPr/>
              <a:t>‹Nr.›</a:t>
            </a:fld>
            <a:endParaRPr/>
          </a:p>
        </p:txBody>
      </p:sp>
    </p:spTree>
    <p:extLst>
      <p:ext uri="{BB962C8B-B14F-4D97-AF65-F5344CB8AC3E}">
        <p14:creationId xmlns:p14="http://schemas.microsoft.com/office/powerpoint/2010/main" val="34210246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A37635-A623-4E98-AC3E-8D62F1F648D6}"/>
              </a:ext>
            </a:extLst>
          </p:cNvPr>
          <p:cNvSpPr>
            <a:spLocks noGrp="1"/>
          </p:cNvSpPr>
          <p:nvPr>
            <p:ph type="title"/>
          </p:nvPr>
        </p:nvSpPr>
        <p:spPr/>
        <p:txBody>
          <a:bodyPr/>
          <a:lstStyle/>
          <a:p>
            <a:r>
              <a:t>Titelmasterformat durch Klicken bearbeiten</a:t>
            </a:r>
          </a:p>
        </p:txBody>
      </p:sp>
      <p:sp>
        <p:nvSpPr>
          <p:cNvPr id="3" name="Inhaltsplatzhalter 2">
            <a:extLst>
              <a:ext uri="{FF2B5EF4-FFF2-40B4-BE49-F238E27FC236}">
                <a16:creationId xmlns:a16="http://schemas.microsoft.com/office/drawing/2014/main" id="{1FA6A68D-62E8-4097-BC94-596C357F941D}"/>
              </a:ext>
            </a:extLst>
          </p:cNvPr>
          <p:cNvSpPr>
            <a:spLocks noGrp="1"/>
          </p:cNvSpPr>
          <p:nvPr>
            <p:ph idx="1"/>
          </p:nvPr>
        </p:nvSpPr>
        <p:spPr>
          <a:xfrm>
            <a:off x="457200" y="1200151"/>
            <a:ext cx="4038600" cy="3394472"/>
          </a:xfrm>
        </p:spPr>
        <p:txBody>
          <a:bodyPr/>
          <a:lstStyle>
            <a:lvl1pPr>
              <a:buNone/>
              <a:defRPr sz="2100"/>
            </a:lvl1pPr>
            <a:lvl2pPr>
              <a:buNone/>
              <a:defRPr sz="1800"/>
            </a:lvl2pPr>
            <a:lvl3pPr>
              <a:buNone/>
              <a:defRPr sz="1500"/>
            </a:lvl3pPr>
            <a:lvl4pPr>
              <a:buNone/>
              <a:defRPr sz="1350"/>
            </a:lvl4pPr>
            <a:lvl5pPr>
              <a:buNone/>
              <a:defRPr sz="1350"/>
            </a:lvl5pPr>
            <a:lvl6pPr>
              <a:buNone/>
              <a:defRPr sz="1350"/>
            </a:lvl6pPr>
            <a:lvl7pPr>
              <a:buNone/>
              <a:defRPr sz="1350"/>
            </a:lvl7pPr>
            <a:lvl8pPr>
              <a:buNone/>
              <a:defRPr sz="1350"/>
            </a:lvl8pPr>
            <a:lvl9pPr>
              <a:buNone/>
              <a:defRPr sz="135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Inhaltsplatzhalter 3">
            <a:extLst>
              <a:ext uri="{FF2B5EF4-FFF2-40B4-BE49-F238E27FC236}">
                <a16:creationId xmlns:a16="http://schemas.microsoft.com/office/drawing/2014/main" id="{4073D382-90A3-4817-9579-52D81369CD33}"/>
              </a:ext>
            </a:extLst>
          </p:cNvPr>
          <p:cNvSpPr>
            <a:spLocks noGrp="1"/>
          </p:cNvSpPr>
          <p:nvPr>
            <p:ph idx="2"/>
          </p:nvPr>
        </p:nvSpPr>
        <p:spPr>
          <a:xfrm>
            <a:off x="4648200" y="1200151"/>
            <a:ext cx="4038600" cy="3394472"/>
          </a:xfrm>
        </p:spPr>
        <p:txBody>
          <a:bodyPr/>
          <a:lstStyle>
            <a:lvl1pPr>
              <a:buNone/>
              <a:defRPr sz="2100"/>
            </a:lvl1pPr>
            <a:lvl2pPr>
              <a:buNone/>
              <a:defRPr sz="1800"/>
            </a:lvl2pPr>
            <a:lvl3pPr>
              <a:buNone/>
              <a:defRPr sz="1500"/>
            </a:lvl3pPr>
            <a:lvl4pPr>
              <a:buNone/>
              <a:defRPr sz="1350"/>
            </a:lvl4pPr>
            <a:lvl5pPr>
              <a:buNone/>
              <a:defRPr sz="1350"/>
            </a:lvl5pPr>
            <a:lvl6pPr>
              <a:buNone/>
              <a:defRPr sz="1350"/>
            </a:lvl6pPr>
            <a:lvl7pPr>
              <a:buNone/>
              <a:defRPr sz="1350"/>
            </a:lvl7pPr>
            <a:lvl8pPr>
              <a:buNone/>
              <a:defRPr sz="1350"/>
            </a:lvl8pPr>
            <a:lvl9pPr>
              <a:buNone/>
              <a:defRPr sz="135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5" name="Datumsplatzhalter 4">
            <a:extLst>
              <a:ext uri="{FF2B5EF4-FFF2-40B4-BE49-F238E27FC236}">
                <a16:creationId xmlns:a16="http://schemas.microsoft.com/office/drawing/2014/main" id="{C01B4D72-53C5-4B48-8E28-0C570A263DC0}"/>
              </a:ext>
            </a:extLst>
          </p:cNvPr>
          <p:cNvSpPr>
            <a:spLocks noGrp="1"/>
          </p:cNvSpPr>
          <p:nvPr>
            <p:ph type="dt" idx="10"/>
          </p:nvPr>
        </p:nvSpPr>
        <p:spPr/>
        <p:txBody>
          <a:bodyPr/>
          <a:lstStyle/>
          <a:p>
            <a:fld id="{C25EF7E3-34C6-4F29-A3E8-B2123BFC8360}" type="datetime1">
              <a:rPr lang="en-US"/>
              <a:t>9/17/2026</a:t>
            </a:fld>
            <a:endParaRPr/>
          </a:p>
        </p:txBody>
      </p:sp>
      <p:sp>
        <p:nvSpPr>
          <p:cNvPr id="6" name="Fußzeilenplatzhalter 5">
            <a:extLst>
              <a:ext uri="{FF2B5EF4-FFF2-40B4-BE49-F238E27FC236}">
                <a16:creationId xmlns:a16="http://schemas.microsoft.com/office/drawing/2014/main" id="{8E43D247-3AB3-4E5E-889D-EE9388E9EC09}"/>
              </a:ext>
            </a:extLst>
          </p:cNvPr>
          <p:cNvSpPr>
            <a:spLocks noGrp="1"/>
          </p:cNvSpPr>
          <p:nvPr>
            <p:ph type="ftr" idx="11"/>
          </p:nvPr>
        </p:nvSpPr>
        <p:spPr/>
        <p:txBody>
          <a:bodyPr/>
          <a:lstStyle/>
          <a:p>
            <a:r>
              <a:t>SPP Initiative – Kognitive Mehrfachanforderungen</a:t>
            </a:r>
          </a:p>
        </p:txBody>
      </p:sp>
      <p:sp>
        <p:nvSpPr>
          <p:cNvPr id="7" name="Foliennummernplatzhalter 6">
            <a:extLst>
              <a:ext uri="{FF2B5EF4-FFF2-40B4-BE49-F238E27FC236}">
                <a16:creationId xmlns:a16="http://schemas.microsoft.com/office/drawing/2014/main" id="{29CA68E8-FF76-48FE-89E1-16FF04182F43}"/>
              </a:ext>
            </a:extLst>
          </p:cNvPr>
          <p:cNvSpPr>
            <a:spLocks noGrp="1"/>
          </p:cNvSpPr>
          <p:nvPr>
            <p:ph type="sldNum" idx="12"/>
          </p:nvPr>
        </p:nvSpPr>
        <p:spPr/>
        <p:txBody>
          <a:bodyPr/>
          <a:lstStyle/>
          <a:p>
            <a:fld id="{5CD88B4E-D815-417B-99FD-41D66E5C06D4}" type="slidenum">
              <a:rPr/>
              <a:t>‹Nr.›</a:t>
            </a:fld>
            <a:endParaRPr/>
          </a:p>
        </p:txBody>
      </p:sp>
    </p:spTree>
    <p:extLst>
      <p:ext uri="{BB962C8B-B14F-4D97-AF65-F5344CB8AC3E}">
        <p14:creationId xmlns:p14="http://schemas.microsoft.com/office/powerpoint/2010/main" val="8431735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57D3AF-0732-426A-A34C-0295E4BFB97B}"/>
              </a:ext>
            </a:extLst>
          </p:cNvPr>
          <p:cNvSpPr>
            <a:spLocks noGrp="1"/>
          </p:cNvSpPr>
          <p:nvPr>
            <p:ph type="title"/>
          </p:nvPr>
        </p:nvSpPr>
        <p:spPr/>
        <p:txBody>
          <a:bodyPr/>
          <a:lstStyle>
            <a:lvl1pPr>
              <a:buNone/>
              <a:defRPr/>
            </a:lvl1pPr>
          </a:lstStyle>
          <a:p>
            <a:r>
              <a:t>Titelmasterformat durch Klicken bearbeiten</a:t>
            </a:r>
          </a:p>
        </p:txBody>
      </p:sp>
      <p:sp>
        <p:nvSpPr>
          <p:cNvPr id="3" name="Textplatzhalter 2">
            <a:extLst>
              <a:ext uri="{FF2B5EF4-FFF2-40B4-BE49-F238E27FC236}">
                <a16:creationId xmlns:a16="http://schemas.microsoft.com/office/drawing/2014/main" id="{5387ACE4-EFE3-4305-A1A4-F639026E10D7}"/>
              </a:ext>
            </a:extLst>
          </p:cNvPr>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Textmasterformat bearbeiten</a:t>
            </a:r>
          </a:p>
        </p:txBody>
      </p:sp>
      <p:sp>
        <p:nvSpPr>
          <p:cNvPr id="4" name="Inhaltsplatzhalter 3">
            <a:extLst>
              <a:ext uri="{FF2B5EF4-FFF2-40B4-BE49-F238E27FC236}">
                <a16:creationId xmlns:a16="http://schemas.microsoft.com/office/drawing/2014/main" id="{43F85B3D-6B72-4821-BA1D-586B02D936A2}"/>
              </a:ext>
            </a:extLst>
          </p:cNvPr>
          <p:cNvSpPr>
            <a:spLocks noGrp="1"/>
          </p:cNvSpPr>
          <p:nvPr>
            <p:ph idx="2"/>
          </p:nvPr>
        </p:nvSpPr>
        <p:spPr>
          <a:xfrm>
            <a:off x="457200" y="1631156"/>
            <a:ext cx="4040188" cy="2963466"/>
          </a:xfrm>
        </p:spPr>
        <p:txBody>
          <a:bodyPr/>
          <a:lstStyle>
            <a:lvl1pPr>
              <a:buNone/>
              <a:defRPr sz="1800"/>
            </a:lvl1pPr>
            <a:lvl2pPr>
              <a:buNone/>
              <a:defRPr sz="1500"/>
            </a:lvl2pPr>
            <a:lvl3pPr>
              <a:buNone/>
              <a:defRPr sz="1350"/>
            </a:lvl3pPr>
            <a:lvl4pPr>
              <a:buNone/>
              <a:defRPr sz="1200"/>
            </a:lvl4pPr>
            <a:lvl5pPr>
              <a:buNone/>
              <a:defRPr sz="1200"/>
            </a:lvl5pPr>
            <a:lvl6pPr>
              <a:buNone/>
              <a:defRPr sz="1200"/>
            </a:lvl6pPr>
            <a:lvl7pPr>
              <a:buNone/>
              <a:defRPr sz="1200"/>
            </a:lvl7pPr>
            <a:lvl8pPr>
              <a:buNone/>
              <a:defRPr sz="1200"/>
            </a:lvl8pPr>
            <a:lvl9pPr>
              <a:buNone/>
              <a:defRPr sz="120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5" name="Textplatzhalter 4">
            <a:extLst>
              <a:ext uri="{FF2B5EF4-FFF2-40B4-BE49-F238E27FC236}">
                <a16:creationId xmlns:a16="http://schemas.microsoft.com/office/drawing/2014/main" id="{F441FB17-AB68-4403-8F78-7E5BE36A0347}"/>
              </a:ext>
            </a:extLst>
          </p:cNvPr>
          <p:cNvSpPr>
            <a:spLocks noGrp="1"/>
          </p:cNvSpPr>
          <p:nvPr>
            <p:ph type="body"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Textmasterformat bearbeiten</a:t>
            </a:r>
          </a:p>
        </p:txBody>
      </p:sp>
      <p:sp>
        <p:nvSpPr>
          <p:cNvPr id="6" name="Inhaltsplatzhalter 5">
            <a:extLst>
              <a:ext uri="{FF2B5EF4-FFF2-40B4-BE49-F238E27FC236}">
                <a16:creationId xmlns:a16="http://schemas.microsoft.com/office/drawing/2014/main" id="{2151470F-342E-4D82-8CE0-B825E6A6C8FD}"/>
              </a:ext>
            </a:extLst>
          </p:cNvPr>
          <p:cNvSpPr>
            <a:spLocks noGrp="1"/>
          </p:cNvSpPr>
          <p:nvPr>
            <p:ph idx="4"/>
          </p:nvPr>
        </p:nvSpPr>
        <p:spPr>
          <a:xfrm>
            <a:off x="4645026" y="1631156"/>
            <a:ext cx="4041775" cy="2963466"/>
          </a:xfrm>
        </p:spPr>
        <p:txBody>
          <a:bodyPr/>
          <a:lstStyle>
            <a:lvl1pPr>
              <a:buNone/>
              <a:defRPr sz="1800"/>
            </a:lvl1pPr>
            <a:lvl2pPr>
              <a:buNone/>
              <a:defRPr sz="1500"/>
            </a:lvl2pPr>
            <a:lvl3pPr>
              <a:buNone/>
              <a:defRPr sz="1350"/>
            </a:lvl3pPr>
            <a:lvl4pPr>
              <a:buNone/>
              <a:defRPr sz="1200"/>
            </a:lvl4pPr>
            <a:lvl5pPr>
              <a:buNone/>
              <a:defRPr sz="1200"/>
            </a:lvl5pPr>
            <a:lvl6pPr>
              <a:buNone/>
              <a:defRPr sz="1200"/>
            </a:lvl6pPr>
            <a:lvl7pPr>
              <a:buNone/>
              <a:defRPr sz="1200"/>
            </a:lvl7pPr>
            <a:lvl8pPr>
              <a:buNone/>
              <a:defRPr sz="1200"/>
            </a:lvl8pPr>
            <a:lvl9pPr>
              <a:buNone/>
              <a:defRPr sz="120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7" name="Datumsplatzhalter 6">
            <a:extLst>
              <a:ext uri="{FF2B5EF4-FFF2-40B4-BE49-F238E27FC236}">
                <a16:creationId xmlns:a16="http://schemas.microsoft.com/office/drawing/2014/main" id="{D8DACECA-CCE4-4F0F-8AE2-CFD22C219D99}"/>
              </a:ext>
            </a:extLst>
          </p:cNvPr>
          <p:cNvSpPr>
            <a:spLocks noGrp="1"/>
          </p:cNvSpPr>
          <p:nvPr>
            <p:ph type="dt" idx="10"/>
          </p:nvPr>
        </p:nvSpPr>
        <p:spPr/>
        <p:txBody>
          <a:bodyPr/>
          <a:lstStyle/>
          <a:p>
            <a:fld id="{9BF2F809-AE36-447A-BE8D-DBD43813230D}" type="datetime1">
              <a:rPr lang="en-US"/>
              <a:t>9/17/2026</a:t>
            </a:fld>
            <a:endParaRPr/>
          </a:p>
        </p:txBody>
      </p:sp>
      <p:sp>
        <p:nvSpPr>
          <p:cNvPr id="8" name="Fußzeilenplatzhalter 7">
            <a:extLst>
              <a:ext uri="{FF2B5EF4-FFF2-40B4-BE49-F238E27FC236}">
                <a16:creationId xmlns:a16="http://schemas.microsoft.com/office/drawing/2014/main" id="{7DB2DCED-C1E2-4728-81C3-E60969112EA0}"/>
              </a:ext>
            </a:extLst>
          </p:cNvPr>
          <p:cNvSpPr>
            <a:spLocks noGrp="1"/>
          </p:cNvSpPr>
          <p:nvPr>
            <p:ph type="ftr" idx="11"/>
          </p:nvPr>
        </p:nvSpPr>
        <p:spPr/>
        <p:txBody>
          <a:bodyPr/>
          <a:lstStyle/>
          <a:p>
            <a:r>
              <a:t>SPP Initiative – Kognitive Mehrfachanforderungen</a:t>
            </a:r>
          </a:p>
        </p:txBody>
      </p:sp>
      <p:sp>
        <p:nvSpPr>
          <p:cNvPr id="9" name="Foliennummernplatzhalter 8">
            <a:extLst>
              <a:ext uri="{FF2B5EF4-FFF2-40B4-BE49-F238E27FC236}">
                <a16:creationId xmlns:a16="http://schemas.microsoft.com/office/drawing/2014/main" id="{22FF7CEF-7F67-4E4E-86B0-78A1E6B20463}"/>
              </a:ext>
            </a:extLst>
          </p:cNvPr>
          <p:cNvSpPr>
            <a:spLocks noGrp="1"/>
          </p:cNvSpPr>
          <p:nvPr>
            <p:ph type="sldNum" idx="12"/>
          </p:nvPr>
        </p:nvSpPr>
        <p:spPr/>
        <p:txBody>
          <a:bodyPr/>
          <a:lstStyle/>
          <a:p>
            <a:fld id="{5CD88B4E-D815-417B-99FD-41D66E5C06D4}" type="slidenum">
              <a:rPr/>
              <a:t>‹Nr.›</a:t>
            </a:fld>
            <a:endParaRPr/>
          </a:p>
        </p:txBody>
      </p:sp>
    </p:spTree>
    <p:extLst>
      <p:ext uri="{BB962C8B-B14F-4D97-AF65-F5344CB8AC3E}">
        <p14:creationId xmlns:p14="http://schemas.microsoft.com/office/powerpoint/2010/main" val="24892221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5EF8EA-3A79-4D0A-9E9D-BAF231039B8C}"/>
              </a:ext>
            </a:extLst>
          </p:cNvPr>
          <p:cNvSpPr>
            <a:spLocks noGrp="1"/>
          </p:cNvSpPr>
          <p:nvPr>
            <p:ph type="title"/>
          </p:nvPr>
        </p:nvSpPr>
        <p:spPr/>
        <p:txBody>
          <a:bodyPr/>
          <a:lstStyle/>
          <a:p>
            <a:r>
              <a:t>Titelmasterformat durch Klicken bearbeiten</a:t>
            </a:r>
          </a:p>
        </p:txBody>
      </p:sp>
      <p:sp>
        <p:nvSpPr>
          <p:cNvPr id="3" name="Datumsplatzhalter 2">
            <a:extLst>
              <a:ext uri="{FF2B5EF4-FFF2-40B4-BE49-F238E27FC236}">
                <a16:creationId xmlns:a16="http://schemas.microsoft.com/office/drawing/2014/main" id="{FA8F1E3A-15F2-4079-B8C7-AF16AD23D982}"/>
              </a:ext>
            </a:extLst>
          </p:cNvPr>
          <p:cNvSpPr>
            <a:spLocks noGrp="1"/>
          </p:cNvSpPr>
          <p:nvPr>
            <p:ph type="dt" idx="10"/>
          </p:nvPr>
        </p:nvSpPr>
        <p:spPr/>
        <p:txBody>
          <a:bodyPr/>
          <a:lstStyle/>
          <a:p>
            <a:fld id="{C3E9AD70-BBFA-4BDA-AD17-94996E01E40D}" type="datetime1">
              <a:rPr lang="en-US"/>
              <a:t>9/17/2026</a:t>
            </a:fld>
            <a:endParaRPr/>
          </a:p>
        </p:txBody>
      </p:sp>
      <p:sp>
        <p:nvSpPr>
          <p:cNvPr id="4" name="Fußzeilenplatzhalter 3">
            <a:extLst>
              <a:ext uri="{FF2B5EF4-FFF2-40B4-BE49-F238E27FC236}">
                <a16:creationId xmlns:a16="http://schemas.microsoft.com/office/drawing/2014/main" id="{9663DFE6-88B7-41D6-AC99-59B0CABFD6D8}"/>
              </a:ext>
            </a:extLst>
          </p:cNvPr>
          <p:cNvSpPr>
            <a:spLocks noGrp="1"/>
          </p:cNvSpPr>
          <p:nvPr>
            <p:ph type="ftr" idx="11"/>
          </p:nvPr>
        </p:nvSpPr>
        <p:spPr/>
        <p:txBody>
          <a:bodyPr/>
          <a:lstStyle/>
          <a:p>
            <a:r>
              <a:t>SPP Initiative – Kognitive Mehrfachanforderungen</a:t>
            </a:r>
          </a:p>
        </p:txBody>
      </p:sp>
      <p:sp>
        <p:nvSpPr>
          <p:cNvPr id="5" name="Foliennummernplatzhalter 4">
            <a:extLst>
              <a:ext uri="{FF2B5EF4-FFF2-40B4-BE49-F238E27FC236}">
                <a16:creationId xmlns:a16="http://schemas.microsoft.com/office/drawing/2014/main" id="{1DE91E78-25D0-4CF5-A737-377231448080}"/>
              </a:ext>
            </a:extLst>
          </p:cNvPr>
          <p:cNvSpPr>
            <a:spLocks noGrp="1"/>
          </p:cNvSpPr>
          <p:nvPr>
            <p:ph type="sldNum" idx="12"/>
          </p:nvPr>
        </p:nvSpPr>
        <p:spPr/>
        <p:txBody>
          <a:bodyPr/>
          <a:lstStyle/>
          <a:p>
            <a:fld id="{5CD88B4E-D815-417B-99FD-41D66E5C06D4}" type="slidenum">
              <a:rPr/>
              <a:t>‹Nr.›</a:t>
            </a:fld>
            <a:endParaRPr/>
          </a:p>
        </p:txBody>
      </p:sp>
    </p:spTree>
    <p:extLst>
      <p:ext uri="{BB962C8B-B14F-4D97-AF65-F5344CB8AC3E}">
        <p14:creationId xmlns:p14="http://schemas.microsoft.com/office/powerpoint/2010/main" val="2959499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A1529D24-EA50-4266-96C2-1DBB992D2A7A}"/>
              </a:ext>
            </a:extLst>
          </p:cNvPr>
          <p:cNvSpPr>
            <a:spLocks noGrp="1"/>
          </p:cNvSpPr>
          <p:nvPr>
            <p:ph type="dt" idx="10"/>
          </p:nvPr>
        </p:nvSpPr>
        <p:spPr/>
        <p:txBody>
          <a:bodyPr/>
          <a:lstStyle/>
          <a:p>
            <a:fld id="{012A5E7E-DC59-44FF-98CB-32ED5C7DF30F}" type="datetime1">
              <a:rPr lang="en-US"/>
              <a:t>9/17/2026</a:t>
            </a:fld>
            <a:endParaRPr/>
          </a:p>
        </p:txBody>
      </p:sp>
      <p:sp>
        <p:nvSpPr>
          <p:cNvPr id="3" name="Fußzeilenplatzhalter 2">
            <a:extLst>
              <a:ext uri="{FF2B5EF4-FFF2-40B4-BE49-F238E27FC236}">
                <a16:creationId xmlns:a16="http://schemas.microsoft.com/office/drawing/2014/main" id="{37661DB9-2EA2-429E-A720-C292CF5B74B6}"/>
              </a:ext>
            </a:extLst>
          </p:cNvPr>
          <p:cNvSpPr>
            <a:spLocks noGrp="1"/>
          </p:cNvSpPr>
          <p:nvPr>
            <p:ph type="ftr" idx="11"/>
          </p:nvPr>
        </p:nvSpPr>
        <p:spPr/>
        <p:txBody>
          <a:bodyPr/>
          <a:lstStyle/>
          <a:p>
            <a:r>
              <a:t>SPP Initiative – Kognitive Mehrfachanforderungen</a:t>
            </a:r>
          </a:p>
        </p:txBody>
      </p:sp>
      <p:sp>
        <p:nvSpPr>
          <p:cNvPr id="4" name="Foliennummernplatzhalter 3">
            <a:extLst>
              <a:ext uri="{FF2B5EF4-FFF2-40B4-BE49-F238E27FC236}">
                <a16:creationId xmlns:a16="http://schemas.microsoft.com/office/drawing/2014/main" id="{FADD4549-9270-49D6-914B-C325B4F77D5A}"/>
              </a:ext>
            </a:extLst>
          </p:cNvPr>
          <p:cNvSpPr>
            <a:spLocks noGrp="1"/>
          </p:cNvSpPr>
          <p:nvPr>
            <p:ph type="sldNum" idx="12"/>
          </p:nvPr>
        </p:nvSpPr>
        <p:spPr/>
        <p:txBody>
          <a:bodyPr/>
          <a:lstStyle/>
          <a:p>
            <a:fld id="{5CD88B4E-D815-417B-99FD-41D66E5C06D4}" type="slidenum">
              <a:rPr/>
              <a:t>‹Nr.›</a:t>
            </a:fld>
            <a:endParaRPr/>
          </a:p>
        </p:txBody>
      </p:sp>
    </p:spTree>
    <p:extLst>
      <p:ext uri="{BB962C8B-B14F-4D97-AF65-F5344CB8AC3E}">
        <p14:creationId xmlns:p14="http://schemas.microsoft.com/office/powerpoint/2010/main" val="37137334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59C704-CC59-470C-A759-B25A9213345D}"/>
              </a:ext>
            </a:extLst>
          </p:cNvPr>
          <p:cNvSpPr>
            <a:spLocks noGrp="1"/>
          </p:cNvSpPr>
          <p:nvPr>
            <p:ph type="title"/>
          </p:nvPr>
        </p:nvSpPr>
        <p:spPr>
          <a:xfrm>
            <a:off x="457201" y="204787"/>
            <a:ext cx="3008313" cy="871538"/>
          </a:xfrm>
        </p:spPr>
        <p:txBody>
          <a:bodyPr anchor="b"/>
          <a:lstStyle>
            <a:lvl1pPr algn="l">
              <a:buNone/>
              <a:defRPr sz="1500" b="1"/>
            </a:lvl1pPr>
          </a:lstStyle>
          <a:p>
            <a:r>
              <a:t>Titelmasterformat durch Klicken bearbeiten</a:t>
            </a:r>
          </a:p>
        </p:txBody>
      </p:sp>
      <p:sp>
        <p:nvSpPr>
          <p:cNvPr id="3" name="Inhaltsplatzhalter 2">
            <a:extLst>
              <a:ext uri="{FF2B5EF4-FFF2-40B4-BE49-F238E27FC236}">
                <a16:creationId xmlns:a16="http://schemas.microsoft.com/office/drawing/2014/main" id="{21D0AAFD-0EE3-46C1-B594-44E21917D6D0}"/>
              </a:ext>
            </a:extLst>
          </p:cNvPr>
          <p:cNvSpPr>
            <a:spLocks noGrp="1"/>
          </p:cNvSpPr>
          <p:nvPr>
            <p:ph idx="1"/>
          </p:nvPr>
        </p:nvSpPr>
        <p:spPr>
          <a:xfrm>
            <a:off x="3575050" y="204788"/>
            <a:ext cx="5111750" cy="4389835"/>
          </a:xfrm>
        </p:spPr>
        <p:txBody>
          <a:bodyPr/>
          <a:lstStyle>
            <a:lvl1pPr>
              <a:buNone/>
              <a:defRPr sz="2400"/>
            </a:lvl1pPr>
            <a:lvl2pPr>
              <a:buNone/>
              <a:defRPr sz="2100"/>
            </a:lvl2pPr>
            <a:lvl3pPr>
              <a:buNone/>
              <a:defRPr sz="1800"/>
            </a:lvl3pPr>
            <a:lvl4pPr>
              <a:buNone/>
              <a:defRPr sz="1500"/>
            </a:lvl4pPr>
            <a:lvl5pPr>
              <a:buNone/>
              <a:defRPr sz="1500"/>
            </a:lvl5pPr>
            <a:lvl6pPr>
              <a:buNone/>
              <a:defRPr sz="1500"/>
            </a:lvl6pPr>
            <a:lvl7pPr>
              <a:buNone/>
              <a:defRPr sz="1500"/>
            </a:lvl7pPr>
            <a:lvl8pPr>
              <a:buNone/>
              <a:defRPr sz="1500"/>
            </a:lvl8pPr>
            <a:lvl9pPr>
              <a:buNone/>
              <a:defRPr sz="150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Textplatzhalter 3">
            <a:extLst>
              <a:ext uri="{FF2B5EF4-FFF2-40B4-BE49-F238E27FC236}">
                <a16:creationId xmlns:a16="http://schemas.microsoft.com/office/drawing/2014/main" id="{A663634A-BDEE-4064-9945-987A40D32096}"/>
              </a:ext>
            </a:extLst>
          </p:cNvPr>
          <p:cNvSpPr>
            <a:spLocks noGrp="1"/>
          </p:cNvSpPr>
          <p:nvPr>
            <p:ph type="body"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buNone/>
            </a:pPr>
            <a:r>
              <a:t>Textmasterformat bearbeiten</a:t>
            </a:r>
          </a:p>
        </p:txBody>
      </p:sp>
      <p:sp>
        <p:nvSpPr>
          <p:cNvPr id="5" name="Datumsplatzhalter 4">
            <a:extLst>
              <a:ext uri="{FF2B5EF4-FFF2-40B4-BE49-F238E27FC236}">
                <a16:creationId xmlns:a16="http://schemas.microsoft.com/office/drawing/2014/main" id="{5391EBD8-A766-492C-8454-76F8A2163A62}"/>
              </a:ext>
            </a:extLst>
          </p:cNvPr>
          <p:cNvSpPr>
            <a:spLocks noGrp="1"/>
          </p:cNvSpPr>
          <p:nvPr>
            <p:ph type="dt" idx="10"/>
          </p:nvPr>
        </p:nvSpPr>
        <p:spPr/>
        <p:txBody>
          <a:bodyPr/>
          <a:lstStyle/>
          <a:p>
            <a:fld id="{75CBFBE5-D840-46F9-A1EC-71EE2BFB233E}" type="datetime1">
              <a:rPr lang="en-US"/>
              <a:t>9/17/2026</a:t>
            </a:fld>
            <a:endParaRPr/>
          </a:p>
        </p:txBody>
      </p:sp>
      <p:sp>
        <p:nvSpPr>
          <p:cNvPr id="6" name="Fußzeilenplatzhalter 5">
            <a:extLst>
              <a:ext uri="{FF2B5EF4-FFF2-40B4-BE49-F238E27FC236}">
                <a16:creationId xmlns:a16="http://schemas.microsoft.com/office/drawing/2014/main" id="{9B9CD980-E304-4A72-AFD4-5342C146FA8B}"/>
              </a:ext>
            </a:extLst>
          </p:cNvPr>
          <p:cNvSpPr>
            <a:spLocks noGrp="1"/>
          </p:cNvSpPr>
          <p:nvPr>
            <p:ph type="ftr" idx="11"/>
          </p:nvPr>
        </p:nvSpPr>
        <p:spPr/>
        <p:txBody>
          <a:bodyPr/>
          <a:lstStyle/>
          <a:p>
            <a:r>
              <a:t>SPP Initiative – Kognitive Mehrfachanforderungen</a:t>
            </a:r>
          </a:p>
        </p:txBody>
      </p:sp>
      <p:sp>
        <p:nvSpPr>
          <p:cNvPr id="7" name="Foliennummernplatzhalter 6">
            <a:extLst>
              <a:ext uri="{FF2B5EF4-FFF2-40B4-BE49-F238E27FC236}">
                <a16:creationId xmlns:a16="http://schemas.microsoft.com/office/drawing/2014/main" id="{B566403A-C0D9-4D47-B0EC-F95FB97E0F5E}"/>
              </a:ext>
            </a:extLst>
          </p:cNvPr>
          <p:cNvSpPr>
            <a:spLocks noGrp="1"/>
          </p:cNvSpPr>
          <p:nvPr>
            <p:ph type="sldNum" idx="12"/>
          </p:nvPr>
        </p:nvSpPr>
        <p:spPr/>
        <p:txBody>
          <a:bodyPr/>
          <a:lstStyle/>
          <a:p>
            <a:fld id="{5CD88B4E-D815-417B-99FD-41D66E5C06D4}" type="slidenum">
              <a:rPr/>
              <a:t>‹Nr.›</a:t>
            </a:fld>
            <a:endParaRPr/>
          </a:p>
        </p:txBody>
      </p:sp>
    </p:spTree>
    <p:extLst>
      <p:ext uri="{BB962C8B-B14F-4D97-AF65-F5344CB8AC3E}">
        <p14:creationId xmlns:p14="http://schemas.microsoft.com/office/powerpoint/2010/main" val="40005830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AFB180-EE0F-4027-BA8D-50FE31578E90}"/>
              </a:ext>
            </a:extLst>
          </p:cNvPr>
          <p:cNvSpPr>
            <a:spLocks noGrp="1"/>
          </p:cNvSpPr>
          <p:nvPr>
            <p:ph type="title"/>
          </p:nvPr>
        </p:nvSpPr>
        <p:spPr>
          <a:xfrm>
            <a:off x="1792288" y="3600450"/>
            <a:ext cx="5486400" cy="425054"/>
          </a:xfrm>
        </p:spPr>
        <p:txBody>
          <a:bodyPr anchor="b"/>
          <a:lstStyle>
            <a:lvl1pPr algn="l">
              <a:buNone/>
              <a:defRPr sz="1500" b="1"/>
            </a:lvl1pPr>
          </a:lstStyle>
          <a:p>
            <a:r>
              <a:t>Titelmasterformat durch Klicken bearbeiten</a:t>
            </a:r>
          </a:p>
        </p:txBody>
      </p:sp>
      <p:sp>
        <p:nvSpPr>
          <p:cNvPr id="3" name="Bildplatzhalter 2">
            <a:extLst>
              <a:ext uri="{FF2B5EF4-FFF2-40B4-BE49-F238E27FC236}">
                <a16:creationId xmlns:a16="http://schemas.microsoft.com/office/drawing/2014/main" id="{D8112F38-0E7C-4D9D-93C2-26A65DC635EF}"/>
              </a:ext>
            </a:extLst>
          </p:cNvPr>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a:p>
        </p:txBody>
      </p:sp>
      <p:sp>
        <p:nvSpPr>
          <p:cNvPr id="4" name="Textplatzhalter 3">
            <a:extLst>
              <a:ext uri="{FF2B5EF4-FFF2-40B4-BE49-F238E27FC236}">
                <a16:creationId xmlns:a16="http://schemas.microsoft.com/office/drawing/2014/main" id="{3CB453E4-51BE-4E13-BCD4-FA22985B28CF}"/>
              </a:ext>
            </a:extLst>
          </p:cNvPr>
          <p:cNvSpPr>
            <a:spLocks noGrp="1"/>
          </p:cNvSpPr>
          <p:nvPr>
            <p:ph type="body"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buNone/>
            </a:pPr>
            <a:r>
              <a:t>Textmasterformat bearbeiten</a:t>
            </a:r>
          </a:p>
        </p:txBody>
      </p:sp>
      <p:sp>
        <p:nvSpPr>
          <p:cNvPr id="5" name="Datumsplatzhalter 4">
            <a:extLst>
              <a:ext uri="{FF2B5EF4-FFF2-40B4-BE49-F238E27FC236}">
                <a16:creationId xmlns:a16="http://schemas.microsoft.com/office/drawing/2014/main" id="{2713AA27-DB99-44AB-B0BD-894EA22534D7}"/>
              </a:ext>
            </a:extLst>
          </p:cNvPr>
          <p:cNvSpPr>
            <a:spLocks noGrp="1"/>
          </p:cNvSpPr>
          <p:nvPr>
            <p:ph type="dt" idx="10"/>
          </p:nvPr>
        </p:nvSpPr>
        <p:spPr/>
        <p:txBody>
          <a:bodyPr/>
          <a:lstStyle/>
          <a:p>
            <a:fld id="{310E40CA-5887-4B04-9981-5E3E0EE4CEE6}" type="datetime1">
              <a:rPr lang="en-US"/>
              <a:t>9/17/2026</a:t>
            </a:fld>
            <a:endParaRPr/>
          </a:p>
        </p:txBody>
      </p:sp>
      <p:sp>
        <p:nvSpPr>
          <p:cNvPr id="6" name="Fußzeilenplatzhalter 5">
            <a:extLst>
              <a:ext uri="{FF2B5EF4-FFF2-40B4-BE49-F238E27FC236}">
                <a16:creationId xmlns:a16="http://schemas.microsoft.com/office/drawing/2014/main" id="{146C6D9D-C975-4602-89B4-E211853F0C12}"/>
              </a:ext>
            </a:extLst>
          </p:cNvPr>
          <p:cNvSpPr>
            <a:spLocks noGrp="1"/>
          </p:cNvSpPr>
          <p:nvPr>
            <p:ph type="ftr" idx="11"/>
          </p:nvPr>
        </p:nvSpPr>
        <p:spPr/>
        <p:txBody>
          <a:bodyPr/>
          <a:lstStyle/>
          <a:p>
            <a:r>
              <a:t>SPP Initiative – Kognitive Mehrfachanforderungen</a:t>
            </a:r>
          </a:p>
        </p:txBody>
      </p:sp>
      <p:sp>
        <p:nvSpPr>
          <p:cNvPr id="7" name="Foliennummernplatzhalter 6">
            <a:extLst>
              <a:ext uri="{FF2B5EF4-FFF2-40B4-BE49-F238E27FC236}">
                <a16:creationId xmlns:a16="http://schemas.microsoft.com/office/drawing/2014/main" id="{1F8DCE36-D6A4-4ECE-AE3A-273B0C226E7C}"/>
              </a:ext>
            </a:extLst>
          </p:cNvPr>
          <p:cNvSpPr>
            <a:spLocks noGrp="1"/>
          </p:cNvSpPr>
          <p:nvPr>
            <p:ph type="sldNum" idx="12"/>
          </p:nvPr>
        </p:nvSpPr>
        <p:spPr/>
        <p:txBody>
          <a:bodyPr/>
          <a:lstStyle/>
          <a:p>
            <a:fld id="{5CD88B4E-D815-417B-99FD-41D66E5C06D4}" type="slidenum">
              <a:rPr/>
              <a:t>‹Nr.›</a:t>
            </a:fld>
            <a:endParaRPr/>
          </a:p>
        </p:txBody>
      </p:sp>
    </p:spTree>
    <p:extLst>
      <p:ext uri="{BB962C8B-B14F-4D97-AF65-F5344CB8AC3E}">
        <p14:creationId xmlns:p14="http://schemas.microsoft.com/office/powerpoint/2010/main" val="16867243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DD05A9-9078-497C-98D1-1F2E12AA8CE1}"/>
              </a:ext>
            </a:extLst>
          </p:cNvPr>
          <p:cNvSpPr>
            <a:spLocks noGrp="1"/>
          </p:cNvSpPr>
          <p:nvPr>
            <p:ph type="title"/>
          </p:nvPr>
        </p:nvSpPr>
        <p:spPr/>
        <p:txBody>
          <a:bodyPr/>
          <a:lstStyle/>
          <a:p>
            <a:r>
              <a:t>Titelmasterformat durch Klicken bearbeiten</a:t>
            </a:r>
          </a:p>
        </p:txBody>
      </p:sp>
      <p:sp>
        <p:nvSpPr>
          <p:cNvPr id="3" name="Vertikaler Textplatzhalter 2">
            <a:extLst>
              <a:ext uri="{FF2B5EF4-FFF2-40B4-BE49-F238E27FC236}">
                <a16:creationId xmlns:a16="http://schemas.microsoft.com/office/drawing/2014/main" id="{804284EF-FBB4-41A6-91E9-7A93FCF52BAD}"/>
              </a:ext>
            </a:extLst>
          </p:cNvPr>
          <p:cNvSpPr>
            <a:spLocks noGrp="1"/>
          </p:cNvSpPr>
          <p:nvPr>
            <p:ph type="body" idx="1"/>
          </p:nvPr>
        </p:nvSpPr>
        <p:spPr/>
        <p:txBody>
          <a:bodyPr vert="eaVert"/>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Datumsplatzhalter 3">
            <a:extLst>
              <a:ext uri="{FF2B5EF4-FFF2-40B4-BE49-F238E27FC236}">
                <a16:creationId xmlns:a16="http://schemas.microsoft.com/office/drawing/2014/main" id="{E6C6ECC1-85D3-4B69-8B8B-B945D02D5E9A}"/>
              </a:ext>
            </a:extLst>
          </p:cNvPr>
          <p:cNvSpPr>
            <a:spLocks noGrp="1"/>
          </p:cNvSpPr>
          <p:nvPr>
            <p:ph type="dt" idx="10"/>
          </p:nvPr>
        </p:nvSpPr>
        <p:spPr/>
        <p:txBody>
          <a:bodyPr/>
          <a:lstStyle/>
          <a:p>
            <a:fld id="{984F1C03-9221-492F-9D3B-13656BBDDDDC}" type="datetime1">
              <a:rPr lang="en-US"/>
              <a:t>9/17/2026</a:t>
            </a:fld>
            <a:endParaRPr/>
          </a:p>
        </p:txBody>
      </p:sp>
      <p:sp>
        <p:nvSpPr>
          <p:cNvPr id="5" name="Fußzeilenplatzhalter 4">
            <a:extLst>
              <a:ext uri="{FF2B5EF4-FFF2-40B4-BE49-F238E27FC236}">
                <a16:creationId xmlns:a16="http://schemas.microsoft.com/office/drawing/2014/main" id="{754F05A0-5111-474A-891A-48581C68A5B4}"/>
              </a:ext>
            </a:extLst>
          </p:cNvPr>
          <p:cNvSpPr>
            <a:spLocks noGrp="1"/>
          </p:cNvSpPr>
          <p:nvPr>
            <p:ph type="ftr" idx="11"/>
          </p:nvPr>
        </p:nvSpPr>
        <p:spPr/>
        <p:txBody>
          <a:bodyPr/>
          <a:lstStyle/>
          <a:p>
            <a:r>
              <a:t>SPP Initiative – Kognitive Mehrfachanforderungen</a:t>
            </a:r>
          </a:p>
        </p:txBody>
      </p:sp>
      <p:sp>
        <p:nvSpPr>
          <p:cNvPr id="6" name="Foliennummernplatzhalter 5">
            <a:extLst>
              <a:ext uri="{FF2B5EF4-FFF2-40B4-BE49-F238E27FC236}">
                <a16:creationId xmlns:a16="http://schemas.microsoft.com/office/drawing/2014/main" id="{D27E9626-667F-4400-99BC-058667B9482E}"/>
              </a:ext>
            </a:extLst>
          </p:cNvPr>
          <p:cNvSpPr>
            <a:spLocks noGrp="1"/>
          </p:cNvSpPr>
          <p:nvPr>
            <p:ph type="sldNum" idx="12"/>
          </p:nvPr>
        </p:nvSpPr>
        <p:spPr/>
        <p:txBody>
          <a:bodyPr/>
          <a:lstStyle/>
          <a:p>
            <a:fld id="{5CD88B4E-D815-417B-99FD-41D66E5C06D4}" type="slidenum">
              <a:rPr/>
              <a:t>‹Nr.›</a:t>
            </a:fld>
            <a:endParaRPr/>
          </a:p>
        </p:txBody>
      </p:sp>
    </p:spTree>
    <p:extLst>
      <p:ext uri="{BB962C8B-B14F-4D97-AF65-F5344CB8AC3E}">
        <p14:creationId xmlns:p14="http://schemas.microsoft.com/office/powerpoint/2010/main" val="5186694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2FDB7F3A-C943-437B-BB4A-B1E3FFC53F7D}"/>
              </a:ext>
            </a:extLst>
          </p:cNvPr>
          <p:cNvSpPr>
            <a:spLocks noGrp="1"/>
          </p:cNvSpPr>
          <p:nvPr>
            <p:ph type="title"/>
          </p:nvPr>
        </p:nvSpPr>
        <p:spPr>
          <a:xfrm>
            <a:off x="6629400" y="205979"/>
            <a:ext cx="2057400" cy="4388644"/>
          </a:xfrm>
        </p:spPr>
        <p:txBody>
          <a:bodyPr vert="eaVert"/>
          <a:lstStyle/>
          <a:p>
            <a:r>
              <a:t>Titelmasterformat durch Klicken bearbeiten</a:t>
            </a:r>
          </a:p>
        </p:txBody>
      </p:sp>
      <p:sp>
        <p:nvSpPr>
          <p:cNvPr id="3" name="Vertikaler Textplatzhalter 2">
            <a:extLst>
              <a:ext uri="{FF2B5EF4-FFF2-40B4-BE49-F238E27FC236}">
                <a16:creationId xmlns:a16="http://schemas.microsoft.com/office/drawing/2014/main" id="{D295BEDB-392B-4986-B832-2E040B1335E4}"/>
              </a:ext>
            </a:extLst>
          </p:cNvPr>
          <p:cNvSpPr>
            <a:spLocks noGrp="1"/>
          </p:cNvSpPr>
          <p:nvPr>
            <p:ph type="body" idx="1"/>
          </p:nvPr>
        </p:nvSpPr>
        <p:spPr>
          <a:xfrm>
            <a:off x="457200" y="205979"/>
            <a:ext cx="6019800" cy="4388644"/>
          </a:xfrm>
        </p:spPr>
        <p:txBody>
          <a:bodyPr vert="eaVert"/>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Datumsplatzhalter 3">
            <a:extLst>
              <a:ext uri="{FF2B5EF4-FFF2-40B4-BE49-F238E27FC236}">
                <a16:creationId xmlns:a16="http://schemas.microsoft.com/office/drawing/2014/main" id="{26459150-CB49-45BA-A531-B7E7C0638532}"/>
              </a:ext>
            </a:extLst>
          </p:cNvPr>
          <p:cNvSpPr>
            <a:spLocks noGrp="1"/>
          </p:cNvSpPr>
          <p:nvPr>
            <p:ph type="dt" idx="10"/>
          </p:nvPr>
        </p:nvSpPr>
        <p:spPr/>
        <p:txBody>
          <a:bodyPr/>
          <a:lstStyle/>
          <a:p>
            <a:fld id="{C03166C5-6A3D-4F25-B59A-7D1EDABF349D}" type="datetime1">
              <a:rPr lang="en-US"/>
              <a:t>9/17/2026</a:t>
            </a:fld>
            <a:endParaRPr/>
          </a:p>
        </p:txBody>
      </p:sp>
      <p:sp>
        <p:nvSpPr>
          <p:cNvPr id="5" name="Fußzeilenplatzhalter 4">
            <a:extLst>
              <a:ext uri="{FF2B5EF4-FFF2-40B4-BE49-F238E27FC236}">
                <a16:creationId xmlns:a16="http://schemas.microsoft.com/office/drawing/2014/main" id="{B51E3B44-68C0-4706-BC0B-8423E01780BD}"/>
              </a:ext>
            </a:extLst>
          </p:cNvPr>
          <p:cNvSpPr>
            <a:spLocks noGrp="1"/>
          </p:cNvSpPr>
          <p:nvPr>
            <p:ph type="ftr" idx="11"/>
          </p:nvPr>
        </p:nvSpPr>
        <p:spPr/>
        <p:txBody>
          <a:bodyPr/>
          <a:lstStyle/>
          <a:p>
            <a:r>
              <a:t>SPP Initiative – Kognitive Mehrfachanforderungen</a:t>
            </a:r>
          </a:p>
        </p:txBody>
      </p:sp>
      <p:sp>
        <p:nvSpPr>
          <p:cNvPr id="6" name="Foliennummernplatzhalter 5">
            <a:extLst>
              <a:ext uri="{FF2B5EF4-FFF2-40B4-BE49-F238E27FC236}">
                <a16:creationId xmlns:a16="http://schemas.microsoft.com/office/drawing/2014/main" id="{18E8E25A-0757-45B4-97B6-09DF8F345E46}"/>
              </a:ext>
            </a:extLst>
          </p:cNvPr>
          <p:cNvSpPr>
            <a:spLocks noGrp="1"/>
          </p:cNvSpPr>
          <p:nvPr>
            <p:ph type="sldNum" idx="12"/>
          </p:nvPr>
        </p:nvSpPr>
        <p:spPr/>
        <p:txBody>
          <a:bodyPr/>
          <a:lstStyle/>
          <a:p>
            <a:fld id="{5CD88B4E-D815-417B-99FD-41D66E5C06D4}" type="slidenum">
              <a:rPr/>
              <a:t>‹Nr.›</a:t>
            </a:fld>
            <a:endParaRPr/>
          </a:p>
        </p:txBody>
      </p:sp>
    </p:spTree>
    <p:extLst>
      <p:ext uri="{BB962C8B-B14F-4D97-AF65-F5344CB8AC3E}">
        <p14:creationId xmlns:p14="http://schemas.microsoft.com/office/powerpoint/2010/main" val="3981755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microsoft.com/office/2007/relationships/hdphoto" Target="../media/hdphoto1.wdp"/></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5562DA7F-7B37-45AC-8D5B-D52FDF860AF4}"/>
              </a:ext>
            </a:extLst>
          </p:cNvPr>
          <p:cNvSpPr>
            <a:spLocks noGrp="1"/>
          </p:cNvSpPr>
          <p:nvPr>
            <p:ph type="title"/>
          </p:nvPr>
        </p:nvSpPr>
        <p:spPr>
          <a:xfrm>
            <a:off x="755577" y="205979"/>
            <a:ext cx="7931223" cy="857250"/>
          </a:xfrm>
          <a:prstGeom prst="rect">
            <a:avLst/>
          </a:prstGeom>
        </p:spPr>
        <p:txBody>
          <a:bodyPr vert="horz" lIns="91440" tIns="45720" rIns="91440" bIns="45720" anchor="ctr">
            <a:normAutofit/>
          </a:bodyPr>
          <a:lstStyle/>
          <a:p>
            <a:r>
              <a:rPr dirty="0" err="1"/>
              <a:t>Titelmasterformat</a:t>
            </a:r>
            <a:r>
              <a:rPr dirty="0"/>
              <a:t> </a:t>
            </a:r>
            <a:r>
              <a:rPr dirty="0" err="1"/>
              <a:t>durch</a:t>
            </a:r>
            <a:r>
              <a:rPr dirty="0"/>
              <a:t> </a:t>
            </a:r>
            <a:r>
              <a:rPr dirty="0" err="1"/>
              <a:t>Klicken</a:t>
            </a:r>
            <a:r>
              <a:rPr dirty="0"/>
              <a:t> </a:t>
            </a:r>
            <a:r>
              <a:rPr dirty="0" err="1"/>
              <a:t>bearbeiten</a:t>
            </a:r>
            <a:endParaRPr dirty="0"/>
          </a:p>
        </p:txBody>
      </p:sp>
      <p:sp>
        <p:nvSpPr>
          <p:cNvPr id="3" name="Textplatzhalter 2">
            <a:extLst>
              <a:ext uri="{FF2B5EF4-FFF2-40B4-BE49-F238E27FC236}">
                <a16:creationId xmlns:a16="http://schemas.microsoft.com/office/drawing/2014/main" id="{CD6A4A0B-2EAD-4B56-8353-55727E004DD3}"/>
              </a:ext>
            </a:extLst>
          </p:cNvPr>
          <p:cNvSpPr>
            <a:spLocks noGrp="1"/>
          </p:cNvSpPr>
          <p:nvPr>
            <p:ph type="body" idx="1"/>
          </p:nvPr>
        </p:nvSpPr>
        <p:spPr>
          <a:xfrm>
            <a:off x="755576" y="1200151"/>
            <a:ext cx="7931224" cy="3394472"/>
          </a:xfrm>
          <a:prstGeom prst="rect">
            <a:avLst/>
          </a:prstGeom>
        </p:spPr>
        <p:txBody>
          <a:bodyPr vert="horz" lIns="91440" tIns="45720" rIns="91440" bIns="45720">
            <a:normAutofit/>
          </a:body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Datumsplatzhalter 3">
            <a:extLst>
              <a:ext uri="{FF2B5EF4-FFF2-40B4-BE49-F238E27FC236}">
                <a16:creationId xmlns:a16="http://schemas.microsoft.com/office/drawing/2014/main" id="{FA1B9373-53D0-4D71-924F-6E81CB085E9C}"/>
              </a:ext>
            </a:extLst>
          </p:cNvPr>
          <p:cNvSpPr>
            <a:spLocks noGrp="1"/>
          </p:cNvSpPr>
          <p:nvPr>
            <p:ph type="dt" idx="2"/>
          </p:nvPr>
        </p:nvSpPr>
        <p:spPr>
          <a:xfrm>
            <a:off x="755576" y="4767263"/>
            <a:ext cx="2133600" cy="273844"/>
          </a:xfrm>
          <a:prstGeom prst="rect">
            <a:avLst/>
          </a:prstGeom>
        </p:spPr>
        <p:txBody>
          <a:bodyPr vert="horz" lIns="91440" tIns="45720" rIns="91440" bIns="45720" anchor="ctr"/>
          <a:lstStyle>
            <a:lvl1pPr algn="l">
              <a:buNone/>
              <a:defRPr sz="900">
                <a:solidFill>
                  <a:schemeClr val="tx1">
                    <a:tint val="75000"/>
                  </a:schemeClr>
                </a:solidFill>
                <a:latin typeface="Arial"/>
                <a:ea typeface="Arial"/>
                <a:cs typeface="Arial"/>
              </a:defRPr>
            </a:lvl1pPr>
          </a:lstStyle>
          <a:p>
            <a:fld id="{1A5F7C02-8BB9-4009-8E62-D4DC00232FF2}" type="datetime1">
              <a:t>9/17/2026</a:t>
            </a:fld>
            <a:endParaRPr/>
          </a:p>
        </p:txBody>
      </p:sp>
      <p:sp>
        <p:nvSpPr>
          <p:cNvPr id="5" name="Fußzeilenplatzhalter 4">
            <a:extLst>
              <a:ext uri="{FF2B5EF4-FFF2-40B4-BE49-F238E27FC236}">
                <a16:creationId xmlns:a16="http://schemas.microsoft.com/office/drawing/2014/main" id="{619F69B2-373B-46FF-B918-0101AFF2B3A7}"/>
              </a:ext>
            </a:extLst>
          </p:cNvPr>
          <p:cNvSpPr>
            <a:spLocks noGrp="1"/>
          </p:cNvSpPr>
          <p:nvPr>
            <p:ph type="ftr" idx="3"/>
          </p:nvPr>
        </p:nvSpPr>
        <p:spPr>
          <a:xfrm>
            <a:off x="3273388" y="4767263"/>
            <a:ext cx="2895600" cy="273844"/>
          </a:xfrm>
          <a:prstGeom prst="rect">
            <a:avLst/>
          </a:prstGeom>
        </p:spPr>
        <p:txBody>
          <a:bodyPr vert="horz" lIns="91440" tIns="45720" rIns="91440" bIns="45720" anchor="ctr"/>
          <a:lstStyle>
            <a:lvl1pPr algn="ctr">
              <a:buNone/>
              <a:defRPr sz="900">
                <a:solidFill>
                  <a:schemeClr val="tx1">
                    <a:tint val="75000"/>
                  </a:schemeClr>
                </a:solidFill>
                <a:latin typeface="Arial"/>
                <a:ea typeface="Arial"/>
                <a:cs typeface="Arial"/>
              </a:defRPr>
            </a:lvl1pPr>
          </a:lstStyle>
          <a:p>
            <a:r>
              <a:t>SPP Initiative – Kognitive Mehrfachanforderungen</a:t>
            </a:r>
          </a:p>
        </p:txBody>
      </p:sp>
      <p:sp>
        <p:nvSpPr>
          <p:cNvPr id="6" name="Foliennummernplatzhalter 5">
            <a:extLst>
              <a:ext uri="{FF2B5EF4-FFF2-40B4-BE49-F238E27FC236}">
                <a16:creationId xmlns:a16="http://schemas.microsoft.com/office/drawing/2014/main" id="{C1A0E01D-2C9B-4046-9075-C22947680F7C}"/>
              </a:ext>
            </a:extLst>
          </p:cNvPr>
          <p:cNvSpPr>
            <a:spLocks noGrp="1"/>
          </p:cNvSpPr>
          <p:nvPr>
            <p:ph type="sldNum" idx="4"/>
          </p:nvPr>
        </p:nvSpPr>
        <p:spPr>
          <a:xfrm>
            <a:off x="6553200" y="4767263"/>
            <a:ext cx="2133600" cy="273844"/>
          </a:xfrm>
          <a:prstGeom prst="rect">
            <a:avLst/>
          </a:prstGeom>
        </p:spPr>
        <p:txBody>
          <a:bodyPr vert="horz" lIns="91440" tIns="45720" rIns="91440" bIns="45720" anchor="ctr"/>
          <a:lstStyle>
            <a:lvl1pPr algn="r">
              <a:buNone/>
              <a:defRPr sz="900">
                <a:solidFill>
                  <a:schemeClr val="tx1">
                    <a:tint val="75000"/>
                  </a:schemeClr>
                </a:solidFill>
                <a:latin typeface="Arial"/>
                <a:ea typeface="Arial"/>
                <a:cs typeface="Arial"/>
              </a:defRPr>
            </a:lvl1pPr>
          </a:lstStyle>
          <a:p>
            <a:fld id="{5CD88B4E-D815-417B-99FD-41D66E5C06D4}" type="slidenum">
              <a:t>‹Nr.›</a:t>
            </a:fld>
            <a:endParaRPr/>
          </a:p>
        </p:txBody>
      </p:sp>
      <p:sp>
        <p:nvSpPr>
          <p:cNvPr id="8" name="Gerader Verbinder 7">
            <a:extLst>
              <a:ext uri="{FF2B5EF4-FFF2-40B4-BE49-F238E27FC236}">
                <a16:creationId xmlns:a16="http://schemas.microsoft.com/office/drawing/2014/main" id="{4124E9D7-1368-4C6A-94E9-DF3FDBE52726}"/>
              </a:ext>
            </a:extLst>
          </p:cNvPr>
          <p:cNvSpPr>
            <a:spLocks noGrp="1"/>
          </p:cNvSpPr>
          <p:nvPr/>
        </p:nvSpPr>
        <p:spPr>
          <a:xfrm>
            <a:off x="-54260" y="4731990"/>
            <a:ext cx="92525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sp>
        <p:nvSpPr>
          <p:cNvPr id="9" name="Gerader Verbinder 8">
            <a:extLst>
              <a:ext uri="{FF2B5EF4-FFF2-40B4-BE49-F238E27FC236}">
                <a16:creationId xmlns:a16="http://schemas.microsoft.com/office/drawing/2014/main" id="{27361209-E306-411F-8181-39425E970A31}"/>
              </a:ext>
            </a:extLst>
          </p:cNvPr>
          <p:cNvSpPr>
            <a:spLocks noGrp="1"/>
          </p:cNvSpPr>
          <p:nvPr/>
        </p:nvSpPr>
        <p:spPr>
          <a:xfrm rot="5400000">
            <a:off x="-2286472" y="2591437"/>
            <a:ext cx="5220000" cy="0"/>
          </a:xfrm>
          <a:prstGeom prst="line">
            <a:avLst/>
          </a:prstGeom>
          <a:ln w="28575">
            <a:solidFill>
              <a:srgbClr val="3A77AD"/>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pic>
        <p:nvPicPr>
          <p:cNvPr id="18" name="Grafik 1"/>
          <p:cNvPicPr>
            <a:picLocks noChangeAspect="1"/>
          </p:cNvPicPr>
          <p:nvPr/>
        </p:nvPicPr>
        <p:blipFill rotWithShape="1">
          <a:blip r:embed="rId13">
            <a:alphaModFix/>
          </a:blip>
          <a:srcRect t="7963" b="13843"/>
          <a:stretch/>
        </p:blipFill>
        <p:spPr>
          <a:xfrm>
            <a:off x="-569046" y="3907081"/>
            <a:ext cx="1816322" cy="822222"/>
          </a:xfrm>
          <a:prstGeom prst="rect">
            <a:avLst/>
          </a:prstGeom>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r" defTabSz="685800">
        <a:spcBef>
          <a:spcPct val="0"/>
        </a:spcBef>
        <a:buNone/>
        <a:defRPr sz="3300" b="1" kern="1200">
          <a:solidFill>
            <a:schemeClr val="tx1"/>
          </a:solidFill>
          <a:latin typeface="Arial"/>
          <a:ea typeface="Arial"/>
          <a:cs typeface="Arial"/>
        </a:defRPr>
      </a:lvl1pPr>
    </p:titleStyle>
    <p:bodyStyle>
      <a:lvl1pPr marL="257175" indent="-257175" algn="l" defTabSz="685800">
        <a:spcBef>
          <a:spcPct val="20000"/>
        </a:spcBef>
        <a:buFont typeface="Arial"/>
        <a:buChar char="•"/>
        <a:defRPr sz="2400" kern="1200">
          <a:solidFill>
            <a:schemeClr val="tx1"/>
          </a:solidFill>
          <a:latin typeface="Arial"/>
          <a:ea typeface="Arial"/>
          <a:cs typeface="Arial"/>
        </a:defRPr>
      </a:lvl1pPr>
      <a:lvl2pPr marL="557213" indent="-214313" algn="l" defTabSz="685800">
        <a:spcBef>
          <a:spcPct val="20000"/>
        </a:spcBef>
        <a:buFont typeface="Arial"/>
        <a:buChar char="–"/>
        <a:defRPr sz="2100" kern="1200">
          <a:solidFill>
            <a:schemeClr val="tx1"/>
          </a:solidFill>
          <a:latin typeface="Arial"/>
          <a:ea typeface="Arial"/>
          <a:cs typeface="Arial"/>
        </a:defRPr>
      </a:lvl2pPr>
      <a:lvl3pPr marL="857250" indent="-171450" algn="l" defTabSz="685800">
        <a:spcBef>
          <a:spcPct val="20000"/>
        </a:spcBef>
        <a:buFont typeface="Arial"/>
        <a:buChar char="•"/>
        <a:defRPr sz="1800" kern="1200">
          <a:solidFill>
            <a:schemeClr val="tx1"/>
          </a:solidFill>
          <a:latin typeface="Arial"/>
          <a:ea typeface="Arial"/>
          <a:cs typeface="Arial"/>
        </a:defRPr>
      </a:lvl3pPr>
      <a:lvl4pPr marL="1200150" indent="-171450" algn="l" defTabSz="685800">
        <a:spcBef>
          <a:spcPct val="20000"/>
        </a:spcBef>
        <a:buFont typeface="Arial"/>
        <a:buChar char="–"/>
        <a:defRPr sz="1500" kern="1200">
          <a:solidFill>
            <a:schemeClr val="tx1"/>
          </a:solidFill>
          <a:latin typeface="Arial"/>
          <a:ea typeface="Arial"/>
          <a:cs typeface="Arial"/>
        </a:defRPr>
      </a:lvl4pPr>
      <a:lvl5pPr marL="1543050" indent="-171450" algn="l" defTabSz="685800">
        <a:spcBef>
          <a:spcPct val="20000"/>
        </a:spcBef>
        <a:buFont typeface="Arial"/>
        <a:buChar char="»"/>
        <a:defRPr sz="1500" kern="1200">
          <a:solidFill>
            <a:schemeClr val="tx1"/>
          </a:solidFill>
          <a:latin typeface="Arial"/>
          <a:ea typeface="Arial"/>
          <a:cs typeface="Arial"/>
        </a:defRPr>
      </a:lvl5pPr>
      <a:lvl6pPr marL="1885950" indent="-171450" algn="l" defTabSz="685800">
        <a:spcBef>
          <a:spcPct val="20000"/>
        </a:spcBef>
        <a:buFont typeface="Arial"/>
        <a:buChar char="•"/>
        <a:defRPr sz="1500" kern="1200">
          <a:solidFill>
            <a:schemeClr val="tx1"/>
          </a:solidFill>
          <a:latin typeface="+mn-lt"/>
          <a:ea typeface="+mn-lt"/>
          <a:cs typeface="+mn-lt"/>
        </a:defRPr>
      </a:lvl6pPr>
      <a:lvl7pPr marL="2228850" indent="-171450" algn="l" defTabSz="685800">
        <a:spcBef>
          <a:spcPct val="20000"/>
        </a:spcBef>
        <a:buFont typeface="Arial"/>
        <a:buChar char="•"/>
        <a:defRPr sz="1500" kern="1200">
          <a:solidFill>
            <a:schemeClr val="tx1"/>
          </a:solidFill>
          <a:latin typeface="+mn-lt"/>
          <a:ea typeface="+mn-lt"/>
          <a:cs typeface="+mn-lt"/>
        </a:defRPr>
      </a:lvl7pPr>
      <a:lvl8pPr marL="2571750" indent="-171450" algn="l" defTabSz="685800">
        <a:spcBef>
          <a:spcPct val="20000"/>
        </a:spcBef>
        <a:buFont typeface="Arial"/>
        <a:buChar char="•"/>
        <a:defRPr sz="1500" kern="1200">
          <a:solidFill>
            <a:schemeClr val="tx1"/>
          </a:solidFill>
          <a:latin typeface="+mn-lt"/>
          <a:ea typeface="+mn-lt"/>
          <a:cs typeface="+mn-lt"/>
        </a:defRPr>
      </a:lvl8pPr>
      <a:lvl9pPr marL="2914650" indent="-171450" algn="l" defTabSz="685800">
        <a:spcBef>
          <a:spcPct val="20000"/>
        </a:spcBef>
        <a:buFont typeface="Arial"/>
        <a:buChar char="•"/>
        <a:defRPr sz="1500" kern="1200">
          <a:solidFill>
            <a:schemeClr val="tx1"/>
          </a:solidFill>
          <a:latin typeface="+mn-lt"/>
          <a:ea typeface="+mn-lt"/>
          <a:cs typeface="+mn-lt"/>
        </a:defRPr>
      </a:lvl9pPr>
    </p:bodyStyle>
    <p:otherStyle>
      <a:lvl1pPr marL="0" algn="l" defTabSz="685800">
        <a:buNone/>
        <a:defRPr sz="1350" kern="1200">
          <a:solidFill>
            <a:schemeClr val="tx1"/>
          </a:solidFill>
          <a:latin typeface="+mn-lt"/>
          <a:ea typeface="+mn-lt"/>
          <a:cs typeface="+mn-lt"/>
        </a:defRPr>
      </a:lvl1pPr>
      <a:lvl2pPr marL="342900" algn="l" defTabSz="685800">
        <a:buNone/>
        <a:defRPr sz="1350" kern="1200">
          <a:solidFill>
            <a:schemeClr val="tx1"/>
          </a:solidFill>
          <a:latin typeface="+mn-lt"/>
          <a:ea typeface="+mn-lt"/>
          <a:cs typeface="+mn-lt"/>
        </a:defRPr>
      </a:lvl2pPr>
      <a:lvl3pPr marL="685800" algn="l" defTabSz="685800">
        <a:buNone/>
        <a:defRPr sz="1350" kern="1200">
          <a:solidFill>
            <a:schemeClr val="tx1"/>
          </a:solidFill>
          <a:latin typeface="+mn-lt"/>
          <a:ea typeface="+mn-lt"/>
          <a:cs typeface="+mn-lt"/>
        </a:defRPr>
      </a:lvl3pPr>
      <a:lvl4pPr marL="1028700" algn="l" defTabSz="685800">
        <a:buNone/>
        <a:defRPr sz="1350" kern="1200">
          <a:solidFill>
            <a:schemeClr val="tx1"/>
          </a:solidFill>
          <a:latin typeface="+mn-lt"/>
          <a:ea typeface="+mn-lt"/>
          <a:cs typeface="+mn-lt"/>
        </a:defRPr>
      </a:lvl4pPr>
      <a:lvl5pPr marL="1371600" algn="l" defTabSz="685800">
        <a:buNone/>
        <a:defRPr sz="1350" kern="1200">
          <a:solidFill>
            <a:schemeClr val="tx1"/>
          </a:solidFill>
          <a:latin typeface="+mn-lt"/>
          <a:ea typeface="+mn-lt"/>
          <a:cs typeface="+mn-lt"/>
        </a:defRPr>
      </a:lvl5pPr>
      <a:lvl6pPr marL="1714500" algn="l" defTabSz="685800">
        <a:buNone/>
        <a:defRPr sz="1350" kern="1200">
          <a:solidFill>
            <a:schemeClr val="tx1"/>
          </a:solidFill>
          <a:latin typeface="+mn-lt"/>
          <a:ea typeface="+mn-lt"/>
          <a:cs typeface="+mn-lt"/>
        </a:defRPr>
      </a:lvl6pPr>
      <a:lvl7pPr marL="2057400" algn="l" defTabSz="685800">
        <a:buNone/>
        <a:defRPr sz="1350" kern="1200">
          <a:solidFill>
            <a:schemeClr val="tx1"/>
          </a:solidFill>
          <a:latin typeface="+mn-lt"/>
          <a:ea typeface="+mn-lt"/>
          <a:cs typeface="+mn-lt"/>
        </a:defRPr>
      </a:lvl7pPr>
      <a:lvl8pPr marL="2400300" algn="l" defTabSz="685800">
        <a:buNone/>
        <a:defRPr sz="1350" kern="1200">
          <a:solidFill>
            <a:schemeClr val="tx1"/>
          </a:solidFill>
          <a:latin typeface="+mn-lt"/>
          <a:ea typeface="+mn-lt"/>
          <a:cs typeface="+mn-lt"/>
        </a:defRPr>
      </a:lvl8pPr>
      <a:lvl9pPr marL="2743200" algn="l" defTabSz="685800">
        <a:buNone/>
        <a:defRPr sz="135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755577" y="205979"/>
            <a:ext cx="7931223" cy="857250"/>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755576" y="1200151"/>
            <a:ext cx="7931224" cy="3394472"/>
          </a:xfrm>
          <a:prstGeom prst="rect">
            <a:avLst/>
          </a:prstGeom>
        </p:spPr>
        <p:txBody>
          <a:bodyPr vert="horz" lIns="91440" tIns="45720" rIns="91440" bIns="45720" rtlCol="0">
            <a:normAutofit/>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755576" y="4767263"/>
            <a:ext cx="2133600" cy="273844"/>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fld id="{1A5F7C02-8BB9-4009-8E62-D4DC00232FF2}" type="datetime1">
              <a:rPr lang="de-DE" smtClean="0"/>
              <a:pPr/>
              <a:t>17.09.2026</a:t>
            </a:fld>
            <a:endParaRPr lang="de-DE"/>
          </a:p>
        </p:txBody>
      </p:sp>
      <p:sp>
        <p:nvSpPr>
          <p:cNvPr id="5" name="Fußzeilenplatzhalter 4"/>
          <p:cNvSpPr>
            <a:spLocks noGrp="1"/>
          </p:cNvSpPr>
          <p:nvPr>
            <p:ph type="ftr" sz="quarter" idx="3"/>
          </p:nvPr>
        </p:nvSpPr>
        <p:spPr>
          <a:xfrm>
            <a:off x="3273388" y="4767263"/>
            <a:ext cx="2895600" cy="273844"/>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cs typeface="Arial" panose="020B0604020202020204" pitchFamily="34" charset="0"/>
              </a:defRPr>
            </a:lvl1pPr>
          </a:lstStyle>
          <a:p>
            <a:r>
              <a:rPr lang="de-DE"/>
              <a:t>SPP Initiative – Kognitive Mehrfachanforderungen</a:t>
            </a:r>
          </a:p>
        </p:txBody>
      </p:sp>
      <p:sp>
        <p:nvSpPr>
          <p:cNvPr id="6" name="Foliennummernplatzhalt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latin typeface="Arial" panose="020B0604020202020204" pitchFamily="34" charset="0"/>
                <a:cs typeface="Arial" panose="020B0604020202020204" pitchFamily="34" charset="0"/>
              </a:defRPr>
            </a:lvl1pPr>
          </a:lstStyle>
          <a:p>
            <a:fld id="{5CD88B4E-D815-417B-99FD-41D66E5C06D4}" type="slidenum">
              <a:rPr lang="de-DE" smtClean="0"/>
              <a:pPr/>
              <a:t>‹Nr.›</a:t>
            </a:fld>
            <a:endParaRPr lang="de-DE"/>
          </a:p>
        </p:txBody>
      </p:sp>
      <p:cxnSp>
        <p:nvCxnSpPr>
          <p:cNvPr id="8" name="Gerader Verbinder 7">
            <a:extLst>
              <a:ext uri="{FF2B5EF4-FFF2-40B4-BE49-F238E27FC236}">
                <a16:creationId xmlns:a16="http://schemas.microsoft.com/office/drawing/2014/main" id="{BA374641-DF0C-4EBC-9BF1-678A0AD1AD71}"/>
              </a:ext>
            </a:extLst>
          </p:cNvPr>
          <p:cNvCxnSpPr/>
          <p:nvPr userDrawn="1"/>
        </p:nvCxnSpPr>
        <p:spPr>
          <a:xfrm>
            <a:off x="-54260" y="4731990"/>
            <a:ext cx="92525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Gerader Verbinder 8">
            <a:extLst>
              <a:ext uri="{FF2B5EF4-FFF2-40B4-BE49-F238E27FC236}">
                <a16:creationId xmlns:a16="http://schemas.microsoft.com/office/drawing/2014/main" id="{AA5428A5-A8A7-4347-B399-1EBBDB42098D}"/>
              </a:ext>
            </a:extLst>
          </p:cNvPr>
          <p:cNvCxnSpPr>
            <a:cxnSpLocks/>
          </p:cNvCxnSpPr>
          <p:nvPr userDrawn="1"/>
        </p:nvCxnSpPr>
        <p:spPr>
          <a:xfrm rot="5400000">
            <a:off x="-2286472" y="2591437"/>
            <a:ext cx="5220000" cy="0"/>
          </a:xfrm>
          <a:prstGeom prst="line">
            <a:avLst/>
          </a:prstGeom>
          <a:ln w="28575">
            <a:solidFill>
              <a:srgbClr val="3A77AD"/>
            </a:solidFill>
          </a:ln>
        </p:spPr>
        <p:style>
          <a:lnRef idx="1">
            <a:schemeClr val="accent1"/>
          </a:lnRef>
          <a:fillRef idx="0">
            <a:schemeClr val="accent1"/>
          </a:fillRef>
          <a:effectRef idx="0">
            <a:schemeClr val="accent1"/>
          </a:effectRef>
          <a:fontRef idx="minor">
            <a:schemeClr val="tx1"/>
          </a:fontRef>
        </p:style>
      </p:cxnSp>
      <p:pic>
        <p:nvPicPr>
          <p:cNvPr id="10" name="Grafik 1">
            <a:extLst>
              <a:ext uri="{FF2B5EF4-FFF2-40B4-BE49-F238E27FC236}">
                <a16:creationId xmlns:a16="http://schemas.microsoft.com/office/drawing/2014/main" id="{D080442A-D460-4BF8-A9DC-21C6F3C36724}"/>
              </a:ext>
            </a:extLst>
          </p:cNvPr>
          <p:cNvPicPr>
            <a:picLocks noChangeAspect="1" noChangeArrowheads="1"/>
          </p:cNvPicPr>
          <p:nvPr userDrawn="1"/>
        </p:nvPicPr>
        <p:blipFill rotWithShape="1">
          <a:blip r:embed="rId13" cstate="print">
            <a:alphaModFix/>
            <a:extLst>
              <a:ext uri="{BEBA8EAE-BF5A-486C-A8C5-ECC9F3942E4B}">
                <a14:imgProps xmlns:a14="http://schemas.microsoft.com/office/drawing/2010/main">
                  <a14:imgLayer r:embed="rId14">
                    <a14:imgEffect>
                      <a14:backgroundRemoval t="10000" b="90000" l="10000" r="90000"/>
                    </a14:imgEffect>
                  </a14:imgLayer>
                </a14:imgProps>
              </a:ext>
              <a:ext uri="{28A0092B-C50C-407E-A947-70E740481C1C}">
                <a14:useLocalDpi xmlns:a14="http://schemas.microsoft.com/office/drawing/2010/main" val="0"/>
              </a:ext>
            </a:extLst>
          </a:blip>
          <a:srcRect t="7963" b="13843"/>
          <a:stretch/>
        </p:blipFill>
        <p:spPr bwMode="auto">
          <a:xfrm>
            <a:off x="-569046" y="3907081"/>
            <a:ext cx="1816322" cy="822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251763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r" defTabSz="685800" rtl="0" eaLnBrk="1" latinLnBrk="0" hangingPunct="1">
        <a:spcBef>
          <a:spcPct val="0"/>
        </a:spcBef>
        <a:buNone/>
        <a:defRPr sz="3300" b="1" kern="1200">
          <a:solidFill>
            <a:schemeClr val="tx1"/>
          </a:solidFill>
          <a:latin typeface="Arial" panose="020B0604020202020204" pitchFamily="34" charset="0"/>
          <a:ea typeface="+mj-ea"/>
          <a:cs typeface="Arial" panose="020B0604020202020204" pitchFamily="34" charset="0"/>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5562DA7F-7B37-45AC-8D5B-D52FDF860AF4}"/>
              </a:ext>
            </a:extLst>
          </p:cNvPr>
          <p:cNvSpPr>
            <a:spLocks noGrp="1"/>
          </p:cNvSpPr>
          <p:nvPr>
            <p:ph type="title"/>
          </p:nvPr>
        </p:nvSpPr>
        <p:spPr>
          <a:xfrm>
            <a:off x="755577" y="205979"/>
            <a:ext cx="7931223" cy="857250"/>
          </a:xfrm>
          <a:prstGeom prst="rect">
            <a:avLst/>
          </a:prstGeom>
        </p:spPr>
        <p:txBody>
          <a:bodyPr vert="horz" lIns="91440" tIns="45720" rIns="91440" bIns="45720" anchor="ctr">
            <a:normAutofit/>
          </a:bodyPr>
          <a:lstStyle/>
          <a:p>
            <a:r>
              <a:rPr dirty="0" err="1"/>
              <a:t>Titelmasterformat</a:t>
            </a:r>
            <a:r>
              <a:rPr dirty="0"/>
              <a:t> </a:t>
            </a:r>
            <a:r>
              <a:rPr dirty="0" err="1"/>
              <a:t>durch</a:t>
            </a:r>
            <a:r>
              <a:rPr dirty="0"/>
              <a:t> </a:t>
            </a:r>
            <a:r>
              <a:rPr dirty="0" err="1"/>
              <a:t>Klicken</a:t>
            </a:r>
            <a:r>
              <a:rPr dirty="0"/>
              <a:t> </a:t>
            </a:r>
            <a:r>
              <a:rPr dirty="0" err="1"/>
              <a:t>bearbeiten</a:t>
            </a:r>
            <a:endParaRPr dirty="0"/>
          </a:p>
        </p:txBody>
      </p:sp>
      <p:sp>
        <p:nvSpPr>
          <p:cNvPr id="3" name="Textplatzhalter 2">
            <a:extLst>
              <a:ext uri="{FF2B5EF4-FFF2-40B4-BE49-F238E27FC236}">
                <a16:creationId xmlns:a16="http://schemas.microsoft.com/office/drawing/2014/main" id="{CD6A4A0B-2EAD-4B56-8353-55727E004DD3}"/>
              </a:ext>
            </a:extLst>
          </p:cNvPr>
          <p:cNvSpPr>
            <a:spLocks noGrp="1"/>
          </p:cNvSpPr>
          <p:nvPr>
            <p:ph type="body" idx="1"/>
          </p:nvPr>
        </p:nvSpPr>
        <p:spPr>
          <a:xfrm>
            <a:off x="755576" y="1200151"/>
            <a:ext cx="7931224" cy="3394472"/>
          </a:xfrm>
          <a:prstGeom prst="rect">
            <a:avLst/>
          </a:prstGeom>
        </p:spPr>
        <p:txBody>
          <a:bodyPr vert="horz" lIns="91440" tIns="45720" rIns="91440" bIns="45720">
            <a:normAutofit/>
          </a:body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Datumsplatzhalter 3">
            <a:extLst>
              <a:ext uri="{FF2B5EF4-FFF2-40B4-BE49-F238E27FC236}">
                <a16:creationId xmlns:a16="http://schemas.microsoft.com/office/drawing/2014/main" id="{FA1B9373-53D0-4D71-924F-6E81CB085E9C}"/>
              </a:ext>
            </a:extLst>
          </p:cNvPr>
          <p:cNvSpPr>
            <a:spLocks noGrp="1"/>
          </p:cNvSpPr>
          <p:nvPr>
            <p:ph type="dt" idx="2"/>
          </p:nvPr>
        </p:nvSpPr>
        <p:spPr>
          <a:xfrm>
            <a:off x="755576" y="4767263"/>
            <a:ext cx="2133600" cy="273844"/>
          </a:xfrm>
          <a:prstGeom prst="rect">
            <a:avLst/>
          </a:prstGeom>
        </p:spPr>
        <p:txBody>
          <a:bodyPr vert="horz" lIns="91440" tIns="45720" rIns="91440" bIns="45720" anchor="ctr"/>
          <a:lstStyle>
            <a:lvl1pPr algn="l">
              <a:buNone/>
              <a:defRPr sz="900">
                <a:solidFill>
                  <a:schemeClr val="tx1">
                    <a:tint val="75000"/>
                  </a:schemeClr>
                </a:solidFill>
                <a:latin typeface="Arial"/>
                <a:ea typeface="Arial"/>
                <a:cs typeface="Arial"/>
              </a:defRPr>
            </a:lvl1pPr>
          </a:lstStyle>
          <a:p>
            <a:fld id="{1A5F7C02-8BB9-4009-8E62-D4DC00232FF2}" type="datetime1">
              <a:rPr lang="en-US"/>
              <a:t>9/17/2026</a:t>
            </a:fld>
            <a:endParaRPr/>
          </a:p>
        </p:txBody>
      </p:sp>
      <p:sp>
        <p:nvSpPr>
          <p:cNvPr id="5" name="Fußzeilenplatzhalter 4">
            <a:extLst>
              <a:ext uri="{FF2B5EF4-FFF2-40B4-BE49-F238E27FC236}">
                <a16:creationId xmlns:a16="http://schemas.microsoft.com/office/drawing/2014/main" id="{619F69B2-373B-46FF-B918-0101AFF2B3A7}"/>
              </a:ext>
            </a:extLst>
          </p:cNvPr>
          <p:cNvSpPr>
            <a:spLocks noGrp="1"/>
          </p:cNvSpPr>
          <p:nvPr>
            <p:ph type="ftr" idx="3"/>
          </p:nvPr>
        </p:nvSpPr>
        <p:spPr>
          <a:xfrm>
            <a:off x="3273388" y="4767263"/>
            <a:ext cx="2895600" cy="273844"/>
          </a:xfrm>
          <a:prstGeom prst="rect">
            <a:avLst/>
          </a:prstGeom>
        </p:spPr>
        <p:txBody>
          <a:bodyPr vert="horz" lIns="91440" tIns="45720" rIns="91440" bIns="45720" anchor="ctr"/>
          <a:lstStyle>
            <a:lvl1pPr algn="ctr">
              <a:buNone/>
              <a:defRPr sz="900">
                <a:solidFill>
                  <a:schemeClr val="tx1">
                    <a:tint val="75000"/>
                  </a:schemeClr>
                </a:solidFill>
                <a:latin typeface="Arial"/>
                <a:ea typeface="Arial"/>
                <a:cs typeface="Arial"/>
              </a:defRPr>
            </a:lvl1pPr>
          </a:lstStyle>
          <a:p>
            <a:r>
              <a:t>SPP Initiative – Kognitive Mehrfachanforderungen</a:t>
            </a:r>
          </a:p>
        </p:txBody>
      </p:sp>
      <p:sp>
        <p:nvSpPr>
          <p:cNvPr id="6" name="Foliennummernplatzhalter 5">
            <a:extLst>
              <a:ext uri="{FF2B5EF4-FFF2-40B4-BE49-F238E27FC236}">
                <a16:creationId xmlns:a16="http://schemas.microsoft.com/office/drawing/2014/main" id="{C1A0E01D-2C9B-4046-9075-C22947680F7C}"/>
              </a:ext>
            </a:extLst>
          </p:cNvPr>
          <p:cNvSpPr>
            <a:spLocks noGrp="1"/>
          </p:cNvSpPr>
          <p:nvPr>
            <p:ph type="sldNum" idx="4"/>
          </p:nvPr>
        </p:nvSpPr>
        <p:spPr>
          <a:xfrm>
            <a:off x="6553200" y="4767263"/>
            <a:ext cx="2133600" cy="273844"/>
          </a:xfrm>
          <a:prstGeom prst="rect">
            <a:avLst/>
          </a:prstGeom>
        </p:spPr>
        <p:txBody>
          <a:bodyPr vert="horz" lIns="91440" tIns="45720" rIns="91440" bIns="45720" anchor="ctr"/>
          <a:lstStyle>
            <a:lvl1pPr algn="r">
              <a:buNone/>
              <a:defRPr sz="900">
                <a:solidFill>
                  <a:schemeClr val="tx1">
                    <a:tint val="75000"/>
                  </a:schemeClr>
                </a:solidFill>
                <a:latin typeface="Arial"/>
                <a:ea typeface="Arial"/>
                <a:cs typeface="Arial"/>
              </a:defRPr>
            </a:lvl1pPr>
          </a:lstStyle>
          <a:p>
            <a:fld id="{5CD88B4E-D815-417B-99FD-41D66E5C06D4}" type="slidenum">
              <a:rPr/>
              <a:t>‹Nr.›</a:t>
            </a:fld>
            <a:endParaRPr/>
          </a:p>
        </p:txBody>
      </p:sp>
      <p:sp>
        <p:nvSpPr>
          <p:cNvPr id="8" name="Gerader Verbinder 7">
            <a:extLst>
              <a:ext uri="{FF2B5EF4-FFF2-40B4-BE49-F238E27FC236}">
                <a16:creationId xmlns:a16="http://schemas.microsoft.com/office/drawing/2014/main" id="{4124E9D7-1368-4C6A-94E9-DF3FDBE52726}"/>
              </a:ext>
            </a:extLst>
          </p:cNvPr>
          <p:cNvSpPr>
            <a:spLocks noGrp="1"/>
          </p:cNvSpPr>
          <p:nvPr/>
        </p:nvSpPr>
        <p:spPr>
          <a:xfrm>
            <a:off x="-54260" y="4731990"/>
            <a:ext cx="92525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sp>
      <p:sp>
        <p:nvSpPr>
          <p:cNvPr id="9" name="Gerader Verbinder 8">
            <a:extLst>
              <a:ext uri="{FF2B5EF4-FFF2-40B4-BE49-F238E27FC236}">
                <a16:creationId xmlns:a16="http://schemas.microsoft.com/office/drawing/2014/main" id="{27361209-E306-411F-8181-39425E970A31}"/>
              </a:ext>
            </a:extLst>
          </p:cNvPr>
          <p:cNvSpPr>
            <a:spLocks noGrp="1"/>
          </p:cNvSpPr>
          <p:nvPr/>
        </p:nvSpPr>
        <p:spPr>
          <a:xfrm rot="5400000">
            <a:off x="-2286472" y="2591437"/>
            <a:ext cx="5220000" cy="0"/>
          </a:xfrm>
          <a:prstGeom prst="line">
            <a:avLst/>
          </a:prstGeom>
          <a:ln w="28575">
            <a:solidFill>
              <a:srgbClr val="3A77AD"/>
            </a:solidFill>
          </a:ln>
        </p:spPr>
        <p:style>
          <a:lnRef idx="1">
            <a:schemeClr val="accent1"/>
          </a:lnRef>
          <a:fillRef idx="0">
            <a:schemeClr val="accent1"/>
          </a:fillRef>
          <a:effectRef idx="0">
            <a:schemeClr val="accent1"/>
          </a:effectRef>
          <a:fontRef idx="minor">
            <a:schemeClr val="tx1"/>
          </a:fontRef>
        </p:style>
      </p:sp>
      <p:pic>
        <p:nvPicPr>
          <p:cNvPr id="18" name="Grafik 1"/>
          <p:cNvPicPr>
            <a:picLocks noChangeAspect="1"/>
          </p:cNvPicPr>
          <p:nvPr/>
        </p:nvPicPr>
        <p:blipFill rotWithShape="1">
          <a:blip r:embed="rId13">
            <a:alphaModFix/>
          </a:blip>
          <a:srcRect t="7963" b="13843"/>
          <a:stretch/>
        </p:blipFill>
        <p:spPr>
          <a:xfrm>
            <a:off x="-569046" y="3907081"/>
            <a:ext cx="1816322" cy="822222"/>
          </a:xfrm>
          <a:prstGeom prst="rect">
            <a:avLst/>
          </a:prstGeom>
          <a:ln>
            <a:noFill/>
          </a:ln>
        </p:spPr>
      </p:pic>
    </p:spTree>
    <p:extLst>
      <p:ext uri="{BB962C8B-B14F-4D97-AF65-F5344CB8AC3E}">
        <p14:creationId xmlns:p14="http://schemas.microsoft.com/office/powerpoint/2010/main" val="13022669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r" defTabSz="685800">
        <a:spcBef>
          <a:spcPct val="0"/>
        </a:spcBef>
        <a:buNone/>
        <a:defRPr sz="3300" b="1" kern="1200">
          <a:solidFill>
            <a:schemeClr val="tx1"/>
          </a:solidFill>
          <a:latin typeface="Arial"/>
          <a:ea typeface="Arial"/>
          <a:cs typeface="Arial"/>
        </a:defRPr>
      </a:lvl1pPr>
    </p:titleStyle>
    <p:bodyStyle>
      <a:lvl1pPr marL="257175" indent="-257175" algn="l" defTabSz="685800">
        <a:spcBef>
          <a:spcPct val="20000"/>
        </a:spcBef>
        <a:buFont typeface="Arial"/>
        <a:buChar char="•"/>
        <a:defRPr sz="2400" kern="1200">
          <a:solidFill>
            <a:schemeClr val="tx1"/>
          </a:solidFill>
          <a:latin typeface="Arial"/>
          <a:ea typeface="Arial"/>
          <a:cs typeface="Arial"/>
        </a:defRPr>
      </a:lvl1pPr>
      <a:lvl2pPr marL="557213" indent="-214313" algn="l" defTabSz="685800">
        <a:spcBef>
          <a:spcPct val="20000"/>
        </a:spcBef>
        <a:buFont typeface="Arial"/>
        <a:buChar char="–"/>
        <a:defRPr sz="2100" kern="1200">
          <a:solidFill>
            <a:schemeClr val="tx1"/>
          </a:solidFill>
          <a:latin typeface="Arial"/>
          <a:ea typeface="Arial"/>
          <a:cs typeface="Arial"/>
        </a:defRPr>
      </a:lvl2pPr>
      <a:lvl3pPr marL="857250" indent="-171450" algn="l" defTabSz="685800">
        <a:spcBef>
          <a:spcPct val="20000"/>
        </a:spcBef>
        <a:buFont typeface="Arial"/>
        <a:buChar char="•"/>
        <a:defRPr sz="1800" kern="1200">
          <a:solidFill>
            <a:schemeClr val="tx1"/>
          </a:solidFill>
          <a:latin typeface="Arial"/>
          <a:ea typeface="Arial"/>
          <a:cs typeface="Arial"/>
        </a:defRPr>
      </a:lvl3pPr>
      <a:lvl4pPr marL="1200150" indent="-171450" algn="l" defTabSz="685800">
        <a:spcBef>
          <a:spcPct val="20000"/>
        </a:spcBef>
        <a:buFont typeface="Arial"/>
        <a:buChar char="–"/>
        <a:defRPr sz="1500" kern="1200">
          <a:solidFill>
            <a:schemeClr val="tx1"/>
          </a:solidFill>
          <a:latin typeface="Arial"/>
          <a:ea typeface="Arial"/>
          <a:cs typeface="Arial"/>
        </a:defRPr>
      </a:lvl4pPr>
      <a:lvl5pPr marL="1543050" indent="-171450" algn="l" defTabSz="685800">
        <a:spcBef>
          <a:spcPct val="20000"/>
        </a:spcBef>
        <a:buFont typeface="Arial"/>
        <a:buChar char="»"/>
        <a:defRPr sz="1500" kern="1200">
          <a:solidFill>
            <a:schemeClr val="tx1"/>
          </a:solidFill>
          <a:latin typeface="Arial"/>
          <a:ea typeface="Arial"/>
          <a:cs typeface="Arial"/>
        </a:defRPr>
      </a:lvl5pPr>
      <a:lvl6pPr marL="1885950" indent="-171450" algn="l" defTabSz="685800">
        <a:spcBef>
          <a:spcPct val="20000"/>
        </a:spcBef>
        <a:buFont typeface="Arial"/>
        <a:buChar char="•"/>
        <a:defRPr sz="1500" kern="1200">
          <a:solidFill>
            <a:schemeClr val="tx1"/>
          </a:solidFill>
          <a:latin typeface="+mn-lt"/>
          <a:ea typeface="+mn-lt"/>
          <a:cs typeface="+mn-lt"/>
        </a:defRPr>
      </a:lvl6pPr>
      <a:lvl7pPr marL="2228850" indent="-171450" algn="l" defTabSz="685800">
        <a:spcBef>
          <a:spcPct val="20000"/>
        </a:spcBef>
        <a:buFont typeface="Arial"/>
        <a:buChar char="•"/>
        <a:defRPr sz="1500" kern="1200">
          <a:solidFill>
            <a:schemeClr val="tx1"/>
          </a:solidFill>
          <a:latin typeface="+mn-lt"/>
          <a:ea typeface="+mn-lt"/>
          <a:cs typeface="+mn-lt"/>
        </a:defRPr>
      </a:lvl7pPr>
      <a:lvl8pPr marL="2571750" indent="-171450" algn="l" defTabSz="685800">
        <a:spcBef>
          <a:spcPct val="20000"/>
        </a:spcBef>
        <a:buFont typeface="Arial"/>
        <a:buChar char="•"/>
        <a:defRPr sz="1500" kern="1200">
          <a:solidFill>
            <a:schemeClr val="tx1"/>
          </a:solidFill>
          <a:latin typeface="+mn-lt"/>
          <a:ea typeface="+mn-lt"/>
          <a:cs typeface="+mn-lt"/>
        </a:defRPr>
      </a:lvl8pPr>
      <a:lvl9pPr marL="2914650" indent="-171450" algn="l" defTabSz="685800">
        <a:spcBef>
          <a:spcPct val="20000"/>
        </a:spcBef>
        <a:buFont typeface="Arial"/>
        <a:buChar char="•"/>
        <a:defRPr sz="1500" kern="1200">
          <a:solidFill>
            <a:schemeClr val="tx1"/>
          </a:solidFill>
          <a:latin typeface="+mn-lt"/>
          <a:ea typeface="+mn-lt"/>
          <a:cs typeface="+mn-lt"/>
        </a:defRPr>
      </a:lvl9pPr>
    </p:bodyStyle>
    <p:otherStyle>
      <a:lvl1pPr marL="0" algn="l" defTabSz="685800">
        <a:buNone/>
        <a:defRPr sz="1350" kern="1200">
          <a:solidFill>
            <a:schemeClr val="tx1"/>
          </a:solidFill>
          <a:latin typeface="+mn-lt"/>
          <a:ea typeface="+mn-lt"/>
          <a:cs typeface="+mn-lt"/>
        </a:defRPr>
      </a:lvl1pPr>
      <a:lvl2pPr marL="342900" algn="l" defTabSz="685800">
        <a:buNone/>
        <a:defRPr sz="1350" kern="1200">
          <a:solidFill>
            <a:schemeClr val="tx1"/>
          </a:solidFill>
          <a:latin typeface="+mn-lt"/>
          <a:ea typeface="+mn-lt"/>
          <a:cs typeface="+mn-lt"/>
        </a:defRPr>
      </a:lvl2pPr>
      <a:lvl3pPr marL="685800" algn="l" defTabSz="685800">
        <a:buNone/>
        <a:defRPr sz="1350" kern="1200">
          <a:solidFill>
            <a:schemeClr val="tx1"/>
          </a:solidFill>
          <a:latin typeface="+mn-lt"/>
          <a:ea typeface="+mn-lt"/>
          <a:cs typeface="+mn-lt"/>
        </a:defRPr>
      </a:lvl3pPr>
      <a:lvl4pPr marL="1028700" algn="l" defTabSz="685800">
        <a:buNone/>
        <a:defRPr sz="1350" kern="1200">
          <a:solidFill>
            <a:schemeClr val="tx1"/>
          </a:solidFill>
          <a:latin typeface="+mn-lt"/>
          <a:ea typeface="+mn-lt"/>
          <a:cs typeface="+mn-lt"/>
        </a:defRPr>
      </a:lvl4pPr>
      <a:lvl5pPr marL="1371600" algn="l" defTabSz="685800">
        <a:buNone/>
        <a:defRPr sz="1350" kern="1200">
          <a:solidFill>
            <a:schemeClr val="tx1"/>
          </a:solidFill>
          <a:latin typeface="+mn-lt"/>
          <a:ea typeface="+mn-lt"/>
          <a:cs typeface="+mn-lt"/>
        </a:defRPr>
      </a:lvl5pPr>
      <a:lvl6pPr marL="1714500" algn="l" defTabSz="685800">
        <a:buNone/>
        <a:defRPr sz="1350" kern="1200">
          <a:solidFill>
            <a:schemeClr val="tx1"/>
          </a:solidFill>
          <a:latin typeface="+mn-lt"/>
          <a:ea typeface="+mn-lt"/>
          <a:cs typeface="+mn-lt"/>
        </a:defRPr>
      </a:lvl6pPr>
      <a:lvl7pPr marL="2057400" algn="l" defTabSz="685800">
        <a:buNone/>
        <a:defRPr sz="1350" kern="1200">
          <a:solidFill>
            <a:schemeClr val="tx1"/>
          </a:solidFill>
          <a:latin typeface="+mn-lt"/>
          <a:ea typeface="+mn-lt"/>
          <a:cs typeface="+mn-lt"/>
        </a:defRPr>
      </a:lvl7pPr>
      <a:lvl8pPr marL="2400300" algn="l" defTabSz="685800">
        <a:buNone/>
        <a:defRPr sz="1350" kern="1200">
          <a:solidFill>
            <a:schemeClr val="tx1"/>
          </a:solidFill>
          <a:latin typeface="+mn-lt"/>
          <a:ea typeface="+mn-lt"/>
          <a:cs typeface="+mn-lt"/>
        </a:defRPr>
      </a:lvl8pPr>
      <a:lvl9pPr marL="2743200" algn="l" defTabSz="685800">
        <a:buNone/>
        <a:defRPr sz="135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microsoft.com/office/2007/relationships/hdphoto" Target="../media/hdphoto2.wdp"/><Relationship Id="rId9" Type="http://schemas.microsoft.com/office/2007/relationships/hdphoto" Target="../media/hdphoto3.wdp"/></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hyperlink" Target="https://osf.io/6vspq/"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dirk-ostwald/Optimal-dual-task-performance" TargetMode="External"/><Relationship Id="rId2" Type="http://schemas.openxmlformats.org/officeDocument/2006/relationships/hyperlink" Target="https://osf.io/x6n58/overview" TargetMode="Externa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hyperlink" Target="https://arxiv.org/abs/2604.27894" TargetMode="External"/><Relationship Id="rId4" Type="http://schemas.openxmlformats.org/officeDocument/2006/relationships/hyperlink" Target="https://github.com/dirk-ostwald/Optimal-dual-task-performance/blob/main/report/Ostwald-et-al.pdf"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100.png"/><Relationship Id="rId3" Type="http://schemas.openxmlformats.org/officeDocument/2006/relationships/image" Target="../media/image14.png"/><Relationship Id="rId7" Type="http://schemas.openxmlformats.org/officeDocument/2006/relationships/image" Target="../media/image19.png"/><Relationship Id="rId12" Type="http://schemas.openxmlformats.org/officeDocument/2006/relationships/image" Target="../media/image90.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20.png"/><Relationship Id="rId7" Type="http://schemas.openxmlformats.org/officeDocument/2006/relationships/image" Target="../media/image31.png"/><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5.png"/><Relationship Id="rId4" Type="http://schemas.openxmlformats.org/officeDocument/2006/relationships/image" Target="../media/image130.png"/><Relationship Id="rId9"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0.sv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svg"/><Relationship Id="rId9" Type="http://schemas.openxmlformats.org/officeDocument/2006/relationships/image" Target="../media/image4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6.png"/><Relationship Id="rId7"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45.png"/><Relationship Id="rId5" Type="http://schemas.openxmlformats.org/officeDocument/2006/relationships/image" Target="../media/image48.png"/><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6.png"/><Relationship Id="rId7"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3.png"/><Relationship Id="rId4" Type="http://schemas.openxmlformats.org/officeDocument/2006/relationships/image" Target="../media/image48.png"/><Relationship Id="rId9" Type="http://schemas.openxmlformats.org/officeDocument/2006/relationships/image" Target="../media/image50.png"/></Relationships>
</file>

<file path=ppt/slides/_rels/slide25.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48.png"/><Relationship Id="rId3" Type="http://schemas.openxmlformats.org/officeDocument/2006/relationships/image" Target="../media/image54.png"/><Relationship Id="rId7" Type="http://schemas.openxmlformats.org/officeDocument/2006/relationships/image" Target="../media/image50.png"/><Relationship Id="rId12" Type="http://schemas.openxmlformats.org/officeDocument/2006/relationships/image" Target="../media/image61.sv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45.png"/><Relationship Id="rId10" Type="http://schemas.openxmlformats.org/officeDocument/2006/relationships/image" Target="../media/image59.png"/><Relationship Id="rId4" Type="http://schemas.openxmlformats.org/officeDocument/2006/relationships/image" Target="../media/image55.svg"/><Relationship Id="rId9" Type="http://schemas.openxmlformats.org/officeDocument/2006/relationships/image" Target="../media/image58.png"/></Relationships>
</file>

<file path=ppt/slides/_rels/slide26.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48.png"/><Relationship Id="rId3" Type="http://schemas.openxmlformats.org/officeDocument/2006/relationships/image" Target="../media/image54.png"/><Relationship Id="rId7" Type="http://schemas.openxmlformats.org/officeDocument/2006/relationships/image" Target="../media/image50.png"/><Relationship Id="rId12" Type="http://schemas.openxmlformats.org/officeDocument/2006/relationships/image" Target="../media/image61.sv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45.png"/><Relationship Id="rId10" Type="http://schemas.openxmlformats.org/officeDocument/2006/relationships/image" Target="../media/image63.png"/><Relationship Id="rId4" Type="http://schemas.openxmlformats.org/officeDocument/2006/relationships/image" Target="../media/image55.svg"/><Relationship Id="rId9" Type="http://schemas.openxmlformats.org/officeDocument/2006/relationships/image" Target="../media/image62.png"/></Relationships>
</file>

<file path=ppt/slides/_rels/slide2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67.png"/><Relationship Id="rId5" Type="http://schemas.openxmlformats.org/officeDocument/2006/relationships/image" Target="../media/image66.svg"/><Relationship Id="rId4" Type="http://schemas.openxmlformats.org/officeDocument/2006/relationships/image" Target="../media/image65.png"/></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66.sv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65.png"/><Relationship Id="rId5" Type="http://schemas.openxmlformats.org/officeDocument/2006/relationships/image" Target="../media/image68.png"/><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70.png"/></Relationships>
</file>

<file path=ppt/slides/_rels/slide3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image" Target="../media/image73.png"/><Relationship Id="rId4" Type="http://schemas.openxmlformats.org/officeDocument/2006/relationships/image" Target="../media/image72.png"/></Relationships>
</file>

<file path=ppt/slides/_rels/slide3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3.xml"/><Relationship Id="rId1" Type="http://schemas.openxmlformats.org/officeDocument/2006/relationships/slideLayout" Target="../slideLayouts/slideLayout13.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32.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3.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7.png"/><Relationship Id="rId7" Type="http://schemas.openxmlformats.org/officeDocument/2006/relationships/image" Target="../media/image82.png"/><Relationship Id="rId2" Type="http://schemas.openxmlformats.org/officeDocument/2006/relationships/notesSlide" Target="../notesSlides/notesSlide25.xml"/><Relationship Id="rId1" Type="http://schemas.openxmlformats.org/officeDocument/2006/relationships/slideLayout" Target="../slideLayouts/slideLayout13.xml"/><Relationship Id="rId6" Type="http://schemas.openxmlformats.org/officeDocument/2006/relationships/image" Target="../media/image81.png"/><Relationship Id="rId5" Type="http://schemas.openxmlformats.org/officeDocument/2006/relationships/image" Target="../media/image79.jpeg"/><Relationship Id="rId4" Type="http://schemas.openxmlformats.org/officeDocument/2006/relationships/image" Target="../media/image78.png"/></Relationships>
</file>

<file path=ppt/slides/_rels/slide34.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84.png"/><Relationship Id="rId7" Type="http://schemas.openxmlformats.org/officeDocument/2006/relationships/image" Target="../media/image82.png"/><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81.png"/><Relationship Id="rId5" Type="http://schemas.openxmlformats.org/officeDocument/2006/relationships/image" Target="../media/image79.jpeg"/><Relationship Id="rId4" Type="http://schemas.openxmlformats.org/officeDocument/2006/relationships/image" Target="../media/image78.png"/></Relationships>
</file>

<file path=ppt/slides/_rels/slide35.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78.png"/><Relationship Id="rId7" Type="http://schemas.openxmlformats.org/officeDocument/2006/relationships/image" Target="../media/image83.png"/><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79.jpeg"/></Relationships>
</file>

<file path=ppt/slides/_rels/slide3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87.png"/></Relationships>
</file>

<file path=ppt/slides/_rels/slide3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2EF3CB9C-6B45-4917-A4DA-21FA35453BEF}"/>
              </a:ext>
            </a:extLst>
          </p:cNvPr>
          <p:cNvPicPr>
            <a:picLocks noChangeAspect="1"/>
          </p:cNvPicPr>
          <p:nvPr/>
        </p:nvPicPr>
        <p:blipFill rotWithShape="1">
          <a:blip r:embed="rId3">
            <a:grayscl/>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l="18334" t="10835" r="26100" b="13312"/>
          <a:stretch/>
        </p:blipFill>
        <p:spPr>
          <a:xfrm rot="5400000">
            <a:off x="689616" y="2291157"/>
            <a:ext cx="790783" cy="809624"/>
          </a:xfrm>
          <a:prstGeom prst="rect">
            <a:avLst/>
          </a:prstGeom>
          <a:ln>
            <a:noFill/>
          </a:ln>
          <a:effectLst>
            <a:outerShdw blurRad="292100" dist="139700" dir="2700000" algn="tl" rotWithShape="0">
              <a:srgbClr val="333333">
                <a:alpha val="65000"/>
              </a:srgbClr>
            </a:outerShdw>
          </a:effectLst>
        </p:spPr>
      </p:pic>
      <p:pic>
        <p:nvPicPr>
          <p:cNvPr id="32" name="Grafik 11"/>
          <p:cNvPicPr>
            <a:picLocks noChangeAspect="1"/>
          </p:cNvPicPr>
          <p:nvPr/>
        </p:nvPicPr>
        <p:blipFill>
          <a:blip r:embed="rId5">
            <a:grayscl/>
          </a:blip>
          <a:stretch>
            <a:fillRect/>
          </a:stretch>
        </p:blipFill>
        <p:spPr>
          <a:xfrm flipH="1">
            <a:off x="6229934" y="2291157"/>
            <a:ext cx="809625" cy="809625"/>
          </a:xfrm>
          <a:prstGeom prst="rect">
            <a:avLst/>
          </a:prstGeom>
          <a:ln>
            <a:noFill/>
          </a:ln>
          <a:effectLst>
            <a:outerShdw blurRad="292100" dist="139700" dir="2700000" algn="tl" rotWithShape="0">
              <a:srgbClr val="333333">
                <a:alpha val="65000"/>
              </a:srgbClr>
            </a:outerShdw>
          </a:effectLst>
        </p:spPr>
      </p:pic>
      <p:pic>
        <p:nvPicPr>
          <p:cNvPr id="33" name="Grafik 9"/>
          <p:cNvPicPr>
            <a:picLocks noChangeAspect="1"/>
          </p:cNvPicPr>
          <p:nvPr/>
        </p:nvPicPr>
        <p:blipFill>
          <a:blip r:embed="rId6">
            <a:grayscl/>
          </a:blip>
          <a:stretch>
            <a:fillRect/>
          </a:stretch>
        </p:blipFill>
        <p:spPr>
          <a:xfrm>
            <a:off x="2072047" y="2291157"/>
            <a:ext cx="809625" cy="809625"/>
          </a:xfrm>
          <a:prstGeom prst="rect">
            <a:avLst/>
          </a:prstGeom>
          <a:ln>
            <a:noFill/>
          </a:ln>
          <a:effectLst>
            <a:outerShdw blurRad="292100" dist="139700" dir="2700000" algn="tl" rotWithShape="0">
              <a:srgbClr val="333333">
                <a:alpha val="65000"/>
              </a:srgbClr>
            </a:outerShdw>
          </a:effectLst>
        </p:spPr>
      </p:pic>
      <p:pic>
        <p:nvPicPr>
          <p:cNvPr id="34" name="Grafik 13"/>
          <p:cNvPicPr>
            <a:picLocks noChangeAspect="1"/>
          </p:cNvPicPr>
          <p:nvPr/>
        </p:nvPicPr>
        <p:blipFill rotWithShape="1">
          <a:blip r:embed="rId7">
            <a:grayscl/>
          </a:blip>
          <a:srcRect r="5593" b="25169"/>
          <a:stretch/>
        </p:blipFill>
        <p:spPr>
          <a:xfrm>
            <a:off x="4838083" y="2291157"/>
            <a:ext cx="809625" cy="809625"/>
          </a:xfrm>
          <a:prstGeom prst="rect">
            <a:avLst/>
          </a:prstGeom>
          <a:ln>
            <a:noFill/>
          </a:ln>
          <a:effectLst>
            <a:outerShdw blurRad="292100" dist="139700" dir="2700000" algn="tl" rotWithShape="0">
              <a:srgbClr val="333333">
                <a:alpha val="65000"/>
              </a:srgbClr>
            </a:outerShdw>
          </a:effectLst>
        </p:spPr>
      </p:pic>
      <p:sp>
        <p:nvSpPr>
          <p:cNvPr id="24" name="Rechteck 23">
            <a:extLst>
              <a:ext uri="{FF2B5EF4-FFF2-40B4-BE49-F238E27FC236}">
                <a16:creationId xmlns:a16="http://schemas.microsoft.com/office/drawing/2014/main" id="{03455CD6-646D-4694-AB97-4BDBA83F6458}"/>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algn="r">
              <a:defRPr sz="2625" b="0">
                <a:solidFill>
                  <a:srgbClr val="111111"/>
                </a:solidFill>
                <a:latin typeface="Arial"/>
                <a:ea typeface="Arial"/>
                <a:cs typeface="Arial"/>
              </a:defRPr>
            </a:pPr>
            <a:r>
              <a:rPr sz="2800" b="0" dirty="0">
                <a:solidFill>
                  <a:srgbClr val="111111"/>
                </a:solidFill>
                <a:latin typeface="Arial"/>
                <a:ea typeface="Arial"/>
                <a:cs typeface="Arial"/>
              </a:rPr>
              <a:t>Project 3</a:t>
            </a:r>
          </a:p>
        </p:txBody>
      </p:sp>
      <p:sp>
        <p:nvSpPr>
          <p:cNvPr id="25" name="Rechteck 24">
            <a:extLst>
              <a:ext uri="{FF2B5EF4-FFF2-40B4-BE49-F238E27FC236}">
                <a16:creationId xmlns:a16="http://schemas.microsoft.com/office/drawing/2014/main" id="{E897CB27-ED0B-4784-82DC-2A8331A0435F}"/>
              </a:ext>
            </a:extLst>
          </p:cNvPr>
          <p:cNvSpPr>
            <a:spLocks noGrp="1"/>
          </p:cNvSpPr>
          <p:nvPr/>
        </p:nvSpPr>
        <p:spPr>
          <a:xfrm>
            <a:off x="762000" y="1057275"/>
            <a:ext cx="7924800" cy="771525"/>
          </a:xfrm>
          <a:prstGeom prst="rect">
            <a:avLst/>
          </a:prstGeom>
          <a:noFill/>
          <a:ln w="0">
            <a:noFill/>
          </a:ln>
        </p:spPr>
        <p:txBody>
          <a:bodyPr lIns="0" tIns="0" rIns="0" bIns="0" anchor="t">
            <a:noAutofit/>
          </a:bodyPr>
          <a:lstStyle/>
          <a:p>
            <a:pPr algn="l">
              <a:defRPr sz="2325" b="0">
                <a:solidFill>
                  <a:srgbClr val="111111"/>
                </a:solidFill>
                <a:latin typeface="Arial"/>
                <a:ea typeface="Arial"/>
                <a:cs typeface="Arial"/>
              </a:defRPr>
            </a:pPr>
            <a:r>
              <a:rPr sz="2325" b="0" dirty="0">
                <a:solidFill>
                  <a:srgbClr val="111111"/>
                </a:solidFill>
                <a:latin typeface="Arial"/>
                <a:ea typeface="Arial"/>
                <a:cs typeface="Arial"/>
              </a:rPr>
              <a:t>Individual determinants of response strategy</a:t>
            </a:r>
          </a:p>
          <a:p>
            <a:pPr algn="l">
              <a:defRPr sz="2325" b="0">
                <a:solidFill>
                  <a:srgbClr val="111111"/>
                </a:solidFill>
                <a:latin typeface="Arial"/>
                <a:ea typeface="Arial"/>
                <a:cs typeface="Arial"/>
              </a:defRPr>
            </a:pPr>
            <a:r>
              <a:rPr sz="2325" b="0" dirty="0">
                <a:solidFill>
                  <a:srgbClr val="111111"/>
                </a:solidFill>
                <a:latin typeface="Arial"/>
                <a:ea typeface="Arial"/>
                <a:cs typeface="Arial"/>
              </a:rPr>
              <a:t>formation in voluntary task switching</a:t>
            </a:r>
          </a:p>
        </p:txBody>
      </p:sp>
      <p:sp>
        <p:nvSpPr>
          <p:cNvPr id="26" name="Rechteck 25">
            <a:extLst>
              <a:ext uri="{FF2B5EF4-FFF2-40B4-BE49-F238E27FC236}">
                <a16:creationId xmlns:a16="http://schemas.microsoft.com/office/drawing/2014/main" id="{543A130D-7623-4B53-8681-2E1A4BC4BD1E}"/>
              </a:ext>
            </a:extLst>
          </p:cNvPr>
          <p:cNvSpPr>
            <a:spLocks noGrp="1"/>
          </p:cNvSpPr>
          <p:nvPr/>
        </p:nvSpPr>
        <p:spPr>
          <a:xfrm>
            <a:off x="1811959" y="3203625"/>
            <a:ext cx="1351293" cy="419100"/>
          </a:xfrm>
          <a:prstGeom prst="rect">
            <a:avLst/>
          </a:prstGeom>
          <a:noFill/>
          <a:ln w="0">
            <a:noFill/>
          </a:ln>
        </p:spPr>
        <p:txBody>
          <a:bodyPr lIns="0" tIns="0" rIns="0" bIns="0" anchor="t">
            <a:noAutofit/>
          </a:bodyPr>
          <a:lstStyle/>
          <a:p>
            <a:pPr algn="ctr">
              <a:defRPr sz="1275" b="0">
                <a:solidFill>
                  <a:srgbClr val="111111"/>
                </a:solidFill>
                <a:latin typeface="Arial"/>
                <a:ea typeface="Arial"/>
                <a:cs typeface="Arial"/>
              </a:defRPr>
            </a:pPr>
            <a:r>
              <a:rPr sz="1275" b="0" dirty="0">
                <a:solidFill>
                  <a:srgbClr val="111111"/>
                </a:solidFill>
                <a:latin typeface="Arial"/>
                <a:ea typeface="Arial"/>
                <a:cs typeface="Arial"/>
              </a:rPr>
              <a:t>Jovita Brüning</a:t>
            </a:r>
          </a:p>
        </p:txBody>
      </p:sp>
      <p:sp>
        <p:nvSpPr>
          <p:cNvPr id="27" name="Rechteck 26">
            <a:extLst>
              <a:ext uri="{FF2B5EF4-FFF2-40B4-BE49-F238E27FC236}">
                <a16:creationId xmlns:a16="http://schemas.microsoft.com/office/drawing/2014/main" id="{D1A8A4B2-7080-47DA-B5AB-BED4121E2193}"/>
              </a:ext>
            </a:extLst>
          </p:cNvPr>
          <p:cNvSpPr>
            <a:spLocks noGrp="1"/>
          </p:cNvSpPr>
          <p:nvPr/>
        </p:nvSpPr>
        <p:spPr>
          <a:xfrm>
            <a:off x="4660409" y="3203625"/>
            <a:ext cx="1190625" cy="419100"/>
          </a:xfrm>
          <a:prstGeom prst="rect">
            <a:avLst/>
          </a:prstGeom>
          <a:noFill/>
          <a:ln w="0">
            <a:noFill/>
          </a:ln>
        </p:spPr>
        <p:txBody>
          <a:bodyPr lIns="0" tIns="0" rIns="0" bIns="0" anchor="t">
            <a:noAutofit/>
          </a:bodyPr>
          <a:lstStyle/>
          <a:p>
            <a:pPr algn="ctr">
              <a:defRPr sz="1275" b="0">
                <a:solidFill>
                  <a:srgbClr val="111111"/>
                </a:solidFill>
                <a:latin typeface="Arial"/>
                <a:ea typeface="Arial"/>
                <a:cs typeface="Arial"/>
              </a:defRPr>
            </a:pPr>
            <a:r>
              <a:rPr sz="1275" b="0" dirty="0">
                <a:solidFill>
                  <a:srgbClr val="111111"/>
                </a:solidFill>
                <a:latin typeface="Arial"/>
                <a:ea typeface="Arial"/>
                <a:cs typeface="Arial"/>
              </a:rPr>
              <a:t>Dirk Ostwald</a:t>
            </a:r>
          </a:p>
        </p:txBody>
      </p:sp>
      <p:sp>
        <p:nvSpPr>
          <p:cNvPr id="28" name="Rechteck 27">
            <a:extLst>
              <a:ext uri="{FF2B5EF4-FFF2-40B4-BE49-F238E27FC236}">
                <a16:creationId xmlns:a16="http://schemas.microsoft.com/office/drawing/2014/main" id="{155CD67F-90CA-4ACA-979C-CAC109338799}"/>
              </a:ext>
            </a:extLst>
          </p:cNvPr>
          <p:cNvSpPr>
            <a:spLocks noGrp="1"/>
          </p:cNvSpPr>
          <p:nvPr/>
        </p:nvSpPr>
        <p:spPr>
          <a:xfrm>
            <a:off x="5831907" y="3203625"/>
            <a:ext cx="1688805" cy="419100"/>
          </a:xfrm>
          <a:prstGeom prst="rect">
            <a:avLst/>
          </a:prstGeom>
          <a:noFill/>
          <a:ln w="0">
            <a:noFill/>
          </a:ln>
        </p:spPr>
        <p:txBody>
          <a:bodyPr lIns="0" tIns="0" rIns="0" bIns="0" anchor="t">
            <a:noAutofit/>
          </a:bodyPr>
          <a:lstStyle/>
          <a:p>
            <a:pPr algn="ctr">
              <a:defRPr sz="1275" b="0">
                <a:solidFill>
                  <a:srgbClr val="111111"/>
                </a:solidFill>
                <a:latin typeface="Arial"/>
                <a:ea typeface="Arial"/>
                <a:cs typeface="Arial"/>
              </a:defRPr>
            </a:pPr>
            <a:r>
              <a:rPr sz="1275" b="0" dirty="0">
                <a:solidFill>
                  <a:srgbClr val="111111"/>
                </a:solidFill>
                <a:latin typeface="Arial"/>
                <a:ea typeface="Arial"/>
                <a:cs typeface="Arial"/>
              </a:rPr>
              <a:t>Markus </a:t>
            </a:r>
            <a:r>
              <a:rPr sz="1275" b="0" dirty="0" err="1">
                <a:solidFill>
                  <a:srgbClr val="111111"/>
                </a:solidFill>
                <a:latin typeface="Arial"/>
                <a:ea typeface="Arial"/>
                <a:cs typeface="Arial"/>
              </a:rPr>
              <a:t>Ullsperger</a:t>
            </a:r>
            <a:endParaRPr sz="1275" b="0" dirty="0">
              <a:solidFill>
                <a:srgbClr val="111111"/>
              </a:solidFill>
              <a:latin typeface="Arial"/>
              <a:ea typeface="Arial"/>
              <a:cs typeface="Arial"/>
            </a:endParaRPr>
          </a:p>
        </p:txBody>
      </p:sp>
      <p:sp>
        <p:nvSpPr>
          <p:cNvPr id="30" name="Rechteck 29">
            <a:extLst>
              <a:ext uri="{FF2B5EF4-FFF2-40B4-BE49-F238E27FC236}">
                <a16:creationId xmlns:a16="http://schemas.microsoft.com/office/drawing/2014/main" id="{B11609E7-B87F-42D7-A188-39200EE97C30}"/>
              </a:ext>
            </a:extLst>
          </p:cNvPr>
          <p:cNvSpPr>
            <a:spLocks noGrp="1"/>
          </p:cNvSpPr>
          <p:nvPr/>
        </p:nvSpPr>
        <p:spPr>
          <a:xfrm>
            <a:off x="762000" y="3943350"/>
            <a:ext cx="7924800" cy="647700"/>
          </a:xfrm>
          <a:prstGeom prst="rect">
            <a:avLst/>
          </a:prstGeom>
          <a:noFill/>
          <a:ln w="0">
            <a:noFill/>
          </a:ln>
        </p:spPr>
        <p:txBody>
          <a:bodyPr lIns="0" tIns="0" rIns="0" bIns="0" anchor="t">
            <a:noAutofit/>
          </a:bodyPr>
          <a:lstStyle/>
          <a:p>
            <a:pPr algn="l">
              <a:defRPr sz="2175" b="1">
                <a:solidFill>
                  <a:srgbClr val="AD8600"/>
                </a:solidFill>
                <a:latin typeface="Arial"/>
                <a:ea typeface="Arial"/>
                <a:cs typeface="Arial"/>
              </a:defRPr>
            </a:pPr>
            <a:r>
              <a:rPr sz="2175" b="1">
                <a:solidFill>
                  <a:srgbClr val="AD8600"/>
                </a:solidFill>
                <a:latin typeface="Arial"/>
                <a:ea typeface="Arial"/>
                <a:cs typeface="Arial"/>
              </a:rPr>
              <a:t>What determines which strategy a person uses</a:t>
            </a:r>
          </a:p>
          <a:p>
            <a:pPr algn="l">
              <a:defRPr sz="2175" b="1">
                <a:solidFill>
                  <a:srgbClr val="AD8600"/>
                </a:solidFill>
                <a:latin typeface="Arial"/>
                <a:ea typeface="Arial"/>
                <a:cs typeface="Arial"/>
              </a:defRPr>
            </a:pPr>
            <a:r>
              <a:rPr sz="2175" b="1">
                <a:solidFill>
                  <a:srgbClr val="AD8600"/>
                </a:solidFill>
                <a:latin typeface="Arial"/>
                <a:ea typeface="Arial"/>
                <a:cs typeface="Arial"/>
              </a:rPr>
              <a:t>when they can freely choose between tasks?</a:t>
            </a:r>
          </a:p>
        </p:txBody>
      </p:sp>
      <p:sp>
        <p:nvSpPr>
          <p:cNvPr id="31" name="Rechteck 30">
            <a:extLst>
              <a:ext uri="{FF2B5EF4-FFF2-40B4-BE49-F238E27FC236}">
                <a16:creationId xmlns:a16="http://schemas.microsoft.com/office/drawing/2014/main" id="{FDA0ACD5-E0AB-44B3-9909-C9B09434FDFE}"/>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algn="r">
              <a:defRPr sz="975" b="0">
                <a:solidFill>
                  <a:srgbClr val="888888"/>
                </a:solidFill>
                <a:latin typeface="Arial"/>
                <a:ea typeface="Arial"/>
                <a:cs typeface="Arial"/>
              </a:defRPr>
            </a:pPr>
            <a:r>
              <a:rPr sz="975" b="0">
                <a:solidFill>
                  <a:srgbClr val="888888"/>
                </a:solidFill>
                <a:latin typeface="Arial"/>
                <a:ea typeface="Arial"/>
                <a:cs typeface="Arial"/>
              </a:rPr>
              <a:t>1</a:t>
            </a:r>
          </a:p>
        </p:txBody>
      </p:sp>
      <p:sp>
        <p:nvSpPr>
          <p:cNvPr id="17" name="Rechteck 16">
            <a:extLst>
              <a:ext uri="{FF2B5EF4-FFF2-40B4-BE49-F238E27FC236}">
                <a16:creationId xmlns:a16="http://schemas.microsoft.com/office/drawing/2014/main" id="{F3C84E71-DF16-44E3-8D8D-99894BB2902A}"/>
              </a:ext>
            </a:extLst>
          </p:cNvPr>
          <p:cNvSpPr>
            <a:spLocks noGrp="1"/>
          </p:cNvSpPr>
          <p:nvPr/>
        </p:nvSpPr>
        <p:spPr>
          <a:xfrm>
            <a:off x="3306127" y="3203625"/>
            <a:ext cx="1190625" cy="419100"/>
          </a:xfrm>
          <a:prstGeom prst="rect">
            <a:avLst/>
          </a:prstGeom>
          <a:noFill/>
          <a:ln w="0">
            <a:noFill/>
          </a:ln>
        </p:spPr>
        <p:txBody>
          <a:bodyPr lIns="0" tIns="0" rIns="0" bIns="0" anchor="t">
            <a:noAutofit/>
          </a:bodyPr>
          <a:lstStyle/>
          <a:p>
            <a:pPr algn="ctr">
              <a:defRPr sz="1275" b="0">
                <a:solidFill>
                  <a:srgbClr val="111111"/>
                </a:solidFill>
                <a:latin typeface="Arial"/>
                <a:ea typeface="Arial"/>
                <a:cs typeface="Arial"/>
              </a:defRPr>
            </a:pPr>
            <a:r>
              <a:rPr lang="en-US" sz="1275" b="0" dirty="0">
                <a:solidFill>
                  <a:srgbClr val="111111"/>
                </a:solidFill>
                <a:latin typeface="Arial"/>
                <a:ea typeface="Arial"/>
                <a:cs typeface="Arial"/>
              </a:rPr>
              <a:t>Domenic Groh</a:t>
            </a:r>
            <a:endParaRPr sz="1275" b="0" dirty="0">
              <a:solidFill>
                <a:srgbClr val="111111"/>
              </a:solidFill>
              <a:latin typeface="Arial"/>
              <a:ea typeface="Arial"/>
              <a:cs typeface="Arial"/>
            </a:endParaRPr>
          </a:p>
        </p:txBody>
      </p:sp>
      <p:sp>
        <p:nvSpPr>
          <p:cNvPr id="18" name="Rechteck 17">
            <a:extLst>
              <a:ext uri="{FF2B5EF4-FFF2-40B4-BE49-F238E27FC236}">
                <a16:creationId xmlns:a16="http://schemas.microsoft.com/office/drawing/2014/main" id="{4C9337A1-EC53-4C4D-9249-51CC0A3AA99D}"/>
              </a:ext>
            </a:extLst>
          </p:cNvPr>
          <p:cNvSpPr>
            <a:spLocks noGrp="1"/>
          </p:cNvSpPr>
          <p:nvPr/>
        </p:nvSpPr>
        <p:spPr>
          <a:xfrm>
            <a:off x="471901" y="3203625"/>
            <a:ext cx="1190625" cy="419100"/>
          </a:xfrm>
          <a:prstGeom prst="rect">
            <a:avLst/>
          </a:prstGeom>
          <a:noFill/>
          <a:ln w="0">
            <a:noFill/>
          </a:ln>
        </p:spPr>
        <p:txBody>
          <a:bodyPr lIns="0" tIns="0" rIns="0" bIns="0" anchor="t">
            <a:noAutofit/>
          </a:bodyPr>
          <a:lstStyle/>
          <a:p>
            <a:pPr algn="ctr">
              <a:defRPr sz="1275" b="0">
                <a:solidFill>
                  <a:srgbClr val="111111"/>
                </a:solidFill>
                <a:latin typeface="Arial"/>
                <a:ea typeface="Arial"/>
                <a:cs typeface="Arial"/>
              </a:defRPr>
            </a:pPr>
            <a:r>
              <a:rPr lang="en-US" sz="1275" b="0" dirty="0" err="1">
                <a:solidFill>
                  <a:srgbClr val="111111"/>
                </a:solidFill>
                <a:latin typeface="Arial"/>
                <a:ea typeface="Arial"/>
                <a:cs typeface="Arial"/>
              </a:rPr>
              <a:t>Doruntinë</a:t>
            </a:r>
            <a:r>
              <a:rPr lang="en-US" sz="1275" b="0" dirty="0">
                <a:solidFill>
                  <a:srgbClr val="111111"/>
                </a:solidFill>
                <a:latin typeface="Arial"/>
                <a:ea typeface="Arial"/>
                <a:cs typeface="Arial"/>
              </a:rPr>
              <a:t> </a:t>
            </a:r>
            <a:r>
              <a:rPr lang="en-US" sz="1275" b="0" dirty="0" err="1">
                <a:solidFill>
                  <a:srgbClr val="111111"/>
                </a:solidFill>
                <a:latin typeface="Arial"/>
                <a:ea typeface="Arial"/>
                <a:cs typeface="Arial"/>
              </a:rPr>
              <a:t>Zogaj</a:t>
            </a:r>
            <a:endParaRPr sz="1275" b="0" dirty="0">
              <a:solidFill>
                <a:srgbClr val="111111"/>
              </a:solidFill>
              <a:latin typeface="Arial"/>
              <a:ea typeface="Arial"/>
              <a:cs typeface="Arial"/>
            </a:endParaRPr>
          </a:p>
        </p:txBody>
      </p:sp>
      <p:pic>
        <p:nvPicPr>
          <p:cNvPr id="3" name="Grafik 2">
            <a:extLst>
              <a:ext uri="{FF2B5EF4-FFF2-40B4-BE49-F238E27FC236}">
                <a16:creationId xmlns:a16="http://schemas.microsoft.com/office/drawing/2014/main" id="{D981BB5F-E9C6-6CD9-0EDD-427EEA0E1688}"/>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 uri="{28A0092B-C50C-407E-A947-70E740481C1C}">
                <a14:useLocalDpi xmlns:a14="http://schemas.microsoft.com/office/drawing/2010/main" val="0"/>
              </a:ext>
            </a:extLst>
          </a:blip>
          <a:stretch>
            <a:fillRect/>
          </a:stretch>
        </p:blipFill>
        <p:spPr>
          <a:xfrm>
            <a:off x="3463899" y="2299991"/>
            <a:ext cx="791957" cy="7919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832488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Rechteck 187">
            <a:extLst>
              <a:ext uri="{FF2B5EF4-FFF2-40B4-BE49-F238E27FC236}">
                <a16:creationId xmlns:a16="http://schemas.microsoft.com/office/drawing/2014/main" id="{23FAB778-4A88-4E6C-BBC3-07B8A35E8C6E}"/>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2625" b="0">
                <a:solidFill>
                  <a:srgbClr val="111111"/>
                </a:solidFill>
                <a:latin typeface="Arial"/>
                <a:ea typeface="Arial"/>
                <a:cs typeface="Arial"/>
              </a:defRPr>
            </a:pPr>
            <a:r>
              <a:rPr kumimoji="0" lang="en-US" sz="2800" b="0" i="0" u="none" strike="noStrike" kern="1200" cap="none" spc="0" normalizeH="0" baseline="0" noProof="0">
                <a:ln>
                  <a:noFill/>
                </a:ln>
                <a:solidFill>
                  <a:srgbClr val="111111"/>
                </a:solidFill>
                <a:effectLst/>
                <a:uLnTx/>
                <a:uFillTx/>
                <a:latin typeface="Arial"/>
                <a:cs typeface="Arial"/>
              </a:rPr>
              <a:t>Empirical Background</a:t>
            </a:r>
            <a:endParaRPr kumimoji="0" lang="en-US" sz="2625" b="0" i="0" u="none" strike="noStrike" kern="1200" cap="none" spc="0" normalizeH="0" baseline="0" noProof="0">
              <a:ln>
                <a:noFill/>
              </a:ln>
              <a:solidFill>
                <a:srgbClr val="111111"/>
              </a:solidFill>
              <a:effectLst/>
              <a:uLnTx/>
              <a:uFillTx/>
              <a:latin typeface="Arial"/>
              <a:ea typeface="Arial"/>
              <a:cs typeface="Arial"/>
            </a:endParaRPr>
          </a:p>
        </p:txBody>
      </p:sp>
      <p:sp>
        <p:nvSpPr>
          <p:cNvPr id="190" name="Rechteck 189">
            <a:extLst>
              <a:ext uri="{FF2B5EF4-FFF2-40B4-BE49-F238E27FC236}">
                <a16:creationId xmlns:a16="http://schemas.microsoft.com/office/drawing/2014/main" id="{CD8C5093-2A1E-48FB-BF3A-78BCD8737867}"/>
              </a:ext>
            </a:extLst>
          </p:cNvPr>
          <p:cNvSpPr>
            <a:spLocks noGrp="1"/>
          </p:cNvSpPr>
          <p:nvPr/>
        </p:nvSpPr>
        <p:spPr>
          <a:xfrm>
            <a:off x="5257800" y="1433512"/>
            <a:ext cx="3429000" cy="352425"/>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a:ln>
                  <a:noFill/>
                </a:ln>
                <a:solidFill>
                  <a:srgbClr val="111111"/>
                </a:solidFill>
                <a:effectLst/>
                <a:uLnTx/>
                <a:uFillTx/>
                <a:latin typeface="Arial"/>
                <a:cs typeface="Arial"/>
              </a:rPr>
              <a:t>Two tasks stay visible</a:t>
            </a:r>
          </a:p>
        </p:txBody>
      </p:sp>
      <p:sp>
        <p:nvSpPr>
          <p:cNvPr id="191" name="Rechteck 190">
            <a:extLst>
              <a:ext uri="{FF2B5EF4-FFF2-40B4-BE49-F238E27FC236}">
                <a16:creationId xmlns:a16="http://schemas.microsoft.com/office/drawing/2014/main" id="{0F9FF577-614B-40B0-B8F7-F4F9ABFF1395}"/>
              </a:ext>
            </a:extLst>
          </p:cNvPr>
          <p:cNvSpPr>
            <a:spLocks noGrp="1"/>
          </p:cNvSpPr>
          <p:nvPr/>
        </p:nvSpPr>
        <p:spPr>
          <a:xfrm>
            <a:off x="5257800" y="1890712"/>
            <a:ext cx="3429000" cy="8382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dirty="0">
                <a:ln>
                  <a:noFill/>
                </a:ln>
                <a:solidFill>
                  <a:srgbClr val="111111"/>
                </a:solidFill>
                <a:effectLst/>
                <a:uLnTx/>
                <a:uFillTx/>
                <a:latin typeface="Arial"/>
                <a:ea typeface="Arial"/>
                <a:cs typeface="Arial"/>
              </a:rPr>
              <a:t>Choose freely when to switch</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dirty="0">
                <a:ln>
                  <a:noFill/>
                </a:ln>
                <a:solidFill>
                  <a:srgbClr val="111111"/>
                </a:solidFill>
                <a:effectLst/>
                <a:uLnTx/>
                <a:uFillTx/>
                <a:latin typeface="Arial"/>
                <a:ea typeface="Arial"/>
                <a:cs typeface="Arial"/>
              </a:rPr>
              <a:t>A response selects and</a:t>
            </a:r>
            <a:r>
              <a:rPr kumimoji="0" lang="de-DE" sz="1600" b="0" i="0" u="none" strike="noStrike" kern="1200" cap="none" spc="0" normalizeH="0" baseline="0" noProof="0" dirty="0">
                <a:ln>
                  <a:noFill/>
                </a:ln>
                <a:solidFill>
                  <a:srgbClr val="111111"/>
                </a:solidFill>
                <a:effectLst/>
                <a:uLnTx/>
                <a:uFillTx/>
                <a:latin typeface="Arial"/>
                <a:ea typeface="Arial"/>
                <a:cs typeface="Arial"/>
              </a:rPr>
              <a:t> </a:t>
            </a:r>
            <a:r>
              <a:rPr kumimoji="0" sz="1600" b="0" i="0" u="none" strike="noStrike" kern="1200" cap="none" spc="0" normalizeH="0" baseline="0" noProof="0" dirty="0">
                <a:ln>
                  <a:noFill/>
                </a:ln>
                <a:solidFill>
                  <a:srgbClr val="111111"/>
                </a:solidFill>
                <a:effectLst/>
                <a:uLnTx/>
                <a:uFillTx/>
                <a:latin typeface="Arial"/>
                <a:ea typeface="Arial"/>
                <a:cs typeface="Arial"/>
              </a:rPr>
              <a:t>performs a task</a:t>
            </a:r>
          </a:p>
        </p:txBody>
      </p:sp>
      <p:sp>
        <p:nvSpPr>
          <p:cNvPr id="196" name="Rechteck 195">
            <a:extLst>
              <a:ext uri="{FF2B5EF4-FFF2-40B4-BE49-F238E27FC236}">
                <a16:creationId xmlns:a16="http://schemas.microsoft.com/office/drawing/2014/main" id="{AA749A6E-481C-460F-9338-BB7C0A53E44F}"/>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975" b="0">
                <a:solidFill>
                  <a:srgbClr val="888888"/>
                </a:solidFill>
                <a:latin typeface="Arial"/>
                <a:ea typeface="Arial"/>
                <a:cs typeface="Arial"/>
              </a:defRPr>
            </a:pPr>
            <a:r>
              <a:rPr kumimoji="0" lang="de-DE" sz="975" b="0" i="0" u="none" strike="noStrike" kern="1200" cap="none" spc="0" normalizeH="0" baseline="0" noProof="0" dirty="0">
                <a:ln>
                  <a:noFill/>
                </a:ln>
                <a:solidFill>
                  <a:srgbClr val="888888"/>
                </a:solidFill>
                <a:effectLst/>
                <a:uLnTx/>
                <a:uFillTx/>
                <a:latin typeface="Arial"/>
                <a:ea typeface="Arial"/>
                <a:cs typeface="Arial"/>
              </a:rPr>
              <a:t>2</a:t>
            </a:r>
            <a:endParaRPr kumimoji="0" sz="975" b="0" i="0" u="none" strike="noStrike" kern="1200" cap="none" spc="0" normalizeH="0" baseline="0" noProof="0" dirty="0">
              <a:ln>
                <a:noFill/>
              </a:ln>
              <a:solidFill>
                <a:srgbClr val="888888"/>
              </a:solidFill>
              <a:effectLst/>
              <a:uLnTx/>
              <a:uFillTx/>
              <a:latin typeface="Arial"/>
              <a:ea typeface="Arial"/>
              <a:cs typeface="Arial"/>
            </a:endParaRPr>
          </a:p>
        </p:txBody>
      </p:sp>
      <p:sp>
        <p:nvSpPr>
          <p:cNvPr id="45" name="Textfeld 44">
            <a:extLst>
              <a:ext uri="{FF2B5EF4-FFF2-40B4-BE49-F238E27FC236}">
                <a16:creationId xmlns:a16="http://schemas.microsoft.com/office/drawing/2014/main" id="{32BCDBB6-8757-4ABA-A88F-C7F7FF96C553}"/>
              </a:ext>
            </a:extLst>
          </p:cNvPr>
          <p:cNvSpPr txBox="1"/>
          <p:nvPr/>
        </p:nvSpPr>
        <p:spPr>
          <a:xfrm>
            <a:off x="752475" y="1033600"/>
            <a:ext cx="443502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75" b="1">
                <a:solidFill>
                  <a:srgbClr val="AD8600"/>
                </a:solidFill>
                <a:latin typeface="Arial"/>
                <a:ea typeface="Arial"/>
                <a:cs typeface="Arial"/>
              </a:defRPr>
            </a:pPr>
            <a:r>
              <a:rPr kumimoji="0" lang="de-DE" sz="2000" b="1" i="0" u="none" strike="noStrike" kern="1200" cap="none" spc="0" normalizeH="0" baseline="0" noProof="0">
                <a:ln>
                  <a:noFill/>
                </a:ln>
                <a:solidFill>
                  <a:srgbClr val="AD8600"/>
                </a:solidFill>
                <a:effectLst/>
                <a:uLnTx/>
                <a:uFillTx/>
                <a:latin typeface="Arial"/>
                <a:cs typeface="Arial"/>
              </a:rPr>
              <a:t>Free </a:t>
            </a:r>
            <a:r>
              <a:rPr kumimoji="0" lang="de-DE" sz="2000" b="1" i="0" u="none" strike="noStrike" kern="1200" cap="none" spc="0" normalizeH="0" baseline="0" noProof="0" err="1">
                <a:ln>
                  <a:noFill/>
                </a:ln>
                <a:solidFill>
                  <a:srgbClr val="AD8600"/>
                </a:solidFill>
                <a:effectLst/>
                <a:uLnTx/>
                <a:uFillTx/>
                <a:latin typeface="Arial"/>
                <a:cs typeface="Arial"/>
              </a:rPr>
              <a:t>Concurrent</a:t>
            </a:r>
            <a:r>
              <a:rPr kumimoji="0" lang="de-DE" sz="2000" b="1" i="0" u="none" strike="noStrike" kern="1200" cap="none" spc="0" normalizeH="0" baseline="0" noProof="0">
                <a:ln>
                  <a:noFill/>
                </a:ln>
                <a:solidFill>
                  <a:srgbClr val="AD8600"/>
                </a:solidFill>
                <a:effectLst/>
                <a:uLnTx/>
                <a:uFillTx/>
                <a:latin typeface="Arial"/>
                <a:cs typeface="Arial"/>
              </a:rPr>
              <a:t> Dual Task (FCDT)</a:t>
            </a:r>
          </a:p>
        </p:txBody>
      </p:sp>
      <p:pic>
        <p:nvPicPr>
          <p:cNvPr id="46" name="Grafik 45">
            <a:extLst>
              <a:ext uri="{FF2B5EF4-FFF2-40B4-BE49-F238E27FC236}">
                <a16:creationId xmlns:a16="http://schemas.microsoft.com/office/drawing/2014/main" id="{3BDA9B9C-1654-49EF-B0F0-3DF569DF715E}"/>
              </a:ext>
            </a:extLst>
          </p:cNvPr>
          <p:cNvPicPr>
            <a:picLocks noChangeAspect="1"/>
          </p:cNvPicPr>
          <p:nvPr/>
        </p:nvPicPr>
        <p:blipFill>
          <a:blip r:embed="rId3"/>
          <a:stretch>
            <a:fillRect/>
          </a:stretch>
        </p:blipFill>
        <p:spPr>
          <a:xfrm>
            <a:off x="770456" y="1677922"/>
            <a:ext cx="4111532" cy="2494028"/>
          </a:xfrm>
          <a:prstGeom prst="rect">
            <a:avLst/>
          </a:prstGeom>
        </p:spPr>
      </p:pic>
      <p:sp>
        <p:nvSpPr>
          <p:cNvPr id="47" name="Textfeld 46">
            <a:extLst>
              <a:ext uri="{FF2B5EF4-FFF2-40B4-BE49-F238E27FC236}">
                <a16:creationId xmlns:a16="http://schemas.microsoft.com/office/drawing/2014/main" id="{8E200509-F460-49C2-90E9-DD3DE90C7866}"/>
              </a:ext>
            </a:extLst>
          </p:cNvPr>
          <p:cNvSpPr txBox="1"/>
          <p:nvPr/>
        </p:nvSpPr>
        <p:spPr>
          <a:xfrm>
            <a:off x="1252035" y="4746779"/>
            <a:ext cx="6639931"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Arial"/>
              </a:rPr>
              <a:t>Brüning et al., 2020; Brüning et al., 2021; </a:t>
            </a:r>
            <a:r>
              <a:rPr kumimoji="0" lang="de-DE" sz="800" b="0" i="0" u="none" strike="noStrike" kern="1200" cap="none" spc="0" normalizeH="0" baseline="0" noProof="0" err="1">
                <a:ln>
                  <a:noFill/>
                </a:ln>
                <a:solidFill>
                  <a:prstClr val="black"/>
                </a:solidFill>
                <a:effectLst/>
                <a:uLnTx/>
                <a:uFillTx/>
                <a:latin typeface="Arial"/>
                <a:ea typeface="+mn-ea"/>
                <a:cs typeface="Arial"/>
              </a:rPr>
              <a:t>Damos</a:t>
            </a:r>
            <a:r>
              <a:rPr kumimoji="0" lang="de-DE" sz="800" b="0" i="0" u="none" strike="noStrike" kern="1200" cap="none" spc="0" normalizeH="0" baseline="0" noProof="0">
                <a:ln>
                  <a:noFill/>
                </a:ln>
                <a:solidFill>
                  <a:prstClr val="black"/>
                </a:solidFill>
                <a:effectLst/>
                <a:uLnTx/>
                <a:uFillTx/>
                <a:latin typeface="Arial"/>
                <a:ea typeface="+mn-ea"/>
                <a:cs typeface="Arial"/>
              </a:rPr>
              <a:t> et al., 1983; Reinert &amp; Brüning, 2022; </a:t>
            </a:r>
            <a:r>
              <a:rPr kumimoji="0" lang="de-DE" sz="800" b="0" i="0" u="none" strike="noStrike" kern="1200" cap="none" spc="0" normalizeH="0" baseline="0" noProof="0" err="1">
                <a:ln>
                  <a:noFill/>
                </a:ln>
                <a:solidFill>
                  <a:prstClr val="black"/>
                </a:solidFill>
                <a:effectLst/>
                <a:uLnTx/>
                <a:uFillTx/>
                <a:latin typeface="Arial"/>
                <a:ea typeface="+mn-ea"/>
                <a:cs typeface="Arial"/>
              </a:rPr>
              <a:t>Reissland</a:t>
            </a:r>
            <a:r>
              <a:rPr kumimoji="0" lang="de-DE" sz="800" b="0" i="0" u="none" strike="noStrike" kern="1200" cap="none" spc="0" normalizeH="0" baseline="0" noProof="0">
                <a:ln>
                  <a:noFill/>
                </a:ln>
                <a:solidFill>
                  <a:prstClr val="black"/>
                </a:solidFill>
                <a:effectLst/>
                <a:uLnTx/>
                <a:uFillTx/>
                <a:latin typeface="Arial"/>
                <a:ea typeface="+mn-ea"/>
                <a:cs typeface="Arial"/>
              </a:rPr>
              <a:t> &amp; </a:t>
            </a:r>
            <a:r>
              <a:rPr kumimoji="0" lang="de-DE" sz="800" b="0" i="0" u="none" strike="noStrike" kern="1200" cap="none" spc="0" normalizeH="0" baseline="0" noProof="0" err="1">
                <a:ln>
                  <a:noFill/>
                </a:ln>
                <a:solidFill>
                  <a:prstClr val="black"/>
                </a:solidFill>
                <a:effectLst/>
                <a:uLnTx/>
                <a:uFillTx/>
                <a:latin typeface="Arial"/>
                <a:ea typeface="+mn-ea"/>
                <a:cs typeface="Arial"/>
              </a:rPr>
              <a:t>Manzey</a:t>
            </a:r>
            <a:r>
              <a:rPr kumimoji="0" lang="de-DE" sz="800" b="0" i="0" u="none" strike="noStrike" kern="1200" cap="none" spc="0" normalizeH="0" baseline="0" noProof="0">
                <a:ln>
                  <a:noFill/>
                </a:ln>
                <a:solidFill>
                  <a:prstClr val="black"/>
                </a:solidFill>
                <a:effectLst/>
                <a:uLnTx/>
                <a:uFillTx/>
                <a:latin typeface="Arial"/>
                <a:ea typeface="+mn-ea"/>
                <a:cs typeface="Arial"/>
              </a:rPr>
              <a:t>, 2016</a:t>
            </a:r>
          </a:p>
        </p:txBody>
      </p:sp>
    </p:spTree>
    <p:extLst>
      <p:ext uri="{BB962C8B-B14F-4D97-AF65-F5344CB8AC3E}">
        <p14:creationId xmlns:p14="http://schemas.microsoft.com/office/powerpoint/2010/main" val="3163527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Rechteck 187">
            <a:extLst>
              <a:ext uri="{FF2B5EF4-FFF2-40B4-BE49-F238E27FC236}">
                <a16:creationId xmlns:a16="http://schemas.microsoft.com/office/drawing/2014/main" id="{23FAB778-4A88-4E6C-BBC3-07B8A35E8C6E}"/>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2625" b="0">
                <a:solidFill>
                  <a:srgbClr val="111111"/>
                </a:solidFill>
                <a:latin typeface="Arial"/>
                <a:ea typeface="Arial"/>
                <a:cs typeface="Arial"/>
              </a:defRPr>
            </a:pPr>
            <a:r>
              <a:rPr kumimoji="0" lang="en-US" sz="2800" b="0" i="0" u="none" strike="noStrike" kern="1200" cap="none" spc="0" normalizeH="0" baseline="0" noProof="0">
                <a:ln>
                  <a:noFill/>
                </a:ln>
                <a:solidFill>
                  <a:srgbClr val="111111"/>
                </a:solidFill>
                <a:effectLst/>
                <a:uLnTx/>
                <a:uFillTx/>
                <a:latin typeface="Arial"/>
                <a:cs typeface="Arial"/>
              </a:rPr>
              <a:t>Empirical Background</a:t>
            </a:r>
            <a:endParaRPr kumimoji="0" lang="en-US" sz="2625" b="0" i="0" u="none" strike="noStrike" kern="1200" cap="none" spc="0" normalizeH="0" baseline="0" noProof="0">
              <a:ln>
                <a:noFill/>
              </a:ln>
              <a:solidFill>
                <a:srgbClr val="111111"/>
              </a:solidFill>
              <a:effectLst/>
              <a:uLnTx/>
              <a:uFillTx/>
              <a:latin typeface="Arial"/>
              <a:ea typeface="Arial"/>
              <a:cs typeface="Arial"/>
            </a:endParaRPr>
          </a:p>
        </p:txBody>
      </p:sp>
      <p:sp>
        <p:nvSpPr>
          <p:cNvPr id="190" name="Rechteck 189">
            <a:extLst>
              <a:ext uri="{FF2B5EF4-FFF2-40B4-BE49-F238E27FC236}">
                <a16:creationId xmlns:a16="http://schemas.microsoft.com/office/drawing/2014/main" id="{CD8C5093-2A1E-48FB-BF3A-78BCD8737867}"/>
              </a:ext>
            </a:extLst>
          </p:cNvPr>
          <p:cNvSpPr>
            <a:spLocks noGrp="1"/>
          </p:cNvSpPr>
          <p:nvPr/>
        </p:nvSpPr>
        <p:spPr>
          <a:xfrm>
            <a:off x="5257800" y="1433512"/>
            <a:ext cx="3429000" cy="352425"/>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a:ln>
                  <a:noFill/>
                </a:ln>
                <a:solidFill>
                  <a:srgbClr val="111111"/>
                </a:solidFill>
                <a:effectLst/>
                <a:uLnTx/>
                <a:uFillTx/>
                <a:latin typeface="Arial"/>
                <a:cs typeface="Arial"/>
              </a:rPr>
              <a:t>Two tasks stay visible</a:t>
            </a:r>
          </a:p>
        </p:txBody>
      </p:sp>
      <p:sp>
        <p:nvSpPr>
          <p:cNvPr id="191" name="Rechteck 190">
            <a:extLst>
              <a:ext uri="{FF2B5EF4-FFF2-40B4-BE49-F238E27FC236}">
                <a16:creationId xmlns:a16="http://schemas.microsoft.com/office/drawing/2014/main" id="{0F9FF577-614B-40B0-B8F7-F4F9ABFF1395}"/>
              </a:ext>
            </a:extLst>
          </p:cNvPr>
          <p:cNvSpPr>
            <a:spLocks noGrp="1"/>
          </p:cNvSpPr>
          <p:nvPr/>
        </p:nvSpPr>
        <p:spPr>
          <a:xfrm>
            <a:off x="5257800" y="1890712"/>
            <a:ext cx="3429000" cy="8382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dirty="0">
                <a:ln>
                  <a:noFill/>
                </a:ln>
                <a:solidFill>
                  <a:srgbClr val="111111"/>
                </a:solidFill>
                <a:effectLst/>
                <a:uLnTx/>
                <a:uFillTx/>
                <a:latin typeface="Arial"/>
                <a:ea typeface="Arial"/>
                <a:cs typeface="Arial"/>
              </a:rPr>
              <a:t>Choose freely when to switch</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dirty="0">
                <a:ln>
                  <a:noFill/>
                </a:ln>
                <a:solidFill>
                  <a:srgbClr val="111111"/>
                </a:solidFill>
                <a:effectLst/>
                <a:uLnTx/>
                <a:uFillTx/>
                <a:latin typeface="Arial"/>
                <a:ea typeface="Arial"/>
                <a:cs typeface="Arial"/>
              </a:rPr>
              <a:t>A response selects and</a:t>
            </a:r>
            <a:r>
              <a:rPr kumimoji="0" lang="de-DE" sz="1600" b="0" i="0" u="none" strike="noStrike" kern="1200" cap="none" spc="0" normalizeH="0" baseline="0" noProof="0" dirty="0">
                <a:ln>
                  <a:noFill/>
                </a:ln>
                <a:solidFill>
                  <a:srgbClr val="111111"/>
                </a:solidFill>
                <a:effectLst/>
                <a:uLnTx/>
                <a:uFillTx/>
                <a:latin typeface="Arial"/>
                <a:ea typeface="Arial"/>
                <a:cs typeface="Arial"/>
              </a:rPr>
              <a:t> </a:t>
            </a:r>
            <a:r>
              <a:rPr kumimoji="0" sz="1600" b="0" i="0" u="none" strike="noStrike" kern="1200" cap="none" spc="0" normalizeH="0" baseline="0" noProof="0" dirty="0">
                <a:ln>
                  <a:noFill/>
                </a:ln>
                <a:solidFill>
                  <a:srgbClr val="111111"/>
                </a:solidFill>
                <a:effectLst/>
                <a:uLnTx/>
                <a:uFillTx/>
                <a:latin typeface="Arial"/>
                <a:ea typeface="Arial"/>
                <a:cs typeface="Arial"/>
              </a:rPr>
              <a:t>performs a task</a:t>
            </a:r>
          </a:p>
        </p:txBody>
      </p:sp>
      <p:sp>
        <p:nvSpPr>
          <p:cNvPr id="192" name="Rechteck 191">
            <a:extLst>
              <a:ext uri="{FF2B5EF4-FFF2-40B4-BE49-F238E27FC236}">
                <a16:creationId xmlns:a16="http://schemas.microsoft.com/office/drawing/2014/main" id="{135A8B45-71C5-4171-A4F2-63815B0E475B}"/>
              </a:ext>
            </a:extLst>
          </p:cNvPr>
          <p:cNvSpPr>
            <a:spLocks noGrp="1"/>
          </p:cNvSpPr>
          <p:nvPr/>
        </p:nvSpPr>
        <p:spPr>
          <a:xfrm>
            <a:off x="5257800" y="2881312"/>
            <a:ext cx="3429000" cy="59055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a:ln>
                  <a:noFill/>
                </a:ln>
                <a:solidFill>
                  <a:srgbClr val="111111"/>
                </a:solidFill>
                <a:effectLst/>
                <a:uLnTx/>
                <a:uFillTx/>
                <a:latin typeface="Arial"/>
                <a:ea typeface="Arial"/>
                <a:cs typeface="Arial"/>
              </a:rPr>
              <a:t>Only the chosen task’s</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a:ln>
                  <a:noFill/>
                </a:ln>
                <a:solidFill>
                  <a:srgbClr val="111111"/>
                </a:solidFill>
                <a:effectLst/>
                <a:uLnTx/>
                <a:uFillTx/>
                <a:latin typeface="Arial"/>
                <a:ea typeface="Arial"/>
                <a:cs typeface="Arial"/>
              </a:rPr>
              <a:t>stimulus changes</a:t>
            </a:r>
          </a:p>
        </p:txBody>
      </p:sp>
      <p:sp>
        <p:nvSpPr>
          <p:cNvPr id="193" name="Rechteck 192">
            <a:extLst>
              <a:ext uri="{FF2B5EF4-FFF2-40B4-BE49-F238E27FC236}">
                <a16:creationId xmlns:a16="http://schemas.microsoft.com/office/drawing/2014/main" id="{53C39898-3DD0-435E-A005-DDC1E69784CD}"/>
              </a:ext>
            </a:extLst>
          </p:cNvPr>
          <p:cNvSpPr>
            <a:spLocks noGrp="1"/>
          </p:cNvSpPr>
          <p:nvPr/>
        </p:nvSpPr>
        <p:spPr>
          <a:xfrm>
            <a:off x="5257800" y="3633787"/>
            <a:ext cx="3429000" cy="6858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a:ln>
                  <a:noFill/>
                </a:ln>
                <a:solidFill>
                  <a:srgbClr val="111111"/>
                </a:solidFill>
                <a:effectLst/>
                <a:uLnTx/>
                <a:uFillTx/>
                <a:latin typeface="Arial"/>
                <a:ea typeface="Arial"/>
                <a:cs typeface="Arial"/>
              </a:rPr>
              <a:t>The other stimulus remains</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a:ln>
                  <a:noFill/>
                </a:ln>
                <a:solidFill>
                  <a:srgbClr val="111111"/>
                </a:solidFill>
                <a:effectLst/>
                <a:uLnTx/>
                <a:uFillTx/>
                <a:latin typeface="Arial"/>
                <a:ea typeface="Arial"/>
                <a:cs typeface="Arial"/>
              </a:rPr>
              <a:t>available for advance processing</a:t>
            </a:r>
          </a:p>
        </p:txBody>
      </p:sp>
      <p:sp>
        <p:nvSpPr>
          <p:cNvPr id="194" name="Rechteck 193">
            <a:extLst>
              <a:ext uri="{FF2B5EF4-FFF2-40B4-BE49-F238E27FC236}">
                <a16:creationId xmlns:a16="http://schemas.microsoft.com/office/drawing/2014/main" id="{50E58AA2-21F9-4135-B04E-51C1FC703EEC}"/>
              </a:ext>
            </a:extLst>
          </p:cNvPr>
          <p:cNvSpPr>
            <a:spLocks noGrp="1"/>
          </p:cNvSpPr>
          <p:nvPr/>
        </p:nvSpPr>
        <p:spPr>
          <a:xfrm>
            <a:off x="770456" y="4324350"/>
            <a:ext cx="7877175" cy="28575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00" b="1">
                <a:solidFill>
                  <a:srgbClr val="AD8600"/>
                </a:solidFill>
                <a:latin typeface="Arial"/>
                <a:ea typeface="Arial"/>
                <a:cs typeface="Arial"/>
              </a:defRPr>
            </a:pPr>
            <a:r>
              <a:rPr kumimoji="0" sz="1600" b="1" i="0" u="none" strike="noStrike" kern="1200" cap="none" spc="0" normalizeH="0" baseline="0" noProof="0">
                <a:ln>
                  <a:noFill/>
                </a:ln>
                <a:solidFill>
                  <a:srgbClr val="AD8600"/>
                </a:solidFill>
                <a:effectLst/>
                <a:uLnTx/>
                <a:uFillTx/>
                <a:latin typeface="Arial"/>
                <a:ea typeface="Arial"/>
                <a:cs typeface="Arial"/>
              </a:rPr>
              <a:t>Maximize correct responses and balance performance across both tasks.</a:t>
            </a:r>
          </a:p>
        </p:txBody>
      </p:sp>
      <p:sp>
        <p:nvSpPr>
          <p:cNvPr id="196" name="Rechteck 195">
            <a:extLst>
              <a:ext uri="{FF2B5EF4-FFF2-40B4-BE49-F238E27FC236}">
                <a16:creationId xmlns:a16="http://schemas.microsoft.com/office/drawing/2014/main" id="{AA749A6E-481C-460F-9338-BB7C0A53E44F}"/>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975" b="0">
                <a:solidFill>
                  <a:srgbClr val="888888"/>
                </a:solidFill>
                <a:latin typeface="Arial"/>
                <a:ea typeface="Arial"/>
                <a:cs typeface="Arial"/>
              </a:defRPr>
            </a:pPr>
            <a:r>
              <a:rPr kumimoji="0" lang="de-DE" sz="975" b="0" i="0" u="none" strike="noStrike" kern="1200" cap="none" spc="0" normalizeH="0" baseline="0" noProof="0" dirty="0">
                <a:ln>
                  <a:noFill/>
                </a:ln>
                <a:solidFill>
                  <a:srgbClr val="888888"/>
                </a:solidFill>
                <a:effectLst/>
                <a:uLnTx/>
                <a:uFillTx/>
                <a:latin typeface="Arial"/>
                <a:ea typeface="Arial"/>
                <a:cs typeface="Arial"/>
              </a:rPr>
              <a:t>2</a:t>
            </a:r>
            <a:endParaRPr kumimoji="0" sz="975" b="0" i="0" u="none" strike="noStrike" kern="1200" cap="none" spc="0" normalizeH="0" baseline="0" noProof="0" dirty="0">
              <a:ln>
                <a:noFill/>
              </a:ln>
              <a:solidFill>
                <a:srgbClr val="888888"/>
              </a:solidFill>
              <a:effectLst/>
              <a:uLnTx/>
              <a:uFillTx/>
              <a:latin typeface="Arial"/>
              <a:ea typeface="Arial"/>
              <a:cs typeface="Arial"/>
            </a:endParaRPr>
          </a:p>
        </p:txBody>
      </p:sp>
      <p:sp>
        <p:nvSpPr>
          <p:cNvPr id="45" name="Textfeld 44">
            <a:extLst>
              <a:ext uri="{FF2B5EF4-FFF2-40B4-BE49-F238E27FC236}">
                <a16:creationId xmlns:a16="http://schemas.microsoft.com/office/drawing/2014/main" id="{32BCDBB6-8757-4ABA-A88F-C7F7FF96C553}"/>
              </a:ext>
            </a:extLst>
          </p:cNvPr>
          <p:cNvSpPr txBox="1"/>
          <p:nvPr/>
        </p:nvSpPr>
        <p:spPr>
          <a:xfrm>
            <a:off x="752475" y="1033600"/>
            <a:ext cx="443502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75" b="1">
                <a:solidFill>
                  <a:srgbClr val="AD8600"/>
                </a:solidFill>
                <a:latin typeface="Arial"/>
                <a:ea typeface="Arial"/>
                <a:cs typeface="Arial"/>
              </a:defRPr>
            </a:pPr>
            <a:r>
              <a:rPr kumimoji="0" lang="de-DE" sz="2000" b="1" i="0" u="none" strike="noStrike" kern="1200" cap="none" spc="0" normalizeH="0" baseline="0" noProof="0">
                <a:ln>
                  <a:noFill/>
                </a:ln>
                <a:solidFill>
                  <a:srgbClr val="AD8600"/>
                </a:solidFill>
                <a:effectLst/>
                <a:uLnTx/>
                <a:uFillTx/>
                <a:latin typeface="Arial"/>
                <a:cs typeface="Arial"/>
              </a:rPr>
              <a:t>Free </a:t>
            </a:r>
            <a:r>
              <a:rPr kumimoji="0" lang="de-DE" sz="2000" b="1" i="0" u="none" strike="noStrike" kern="1200" cap="none" spc="0" normalizeH="0" baseline="0" noProof="0" err="1">
                <a:ln>
                  <a:noFill/>
                </a:ln>
                <a:solidFill>
                  <a:srgbClr val="AD8600"/>
                </a:solidFill>
                <a:effectLst/>
                <a:uLnTx/>
                <a:uFillTx/>
                <a:latin typeface="Arial"/>
                <a:cs typeface="Arial"/>
              </a:rPr>
              <a:t>Concurrent</a:t>
            </a:r>
            <a:r>
              <a:rPr kumimoji="0" lang="de-DE" sz="2000" b="1" i="0" u="none" strike="noStrike" kern="1200" cap="none" spc="0" normalizeH="0" baseline="0" noProof="0">
                <a:ln>
                  <a:noFill/>
                </a:ln>
                <a:solidFill>
                  <a:srgbClr val="AD8600"/>
                </a:solidFill>
                <a:effectLst/>
                <a:uLnTx/>
                <a:uFillTx/>
                <a:latin typeface="Arial"/>
                <a:cs typeface="Arial"/>
              </a:rPr>
              <a:t> Dual Task (FCDT)</a:t>
            </a:r>
          </a:p>
        </p:txBody>
      </p:sp>
      <p:pic>
        <p:nvPicPr>
          <p:cNvPr id="46" name="Grafik 45">
            <a:extLst>
              <a:ext uri="{FF2B5EF4-FFF2-40B4-BE49-F238E27FC236}">
                <a16:creationId xmlns:a16="http://schemas.microsoft.com/office/drawing/2014/main" id="{3BDA9B9C-1654-49EF-B0F0-3DF569DF715E}"/>
              </a:ext>
            </a:extLst>
          </p:cNvPr>
          <p:cNvPicPr>
            <a:picLocks noChangeAspect="1"/>
          </p:cNvPicPr>
          <p:nvPr/>
        </p:nvPicPr>
        <p:blipFill>
          <a:blip r:embed="rId3"/>
          <a:stretch>
            <a:fillRect/>
          </a:stretch>
        </p:blipFill>
        <p:spPr>
          <a:xfrm>
            <a:off x="770456" y="1677922"/>
            <a:ext cx="4111532" cy="2494028"/>
          </a:xfrm>
          <a:prstGeom prst="rect">
            <a:avLst/>
          </a:prstGeom>
        </p:spPr>
      </p:pic>
      <p:sp>
        <p:nvSpPr>
          <p:cNvPr id="47" name="Textfeld 46">
            <a:extLst>
              <a:ext uri="{FF2B5EF4-FFF2-40B4-BE49-F238E27FC236}">
                <a16:creationId xmlns:a16="http://schemas.microsoft.com/office/drawing/2014/main" id="{8E200509-F460-49C2-90E9-DD3DE90C7866}"/>
              </a:ext>
            </a:extLst>
          </p:cNvPr>
          <p:cNvSpPr txBox="1"/>
          <p:nvPr/>
        </p:nvSpPr>
        <p:spPr>
          <a:xfrm>
            <a:off x="1252035" y="4746779"/>
            <a:ext cx="6639931"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Arial"/>
              </a:rPr>
              <a:t>Brüning et al., 2020; Brüning et al., 2021; </a:t>
            </a:r>
            <a:r>
              <a:rPr kumimoji="0" lang="de-DE" sz="800" b="0" i="0" u="none" strike="noStrike" kern="1200" cap="none" spc="0" normalizeH="0" baseline="0" noProof="0" err="1">
                <a:ln>
                  <a:noFill/>
                </a:ln>
                <a:solidFill>
                  <a:prstClr val="black"/>
                </a:solidFill>
                <a:effectLst/>
                <a:uLnTx/>
                <a:uFillTx/>
                <a:latin typeface="Arial"/>
                <a:ea typeface="+mn-ea"/>
                <a:cs typeface="Arial"/>
              </a:rPr>
              <a:t>Damos</a:t>
            </a:r>
            <a:r>
              <a:rPr kumimoji="0" lang="de-DE" sz="800" b="0" i="0" u="none" strike="noStrike" kern="1200" cap="none" spc="0" normalizeH="0" baseline="0" noProof="0">
                <a:ln>
                  <a:noFill/>
                </a:ln>
                <a:solidFill>
                  <a:prstClr val="black"/>
                </a:solidFill>
                <a:effectLst/>
                <a:uLnTx/>
                <a:uFillTx/>
                <a:latin typeface="Arial"/>
                <a:ea typeface="+mn-ea"/>
                <a:cs typeface="Arial"/>
              </a:rPr>
              <a:t> et al., 1983; Reinert &amp; Brüning, 2022; </a:t>
            </a:r>
            <a:r>
              <a:rPr kumimoji="0" lang="de-DE" sz="800" b="0" i="0" u="none" strike="noStrike" kern="1200" cap="none" spc="0" normalizeH="0" baseline="0" noProof="0" err="1">
                <a:ln>
                  <a:noFill/>
                </a:ln>
                <a:solidFill>
                  <a:prstClr val="black"/>
                </a:solidFill>
                <a:effectLst/>
                <a:uLnTx/>
                <a:uFillTx/>
                <a:latin typeface="Arial"/>
                <a:ea typeface="+mn-ea"/>
                <a:cs typeface="Arial"/>
              </a:rPr>
              <a:t>Reissland</a:t>
            </a:r>
            <a:r>
              <a:rPr kumimoji="0" lang="de-DE" sz="800" b="0" i="0" u="none" strike="noStrike" kern="1200" cap="none" spc="0" normalizeH="0" baseline="0" noProof="0">
                <a:ln>
                  <a:noFill/>
                </a:ln>
                <a:solidFill>
                  <a:prstClr val="black"/>
                </a:solidFill>
                <a:effectLst/>
                <a:uLnTx/>
                <a:uFillTx/>
                <a:latin typeface="Arial"/>
                <a:ea typeface="+mn-ea"/>
                <a:cs typeface="Arial"/>
              </a:rPr>
              <a:t> &amp; </a:t>
            </a:r>
            <a:r>
              <a:rPr kumimoji="0" lang="de-DE" sz="800" b="0" i="0" u="none" strike="noStrike" kern="1200" cap="none" spc="0" normalizeH="0" baseline="0" noProof="0" err="1">
                <a:ln>
                  <a:noFill/>
                </a:ln>
                <a:solidFill>
                  <a:prstClr val="black"/>
                </a:solidFill>
                <a:effectLst/>
                <a:uLnTx/>
                <a:uFillTx/>
                <a:latin typeface="Arial"/>
                <a:ea typeface="+mn-ea"/>
                <a:cs typeface="Arial"/>
              </a:rPr>
              <a:t>Manzey</a:t>
            </a:r>
            <a:r>
              <a:rPr kumimoji="0" lang="de-DE" sz="800" b="0" i="0" u="none" strike="noStrike" kern="1200" cap="none" spc="0" normalizeH="0" baseline="0" noProof="0">
                <a:ln>
                  <a:noFill/>
                </a:ln>
                <a:solidFill>
                  <a:prstClr val="black"/>
                </a:solidFill>
                <a:effectLst/>
                <a:uLnTx/>
                <a:uFillTx/>
                <a:latin typeface="Arial"/>
                <a:ea typeface="+mn-ea"/>
                <a:cs typeface="Arial"/>
              </a:rPr>
              <a:t>, 2016</a:t>
            </a:r>
          </a:p>
        </p:txBody>
      </p:sp>
    </p:spTree>
    <p:extLst>
      <p:ext uri="{BB962C8B-B14F-4D97-AF65-F5344CB8AC3E}">
        <p14:creationId xmlns:p14="http://schemas.microsoft.com/office/powerpoint/2010/main" val="3263492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Textfeld 185">
            <a:extLst>
              <a:ext uri="{FF2B5EF4-FFF2-40B4-BE49-F238E27FC236}">
                <a16:creationId xmlns:a16="http://schemas.microsoft.com/office/drawing/2014/main" id="{D6F2CC26-13CD-422A-97AB-B842C6652509}"/>
              </a:ext>
            </a:extLst>
          </p:cNvPr>
          <p:cNvSpPr txBox="1"/>
          <p:nvPr/>
        </p:nvSpPr>
        <p:spPr>
          <a:xfrm>
            <a:off x="5225614" y="3174072"/>
            <a:ext cx="373435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Strategies‘ efficiency changes depending on task characteristics</a:t>
            </a:r>
          </a:p>
        </p:txBody>
      </p:sp>
      <p:sp>
        <p:nvSpPr>
          <p:cNvPr id="185" name="Textfeld 184">
            <a:extLst>
              <a:ext uri="{FF2B5EF4-FFF2-40B4-BE49-F238E27FC236}">
                <a16:creationId xmlns:a16="http://schemas.microsoft.com/office/drawing/2014/main" id="{A4319266-681B-462E-905F-81199CE089ED}"/>
              </a:ext>
            </a:extLst>
          </p:cNvPr>
          <p:cNvSpPr txBox="1"/>
          <p:nvPr/>
        </p:nvSpPr>
        <p:spPr>
          <a:xfrm>
            <a:off x="5228524" y="2422812"/>
            <a:ext cx="337577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Reflect stable biases that occur independent of task features</a:t>
            </a:r>
          </a:p>
        </p:txBody>
      </p:sp>
      <p:sp>
        <p:nvSpPr>
          <p:cNvPr id="56" name="Rechteck 55">
            <a:extLst>
              <a:ext uri="{FF2B5EF4-FFF2-40B4-BE49-F238E27FC236}">
                <a16:creationId xmlns:a16="http://schemas.microsoft.com/office/drawing/2014/main" id="{88B4378D-BF70-4C20-AB2E-80D72F2A4F0F}"/>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2625" b="0">
                <a:solidFill>
                  <a:srgbClr val="111111"/>
                </a:solidFill>
                <a:latin typeface="Arial"/>
                <a:ea typeface="Arial"/>
                <a:cs typeface="Arial"/>
              </a:defRPr>
            </a:pPr>
            <a:r>
              <a:rPr kumimoji="0" lang="en-US" sz="2800" b="0" i="0" u="none" strike="noStrike" kern="1200" cap="none" spc="0" normalizeH="0" baseline="0" noProof="0">
                <a:ln>
                  <a:noFill/>
                </a:ln>
                <a:solidFill>
                  <a:srgbClr val="111111"/>
                </a:solidFill>
                <a:effectLst/>
                <a:uLnTx/>
                <a:uFillTx/>
                <a:latin typeface="Arial"/>
                <a:ea typeface="Arial"/>
                <a:cs typeface="Arial"/>
              </a:rPr>
              <a:t>Empirical Background</a:t>
            </a:r>
          </a:p>
        </p:txBody>
      </p:sp>
      <p:sp>
        <p:nvSpPr>
          <p:cNvPr id="61" name="Rechteck 60">
            <a:extLst>
              <a:ext uri="{FF2B5EF4-FFF2-40B4-BE49-F238E27FC236}">
                <a16:creationId xmlns:a16="http://schemas.microsoft.com/office/drawing/2014/main" id="{6BAFC2E4-DF4B-4814-B982-A9B5E085719B}"/>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975" b="0">
                <a:solidFill>
                  <a:srgbClr val="888888"/>
                </a:solidFill>
                <a:latin typeface="Arial"/>
                <a:ea typeface="Arial"/>
                <a:cs typeface="Arial"/>
              </a:defRPr>
            </a:pPr>
            <a:r>
              <a:rPr kumimoji="0" lang="de-DE" sz="975" b="0" i="0" u="none" strike="noStrike" kern="1200" cap="none" spc="0" normalizeH="0" baseline="0" noProof="0" dirty="0">
                <a:ln>
                  <a:noFill/>
                </a:ln>
                <a:solidFill>
                  <a:srgbClr val="888888"/>
                </a:solidFill>
                <a:effectLst/>
                <a:uLnTx/>
                <a:uFillTx/>
                <a:latin typeface="Arial"/>
                <a:ea typeface="Arial"/>
                <a:cs typeface="Arial"/>
              </a:rPr>
              <a:t>3</a:t>
            </a:r>
            <a:endParaRPr kumimoji="0" sz="975" b="0" i="0" u="none" strike="noStrike" kern="1200" cap="none" spc="0" normalizeH="0" baseline="0" noProof="0" dirty="0">
              <a:ln>
                <a:noFill/>
              </a:ln>
              <a:solidFill>
                <a:srgbClr val="888888"/>
              </a:solidFill>
              <a:effectLst/>
              <a:uLnTx/>
              <a:uFillTx/>
              <a:latin typeface="Arial"/>
              <a:ea typeface="Arial"/>
              <a:cs typeface="Arial"/>
            </a:endParaRPr>
          </a:p>
        </p:txBody>
      </p:sp>
      <p:sp>
        <p:nvSpPr>
          <p:cNvPr id="9" name="Textfeld 8">
            <a:extLst>
              <a:ext uri="{FF2B5EF4-FFF2-40B4-BE49-F238E27FC236}">
                <a16:creationId xmlns:a16="http://schemas.microsoft.com/office/drawing/2014/main" id="{F052DAB5-126F-43AE-AE97-207331290DBF}"/>
              </a:ext>
            </a:extLst>
          </p:cNvPr>
          <p:cNvSpPr txBox="1"/>
          <p:nvPr/>
        </p:nvSpPr>
        <p:spPr>
          <a:xfrm>
            <a:off x="1252035" y="4746779"/>
            <a:ext cx="6639931"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Arial"/>
              </a:rPr>
              <a:t>Brüning et al., 2020; Brüning et al., 2021; </a:t>
            </a:r>
            <a:r>
              <a:rPr kumimoji="0" lang="de-DE" sz="800" b="0" i="0" u="none" strike="noStrike" kern="1200" cap="none" spc="0" normalizeH="0" baseline="0" noProof="0" err="1">
                <a:ln>
                  <a:noFill/>
                </a:ln>
                <a:solidFill>
                  <a:prstClr val="black"/>
                </a:solidFill>
                <a:effectLst/>
                <a:uLnTx/>
                <a:uFillTx/>
                <a:latin typeface="Arial"/>
                <a:ea typeface="+mn-ea"/>
                <a:cs typeface="Arial"/>
              </a:rPr>
              <a:t>Damos</a:t>
            </a:r>
            <a:r>
              <a:rPr kumimoji="0" lang="de-DE" sz="800" b="0" i="0" u="none" strike="noStrike" kern="1200" cap="none" spc="0" normalizeH="0" baseline="0" noProof="0">
                <a:ln>
                  <a:noFill/>
                </a:ln>
                <a:solidFill>
                  <a:prstClr val="black"/>
                </a:solidFill>
                <a:effectLst/>
                <a:uLnTx/>
                <a:uFillTx/>
                <a:latin typeface="Arial"/>
                <a:ea typeface="+mn-ea"/>
                <a:cs typeface="Arial"/>
              </a:rPr>
              <a:t> et al., 1983; Reinert &amp; Brüning, 2022; </a:t>
            </a:r>
            <a:r>
              <a:rPr kumimoji="0" lang="de-DE" sz="800" b="0" i="0" u="none" strike="noStrike" kern="1200" cap="none" spc="0" normalizeH="0" baseline="0" noProof="0" err="1">
                <a:ln>
                  <a:noFill/>
                </a:ln>
                <a:solidFill>
                  <a:prstClr val="black"/>
                </a:solidFill>
                <a:effectLst/>
                <a:uLnTx/>
                <a:uFillTx/>
                <a:latin typeface="Arial"/>
                <a:ea typeface="+mn-ea"/>
                <a:cs typeface="Arial"/>
              </a:rPr>
              <a:t>Reissland</a:t>
            </a:r>
            <a:r>
              <a:rPr kumimoji="0" lang="de-DE" sz="800" b="0" i="0" u="none" strike="noStrike" kern="1200" cap="none" spc="0" normalizeH="0" baseline="0" noProof="0">
                <a:ln>
                  <a:noFill/>
                </a:ln>
                <a:solidFill>
                  <a:prstClr val="black"/>
                </a:solidFill>
                <a:effectLst/>
                <a:uLnTx/>
                <a:uFillTx/>
                <a:latin typeface="Arial"/>
                <a:ea typeface="+mn-ea"/>
                <a:cs typeface="Arial"/>
              </a:rPr>
              <a:t> &amp; </a:t>
            </a:r>
            <a:r>
              <a:rPr kumimoji="0" lang="de-DE" sz="800" b="0" i="0" u="none" strike="noStrike" kern="1200" cap="none" spc="0" normalizeH="0" baseline="0" noProof="0" err="1">
                <a:ln>
                  <a:noFill/>
                </a:ln>
                <a:solidFill>
                  <a:prstClr val="black"/>
                </a:solidFill>
                <a:effectLst/>
                <a:uLnTx/>
                <a:uFillTx/>
                <a:latin typeface="Arial"/>
                <a:ea typeface="+mn-ea"/>
                <a:cs typeface="Arial"/>
              </a:rPr>
              <a:t>Manzey</a:t>
            </a:r>
            <a:r>
              <a:rPr kumimoji="0" lang="de-DE" sz="800" b="0" i="0" u="none" strike="noStrike" kern="1200" cap="none" spc="0" normalizeH="0" baseline="0" noProof="0">
                <a:ln>
                  <a:noFill/>
                </a:ln>
                <a:solidFill>
                  <a:prstClr val="black"/>
                </a:solidFill>
                <a:effectLst/>
                <a:uLnTx/>
                <a:uFillTx/>
                <a:latin typeface="Arial"/>
                <a:ea typeface="+mn-ea"/>
                <a:cs typeface="Arial"/>
              </a:rPr>
              <a:t>, 2016</a:t>
            </a:r>
          </a:p>
        </p:txBody>
      </p:sp>
      <p:grpSp>
        <p:nvGrpSpPr>
          <p:cNvPr id="11" name="Gruppieren 10">
            <a:extLst>
              <a:ext uri="{FF2B5EF4-FFF2-40B4-BE49-F238E27FC236}">
                <a16:creationId xmlns:a16="http://schemas.microsoft.com/office/drawing/2014/main" id="{FE926BED-B8B8-4E74-A55B-E2BA13268AA3}"/>
              </a:ext>
            </a:extLst>
          </p:cNvPr>
          <p:cNvGrpSpPr/>
          <p:nvPr/>
        </p:nvGrpSpPr>
        <p:grpSpPr>
          <a:xfrm>
            <a:off x="752475" y="1678367"/>
            <a:ext cx="4249786" cy="2215644"/>
            <a:chOff x="3720481" y="1405251"/>
            <a:chExt cx="6471084" cy="3753671"/>
          </a:xfrm>
        </p:grpSpPr>
        <p:sp>
          <p:nvSpPr>
            <p:cNvPr id="12" name="Abgerundetes Rechteck 350">
              <a:extLst>
                <a:ext uri="{FF2B5EF4-FFF2-40B4-BE49-F238E27FC236}">
                  <a16:creationId xmlns:a16="http://schemas.microsoft.com/office/drawing/2014/main" id="{D4E27CAD-A966-4912-A558-CA2F75F32278}"/>
                </a:ext>
              </a:extLst>
            </p:cNvPr>
            <p:cNvSpPr/>
            <p:nvPr/>
          </p:nvSpPr>
          <p:spPr>
            <a:xfrm>
              <a:off x="3720484" y="2307018"/>
              <a:ext cx="6471081" cy="2851904"/>
            </a:xfrm>
            <a:prstGeom prst="roundRect">
              <a:avLst>
                <a:gd name="adj" fmla="val 1794"/>
              </a:avLst>
            </a:prstGeom>
            <a:solidFill>
              <a:sysClr val="window" lastClr="FFFFFF"/>
            </a:solidFill>
            <a:ln w="6350" cap="flat" cmpd="sng" algn="ctr">
              <a:solidFill>
                <a:sysClr val="windowText" lastClr="000000"/>
              </a:solidFill>
              <a:prstDash val="solid"/>
              <a:miter lim="800000"/>
            </a:ln>
            <a:effectLst/>
          </p:spPr>
          <p:txBody>
            <a:bodyPr rtlCol="0" anchor="ctr"/>
            <a:lstStyle/>
            <a:p>
              <a:pPr marL="0" marR="0" lvl="0" indent="0" algn="ctr" defTabSz="3505627" rtl="0" eaLnBrk="1" fontAlgn="auto" latinLnBrk="0" hangingPunct="1">
                <a:lnSpc>
                  <a:spcPct val="100000"/>
                </a:lnSpc>
                <a:spcBef>
                  <a:spcPts val="0"/>
                </a:spcBef>
                <a:spcAft>
                  <a:spcPts val="0"/>
                </a:spcAft>
                <a:buClrTx/>
                <a:buSzTx/>
                <a:buFontTx/>
                <a:buNone/>
                <a:tabLst/>
                <a:defRPr/>
              </a:pPr>
              <a:endParaRPr kumimoji="0" lang="de-DE" sz="800" b="0"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3" name="Textfeld 12">
              <a:extLst>
                <a:ext uri="{FF2B5EF4-FFF2-40B4-BE49-F238E27FC236}">
                  <a16:creationId xmlns:a16="http://schemas.microsoft.com/office/drawing/2014/main" id="{F7AF2C4F-39D0-4705-8CB8-E604E1B0A54E}"/>
                </a:ext>
              </a:extLst>
            </p:cNvPr>
            <p:cNvSpPr txBox="1"/>
            <p:nvPr/>
          </p:nvSpPr>
          <p:spPr>
            <a:xfrm>
              <a:off x="3890004" y="1411044"/>
              <a:ext cx="1085771" cy="677853"/>
            </a:xfrm>
            <a:prstGeom prst="rect">
              <a:avLst/>
            </a:prstGeom>
            <a:solidFill>
              <a:sysClr val="window" lastClr="FFFFFF"/>
            </a:solidFill>
          </p:spPr>
          <p:txBody>
            <a:bodyPr wrap="square" lIns="72000" rtlCol="0" anchor="ctr">
              <a:spAutoFit/>
            </a:bodyP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10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Single-task</a:t>
              </a:r>
            </a:p>
          </p:txBody>
        </p:sp>
        <p:sp>
          <p:nvSpPr>
            <p:cNvPr id="14" name="Abgerundetes Rechteck 352">
              <a:extLst>
                <a:ext uri="{FF2B5EF4-FFF2-40B4-BE49-F238E27FC236}">
                  <a16:creationId xmlns:a16="http://schemas.microsoft.com/office/drawing/2014/main" id="{CF88D35F-AE13-46EC-8B8D-DB1C77A58BE7}"/>
                </a:ext>
              </a:extLst>
            </p:cNvPr>
            <p:cNvSpPr/>
            <p:nvPr/>
          </p:nvSpPr>
          <p:spPr>
            <a:xfrm>
              <a:off x="3720481" y="1405251"/>
              <a:ext cx="6471084" cy="666466"/>
            </a:xfrm>
            <a:prstGeom prst="roundRect">
              <a:avLst>
                <a:gd name="adj" fmla="val 7889"/>
              </a:avLst>
            </a:prstGeom>
            <a:noFill/>
            <a:ln w="6350" cap="flat" cmpd="sng" algn="ctr">
              <a:solidFill>
                <a:sysClr val="windowText" lastClr="000000"/>
              </a:solidFill>
              <a:prstDash val="solid"/>
              <a:miter lim="800000"/>
            </a:ln>
            <a:effectLst/>
          </p:spPr>
          <p:txBody>
            <a:bodyPr rtlCol="0" anchor="ctr"/>
            <a:lstStyle/>
            <a:p>
              <a:pPr marL="0" marR="0" lvl="0" indent="0" algn="ctr" defTabSz="3505627" rtl="0" eaLnBrk="1" fontAlgn="auto" latinLnBrk="0" hangingPunct="1">
                <a:lnSpc>
                  <a:spcPct val="100000"/>
                </a:lnSpc>
                <a:spcBef>
                  <a:spcPts val="0"/>
                </a:spcBef>
                <a:spcAft>
                  <a:spcPts val="0"/>
                </a:spcAft>
                <a:buClrTx/>
                <a:buSzTx/>
                <a:buFontTx/>
                <a:buNone/>
                <a:tabLst/>
                <a:defRPr/>
              </a:pPr>
              <a:endParaRPr kumimoji="0" lang="de-DE" sz="800" b="0"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cxnSp>
          <p:nvCxnSpPr>
            <p:cNvPr id="15" name="Gerade Verbindung mit Pfeil 14">
              <a:extLst>
                <a:ext uri="{FF2B5EF4-FFF2-40B4-BE49-F238E27FC236}">
                  <a16:creationId xmlns:a16="http://schemas.microsoft.com/office/drawing/2014/main" id="{DB86884F-C1E8-4379-9F53-51F64889B565}"/>
                </a:ext>
              </a:extLst>
            </p:cNvPr>
            <p:cNvCxnSpPr/>
            <p:nvPr/>
          </p:nvCxnSpPr>
          <p:spPr>
            <a:xfrm>
              <a:off x="6279469" y="1742038"/>
              <a:ext cx="1196756" cy="0"/>
            </a:xfrm>
            <a:prstGeom prst="straightConnector1">
              <a:avLst/>
            </a:prstGeom>
            <a:solidFill>
              <a:sysClr val="window" lastClr="FFFFFF"/>
            </a:solidFill>
            <a:ln w="19050" cap="flat" cmpd="sng" algn="ctr">
              <a:solidFill>
                <a:sysClr val="windowText" lastClr="000000"/>
              </a:solidFill>
              <a:prstDash val="solid"/>
              <a:miter lim="800000"/>
              <a:tailEnd type="arrow"/>
            </a:ln>
            <a:effectLst/>
          </p:spPr>
        </p:cxnSp>
        <p:sp>
          <p:nvSpPr>
            <p:cNvPr id="16" name="Abgerundetes Rechteck 354">
              <a:extLst>
                <a:ext uri="{FF2B5EF4-FFF2-40B4-BE49-F238E27FC236}">
                  <a16:creationId xmlns:a16="http://schemas.microsoft.com/office/drawing/2014/main" id="{6D017F77-4E05-4EA0-94C2-BC141EFB5EB9}"/>
                </a:ext>
              </a:extLst>
            </p:cNvPr>
            <p:cNvSpPr/>
            <p:nvPr/>
          </p:nvSpPr>
          <p:spPr>
            <a:xfrm>
              <a:off x="5137493" y="1520687"/>
              <a:ext cx="1137211" cy="419870"/>
            </a:xfrm>
            <a:prstGeom prst="roundRect">
              <a:avLst/>
            </a:prstGeom>
            <a:solidFill>
              <a:sysClr val="window" lastClr="FFFFFF"/>
            </a:solidFill>
            <a:ln w="12700" cap="flat" cmpd="sng" algn="ctr">
              <a:solidFill>
                <a:srgbClr val="0070C0"/>
              </a:solidFill>
              <a:prstDash val="solid"/>
              <a:miter lim="800000"/>
            </a:ln>
            <a:effectLst/>
          </p:spPr>
          <p:txBody>
            <a:bodyPr lIns="36000" rIns="36000" rtlCol="0" anchor="ct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700" b="1" i="0" u="none" strike="noStrike" kern="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rPr>
                <a:t>responses</a:t>
              </a:r>
              <a:r>
                <a:rPr kumimoji="0" lang="de-DE" sz="700" b="1" i="0" u="none" strike="noStrike" kern="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 </a:t>
              </a:r>
              <a:r>
                <a:rPr kumimoji="0" lang="de-DE" sz="700" b="1" i="0" u="none" strike="noStrike" kern="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rPr>
                <a:t>letter</a:t>
              </a:r>
              <a:r>
                <a:rPr kumimoji="0" lang="de-DE" sz="700" b="1" i="0" u="none" strike="noStrike" kern="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 </a:t>
              </a:r>
              <a:r>
                <a:rPr kumimoji="0" lang="de-DE" sz="700" b="1" i="0" u="none" strike="noStrike" kern="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rPr>
                <a:t>task</a:t>
              </a:r>
              <a:r>
                <a:rPr kumimoji="0" lang="de-DE" sz="700" b="1" i="0" u="none" strike="noStrike" kern="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 (T</a:t>
              </a:r>
              <a:r>
                <a:rPr kumimoji="0" lang="de-DE" sz="700" b="1" i="0" u="none" strike="noStrike" kern="0" cap="none" spc="0" normalizeH="0" baseline="-25000" noProof="0">
                  <a:ln>
                    <a:noFill/>
                  </a:ln>
                  <a:solidFill>
                    <a:srgbClr val="0070C0"/>
                  </a:solidFill>
                  <a:effectLst/>
                  <a:uLnTx/>
                  <a:uFillTx/>
                  <a:latin typeface="Arial" panose="020B0604020202020204" pitchFamily="34" charset="0"/>
                  <a:ea typeface="+mn-ea"/>
                  <a:cs typeface="Arial" panose="020B0604020202020204" pitchFamily="34" charset="0"/>
                </a:rPr>
                <a:t>L</a:t>
              </a:r>
              <a:r>
                <a:rPr kumimoji="0" lang="de-DE" sz="700" b="1" i="0" u="none" strike="noStrike" kern="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a:t>
              </a:r>
              <a:endParaRPr kumimoji="0" lang="de-DE" sz="700" b="1" i="0" u="none" strike="noStrike" kern="0" cap="none" spc="0" normalizeH="0" baseline="-25000" noProof="0">
                <a:ln>
                  <a:noFill/>
                </a:ln>
                <a:solidFill>
                  <a:srgbClr val="0070C0"/>
                </a:solidFill>
                <a:effectLst/>
                <a:uLnTx/>
                <a:uFillTx/>
                <a:latin typeface="Arial" panose="020B0604020202020204" pitchFamily="34" charset="0"/>
                <a:ea typeface="+mn-ea"/>
                <a:cs typeface="Arial" panose="020B0604020202020204" pitchFamily="34" charset="0"/>
              </a:endParaRPr>
            </a:p>
          </p:txBody>
        </p:sp>
        <p:cxnSp>
          <p:nvCxnSpPr>
            <p:cNvPr id="17" name="Gerade Verbindung 355">
              <a:extLst>
                <a:ext uri="{FF2B5EF4-FFF2-40B4-BE49-F238E27FC236}">
                  <a16:creationId xmlns:a16="http://schemas.microsoft.com/office/drawing/2014/main" id="{2842BD5B-AACD-4104-B9C8-8305A98BA1E5}"/>
                </a:ext>
              </a:extLst>
            </p:cNvPr>
            <p:cNvCxnSpPr/>
            <p:nvPr/>
          </p:nvCxnSpPr>
          <p:spPr>
            <a:xfrm>
              <a:off x="6495498"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18" name="Gerade Verbindung 356">
              <a:extLst>
                <a:ext uri="{FF2B5EF4-FFF2-40B4-BE49-F238E27FC236}">
                  <a16:creationId xmlns:a16="http://schemas.microsoft.com/office/drawing/2014/main" id="{66DD4BCC-955F-4F4A-97E4-338CB93AED92}"/>
                </a:ext>
              </a:extLst>
            </p:cNvPr>
            <p:cNvCxnSpPr/>
            <p:nvPr/>
          </p:nvCxnSpPr>
          <p:spPr>
            <a:xfrm>
              <a:off x="6671184"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19" name="Gerade Verbindung 357">
              <a:extLst>
                <a:ext uri="{FF2B5EF4-FFF2-40B4-BE49-F238E27FC236}">
                  <a16:creationId xmlns:a16="http://schemas.microsoft.com/office/drawing/2014/main" id="{F48B5B05-65C4-4E4E-9DA6-9F417D60B5F3}"/>
                </a:ext>
              </a:extLst>
            </p:cNvPr>
            <p:cNvCxnSpPr/>
            <p:nvPr/>
          </p:nvCxnSpPr>
          <p:spPr>
            <a:xfrm>
              <a:off x="6833982"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20" name="Gerade Verbindung 358">
              <a:extLst>
                <a:ext uri="{FF2B5EF4-FFF2-40B4-BE49-F238E27FC236}">
                  <a16:creationId xmlns:a16="http://schemas.microsoft.com/office/drawing/2014/main" id="{01AC9DDE-08FE-4A84-A2AE-D5138988372B}"/>
                </a:ext>
              </a:extLst>
            </p:cNvPr>
            <p:cNvCxnSpPr/>
            <p:nvPr/>
          </p:nvCxnSpPr>
          <p:spPr>
            <a:xfrm>
              <a:off x="7008909"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21" name="Gerade Verbindung 359">
              <a:extLst>
                <a:ext uri="{FF2B5EF4-FFF2-40B4-BE49-F238E27FC236}">
                  <a16:creationId xmlns:a16="http://schemas.microsoft.com/office/drawing/2014/main" id="{2D152987-5067-4FE5-B6BE-B04D4FD69D60}"/>
                </a:ext>
              </a:extLst>
            </p:cNvPr>
            <p:cNvCxnSpPr/>
            <p:nvPr/>
          </p:nvCxnSpPr>
          <p:spPr>
            <a:xfrm>
              <a:off x="7921764" y="2727105"/>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22" name="Gerade Verbindung 360">
              <a:extLst>
                <a:ext uri="{FF2B5EF4-FFF2-40B4-BE49-F238E27FC236}">
                  <a16:creationId xmlns:a16="http://schemas.microsoft.com/office/drawing/2014/main" id="{443CBE75-2B88-4EA4-99D9-FE8AD2B5A1AE}"/>
                </a:ext>
              </a:extLst>
            </p:cNvPr>
            <p:cNvCxnSpPr/>
            <p:nvPr/>
          </p:nvCxnSpPr>
          <p:spPr>
            <a:xfrm>
              <a:off x="8098354" y="2727105"/>
              <a:ext cx="0" cy="198155"/>
            </a:xfrm>
            <a:prstGeom prst="line">
              <a:avLst/>
            </a:prstGeom>
            <a:solidFill>
              <a:sysClr val="window" lastClr="FFFFFF"/>
            </a:solidFill>
            <a:ln w="28575" cap="flat" cmpd="sng" algn="ctr">
              <a:solidFill>
                <a:srgbClr val="C00000"/>
              </a:solidFill>
              <a:prstDash val="solid"/>
              <a:miter lim="800000"/>
            </a:ln>
            <a:effectLst/>
          </p:spPr>
        </p:cxnSp>
        <p:sp>
          <p:nvSpPr>
            <p:cNvPr id="23" name="Textfeld 22">
              <a:extLst>
                <a:ext uri="{FF2B5EF4-FFF2-40B4-BE49-F238E27FC236}">
                  <a16:creationId xmlns:a16="http://schemas.microsoft.com/office/drawing/2014/main" id="{C560F3D3-0B7F-45F8-828B-3627462F23E1}"/>
                </a:ext>
              </a:extLst>
            </p:cNvPr>
            <p:cNvSpPr txBox="1"/>
            <p:nvPr/>
          </p:nvSpPr>
          <p:spPr>
            <a:xfrm>
              <a:off x="3819192" y="2507861"/>
              <a:ext cx="1231232" cy="417140"/>
            </a:xfrm>
            <a:prstGeom prst="rect">
              <a:avLst/>
            </a:prstGeom>
            <a:solidFill>
              <a:sysClr val="window" lastClr="FFFFFF"/>
            </a:solidFill>
          </p:spPr>
          <p:txBody>
            <a:bodyPr wrap="square" lIns="36000" rtlCol="0">
              <a:spAutoFit/>
            </a:bodyP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10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Blocker</a:t>
              </a:r>
            </a:p>
          </p:txBody>
        </p:sp>
        <p:sp>
          <p:nvSpPr>
            <p:cNvPr id="24" name="Abgerundetes Rechteck 362">
              <a:extLst>
                <a:ext uri="{FF2B5EF4-FFF2-40B4-BE49-F238E27FC236}">
                  <a16:creationId xmlns:a16="http://schemas.microsoft.com/office/drawing/2014/main" id="{BA1795C3-C2BC-4EF5-B8A5-F330FCA6F3E9}"/>
                </a:ext>
              </a:extLst>
            </p:cNvPr>
            <p:cNvSpPr/>
            <p:nvPr/>
          </p:nvSpPr>
          <p:spPr>
            <a:xfrm>
              <a:off x="5138553" y="2446248"/>
              <a:ext cx="1137211" cy="240391"/>
            </a:xfrm>
            <a:prstGeom prst="roundRect">
              <a:avLst/>
            </a:prstGeom>
            <a:solidFill>
              <a:sysClr val="window" lastClr="FFFFFF"/>
            </a:solidFill>
            <a:ln w="12700" cap="flat" cmpd="sng" algn="ctr">
              <a:solidFill>
                <a:srgbClr val="0070C0"/>
              </a:solidFill>
              <a:prstDash val="solid"/>
              <a:miter lim="800000"/>
            </a:ln>
            <a:effectLst/>
          </p:spPr>
          <p:txBody>
            <a:bodyPr lIns="36000" rIns="36000" rtlCol="0" anchor="ct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800" b="1" i="0" u="none" strike="noStrike" kern="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rPr>
                <a:t>responses</a:t>
              </a:r>
              <a:r>
                <a:rPr kumimoji="0" lang="de-DE" sz="800" b="1" i="0" u="none" strike="noStrike" kern="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 T</a:t>
              </a:r>
              <a:r>
                <a:rPr kumimoji="0" lang="de-DE" sz="800" b="1" i="0" u="none" strike="noStrike" kern="0" cap="none" spc="0" normalizeH="0" baseline="-25000" noProof="0">
                  <a:ln>
                    <a:noFill/>
                  </a:ln>
                  <a:solidFill>
                    <a:srgbClr val="0070C0"/>
                  </a:solidFill>
                  <a:effectLst/>
                  <a:uLnTx/>
                  <a:uFillTx/>
                  <a:latin typeface="Arial" panose="020B0604020202020204" pitchFamily="34" charset="0"/>
                  <a:ea typeface="+mn-ea"/>
                  <a:cs typeface="Arial" panose="020B0604020202020204" pitchFamily="34" charset="0"/>
                </a:rPr>
                <a:t>L</a:t>
              </a:r>
            </a:p>
          </p:txBody>
        </p:sp>
        <p:sp>
          <p:nvSpPr>
            <p:cNvPr id="25" name="Abgerundetes Rechteck 363">
              <a:extLst>
                <a:ext uri="{FF2B5EF4-FFF2-40B4-BE49-F238E27FC236}">
                  <a16:creationId xmlns:a16="http://schemas.microsoft.com/office/drawing/2014/main" id="{FF452986-8372-4ACF-9017-DC25F4D9A401}"/>
                </a:ext>
              </a:extLst>
            </p:cNvPr>
            <p:cNvSpPr/>
            <p:nvPr/>
          </p:nvSpPr>
          <p:spPr>
            <a:xfrm>
              <a:off x="5138553" y="2755219"/>
              <a:ext cx="1137211" cy="240391"/>
            </a:xfrm>
            <a:prstGeom prst="roundRect">
              <a:avLst/>
            </a:prstGeom>
            <a:solidFill>
              <a:sysClr val="window" lastClr="FFFFFF"/>
            </a:solidFill>
            <a:ln w="12700" cap="flat" cmpd="sng" algn="ctr">
              <a:solidFill>
                <a:srgbClr val="C00000"/>
              </a:solidFill>
              <a:prstDash val="solid"/>
              <a:miter lim="800000"/>
            </a:ln>
            <a:effectLst/>
          </p:spPr>
          <p:txBody>
            <a:bodyPr lIns="36000" rIns="36000" rtlCol="0" anchor="ct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800" b="1" i="0" u="none" strike="noStrike" kern="0" cap="none" spc="0" normalizeH="0" baseline="0" noProof="0" err="1">
                  <a:ln>
                    <a:noFill/>
                  </a:ln>
                  <a:solidFill>
                    <a:srgbClr val="C00000"/>
                  </a:solidFill>
                  <a:effectLst/>
                  <a:uLnTx/>
                  <a:uFillTx/>
                  <a:latin typeface="Arial" panose="020B0604020202020204" pitchFamily="34" charset="0"/>
                  <a:ea typeface="+mn-ea"/>
                  <a:cs typeface="Arial" panose="020B0604020202020204" pitchFamily="34" charset="0"/>
                </a:rPr>
                <a:t>responses</a:t>
              </a:r>
              <a:r>
                <a:rPr kumimoji="0" lang="de-DE" sz="800" b="1" i="0" u="none" strike="noStrike" kern="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 T</a:t>
              </a:r>
              <a:r>
                <a:rPr kumimoji="0" lang="de-DE" sz="800" b="1" i="0" u="none" strike="noStrike" kern="0" cap="none" spc="0" normalizeH="0" baseline="-25000" noProof="0">
                  <a:ln>
                    <a:noFill/>
                  </a:ln>
                  <a:solidFill>
                    <a:srgbClr val="C00000"/>
                  </a:solidFill>
                  <a:effectLst/>
                  <a:uLnTx/>
                  <a:uFillTx/>
                  <a:latin typeface="Arial" panose="020B0604020202020204" pitchFamily="34" charset="0"/>
                  <a:ea typeface="+mn-ea"/>
                  <a:cs typeface="Arial" panose="020B0604020202020204" pitchFamily="34" charset="0"/>
                </a:rPr>
                <a:t>D</a:t>
              </a:r>
            </a:p>
          </p:txBody>
        </p:sp>
        <p:cxnSp>
          <p:nvCxnSpPr>
            <p:cNvPr id="26" name="Gerade Verbindung 364">
              <a:extLst>
                <a:ext uri="{FF2B5EF4-FFF2-40B4-BE49-F238E27FC236}">
                  <a16:creationId xmlns:a16="http://schemas.microsoft.com/office/drawing/2014/main" id="{F44300F5-78CE-493F-93C8-E9577BDB3216}"/>
                </a:ext>
              </a:extLst>
            </p:cNvPr>
            <p:cNvCxnSpPr/>
            <p:nvPr/>
          </p:nvCxnSpPr>
          <p:spPr>
            <a:xfrm>
              <a:off x="7187266"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27" name="Gerade Verbindung 365">
              <a:extLst>
                <a:ext uri="{FF2B5EF4-FFF2-40B4-BE49-F238E27FC236}">
                  <a16:creationId xmlns:a16="http://schemas.microsoft.com/office/drawing/2014/main" id="{FF5719ED-A5FC-4090-A872-29D2F65F714D}"/>
                </a:ext>
              </a:extLst>
            </p:cNvPr>
            <p:cNvCxnSpPr/>
            <p:nvPr/>
          </p:nvCxnSpPr>
          <p:spPr>
            <a:xfrm>
              <a:off x="8272142" y="2727105"/>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28" name="Gerade Verbindung 366">
              <a:extLst>
                <a:ext uri="{FF2B5EF4-FFF2-40B4-BE49-F238E27FC236}">
                  <a16:creationId xmlns:a16="http://schemas.microsoft.com/office/drawing/2014/main" id="{CF912688-3407-442D-B886-50DB014D9B24}"/>
                </a:ext>
              </a:extLst>
            </p:cNvPr>
            <p:cNvCxnSpPr/>
            <p:nvPr/>
          </p:nvCxnSpPr>
          <p:spPr>
            <a:xfrm>
              <a:off x="8462834" y="2727105"/>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29" name="Gerade Verbindung 367">
              <a:extLst>
                <a:ext uri="{FF2B5EF4-FFF2-40B4-BE49-F238E27FC236}">
                  <a16:creationId xmlns:a16="http://schemas.microsoft.com/office/drawing/2014/main" id="{57C6603F-B79E-4615-92E7-D4B06D7DC302}"/>
                </a:ext>
              </a:extLst>
            </p:cNvPr>
            <p:cNvCxnSpPr/>
            <p:nvPr/>
          </p:nvCxnSpPr>
          <p:spPr>
            <a:xfrm>
              <a:off x="8646487" y="2727105"/>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30" name="Gerade Verbindung 368">
              <a:extLst>
                <a:ext uri="{FF2B5EF4-FFF2-40B4-BE49-F238E27FC236}">
                  <a16:creationId xmlns:a16="http://schemas.microsoft.com/office/drawing/2014/main" id="{B129A161-25EB-49C3-A973-41381399C35A}"/>
                </a:ext>
              </a:extLst>
            </p:cNvPr>
            <p:cNvCxnSpPr/>
            <p:nvPr/>
          </p:nvCxnSpPr>
          <p:spPr>
            <a:xfrm>
              <a:off x="8835455" y="2727105"/>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31" name="Gerade Verbindung mit Pfeil 30">
              <a:extLst>
                <a:ext uri="{FF2B5EF4-FFF2-40B4-BE49-F238E27FC236}">
                  <a16:creationId xmlns:a16="http://schemas.microsoft.com/office/drawing/2014/main" id="{312F377B-6701-44E4-9F19-807E224BC9DB}"/>
                </a:ext>
              </a:extLst>
            </p:cNvPr>
            <p:cNvCxnSpPr/>
            <p:nvPr/>
          </p:nvCxnSpPr>
          <p:spPr>
            <a:xfrm>
              <a:off x="6280584" y="2727105"/>
              <a:ext cx="3672715" cy="8784"/>
            </a:xfrm>
            <a:prstGeom prst="straightConnector1">
              <a:avLst/>
            </a:prstGeom>
            <a:solidFill>
              <a:sysClr val="window" lastClr="FFFFFF"/>
            </a:solidFill>
            <a:ln w="19050" cap="flat" cmpd="sng" algn="ctr">
              <a:solidFill>
                <a:sysClr val="windowText" lastClr="000000"/>
              </a:solidFill>
              <a:prstDash val="solid"/>
              <a:miter lim="800000"/>
              <a:tailEnd type="arrow"/>
            </a:ln>
            <a:effectLst/>
          </p:spPr>
        </p:cxnSp>
        <p:cxnSp>
          <p:nvCxnSpPr>
            <p:cNvPr id="32" name="Gerade Verbindung 370">
              <a:extLst>
                <a:ext uri="{FF2B5EF4-FFF2-40B4-BE49-F238E27FC236}">
                  <a16:creationId xmlns:a16="http://schemas.microsoft.com/office/drawing/2014/main" id="{DB876C3B-CC0C-4E3F-B7BE-CBE6AFDE8F37}"/>
                </a:ext>
              </a:extLst>
            </p:cNvPr>
            <p:cNvCxnSpPr/>
            <p:nvPr/>
          </p:nvCxnSpPr>
          <p:spPr>
            <a:xfrm>
              <a:off x="6389939" y="153142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33" name="Gerade Verbindung 371">
              <a:extLst>
                <a:ext uri="{FF2B5EF4-FFF2-40B4-BE49-F238E27FC236}">
                  <a16:creationId xmlns:a16="http://schemas.microsoft.com/office/drawing/2014/main" id="{8F52D512-94AD-4AE4-834D-8BAA39575645}"/>
                </a:ext>
              </a:extLst>
            </p:cNvPr>
            <p:cNvCxnSpPr/>
            <p:nvPr/>
          </p:nvCxnSpPr>
          <p:spPr>
            <a:xfrm>
              <a:off x="6565625" y="153142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34" name="Gerade Verbindung 372">
              <a:extLst>
                <a:ext uri="{FF2B5EF4-FFF2-40B4-BE49-F238E27FC236}">
                  <a16:creationId xmlns:a16="http://schemas.microsoft.com/office/drawing/2014/main" id="{29784646-23C2-40B0-A61A-E6FFB6D7A226}"/>
                </a:ext>
              </a:extLst>
            </p:cNvPr>
            <p:cNvCxnSpPr/>
            <p:nvPr/>
          </p:nvCxnSpPr>
          <p:spPr>
            <a:xfrm>
              <a:off x="6728423" y="153142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35" name="Gerade Verbindung 373">
              <a:extLst>
                <a:ext uri="{FF2B5EF4-FFF2-40B4-BE49-F238E27FC236}">
                  <a16:creationId xmlns:a16="http://schemas.microsoft.com/office/drawing/2014/main" id="{1D85A9CA-A004-44D4-A467-7D90596998A4}"/>
                </a:ext>
              </a:extLst>
            </p:cNvPr>
            <p:cNvCxnSpPr/>
            <p:nvPr/>
          </p:nvCxnSpPr>
          <p:spPr>
            <a:xfrm>
              <a:off x="6903350" y="153142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36" name="Gerade Verbindung 374">
              <a:extLst>
                <a:ext uri="{FF2B5EF4-FFF2-40B4-BE49-F238E27FC236}">
                  <a16:creationId xmlns:a16="http://schemas.microsoft.com/office/drawing/2014/main" id="{1ACB7E98-490D-4DB5-B353-C226D050D57C}"/>
                </a:ext>
              </a:extLst>
            </p:cNvPr>
            <p:cNvCxnSpPr/>
            <p:nvPr/>
          </p:nvCxnSpPr>
          <p:spPr>
            <a:xfrm>
              <a:off x="7081710" y="153142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37" name="Gerade Verbindung 375">
              <a:extLst>
                <a:ext uri="{FF2B5EF4-FFF2-40B4-BE49-F238E27FC236}">
                  <a16:creationId xmlns:a16="http://schemas.microsoft.com/office/drawing/2014/main" id="{EE358347-A8E9-4CBC-83EA-75E1B8E84203}"/>
                </a:ext>
              </a:extLst>
            </p:cNvPr>
            <p:cNvCxnSpPr/>
            <p:nvPr/>
          </p:nvCxnSpPr>
          <p:spPr>
            <a:xfrm>
              <a:off x="7252010" y="153142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38" name="Gerade Verbindung mit Pfeil 37">
              <a:extLst>
                <a:ext uri="{FF2B5EF4-FFF2-40B4-BE49-F238E27FC236}">
                  <a16:creationId xmlns:a16="http://schemas.microsoft.com/office/drawing/2014/main" id="{6CBD487E-39EE-4191-8CFF-D4EB1946170F}"/>
                </a:ext>
              </a:extLst>
            </p:cNvPr>
            <p:cNvCxnSpPr/>
            <p:nvPr/>
          </p:nvCxnSpPr>
          <p:spPr>
            <a:xfrm>
              <a:off x="8788932" y="1742038"/>
              <a:ext cx="1240479" cy="9149"/>
            </a:xfrm>
            <a:prstGeom prst="straightConnector1">
              <a:avLst/>
            </a:prstGeom>
            <a:solidFill>
              <a:sysClr val="window" lastClr="FFFFFF"/>
            </a:solidFill>
            <a:ln w="19050" cap="flat" cmpd="sng" algn="ctr">
              <a:solidFill>
                <a:sysClr val="windowText" lastClr="000000"/>
              </a:solidFill>
              <a:prstDash val="solid"/>
              <a:miter lim="800000"/>
              <a:tailEnd type="arrow"/>
            </a:ln>
            <a:effectLst/>
          </p:spPr>
        </p:cxnSp>
        <p:sp>
          <p:nvSpPr>
            <p:cNvPr id="39" name="Abgerundetes Rechteck 377">
              <a:extLst>
                <a:ext uri="{FF2B5EF4-FFF2-40B4-BE49-F238E27FC236}">
                  <a16:creationId xmlns:a16="http://schemas.microsoft.com/office/drawing/2014/main" id="{1F26A789-E6B3-4372-9FE0-46DA46FDD9D5}"/>
                </a:ext>
              </a:extLst>
            </p:cNvPr>
            <p:cNvSpPr/>
            <p:nvPr/>
          </p:nvSpPr>
          <p:spPr>
            <a:xfrm>
              <a:off x="7636335" y="1520687"/>
              <a:ext cx="1137211" cy="419870"/>
            </a:xfrm>
            <a:prstGeom prst="roundRect">
              <a:avLst/>
            </a:prstGeom>
            <a:solidFill>
              <a:sysClr val="window" lastClr="FFFFFF"/>
            </a:solidFill>
            <a:ln w="12700" cap="flat" cmpd="sng" algn="ctr">
              <a:solidFill>
                <a:srgbClr val="C00000"/>
              </a:solidFill>
              <a:prstDash val="solid"/>
              <a:miter lim="800000"/>
            </a:ln>
            <a:effectLst/>
          </p:spPr>
          <p:txBody>
            <a:bodyPr lIns="36000" rIns="36000" rtlCol="0" anchor="ct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700" b="1" i="0" u="none" strike="noStrike" kern="0" cap="none" spc="0" normalizeH="0" baseline="0" noProof="0" err="1">
                  <a:ln>
                    <a:noFill/>
                  </a:ln>
                  <a:solidFill>
                    <a:srgbClr val="C00000"/>
                  </a:solidFill>
                  <a:effectLst/>
                  <a:uLnTx/>
                  <a:uFillTx/>
                  <a:latin typeface="Arial" panose="020B0604020202020204" pitchFamily="34" charset="0"/>
                  <a:ea typeface="+mn-ea"/>
                  <a:cs typeface="Arial" panose="020B0604020202020204" pitchFamily="34" charset="0"/>
                </a:rPr>
                <a:t>responses</a:t>
              </a:r>
              <a:r>
                <a:rPr kumimoji="0" lang="de-DE" sz="700" b="1" i="0" u="none" strike="noStrike" kern="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 </a:t>
              </a:r>
              <a:r>
                <a:rPr kumimoji="0" lang="de-DE" sz="700" b="1" i="0" u="none" strike="noStrike" kern="0" cap="none" spc="0" normalizeH="0" baseline="0" noProof="0" err="1">
                  <a:ln>
                    <a:noFill/>
                  </a:ln>
                  <a:solidFill>
                    <a:srgbClr val="C00000"/>
                  </a:solidFill>
                  <a:effectLst/>
                  <a:uLnTx/>
                  <a:uFillTx/>
                  <a:latin typeface="Arial" panose="020B0604020202020204" pitchFamily="34" charset="0"/>
                  <a:ea typeface="+mn-ea"/>
                  <a:cs typeface="Arial" panose="020B0604020202020204" pitchFamily="34" charset="0"/>
                </a:rPr>
                <a:t>digit</a:t>
              </a:r>
              <a:r>
                <a:rPr kumimoji="0" lang="de-DE" sz="700" b="1" i="0" u="none" strike="noStrike" kern="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 </a:t>
              </a:r>
              <a:r>
                <a:rPr kumimoji="0" lang="de-DE" sz="700" b="1" i="0" u="none" strike="noStrike" kern="0" cap="none" spc="0" normalizeH="0" baseline="0" noProof="0" err="1">
                  <a:ln>
                    <a:noFill/>
                  </a:ln>
                  <a:solidFill>
                    <a:srgbClr val="C00000"/>
                  </a:solidFill>
                  <a:effectLst/>
                  <a:uLnTx/>
                  <a:uFillTx/>
                  <a:latin typeface="Arial" panose="020B0604020202020204" pitchFamily="34" charset="0"/>
                  <a:ea typeface="+mn-ea"/>
                  <a:cs typeface="Arial" panose="020B0604020202020204" pitchFamily="34" charset="0"/>
                </a:rPr>
                <a:t>task</a:t>
              </a:r>
              <a:r>
                <a:rPr kumimoji="0" lang="de-DE" sz="700" b="1" i="0" u="none" strike="noStrike" kern="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 (T</a:t>
              </a:r>
              <a:r>
                <a:rPr kumimoji="0" lang="de-DE" sz="700" b="1" i="0" u="none" strike="noStrike" kern="0" cap="none" spc="0" normalizeH="0" baseline="-25000" noProof="0">
                  <a:ln>
                    <a:noFill/>
                  </a:ln>
                  <a:solidFill>
                    <a:srgbClr val="C00000"/>
                  </a:solidFill>
                  <a:effectLst/>
                  <a:uLnTx/>
                  <a:uFillTx/>
                  <a:latin typeface="Arial" panose="020B0604020202020204" pitchFamily="34" charset="0"/>
                  <a:ea typeface="+mn-ea"/>
                  <a:cs typeface="Arial" panose="020B0604020202020204" pitchFamily="34" charset="0"/>
                </a:rPr>
                <a:t>D</a:t>
              </a:r>
              <a:r>
                <a:rPr kumimoji="0" lang="de-DE" sz="700" b="1" i="0" u="none" strike="noStrike" kern="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a:t>
              </a:r>
              <a:endParaRPr kumimoji="0" lang="de-DE" sz="700" b="1" i="0" u="none" strike="noStrike" kern="0" cap="none" spc="0" normalizeH="0" baseline="-25000" noProof="0">
                <a:ln>
                  <a:noFill/>
                </a:ln>
                <a:solidFill>
                  <a:srgbClr val="C00000"/>
                </a:solidFill>
                <a:effectLst/>
                <a:uLnTx/>
                <a:uFillTx/>
                <a:latin typeface="Arial" panose="020B0604020202020204" pitchFamily="34" charset="0"/>
                <a:ea typeface="+mn-ea"/>
                <a:cs typeface="Arial" panose="020B0604020202020204" pitchFamily="34" charset="0"/>
              </a:endParaRPr>
            </a:p>
          </p:txBody>
        </p:sp>
        <p:cxnSp>
          <p:nvCxnSpPr>
            <p:cNvPr id="40" name="Gerade Verbindung 378">
              <a:extLst>
                <a:ext uri="{FF2B5EF4-FFF2-40B4-BE49-F238E27FC236}">
                  <a16:creationId xmlns:a16="http://schemas.microsoft.com/office/drawing/2014/main" id="{398B54C2-118D-417F-825A-E0B0D36B9B66}"/>
                </a:ext>
              </a:extLst>
            </p:cNvPr>
            <p:cNvCxnSpPr/>
            <p:nvPr/>
          </p:nvCxnSpPr>
          <p:spPr>
            <a:xfrm>
              <a:off x="8923580" y="1764638"/>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41" name="Gerade Verbindung 379">
              <a:extLst>
                <a:ext uri="{FF2B5EF4-FFF2-40B4-BE49-F238E27FC236}">
                  <a16:creationId xmlns:a16="http://schemas.microsoft.com/office/drawing/2014/main" id="{CCFAFC5F-C293-4B5E-9670-D74501A7C796}"/>
                </a:ext>
              </a:extLst>
            </p:cNvPr>
            <p:cNvCxnSpPr/>
            <p:nvPr/>
          </p:nvCxnSpPr>
          <p:spPr>
            <a:xfrm>
              <a:off x="9099264" y="1764638"/>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42" name="Gerade Verbindung 380">
              <a:extLst>
                <a:ext uri="{FF2B5EF4-FFF2-40B4-BE49-F238E27FC236}">
                  <a16:creationId xmlns:a16="http://schemas.microsoft.com/office/drawing/2014/main" id="{F393BD48-EBB8-468B-81F0-03B20D00A140}"/>
                </a:ext>
              </a:extLst>
            </p:cNvPr>
            <p:cNvCxnSpPr/>
            <p:nvPr/>
          </p:nvCxnSpPr>
          <p:spPr>
            <a:xfrm>
              <a:off x="9262062" y="1764638"/>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43" name="Gerade Verbindung 381">
              <a:extLst>
                <a:ext uri="{FF2B5EF4-FFF2-40B4-BE49-F238E27FC236}">
                  <a16:creationId xmlns:a16="http://schemas.microsoft.com/office/drawing/2014/main" id="{05E96EB2-4E35-4488-B9CF-0AC999BFA325}"/>
                </a:ext>
              </a:extLst>
            </p:cNvPr>
            <p:cNvCxnSpPr/>
            <p:nvPr/>
          </p:nvCxnSpPr>
          <p:spPr>
            <a:xfrm>
              <a:off x="9436991" y="1764638"/>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44" name="Gerade Verbindung 382">
              <a:extLst>
                <a:ext uri="{FF2B5EF4-FFF2-40B4-BE49-F238E27FC236}">
                  <a16:creationId xmlns:a16="http://schemas.microsoft.com/office/drawing/2014/main" id="{57FD903E-7DCE-43D0-A4C0-701504EED93D}"/>
                </a:ext>
              </a:extLst>
            </p:cNvPr>
            <p:cNvCxnSpPr/>
            <p:nvPr/>
          </p:nvCxnSpPr>
          <p:spPr>
            <a:xfrm>
              <a:off x="9615349" y="1764638"/>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45" name="Gerade Verbindung 383">
              <a:extLst>
                <a:ext uri="{FF2B5EF4-FFF2-40B4-BE49-F238E27FC236}">
                  <a16:creationId xmlns:a16="http://schemas.microsoft.com/office/drawing/2014/main" id="{8C0A0EC2-A885-4B47-8F1E-E599B7583F4E}"/>
                </a:ext>
              </a:extLst>
            </p:cNvPr>
            <p:cNvCxnSpPr/>
            <p:nvPr/>
          </p:nvCxnSpPr>
          <p:spPr>
            <a:xfrm>
              <a:off x="9785649" y="1764638"/>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46" name="Gerade Verbindung 384">
              <a:extLst>
                <a:ext uri="{FF2B5EF4-FFF2-40B4-BE49-F238E27FC236}">
                  <a16:creationId xmlns:a16="http://schemas.microsoft.com/office/drawing/2014/main" id="{9960271C-B8A4-4E43-B4C5-6A25B177E571}"/>
                </a:ext>
              </a:extLst>
            </p:cNvPr>
            <p:cNvCxnSpPr/>
            <p:nvPr/>
          </p:nvCxnSpPr>
          <p:spPr>
            <a:xfrm>
              <a:off x="7366209"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47" name="Gerade Verbindung 385">
              <a:extLst>
                <a:ext uri="{FF2B5EF4-FFF2-40B4-BE49-F238E27FC236}">
                  <a16:creationId xmlns:a16="http://schemas.microsoft.com/office/drawing/2014/main" id="{6C336DCF-3B82-49AF-8D37-D08FED87688B}"/>
                </a:ext>
              </a:extLst>
            </p:cNvPr>
            <p:cNvCxnSpPr/>
            <p:nvPr/>
          </p:nvCxnSpPr>
          <p:spPr>
            <a:xfrm>
              <a:off x="7541894"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48" name="Gerade Verbindung 386">
              <a:extLst>
                <a:ext uri="{FF2B5EF4-FFF2-40B4-BE49-F238E27FC236}">
                  <a16:creationId xmlns:a16="http://schemas.microsoft.com/office/drawing/2014/main" id="{CE31950D-CEF2-48DA-AEBF-A728804C68E2}"/>
                </a:ext>
              </a:extLst>
            </p:cNvPr>
            <p:cNvCxnSpPr/>
            <p:nvPr/>
          </p:nvCxnSpPr>
          <p:spPr>
            <a:xfrm>
              <a:off x="7704692"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49" name="Gerade Verbindung 387">
              <a:extLst>
                <a:ext uri="{FF2B5EF4-FFF2-40B4-BE49-F238E27FC236}">
                  <a16:creationId xmlns:a16="http://schemas.microsoft.com/office/drawing/2014/main" id="{FC834827-684E-4AF5-BA59-D85AC8599312}"/>
                </a:ext>
              </a:extLst>
            </p:cNvPr>
            <p:cNvCxnSpPr/>
            <p:nvPr/>
          </p:nvCxnSpPr>
          <p:spPr>
            <a:xfrm>
              <a:off x="9003402" y="273588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50" name="Gerade Verbindung 388">
              <a:extLst>
                <a:ext uri="{FF2B5EF4-FFF2-40B4-BE49-F238E27FC236}">
                  <a16:creationId xmlns:a16="http://schemas.microsoft.com/office/drawing/2014/main" id="{6AEE06BD-A3FF-482C-B283-D3259EAD4E79}"/>
                </a:ext>
              </a:extLst>
            </p:cNvPr>
            <p:cNvCxnSpPr/>
            <p:nvPr/>
          </p:nvCxnSpPr>
          <p:spPr>
            <a:xfrm>
              <a:off x="9179992" y="273588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51" name="Gerade Verbindung 389">
              <a:extLst>
                <a:ext uri="{FF2B5EF4-FFF2-40B4-BE49-F238E27FC236}">
                  <a16:creationId xmlns:a16="http://schemas.microsoft.com/office/drawing/2014/main" id="{E5540AE7-7309-465A-A98B-3777BBB7A055}"/>
                </a:ext>
              </a:extLst>
            </p:cNvPr>
            <p:cNvCxnSpPr/>
            <p:nvPr/>
          </p:nvCxnSpPr>
          <p:spPr>
            <a:xfrm>
              <a:off x="9353781" y="273588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52" name="Gerade Verbindung 390">
              <a:extLst>
                <a:ext uri="{FF2B5EF4-FFF2-40B4-BE49-F238E27FC236}">
                  <a16:creationId xmlns:a16="http://schemas.microsoft.com/office/drawing/2014/main" id="{81939DCD-3A29-4C27-9664-2B554C9CC88E}"/>
                </a:ext>
              </a:extLst>
            </p:cNvPr>
            <p:cNvCxnSpPr/>
            <p:nvPr/>
          </p:nvCxnSpPr>
          <p:spPr>
            <a:xfrm>
              <a:off x="9544471" y="2735889"/>
              <a:ext cx="0" cy="198155"/>
            </a:xfrm>
            <a:prstGeom prst="line">
              <a:avLst/>
            </a:prstGeom>
            <a:solidFill>
              <a:sysClr val="window" lastClr="FFFFFF"/>
            </a:solidFill>
            <a:ln w="28575" cap="flat" cmpd="sng" algn="ctr">
              <a:solidFill>
                <a:srgbClr val="C00000"/>
              </a:solidFill>
              <a:prstDash val="solid"/>
              <a:miter lim="800000"/>
            </a:ln>
            <a:effectLst/>
          </p:spPr>
        </p:cxnSp>
        <p:sp>
          <p:nvSpPr>
            <p:cNvPr id="53" name="Textfeld 52">
              <a:extLst>
                <a:ext uri="{FF2B5EF4-FFF2-40B4-BE49-F238E27FC236}">
                  <a16:creationId xmlns:a16="http://schemas.microsoft.com/office/drawing/2014/main" id="{DC9EFA4D-56E4-4CA2-A2A1-0F174357C053}"/>
                </a:ext>
              </a:extLst>
            </p:cNvPr>
            <p:cNvSpPr txBox="1"/>
            <p:nvPr/>
          </p:nvSpPr>
          <p:spPr>
            <a:xfrm>
              <a:off x="3819192" y="3459744"/>
              <a:ext cx="1231232" cy="417140"/>
            </a:xfrm>
            <a:prstGeom prst="rect">
              <a:avLst/>
            </a:prstGeom>
            <a:solidFill>
              <a:sysClr val="window" lastClr="FFFFFF"/>
            </a:solidFill>
          </p:spPr>
          <p:txBody>
            <a:bodyPr wrap="square" lIns="36000" rtlCol="0">
              <a:spAutoFit/>
            </a:bodyP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1000" b="0" i="0" u="none" strike="noStrike" kern="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Switcher</a:t>
              </a:r>
              <a:endParaRPr kumimoji="0" lang="de-DE" sz="10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4" name="Abgerundetes Rechteck 393">
              <a:extLst>
                <a:ext uri="{FF2B5EF4-FFF2-40B4-BE49-F238E27FC236}">
                  <a16:creationId xmlns:a16="http://schemas.microsoft.com/office/drawing/2014/main" id="{35973723-AE69-476F-A699-A815D302E5C0}"/>
                </a:ext>
              </a:extLst>
            </p:cNvPr>
            <p:cNvSpPr/>
            <p:nvPr/>
          </p:nvSpPr>
          <p:spPr>
            <a:xfrm>
              <a:off x="5137493" y="3380882"/>
              <a:ext cx="1137211" cy="240391"/>
            </a:xfrm>
            <a:prstGeom prst="roundRect">
              <a:avLst/>
            </a:prstGeom>
            <a:solidFill>
              <a:sysClr val="window" lastClr="FFFFFF"/>
            </a:solidFill>
            <a:ln w="12700" cap="flat" cmpd="sng" algn="ctr">
              <a:solidFill>
                <a:srgbClr val="0070C0"/>
              </a:solidFill>
              <a:prstDash val="solid"/>
              <a:miter lim="800000"/>
            </a:ln>
            <a:effectLst/>
          </p:spPr>
          <p:txBody>
            <a:bodyPr lIns="36000" rIns="36000" rtlCol="0" anchor="ct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800" b="1" i="0" u="none" strike="noStrike" kern="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rPr>
                <a:t>responses</a:t>
              </a:r>
              <a:r>
                <a:rPr kumimoji="0" lang="de-DE" sz="800" b="1" i="0" u="none" strike="noStrike" kern="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 T</a:t>
              </a:r>
              <a:r>
                <a:rPr kumimoji="0" lang="de-DE" sz="800" b="1" i="0" u="none" strike="noStrike" kern="0" cap="none" spc="0" normalizeH="0" baseline="-25000" noProof="0">
                  <a:ln>
                    <a:noFill/>
                  </a:ln>
                  <a:solidFill>
                    <a:srgbClr val="0070C0"/>
                  </a:solidFill>
                  <a:effectLst/>
                  <a:uLnTx/>
                  <a:uFillTx/>
                  <a:latin typeface="Arial" panose="020B0604020202020204" pitchFamily="34" charset="0"/>
                  <a:ea typeface="+mn-ea"/>
                  <a:cs typeface="Arial" panose="020B0604020202020204" pitchFamily="34" charset="0"/>
                </a:rPr>
                <a:t>L</a:t>
              </a:r>
            </a:p>
          </p:txBody>
        </p:sp>
        <p:sp>
          <p:nvSpPr>
            <p:cNvPr id="55" name="Abgerundetes Rechteck 394">
              <a:extLst>
                <a:ext uri="{FF2B5EF4-FFF2-40B4-BE49-F238E27FC236}">
                  <a16:creationId xmlns:a16="http://schemas.microsoft.com/office/drawing/2014/main" id="{35968C3A-337F-4615-ABF9-1731BB5057D8}"/>
                </a:ext>
              </a:extLst>
            </p:cNvPr>
            <p:cNvSpPr/>
            <p:nvPr/>
          </p:nvSpPr>
          <p:spPr>
            <a:xfrm>
              <a:off x="5137493" y="3689854"/>
              <a:ext cx="1137211" cy="240391"/>
            </a:xfrm>
            <a:prstGeom prst="roundRect">
              <a:avLst/>
            </a:prstGeom>
            <a:solidFill>
              <a:sysClr val="window" lastClr="FFFFFF"/>
            </a:solidFill>
            <a:ln w="12700" cap="flat" cmpd="sng" algn="ctr">
              <a:solidFill>
                <a:srgbClr val="C00000"/>
              </a:solidFill>
              <a:prstDash val="solid"/>
              <a:miter lim="800000"/>
            </a:ln>
            <a:effectLst/>
          </p:spPr>
          <p:txBody>
            <a:bodyPr lIns="36000" rIns="36000" rtlCol="0" anchor="ct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800" b="1" i="0" u="none" strike="noStrike" kern="0" cap="none" spc="0" normalizeH="0" baseline="0" noProof="0" err="1">
                  <a:ln>
                    <a:noFill/>
                  </a:ln>
                  <a:solidFill>
                    <a:srgbClr val="C00000"/>
                  </a:solidFill>
                  <a:effectLst/>
                  <a:uLnTx/>
                  <a:uFillTx/>
                  <a:latin typeface="Arial" panose="020B0604020202020204" pitchFamily="34" charset="0"/>
                  <a:ea typeface="+mn-ea"/>
                  <a:cs typeface="Arial" panose="020B0604020202020204" pitchFamily="34" charset="0"/>
                </a:rPr>
                <a:t>responses</a:t>
              </a:r>
              <a:r>
                <a:rPr kumimoji="0" lang="de-DE" sz="800" b="1" i="0" u="none" strike="noStrike" kern="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 T</a:t>
              </a:r>
              <a:r>
                <a:rPr kumimoji="0" lang="de-DE" sz="800" b="1" i="0" u="none" strike="noStrike" kern="0" cap="none" spc="0" normalizeH="0" baseline="-25000" noProof="0">
                  <a:ln>
                    <a:noFill/>
                  </a:ln>
                  <a:solidFill>
                    <a:srgbClr val="C00000"/>
                  </a:solidFill>
                  <a:effectLst/>
                  <a:uLnTx/>
                  <a:uFillTx/>
                  <a:latin typeface="Arial" panose="020B0604020202020204" pitchFamily="34" charset="0"/>
                  <a:ea typeface="+mn-ea"/>
                  <a:cs typeface="Arial" panose="020B0604020202020204" pitchFamily="34" charset="0"/>
                </a:rPr>
                <a:t>D</a:t>
              </a:r>
            </a:p>
          </p:txBody>
        </p:sp>
        <p:cxnSp>
          <p:nvCxnSpPr>
            <p:cNvPr id="63" name="Gerade Verbindung mit Pfeil 62">
              <a:extLst>
                <a:ext uri="{FF2B5EF4-FFF2-40B4-BE49-F238E27FC236}">
                  <a16:creationId xmlns:a16="http://schemas.microsoft.com/office/drawing/2014/main" id="{FE1A99DD-5834-468C-8190-535A04938207}"/>
                </a:ext>
              </a:extLst>
            </p:cNvPr>
            <p:cNvCxnSpPr/>
            <p:nvPr/>
          </p:nvCxnSpPr>
          <p:spPr>
            <a:xfrm flipV="1">
              <a:off x="6285404" y="3661741"/>
              <a:ext cx="3672715" cy="4318"/>
            </a:xfrm>
            <a:prstGeom prst="straightConnector1">
              <a:avLst/>
            </a:prstGeom>
            <a:solidFill>
              <a:sysClr val="window" lastClr="FFFFFF"/>
            </a:solidFill>
            <a:ln w="19050" cap="flat" cmpd="sng" algn="ctr">
              <a:solidFill>
                <a:sysClr val="windowText" lastClr="000000"/>
              </a:solidFill>
              <a:prstDash val="solid"/>
              <a:miter lim="800000"/>
              <a:tailEnd type="arrow"/>
            </a:ln>
            <a:effectLst/>
          </p:spPr>
        </p:cxnSp>
        <p:cxnSp>
          <p:nvCxnSpPr>
            <p:cNvPr id="64" name="Gerade Verbindung 396">
              <a:extLst>
                <a:ext uri="{FF2B5EF4-FFF2-40B4-BE49-F238E27FC236}">
                  <a16:creationId xmlns:a16="http://schemas.microsoft.com/office/drawing/2014/main" id="{04E61139-922C-4932-A389-7085641AFE29}"/>
                </a:ext>
              </a:extLst>
            </p:cNvPr>
            <p:cNvCxnSpPr/>
            <p:nvPr/>
          </p:nvCxnSpPr>
          <p:spPr>
            <a:xfrm>
              <a:off x="6684969" y="346237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65" name="Gerade Verbindung 397">
              <a:extLst>
                <a:ext uri="{FF2B5EF4-FFF2-40B4-BE49-F238E27FC236}">
                  <a16:creationId xmlns:a16="http://schemas.microsoft.com/office/drawing/2014/main" id="{12EA7D64-C346-493D-81DA-699395D9DD9E}"/>
                </a:ext>
              </a:extLst>
            </p:cNvPr>
            <p:cNvCxnSpPr/>
            <p:nvPr/>
          </p:nvCxnSpPr>
          <p:spPr>
            <a:xfrm>
              <a:off x="6467062" y="366605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66" name="Gerade Verbindung 398">
              <a:extLst>
                <a:ext uri="{FF2B5EF4-FFF2-40B4-BE49-F238E27FC236}">
                  <a16:creationId xmlns:a16="http://schemas.microsoft.com/office/drawing/2014/main" id="{40C85A7E-4041-471D-9373-372A91E274AA}"/>
                </a:ext>
              </a:extLst>
            </p:cNvPr>
            <p:cNvCxnSpPr/>
            <p:nvPr/>
          </p:nvCxnSpPr>
          <p:spPr>
            <a:xfrm>
              <a:off x="6758887" y="366605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67" name="Gerade Verbindung 399">
              <a:extLst>
                <a:ext uri="{FF2B5EF4-FFF2-40B4-BE49-F238E27FC236}">
                  <a16:creationId xmlns:a16="http://schemas.microsoft.com/office/drawing/2014/main" id="{D2F21322-02F7-4833-804E-B915B225598F}"/>
                </a:ext>
              </a:extLst>
            </p:cNvPr>
            <p:cNvCxnSpPr/>
            <p:nvPr/>
          </p:nvCxnSpPr>
          <p:spPr>
            <a:xfrm>
              <a:off x="6981152" y="366605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68" name="Gerade Verbindung 400">
              <a:extLst>
                <a:ext uri="{FF2B5EF4-FFF2-40B4-BE49-F238E27FC236}">
                  <a16:creationId xmlns:a16="http://schemas.microsoft.com/office/drawing/2014/main" id="{BDABF773-0C57-47ED-9D33-B12254F025F0}"/>
                </a:ext>
              </a:extLst>
            </p:cNvPr>
            <p:cNvCxnSpPr/>
            <p:nvPr/>
          </p:nvCxnSpPr>
          <p:spPr>
            <a:xfrm>
              <a:off x="7181151" y="366605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69" name="Gerade Verbindung 401">
              <a:extLst>
                <a:ext uri="{FF2B5EF4-FFF2-40B4-BE49-F238E27FC236}">
                  <a16:creationId xmlns:a16="http://schemas.microsoft.com/office/drawing/2014/main" id="{4E57F0A3-6B17-4108-9FFB-1CD713D6DF31}"/>
                </a:ext>
              </a:extLst>
            </p:cNvPr>
            <p:cNvCxnSpPr/>
            <p:nvPr/>
          </p:nvCxnSpPr>
          <p:spPr>
            <a:xfrm>
              <a:off x="7484039" y="346237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70" name="Gerade Verbindung 402">
              <a:extLst>
                <a:ext uri="{FF2B5EF4-FFF2-40B4-BE49-F238E27FC236}">
                  <a16:creationId xmlns:a16="http://schemas.microsoft.com/office/drawing/2014/main" id="{955EE4FF-E1FD-4A37-B469-7740E6A2F0FB}"/>
                </a:ext>
              </a:extLst>
            </p:cNvPr>
            <p:cNvCxnSpPr/>
            <p:nvPr/>
          </p:nvCxnSpPr>
          <p:spPr>
            <a:xfrm>
              <a:off x="7359854" y="3669734"/>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71" name="Gerade Verbindung 403">
              <a:extLst>
                <a:ext uri="{FF2B5EF4-FFF2-40B4-BE49-F238E27FC236}">
                  <a16:creationId xmlns:a16="http://schemas.microsoft.com/office/drawing/2014/main" id="{CEBD109F-9C99-4820-B415-C9BDC95F1813}"/>
                </a:ext>
              </a:extLst>
            </p:cNvPr>
            <p:cNvCxnSpPr/>
            <p:nvPr/>
          </p:nvCxnSpPr>
          <p:spPr>
            <a:xfrm>
              <a:off x="7678183" y="345869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72" name="Gerade Verbindung 404">
              <a:extLst>
                <a:ext uri="{FF2B5EF4-FFF2-40B4-BE49-F238E27FC236}">
                  <a16:creationId xmlns:a16="http://schemas.microsoft.com/office/drawing/2014/main" id="{B34B9953-18DC-4F06-B0FE-529CD5C1E50D}"/>
                </a:ext>
              </a:extLst>
            </p:cNvPr>
            <p:cNvCxnSpPr/>
            <p:nvPr/>
          </p:nvCxnSpPr>
          <p:spPr>
            <a:xfrm>
              <a:off x="7853870" y="345869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73" name="Gerade Verbindung 405">
              <a:extLst>
                <a:ext uri="{FF2B5EF4-FFF2-40B4-BE49-F238E27FC236}">
                  <a16:creationId xmlns:a16="http://schemas.microsoft.com/office/drawing/2014/main" id="{2BC1D8A2-1382-44A6-9659-047992AE02D4}"/>
                </a:ext>
              </a:extLst>
            </p:cNvPr>
            <p:cNvCxnSpPr/>
            <p:nvPr/>
          </p:nvCxnSpPr>
          <p:spPr>
            <a:xfrm>
              <a:off x="8692654" y="345869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74" name="Gerade Verbindung 406">
              <a:extLst>
                <a:ext uri="{FF2B5EF4-FFF2-40B4-BE49-F238E27FC236}">
                  <a16:creationId xmlns:a16="http://schemas.microsoft.com/office/drawing/2014/main" id="{7D562889-3138-4E2F-B16B-78F22AFCE875}"/>
                </a:ext>
              </a:extLst>
            </p:cNvPr>
            <p:cNvCxnSpPr/>
            <p:nvPr/>
          </p:nvCxnSpPr>
          <p:spPr>
            <a:xfrm>
              <a:off x="8193281" y="3662381"/>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75" name="Gerade Verbindung 407">
              <a:extLst>
                <a:ext uri="{FF2B5EF4-FFF2-40B4-BE49-F238E27FC236}">
                  <a16:creationId xmlns:a16="http://schemas.microsoft.com/office/drawing/2014/main" id="{86112095-B9D4-4FCD-A073-A30BC1ACCA18}"/>
                </a:ext>
              </a:extLst>
            </p:cNvPr>
            <p:cNvCxnSpPr/>
            <p:nvPr/>
          </p:nvCxnSpPr>
          <p:spPr>
            <a:xfrm>
              <a:off x="8369873" y="3662381"/>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76" name="Gerade Verbindung 408">
              <a:extLst>
                <a:ext uri="{FF2B5EF4-FFF2-40B4-BE49-F238E27FC236}">
                  <a16:creationId xmlns:a16="http://schemas.microsoft.com/office/drawing/2014/main" id="{21C363CF-318F-4DEA-B967-576C547C09D4}"/>
                </a:ext>
              </a:extLst>
            </p:cNvPr>
            <p:cNvCxnSpPr/>
            <p:nvPr/>
          </p:nvCxnSpPr>
          <p:spPr>
            <a:xfrm>
              <a:off x="9287861" y="345869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77" name="Gerade Verbindung 409">
              <a:extLst>
                <a:ext uri="{FF2B5EF4-FFF2-40B4-BE49-F238E27FC236}">
                  <a16:creationId xmlns:a16="http://schemas.microsoft.com/office/drawing/2014/main" id="{B71B8CFD-B952-4455-A4FA-0E02E918A999}"/>
                </a:ext>
              </a:extLst>
            </p:cNvPr>
            <p:cNvCxnSpPr/>
            <p:nvPr/>
          </p:nvCxnSpPr>
          <p:spPr>
            <a:xfrm>
              <a:off x="9039958" y="345869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78" name="Gerade Verbindung 410">
              <a:extLst>
                <a:ext uri="{FF2B5EF4-FFF2-40B4-BE49-F238E27FC236}">
                  <a16:creationId xmlns:a16="http://schemas.microsoft.com/office/drawing/2014/main" id="{DDC65065-C94E-4306-A124-2E52F288E4E2}"/>
                </a:ext>
              </a:extLst>
            </p:cNvPr>
            <p:cNvCxnSpPr/>
            <p:nvPr/>
          </p:nvCxnSpPr>
          <p:spPr>
            <a:xfrm>
              <a:off x="8634352" y="3671522"/>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79" name="Gerade Verbindung 411">
              <a:extLst>
                <a:ext uri="{FF2B5EF4-FFF2-40B4-BE49-F238E27FC236}">
                  <a16:creationId xmlns:a16="http://schemas.microsoft.com/office/drawing/2014/main" id="{1A6CE55C-A1E1-4ABB-9AFC-57634CE054C3}"/>
                </a:ext>
              </a:extLst>
            </p:cNvPr>
            <p:cNvCxnSpPr/>
            <p:nvPr/>
          </p:nvCxnSpPr>
          <p:spPr>
            <a:xfrm>
              <a:off x="9350749" y="3662381"/>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80" name="Gerade Verbindung 412">
              <a:extLst>
                <a:ext uri="{FF2B5EF4-FFF2-40B4-BE49-F238E27FC236}">
                  <a16:creationId xmlns:a16="http://schemas.microsoft.com/office/drawing/2014/main" id="{2D97F18B-418D-4C0D-8C7C-60B619F86D9E}"/>
                </a:ext>
              </a:extLst>
            </p:cNvPr>
            <p:cNvCxnSpPr/>
            <p:nvPr/>
          </p:nvCxnSpPr>
          <p:spPr>
            <a:xfrm>
              <a:off x="9550949" y="3662381"/>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81" name="Gerade Verbindung 413">
              <a:extLst>
                <a:ext uri="{FF2B5EF4-FFF2-40B4-BE49-F238E27FC236}">
                  <a16:creationId xmlns:a16="http://schemas.microsoft.com/office/drawing/2014/main" id="{4E2DBDFA-BA5F-4F77-8E54-45792528D10F}"/>
                </a:ext>
              </a:extLst>
            </p:cNvPr>
            <p:cNvCxnSpPr/>
            <p:nvPr/>
          </p:nvCxnSpPr>
          <p:spPr>
            <a:xfrm>
              <a:off x="7979297" y="3666059"/>
              <a:ext cx="0" cy="198155"/>
            </a:xfrm>
            <a:prstGeom prst="line">
              <a:avLst/>
            </a:prstGeom>
            <a:solidFill>
              <a:sysClr val="window" lastClr="FFFFFF"/>
            </a:solidFill>
            <a:ln w="28575" cap="flat" cmpd="sng" algn="ctr">
              <a:solidFill>
                <a:srgbClr val="C00000"/>
              </a:solidFill>
              <a:prstDash val="solid"/>
              <a:miter lim="800000"/>
            </a:ln>
            <a:effectLst/>
          </p:spPr>
        </p:cxnSp>
        <p:sp>
          <p:nvSpPr>
            <p:cNvPr id="82" name="Textfeld 81">
              <a:extLst>
                <a:ext uri="{FF2B5EF4-FFF2-40B4-BE49-F238E27FC236}">
                  <a16:creationId xmlns:a16="http://schemas.microsoft.com/office/drawing/2014/main" id="{773593CC-FBBA-44BB-BD91-D2840D9C05C7}"/>
                </a:ext>
              </a:extLst>
            </p:cNvPr>
            <p:cNvSpPr txBox="1"/>
            <p:nvPr/>
          </p:nvSpPr>
          <p:spPr>
            <a:xfrm>
              <a:off x="3755264" y="4356365"/>
              <a:ext cx="1359087" cy="677853"/>
            </a:xfrm>
            <a:prstGeom prst="rect">
              <a:avLst/>
            </a:prstGeom>
            <a:noFill/>
          </p:spPr>
          <p:txBody>
            <a:bodyPr wrap="square" lIns="36000" rtlCol="0">
              <a:spAutoFit/>
            </a:bodyP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10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Response</a:t>
              </a:r>
            </a:p>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1000" b="0" i="0" u="none" strike="noStrike" kern="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Grouper</a:t>
              </a:r>
              <a:endParaRPr kumimoji="0" lang="de-DE" sz="10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3" name="Abgerundetes Rechteck 415">
              <a:extLst>
                <a:ext uri="{FF2B5EF4-FFF2-40B4-BE49-F238E27FC236}">
                  <a16:creationId xmlns:a16="http://schemas.microsoft.com/office/drawing/2014/main" id="{32EA4769-A9A0-4158-870D-E20AF61D8CFC}"/>
                </a:ext>
              </a:extLst>
            </p:cNvPr>
            <p:cNvSpPr/>
            <p:nvPr/>
          </p:nvSpPr>
          <p:spPr>
            <a:xfrm>
              <a:off x="5143372" y="4363732"/>
              <a:ext cx="1137211" cy="240391"/>
            </a:xfrm>
            <a:prstGeom prst="roundRect">
              <a:avLst/>
            </a:prstGeom>
            <a:solidFill>
              <a:sysClr val="window" lastClr="FFFFFF"/>
            </a:solidFill>
            <a:ln w="12700" cap="flat" cmpd="sng" algn="ctr">
              <a:solidFill>
                <a:srgbClr val="0070C0"/>
              </a:solidFill>
              <a:prstDash val="solid"/>
              <a:miter lim="800000"/>
            </a:ln>
            <a:effectLst/>
          </p:spPr>
          <p:txBody>
            <a:bodyPr lIns="36000" rIns="36000" rtlCol="0" anchor="ct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800" b="1" i="0" u="none" strike="noStrike" kern="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rPr>
                <a:t>responses</a:t>
              </a:r>
              <a:r>
                <a:rPr kumimoji="0" lang="de-DE" sz="800" b="1" i="0" u="none" strike="noStrike" kern="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 T</a:t>
              </a:r>
              <a:r>
                <a:rPr kumimoji="0" lang="de-DE" sz="800" b="1" i="0" u="none" strike="noStrike" kern="0" cap="none" spc="0" normalizeH="0" baseline="-25000" noProof="0">
                  <a:ln>
                    <a:noFill/>
                  </a:ln>
                  <a:solidFill>
                    <a:srgbClr val="0070C0"/>
                  </a:solidFill>
                  <a:effectLst/>
                  <a:uLnTx/>
                  <a:uFillTx/>
                  <a:latin typeface="Arial" panose="020B0604020202020204" pitchFamily="34" charset="0"/>
                  <a:ea typeface="+mn-ea"/>
                  <a:cs typeface="Arial" panose="020B0604020202020204" pitchFamily="34" charset="0"/>
                </a:rPr>
                <a:t>L</a:t>
              </a:r>
            </a:p>
          </p:txBody>
        </p:sp>
        <p:sp>
          <p:nvSpPr>
            <p:cNvPr id="84" name="Abgerundetes Rechteck 416">
              <a:extLst>
                <a:ext uri="{FF2B5EF4-FFF2-40B4-BE49-F238E27FC236}">
                  <a16:creationId xmlns:a16="http://schemas.microsoft.com/office/drawing/2014/main" id="{83D5E35B-A19B-4C0B-9802-895F170B71B4}"/>
                </a:ext>
              </a:extLst>
            </p:cNvPr>
            <p:cNvSpPr/>
            <p:nvPr/>
          </p:nvSpPr>
          <p:spPr>
            <a:xfrm>
              <a:off x="5143372" y="4672704"/>
              <a:ext cx="1137211" cy="240391"/>
            </a:xfrm>
            <a:prstGeom prst="roundRect">
              <a:avLst/>
            </a:prstGeom>
            <a:solidFill>
              <a:sysClr val="window" lastClr="FFFFFF"/>
            </a:solidFill>
            <a:ln w="12700" cap="flat" cmpd="sng" algn="ctr">
              <a:solidFill>
                <a:srgbClr val="C00000"/>
              </a:solidFill>
              <a:prstDash val="solid"/>
              <a:miter lim="800000"/>
            </a:ln>
            <a:effectLst/>
          </p:spPr>
          <p:txBody>
            <a:bodyPr lIns="36000" rIns="36000" rtlCol="0" anchor="ctr"/>
            <a:lstStyle/>
            <a:p>
              <a:pPr marL="0" marR="0" lvl="0" indent="0" algn="ctr" defTabSz="3505627" rtl="0" eaLnBrk="1" fontAlgn="auto" latinLnBrk="0" hangingPunct="1">
                <a:lnSpc>
                  <a:spcPct val="100000"/>
                </a:lnSpc>
                <a:spcBef>
                  <a:spcPts val="0"/>
                </a:spcBef>
                <a:spcAft>
                  <a:spcPts val="0"/>
                </a:spcAft>
                <a:buClrTx/>
                <a:buSzTx/>
                <a:buFontTx/>
                <a:buNone/>
                <a:tabLst/>
                <a:defRPr/>
              </a:pPr>
              <a:r>
                <a:rPr kumimoji="0" lang="de-DE" sz="800" b="1" i="0" u="none" strike="noStrike" kern="0" cap="none" spc="0" normalizeH="0" baseline="0" noProof="0" err="1">
                  <a:ln>
                    <a:noFill/>
                  </a:ln>
                  <a:solidFill>
                    <a:srgbClr val="C00000"/>
                  </a:solidFill>
                  <a:effectLst/>
                  <a:uLnTx/>
                  <a:uFillTx/>
                  <a:latin typeface="Arial" panose="020B0604020202020204" pitchFamily="34" charset="0"/>
                  <a:ea typeface="+mn-ea"/>
                  <a:cs typeface="Arial" panose="020B0604020202020204" pitchFamily="34" charset="0"/>
                </a:rPr>
                <a:t>responses</a:t>
              </a:r>
              <a:r>
                <a:rPr kumimoji="0" lang="de-DE" sz="800" b="1" i="0" u="none" strike="noStrike" kern="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 T</a:t>
              </a:r>
              <a:r>
                <a:rPr kumimoji="0" lang="de-DE" sz="800" b="1" i="0" u="none" strike="noStrike" kern="0" cap="none" spc="0" normalizeH="0" baseline="-25000" noProof="0">
                  <a:ln>
                    <a:noFill/>
                  </a:ln>
                  <a:solidFill>
                    <a:srgbClr val="C00000"/>
                  </a:solidFill>
                  <a:effectLst/>
                  <a:uLnTx/>
                  <a:uFillTx/>
                  <a:latin typeface="Arial" panose="020B0604020202020204" pitchFamily="34" charset="0"/>
                  <a:ea typeface="+mn-ea"/>
                  <a:cs typeface="Arial" panose="020B0604020202020204" pitchFamily="34" charset="0"/>
                </a:rPr>
                <a:t>D</a:t>
              </a:r>
            </a:p>
          </p:txBody>
        </p:sp>
        <p:cxnSp>
          <p:nvCxnSpPr>
            <p:cNvPr id="85" name="Gerade Verbindung mit Pfeil 84">
              <a:extLst>
                <a:ext uri="{FF2B5EF4-FFF2-40B4-BE49-F238E27FC236}">
                  <a16:creationId xmlns:a16="http://schemas.microsoft.com/office/drawing/2014/main" id="{8AB39FE4-BF37-4E20-BA65-EEAFBD32B0E0}"/>
                </a:ext>
              </a:extLst>
            </p:cNvPr>
            <p:cNvCxnSpPr/>
            <p:nvPr/>
          </p:nvCxnSpPr>
          <p:spPr>
            <a:xfrm>
              <a:off x="6308413" y="4644590"/>
              <a:ext cx="3672715" cy="0"/>
            </a:xfrm>
            <a:prstGeom prst="straightConnector1">
              <a:avLst/>
            </a:prstGeom>
            <a:solidFill>
              <a:sysClr val="window" lastClr="FFFFFF"/>
            </a:solidFill>
            <a:ln w="19050" cap="flat" cmpd="sng" algn="ctr">
              <a:solidFill>
                <a:sysClr val="windowText" lastClr="000000"/>
              </a:solidFill>
              <a:prstDash val="solid"/>
              <a:miter lim="800000"/>
              <a:tailEnd type="arrow"/>
            </a:ln>
            <a:effectLst/>
          </p:spPr>
        </p:cxnSp>
        <p:cxnSp>
          <p:nvCxnSpPr>
            <p:cNvPr id="86" name="Gerade Verbindung 418">
              <a:extLst>
                <a:ext uri="{FF2B5EF4-FFF2-40B4-BE49-F238E27FC236}">
                  <a16:creationId xmlns:a16="http://schemas.microsoft.com/office/drawing/2014/main" id="{D2C597BB-EF35-4D89-B3F1-07FA5793A27F}"/>
                </a:ext>
              </a:extLst>
            </p:cNvPr>
            <p:cNvCxnSpPr/>
            <p:nvPr/>
          </p:nvCxnSpPr>
          <p:spPr>
            <a:xfrm>
              <a:off x="6544070" y="444522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87" name="Gerade Verbindung 419">
              <a:extLst>
                <a:ext uri="{FF2B5EF4-FFF2-40B4-BE49-F238E27FC236}">
                  <a16:creationId xmlns:a16="http://schemas.microsoft.com/office/drawing/2014/main" id="{AA68A419-E106-4CC5-BF62-1E35E44D8474}"/>
                </a:ext>
              </a:extLst>
            </p:cNvPr>
            <p:cNvCxnSpPr/>
            <p:nvPr/>
          </p:nvCxnSpPr>
          <p:spPr>
            <a:xfrm>
              <a:off x="6950656" y="444522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88" name="Gerade Verbindung 420">
              <a:extLst>
                <a:ext uri="{FF2B5EF4-FFF2-40B4-BE49-F238E27FC236}">
                  <a16:creationId xmlns:a16="http://schemas.microsoft.com/office/drawing/2014/main" id="{109AD484-5768-4D0B-BA5D-F99143308AD6}"/>
                </a:ext>
              </a:extLst>
            </p:cNvPr>
            <p:cNvCxnSpPr/>
            <p:nvPr/>
          </p:nvCxnSpPr>
          <p:spPr>
            <a:xfrm>
              <a:off x="6451207" y="464558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89" name="Gerade Verbindung 421">
              <a:extLst>
                <a:ext uri="{FF2B5EF4-FFF2-40B4-BE49-F238E27FC236}">
                  <a16:creationId xmlns:a16="http://schemas.microsoft.com/office/drawing/2014/main" id="{A815C2AE-7DDF-4C54-9F26-DF27185CB628}"/>
                </a:ext>
              </a:extLst>
            </p:cNvPr>
            <p:cNvCxnSpPr/>
            <p:nvPr/>
          </p:nvCxnSpPr>
          <p:spPr>
            <a:xfrm>
              <a:off x="6890134" y="464890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90" name="Gerade Verbindung 422">
              <a:extLst>
                <a:ext uri="{FF2B5EF4-FFF2-40B4-BE49-F238E27FC236}">
                  <a16:creationId xmlns:a16="http://schemas.microsoft.com/office/drawing/2014/main" id="{D40B4F33-BB54-4A5C-884F-56F5E3F2CA76}"/>
                </a:ext>
              </a:extLst>
            </p:cNvPr>
            <p:cNvCxnSpPr/>
            <p:nvPr/>
          </p:nvCxnSpPr>
          <p:spPr>
            <a:xfrm>
              <a:off x="7344835" y="444522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91" name="Gerade Verbindung 423">
              <a:extLst>
                <a:ext uri="{FF2B5EF4-FFF2-40B4-BE49-F238E27FC236}">
                  <a16:creationId xmlns:a16="http://schemas.microsoft.com/office/drawing/2014/main" id="{806AD40C-F53D-4AFF-94AD-A0C0F7A31B1F}"/>
                </a:ext>
              </a:extLst>
            </p:cNvPr>
            <p:cNvCxnSpPr/>
            <p:nvPr/>
          </p:nvCxnSpPr>
          <p:spPr>
            <a:xfrm>
              <a:off x="7841976" y="444522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92" name="Gerade Verbindung 424">
              <a:extLst>
                <a:ext uri="{FF2B5EF4-FFF2-40B4-BE49-F238E27FC236}">
                  <a16:creationId xmlns:a16="http://schemas.microsoft.com/office/drawing/2014/main" id="{6A2507A3-CB4E-4E2D-8B97-C83832D0945A}"/>
                </a:ext>
              </a:extLst>
            </p:cNvPr>
            <p:cNvCxnSpPr/>
            <p:nvPr/>
          </p:nvCxnSpPr>
          <p:spPr>
            <a:xfrm>
              <a:off x="7251973" y="4645590"/>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93" name="Gerade Verbindung 425">
              <a:extLst>
                <a:ext uri="{FF2B5EF4-FFF2-40B4-BE49-F238E27FC236}">
                  <a16:creationId xmlns:a16="http://schemas.microsoft.com/office/drawing/2014/main" id="{7AB7A4FF-237D-4703-85AC-11783EA1A5F0}"/>
                </a:ext>
              </a:extLst>
            </p:cNvPr>
            <p:cNvCxnSpPr/>
            <p:nvPr/>
          </p:nvCxnSpPr>
          <p:spPr>
            <a:xfrm>
              <a:off x="7781456" y="464890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94" name="Gerade Verbindung 426">
              <a:extLst>
                <a:ext uri="{FF2B5EF4-FFF2-40B4-BE49-F238E27FC236}">
                  <a16:creationId xmlns:a16="http://schemas.microsoft.com/office/drawing/2014/main" id="{4EDC56C4-5CD3-4D2B-ABB8-3D0DA5565778}"/>
                </a:ext>
              </a:extLst>
            </p:cNvPr>
            <p:cNvCxnSpPr/>
            <p:nvPr/>
          </p:nvCxnSpPr>
          <p:spPr>
            <a:xfrm>
              <a:off x="8436731" y="444522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95" name="Gerade Verbindung 427">
              <a:extLst>
                <a:ext uri="{FF2B5EF4-FFF2-40B4-BE49-F238E27FC236}">
                  <a16:creationId xmlns:a16="http://schemas.microsoft.com/office/drawing/2014/main" id="{6C366B79-7B3D-4E42-A026-9AF0E61CE791}"/>
                </a:ext>
              </a:extLst>
            </p:cNvPr>
            <p:cNvCxnSpPr/>
            <p:nvPr/>
          </p:nvCxnSpPr>
          <p:spPr>
            <a:xfrm>
              <a:off x="9024141" y="444522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96" name="Gerade Verbindung 428">
              <a:extLst>
                <a:ext uri="{FF2B5EF4-FFF2-40B4-BE49-F238E27FC236}">
                  <a16:creationId xmlns:a16="http://schemas.microsoft.com/office/drawing/2014/main" id="{9532E498-EFA8-4D5F-ACB1-B8BE1B659CBC}"/>
                </a:ext>
              </a:extLst>
            </p:cNvPr>
            <p:cNvCxnSpPr/>
            <p:nvPr/>
          </p:nvCxnSpPr>
          <p:spPr>
            <a:xfrm>
              <a:off x="8343871" y="4645590"/>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97" name="Gerade Verbindung 429">
              <a:extLst>
                <a:ext uri="{FF2B5EF4-FFF2-40B4-BE49-F238E27FC236}">
                  <a16:creationId xmlns:a16="http://schemas.microsoft.com/office/drawing/2014/main" id="{123A180C-CB4E-416B-8109-469AACFA75B6}"/>
                </a:ext>
              </a:extLst>
            </p:cNvPr>
            <p:cNvCxnSpPr/>
            <p:nvPr/>
          </p:nvCxnSpPr>
          <p:spPr>
            <a:xfrm>
              <a:off x="8873352" y="464890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98" name="Gerade Verbindung 430">
              <a:extLst>
                <a:ext uri="{FF2B5EF4-FFF2-40B4-BE49-F238E27FC236}">
                  <a16:creationId xmlns:a16="http://schemas.microsoft.com/office/drawing/2014/main" id="{2FED1263-7537-42BF-8BC8-6D4EE611B2C6}"/>
                </a:ext>
              </a:extLst>
            </p:cNvPr>
            <p:cNvCxnSpPr/>
            <p:nvPr/>
          </p:nvCxnSpPr>
          <p:spPr>
            <a:xfrm>
              <a:off x="9596726" y="444522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99" name="Gerade Verbindung 431">
              <a:extLst>
                <a:ext uri="{FF2B5EF4-FFF2-40B4-BE49-F238E27FC236}">
                  <a16:creationId xmlns:a16="http://schemas.microsoft.com/office/drawing/2014/main" id="{84C1D26F-5C8C-45DF-AD55-3A3F99BF62B7}"/>
                </a:ext>
              </a:extLst>
            </p:cNvPr>
            <p:cNvCxnSpPr/>
            <p:nvPr/>
          </p:nvCxnSpPr>
          <p:spPr>
            <a:xfrm>
              <a:off x="9500284" y="4653375"/>
              <a:ext cx="0" cy="198155"/>
            </a:xfrm>
            <a:prstGeom prst="line">
              <a:avLst/>
            </a:prstGeom>
            <a:solidFill>
              <a:sysClr val="window" lastClr="FFFFFF"/>
            </a:solidFill>
            <a:ln w="28575" cap="flat" cmpd="sng" algn="ctr">
              <a:solidFill>
                <a:srgbClr val="C00000"/>
              </a:solidFill>
              <a:prstDash val="solid"/>
              <a:miter lim="800000"/>
            </a:ln>
            <a:effectLst/>
          </p:spPr>
        </p:cxnSp>
      </p:grpSp>
      <p:sp>
        <p:nvSpPr>
          <p:cNvPr id="183" name="Textfeld 182">
            <a:extLst>
              <a:ext uri="{FF2B5EF4-FFF2-40B4-BE49-F238E27FC236}">
                <a16:creationId xmlns:a16="http://schemas.microsoft.com/office/drawing/2014/main" id="{78515621-2062-41F4-B63A-396266A4B243}"/>
              </a:ext>
            </a:extLst>
          </p:cNvPr>
          <p:cNvSpPr txBox="1"/>
          <p:nvPr/>
        </p:nvSpPr>
        <p:spPr>
          <a:xfrm>
            <a:off x="752475" y="1033600"/>
            <a:ext cx="443502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75" b="1">
                <a:solidFill>
                  <a:srgbClr val="AD8600"/>
                </a:solidFill>
                <a:latin typeface="Arial"/>
                <a:ea typeface="Arial"/>
                <a:cs typeface="Arial"/>
              </a:defRPr>
            </a:pPr>
            <a:r>
              <a:rPr kumimoji="0" lang="en-US" sz="2000" b="1" i="0" u="none" strike="noStrike" kern="1200" cap="none" spc="0" normalizeH="0" baseline="0" noProof="0">
                <a:ln>
                  <a:noFill/>
                </a:ln>
                <a:solidFill>
                  <a:srgbClr val="AD8600"/>
                </a:solidFill>
                <a:effectLst/>
                <a:uLnTx/>
                <a:uFillTx/>
                <a:latin typeface="Arial"/>
                <a:cs typeface="Arial"/>
              </a:rPr>
              <a:t>FCDT response strategies</a:t>
            </a:r>
          </a:p>
        </p:txBody>
      </p:sp>
      <p:sp>
        <p:nvSpPr>
          <p:cNvPr id="2" name="Textfeld 1">
            <a:extLst>
              <a:ext uri="{FF2B5EF4-FFF2-40B4-BE49-F238E27FC236}">
                <a16:creationId xmlns:a16="http://schemas.microsoft.com/office/drawing/2014/main" id="{EB415EAF-857B-441B-BC6B-363FA98CEFA7}"/>
              </a:ext>
            </a:extLst>
          </p:cNvPr>
          <p:cNvSpPr txBox="1"/>
          <p:nvPr/>
        </p:nvSpPr>
        <p:spPr>
          <a:xfrm>
            <a:off x="5230347" y="1627347"/>
            <a:ext cx="312450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Participants adhere to one of three strategies</a:t>
            </a:r>
          </a:p>
        </p:txBody>
      </p:sp>
      <p:sp>
        <p:nvSpPr>
          <p:cNvPr id="189" name="Textfeld 188">
            <a:extLst>
              <a:ext uri="{FF2B5EF4-FFF2-40B4-BE49-F238E27FC236}">
                <a16:creationId xmlns:a16="http://schemas.microsoft.com/office/drawing/2014/main" id="{E52A5178-6D17-410F-95CA-D6466EDB09F5}"/>
              </a:ext>
            </a:extLst>
          </p:cNvPr>
          <p:cNvSpPr txBox="1"/>
          <p:nvPr/>
        </p:nvSpPr>
        <p:spPr>
          <a:xfrm>
            <a:off x="1489436" y="4028007"/>
            <a:ext cx="6165128"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AD8600"/>
                </a:solidFill>
                <a:effectLst/>
                <a:uLnTx/>
                <a:uFillTx/>
                <a:latin typeface="Arial"/>
                <a:ea typeface="+mn-ea"/>
                <a:cs typeface="Arial"/>
              </a:rPr>
              <a:t>How can we explain the strategies’ formation? </a:t>
            </a:r>
          </a:p>
          <a:p>
            <a:pPr marL="285750" marR="0" lvl="0" indent="-285750" algn="ctr"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Novel experimental work and theoretical approaches</a:t>
            </a:r>
          </a:p>
        </p:txBody>
      </p:sp>
    </p:spTree>
    <p:extLst>
      <p:ext uri="{BB962C8B-B14F-4D97-AF65-F5344CB8AC3E}">
        <p14:creationId xmlns:p14="http://schemas.microsoft.com/office/powerpoint/2010/main" val="4121813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B4B471EB-3919-409C-B1F7-F27E7D00D225}"/>
              </a:ext>
            </a:extLst>
          </p:cNvPr>
          <p:cNvSpPr>
            <a:spLocks noGrp="1"/>
          </p:cNvSpPr>
          <p:nvPr/>
        </p:nvSpPr>
        <p:spPr>
          <a:xfrm>
            <a:off x="752475" y="3137605"/>
            <a:ext cx="7810500" cy="1252581"/>
          </a:xfrm>
          <a:prstGeom prst="rect">
            <a:avLst/>
          </a:prstGeom>
          <a:noFill/>
          <a:ln w="0">
            <a:noFill/>
          </a:ln>
        </p:spPr>
        <p:txBody>
          <a:bodyPr lIns="0" tIns="0" rIns="0" bIns="0" anchor="t">
            <a:no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75" b="0">
                <a:solidFill>
                  <a:srgbClr val="111111"/>
                </a:solidFill>
                <a:latin typeface="Arial"/>
                <a:ea typeface="Arial"/>
                <a:cs typeface="Arial"/>
              </a:defRPr>
            </a:pPr>
            <a:r>
              <a:rPr kumimoji="0" lang="en-US" sz="1875" b="0" i="0" u="none" strike="noStrike" kern="1200" cap="none" spc="0" normalizeH="0" baseline="0" noProof="0" dirty="0">
                <a:ln>
                  <a:noFill/>
                </a:ln>
                <a:solidFill>
                  <a:srgbClr val="111111"/>
                </a:solidFill>
                <a:effectLst/>
                <a:uLnTx/>
                <a:uFillTx/>
                <a:latin typeface="Arial"/>
                <a:ea typeface="Arial"/>
                <a:cs typeface="Arial"/>
              </a:rPr>
              <a:t>Behavioral assessment of response strategies with experimental manipulations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75" b="0">
                <a:solidFill>
                  <a:srgbClr val="111111"/>
                </a:solidFill>
                <a:latin typeface="Arial"/>
                <a:ea typeface="Arial"/>
                <a:cs typeface="Arial"/>
              </a:defRPr>
            </a:pPr>
            <a:r>
              <a:rPr kumimoji="0" lang="en-US" sz="1875" b="0" i="0" u="none" strike="noStrike" kern="1200" cap="none" spc="0" normalizeH="0" baseline="0" noProof="0" dirty="0">
                <a:ln>
                  <a:noFill/>
                </a:ln>
                <a:solidFill>
                  <a:srgbClr val="111111"/>
                </a:solidFill>
                <a:effectLst/>
                <a:uLnTx/>
                <a:uFillTx/>
                <a:latin typeface="Arial"/>
                <a:ea typeface="Arial"/>
                <a:cs typeface="Arial"/>
              </a:rPr>
              <a:t>EEG markers of error and reward sensitivity</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75" b="0">
                <a:solidFill>
                  <a:srgbClr val="111111"/>
                </a:solidFill>
                <a:latin typeface="Arial"/>
                <a:ea typeface="Arial"/>
                <a:cs typeface="Arial"/>
              </a:defRPr>
            </a:pPr>
            <a:r>
              <a:rPr kumimoji="0" lang="en-US" sz="1875" b="0" i="0" u="none" strike="noStrike" kern="1200" cap="none" spc="0" normalizeH="0" baseline="0" noProof="0" dirty="0">
                <a:ln>
                  <a:noFill/>
                </a:ln>
                <a:solidFill>
                  <a:srgbClr val="111111"/>
                </a:solidFill>
                <a:effectLst/>
                <a:uLnTx/>
                <a:uFillTx/>
                <a:latin typeface="Arial"/>
                <a:ea typeface="Arial"/>
                <a:cs typeface="Arial"/>
              </a:rPr>
              <a:t>Questionnaires for self-reported preferences, cognitive tasks</a:t>
            </a:r>
          </a:p>
          <a:p>
            <a:pPr marL="0" marR="0" lvl="0" indent="0" algn="l" defTabSz="914400" rtl="0" eaLnBrk="1" fontAlgn="auto" latinLnBrk="0" hangingPunct="1">
              <a:lnSpc>
                <a:spcPct val="100000"/>
              </a:lnSpc>
              <a:spcBef>
                <a:spcPts val="0"/>
              </a:spcBef>
              <a:spcAft>
                <a:spcPts val="0"/>
              </a:spcAft>
              <a:buClrTx/>
              <a:buSzTx/>
              <a:buFontTx/>
              <a:buNone/>
              <a:tabLst/>
              <a:defRPr sz="1875" b="0">
                <a:solidFill>
                  <a:srgbClr val="111111"/>
                </a:solidFill>
                <a:latin typeface="Arial"/>
                <a:ea typeface="Arial"/>
                <a:cs typeface="Arial"/>
              </a:defRPr>
            </a:pPr>
            <a:endParaRPr kumimoji="0" lang="en-US" sz="1875" b="0" i="0" u="none" strike="noStrike" kern="1200" cap="none" spc="0" normalizeH="0" baseline="0" noProof="0" dirty="0">
              <a:ln>
                <a:noFill/>
              </a:ln>
              <a:solidFill>
                <a:srgbClr val="111111"/>
              </a:solidFill>
              <a:effectLst/>
              <a:uLnTx/>
              <a:uFillTx/>
              <a:latin typeface="Arial"/>
              <a:ea typeface="Arial"/>
              <a:cs typeface="Arial"/>
            </a:endParaRPr>
          </a:p>
        </p:txBody>
      </p:sp>
      <p:sp>
        <p:nvSpPr>
          <p:cNvPr id="10" name="Rechteck 9">
            <a:extLst>
              <a:ext uri="{FF2B5EF4-FFF2-40B4-BE49-F238E27FC236}">
                <a16:creationId xmlns:a16="http://schemas.microsoft.com/office/drawing/2014/main" id="{7EBF8906-DCF3-4877-A220-866DCBB95937}"/>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2625" b="0">
                <a:solidFill>
                  <a:srgbClr val="111111"/>
                </a:solidFill>
                <a:latin typeface="Arial"/>
                <a:ea typeface="Arial"/>
                <a:cs typeface="Arial"/>
              </a:defRPr>
            </a:pPr>
            <a:r>
              <a:rPr kumimoji="0" sz="2800" b="0" i="0" u="none" strike="noStrike" kern="1200" cap="none" spc="0" normalizeH="0" baseline="0" noProof="0">
                <a:ln>
                  <a:noFill/>
                </a:ln>
                <a:solidFill>
                  <a:srgbClr val="111111"/>
                </a:solidFill>
                <a:effectLst/>
                <a:uLnTx/>
                <a:uFillTx/>
                <a:latin typeface="Arial"/>
                <a:ea typeface="Arial"/>
                <a:cs typeface="Arial"/>
              </a:rPr>
              <a:t>Candidate </a:t>
            </a:r>
            <a:r>
              <a:rPr kumimoji="0" lang="de-DE" sz="2800" b="0" i="0" u="none" strike="noStrike" kern="1200" cap="none" spc="0" normalizeH="0" baseline="0" noProof="0">
                <a:ln>
                  <a:noFill/>
                </a:ln>
                <a:solidFill>
                  <a:srgbClr val="111111"/>
                </a:solidFill>
                <a:effectLst/>
                <a:uLnTx/>
                <a:uFillTx/>
                <a:latin typeface="Arial"/>
                <a:ea typeface="Arial"/>
                <a:cs typeface="Arial"/>
              </a:rPr>
              <a:t>D</a:t>
            </a:r>
            <a:r>
              <a:rPr kumimoji="0" sz="2800" b="0" i="0" u="none" strike="noStrike" kern="1200" cap="none" spc="0" normalizeH="0" baseline="0" noProof="0" err="1">
                <a:ln>
                  <a:noFill/>
                </a:ln>
                <a:solidFill>
                  <a:srgbClr val="111111"/>
                </a:solidFill>
                <a:effectLst/>
                <a:uLnTx/>
                <a:uFillTx/>
                <a:latin typeface="Arial"/>
                <a:ea typeface="Arial"/>
                <a:cs typeface="Arial"/>
              </a:rPr>
              <a:t>eterminants</a:t>
            </a:r>
            <a:r>
              <a:rPr kumimoji="0" sz="2800" b="0" i="0" u="none" strike="noStrike" kern="1200" cap="none" spc="0" normalizeH="0" baseline="0" noProof="0">
                <a:ln>
                  <a:noFill/>
                </a:ln>
                <a:solidFill>
                  <a:srgbClr val="111111"/>
                </a:solidFill>
                <a:effectLst/>
                <a:uLnTx/>
                <a:uFillTx/>
                <a:latin typeface="Arial"/>
                <a:ea typeface="Arial"/>
                <a:cs typeface="Arial"/>
              </a:rPr>
              <a:t> of </a:t>
            </a:r>
            <a:r>
              <a:rPr kumimoji="0" lang="de-DE" sz="2800" b="0" i="0" u="none" strike="noStrike" kern="1200" cap="none" spc="0" normalizeH="0" baseline="0" noProof="0">
                <a:ln>
                  <a:noFill/>
                </a:ln>
                <a:solidFill>
                  <a:srgbClr val="111111"/>
                </a:solidFill>
                <a:effectLst/>
                <a:uLnTx/>
                <a:uFillTx/>
                <a:latin typeface="Arial"/>
                <a:ea typeface="Arial"/>
                <a:cs typeface="Arial"/>
              </a:rPr>
              <a:t>S</a:t>
            </a:r>
            <a:r>
              <a:rPr kumimoji="0" sz="2800" b="0" i="0" u="none" strike="noStrike" kern="1200" cap="none" spc="0" normalizeH="0" baseline="0" noProof="0" err="1">
                <a:ln>
                  <a:noFill/>
                </a:ln>
                <a:solidFill>
                  <a:srgbClr val="111111"/>
                </a:solidFill>
                <a:effectLst/>
                <a:uLnTx/>
                <a:uFillTx/>
                <a:latin typeface="Arial"/>
                <a:ea typeface="Arial"/>
                <a:cs typeface="Arial"/>
              </a:rPr>
              <a:t>trategy</a:t>
            </a:r>
            <a:r>
              <a:rPr kumimoji="0" sz="2800" b="0" i="0" u="none" strike="noStrike" kern="1200" cap="none" spc="0" normalizeH="0" baseline="0" noProof="0">
                <a:ln>
                  <a:noFill/>
                </a:ln>
                <a:solidFill>
                  <a:srgbClr val="111111"/>
                </a:solidFill>
                <a:effectLst/>
                <a:uLnTx/>
                <a:uFillTx/>
                <a:latin typeface="Arial"/>
                <a:ea typeface="Arial"/>
                <a:cs typeface="Arial"/>
              </a:rPr>
              <a:t> </a:t>
            </a:r>
            <a:r>
              <a:rPr kumimoji="0" lang="de-DE" sz="2800" b="0" i="0" u="none" strike="noStrike" kern="1200" cap="none" spc="0" normalizeH="0" baseline="0" noProof="0">
                <a:ln>
                  <a:noFill/>
                </a:ln>
                <a:solidFill>
                  <a:srgbClr val="111111"/>
                </a:solidFill>
                <a:effectLst/>
                <a:uLnTx/>
                <a:uFillTx/>
                <a:latin typeface="Arial"/>
                <a:ea typeface="Arial"/>
                <a:cs typeface="Arial"/>
              </a:rPr>
              <a:t>F</a:t>
            </a:r>
            <a:r>
              <a:rPr kumimoji="0" sz="2800" b="0" i="0" u="none" strike="noStrike" kern="1200" cap="none" spc="0" normalizeH="0" baseline="0" noProof="0" err="1">
                <a:ln>
                  <a:noFill/>
                </a:ln>
                <a:solidFill>
                  <a:srgbClr val="111111"/>
                </a:solidFill>
                <a:effectLst/>
                <a:uLnTx/>
                <a:uFillTx/>
                <a:latin typeface="Arial"/>
                <a:ea typeface="Arial"/>
                <a:cs typeface="Arial"/>
              </a:rPr>
              <a:t>ormation</a:t>
            </a:r>
            <a:endParaRPr kumimoji="0" sz="2800" b="0" i="0" u="none" strike="noStrike" kern="1200" cap="none" spc="0" normalizeH="0" baseline="0" noProof="0">
              <a:ln>
                <a:noFill/>
              </a:ln>
              <a:solidFill>
                <a:srgbClr val="111111"/>
              </a:solidFill>
              <a:effectLst/>
              <a:uLnTx/>
              <a:uFillTx/>
              <a:latin typeface="Arial"/>
              <a:ea typeface="Arial"/>
              <a:cs typeface="Arial"/>
            </a:endParaRPr>
          </a:p>
        </p:txBody>
      </p:sp>
      <p:sp>
        <p:nvSpPr>
          <p:cNvPr id="2" name="Rechteck 1">
            <a:extLst>
              <a:ext uri="{FF2B5EF4-FFF2-40B4-BE49-F238E27FC236}">
                <a16:creationId xmlns:a16="http://schemas.microsoft.com/office/drawing/2014/main" id="{F9B7FC69-B85E-4249-9DE9-EED447BC7E08}"/>
              </a:ext>
            </a:extLst>
          </p:cNvPr>
          <p:cNvSpPr>
            <a:spLocks noGrp="1"/>
          </p:cNvSpPr>
          <p:nvPr/>
        </p:nvSpPr>
        <p:spPr>
          <a:xfrm>
            <a:off x="752475" y="1100139"/>
            <a:ext cx="7810500" cy="352425"/>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100" b="1">
                <a:solidFill>
                  <a:srgbClr val="AD8600"/>
                </a:solidFill>
                <a:latin typeface="Arial"/>
                <a:ea typeface="Arial"/>
                <a:cs typeface="Arial"/>
              </a:defRPr>
            </a:pPr>
            <a:r>
              <a:rPr kumimoji="0" lang="en-US" sz="2100" b="1" i="0" u="none" strike="noStrike" kern="1200" cap="none" spc="0" normalizeH="0" baseline="0" noProof="0">
                <a:ln>
                  <a:noFill/>
                </a:ln>
                <a:solidFill>
                  <a:srgbClr val="AD8600"/>
                </a:solidFill>
                <a:effectLst/>
                <a:uLnTx/>
                <a:uFillTx/>
                <a:latin typeface="Arial"/>
                <a:ea typeface="Arial"/>
                <a:cs typeface="Arial"/>
              </a:rPr>
              <a:t>Objectives</a:t>
            </a:r>
            <a:endParaRPr kumimoji="0" sz="2100" b="1" i="0" u="none" strike="noStrike" kern="1200" cap="none" spc="0" normalizeH="0" baseline="0" noProof="0">
              <a:ln>
                <a:noFill/>
              </a:ln>
              <a:solidFill>
                <a:srgbClr val="AD8600"/>
              </a:solidFill>
              <a:effectLst/>
              <a:uLnTx/>
              <a:uFillTx/>
              <a:latin typeface="Arial"/>
              <a:ea typeface="Arial"/>
              <a:cs typeface="Arial"/>
            </a:endParaRPr>
          </a:p>
        </p:txBody>
      </p:sp>
      <p:sp>
        <p:nvSpPr>
          <p:cNvPr id="3" name="Rechteck 2">
            <a:extLst>
              <a:ext uri="{FF2B5EF4-FFF2-40B4-BE49-F238E27FC236}">
                <a16:creationId xmlns:a16="http://schemas.microsoft.com/office/drawing/2014/main" id="{A9532E6C-0B0C-421F-B8A6-F6F41B90DC9D}"/>
              </a:ext>
            </a:extLst>
          </p:cNvPr>
          <p:cNvSpPr>
            <a:spLocks noGrp="1"/>
          </p:cNvSpPr>
          <p:nvPr/>
        </p:nvSpPr>
        <p:spPr>
          <a:xfrm>
            <a:off x="752475" y="1566847"/>
            <a:ext cx="7810500" cy="900116"/>
          </a:xfrm>
          <a:prstGeom prst="rect">
            <a:avLst/>
          </a:prstGeom>
          <a:noFill/>
          <a:ln w="0">
            <a:noFill/>
          </a:ln>
        </p:spPr>
        <p:txBody>
          <a:bodyPr lIns="0" tIns="0" rIns="0" bIns="0" anchor="t">
            <a:no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75" b="0">
                <a:solidFill>
                  <a:srgbClr val="111111"/>
                </a:solidFill>
                <a:latin typeface="Arial"/>
                <a:ea typeface="Arial"/>
                <a:cs typeface="Arial"/>
              </a:defRPr>
            </a:pPr>
            <a:r>
              <a:rPr kumimoji="0" lang="en-US" sz="1875" b="0" i="0" u="none" strike="noStrike" kern="1200" cap="none" spc="0" normalizeH="0" baseline="0" noProof="0">
                <a:ln>
                  <a:noFill/>
                </a:ln>
                <a:solidFill>
                  <a:srgbClr val="111111"/>
                </a:solidFill>
                <a:effectLst/>
                <a:uLnTx/>
                <a:uFillTx/>
                <a:latin typeface="Arial"/>
                <a:cs typeface="Arial"/>
              </a:rPr>
              <a:t>Learning and error sensitivity</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75" b="0">
                <a:solidFill>
                  <a:srgbClr val="111111"/>
                </a:solidFill>
                <a:latin typeface="Arial"/>
                <a:ea typeface="Arial"/>
                <a:cs typeface="Arial"/>
              </a:defRPr>
            </a:pPr>
            <a:r>
              <a:rPr kumimoji="0" lang="en-US" sz="1875" b="0" i="0" u="none" strike="noStrike" kern="1200" cap="none" spc="0" normalizeH="0" baseline="0" noProof="0">
                <a:ln>
                  <a:noFill/>
                </a:ln>
                <a:solidFill>
                  <a:srgbClr val="111111"/>
                </a:solidFill>
                <a:effectLst/>
                <a:uLnTx/>
                <a:uFillTx/>
                <a:latin typeface="Arial"/>
                <a:cs typeface="Arial"/>
              </a:rPr>
              <a:t>Motivation and reward sensitivity</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75" b="0">
                <a:solidFill>
                  <a:srgbClr val="111111"/>
                </a:solidFill>
                <a:latin typeface="Arial"/>
                <a:ea typeface="Arial"/>
                <a:cs typeface="Arial"/>
              </a:defRPr>
            </a:pPr>
            <a:r>
              <a:rPr kumimoji="0" lang="en-US" sz="1875" b="0" i="0" u="none" strike="noStrike" kern="1200" cap="none" spc="0" normalizeH="0" baseline="0" noProof="0">
                <a:ln>
                  <a:noFill/>
                </a:ln>
                <a:solidFill>
                  <a:srgbClr val="111111"/>
                </a:solidFill>
                <a:effectLst/>
                <a:uLnTx/>
                <a:uFillTx/>
                <a:latin typeface="Arial"/>
                <a:cs typeface="Arial"/>
              </a:rPr>
              <a:t>Psychological traits, preferences, and cognitive ability</a:t>
            </a:r>
          </a:p>
        </p:txBody>
      </p:sp>
      <p:sp>
        <p:nvSpPr>
          <p:cNvPr id="4" name="Rechteck 3">
            <a:extLst>
              <a:ext uri="{FF2B5EF4-FFF2-40B4-BE49-F238E27FC236}">
                <a16:creationId xmlns:a16="http://schemas.microsoft.com/office/drawing/2014/main" id="{0DC555EE-BC85-4D96-A895-DD5121252171}"/>
              </a:ext>
            </a:extLst>
          </p:cNvPr>
          <p:cNvSpPr>
            <a:spLocks noGrp="1"/>
          </p:cNvSpPr>
          <p:nvPr/>
        </p:nvSpPr>
        <p:spPr>
          <a:xfrm>
            <a:off x="752475" y="2670896"/>
            <a:ext cx="7810500" cy="352425"/>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100" b="1">
                <a:solidFill>
                  <a:srgbClr val="AD8600"/>
                </a:solidFill>
                <a:latin typeface="Arial"/>
                <a:ea typeface="Arial"/>
                <a:cs typeface="Arial"/>
              </a:defRPr>
            </a:pPr>
            <a:r>
              <a:rPr kumimoji="0" lang="en-US" sz="2100" b="1" i="0" u="none" strike="noStrike" kern="1200" cap="none" spc="0" normalizeH="0" baseline="0" noProof="0">
                <a:ln>
                  <a:noFill/>
                </a:ln>
                <a:solidFill>
                  <a:srgbClr val="AD8600"/>
                </a:solidFill>
                <a:effectLst/>
                <a:uLnTx/>
                <a:uFillTx/>
                <a:latin typeface="Arial"/>
                <a:ea typeface="Arial"/>
                <a:cs typeface="Arial"/>
              </a:rPr>
              <a:t>Empirical approach </a:t>
            </a:r>
          </a:p>
        </p:txBody>
      </p:sp>
      <p:sp>
        <p:nvSpPr>
          <p:cNvPr id="9" name="Rechteck 8">
            <a:extLst>
              <a:ext uri="{FF2B5EF4-FFF2-40B4-BE49-F238E27FC236}">
                <a16:creationId xmlns:a16="http://schemas.microsoft.com/office/drawing/2014/main" id="{CD643949-5E8E-430B-BF80-9E0C5933124D}"/>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975" b="0">
                <a:solidFill>
                  <a:srgbClr val="888888"/>
                </a:solidFill>
                <a:latin typeface="Arial"/>
                <a:ea typeface="Arial"/>
                <a:cs typeface="Arial"/>
              </a:defRPr>
            </a:pPr>
            <a:r>
              <a:rPr kumimoji="0" lang="de-DE" sz="975" b="0" i="0" u="none" strike="noStrike" kern="1200" cap="none" spc="0" normalizeH="0" baseline="0" noProof="0" dirty="0">
                <a:ln>
                  <a:noFill/>
                </a:ln>
                <a:solidFill>
                  <a:srgbClr val="888888"/>
                </a:solidFill>
                <a:effectLst/>
                <a:uLnTx/>
                <a:uFillTx/>
                <a:latin typeface="Arial"/>
                <a:ea typeface="Arial"/>
                <a:cs typeface="Arial"/>
              </a:rPr>
              <a:t>4</a:t>
            </a:r>
            <a:endParaRPr kumimoji="0" sz="975" b="0" i="0" u="none" strike="noStrike" kern="1200" cap="none" spc="0" normalizeH="0" baseline="0" noProof="0" dirty="0">
              <a:ln>
                <a:noFill/>
              </a:ln>
              <a:solidFill>
                <a:srgbClr val="888888"/>
              </a:solidFill>
              <a:effectLst/>
              <a:uLnTx/>
              <a:uFillTx/>
              <a:latin typeface="Arial"/>
              <a:ea typeface="Arial"/>
              <a:cs typeface="Arial"/>
            </a:endParaRPr>
          </a:p>
        </p:txBody>
      </p:sp>
    </p:spTree>
    <p:extLst>
      <p:ext uri="{BB962C8B-B14F-4D97-AF65-F5344CB8AC3E}">
        <p14:creationId xmlns:p14="http://schemas.microsoft.com/office/powerpoint/2010/main" val="1314948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6D12FFA5-0DDB-4246-8336-0D3FD151A38A}"/>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2625" b="0">
                <a:solidFill>
                  <a:srgbClr val="111111"/>
                </a:solidFill>
                <a:latin typeface="Arial"/>
                <a:ea typeface="Arial"/>
                <a:cs typeface="Arial"/>
              </a:defRPr>
            </a:pPr>
            <a:r>
              <a:rPr kumimoji="0" lang="en-US" sz="2800" b="0" i="0" u="none" strike="noStrike" kern="1200" cap="none" spc="0" normalizeH="0" baseline="0" noProof="0">
                <a:ln>
                  <a:noFill/>
                </a:ln>
                <a:solidFill>
                  <a:srgbClr val="111111"/>
                </a:solidFill>
                <a:effectLst/>
                <a:uLnTx/>
                <a:uFillTx/>
                <a:latin typeface="Arial"/>
                <a:ea typeface="Arial"/>
                <a:cs typeface="Arial"/>
              </a:rPr>
              <a:t>WP 1.1</a:t>
            </a:r>
            <a:r>
              <a:rPr kumimoji="0" sz="2800" b="0" i="0" u="none" strike="noStrike" kern="1200" cap="none" spc="0" normalizeH="0" baseline="0" noProof="0">
                <a:ln>
                  <a:noFill/>
                </a:ln>
                <a:solidFill>
                  <a:srgbClr val="111111"/>
                </a:solidFill>
                <a:effectLst/>
                <a:uLnTx/>
                <a:uFillTx/>
                <a:latin typeface="Arial"/>
                <a:ea typeface="Arial"/>
                <a:cs typeface="Arial"/>
              </a:rPr>
              <a:t>: </a:t>
            </a:r>
            <a:r>
              <a:rPr kumimoji="0" lang="en-US" sz="2800" b="0" i="0" u="none" strike="noStrike" kern="1200" cap="none" spc="0" normalizeH="0" baseline="0" noProof="0">
                <a:ln>
                  <a:noFill/>
                </a:ln>
                <a:solidFill>
                  <a:srgbClr val="111111"/>
                </a:solidFill>
                <a:effectLst/>
                <a:uLnTx/>
                <a:uFillTx/>
                <a:latin typeface="Arial"/>
                <a:ea typeface="Arial"/>
                <a:cs typeface="Arial"/>
              </a:rPr>
              <a:t>Learning Ability and Error Sensitivity</a:t>
            </a:r>
            <a:endParaRPr kumimoji="0" sz="2800" b="0" i="0" u="none" strike="noStrike" kern="1200" cap="none" spc="0" normalizeH="0" baseline="0" noProof="0">
              <a:ln>
                <a:noFill/>
              </a:ln>
              <a:solidFill>
                <a:srgbClr val="111111"/>
              </a:solidFill>
              <a:effectLst/>
              <a:uLnTx/>
              <a:uFillTx/>
              <a:latin typeface="Arial"/>
              <a:ea typeface="Arial"/>
              <a:cs typeface="Arial"/>
            </a:endParaRPr>
          </a:p>
        </p:txBody>
      </p:sp>
      <p:sp>
        <p:nvSpPr>
          <p:cNvPr id="3" name="Rechteck 2">
            <a:extLst>
              <a:ext uri="{FF2B5EF4-FFF2-40B4-BE49-F238E27FC236}">
                <a16:creationId xmlns:a16="http://schemas.microsoft.com/office/drawing/2014/main" id="{E897C1D7-D451-4651-BDA4-4A955BDD1B58}"/>
              </a:ext>
            </a:extLst>
          </p:cNvPr>
          <p:cNvSpPr>
            <a:spLocks noGrp="1"/>
          </p:cNvSpPr>
          <p:nvPr/>
        </p:nvSpPr>
        <p:spPr>
          <a:xfrm>
            <a:off x="762000" y="1247774"/>
            <a:ext cx="3810000" cy="3810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025" b="1">
                <a:solidFill>
                  <a:srgbClr val="AD8600"/>
                </a:solidFill>
                <a:latin typeface="Arial"/>
                <a:ea typeface="Arial"/>
                <a:cs typeface="Arial"/>
              </a:defRPr>
            </a:pPr>
            <a:r>
              <a:rPr kumimoji="0" lang="de-DE" sz="2000" b="1" i="0" u="none" strike="noStrike" kern="1200" cap="none" spc="0" normalizeH="0" baseline="0" noProof="0" dirty="0" err="1">
                <a:ln>
                  <a:noFill/>
                </a:ln>
                <a:solidFill>
                  <a:srgbClr val="AD8600"/>
                </a:solidFill>
                <a:effectLst/>
                <a:uLnTx/>
                <a:uFillTx/>
                <a:latin typeface="Arial"/>
                <a:ea typeface="Arial"/>
                <a:cs typeface="Arial"/>
              </a:rPr>
              <a:t>Exp</a:t>
            </a:r>
            <a:r>
              <a:rPr kumimoji="0" lang="de-DE" sz="2000" b="1" i="0" u="none" strike="noStrike" kern="1200" cap="none" spc="0" normalizeH="0" baseline="0" noProof="0" dirty="0">
                <a:ln>
                  <a:noFill/>
                </a:ln>
                <a:solidFill>
                  <a:srgbClr val="AD8600"/>
                </a:solidFill>
                <a:effectLst/>
                <a:uLnTx/>
                <a:uFillTx/>
                <a:latin typeface="Arial"/>
                <a:ea typeface="Arial"/>
                <a:cs typeface="Arial"/>
              </a:rPr>
              <a:t> </a:t>
            </a:r>
            <a:r>
              <a:rPr kumimoji="0" sz="2000" b="1" i="0" u="none" strike="noStrike" kern="1200" cap="none" spc="0" normalizeH="0" baseline="0" noProof="0" dirty="0">
                <a:ln>
                  <a:noFill/>
                </a:ln>
                <a:solidFill>
                  <a:srgbClr val="AD8600"/>
                </a:solidFill>
                <a:effectLst/>
                <a:uLnTx/>
                <a:uFillTx/>
                <a:latin typeface="Arial"/>
                <a:ea typeface="Arial"/>
                <a:cs typeface="Arial"/>
              </a:rPr>
              <a:t>1a</a:t>
            </a:r>
            <a:r>
              <a:rPr kumimoji="0" lang="de-DE" sz="2000" b="1" i="0" u="none" strike="noStrike" kern="1200" cap="none" spc="0" normalizeH="0" baseline="0" noProof="0" dirty="0">
                <a:ln>
                  <a:noFill/>
                </a:ln>
                <a:solidFill>
                  <a:srgbClr val="AD8600"/>
                </a:solidFill>
                <a:effectLst/>
                <a:uLnTx/>
                <a:uFillTx/>
                <a:latin typeface="Arial"/>
                <a:ea typeface="Arial"/>
                <a:cs typeface="Arial"/>
              </a:rPr>
              <a:t> </a:t>
            </a:r>
            <a:r>
              <a:rPr kumimoji="0" sz="2000" b="1" i="0" u="none" strike="noStrike" kern="1200" cap="none" spc="0" normalizeH="0" baseline="0" noProof="0" dirty="0">
                <a:ln>
                  <a:noFill/>
                </a:ln>
                <a:solidFill>
                  <a:srgbClr val="AD8600"/>
                </a:solidFill>
                <a:effectLst/>
                <a:uLnTx/>
                <a:uFillTx/>
                <a:latin typeface="Arial"/>
                <a:ea typeface="Arial"/>
                <a:cs typeface="Arial"/>
              </a:rPr>
              <a:t>Strategy development</a:t>
            </a:r>
          </a:p>
        </p:txBody>
      </p:sp>
      <p:sp>
        <p:nvSpPr>
          <p:cNvPr id="4" name="Rechteck 3">
            <a:extLst>
              <a:ext uri="{FF2B5EF4-FFF2-40B4-BE49-F238E27FC236}">
                <a16:creationId xmlns:a16="http://schemas.microsoft.com/office/drawing/2014/main" id="{E39993EF-4B66-4891-8B5C-51B62B934B2E}"/>
              </a:ext>
            </a:extLst>
          </p:cNvPr>
          <p:cNvSpPr>
            <a:spLocks noGrp="1"/>
          </p:cNvSpPr>
          <p:nvPr/>
        </p:nvSpPr>
        <p:spPr>
          <a:xfrm>
            <a:off x="762000" y="1762124"/>
            <a:ext cx="3667125" cy="1362075"/>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Extended FCDT practice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111111"/>
              </a:solidFill>
              <a:effectLst/>
              <a:uLnTx/>
              <a:uFillTx/>
              <a:latin typeface="Arial"/>
              <a:ea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lang="en-US" sz="1800" b="0" i="0" u="none" strike="noStrike" kern="1200" cap="none" spc="0" normalizeH="0" baseline="0" dirty="0">
                <a:ln>
                  <a:noFill/>
                </a:ln>
                <a:solidFill>
                  <a:srgbClr val="111111"/>
                </a:solidFill>
                <a:effectLst/>
                <a:uLnTx/>
                <a:uFillTx/>
                <a:latin typeface="Arial"/>
                <a:ea typeface="Arial"/>
                <a:cs typeface="Arial"/>
              </a:rPr>
              <a:t>Explore</a:t>
            </a:r>
            <a:r>
              <a:rPr kumimoji="0" sz="1800" b="0" i="0" u="none" strike="noStrike" kern="1200" cap="none" spc="0" normalizeH="0" baseline="0" noProof="0" dirty="0">
                <a:ln>
                  <a:noFill/>
                </a:ln>
                <a:solidFill>
                  <a:srgbClr val="111111"/>
                </a:solidFill>
                <a:effectLst/>
                <a:uLnTx/>
                <a:uFillTx/>
                <a:latin typeface="Arial"/>
                <a:ea typeface="Arial"/>
                <a:cs typeface="Arial"/>
              </a:rPr>
              <a:t> changes in response times,</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errors and strategy use</a:t>
            </a:r>
          </a:p>
        </p:txBody>
      </p:sp>
      <p:sp>
        <p:nvSpPr>
          <p:cNvPr id="5" name="Rechteck 4">
            <a:extLst>
              <a:ext uri="{FF2B5EF4-FFF2-40B4-BE49-F238E27FC236}">
                <a16:creationId xmlns:a16="http://schemas.microsoft.com/office/drawing/2014/main" id="{AD4E55F0-2062-4167-A02C-3187DA126A89}"/>
              </a:ext>
            </a:extLst>
          </p:cNvPr>
          <p:cNvSpPr>
            <a:spLocks noGrp="1"/>
          </p:cNvSpPr>
          <p:nvPr/>
        </p:nvSpPr>
        <p:spPr>
          <a:xfrm>
            <a:off x="4995025" y="1247774"/>
            <a:ext cx="3667125" cy="3810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025" b="1">
                <a:solidFill>
                  <a:srgbClr val="AD8600"/>
                </a:solidFill>
                <a:latin typeface="Arial"/>
                <a:ea typeface="Arial"/>
                <a:cs typeface="Arial"/>
              </a:defRPr>
            </a:pPr>
            <a:r>
              <a:rPr kumimoji="0" lang="de-DE" sz="2000" b="1" i="0" u="none" strike="noStrike" kern="1200" cap="none" spc="0" normalizeH="0" baseline="0" noProof="0" dirty="0" err="1">
                <a:ln>
                  <a:noFill/>
                </a:ln>
                <a:solidFill>
                  <a:srgbClr val="AD8600"/>
                </a:solidFill>
                <a:effectLst/>
                <a:uLnTx/>
                <a:uFillTx/>
                <a:latin typeface="Arial"/>
                <a:ea typeface="Arial"/>
                <a:cs typeface="Arial"/>
              </a:rPr>
              <a:t>Exp</a:t>
            </a:r>
            <a:r>
              <a:rPr kumimoji="0" lang="de-DE" sz="2000" b="1" i="0" u="none" strike="noStrike" kern="1200" cap="none" spc="0" normalizeH="0" baseline="0" noProof="0" dirty="0">
                <a:ln>
                  <a:noFill/>
                </a:ln>
                <a:solidFill>
                  <a:srgbClr val="AD8600"/>
                </a:solidFill>
                <a:effectLst/>
                <a:uLnTx/>
                <a:uFillTx/>
                <a:latin typeface="Arial"/>
                <a:ea typeface="Arial"/>
                <a:cs typeface="Arial"/>
              </a:rPr>
              <a:t> </a:t>
            </a:r>
            <a:r>
              <a:rPr kumimoji="0" sz="2000" b="1" i="0" u="none" strike="noStrike" kern="1200" cap="none" spc="0" normalizeH="0" baseline="0" noProof="0" dirty="0">
                <a:ln>
                  <a:noFill/>
                </a:ln>
                <a:solidFill>
                  <a:srgbClr val="AD8600"/>
                </a:solidFill>
                <a:effectLst/>
                <a:uLnTx/>
                <a:uFillTx/>
                <a:latin typeface="Arial"/>
                <a:ea typeface="Arial"/>
                <a:cs typeface="Arial"/>
              </a:rPr>
              <a:t>1b</a:t>
            </a:r>
            <a:r>
              <a:rPr kumimoji="0" lang="de-DE" sz="2000" b="1" i="0" u="none" strike="noStrike" kern="1200" cap="none" spc="0" normalizeH="0" baseline="0" noProof="0" dirty="0">
                <a:ln>
                  <a:noFill/>
                </a:ln>
                <a:solidFill>
                  <a:srgbClr val="AD8600"/>
                </a:solidFill>
                <a:effectLst/>
                <a:uLnTx/>
                <a:uFillTx/>
                <a:latin typeface="Arial"/>
                <a:ea typeface="Arial"/>
                <a:cs typeface="Arial"/>
              </a:rPr>
              <a:t> </a:t>
            </a:r>
            <a:r>
              <a:rPr kumimoji="0" sz="2000" b="1" i="0" u="none" strike="noStrike" kern="1200" cap="none" spc="0" normalizeH="0" baseline="0" noProof="0" dirty="0">
                <a:ln>
                  <a:noFill/>
                </a:ln>
                <a:solidFill>
                  <a:srgbClr val="AD8600"/>
                </a:solidFill>
                <a:effectLst/>
                <a:uLnTx/>
                <a:uFillTx/>
                <a:latin typeface="Arial"/>
                <a:ea typeface="Arial"/>
                <a:cs typeface="Arial"/>
              </a:rPr>
              <a:t>Task difficulty</a:t>
            </a:r>
          </a:p>
        </p:txBody>
      </p:sp>
      <p:sp>
        <p:nvSpPr>
          <p:cNvPr id="6" name="Rechteck 5">
            <a:extLst>
              <a:ext uri="{FF2B5EF4-FFF2-40B4-BE49-F238E27FC236}">
                <a16:creationId xmlns:a16="http://schemas.microsoft.com/office/drawing/2014/main" id="{A1518690-DCF8-4322-A9B0-7EEAA01D43CB}"/>
              </a:ext>
            </a:extLst>
          </p:cNvPr>
          <p:cNvSpPr>
            <a:spLocks noGrp="1"/>
          </p:cNvSpPr>
          <p:nvPr/>
        </p:nvSpPr>
        <p:spPr>
          <a:xfrm>
            <a:off x="4995025" y="1762124"/>
            <a:ext cx="3667125" cy="1476375"/>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Easy versus difficult</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letter and color classifications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111111"/>
              </a:solidFill>
              <a:effectLst/>
              <a:uLnTx/>
              <a:uFillTx/>
              <a:latin typeface="Arial"/>
              <a:ea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Test difficulty × strategy effects</a:t>
            </a:r>
          </a:p>
        </p:txBody>
      </p:sp>
      <p:sp>
        <p:nvSpPr>
          <p:cNvPr id="7" name="Rechteck 6">
            <a:extLst>
              <a:ext uri="{FF2B5EF4-FFF2-40B4-BE49-F238E27FC236}">
                <a16:creationId xmlns:a16="http://schemas.microsoft.com/office/drawing/2014/main" id="{0D01CB00-7B89-4C96-9D01-064ABEC20B6F}"/>
              </a:ext>
            </a:extLst>
          </p:cNvPr>
          <p:cNvSpPr>
            <a:spLocks noGrp="1"/>
          </p:cNvSpPr>
          <p:nvPr/>
        </p:nvSpPr>
        <p:spPr>
          <a:xfrm>
            <a:off x="714372" y="3257549"/>
            <a:ext cx="7858125" cy="582986"/>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11111"/>
                </a:solidFill>
                <a:latin typeface="Arial"/>
                <a:ea typeface="Arial"/>
                <a:cs typeface="Arial"/>
              </a:defRPr>
            </a:pPr>
            <a:r>
              <a:rPr kumimoji="0" sz="1600" b="1" i="0" u="none" strike="noStrike" kern="1200" cap="none" spc="0" normalizeH="0" baseline="0" noProof="0">
                <a:ln>
                  <a:noFill/>
                </a:ln>
                <a:solidFill>
                  <a:srgbClr val="111111"/>
                </a:solidFill>
                <a:effectLst/>
                <a:uLnTx/>
                <a:uFillTx/>
                <a:latin typeface="Arial"/>
                <a:cs typeface="Arial"/>
              </a:rPr>
              <a:t>EEG during FCDT and a separate flanker task</a:t>
            </a:r>
            <a:r>
              <a:rPr kumimoji="0" lang="de-DE" sz="1600" b="1" i="0" u="none" strike="noStrike" kern="1200" cap="none" spc="0" normalizeH="0" baseline="0" noProof="0">
                <a:ln>
                  <a:noFill/>
                </a:ln>
                <a:solidFill>
                  <a:srgbClr val="111111"/>
                </a:solidFill>
                <a:effectLst/>
                <a:uLnTx/>
                <a:uFillTx/>
                <a:latin typeface="Arial"/>
                <a:cs typeface="Arial"/>
              </a:rPr>
              <a:t>; </a:t>
            </a:r>
            <a:r>
              <a:rPr kumimoji="0" lang="de-DE" sz="1600" b="0" i="0" u="none" strike="noStrike" kern="1200" cap="none" spc="0" normalizeH="0" baseline="0" noProof="0">
                <a:ln>
                  <a:noFill/>
                </a:ln>
                <a:solidFill>
                  <a:srgbClr val="111111"/>
                </a:solidFill>
                <a:effectLst/>
                <a:uLnTx/>
                <a:uFillTx/>
                <a:latin typeface="Arial"/>
                <a:cs typeface="Arial"/>
              </a:rPr>
              <a:t>N = 90 per </a:t>
            </a:r>
            <a:r>
              <a:rPr kumimoji="0" lang="en-US" sz="1600" b="0" i="0" u="none" strike="noStrike" kern="1200" cap="none" spc="0" normalizeH="0" baseline="0" noProof="0">
                <a:ln>
                  <a:noFill/>
                </a:ln>
                <a:solidFill>
                  <a:srgbClr val="111111"/>
                </a:solidFill>
                <a:effectLst/>
                <a:uLnTx/>
                <a:uFillTx/>
                <a:latin typeface="Arial"/>
                <a:cs typeface="Arial"/>
              </a:rPr>
              <a:t>experiment</a:t>
            </a:r>
          </a:p>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11111"/>
                </a:solidFill>
                <a:latin typeface="Arial"/>
                <a:ea typeface="Arial"/>
                <a:cs typeface="Arial"/>
              </a:defRPr>
            </a:pPr>
            <a:r>
              <a:rPr kumimoji="0" lang="en-US" sz="1600" b="0" i="0" u="sng" strike="noStrike" kern="1200" cap="none" spc="0" normalizeH="0" baseline="0" noProof="0">
                <a:ln>
                  <a:noFill/>
                </a:ln>
                <a:solidFill>
                  <a:srgbClr val="111111"/>
                </a:solidFill>
                <a:effectLst/>
                <a:uLnTx/>
                <a:uFillTx/>
                <a:latin typeface="Arial"/>
                <a:ea typeface="Arial"/>
                <a:cs typeface="Arial"/>
              </a:rPr>
              <a:t>Key variables:</a:t>
            </a:r>
            <a:r>
              <a:rPr kumimoji="0" lang="en-US" sz="1600" b="0" i="0" u="none" strike="noStrike" kern="1200" cap="none" spc="0" normalizeH="0" baseline="0" noProof="0">
                <a:ln>
                  <a:noFill/>
                </a:ln>
                <a:solidFill>
                  <a:srgbClr val="111111"/>
                </a:solidFill>
                <a:effectLst/>
                <a:uLnTx/>
                <a:uFillTx/>
                <a:latin typeface="Arial"/>
                <a:ea typeface="Arial"/>
                <a:cs typeface="Arial"/>
              </a:rPr>
              <a:t> response times, error rates, error-related negativity</a:t>
            </a:r>
          </a:p>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11111"/>
                </a:solidFill>
                <a:latin typeface="Arial"/>
                <a:ea typeface="Arial"/>
                <a:cs typeface="Arial"/>
              </a:defRPr>
            </a:pPr>
            <a:endParaRPr kumimoji="0" lang="de-DE" sz="1600" b="0" i="0" u="none" strike="noStrike" kern="1200" cap="none" spc="0" normalizeH="0" baseline="0" noProof="0">
              <a:ln>
                <a:noFill/>
              </a:ln>
              <a:solidFill>
                <a:srgbClr val="111111"/>
              </a:solidFill>
              <a:effectLst/>
              <a:uLnTx/>
              <a:uFillTx/>
              <a:latin typeface="Arial"/>
              <a:cs typeface="Arial"/>
            </a:endParaRPr>
          </a:p>
        </p:txBody>
      </p:sp>
      <p:sp>
        <p:nvSpPr>
          <p:cNvPr id="8" name="Rechteck 7">
            <a:extLst>
              <a:ext uri="{FF2B5EF4-FFF2-40B4-BE49-F238E27FC236}">
                <a16:creationId xmlns:a16="http://schemas.microsoft.com/office/drawing/2014/main" id="{1E523913-2979-4A23-A19A-CFB23339034B}"/>
              </a:ext>
            </a:extLst>
          </p:cNvPr>
          <p:cNvSpPr>
            <a:spLocks noGrp="1"/>
          </p:cNvSpPr>
          <p:nvPr/>
        </p:nvSpPr>
        <p:spPr>
          <a:xfrm>
            <a:off x="714372" y="3989014"/>
            <a:ext cx="7858125" cy="582986"/>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75" b="0">
                <a:solidFill>
                  <a:srgbClr val="AD8600"/>
                </a:solidFill>
                <a:latin typeface="Arial"/>
                <a:ea typeface="Arial"/>
                <a:cs typeface="Arial"/>
              </a:defRPr>
            </a:pPr>
            <a:r>
              <a:rPr kumimoji="0" sz="1600" b="1" i="0" u="none" strike="noStrike" kern="1200" cap="none" spc="0" normalizeH="0" baseline="0" noProof="0">
                <a:ln>
                  <a:noFill/>
                </a:ln>
                <a:solidFill>
                  <a:srgbClr val="AD8600"/>
                </a:solidFill>
                <a:effectLst/>
                <a:uLnTx/>
                <a:uFillTx/>
                <a:latin typeface="Arial"/>
                <a:ea typeface="Arial"/>
                <a:cs typeface="Arial"/>
              </a:rPr>
              <a:t>Prediction: greater learning gains and larger ERN magnitude in </a:t>
            </a:r>
            <a:r>
              <a:rPr kumimoji="0" lang="de-DE" sz="1600" b="1" i="0" u="none" strike="noStrike" kern="1200" cap="none" spc="0" normalizeH="0" baseline="0" noProof="0" err="1">
                <a:ln>
                  <a:noFill/>
                </a:ln>
                <a:solidFill>
                  <a:srgbClr val="AD8600"/>
                </a:solidFill>
                <a:effectLst/>
                <a:uLnTx/>
                <a:uFillTx/>
                <a:latin typeface="Arial"/>
                <a:ea typeface="Arial"/>
                <a:cs typeface="Arial"/>
              </a:rPr>
              <a:t>switchers</a:t>
            </a:r>
            <a:r>
              <a:rPr kumimoji="0" lang="de-DE" sz="1600" b="1" i="0" u="none" strike="noStrike" kern="1200" cap="none" spc="0" normalizeH="0" baseline="0" noProof="0">
                <a:ln>
                  <a:noFill/>
                </a:ln>
                <a:solidFill>
                  <a:srgbClr val="AD8600"/>
                </a:solidFill>
                <a:effectLst/>
                <a:uLnTx/>
                <a:uFillTx/>
                <a:latin typeface="Arial"/>
                <a:ea typeface="Arial"/>
                <a:cs typeface="Arial"/>
              </a:rPr>
              <a:t> and </a:t>
            </a:r>
            <a:r>
              <a:rPr kumimoji="0" lang="de-DE" sz="1600" b="1" i="0" u="none" strike="noStrike" kern="1200" cap="none" spc="0" normalizeH="0" baseline="0" noProof="0" err="1">
                <a:ln>
                  <a:noFill/>
                </a:ln>
                <a:solidFill>
                  <a:srgbClr val="AD8600"/>
                </a:solidFill>
                <a:effectLst/>
                <a:uLnTx/>
                <a:uFillTx/>
                <a:latin typeface="Arial"/>
                <a:ea typeface="Arial"/>
                <a:cs typeface="Arial"/>
              </a:rPr>
              <a:t>response</a:t>
            </a:r>
            <a:r>
              <a:rPr kumimoji="0" lang="de-DE" sz="1600" b="1" i="0" u="none" strike="noStrike" kern="1200" cap="none" spc="0" normalizeH="0" baseline="0" noProof="0">
                <a:ln>
                  <a:noFill/>
                </a:ln>
                <a:solidFill>
                  <a:srgbClr val="AD8600"/>
                </a:solidFill>
                <a:effectLst/>
                <a:uLnTx/>
                <a:uFillTx/>
                <a:latin typeface="Arial"/>
                <a:ea typeface="Arial"/>
                <a:cs typeface="Arial"/>
              </a:rPr>
              <a:t> </a:t>
            </a:r>
            <a:r>
              <a:rPr kumimoji="0" lang="de-DE" sz="1600" b="1" i="0" u="none" strike="noStrike" kern="1200" cap="none" spc="0" normalizeH="0" baseline="0" noProof="0" err="1">
                <a:ln>
                  <a:noFill/>
                </a:ln>
                <a:solidFill>
                  <a:srgbClr val="AD8600"/>
                </a:solidFill>
                <a:effectLst/>
                <a:uLnTx/>
                <a:uFillTx/>
                <a:latin typeface="Arial"/>
                <a:ea typeface="Arial"/>
                <a:cs typeface="Arial"/>
              </a:rPr>
              <a:t>groupers</a:t>
            </a:r>
            <a:r>
              <a:rPr kumimoji="0" sz="1600" b="1" i="0" u="none" strike="noStrike" kern="1200" cap="none" spc="0" normalizeH="0" baseline="0" noProof="0">
                <a:ln>
                  <a:noFill/>
                </a:ln>
                <a:solidFill>
                  <a:srgbClr val="AD8600"/>
                </a:solidFill>
                <a:effectLst/>
                <a:uLnTx/>
                <a:uFillTx/>
                <a:latin typeface="Arial"/>
                <a:ea typeface="Arial"/>
                <a:cs typeface="Arial"/>
              </a:rPr>
              <a:t>.</a:t>
            </a:r>
          </a:p>
        </p:txBody>
      </p:sp>
      <p:sp>
        <p:nvSpPr>
          <p:cNvPr id="10" name="Rechteck 9">
            <a:extLst>
              <a:ext uri="{FF2B5EF4-FFF2-40B4-BE49-F238E27FC236}">
                <a16:creationId xmlns:a16="http://schemas.microsoft.com/office/drawing/2014/main" id="{077887C0-2725-4C3D-A247-410A7AAEDC61}"/>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975" b="0">
                <a:solidFill>
                  <a:srgbClr val="888888"/>
                </a:solidFill>
                <a:latin typeface="Arial"/>
                <a:ea typeface="Arial"/>
                <a:cs typeface="Arial"/>
              </a:defRPr>
            </a:pPr>
            <a:r>
              <a:rPr kumimoji="0" lang="de-DE" sz="975" b="0" i="0" u="none" strike="noStrike" kern="1200" cap="none" spc="0" normalizeH="0" baseline="0" noProof="0" dirty="0">
                <a:ln>
                  <a:noFill/>
                </a:ln>
                <a:solidFill>
                  <a:srgbClr val="888888"/>
                </a:solidFill>
                <a:effectLst/>
                <a:uLnTx/>
                <a:uFillTx/>
                <a:latin typeface="Arial"/>
                <a:ea typeface="Arial"/>
                <a:cs typeface="Arial"/>
              </a:rPr>
              <a:t>5</a:t>
            </a:r>
            <a:endParaRPr kumimoji="0" sz="975" b="0" i="0" u="none" strike="noStrike" kern="1200" cap="none" spc="0" normalizeH="0" baseline="0" noProof="0" dirty="0">
              <a:ln>
                <a:noFill/>
              </a:ln>
              <a:solidFill>
                <a:srgbClr val="888888"/>
              </a:solidFill>
              <a:effectLst/>
              <a:uLnTx/>
              <a:uFillTx/>
              <a:latin typeface="Arial"/>
              <a:ea typeface="Arial"/>
              <a:cs typeface="Arial"/>
            </a:endParaRPr>
          </a:p>
        </p:txBody>
      </p:sp>
    </p:spTree>
    <p:extLst>
      <p:ext uri="{BB962C8B-B14F-4D97-AF65-F5344CB8AC3E}">
        <p14:creationId xmlns:p14="http://schemas.microsoft.com/office/powerpoint/2010/main" val="4131570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56F47D79-68FC-4EC2-A771-C36A326479CD}"/>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2625" b="0">
                <a:solidFill>
                  <a:srgbClr val="111111"/>
                </a:solidFill>
                <a:latin typeface="Arial"/>
                <a:ea typeface="Arial"/>
                <a:cs typeface="Arial"/>
              </a:defRPr>
            </a:pPr>
            <a:r>
              <a:rPr kumimoji="0" lang="en-US" sz="2800" b="0" i="0" u="none" strike="noStrike" kern="1200" cap="none" spc="0" normalizeH="0" baseline="0" noProof="0">
                <a:ln>
                  <a:noFill/>
                </a:ln>
                <a:solidFill>
                  <a:srgbClr val="111111"/>
                </a:solidFill>
                <a:effectLst/>
                <a:uLnTx/>
                <a:uFillTx/>
                <a:latin typeface="Arial"/>
                <a:ea typeface="Arial"/>
                <a:cs typeface="Arial"/>
              </a:rPr>
              <a:t>WP 1.2: Motivation and Reward Sensitivity</a:t>
            </a:r>
          </a:p>
          <a:p>
            <a:pPr marL="0" marR="0" lvl="0" indent="0" algn="r" defTabSz="914400" rtl="0" eaLnBrk="1" fontAlgn="auto" latinLnBrk="0" hangingPunct="1">
              <a:lnSpc>
                <a:spcPct val="100000"/>
              </a:lnSpc>
              <a:spcBef>
                <a:spcPts val="0"/>
              </a:spcBef>
              <a:spcAft>
                <a:spcPts val="0"/>
              </a:spcAft>
              <a:buClrTx/>
              <a:buSzTx/>
              <a:buFontTx/>
              <a:buNone/>
              <a:tabLst/>
              <a:defRPr sz="2625" b="0">
                <a:solidFill>
                  <a:srgbClr val="111111"/>
                </a:solidFill>
                <a:latin typeface="Arial"/>
                <a:ea typeface="Arial"/>
                <a:cs typeface="Arial"/>
              </a:defRPr>
            </a:pPr>
            <a:endParaRPr kumimoji="0" lang="en-US" sz="2800" b="0" i="0" u="none" strike="noStrike" kern="1200" cap="none" spc="0" normalizeH="0" baseline="0" noProof="0">
              <a:ln>
                <a:noFill/>
              </a:ln>
              <a:solidFill>
                <a:srgbClr val="111111"/>
              </a:solidFill>
              <a:effectLst/>
              <a:uLnTx/>
              <a:uFillTx/>
              <a:latin typeface="Arial"/>
              <a:ea typeface="Arial"/>
              <a:cs typeface="Arial"/>
            </a:endParaRPr>
          </a:p>
        </p:txBody>
      </p:sp>
      <p:sp>
        <p:nvSpPr>
          <p:cNvPr id="3" name="Rechteck 2">
            <a:extLst>
              <a:ext uri="{FF2B5EF4-FFF2-40B4-BE49-F238E27FC236}">
                <a16:creationId xmlns:a16="http://schemas.microsoft.com/office/drawing/2014/main" id="{1E19E568-28E0-4A00-91E2-7D1A688BC426}"/>
              </a:ext>
            </a:extLst>
          </p:cNvPr>
          <p:cNvSpPr>
            <a:spLocks noGrp="1"/>
          </p:cNvSpPr>
          <p:nvPr/>
        </p:nvSpPr>
        <p:spPr>
          <a:xfrm>
            <a:off x="762000" y="1265143"/>
            <a:ext cx="3908612" cy="36195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1">
                <a:solidFill>
                  <a:srgbClr val="AD8600"/>
                </a:solidFill>
                <a:latin typeface="Arial"/>
                <a:ea typeface="Arial"/>
                <a:cs typeface="Arial"/>
              </a:defRPr>
            </a:pPr>
            <a:r>
              <a:rPr kumimoji="0" lang="de-DE" sz="2000" b="1" i="0" u="none" strike="noStrike" kern="1200" cap="none" spc="0" normalizeH="0" baseline="0" noProof="0" dirty="0" err="1">
                <a:ln>
                  <a:noFill/>
                </a:ln>
                <a:solidFill>
                  <a:srgbClr val="AD8600"/>
                </a:solidFill>
                <a:effectLst/>
                <a:uLnTx/>
                <a:uFillTx/>
                <a:latin typeface="Arial"/>
                <a:ea typeface="Arial"/>
                <a:cs typeface="Arial"/>
              </a:rPr>
              <a:t>Exp</a:t>
            </a:r>
            <a:r>
              <a:rPr kumimoji="0" lang="de-DE" sz="2000" b="1" i="0" u="none" strike="noStrike" kern="1200" cap="none" spc="0" normalizeH="0" baseline="0" noProof="0" dirty="0">
                <a:ln>
                  <a:noFill/>
                </a:ln>
                <a:solidFill>
                  <a:srgbClr val="AD8600"/>
                </a:solidFill>
                <a:effectLst/>
                <a:uLnTx/>
                <a:uFillTx/>
                <a:latin typeface="Arial"/>
                <a:ea typeface="Arial"/>
                <a:cs typeface="Arial"/>
              </a:rPr>
              <a:t> 2</a:t>
            </a:r>
            <a:r>
              <a:rPr kumimoji="0" sz="2000" b="1" i="0" u="none" strike="noStrike" kern="1200" cap="none" spc="0" normalizeH="0" baseline="0" noProof="0" dirty="0">
                <a:ln>
                  <a:noFill/>
                </a:ln>
                <a:solidFill>
                  <a:srgbClr val="AD8600"/>
                </a:solidFill>
                <a:effectLst/>
                <a:uLnTx/>
                <a:uFillTx/>
                <a:latin typeface="Arial"/>
                <a:ea typeface="Arial"/>
                <a:cs typeface="Arial"/>
              </a:rPr>
              <a:t>a</a:t>
            </a:r>
            <a:r>
              <a:rPr kumimoji="0" lang="de-DE" sz="2000" b="1" i="0" u="none" strike="noStrike" kern="1200" cap="none" spc="0" normalizeH="0" baseline="0" noProof="0" dirty="0">
                <a:ln>
                  <a:noFill/>
                </a:ln>
                <a:solidFill>
                  <a:srgbClr val="AD8600"/>
                </a:solidFill>
                <a:effectLst/>
                <a:uLnTx/>
                <a:uFillTx/>
                <a:latin typeface="Arial"/>
                <a:ea typeface="Arial"/>
                <a:cs typeface="Arial"/>
              </a:rPr>
              <a:t> </a:t>
            </a:r>
            <a:r>
              <a:rPr kumimoji="0" sz="2000" b="1" i="0" u="none" strike="noStrike" kern="1200" cap="none" spc="0" normalizeH="0" baseline="0" noProof="0" dirty="0">
                <a:ln>
                  <a:noFill/>
                </a:ln>
                <a:solidFill>
                  <a:srgbClr val="AD8600"/>
                </a:solidFill>
                <a:effectLst/>
                <a:uLnTx/>
                <a:uFillTx/>
                <a:latin typeface="Arial"/>
                <a:ea typeface="Arial"/>
                <a:cs typeface="Arial"/>
              </a:rPr>
              <a:t>Global reward prospect</a:t>
            </a:r>
          </a:p>
        </p:txBody>
      </p:sp>
      <p:sp>
        <p:nvSpPr>
          <p:cNvPr id="4" name="Rechteck 3">
            <a:extLst>
              <a:ext uri="{FF2B5EF4-FFF2-40B4-BE49-F238E27FC236}">
                <a16:creationId xmlns:a16="http://schemas.microsoft.com/office/drawing/2014/main" id="{7DF868F4-D8D3-44EC-B295-A16BA8CAC985}"/>
              </a:ext>
            </a:extLst>
          </p:cNvPr>
          <p:cNvSpPr>
            <a:spLocks noGrp="1"/>
          </p:cNvSpPr>
          <p:nvPr/>
        </p:nvSpPr>
        <p:spPr>
          <a:xfrm>
            <a:off x="762000" y="1779493"/>
            <a:ext cx="3762375" cy="13335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High or low reward for either task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111111"/>
              </a:solidFill>
              <a:effectLst/>
              <a:uLnTx/>
              <a:uFillTx/>
              <a:latin typeface="Arial"/>
              <a:ea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Remain low / increase</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Remain high / decrease</a:t>
            </a:r>
          </a:p>
        </p:txBody>
      </p:sp>
      <p:sp>
        <p:nvSpPr>
          <p:cNvPr id="5" name="Rechteck 4">
            <a:extLst>
              <a:ext uri="{FF2B5EF4-FFF2-40B4-BE49-F238E27FC236}">
                <a16:creationId xmlns:a16="http://schemas.microsoft.com/office/drawing/2014/main" id="{6F136E9B-2D9D-4088-88E8-406DE290BDBB}"/>
              </a:ext>
            </a:extLst>
          </p:cNvPr>
          <p:cNvSpPr>
            <a:spLocks noGrp="1"/>
          </p:cNvSpPr>
          <p:nvPr/>
        </p:nvSpPr>
        <p:spPr>
          <a:xfrm>
            <a:off x="4977095" y="1265143"/>
            <a:ext cx="3695700" cy="36195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1">
                <a:solidFill>
                  <a:srgbClr val="AD8600"/>
                </a:solidFill>
                <a:latin typeface="Arial"/>
                <a:ea typeface="Arial"/>
                <a:cs typeface="Arial"/>
              </a:defRPr>
            </a:pPr>
            <a:r>
              <a:rPr kumimoji="0" lang="de-DE" sz="2000" b="1" i="0" u="none" strike="noStrike" kern="1200" cap="none" spc="0" normalizeH="0" baseline="0" noProof="0" dirty="0" err="1">
                <a:ln>
                  <a:noFill/>
                </a:ln>
                <a:solidFill>
                  <a:srgbClr val="AD8600"/>
                </a:solidFill>
                <a:effectLst/>
                <a:uLnTx/>
                <a:uFillTx/>
                <a:latin typeface="Arial"/>
                <a:ea typeface="Arial"/>
                <a:cs typeface="Arial"/>
              </a:rPr>
              <a:t>Exp</a:t>
            </a:r>
            <a:r>
              <a:rPr kumimoji="0" lang="de-DE" sz="2000" b="1" i="0" u="none" strike="noStrike" kern="1200" cap="none" spc="0" normalizeH="0" baseline="0" noProof="0" dirty="0">
                <a:ln>
                  <a:noFill/>
                </a:ln>
                <a:solidFill>
                  <a:srgbClr val="AD8600"/>
                </a:solidFill>
                <a:effectLst/>
                <a:uLnTx/>
                <a:uFillTx/>
                <a:latin typeface="Arial"/>
                <a:ea typeface="Arial"/>
                <a:cs typeface="Arial"/>
              </a:rPr>
              <a:t> </a:t>
            </a:r>
            <a:r>
              <a:rPr kumimoji="0" sz="2000" b="1" i="0" u="none" strike="noStrike" kern="1200" cap="none" spc="0" normalizeH="0" baseline="0" noProof="0" dirty="0">
                <a:ln>
                  <a:noFill/>
                </a:ln>
                <a:solidFill>
                  <a:srgbClr val="AD8600"/>
                </a:solidFill>
                <a:effectLst/>
                <a:uLnTx/>
                <a:uFillTx/>
                <a:latin typeface="Arial"/>
                <a:ea typeface="Arial"/>
                <a:cs typeface="Arial"/>
              </a:rPr>
              <a:t>2b</a:t>
            </a:r>
            <a:r>
              <a:rPr kumimoji="0" lang="de-DE" sz="2000" b="1" i="0" u="none" strike="noStrike" kern="1200" cap="none" spc="0" normalizeH="0" baseline="0" noProof="0" dirty="0">
                <a:ln>
                  <a:noFill/>
                </a:ln>
                <a:solidFill>
                  <a:srgbClr val="AD8600"/>
                </a:solidFill>
                <a:effectLst/>
                <a:uLnTx/>
                <a:uFillTx/>
                <a:latin typeface="Arial"/>
                <a:ea typeface="Arial"/>
                <a:cs typeface="Arial"/>
              </a:rPr>
              <a:t> </a:t>
            </a:r>
            <a:r>
              <a:rPr kumimoji="0" sz="2000" b="1" i="0" u="none" strike="noStrike" kern="1200" cap="none" spc="0" normalizeH="0" baseline="0" noProof="0" dirty="0">
                <a:ln>
                  <a:noFill/>
                </a:ln>
                <a:solidFill>
                  <a:srgbClr val="AD8600"/>
                </a:solidFill>
                <a:effectLst/>
                <a:uLnTx/>
                <a:uFillTx/>
                <a:latin typeface="Arial"/>
                <a:ea typeface="Arial"/>
                <a:cs typeface="Arial"/>
              </a:rPr>
              <a:t>Bonus for switching</a:t>
            </a:r>
          </a:p>
        </p:txBody>
      </p:sp>
      <p:sp>
        <p:nvSpPr>
          <p:cNvPr id="6" name="Rechteck 5">
            <a:extLst>
              <a:ext uri="{FF2B5EF4-FFF2-40B4-BE49-F238E27FC236}">
                <a16:creationId xmlns:a16="http://schemas.microsoft.com/office/drawing/2014/main" id="{0C0ABD67-7526-4F3D-999D-68E07846FB32}"/>
              </a:ext>
            </a:extLst>
          </p:cNvPr>
          <p:cNvSpPr>
            <a:spLocks noGrp="1"/>
          </p:cNvSpPr>
          <p:nvPr/>
        </p:nvSpPr>
        <p:spPr>
          <a:xfrm>
            <a:off x="4977095" y="1779493"/>
            <a:ext cx="3695700" cy="13335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Reward </a:t>
            </a:r>
            <a:r>
              <a:rPr kumimoji="0" lang="de-DE" sz="1800" b="0" i="0" u="none" strike="noStrike" kern="1200" cap="none" spc="0" normalizeH="0" baseline="0" noProof="0" dirty="0" err="1">
                <a:ln>
                  <a:noFill/>
                </a:ln>
                <a:solidFill>
                  <a:srgbClr val="111111"/>
                </a:solidFill>
                <a:effectLst/>
                <a:uLnTx/>
                <a:uFillTx/>
                <a:latin typeface="Arial"/>
                <a:ea typeface="Arial"/>
                <a:cs typeface="Arial"/>
              </a:rPr>
              <a:t>for</a:t>
            </a:r>
            <a:r>
              <a:rPr kumimoji="0" sz="1800" b="0" i="0" u="none" strike="noStrike" kern="1200" cap="none" spc="0" normalizeH="0" baseline="0" noProof="0" dirty="0">
                <a:ln>
                  <a:noFill/>
                </a:ln>
                <a:solidFill>
                  <a:srgbClr val="111111"/>
                </a:solidFill>
                <a:effectLst/>
                <a:uLnTx/>
                <a:uFillTx/>
                <a:latin typeface="Arial"/>
                <a:ea typeface="Arial"/>
                <a:cs typeface="Arial"/>
              </a:rPr>
              <a:t> the alternative task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111111"/>
              </a:solidFill>
              <a:effectLst/>
              <a:uLnTx/>
              <a:uFillTx/>
              <a:latin typeface="Arial"/>
              <a:ea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Bonus versus no bonus</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for an explicit task switch</a:t>
            </a:r>
          </a:p>
        </p:txBody>
      </p:sp>
      <p:sp>
        <p:nvSpPr>
          <p:cNvPr id="10" name="Rechteck 9">
            <a:extLst>
              <a:ext uri="{FF2B5EF4-FFF2-40B4-BE49-F238E27FC236}">
                <a16:creationId xmlns:a16="http://schemas.microsoft.com/office/drawing/2014/main" id="{67F5E47C-329B-4C9E-9C5E-83D0B78447BB}"/>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975" b="0">
                <a:solidFill>
                  <a:srgbClr val="888888"/>
                </a:solidFill>
                <a:latin typeface="Arial"/>
                <a:ea typeface="Arial"/>
                <a:cs typeface="Arial"/>
              </a:defRPr>
            </a:pPr>
            <a:r>
              <a:rPr kumimoji="0" lang="de-DE" sz="975" b="0" i="0" u="none" strike="noStrike" kern="1200" cap="none" spc="0" normalizeH="0" baseline="0" noProof="0" dirty="0">
                <a:ln>
                  <a:noFill/>
                </a:ln>
                <a:solidFill>
                  <a:srgbClr val="888888"/>
                </a:solidFill>
                <a:effectLst/>
                <a:uLnTx/>
                <a:uFillTx/>
                <a:latin typeface="Arial"/>
                <a:ea typeface="Arial"/>
                <a:cs typeface="Arial"/>
              </a:rPr>
              <a:t>6</a:t>
            </a:r>
            <a:endParaRPr kumimoji="0" sz="975" b="0" i="0" u="none" strike="noStrike" kern="1200" cap="none" spc="0" normalizeH="0" baseline="0" noProof="0" dirty="0">
              <a:ln>
                <a:noFill/>
              </a:ln>
              <a:solidFill>
                <a:srgbClr val="888888"/>
              </a:solidFill>
              <a:effectLst/>
              <a:uLnTx/>
              <a:uFillTx/>
              <a:latin typeface="Arial"/>
              <a:ea typeface="Arial"/>
              <a:cs typeface="Arial"/>
            </a:endParaRPr>
          </a:p>
        </p:txBody>
      </p:sp>
      <p:sp>
        <p:nvSpPr>
          <p:cNvPr id="12" name="Rechteck 11">
            <a:extLst>
              <a:ext uri="{FF2B5EF4-FFF2-40B4-BE49-F238E27FC236}">
                <a16:creationId xmlns:a16="http://schemas.microsoft.com/office/drawing/2014/main" id="{75C3DB66-8EA1-4A15-98DD-C3E76E471088}"/>
              </a:ext>
            </a:extLst>
          </p:cNvPr>
          <p:cNvSpPr>
            <a:spLocks noGrp="1"/>
          </p:cNvSpPr>
          <p:nvPr/>
        </p:nvSpPr>
        <p:spPr>
          <a:xfrm>
            <a:off x="714372" y="3257549"/>
            <a:ext cx="8077201" cy="508049"/>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11111"/>
                </a:solidFill>
                <a:latin typeface="Arial"/>
                <a:ea typeface="Arial"/>
                <a:cs typeface="Arial"/>
              </a:defRPr>
            </a:pPr>
            <a:r>
              <a:rPr kumimoji="0" sz="1600" b="1" i="0" u="none" strike="noStrike" kern="1200" cap="none" spc="0" normalizeH="0" baseline="0" noProof="0" dirty="0">
                <a:ln>
                  <a:noFill/>
                </a:ln>
                <a:solidFill>
                  <a:srgbClr val="111111"/>
                </a:solidFill>
                <a:effectLst/>
                <a:uLnTx/>
                <a:uFillTx/>
                <a:latin typeface="Arial"/>
                <a:cs typeface="Arial"/>
              </a:rPr>
              <a:t>EEG during FCDT and a separate </a:t>
            </a:r>
            <a:r>
              <a:rPr kumimoji="0" lang="en-US" sz="1600" b="1" i="0" u="none" strike="noStrike" kern="1200" cap="none" spc="0" normalizeH="0" baseline="0" noProof="0" dirty="0">
                <a:ln>
                  <a:noFill/>
                </a:ln>
                <a:solidFill>
                  <a:srgbClr val="111111"/>
                </a:solidFill>
                <a:effectLst/>
                <a:uLnTx/>
                <a:uFillTx/>
                <a:latin typeface="Arial"/>
                <a:cs typeface="Arial"/>
              </a:rPr>
              <a:t>probabilistic learning task</a:t>
            </a:r>
            <a:r>
              <a:rPr kumimoji="0" lang="de-DE" sz="1600" b="1" i="0" u="none" strike="noStrike" kern="1200" cap="none" spc="0" normalizeH="0" baseline="0" noProof="0" dirty="0">
                <a:ln>
                  <a:noFill/>
                </a:ln>
                <a:solidFill>
                  <a:srgbClr val="111111"/>
                </a:solidFill>
                <a:effectLst/>
                <a:uLnTx/>
                <a:uFillTx/>
                <a:latin typeface="Arial"/>
                <a:cs typeface="Arial"/>
              </a:rPr>
              <a:t>; </a:t>
            </a:r>
            <a:r>
              <a:rPr kumimoji="0" lang="de-DE" sz="1600" b="0" i="0" u="none" strike="noStrike" kern="1200" cap="none" spc="0" normalizeH="0" baseline="0" noProof="0" dirty="0">
                <a:ln>
                  <a:noFill/>
                </a:ln>
                <a:solidFill>
                  <a:srgbClr val="111111"/>
                </a:solidFill>
                <a:effectLst/>
                <a:uLnTx/>
                <a:uFillTx/>
                <a:latin typeface="Arial"/>
                <a:cs typeface="Arial"/>
              </a:rPr>
              <a:t>N = 90 per </a:t>
            </a:r>
            <a:r>
              <a:rPr kumimoji="0" lang="de-DE" sz="1600" b="0" i="0" u="none" strike="noStrike" kern="1200" cap="none" spc="0" normalizeH="0" baseline="0" noProof="0" dirty="0" err="1">
                <a:ln>
                  <a:noFill/>
                </a:ln>
                <a:solidFill>
                  <a:srgbClr val="111111"/>
                </a:solidFill>
                <a:effectLst/>
                <a:uLnTx/>
                <a:uFillTx/>
                <a:latin typeface="Arial"/>
                <a:cs typeface="Arial"/>
              </a:rPr>
              <a:t>experiment</a:t>
            </a:r>
            <a:endParaRPr kumimoji="0" lang="de-DE" sz="1600" b="0" i="0" u="none" strike="noStrike" kern="1200" cap="none" spc="0" normalizeH="0" baseline="0" noProof="0" dirty="0">
              <a:ln>
                <a:noFill/>
              </a:ln>
              <a:solidFill>
                <a:srgbClr val="111111"/>
              </a:solidFill>
              <a:effectLst/>
              <a:uLnTx/>
              <a:uFillTx/>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11111"/>
                </a:solidFill>
                <a:latin typeface="Arial"/>
                <a:ea typeface="Arial"/>
                <a:cs typeface="Arial"/>
              </a:defRPr>
            </a:pPr>
            <a:r>
              <a:rPr kumimoji="0" lang="en-US" sz="1600" b="0" i="0" u="sng" strike="noStrike" kern="1200" cap="none" spc="0" normalizeH="0" baseline="0" noProof="0" dirty="0">
                <a:ln>
                  <a:noFill/>
                </a:ln>
                <a:solidFill>
                  <a:srgbClr val="111111"/>
                </a:solidFill>
                <a:effectLst/>
                <a:uLnTx/>
                <a:uFillTx/>
                <a:latin typeface="Arial"/>
                <a:ea typeface="Arial"/>
                <a:cs typeface="Arial"/>
              </a:rPr>
              <a:t>Key variables:</a:t>
            </a:r>
            <a:r>
              <a:rPr kumimoji="0" lang="en-US" sz="1600" b="0" i="0" u="none" strike="noStrike" kern="1200" cap="none" spc="0" normalizeH="0" baseline="0" noProof="0" dirty="0">
                <a:ln>
                  <a:noFill/>
                </a:ln>
                <a:solidFill>
                  <a:srgbClr val="111111"/>
                </a:solidFill>
                <a:effectLst/>
                <a:uLnTx/>
                <a:uFillTx/>
                <a:latin typeface="Arial"/>
                <a:ea typeface="Arial"/>
                <a:cs typeface="Arial"/>
              </a:rPr>
              <a:t> response times, error rates, switch rate, feedback-related negativity</a:t>
            </a:r>
            <a:endParaRPr kumimoji="0" lang="de-DE" sz="1600" b="0" i="0" u="none" strike="noStrike" kern="1200" cap="none" spc="0" normalizeH="0" baseline="0" noProof="0" dirty="0">
              <a:ln>
                <a:noFill/>
              </a:ln>
              <a:solidFill>
                <a:srgbClr val="111111"/>
              </a:solidFill>
              <a:effectLst/>
              <a:uLnTx/>
              <a:uFillTx/>
              <a:latin typeface="Arial"/>
              <a:cs typeface="Arial"/>
            </a:endParaRPr>
          </a:p>
        </p:txBody>
      </p:sp>
      <p:sp>
        <p:nvSpPr>
          <p:cNvPr id="14" name="Rechteck 13">
            <a:extLst>
              <a:ext uri="{FF2B5EF4-FFF2-40B4-BE49-F238E27FC236}">
                <a16:creationId xmlns:a16="http://schemas.microsoft.com/office/drawing/2014/main" id="{5DBC469F-6BA2-4AE8-A11A-724CAECDF32D}"/>
              </a:ext>
            </a:extLst>
          </p:cNvPr>
          <p:cNvSpPr>
            <a:spLocks noGrp="1"/>
          </p:cNvSpPr>
          <p:nvPr/>
        </p:nvSpPr>
        <p:spPr>
          <a:xfrm>
            <a:off x="714372" y="3989014"/>
            <a:ext cx="8169855" cy="582986"/>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75" b="0">
                <a:solidFill>
                  <a:srgbClr val="AD8600"/>
                </a:solidFill>
                <a:latin typeface="Arial"/>
                <a:ea typeface="Arial"/>
                <a:cs typeface="Arial"/>
              </a:defRPr>
            </a:pPr>
            <a:r>
              <a:rPr kumimoji="0" lang="en-US" sz="1600" b="1" i="0" u="none" strike="noStrike" kern="1200" cap="none" spc="0" normalizeH="0" baseline="0" noProof="0" dirty="0">
                <a:ln>
                  <a:noFill/>
                </a:ln>
                <a:solidFill>
                  <a:srgbClr val="AD8600"/>
                </a:solidFill>
                <a:effectLst/>
                <a:uLnTx/>
                <a:uFillTx/>
                <a:latin typeface="Arial"/>
                <a:ea typeface="Arial"/>
                <a:cs typeface="Arial"/>
              </a:rPr>
              <a:t>Prediction: higher reward sensitivity (</a:t>
            </a:r>
            <a:r>
              <a:rPr kumimoji="0" lang="en-US" sz="1600" b="1" i="0" u="none" strike="noStrike" kern="1200" cap="none" spc="0" normalizeH="0" baseline="0" noProof="0" dirty="0" err="1">
                <a:ln>
                  <a:noFill/>
                </a:ln>
                <a:solidFill>
                  <a:srgbClr val="AD8600"/>
                </a:solidFill>
                <a:effectLst/>
                <a:uLnTx/>
                <a:uFillTx/>
                <a:latin typeface="Arial"/>
                <a:ea typeface="Arial"/>
                <a:cs typeface="Arial"/>
              </a:rPr>
              <a:t>RewP</a:t>
            </a:r>
            <a:r>
              <a:rPr kumimoji="0" lang="en-US" sz="1600" b="1" i="0" u="none" strike="noStrike" kern="1200" cap="none" spc="0" normalizeH="0" baseline="0" noProof="0" dirty="0">
                <a:ln>
                  <a:noFill/>
                </a:ln>
                <a:solidFill>
                  <a:srgbClr val="AD8600"/>
                </a:solidFill>
                <a:effectLst/>
                <a:uLnTx/>
                <a:uFillTx/>
                <a:latin typeface="Arial"/>
                <a:ea typeface="Arial"/>
                <a:cs typeface="Arial"/>
              </a:rPr>
              <a:t>) and stronger modulation of task choices by incentives in switchers and response groupers compared with blockers.</a:t>
            </a:r>
          </a:p>
        </p:txBody>
      </p:sp>
    </p:spTree>
    <p:extLst>
      <p:ext uri="{BB962C8B-B14F-4D97-AF65-F5344CB8AC3E}">
        <p14:creationId xmlns:p14="http://schemas.microsoft.com/office/powerpoint/2010/main" val="1604656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74874484-16AA-4317-A86A-F3EC72D42666}"/>
              </a:ext>
            </a:extLst>
          </p:cNvPr>
          <p:cNvSpPr>
            <a:spLocks noGrp="1"/>
          </p:cNvSpPr>
          <p:nvPr/>
        </p:nvSpPr>
        <p:spPr>
          <a:xfrm>
            <a:off x="714372" y="3988693"/>
            <a:ext cx="7858125" cy="582986"/>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75" b="0">
                <a:solidFill>
                  <a:srgbClr val="AD8600"/>
                </a:solidFill>
                <a:latin typeface="Arial"/>
                <a:ea typeface="Arial"/>
                <a:cs typeface="Arial"/>
              </a:defRPr>
            </a:pPr>
            <a:r>
              <a:rPr kumimoji="0" lang="en-US" sz="1600" b="1" i="0" u="none" strike="noStrike" kern="1200" cap="none" spc="0" normalizeH="0" baseline="0" noProof="0" dirty="0">
                <a:ln>
                  <a:noFill/>
                </a:ln>
                <a:solidFill>
                  <a:srgbClr val="AD8600"/>
                </a:solidFill>
                <a:effectLst/>
                <a:uLnTx/>
                <a:uFillTx/>
                <a:latin typeface="Arial"/>
                <a:ea typeface="Arial"/>
                <a:cs typeface="Arial"/>
              </a:rPr>
              <a:t>Prediction: higher switch rate is associated with higher need for cognition, persistence, </a:t>
            </a:r>
            <a:r>
              <a:rPr kumimoji="0" lang="en-US" sz="1600" b="1" i="0" u="none" strike="noStrike" kern="1200" cap="none" spc="0" normalizeH="0" baseline="0" noProof="0" dirty="0" err="1">
                <a:ln>
                  <a:noFill/>
                </a:ln>
                <a:solidFill>
                  <a:srgbClr val="AD8600"/>
                </a:solidFill>
                <a:effectLst/>
                <a:uLnTx/>
                <a:uFillTx/>
                <a:latin typeface="Arial"/>
                <a:ea typeface="Arial"/>
                <a:cs typeface="Arial"/>
              </a:rPr>
              <a:t>polychronicity</a:t>
            </a:r>
            <a:r>
              <a:rPr kumimoji="0" lang="en-US" sz="1600" b="1" i="0" u="none" strike="noStrike" kern="1200" cap="none" spc="0" normalizeH="0" baseline="0" noProof="0" dirty="0">
                <a:ln>
                  <a:noFill/>
                </a:ln>
                <a:solidFill>
                  <a:srgbClr val="AD8600"/>
                </a:solidFill>
                <a:effectLst/>
                <a:uLnTx/>
                <a:uFillTx/>
                <a:latin typeface="Arial"/>
                <a:ea typeface="Arial"/>
                <a:cs typeface="Arial"/>
              </a:rPr>
              <a:t>, and reward sensitivity.</a:t>
            </a:r>
          </a:p>
        </p:txBody>
      </p:sp>
      <p:sp>
        <p:nvSpPr>
          <p:cNvPr id="12" name="Rechteck 11">
            <a:extLst>
              <a:ext uri="{FF2B5EF4-FFF2-40B4-BE49-F238E27FC236}">
                <a16:creationId xmlns:a16="http://schemas.microsoft.com/office/drawing/2014/main" id="{39684287-DB2C-49DF-B87B-C72BC602DA82}"/>
              </a:ext>
            </a:extLst>
          </p:cNvPr>
          <p:cNvSpPr>
            <a:spLocks noGrp="1"/>
          </p:cNvSpPr>
          <p:nvPr/>
        </p:nvSpPr>
        <p:spPr>
          <a:xfrm>
            <a:off x="714372" y="3257549"/>
            <a:ext cx="8077201" cy="508049"/>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50" b="0">
                <a:solidFill>
                  <a:srgbClr val="111111"/>
                </a:solidFill>
                <a:latin typeface="Arial"/>
                <a:ea typeface="Arial"/>
                <a:cs typeface="Arial"/>
              </a:defRPr>
            </a:pPr>
            <a:r>
              <a:rPr kumimoji="0" lang="en-US" sz="1600" b="1" i="0" u="none" strike="noStrike" kern="1200" cap="none" spc="0" normalizeH="0" baseline="0" noProof="0" dirty="0">
                <a:ln>
                  <a:noFill/>
                </a:ln>
                <a:solidFill>
                  <a:srgbClr val="111111"/>
                </a:solidFill>
                <a:effectLst/>
                <a:uLnTx/>
                <a:uFillTx/>
                <a:latin typeface="Arial"/>
                <a:cs typeface="Arial"/>
              </a:rPr>
              <a:t>Shared test battery across the whole experimental </a:t>
            </a:r>
            <a:r>
              <a:rPr kumimoji="0" lang="en-US" sz="1600" b="1" i="0" u="none" strike="noStrike" kern="1200" cap="none" spc="0" normalizeH="0" baseline="0" noProof="0" dirty="0" err="1">
                <a:ln>
                  <a:noFill/>
                </a:ln>
                <a:solidFill>
                  <a:srgbClr val="111111"/>
                </a:solidFill>
                <a:effectLst/>
                <a:uLnTx/>
                <a:uFillTx/>
                <a:latin typeface="Arial"/>
                <a:cs typeface="Arial"/>
              </a:rPr>
              <a:t>programme</a:t>
            </a:r>
            <a:r>
              <a:rPr kumimoji="0" lang="de-DE" sz="1600" b="1" i="0" u="none" strike="noStrike" kern="1200" cap="none" spc="0" normalizeH="0" baseline="0" noProof="0" dirty="0">
                <a:ln>
                  <a:noFill/>
                </a:ln>
                <a:solidFill>
                  <a:srgbClr val="111111"/>
                </a:solidFill>
                <a:effectLst/>
                <a:uLnTx/>
                <a:uFillTx/>
                <a:latin typeface="Arial"/>
                <a:cs typeface="Arial"/>
              </a:rPr>
              <a:t>: </a:t>
            </a:r>
            <a:r>
              <a:rPr kumimoji="0" lang="en-US" sz="1600" b="0" i="0" u="none" strike="noStrike" kern="1200" cap="none" spc="0" normalizeH="0" baseline="0" noProof="0" dirty="0">
                <a:ln>
                  <a:noFill/>
                </a:ln>
                <a:solidFill>
                  <a:srgbClr val="111111"/>
                </a:solidFill>
                <a:effectLst/>
                <a:uLnTx/>
                <a:uFillTx/>
                <a:latin typeface="Arial"/>
                <a:ea typeface="Arial"/>
                <a:cs typeface="Arial"/>
              </a:rPr>
              <a:t>4 × 90 participants from 1.1 &amp; 1.2 + 50 from the joint study </a:t>
            </a:r>
            <a:r>
              <a:rPr kumimoji="0" lang="en-US" sz="1600" b="0" i="0" u="none" strike="noStrike" kern="1200" cap="none" spc="0" normalizeH="0" baseline="0" noProof="0" dirty="0">
                <a:ln>
                  <a:noFill/>
                </a:ln>
                <a:solidFill>
                  <a:srgbClr val="111111"/>
                </a:solidFill>
                <a:effectLst/>
                <a:uLnTx/>
                <a:uFillTx/>
                <a:latin typeface="Arial"/>
                <a:ea typeface="Arial"/>
                <a:cs typeface="Arial"/>
                <a:sym typeface="Wingdings" panose="05000000000000000000" pitchFamily="2" charset="2"/>
              </a:rPr>
              <a:t></a:t>
            </a:r>
            <a:r>
              <a:rPr kumimoji="0" lang="en-US" sz="1600" b="0" i="0" u="none" strike="noStrike" kern="1200" cap="none" spc="0" normalizeH="0" baseline="0" noProof="0" dirty="0">
                <a:ln>
                  <a:noFill/>
                </a:ln>
                <a:solidFill>
                  <a:srgbClr val="111111"/>
                </a:solidFill>
                <a:effectLst/>
                <a:uLnTx/>
                <a:uFillTx/>
                <a:latin typeface="Arial"/>
                <a:ea typeface="Arial"/>
                <a:cs typeface="Arial"/>
              </a:rPr>
              <a:t> Planned </a:t>
            </a:r>
            <a:r>
              <a:rPr kumimoji="0" lang="en-US" sz="1600" b="1" i="0" u="none" strike="noStrike" kern="1200" cap="none" spc="0" normalizeH="0" baseline="0" noProof="0" dirty="0">
                <a:ln>
                  <a:noFill/>
                </a:ln>
                <a:solidFill>
                  <a:srgbClr val="111111"/>
                </a:solidFill>
                <a:effectLst/>
                <a:uLnTx/>
                <a:uFillTx/>
                <a:latin typeface="Arial"/>
                <a:ea typeface="Arial"/>
                <a:cs typeface="Arial"/>
              </a:rPr>
              <a:t>N = 410</a:t>
            </a:r>
          </a:p>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11111"/>
                </a:solidFill>
                <a:latin typeface="Arial"/>
                <a:ea typeface="Arial"/>
                <a:cs typeface="Arial"/>
              </a:defRPr>
            </a:pPr>
            <a:endParaRPr kumimoji="0" lang="de-DE" sz="1600" b="0" i="0" u="none" strike="noStrike" kern="1200" cap="none" spc="0" normalizeH="0" baseline="0" noProof="0" dirty="0">
              <a:ln>
                <a:noFill/>
              </a:ln>
              <a:solidFill>
                <a:srgbClr val="111111"/>
              </a:solidFill>
              <a:effectLst/>
              <a:uLnTx/>
              <a:uFillTx/>
              <a:latin typeface="Arial"/>
              <a:cs typeface="Arial"/>
            </a:endParaRPr>
          </a:p>
        </p:txBody>
      </p:sp>
      <p:sp>
        <p:nvSpPr>
          <p:cNvPr id="6" name="Rechteck 5">
            <a:extLst>
              <a:ext uri="{FF2B5EF4-FFF2-40B4-BE49-F238E27FC236}">
                <a16:creationId xmlns:a16="http://schemas.microsoft.com/office/drawing/2014/main" id="{4020202E-A22E-4C77-8ECB-E0FD2ECBEF73}"/>
              </a:ext>
            </a:extLst>
          </p:cNvPr>
          <p:cNvSpPr>
            <a:spLocks noGrp="1"/>
          </p:cNvSpPr>
          <p:nvPr/>
        </p:nvSpPr>
        <p:spPr>
          <a:xfrm>
            <a:off x="4977095" y="1781771"/>
            <a:ext cx="3714750" cy="1571625"/>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Big Five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111111"/>
              </a:solidFill>
              <a:effectLst/>
              <a:uLnTx/>
              <a:uFillTx/>
              <a:latin typeface="Arial"/>
              <a:ea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800" b="0" i="0" u="none" strike="noStrike" kern="1200" cap="none" spc="0" normalizeH="0" baseline="0" noProof="0" dirty="0">
                <a:ln>
                  <a:noFill/>
                </a:ln>
                <a:solidFill>
                  <a:srgbClr val="111111"/>
                </a:solidFill>
                <a:effectLst/>
                <a:uLnTx/>
                <a:uFillTx/>
                <a:latin typeface="Arial"/>
                <a:ea typeface="Arial"/>
                <a:cs typeface="Arial"/>
              </a:rPr>
              <a:t>Working memory capacity</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dirty="0">
                <a:ln>
                  <a:noFill/>
                </a:ln>
                <a:solidFill>
                  <a:srgbClr val="111111"/>
                </a:solidFill>
                <a:effectLst/>
                <a:uLnTx/>
                <a:uFillTx/>
                <a:latin typeface="Arial"/>
                <a:ea typeface="Arial"/>
                <a:cs typeface="Arial"/>
              </a:rPr>
              <a:t>Operation Span</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sz="1600" b="0" i="0" u="none" strike="noStrike" kern="1200" cap="none" spc="0" normalizeH="0" baseline="0" noProof="0" dirty="0">
                <a:ln>
                  <a:noFill/>
                </a:ln>
                <a:solidFill>
                  <a:srgbClr val="111111"/>
                </a:solidFill>
                <a:effectLst/>
                <a:uLnTx/>
                <a:uFillTx/>
                <a:latin typeface="Arial"/>
                <a:ea typeface="Arial"/>
                <a:cs typeface="Arial"/>
              </a:rPr>
              <a:t>Symmetry Span</a:t>
            </a:r>
          </a:p>
        </p:txBody>
      </p:sp>
      <p:sp>
        <p:nvSpPr>
          <p:cNvPr id="5" name="Rechteck 4">
            <a:extLst>
              <a:ext uri="{FF2B5EF4-FFF2-40B4-BE49-F238E27FC236}">
                <a16:creationId xmlns:a16="http://schemas.microsoft.com/office/drawing/2014/main" id="{49080474-D61B-4780-BBD5-781E4C2236EA}"/>
              </a:ext>
            </a:extLst>
          </p:cNvPr>
          <p:cNvSpPr>
            <a:spLocks noGrp="1"/>
          </p:cNvSpPr>
          <p:nvPr/>
        </p:nvSpPr>
        <p:spPr>
          <a:xfrm>
            <a:off x="4977095" y="1267645"/>
            <a:ext cx="3714750" cy="3810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025" b="1">
                <a:solidFill>
                  <a:srgbClr val="AD8600"/>
                </a:solidFill>
                <a:latin typeface="Arial"/>
                <a:ea typeface="Arial"/>
                <a:cs typeface="Arial"/>
              </a:defRPr>
            </a:pPr>
            <a:r>
              <a:rPr kumimoji="0" sz="2000" b="1" i="0" u="none" strike="noStrike" kern="1200" cap="none" spc="0" normalizeH="0" baseline="0" noProof="0" dirty="0">
                <a:ln>
                  <a:noFill/>
                </a:ln>
                <a:solidFill>
                  <a:srgbClr val="AD8600"/>
                </a:solidFill>
                <a:effectLst/>
                <a:uLnTx/>
                <a:uFillTx/>
                <a:latin typeface="Arial"/>
                <a:ea typeface="Arial"/>
                <a:cs typeface="Arial"/>
              </a:rPr>
              <a:t>Personality and capacity</a:t>
            </a:r>
          </a:p>
        </p:txBody>
      </p:sp>
      <p:sp>
        <p:nvSpPr>
          <p:cNvPr id="3" name="Rechteck 2">
            <a:extLst>
              <a:ext uri="{FF2B5EF4-FFF2-40B4-BE49-F238E27FC236}">
                <a16:creationId xmlns:a16="http://schemas.microsoft.com/office/drawing/2014/main" id="{A0A88D8E-0685-433E-B6E2-A8C9EAB2AFE3}"/>
              </a:ext>
            </a:extLst>
          </p:cNvPr>
          <p:cNvSpPr>
            <a:spLocks noGrp="1"/>
          </p:cNvSpPr>
          <p:nvPr/>
        </p:nvSpPr>
        <p:spPr>
          <a:xfrm>
            <a:off x="752475" y="1279741"/>
            <a:ext cx="3905250" cy="3810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025" b="1">
                <a:solidFill>
                  <a:srgbClr val="AD8600"/>
                </a:solidFill>
                <a:latin typeface="Arial"/>
                <a:ea typeface="Arial"/>
                <a:cs typeface="Arial"/>
              </a:defRPr>
            </a:pPr>
            <a:r>
              <a:rPr kumimoji="0" sz="2000" b="1" i="0" u="none" strike="noStrike" kern="1200" cap="none" spc="0" normalizeH="0" baseline="0" noProof="0" dirty="0">
                <a:ln>
                  <a:noFill/>
                </a:ln>
                <a:solidFill>
                  <a:srgbClr val="AD8600"/>
                </a:solidFill>
                <a:effectLst/>
                <a:uLnTx/>
                <a:uFillTx/>
                <a:latin typeface="Arial"/>
                <a:ea typeface="Arial"/>
                <a:cs typeface="Arial"/>
              </a:rPr>
              <a:t>Motivation and preferences</a:t>
            </a:r>
          </a:p>
        </p:txBody>
      </p:sp>
      <p:sp>
        <p:nvSpPr>
          <p:cNvPr id="11" name="Rechteck 10">
            <a:extLst>
              <a:ext uri="{FF2B5EF4-FFF2-40B4-BE49-F238E27FC236}">
                <a16:creationId xmlns:a16="http://schemas.microsoft.com/office/drawing/2014/main" id="{1B4B2625-B8F2-43BC-9995-4BEFF7E6D510}"/>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2625" b="0">
                <a:solidFill>
                  <a:srgbClr val="111111"/>
                </a:solidFill>
                <a:latin typeface="Arial"/>
                <a:ea typeface="Arial"/>
                <a:cs typeface="Arial"/>
              </a:defRPr>
            </a:pPr>
            <a:r>
              <a:rPr kumimoji="0" lang="en-US" sz="2600" b="0" i="0" u="none" strike="noStrike" kern="1200" cap="none" spc="0" normalizeH="0" baseline="0" noProof="0">
                <a:ln>
                  <a:noFill/>
                </a:ln>
                <a:solidFill>
                  <a:srgbClr val="111111"/>
                </a:solidFill>
                <a:effectLst/>
                <a:uLnTx/>
                <a:uFillTx/>
                <a:latin typeface="Arial"/>
                <a:ea typeface="Arial"/>
                <a:cs typeface="Arial"/>
              </a:rPr>
              <a:t>WP 1.3: </a:t>
            </a:r>
            <a:r>
              <a:rPr kumimoji="0" sz="2600" b="0" i="0" u="none" strike="noStrike" kern="1200" cap="none" spc="0" normalizeH="0" baseline="0" noProof="0">
                <a:ln>
                  <a:noFill/>
                </a:ln>
                <a:solidFill>
                  <a:srgbClr val="111111"/>
                </a:solidFill>
                <a:effectLst/>
                <a:uLnTx/>
                <a:uFillTx/>
                <a:latin typeface="Arial"/>
                <a:ea typeface="Arial"/>
                <a:cs typeface="Arial"/>
              </a:rPr>
              <a:t>Personality</a:t>
            </a:r>
            <a:r>
              <a:rPr kumimoji="0" lang="de-DE" sz="2600" b="0" i="0" u="none" strike="noStrike" kern="1200" cap="none" spc="0" normalizeH="0" baseline="0" noProof="0">
                <a:ln>
                  <a:noFill/>
                </a:ln>
                <a:solidFill>
                  <a:srgbClr val="111111"/>
                </a:solidFill>
                <a:effectLst/>
                <a:uLnTx/>
                <a:uFillTx/>
                <a:latin typeface="Arial"/>
                <a:ea typeface="Arial"/>
                <a:cs typeface="Arial"/>
              </a:rPr>
              <a:t>, Preference, </a:t>
            </a:r>
            <a:r>
              <a:rPr kumimoji="0" sz="2600" b="0" i="0" u="none" strike="noStrike" kern="1200" cap="none" spc="0" normalizeH="0" baseline="0" noProof="0">
                <a:ln>
                  <a:noFill/>
                </a:ln>
                <a:solidFill>
                  <a:srgbClr val="111111"/>
                </a:solidFill>
                <a:effectLst/>
                <a:uLnTx/>
                <a:uFillTx/>
                <a:latin typeface="Arial"/>
                <a:ea typeface="Arial"/>
                <a:cs typeface="Arial"/>
              </a:rPr>
              <a:t>and </a:t>
            </a:r>
            <a:r>
              <a:rPr kumimoji="0" lang="de-DE" sz="2600" b="0" i="0" u="none" strike="noStrike" kern="1200" cap="none" spc="0" normalizeH="0" baseline="0" noProof="0">
                <a:ln>
                  <a:noFill/>
                </a:ln>
                <a:solidFill>
                  <a:srgbClr val="111111"/>
                </a:solidFill>
                <a:effectLst/>
                <a:uLnTx/>
                <a:uFillTx/>
                <a:latin typeface="Arial"/>
                <a:ea typeface="Arial"/>
                <a:cs typeface="Arial"/>
              </a:rPr>
              <a:t>C</a:t>
            </a:r>
            <a:r>
              <a:rPr kumimoji="0" sz="2600" b="0" i="0" u="none" strike="noStrike" kern="1200" cap="none" spc="0" normalizeH="0" baseline="0" noProof="0" err="1">
                <a:ln>
                  <a:noFill/>
                </a:ln>
                <a:solidFill>
                  <a:srgbClr val="111111"/>
                </a:solidFill>
                <a:effectLst/>
                <a:uLnTx/>
                <a:uFillTx/>
                <a:latin typeface="Arial"/>
                <a:ea typeface="Arial"/>
                <a:cs typeface="Arial"/>
              </a:rPr>
              <a:t>ognitive</a:t>
            </a:r>
            <a:r>
              <a:rPr kumimoji="0" sz="2600" b="0" i="0" u="none" strike="noStrike" kern="1200" cap="none" spc="0" normalizeH="0" baseline="0" noProof="0">
                <a:ln>
                  <a:noFill/>
                </a:ln>
                <a:solidFill>
                  <a:srgbClr val="111111"/>
                </a:solidFill>
                <a:effectLst/>
                <a:uLnTx/>
                <a:uFillTx/>
                <a:latin typeface="Arial"/>
                <a:ea typeface="Arial"/>
                <a:cs typeface="Arial"/>
              </a:rPr>
              <a:t> </a:t>
            </a:r>
            <a:r>
              <a:rPr kumimoji="0" lang="de-DE" sz="2600" b="0" i="0" u="none" strike="noStrike" kern="1200" cap="none" spc="0" normalizeH="0" baseline="0" noProof="0">
                <a:ln>
                  <a:noFill/>
                </a:ln>
                <a:solidFill>
                  <a:srgbClr val="111111"/>
                </a:solidFill>
                <a:effectLst/>
                <a:uLnTx/>
                <a:uFillTx/>
                <a:latin typeface="Arial"/>
                <a:ea typeface="Arial"/>
                <a:cs typeface="Arial"/>
              </a:rPr>
              <a:t>A</a:t>
            </a:r>
            <a:r>
              <a:rPr kumimoji="0" sz="2600" b="0" i="0" u="none" strike="noStrike" kern="1200" cap="none" spc="0" normalizeH="0" baseline="0" noProof="0" err="1">
                <a:ln>
                  <a:noFill/>
                </a:ln>
                <a:solidFill>
                  <a:srgbClr val="111111"/>
                </a:solidFill>
                <a:effectLst/>
                <a:uLnTx/>
                <a:uFillTx/>
                <a:latin typeface="Arial"/>
                <a:ea typeface="Arial"/>
                <a:cs typeface="Arial"/>
              </a:rPr>
              <a:t>bilit</a:t>
            </a:r>
            <a:r>
              <a:rPr kumimoji="0" lang="de-DE" sz="2600" b="0" i="0" u="none" strike="noStrike" kern="1200" cap="none" spc="0" normalizeH="0" baseline="0" noProof="0">
                <a:ln>
                  <a:noFill/>
                </a:ln>
                <a:solidFill>
                  <a:srgbClr val="111111"/>
                </a:solidFill>
                <a:effectLst/>
                <a:uLnTx/>
                <a:uFillTx/>
                <a:latin typeface="Arial"/>
                <a:ea typeface="Arial"/>
                <a:cs typeface="Arial"/>
              </a:rPr>
              <a:t>y</a:t>
            </a:r>
            <a:endParaRPr kumimoji="0" sz="2600" b="0" i="0" u="none" strike="noStrike" kern="1200" cap="none" spc="0" normalizeH="0" baseline="0" noProof="0">
              <a:ln>
                <a:noFill/>
              </a:ln>
              <a:solidFill>
                <a:srgbClr val="111111"/>
              </a:solidFill>
              <a:effectLst/>
              <a:uLnTx/>
              <a:uFillTx/>
              <a:latin typeface="Arial"/>
              <a:ea typeface="Arial"/>
              <a:cs typeface="Arial"/>
            </a:endParaRPr>
          </a:p>
        </p:txBody>
      </p:sp>
      <p:sp>
        <p:nvSpPr>
          <p:cNvPr id="10" name="Rechteck 9">
            <a:extLst>
              <a:ext uri="{FF2B5EF4-FFF2-40B4-BE49-F238E27FC236}">
                <a16:creationId xmlns:a16="http://schemas.microsoft.com/office/drawing/2014/main" id="{9108CE79-1D2B-477E-82B0-2676FDB00DFC}"/>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975" b="0">
                <a:solidFill>
                  <a:srgbClr val="888888"/>
                </a:solidFill>
                <a:latin typeface="Arial"/>
                <a:ea typeface="Arial"/>
                <a:cs typeface="Arial"/>
              </a:defRPr>
            </a:pPr>
            <a:r>
              <a:rPr kumimoji="0" lang="de-DE" sz="975" b="0" i="0" u="none" strike="noStrike" kern="1200" cap="none" spc="0" normalizeH="0" baseline="0" noProof="0" dirty="0">
                <a:ln>
                  <a:noFill/>
                </a:ln>
                <a:solidFill>
                  <a:srgbClr val="888888"/>
                </a:solidFill>
                <a:effectLst/>
                <a:uLnTx/>
                <a:uFillTx/>
                <a:latin typeface="Arial"/>
                <a:ea typeface="Arial"/>
                <a:cs typeface="Arial"/>
              </a:rPr>
              <a:t>7</a:t>
            </a:r>
            <a:endParaRPr kumimoji="0" sz="975" b="0" i="0" u="none" strike="noStrike" kern="1200" cap="none" spc="0" normalizeH="0" baseline="0" noProof="0" dirty="0">
              <a:ln>
                <a:noFill/>
              </a:ln>
              <a:solidFill>
                <a:srgbClr val="888888"/>
              </a:solidFill>
              <a:effectLst/>
              <a:uLnTx/>
              <a:uFillTx/>
              <a:latin typeface="Arial"/>
              <a:ea typeface="Arial"/>
              <a:cs typeface="Arial"/>
            </a:endParaRPr>
          </a:p>
        </p:txBody>
      </p:sp>
      <p:sp>
        <p:nvSpPr>
          <p:cNvPr id="7" name="Textfeld 6">
            <a:extLst>
              <a:ext uri="{FF2B5EF4-FFF2-40B4-BE49-F238E27FC236}">
                <a16:creationId xmlns:a16="http://schemas.microsoft.com/office/drawing/2014/main" id="{07B87E6B-5D11-4C6C-959A-5903C9A1848A}"/>
              </a:ext>
            </a:extLst>
          </p:cNvPr>
          <p:cNvSpPr txBox="1"/>
          <p:nvPr/>
        </p:nvSpPr>
        <p:spPr>
          <a:xfrm>
            <a:off x="752475" y="1781771"/>
            <a:ext cx="2108269" cy="147732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lang="en-US" sz="1800" b="0" i="0" u="none" strike="noStrike" kern="1200" cap="none" spc="0" normalizeH="0" baseline="0" noProof="0" dirty="0">
                <a:ln>
                  <a:noFill/>
                </a:ln>
                <a:solidFill>
                  <a:srgbClr val="111111"/>
                </a:solidFill>
                <a:effectLst/>
                <a:uLnTx/>
                <a:uFillTx/>
                <a:latin typeface="Arial"/>
                <a:cs typeface="Arial"/>
              </a:rPr>
              <a:t>Need for Cognition</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lang="en-US" sz="1800" b="0" i="0" u="none" strike="noStrike" kern="1200" cap="none" spc="0" normalizeH="0" baseline="0" noProof="0" dirty="0">
                <a:ln>
                  <a:noFill/>
                </a:ln>
                <a:solidFill>
                  <a:srgbClr val="111111"/>
                </a:solidFill>
                <a:effectLst/>
                <a:uLnTx/>
                <a:uFillTx/>
                <a:latin typeface="Arial"/>
                <a:cs typeface="Arial"/>
              </a:rPr>
              <a:t>Trait Persistence</a:t>
            </a: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lang="en-US" sz="1800" b="0" i="0" u="none" strike="noStrike" kern="1200" cap="none" spc="0" normalizeH="0" baseline="0" noProof="0" dirty="0" err="1">
                <a:ln>
                  <a:noFill/>
                </a:ln>
                <a:solidFill>
                  <a:srgbClr val="111111"/>
                </a:solidFill>
                <a:effectLst/>
                <a:uLnTx/>
                <a:uFillTx/>
                <a:latin typeface="Arial"/>
                <a:cs typeface="Arial"/>
              </a:rPr>
              <a:t>Polychronicity</a:t>
            </a:r>
            <a:endParaRPr kumimoji="0" lang="en-US" sz="1800" b="0" i="0" u="none" strike="noStrike" kern="1200" cap="none" spc="0" normalizeH="0" baseline="0" noProof="0" dirty="0">
              <a:ln>
                <a:noFill/>
              </a:ln>
              <a:solidFill>
                <a:srgbClr val="111111"/>
              </a:solidFill>
              <a:effectLst/>
              <a:uLnTx/>
              <a:uFillTx/>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111111"/>
                </a:solidFill>
                <a:latin typeface="Arial"/>
                <a:ea typeface="Arial"/>
                <a:cs typeface="Arial"/>
              </a:defRPr>
            </a:pPr>
            <a:r>
              <a:rPr kumimoji="0" lang="en-US" sz="1800" b="0" i="0" u="none" strike="noStrike" kern="1200" cap="none" spc="0" normalizeH="0" baseline="0" noProof="0" dirty="0">
                <a:ln>
                  <a:noFill/>
                </a:ln>
                <a:solidFill>
                  <a:srgbClr val="111111"/>
                </a:solidFill>
                <a:effectLst/>
                <a:uLnTx/>
                <a:uFillTx/>
                <a:latin typeface="Arial"/>
                <a:cs typeface="Arial"/>
              </a:rPr>
              <a:t>BIS/BAS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95657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C2501B4A-E074-4337-A8F7-0987EBE7DF6E}"/>
              </a:ext>
            </a:extLst>
          </p:cNvPr>
          <p:cNvSpPr>
            <a:spLocks noGrp="1"/>
          </p:cNvSpPr>
          <p:nvPr/>
        </p:nvSpPr>
        <p:spPr>
          <a:xfrm>
            <a:off x="762000" y="1095375"/>
            <a:ext cx="7905750" cy="333375"/>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00" b="0">
                <a:solidFill>
                  <a:srgbClr val="AD8600"/>
                </a:solidFill>
                <a:latin typeface="Arial"/>
                <a:ea typeface="Arial"/>
                <a:cs typeface="Arial"/>
              </a:defRPr>
            </a:pPr>
            <a:r>
              <a:rPr kumimoji="0" lang="en-US" sz="2000" b="0" i="0" u="none" strike="noStrike" kern="1200" cap="none" spc="0" normalizeH="0" baseline="0" noProof="0">
                <a:ln>
                  <a:noFill/>
                </a:ln>
                <a:solidFill>
                  <a:srgbClr val="AD8600"/>
                </a:solidFill>
                <a:effectLst/>
                <a:uLnTx/>
                <a:uFillTx/>
                <a:latin typeface="Arial"/>
                <a:ea typeface="Arial"/>
                <a:cs typeface="Arial"/>
              </a:rPr>
              <a:t>Joint experiment with Project 2, Freiburg</a:t>
            </a:r>
          </a:p>
        </p:txBody>
      </p:sp>
      <p:sp>
        <p:nvSpPr>
          <p:cNvPr id="9" name="Rechteck 8">
            <a:extLst>
              <a:ext uri="{FF2B5EF4-FFF2-40B4-BE49-F238E27FC236}">
                <a16:creationId xmlns:a16="http://schemas.microsoft.com/office/drawing/2014/main" id="{1D1CB6C4-2040-481F-909E-D6A60ED93E72}"/>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2625" b="0">
                <a:solidFill>
                  <a:srgbClr val="111111"/>
                </a:solidFill>
                <a:latin typeface="Arial"/>
                <a:ea typeface="Arial"/>
                <a:cs typeface="Arial"/>
              </a:defRPr>
            </a:pPr>
            <a:r>
              <a:rPr kumimoji="0" lang="en-US" sz="2800" b="0" i="0" u="none" strike="noStrike" kern="1200" cap="none" spc="0" normalizeH="0" baseline="0" noProof="0">
                <a:ln>
                  <a:noFill/>
                </a:ln>
                <a:solidFill>
                  <a:srgbClr val="111111"/>
                </a:solidFill>
                <a:effectLst/>
                <a:uLnTx/>
                <a:uFillTx/>
                <a:latin typeface="Arial"/>
                <a:ea typeface="Arial"/>
                <a:cs typeface="Arial"/>
              </a:rPr>
              <a:t>WP 3: </a:t>
            </a:r>
            <a:r>
              <a:rPr kumimoji="0" sz="2800" b="0" i="0" u="none" strike="noStrike" kern="1200" cap="none" spc="0" normalizeH="0" baseline="0" noProof="0">
                <a:ln>
                  <a:noFill/>
                </a:ln>
                <a:solidFill>
                  <a:srgbClr val="111111"/>
                </a:solidFill>
                <a:effectLst/>
                <a:uLnTx/>
                <a:uFillTx/>
                <a:latin typeface="Arial"/>
                <a:ea typeface="Arial"/>
                <a:cs typeface="Arial"/>
              </a:rPr>
              <a:t>Generalization across paradigms</a:t>
            </a:r>
          </a:p>
        </p:txBody>
      </p:sp>
      <p:sp>
        <p:nvSpPr>
          <p:cNvPr id="3" name="Rechteck 2">
            <a:extLst>
              <a:ext uri="{FF2B5EF4-FFF2-40B4-BE49-F238E27FC236}">
                <a16:creationId xmlns:a16="http://schemas.microsoft.com/office/drawing/2014/main" id="{A717A396-2BCF-476C-9159-E7EE2CCF6766}"/>
              </a:ext>
            </a:extLst>
          </p:cNvPr>
          <p:cNvSpPr>
            <a:spLocks noGrp="1"/>
          </p:cNvSpPr>
          <p:nvPr/>
        </p:nvSpPr>
        <p:spPr>
          <a:xfrm>
            <a:off x="762000" y="1809750"/>
            <a:ext cx="7905750" cy="3810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175" b="1">
                <a:solidFill>
                  <a:srgbClr val="111111"/>
                </a:solidFill>
                <a:latin typeface="Arial"/>
                <a:ea typeface="Arial"/>
                <a:cs typeface="Arial"/>
              </a:defRPr>
            </a:pPr>
            <a:r>
              <a:rPr kumimoji="0" sz="2175" b="1" i="0" u="none" strike="noStrike" kern="1200" cap="none" spc="0" normalizeH="0" baseline="0" noProof="0">
                <a:ln>
                  <a:noFill/>
                </a:ln>
                <a:solidFill>
                  <a:srgbClr val="111111"/>
                </a:solidFill>
                <a:effectLst/>
                <a:uLnTx/>
                <a:uFillTx/>
                <a:latin typeface="Arial"/>
                <a:ea typeface="Arial"/>
                <a:cs typeface="Arial"/>
              </a:rPr>
              <a:t>The same participants complete both paradigms</a:t>
            </a:r>
          </a:p>
        </p:txBody>
      </p:sp>
      <p:sp>
        <p:nvSpPr>
          <p:cNvPr id="4" name="Rechteck 3">
            <a:extLst>
              <a:ext uri="{FF2B5EF4-FFF2-40B4-BE49-F238E27FC236}">
                <a16:creationId xmlns:a16="http://schemas.microsoft.com/office/drawing/2014/main" id="{7706500D-4491-47FC-B021-389CDE491385}"/>
              </a:ext>
            </a:extLst>
          </p:cNvPr>
          <p:cNvSpPr>
            <a:spLocks noGrp="1"/>
          </p:cNvSpPr>
          <p:nvPr/>
        </p:nvSpPr>
        <p:spPr>
          <a:xfrm>
            <a:off x="762000" y="2505075"/>
            <a:ext cx="3667125" cy="7620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025" b="0">
                <a:solidFill>
                  <a:srgbClr val="111111"/>
                </a:solidFill>
                <a:latin typeface="Arial"/>
                <a:ea typeface="Arial"/>
                <a:cs typeface="Arial"/>
              </a:defRPr>
            </a:pPr>
            <a:r>
              <a:rPr kumimoji="0" sz="2025" b="0" i="0" u="none" strike="noStrike" kern="1200" cap="none" spc="0" normalizeH="0" baseline="0" noProof="0">
                <a:ln>
                  <a:noFill/>
                </a:ln>
                <a:solidFill>
                  <a:srgbClr val="111111"/>
                </a:solidFill>
                <a:effectLst/>
                <a:uLnTx/>
                <a:uFillTx/>
                <a:latin typeface="Arial"/>
                <a:ea typeface="Arial"/>
                <a:cs typeface="Arial"/>
              </a:rPr>
              <a:t>FCDT</a:t>
            </a:r>
          </a:p>
          <a:p>
            <a:pPr marL="0" marR="0" lvl="0" indent="0" algn="l" defTabSz="914400" rtl="0" eaLnBrk="1" fontAlgn="auto" latinLnBrk="0" hangingPunct="1">
              <a:lnSpc>
                <a:spcPct val="100000"/>
              </a:lnSpc>
              <a:spcBef>
                <a:spcPts val="0"/>
              </a:spcBef>
              <a:spcAft>
                <a:spcPts val="0"/>
              </a:spcAft>
              <a:buClrTx/>
              <a:buSzTx/>
              <a:buFontTx/>
              <a:buNone/>
              <a:tabLst/>
              <a:defRPr sz="2025" b="0">
                <a:solidFill>
                  <a:srgbClr val="111111"/>
                </a:solidFill>
                <a:latin typeface="Arial"/>
                <a:ea typeface="Arial"/>
                <a:cs typeface="Arial"/>
              </a:defRPr>
            </a:pPr>
            <a:r>
              <a:rPr kumimoji="0" sz="2025" b="0" i="0" u="none" strike="noStrike" kern="1200" cap="none" spc="0" normalizeH="0" baseline="0" noProof="0">
                <a:ln>
                  <a:noFill/>
                </a:ln>
                <a:solidFill>
                  <a:srgbClr val="111111"/>
                </a:solidFill>
                <a:effectLst/>
                <a:uLnTx/>
                <a:uFillTx/>
                <a:latin typeface="Arial"/>
                <a:ea typeface="Arial"/>
                <a:cs typeface="Arial"/>
              </a:rPr>
              <a:t>Continuous stimulus preview</a:t>
            </a:r>
          </a:p>
        </p:txBody>
      </p:sp>
      <p:sp>
        <p:nvSpPr>
          <p:cNvPr id="5" name="Rechteck 4">
            <a:extLst>
              <a:ext uri="{FF2B5EF4-FFF2-40B4-BE49-F238E27FC236}">
                <a16:creationId xmlns:a16="http://schemas.microsoft.com/office/drawing/2014/main" id="{7849D5EF-AC22-4792-945F-75804C8AEF5C}"/>
              </a:ext>
            </a:extLst>
          </p:cNvPr>
          <p:cNvSpPr>
            <a:spLocks noGrp="1"/>
          </p:cNvSpPr>
          <p:nvPr/>
        </p:nvSpPr>
        <p:spPr>
          <a:xfrm>
            <a:off x="4905375" y="2505075"/>
            <a:ext cx="3714750" cy="76200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025" b="0">
                <a:solidFill>
                  <a:srgbClr val="111111"/>
                </a:solidFill>
                <a:latin typeface="Arial"/>
                <a:ea typeface="Arial"/>
                <a:cs typeface="Arial"/>
              </a:defRPr>
            </a:pPr>
            <a:r>
              <a:rPr kumimoji="0" sz="2025" b="0" i="0" u="none" strike="noStrike" kern="1200" cap="none" spc="0" normalizeH="0" baseline="0" noProof="0">
                <a:ln>
                  <a:noFill/>
                </a:ln>
                <a:solidFill>
                  <a:srgbClr val="111111"/>
                </a:solidFill>
                <a:effectLst/>
                <a:uLnTx/>
                <a:uFillTx/>
                <a:latin typeface="Arial"/>
                <a:ea typeface="Arial"/>
                <a:cs typeface="Arial"/>
              </a:rPr>
              <a:t>Self-organized task switching</a:t>
            </a:r>
          </a:p>
          <a:p>
            <a:pPr marL="0" marR="0" lvl="0" indent="0" algn="l" defTabSz="914400" rtl="0" eaLnBrk="1" fontAlgn="auto" latinLnBrk="0" hangingPunct="1">
              <a:lnSpc>
                <a:spcPct val="100000"/>
              </a:lnSpc>
              <a:spcBef>
                <a:spcPts val="0"/>
              </a:spcBef>
              <a:spcAft>
                <a:spcPts val="0"/>
              </a:spcAft>
              <a:buClrTx/>
              <a:buSzTx/>
              <a:buFontTx/>
              <a:buNone/>
              <a:tabLst/>
              <a:defRPr sz="2025" b="0">
                <a:solidFill>
                  <a:srgbClr val="111111"/>
                </a:solidFill>
                <a:latin typeface="Arial"/>
                <a:ea typeface="Arial"/>
                <a:cs typeface="Arial"/>
              </a:defRPr>
            </a:pPr>
            <a:r>
              <a:rPr kumimoji="0" sz="2025" b="0" i="0" u="none" strike="noStrike" kern="1200" cap="none" spc="0" normalizeH="0" baseline="0" noProof="0">
                <a:ln>
                  <a:noFill/>
                </a:ln>
                <a:solidFill>
                  <a:srgbClr val="111111"/>
                </a:solidFill>
                <a:effectLst/>
                <a:uLnTx/>
                <a:uFillTx/>
                <a:latin typeface="Arial"/>
                <a:ea typeface="Arial"/>
                <a:cs typeface="Arial"/>
              </a:rPr>
              <a:t>Waiting times between trials</a:t>
            </a:r>
          </a:p>
        </p:txBody>
      </p:sp>
      <p:sp>
        <p:nvSpPr>
          <p:cNvPr id="6" name="Rechteck 5">
            <a:extLst>
              <a:ext uri="{FF2B5EF4-FFF2-40B4-BE49-F238E27FC236}">
                <a16:creationId xmlns:a16="http://schemas.microsoft.com/office/drawing/2014/main" id="{1871EBD7-EB18-4D9D-A7EA-D213FCF28E42}"/>
              </a:ext>
            </a:extLst>
          </p:cNvPr>
          <p:cNvSpPr>
            <a:spLocks noGrp="1"/>
          </p:cNvSpPr>
          <p:nvPr/>
        </p:nvSpPr>
        <p:spPr>
          <a:xfrm>
            <a:off x="762000" y="3619500"/>
            <a:ext cx="7905750" cy="714375"/>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175" b="1">
                <a:solidFill>
                  <a:srgbClr val="AD8600"/>
                </a:solidFill>
                <a:latin typeface="Arial"/>
                <a:ea typeface="Arial"/>
                <a:cs typeface="Arial"/>
              </a:defRPr>
            </a:pPr>
            <a:r>
              <a:rPr kumimoji="0" sz="2000" b="1" i="0" u="none" strike="noStrike" kern="1200" cap="none" spc="0" normalizeH="0" baseline="0" noProof="0">
                <a:ln>
                  <a:noFill/>
                </a:ln>
                <a:solidFill>
                  <a:srgbClr val="AD8600"/>
                </a:solidFill>
                <a:effectLst/>
                <a:uLnTx/>
                <a:uFillTx/>
                <a:latin typeface="Arial"/>
                <a:ea typeface="Arial"/>
                <a:cs typeface="Arial"/>
              </a:rPr>
              <a:t>Do switch frequencies and strategy preferences correspond?</a:t>
            </a:r>
          </a:p>
        </p:txBody>
      </p:sp>
      <p:sp>
        <p:nvSpPr>
          <p:cNvPr id="8" name="Rechteck 7">
            <a:extLst>
              <a:ext uri="{FF2B5EF4-FFF2-40B4-BE49-F238E27FC236}">
                <a16:creationId xmlns:a16="http://schemas.microsoft.com/office/drawing/2014/main" id="{B2068422-181E-4037-86CD-F0B31D77161F}"/>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975" b="0">
                <a:solidFill>
                  <a:srgbClr val="888888"/>
                </a:solidFill>
                <a:latin typeface="Arial"/>
                <a:ea typeface="Arial"/>
                <a:cs typeface="Arial"/>
              </a:defRPr>
            </a:pPr>
            <a:r>
              <a:rPr kumimoji="0" lang="de-DE" sz="975" b="0" i="0" u="none" strike="noStrike" kern="1200" cap="none" spc="0" normalizeH="0" baseline="0" noProof="0" dirty="0">
                <a:ln>
                  <a:noFill/>
                </a:ln>
                <a:solidFill>
                  <a:srgbClr val="888888"/>
                </a:solidFill>
                <a:effectLst/>
                <a:uLnTx/>
                <a:uFillTx/>
                <a:latin typeface="Arial"/>
                <a:ea typeface="Arial"/>
                <a:cs typeface="Arial"/>
              </a:rPr>
              <a:t>8</a:t>
            </a:r>
            <a:endParaRPr kumimoji="0" sz="975" b="0" i="0" u="none" strike="noStrike" kern="1200" cap="none" spc="0" normalizeH="0" baseline="0" noProof="0" dirty="0">
              <a:ln>
                <a:noFill/>
              </a:ln>
              <a:solidFill>
                <a:srgbClr val="888888"/>
              </a:solidFill>
              <a:effectLst/>
              <a:uLnTx/>
              <a:uFillTx/>
              <a:latin typeface="Arial"/>
              <a:ea typeface="Arial"/>
              <a:cs typeface="Arial"/>
            </a:endParaRPr>
          </a:p>
        </p:txBody>
      </p:sp>
      <p:sp>
        <p:nvSpPr>
          <p:cNvPr id="11" name="Rechteck 10">
            <a:extLst>
              <a:ext uri="{FF2B5EF4-FFF2-40B4-BE49-F238E27FC236}">
                <a16:creationId xmlns:a16="http://schemas.microsoft.com/office/drawing/2014/main" id="{CBB171B3-9355-42CA-A092-5AA6D9585747}"/>
              </a:ext>
            </a:extLst>
          </p:cNvPr>
          <p:cNvSpPr>
            <a:spLocks noGrp="1"/>
          </p:cNvSpPr>
          <p:nvPr/>
        </p:nvSpPr>
        <p:spPr>
          <a:xfrm>
            <a:off x="752475" y="4079850"/>
            <a:ext cx="8077201" cy="508049"/>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50" b="0">
                <a:solidFill>
                  <a:srgbClr val="111111"/>
                </a:solidFill>
                <a:latin typeface="Arial"/>
                <a:ea typeface="Arial"/>
                <a:cs typeface="Arial"/>
              </a:defRPr>
            </a:pPr>
            <a:r>
              <a:rPr kumimoji="0" lang="en-US" sz="1600" b="1" i="0" u="none" strike="noStrike" kern="1200" cap="none" spc="0" normalizeH="0" baseline="0" noProof="0" dirty="0">
                <a:ln>
                  <a:noFill/>
                </a:ln>
                <a:solidFill>
                  <a:srgbClr val="111111"/>
                </a:solidFill>
                <a:effectLst/>
                <a:uLnTx/>
                <a:uFillTx/>
                <a:latin typeface="Arial"/>
                <a:cs typeface="Arial"/>
              </a:rPr>
              <a:t>Counterbalanced paradigm order</a:t>
            </a:r>
            <a:r>
              <a:rPr kumimoji="0" lang="de-DE" sz="1600" b="1" i="0" u="none" strike="noStrike" kern="1200" cap="none" spc="0" normalizeH="0" baseline="0" noProof="0" dirty="0">
                <a:ln>
                  <a:noFill/>
                </a:ln>
                <a:solidFill>
                  <a:srgbClr val="111111"/>
                </a:solidFill>
                <a:effectLst/>
                <a:uLnTx/>
                <a:uFillTx/>
                <a:latin typeface="Arial"/>
                <a:cs typeface="Arial"/>
              </a:rPr>
              <a:t>: </a:t>
            </a:r>
          </a:p>
          <a:p>
            <a:pPr marL="0" marR="0" lvl="0" indent="0" algn="l" defTabSz="914400" rtl="0" eaLnBrk="1" fontAlgn="auto" latinLnBrk="0" hangingPunct="1">
              <a:lnSpc>
                <a:spcPct val="100000"/>
              </a:lnSpc>
              <a:spcBef>
                <a:spcPts val="0"/>
              </a:spcBef>
              <a:spcAft>
                <a:spcPts val="0"/>
              </a:spcAft>
              <a:buClrTx/>
              <a:buSzTx/>
              <a:buFontTx/>
              <a:buNone/>
              <a:tabLst/>
              <a:defRPr sz="1650" b="0">
                <a:solidFill>
                  <a:srgbClr val="111111"/>
                </a:solidFill>
                <a:latin typeface="Arial"/>
                <a:ea typeface="Arial"/>
                <a:cs typeface="Arial"/>
              </a:defRPr>
            </a:pPr>
            <a:r>
              <a:rPr kumimoji="0" lang="en-US" sz="1600" b="0" i="0" u="none" strike="noStrike" kern="1200" cap="none" spc="0" normalizeH="0" baseline="0" noProof="0" dirty="0">
                <a:ln>
                  <a:noFill/>
                </a:ln>
                <a:solidFill>
                  <a:srgbClr val="111111"/>
                </a:solidFill>
                <a:effectLst/>
                <a:uLnTx/>
                <a:uFillTx/>
                <a:latin typeface="Arial"/>
                <a:ea typeface="Arial"/>
                <a:cs typeface="Arial"/>
              </a:rPr>
              <a:t>50 participants from each study site </a:t>
            </a:r>
            <a:r>
              <a:rPr kumimoji="0" lang="en-US" sz="1600" b="0" i="0" u="none" strike="noStrike" kern="1200" cap="none" spc="0" normalizeH="0" baseline="0" noProof="0" dirty="0">
                <a:ln>
                  <a:noFill/>
                </a:ln>
                <a:solidFill>
                  <a:srgbClr val="111111"/>
                </a:solidFill>
                <a:effectLst/>
                <a:uLnTx/>
                <a:uFillTx/>
                <a:latin typeface="Arial"/>
                <a:ea typeface="Arial"/>
                <a:cs typeface="Arial"/>
                <a:sym typeface="Wingdings" panose="05000000000000000000" pitchFamily="2" charset="2"/>
              </a:rPr>
              <a:t></a:t>
            </a:r>
            <a:r>
              <a:rPr kumimoji="0" lang="en-US" sz="1600" b="0" i="0" u="none" strike="noStrike" kern="1200" cap="none" spc="0" normalizeH="0" baseline="0" noProof="0" dirty="0">
                <a:ln>
                  <a:noFill/>
                </a:ln>
                <a:solidFill>
                  <a:srgbClr val="111111"/>
                </a:solidFill>
                <a:effectLst/>
                <a:uLnTx/>
                <a:uFillTx/>
                <a:latin typeface="Arial"/>
                <a:ea typeface="Arial"/>
                <a:cs typeface="Arial"/>
              </a:rPr>
              <a:t> Planned N = 100</a:t>
            </a:r>
          </a:p>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11111"/>
                </a:solidFill>
                <a:latin typeface="Arial"/>
                <a:ea typeface="Arial"/>
                <a:cs typeface="Arial"/>
              </a:defRPr>
            </a:pPr>
            <a:endParaRPr kumimoji="0" lang="de-DE" sz="1600" b="0" i="0" u="none" strike="noStrike" kern="1200" cap="none" spc="0" normalizeH="0" baseline="0" noProof="0" dirty="0">
              <a:ln>
                <a:noFill/>
              </a:ln>
              <a:solidFill>
                <a:srgbClr val="111111"/>
              </a:solidFill>
              <a:effectLst/>
              <a:uLnTx/>
              <a:uFillTx/>
              <a:latin typeface="Arial"/>
              <a:cs typeface="Arial"/>
            </a:endParaRPr>
          </a:p>
        </p:txBody>
      </p:sp>
    </p:spTree>
    <p:extLst>
      <p:ext uri="{BB962C8B-B14F-4D97-AF65-F5344CB8AC3E}">
        <p14:creationId xmlns:p14="http://schemas.microsoft.com/office/powerpoint/2010/main" val="4172176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8080FE4-DDB2-6779-9434-4BD8223F1D22}"/>
              </a:ext>
            </a:extLst>
          </p:cNvPr>
          <p:cNvSpPr>
            <a:spLocks noGrp="1"/>
          </p:cNvSpPr>
          <p:nvPr>
            <p:ph type="title"/>
          </p:nvPr>
        </p:nvSpPr>
        <p:spPr/>
        <p:txBody>
          <a:bodyPr>
            <a:normAutofit/>
          </a:bodyPr>
          <a:lstStyle/>
          <a:p>
            <a:r>
              <a:rPr lang="de-DE" sz="2400" b="0" dirty="0" err="1">
                <a:latin typeface="Arial"/>
                <a:cs typeface="Arial"/>
              </a:rPr>
              <a:t>Theoretical</a:t>
            </a:r>
            <a:r>
              <a:rPr lang="de-DE" sz="2400" b="0" dirty="0">
                <a:latin typeface="Arial"/>
                <a:cs typeface="Arial"/>
              </a:rPr>
              <a:t> </a:t>
            </a:r>
            <a:r>
              <a:rPr lang="de-DE" sz="2400" b="0" dirty="0" err="1">
                <a:latin typeface="Arial"/>
                <a:cs typeface="Arial"/>
              </a:rPr>
              <a:t>proposal</a:t>
            </a:r>
            <a:endParaRPr lang="de-DE" sz="2400" b="0" dirty="0">
              <a:latin typeface="Arial"/>
              <a:cs typeface="Arial"/>
            </a:endParaRPr>
          </a:p>
        </p:txBody>
      </p:sp>
      <p:sp>
        <p:nvSpPr>
          <p:cNvPr id="4" name="Foliennummernplatzhalter 3">
            <a:extLst>
              <a:ext uri="{FF2B5EF4-FFF2-40B4-BE49-F238E27FC236}">
                <a16:creationId xmlns:a16="http://schemas.microsoft.com/office/drawing/2014/main" id="{7473FA14-4378-2B6D-FF0E-0390C37CAF0F}"/>
              </a:ext>
            </a:extLst>
          </p:cNvPr>
          <p:cNvSpPr>
            <a:spLocks noGrp="1"/>
          </p:cNvSpPr>
          <p:nvPr>
            <p:ph type="sldNum" sz="quarter" idx="12"/>
          </p:nvPr>
        </p:nvSpPr>
        <p:spPr/>
        <p:txBody>
          <a:bodyPr/>
          <a:lstStyle/>
          <a:p>
            <a:fld id="{5CD88B4E-D815-417B-99FD-41D66E5C06D4}" type="slidenum">
              <a:rPr lang="de-DE" smtClean="0">
                <a:latin typeface="Arial"/>
                <a:cs typeface="Arial"/>
              </a:rPr>
              <a:pPr/>
              <a:t>10</a:t>
            </a:fld>
            <a:endParaRPr lang="de-DE">
              <a:latin typeface="Arial"/>
              <a:cs typeface="Arial"/>
            </a:endParaRPr>
          </a:p>
        </p:txBody>
      </p:sp>
      <p:sp>
        <p:nvSpPr>
          <p:cNvPr id="5" name="Rechteck: abgerundete Ecken 4">
            <a:extLst>
              <a:ext uri="{FF2B5EF4-FFF2-40B4-BE49-F238E27FC236}">
                <a16:creationId xmlns:a16="http://schemas.microsoft.com/office/drawing/2014/main" id="{911574AB-781E-C8CA-EF5D-B0ED9BDF63FD}"/>
              </a:ext>
            </a:extLst>
          </p:cNvPr>
          <p:cNvSpPr/>
          <p:nvPr/>
        </p:nvSpPr>
        <p:spPr>
          <a:xfrm>
            <a:off x="1014056" y="2583119"/>
            <a:ext cx="2444952" cy="362403"/>
          </a:xfrm>
          <a:prstGeom prst="roundRect">
            <a:avLst>
              <a:gd name="adj" fmla="val 19363"/>
            </a:avLst>
          </a:prstGeom>
          <a:noFill/>
          <a:ln w="952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lnSpc>
                <a:spcPct val="150000"/>
              </a:lnSpc>
            </a:pPr>
            <a:r>
              <a:rPr lang="en-US" sz="1000" dirty="0">
                <a:solidFill>
                  <a:schemeClr val="tx1"/>
                </a:solidFill>
                <a:latin typeface="Arial" panose="020B0604020202020204" pitchFamily="34" charset="0"/>
                <a:ea typeface="Arial Unicode MS" panose="020B0604020202020204"/>
                <a:cs typeface="Arial" panose="020B0604020202020204" pitchFamily="34" charset="0"/>
              </a:rPr>
              <a:t>Subjective cost functions</a:t>
            </a:r>
          </a:p>
        </p:txBody>
      </p:sp>
      <p:sp>
        <p:nvSpPr>
          <p:cNvPr id="7" name="Textfeld 6">
            <a:extLst>
              <a:ext uri="{FF2B5EF4-FFF2-40B4-BE49-F238E27FC236}">
                <a16:creationId xmlns:a16="http://schemas.microsoft.com/office/drawing/2014/main" id="{CFCDC315-09FA-6C03-075D-0486B08BD8B3}"/>
              </a:ext>
            </a:extLst>
          </p:cNvPr>
          <p:cNvSpPr txBox="1"/>
          <p:nvPr/>
        </p:nvSpPr>
        <p:spPr>
          <a:xfrm>
            <a:off x="3707904" y="1378549"/>
            <a:ext cx="5616624" cy="261610"/>
          </a:xfrm>
          <a:prstGeom prst="rect">
            <a:avLst/>
          </a:prstGeom>
          <a:noFill/>
        </p:spPr>
        <p:txBody>
          <a:bodyPr wrap="square" rtlCol="0">
            <a:spAutoFit/>
          </a:bodyPr>
          <a:lstStyle/>
          <a:p>
            <a:r>
              <a:rPr lang="de-DE" sz="1100" dirty="0">
                <a:latin typeface="Arial" panose="020B0604020202020204" pitchFamily="34" charset="0"/>
                <a:ea typeface="Arial Unicode MS" panose="020B0604020202020204"/>
                <a:cs typeface="Arial" panose="020B0604020202020204" pitchFamily="34" charset="0"/>
              </a:rPr>
              <a:t>Proof </a:t>
            </a:r>
            <a:r>
              <a:rPr lang="de-DE" sz="1100" dirty="0" err="1">
                <a:latin typeface="Arial" panose="020B0604020202020204" pitchFamily="34" charset="0"/>
                <a:ea typeface="Arial Unicode MS" panose="020B0604020202020204"/>
                <a:cs typeface="Arial" panose="020B0604020202020204" pitchFamily="34" charset="0"/>
              </a:rPr>
              <a:t>of</a:t>
            </a:r>
            <a:r>
              <a:rPr lang="de-DE" sz="1100" dirty="0">
                <a:latin typeface="Arial" panose="020B0604020202020204" pitchFamily="34" charset="0"/>
                <a:ea typeface="Arial Unicode MS" panose="020B0604020202020204"/>
                <a:cs typeface="Arial" panose="020B0604020202020204" pitchFamily="34" charset="0"/>
              </a:rPr>
              <a:t> </a:t>
            </a:r>
            <a:r>
              <a:rPr lang="de-DE" sz="1100" dirty="0" err="1">
                <a:latin typeface="Arial" panose="020B0604020202020204" pitchFamily="34" charset="0"/>
                <a:ea typeface="Arial Unicode MS" panose="020B0604020202020204"/>
                <a:cs typeface="Arial" panose="020B0604020202020204" pitchFamily="34" charset="0"/>
              </a:rPr>
              <a:t>principle</a:t>
            </a:r>
            <a:r>
              <a:rPr lang="de-DE" sz="1100" dirty="0">
                <a:latin typeface="Arial" panose="020B0604020202020204" pitchFamily="34" charset="0"/>
                <a:ea typeface="Arial Unicode MS" panose="020B0604020202020204"/>
                <a:cs typeface="Arial" panose="020B0604020202020204" pitchFamily="34" charset="0"/>
              </a:rPr>
              <a:t> (</a:t>
            </a:r>
            <a:r>
              <a:rPr lang="de-DE" sz="1100" dirty="0">
                <a:solidFill>
                  <a:schemeClr val="accent1">
                    <a:lumMod val="75000"/>
                  </a:schemeClr>
                </a:solidFill>
                <a:latin typeface="Arial" panose="020B0604020202020204" pitchFamily="34" charset="0"/>
                <a:ea typeface="Arial Unicode MS" panose="020B0604020202020204"/>
                <a:cs typeface="Arial" panose="020B0604020202020204" pitchFamily="34" charset="0"/>
                <a:hlinkClick r:id="rId3">
                  <a:extLst>
                    <a:ext uri="{A12FA001-AC4F-418D-AE19-62706E023703}">
                      <ahyp:hlinkClr xmlns:ahyp="http://schemas.microsoft.com/office/drawing/2018/hyperlinkcolor" val="tx"/>
                    </a:ext>
                  </a:extLst>
                </a:hlinkClick>
              </a:rPr>
              <a:t>osf.io/6vspq</a:t>
            </a:r>
            <a:r>
              <a:rPr lang="de-DE" sz="1100" dirty="0">
                <a:latin typeface="Arial" panose="020B0604020202020204" pitchFamily="34" charset="0"/>
                <a:ea typeface="Arial Unicode MS" panose="020B0604020202020204"/>
                <a:cs typeface="Arial" panose="020B0604020202020204" pitchFamily="34" charset="0"/>
              </a:rPr>
              <a:t>) | </a:t>
            </a:r>
            <a:r>
              <a:rPr lang="de-DE" sz="1100" dirty="0" err="1">
                <a:latin typeface="Arial" panose="020B0604020202020204" pitchFamily="34" charset="0"/>
                <a:ea typeface="Arial Unicode MS" panose="020B0604020202020204"/>
                <a:cs typeface="Arial" panose="020B0604020202020204" pitchFamily="34" charset="0"/>
              </a:rPr>
              <a:t>Parameterized</a:t>
            </a:r>
            <a:r>
              <a:rPr lang="de-DE" sz="1100" dirty="0">
                <a:latin typeface="Arial" panose="020B0604020202020204" pitchFamily="34" charset="0"/>
                <a:ea typeface="Arial Unicode MS" panose="020B0604020202020204"/>
                <a:cs typeface="Arial" panose="020B0604020202020204" pitchFamily="34" charset="0"/>
              </a:rPr>
              <a:t> switch and </a:t>
            </a:r>
            <a:r>
              <a:rPr lang="de-DE" sz="1100" dirty="0" err="1">
                <a:latin typeface="Arial" panose="020B0604020202020204" pitchFamily="34" charset="0"/>
                <a:ea typeface="Arial Unicode MS" panose="020B0604020202020204"/>
                <a:cs typeface="Arial" panose="020B0604020202020204" pitchFamily="34" charset="0"/>
              </a:rPr>
              <a:t>task</a:t>
            </a:r>
            <a:r>
              <a:rPr lang="de-DE" sz="1100" dirty="0">
                <a:latin typeface="Arial" panose="020B0604020202020204" pitchFamily="34" charset="0"/>
                <a:ea typeface="Arial Unicode MS" panose="020B0604020202020204"/>
                <a:cs typeface="Arial" panose="020B0604020202020204" pitchFamily="34" charset="0"/>
              </a:rPr>
              <a:t> </a:t>
            </a:r>
            <a:r>
              <a:rPr lang="de-DE" sz="1100" dirty="0" err="1">
                <a:latin typeface="Arial" panose="020B0604020202020204" pitchFamily="34" charset="0"/>
                <a:ea typeface="Arial Unicode MS" panose="020B0604020202020204"/>
                <a:cs typeface="Arial" panose="020B0604020202020204" pitchFamily="34" charset="0"/>
              </a:rPr>
              <a:t>imbalance</a:t>
            </a:r>
            <a:r>
              <a:rPr lang="de-DE" sz="1100" dirty="0">
                <a:latin typeface="Arial" panose="020B0604020202020204" pitchFamily="34" charset="0"/>
                <a:ea typeface="Arial Unicode MS" panose="020B0604020202020204"/>
                <a:cs typeface="Arial" panose="020B0604020202020204" pitchFamily="34" charset="0"/>
              </a:rPr>
              <a:t> </a:t>
            </a:r>
            <a:r>
              <a:rPr lang="de-DE" sz="1100" dirty="0" err="1">
                <a:latin typeface="Arial" panose="020B0604020202020204" pitchFamily="34" charset="0"/>
                <a:ea typeface="Arial Unicode MS" panose="020B0604020202020204"/>
                <a:cs typeface="Arial" panose="020B0604020202020204" pitchFamily="34" charset="0"/>
              </a:rPr>
              <a:t>cost</a:t>
            </a:r>
            <a:endParaRPr lang="de-DE" sz="1100" dirty="0">
              <a:latin typeface="Arial" panose="020B0604020202020204" pitchFamily="34" charset="0"/>
              <a:ea typeface="Arial Unicode MS" panose="020B0604020202020204"/>
              <a:cs typeface="Arial" panose="020B0604020202020204" pitchFamily="34" charset="0"/>
            </a:endParaRPr>
          </a:p>
        </p:txBody>
      </p:sp>
      <p:sp>
        <p:nvSpPr>
          <p:cNvPr id="8" name="Rechteck: abgerundete Ecken 7">
            <a:extLst>
              <a:ext uri="{FF2B5EF4-FFF2-40B4-BE49-F238E27FC236}">
                <a16:creationId xmlns:a16="http://schemas.microsoft.com/office/drawing/2014/main" id="{519553F8-98CB-7D51-4374-4734E4360518}"/>
              </a:ext>
            </a:extLst>
          </p:cNvPr>
          <p:cNvSpPr/>
          <p:nvPr/>
        </p:nvSpPr>
        <p:spPr>
          <a:xfrm>
            <a:off x="896620" y="1405437"/>
            <a:ext cx="2679824" cy="3182537"/>
          </a:xfrm>
          <a:prstGeom prst="roundRect">
            <a:avLst>
              <a:gd name="adj" fmla="val 2403"/>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b"/>
          <a:lstStyle/>
          <a:p>
            <a:pPr algn="r"/>
            <a:endParaRPr lang="de-DE" sz="1200">
              <a:solidFill>
                <a:schemeClr val="tx1"/>
              </a:solidFill>
              <a:latin typeface="Arial" panose="020B0604020202020204" pitchFamily="34" charset="0"/>
              <a:ea typeface="Arial Unicode MS" panose="020B0604020202020204"/>
              <a:cs typeface="Arial" panose="020B0604020202020204" pitchFamily="34" charset="0"/>
            </a:endParaRPr>
          </a:p>
          <a:p>
            <a:pPr algn="r"/>
            <a:endParaRPr lang="de-DE" sz="1200">
              <a:solidFill>
                <a:schemeClr val="tx1"/>
              </a:solidFill>
              <a:latin typeface="Arial" panose="020B0604020202020204" pitchFamily="34" charset="0"/>
              <a:ea typeface="Arial Unicode MS" panose="020B0604020202020204"/>
              <a:cs typeface="Arial" panose="020B0604020202020204" pitchFamily="34" charset="0"/>
            </a:endParaRPr>
          </a:p>
          <a:p>
            <a:pPr algn="r"/>
            <a:endParaRPr lang="de-DE" sz="1200">
              <a:solidFill>
                <a:schemeClr val="tx1"/>
              </a:solidFill>
              <a:latin typeface="Arial" panose="020B0604020202020204" pitchFamily="34" charset="0"/>
              <a:ea typeface="Arial Unicode MS" panose="020B0604020202020204"/>
              <a:cs typeface="Arial" panose="020B0604020202020204" pitchFamily="34" charset="0"/>
            </a:endParaRPr>
          </a:p>
          <a:p>
            <a:pPr algn="r"/>
            <a:endParaRPr lang="de-DE" sz="1200">
              <a:solidFill>
                <a:schemeClr val="tx1"/>
              </a:solidFill>
              <a:latin typeface="Arial" panose="020B0604020202020204" pitchFamily="34" charset="0"/>
              <a:ea typeface="Arial Unicode MS" panose="020B0604020202020204"/>
              <a:cs typeface="Arial" panose="020B0604020202020204" pitchFamily="34" charset="0"/>
            </a:endParaRPr>
          </a:p>
          <a:p>
            <a:pPr algn="r"/>
            <a:r>
              <a:rPr lang="de-DE" sz="1200">
                <a:solidFill>
                  <a:schemeClr val="tx1"/>
                </a:solidFill>
                <a:latin typeface="Arial" panose="020B0604020202020204" pitchFamily="34" charset="0"/>
                <a:ea typeface="Arial Unicode MS" panose="020B0604020202020204"/>
                <a:cs typeface="Arial" panose="020B0604020202020204" pitchFamily="34" charset="0"/>
              </a:rPr>
              <a:t> </a:t>
            </a:r>
          </a:p>
        </p:txBody>
      </p:sp>
      <p:sp>
        <p:nvSpPr>
          <p:cNvPr id="9" name="Rechteck: abgerundete Ecken 8">
            <a:extLst>
              <a:ext uri="{FF2B5EF4-FFF2-40B4-BE49-F238E27FC236}">
                <a16:creationId xmlns:a16="http://schemas.microsoft.com/office/drawing/2014/main" id="{5A4CF246-DE1A-60ED-8C05-9A67E894E1AB}"/>
              </a:ext>
            </a:extLst>
          </p:cNvPr>
          <p:cNvSpPr/>
          <p:nvPr/>
        </p:nvSpPr>
        <p:spPr>
          <a:xfrm>
            <a:off x="899592" y="1405437"/>
            <a:ext cx="2679824" cy="34376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de-DE" sz="1200">
                <a:latin typeface="Arial" panose="020B0604020202020204" pitchFamily="34" charset="0"/>
                <a:ea typeface="Arial Unicode MS" panose="020B0604020202020204"/>
                <a:cs typeface="Arial" panose="020B0604020202020204" pitchFamily="34" charset="0"/>
              </a:rPr>
              <a:t>Rational </a:t>
            </a:r>
            <a:r>
              <a:rPr lang="de-DE" sz="1200" err="1">
                <a:latin typeface="Arial" panose="020B0604020202020204" pitchFamily="34" charset="0"/>
                <a:ea typeface="Arial Unicode MS" panose="020B0604020202020204"/>
                <a:cs typeface="Arial" panose="020B0604020202020204" pitchFamily="34" charset="0"/>
              </a:rPr>
              <a:t>analysis</a:t>
            </a:r>
            <a:endParaRPr lang="en-US" sz="1200">
              <a:latin typeface="Arial" panose="020B0604020202020204" pitchFamily="34" charset="0"/>
              <a:ea typeface="Arial Unicode MS" panose="020B0604020202020204"/>
              <a:cs typeface="Arial" panose="020B0604020202020204" pitchFamily="34" charset="0"/>
            </a:endParaRPr>
          </a:p>
        </p:txBody>
      </p:sp>
      <p:sp>
        <p:nvSpPr>
          <p:cNvPr id="12" name="Rechteck: abgerundete Ecken 11">
            <a:extLst>
              <a:ext uri="{FF2B5EF4-FFF2-40B4-BE49-F238E27FC236}">
                <a16:creationId xmlns:a16="http://schemas.microsoft.com/office/drawing/2014/main" id="{C78D81F5-2DE2-AC86-41B2-6C1D19B292C1}"/>
              </a:ext>
            </a:extLst>
          </p:cNvPr>
          <p:cNvSpPr/>
          <p:nvPr/>
        </p:nvSpPr>
        <p:spPr>
          <a:xfrm>
            <a:off x="1017028" y="4108276"/>
            <a:ext cx="2444952" cy="343762"/>
          </a:xfrm>
          <a:prstGeom prst="round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de-DE" sz="1000" dirty="0">
                <a:solidFill>
                  <a:schemeClr val="tx1"/>
                </a:solidFill>
                <a:latin typeface="Arial" panose="020B0604020202020204" pitchFamily="34" charset="0"/>
                <a:ea typeface="Arial Unicode MS" panose="020B0604020202020204"/>
                <a:cs typeface="Arial" panose="020B0604020202020204" pitchFamily="34" charset="0"/>
              </a:rPr>
              <a:t>Optimal </a:t>
            </a:r>
            <a:r>
              <a:rPr lang="de-DE" sz="1000" dirty="0" err="1">
                <a:solidFill>
                  <a:schemeClr val="tx1"/>
                </a:solidFill>
                <a:latin typeface="Arial" panose="020B0604020202020204" pitchFamily="34" charset="0"/>
                <a:ea typeface="Arial Unicode MS" panose="020B0604020202020204"/>
                <a:cs typeface="Arial" panose="020B0604020202020204" pitchFamily="34" charset="0"/>
              </a:rPr>
              <a:t>response</a:t>
            </a:r>
            <a:r>
              <a:rPr lang="de-DE" sz="1000" dirty="0">
                <a:solidFill>
                  <a:schemeClr val="tx1"/>
                </a:solidFill>
                <a:latin typeface="Arial" panose="020B0604020202020204" pitchFamily="34" charset="0"/>
                <a:ea typeface="Arial Unicode MS" panose="020B0604020202020204"/>
                <a:cs typeface="Arial" panose="020B0604020202020204" pitchFamily="34" charset="0"/>
              </a:rPr>
              <a:t> </a:t>
            </a:r>
            <a:r>
              <a:rPr lang="de-DE" sz="1000" dirty="0" err="1">
                <a:solidFill>
                  <a:schemeClr val="tx1"/>
                </a:solidFill>
                <a:latin typeface="Arial" panose="020B0604020202020204" pitchFamily="34" charset="0"/>
                <a:ea typeface="Arial Unicode MS" panose="020B0604020202020204"/>
                <a:cs typeface="Arial" panose="020B0604020202020204" pitchFamily="34" charset="0"/>
              </a:rPr>
              <a:t>sequences</a:t>
            </a:r>
            <a:endParaRPr lang="en-US" sz="1000" dirty="0">
              <a:solidFill>
                <a:schemeClr val="tx1"/>
              </a:solidFill>
              <a:latin typeface="Arial" panose="020B0604020202020204" pitchFamily="34" charset="0"/>
              <a:ea typeface="Arial Unicode MS" panose="020B0604020202020204"/>
              <a:cs typeface="Arial" panose="020B0604020202020204" pitchFamily="34" charset="0"/>
            </a:endParaRPr>
          </a:p>
        </p:txBody>
      </p:sp>
      <p:sp>
        <p:nvSpPr>
          <p:cNvPr id="13" name="Pfeil: nach rechts 12">
            <a:extLst>
              <a:ext uri="{FF2B5EF4-FFF2-40B4-BE49-F238E27FC236}">
                <a16:creationId xmlns:a16="http://schemas.microsoft.com/office/drawing/2014/main" id="{5AFD518C-FBCB-E16C-90D3-357CF8E2AC09}"/>
              </a:ext>
            </a:extLst>
          </p:cNvPr>
          <p:cNvSpPr/>
          <p:nvPr/>
        </p:nvSpPr>
        <p:spPr>
          <a:xfrm rot="5400000">
            <a:off x="966724" y="3419108"/>
            <a:ext cx="1162755" cy="215583"/>
          </a:xfrm>
          <a:prstGeom prst="rightArrow">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sz="1200">
              <a:latin typeface="Arial" panose="020B0604020202020204" pitchFamily="34" charset="0"/>
              <a:ea typeface="Arial Unicode MS" panose="020B0604020202020204"/>
              <a:cs typeface="Arial" panose="020B0604020202020204" pitchFamily="34" charset="0"/>
            </a:endParaRPr>
          </a:p>
        </p:txBody>
      </p:sp>
      <p:sp>
        <p:nvSpPr>
          <p:cNvPr id="14" name="Pfeil: nach rechts 13">
            <a:extLst>
              <a:ext uri="{FF2B5EF4-FFF2-40B4-BE49-F238E27FC236}">
                <a16:creationId xmlns:a16="http://schemas.microsoft.com/office/drawing/2014/main" id="{77FD62BC-3967-3BCC-6BBB-478471EF1DE5}"/>
              </a:ext>
            </a:extLst>
          </p:cNvPr>
          <p:cNvSpPr/>
          <p:nvPr/>
        </p:nvSpPr>
        <p:spPr>
          <a:xfrm rot="16200000">
            <a:off x="2298218" y="3419107"/>
            <a:ext cx="1162754" cy="215583"/>
          </a:xfrm>
          <a:prstGeom prst="rightArrow">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sz="1200">
              <a:latin typeface="Arial" panose="020B0604020202020204" pitchFamily="34" charset="0"/>
              <a:ea typeface="Arial Unicode MS" panose="020B0604020202020204"/>
              <a:cs typeface="Arial" panose="020B0604020202020204" pitchFamily="34" charset="0"/>
            </a:endParaRPr>
          </a:p>
        </p:txBody>
      </p:sp>
      <p:sp>
        <p:nvSpPr>
          <p:cNvPr id="15" name="Rechteck: abgerundete Ecken 14">
            <a:extLst>
              <a:ext uri="{FF2B5EF4-FFF2-40B4-BE49-F238E27FC236}">
                <a16:creationId xmlns:a16="http://schemas.microsoft.com/office/drawing/2014/main" id="{6D2802B0-1B77-6CC7-45D2-D9F395B016E7}"/>
              </a:ext>
            </a:extLst>
          </p:cNvPr>
          <p:cNvSpPr/>
          <p:nvPr/>
        </p:nvSpPr>
        <p:spPr>
          <a:xfrm>
            <a:off x="1014056" y="3579623"/>
            <a:ext cx="2444952" cy="343762"/>
          </a:xfrm>
          <a:prstGeom prst="roundRect">
            <a:avLst/>
          </a:prstGeom>
          <a:solidFill>
            <a:schemeClr val="bg1"/>
          </a:solid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de-DE" sz="1000" dirty="0" err="1">
                <a:solidFill>
                  <a:schemeClr val="tx1"/>
                </a:solidFill>
                <a:latin typeface="Arial" panose="020B0604020202020204" pitchFamily="34" charset="0"/>
                <a:ea typeface="Arial Unicode MS" panose="020B0604020202020204"/>
                <a:cs typeface="Arial" panose="020B0604020202020204" pitchFamily="34" charset="0"/>
              </a:rPr>
              <a:t>Bellman</a:t>
            </a:r>
            <a:r>
              <a:rPr lang="de-DE" sz="1000" dirty="0">
                <a:solidFill>
                  <a:schemeClr val="tx1"/>
                </a:solidFill>
                <a:latin typeface="Arial" panose="020B0604020202020204" pitchFamily="34" charset="0"/>
                <a:ea typeface="Arial Unicode MS" panose="020B0604020202020204"/>
                <a:cs typeface="Arial" panose="020B0604020202020204" pitchFamily="34" charset="0"/>
              </a:rPr>
              <a:t> </a:t>
            </a:r>
            <a:r>
              <a:rPr lang="de-DE" sz="1000" dirty="0" err="1">
                <a:solidFill>
                  <a:schemeClr val="tx1"/>
                </a:solidFill>
                <a:latin typeface="Arial" panose="020B0604020202020204" pitchFamily="34" charset="0"/>
                <a:ea typeface="Arial Unicode MS" panose="020B0604020202020204"/>
                <a:cs typeface="Arial" panose="020B0604020202020204" pitchFamily="34" charset="0"/>
              </a:rPr>
              <a:t>equation</a:t>
            </a:r>
            <a:r>
              <a:rPr lang="de-DE" sz="1000" dirty="0">
                <a:solidFill>
                  <a:schemeClr val="tx1"/>
                </a:solidFill>
                <a:latin typeface="Arial" panose="020B0604020202020204" pitchFamily="34" charset="0"/>
                <a:ea typeface="Arial Unicode MS" panose="020B0604020202020204"/>
                <a:cs typeface="Arial" panose="020B0604020202020204" pitchFamily="34" charset="0"/>
              </a:rPr>
              <a:t> </a:t>
            </a:r>
            <a:r>
              <a:rPr lang="de-DE" sz="1000" dirty="0" err="1">
                <a:solidFill>
                  <a:schemeClr val="tx1"/>
                </a:solidFill>
                <a:latin typeface="Arial" panose="020B0604020202020204" pitchFamily="34" charset="0"/>
                <a:ea typeface="Arial Unicode MS" panose="020B0604020202020204"/>
                <a:cs typeface="Arial" panose="020B0604020202020204" pitchFamily="34" charset="0"/>
              </a:rPr>
              <a:t>solution</a:t>
            </a:r>
            <a:endParaRPr lang="en-US" sz="1000" dirty="0">
              <a:solidFill>
                <a:schemeClr val="tx1"/>
              </a:solidFill>
              <a:latin typeface="Arial" panose="020B0604020202020204" pitchFamily="34" charset="0"/>
              <a:ea typeface="Arial Unicode MS" panose="020B0604020202020204"/>
              <a:cs typeface="Arial" panose="020B0604020202020204" pitchFamily="34" charset="0"/>
            </a:endParaRPr>
          </a:p>
        </p:txBody>
      </p:sp>
      <mc:AlternateContent xmlns:mc="http://schemas.openxmlformats.org/markup-compatibility/2006" xmlns:a14="http://schemas.microsoft.com/office/drawing/2010/main">
        <mc:Choice Requires="a14">
          <p:sp>
            <p:nvSpPr>
              <p:cNvPr id="16" name="Textfeld 15">
                <a:extLst>
                  <a:ext uri="{FF2B5EF4-FFF2-40B4-BE49-F238E27FC236}">
                    <a16:creationId xmlns:a16="http://schemas.microsoft.com/office/drawing/2014/main" id="{085B0364-698E-F26B-E578-AF4EF0192B71}"/>
                  </a:ext>
                </a:extLst>
              </p:cNvPr>
              <p:cNvSpPr txBox="1"/>
              <p:nvPr/>
            </p:nvSpPr>
            <p:spPr>
              <a:xfrm>
                <a:off x="1108741" y="1867184"/>
                <a:ext cx="2317301" cy="553998"/>
              </a:xfrm>
              <a:prstGeom prst="rect">
                <a:avLst/>
              </a:prstGeom>
              <a:noFill/>
            </p:spPr>
            <p:txBody>
              <a:bodyPr wrap="none" rtlCol="0">
                <a:spAutoFit/>
              </a:bodyPr>
              <a:lstStyle/>
              <a:p>
                <a:pPr algn="ctr">
                  <a:lnSpc>
                    <a:spcPts val="1800"/>
                  </a:lnSpc>
                </a:pPr>
                <a:r>
                  <a:rPr lang="de-DE" sz="1100" dirty="0">
                    <a:latin typeface="Arial" panose="020B0604020202020204" pitchFamily="34" charset="0"/>
                    <a:cs typeface="Arial" panose="020B0604020202020204" pitchFamily="34" charset="0"/>
                  </a:rPr>
                  <a:t>Markov </a:t>
                </a:r>
                <a:r>
                  <a:rPr lang="de-DE" sz="1100" dirty="0" err="1">
                    <a:latin typeface="Arial" panose="020B0604020202020204" pitchFamily="34" charset="0"/>
                    <a:cs typeface="Arial" panose="020B0604020202020204" pitchFamily="34" charset="0"/>
                  </a:rPr>
                  <a:t>Decision</a:t>
                </a:r>
                <a:r>
                  <a:rPr lang="de-DE" sz="1100" dirty="0">
                    <a:latin typeface="Arial" panose="020B0604020202020204" pitchFamily="34" charset="0"/>
                    <a:cs typeface="Arial" panose="020B0604020202020204" pitchFamily="34" charset="0"/>
                  </a:rPr>
                  <a:t> </a:t>
                </a:r>
                <a:r>
                  <a:rPr lang="de-DE" sz="1100" dirty="0" err="1">
                    <a:latin typeface="Arial" panose="020B0604020202020204" pitchFamily="34" charset="0"/>
                    <a:cs typeface="Arial" panose="020B0604020202020204" pitchFamily="34" charset="0"/>
                  </a:rPr>
                  <a:t>Processes</a:t>
                </a:r>
                <a:endParaRPr lang="de-DE" sz="1100" dirty="0">
                  <a:latin typeface="Arial" panose="020B0604020202020204" pitchFamily="34" charset="0"/>
                  <a:cs typeface="Arial" panose="020B0604020202020204" pitchFamily="34" charset="0"/>
                </a:endParaRPr>
              </a:p>
              <a:p>
                <a:pPr algn="ctr">
                  <a:lnSpc>
                    <a:spcPts val="1800"/>
                  </a:lnSpc>
                </a:pPr>
                <a14:m>
                  <m:oMathPara xmlns:m="http://schemas.openxmlformats.org/officeDocument/2006/math">
                    <m:oMathParaPr>
                      <m:jc m:val="centerGroup"/>
                    </m:oMathParaPr>
                    <m:oMath xmlns:m="http://schemas.openxmlformats.org/officeDocument/2006/math">
                      <m:d>
                        <m:dPr>
                          <m:ctrlPr>
                            <a:rPr lang="de-DE" sz="1100" i="1">
                              <a:latin typeface="Cambria Math" panose="02040503050406030204" pitchFamily="18" charset="0"/>
                            </a:rPr>
                          </m:ctrlPr>
                        </m:dPr>
                        <m:e>
                          <m:r>
                            <a:rPr lang="de-DE" sz="1100" i="1">
                              <a:latin typeface="Cambria Math" panose="02040503050406030204" pitchFamily="18" charset="0"/>
                            </a:rPr>
                            <m:t>𝑆</m:t>
                          </m:r>
                          <m:r>
                            <a:rPr lang="de-DE" sz="1100" i="1">
                              <a:latin typeface="Cambria Math" panose="02040503050406030204" pitchFamily="18" charset="0"/>
                            </a:rPr>
                            <m:t>,</m:t>
                          </m:r>
                          <m:r>
                            <a:rPr lang="de-DE" sz="1100" i="1">
                              <a:latin typeface="Cambria Math" panose="02040503050406030204" pitchFamily="18" charset="0"/>
                            </a:rPr>
                            <m:t>𝐴</m:t>
                          </m:r>
                          <m:r>
                            <a:rPr lang="de-DE" sz="1100" i="1">
                              <a:latin typeface="Cambria Math" panose="02040503050406030204" pitchFamily="18" charset="0"/>
                            </a:rPr>
                            <m:t>,</m:t>
                          </m:r>
                          <m:r>
                            <a:rPr lang="de-DE" sz="1100" i="1">
                              <a:latin typeface="Cambria Math" panose="02040503050406030204" pitchFamily="18" charset="0"/>
                            </a:rPr>
                            <m:t>𝑝</m:t>
                          </m:r>
                          <m:d>
                            <m:dPr>
                              <m:ctrlPr>
                                <a:rPr lang="de-DE" sz="1100" i="1">
                                  <a:latin typeface="Cambria Math" panose="02040503050406030204" pitchFamily="18" charset="0"/>
                                </a:rPr>
                              </m:ctrlPr>
                            </m:dPr>
                            <m:e>
                              <m:sSub>
                                <m:sSubPr>
                                  <m:ctrlPr>
                                    <a:rPr lang="de-DE" sz="1100" i="1">
                                      <a:latin typeface="Cambria Math" panose="02040503050406030204" pitchFamily="18" charset="0"/>
                                    </a:rPr>
                                  </m:ctrlPr>
                                </m:sSubPr>
                                <m:e>
                                  <m:r>
                                    <a:rPr lang="de-DE" sz="1100" i="1">
                                      <a:latin typeface="Cambria Math" panose="02040503050406030204" pitchFamily="18" charset="0"/>
                                    </a:rPr>
                                    <m:t>𝑠</m:t>
                                  </m:r>
                                </m:e>
                                <m:sub>
                                  <m:r>
                                    <a:rPr lang="de-DE" sz="1100" i="1">
                                      <a:latin typeface="Cambria Math" panose="02040503050406030204" pitchFamily="18" charset="0"/>
                                    </a:rPr>
                                    <m:t>1</m:t>
                                  </m:r>
                                </m:sub>
                              </m:sSub>
                            </m:e>
                          </m:d>
                          <m:r>
                            <a:rPr lang="de-DE" sz="1100" i="1">
                              <a:latin typeface="Cambria Math" panose="02040503050406030204" pitchFamily="18" charset="0"/>
                            </a:rPr>
                            <m:t>, </m:t>
                          </m:r>
                          <m:r>
                            <a:rPr lang="de-DE" sz="1100" i="1">
                              <a:latin typeface="Cambria Math" panose="02040503050406030204" pitchFamily="18" charset="0"/>
                            </a:rPr>
                            <m:t>𝑝</m:t>
                          </m:r>
                          <m:d>
                            <m:dPr>
                              <m:ctrlPr>
                                <a:rPr lang="de-DE" sz="1100" i="1">
                                  <a:latin typeface="Cambria Math" panose="02040503050406030204" pitchFamily="18" charset="0"/>
                                </a:rPr>
                              </m:ctrlPr>
                            </m:dPr>
                            <m:e>
                              <m:sSub>
                                <m:sSubPr>
                                  <m:ctrlPr>
                                    <a:rPr lang="de-DE" sz="1100" i="1">
                                      <a:latin typeface="Cambria Math" panose="02040503050406030204" pitchFamily="18" charset="0"/>
                                    </a:rPr>
                                  </m:ctrlPr>
                                </m:sSubPr>
                                <m:e>
                                  <m:r>
                                    <a:rPr lang="de-DE" sz="1100" i="1">
                                      <a:latin typeface="Cambria Math" panose="02040503050406030204" pitchFamily="18" charset="0"/>
                                    </a:rPr>
                                    <m:t>𝑠</m:t>
                                  </m:r>
                                </m:e>
                                <m:sub>
                                  <m:r>
                                    <a:rPr lang="de-DE" sz="1100" i="1">
                                      <a:latin typeface="Cambria Math" panose="02040503050406030204" pitchFamily="18" charset="0"/>
                                    </a:rPr>
                                    <m:t>𝑡</m:t>
                                  </m:r>
                                  <m:r>
                                    <a:rPr lang="de-DE" sz="1100" i="1">
                                      <a:latin typeface="Cambria Math" panose="02040503050406030204" pitchFamily="18" charset="0"/>
                                    </a:rPr>
                                    <m:t>+1</m:t>
                                  </m:r>
                                </m:sub>
                              </m:sSub>
                            </m:e>
                            <m:e>
                              <m:sSub>
                                <m:sSubPr>
                                  <m:ctrlPr>
                                    <a:rPr lang="de-DE" sz="1100" i="1">
                                      <a:latin typeface="Cambria Math" panose="02040503050406030204" pitchFamily="18" charset="0"/>
                                    </a:rPr>
                                  </m:ctrlPr>
                                </m:sSubPr>
                                <m:e>
                                  <m:r>
                                    <a:rPr lang="de-DE" sz="1100" i="1">
                                      <a:latin typeface="Cambria Math" panose="02040503050406030204" pitchFamily="18" charset="0"/>
                                    </a:rPr>
                                    <m:t>𝑠</m:t>
                                  </m:r>
                                </m:e>
                                <m:sub>
                                  <m:r>
                                    <a:rPr lang="de-DE" sz="1100" i="1">
                                      <a:latin typeface="Cambria Math" panose="02040503050406030204" pitchFamily="18" charset="0"/>
                                    </a:rPr>
                                    <m:t>𝑡</m:t>
                                  </m:r>
                                </m:sub>
                              </m:sSub>
                              <m:r>
                                <a:rPr lang="de-DE" sz="1100" i="1">
                                  <a:latin typeface="Cambria Math" panose="02040503050406030204" pitchFamily="18" charset="0"/>
                                </a:rPr>
                                <m:t>,</m:t>
                              </m:r>
                              <m:sSub>
                                <m:sSubPr>
                                  <m:ctrlPr>
                                    <a:rPr lang="de-DE" sz="1100" i="1">
                                      <a:latin typeface="Cambria Math" panose="02040503050406030204" pitchFamily="18" charset="0"/>
                                    </a:rPr>
                                  </m:ctrlPr>
                                </m:sSubPr>
                                <m:e>
                                  <m:r>
                                    <a:rPr lang="de-DE" sz="1100" i="1">
                                      <a:latin typeface="Cambria Math" panose="02040503050406030204" pitchFamily="18" charset="0"/>
                                    </a:rPr>
                                    <m:t>𝑎</m:t>
                                  </m:r>
                                </m:e>
                                <m:sub>
                                  <m:r>
                                    <a:rPr lang="de-DE" sz="1100" i="1">
                                      <a:latin typeface="Cambria Math" panose="02040503050406030204" pitchFamily="18" charset="0"/>
                                    </a:rPr>
                                    <m:t>𝑡</m:t>
                                  </m:r>
                                </m:sub>
                              </m:sSub>
                            </m:e>
                          </m:d>
                          <m:r>
                            <a:rPr lang="de-DE" sz="1100" i="1">
                              <a:latin typeface="Cambria Math" panose="02040503050406030204" pitchFamily="18" charset="0"/>
                            </a:rPr>
                            <m:t>, </m:t>
                          </m:r>
                          <m:r>
                            <a:rPr lang="de-DE" sz="1100" i="1">
                              <a:latin typeface="Cambria Math" panose="02040503050406030204" pitchFamily="18" charset="0"/>
                            </a:rPr>
                            <m:t>𝑟</m:t>
                          </m:r>
                          <m:d>
                            <m:dPr>
                              <m:ctrlPr>
                                <a:rPr lang="de-DE" sz="1100" i="1">
                                  <a:latin typeface="Cambria Math" panose="02040503050406030204" pitchFamily="18" charset="0"/>
                                </a:rPr>
                              </m:ctrlPr>
                            </m:dPr>
                            <m:e>
                              <m:sSub>
                                <m:sSubPr>
                                  <m:ctrlPr>
                                    <a:rPr lang="de-DE" sz="1100" i="1">
                                      <a:latin typeface="Cambria Math" panose="02040503050406030204" pitchFamily="18" charset="0"/>
                                    </a:rPr>
                                  </m:ctrlPr>
                                </m:sSubPr>
                                <m:e>
                                  <m:r>
                                    <a:rPr lang="de-DE" sz="1100" i="1">
                                      <a:latin typeface="Cambria Math" panose="02040503050406030204" pitchFamily="18" charset="0"/>
                                    </a:rPr>
                                    <m:t>𝑠</m:t>
                                  </m:r>
                                </m:e>
                                <m:sub>
                                  <m:r>
                                    <a:rPr lang="de-DE" sz="1100" i="1">
                                      <a:latin typeface="Cambria Math" panose="02040503050406030204" pitchFamily="18" charset="0"/>
                                    </a:rPr>
                                    <m:t>𝑡</m:t>
                                  </m:r>
                                </m:sub>
                              </m:sSub>
                              <m:r>
                                <a:rPr lang="de-DE" sz="1100" i="1">
                                  <a:latin typeface="Cambria Math" panose="02040503050406030204" pitchFamily="18" charset="0"/>
                                </a:rPr>
                                <m:t>,</m:t>
                              </m:r>
                              <m:sSub>
                                <m:sSubPr>
                                  <m:ctrlPr>
                                    <a:rPr lang="de-DE" sz="1100" i="1">
                                      <a:latin typeface="Cambria Math" panose="02040503050406030204" pitchFamily="18" charset="0"/>
                                    </a:rPr>
                                  </m:ctrlPr>
                                </m:sSubPr>
                                <m:e>
                                  <m:r>
                                    <a:rPr lang="de-DE" sz="1100" i="1">
                                      <a:latin typeface="Cambria Math" panose="02040503050406030204" pitchFamily="18" charset="0"/>
                                    </a:rPr>
                                    <m:t>𝑎</m:t>
                                  </m:r>
                                </m:e>
                                <m:sub>
                                  <m:r>
                                    <a:rPr lang="de-DE" sz="1100" i="1">
                                      <a:latin typeface="Cambria Math" panose="02040503050406030204" pitchFamily="18" charset="0"/>
                                    </a:rPr>
                                    <m:t>𝑡</m:t>
                                  </m:r>
                                </m:sub>
                              </m:sSub>
                            </m:e>
                          </m:d>
                        </m:e>
                      </m:d>
                    </m:oMath>
                  </m:oMathPara>
                </a14:m>
                <a:endParaRPr lang="de-DE" sz="1100" dirty="0"/>
              </a:p>
            </p:txBody>
          </p:sp>
        </mc:Choice>
        <mc:Fallback xmlns="">
          <p:sp>
            <p:nvSpPr>
              <p:cNvPr id="16" name="Textfeld 15">
                <a:extLst>
                  <a:ext uri="{FF2B5EF4-FFF2-40B4-BE49-F238E27FC236}">
                    <a16:creationId xmlns:a16="http://schemas.microsoft.com/office/drawing/2014/main" id="{085B0364-698E-F26B-E578-AF4EF0192B71}"/>
                  </a:ext>
                </a:extLst>
              </p:cNvPr>
              <p:cNvSpPr txBox="1">
                <a:spLocks noRot="1" noChangeAspect="1" noMove="1" noResize="1" noEditPoints="1" noAdjustHandles="1" noChangeArrowheads="1" noChangeShapeType="1" noTextEdit="1"/>
              </p:cNvSpPr>
              <p:nvPr/>
            </p:nvSpPr>
            <p:spPr>
              <a:xfrm>
                <a:off x="1108741" y="1867184"/>
                <a:ext cx="2317301" cy="553998"/>
              </a:xfrm>
              <a:prstGeom prst="rect">
                <a:avLst/>
              </a:prstGeom>
              <a:blipFill>
                <a:blip r:embed="rId4"/>
                <a:stretch>
                  <a:fillRect/>
                </a:stretch>
              </a:blipFill>
            </p:spPr>
            <p:txBody>
              <a:bodyPr/>
              <a:lstStyle/>
              <a:p>
                <a:r>
                  <a:rPr lang="de-DE">
                    <a:noFill/>
                  </a:rPr>
                  <a:t> </a:t>
                </a:r>
              </a:p>
            </p:txBody>
          </p:sp>
        </mc:Fallback>
      </mc:AlternateContent>
      <p:sp>
        <p:nvSpPr>
          <p:cNvPr id="17" name="Textfeld 16">
            <a:extLst>
              <a:ext uri="{FF2B5EF4-FFF2-40B4-BE49-F238E27FC236}">
                <a16:creationId xmlns:a16="http://schemas.microsoft.com/office/drawing/2014/main" id="{CCC7BE55-5FB9-FC87-625D-107345C690A8}"/>
              </a:ext>
            </a:extLst>
          </p:cNvPr>
          <p:cNvSpPr txBox="1"/>
          <p:nvPr/>
        </p:nvSpPr>
        <p:spPr>
          <a:xfrm>
            <a:off x="1108741" y="929127"/>
            <a:ext cx="7776864" cy="338554"/>
          </a:xfrm>
          <a:prstGeom prst="rect">
            <a:avLst/>
          </a:prstGeom>
          <a:noFill/>
        </p:spPr>
        <p:txBody>
          <a:bodyPr wrap="square" rtlCol="0">
            <a:spAutoFit/>
          </a:bodyPr>
          <a:lstStyle/>
          <a:p>
            <a:r>
              <a:rPr lang="de-DE" sz="1600">
                <a:latin typeface="Arial" panose="020B0604020202020204" pitchFamily="34" charset="0"/>
                <a:cs typeface="Arial" panose="020B0604020202020204" pitchFamily="34" charset="0"/>
              </a:rPr>
              <a:t>FCDT </a:t>
            </a:r>
            <a:r>
              <a:rPr lang="de-DE" sz="1600" err="1">
                <a:latin typeface="Arial" panose="020B0604020202020204" pitchFamily="34" charset="0"/>
                <a:cs typeface="Arial" panose="020B0604020202020204" pitchFamily="34" charset="0"/>
              </a:rPr>
              <a:t>response</a:t>
            </a:r>
            <a:r>
              <a:rPr lang="de-DE" sz="1600">
                <a:latin typeface="Arial" panose="020B0604020202020204" pitchFamily="34" charset="0"/>
                <a:cs typeface="Arial" panose="020B0604020202020204" pitchFamily="34" charset="0"/>
              </a:rPr>
              <a:t> </a:t>
            </a:r>
            <a:r>
              <a:rPr lang="de-DE" sz="1600" err="1">
                <a:latin typeface="Arial" panose="020B0604020202020204" pitchFamily="34" charset="0"/>
                <a:cs typeface="Arial" panose="020B0604020202020204" pitchFamily="34" charset="0"/>
              </a:rPr>
              <a:t>strategies</a:t>
            </a:r>
            <a:r>
              <a:rPr lang="de-DE" sz="1600">
                <a:latin typeface="Arial" panose="020B0604020202020204" pitchFamily="34" charset="0"/>
                <a:cs typeface="Arial" panose="020B0604020202020204" pitchFamily="34" charset="0"/>
              </a:rPr>
              <a:t> </a:t>
            </a:r>
            <a:r>
              <a:rPr lang="de-DE" sz="1600" err="1">
                <a:latin typeface="Arial" panose="020B0604020202020204" pitchFamily="34" charset="0"/>
                <a:cs typeface="Arial" panose="020B0604020202020204" pitchFamily="34" charset="0"/>
              </a:rPr>
              <a:t>as</a:t>
            </a:r>
            <a:r>
              <a:rPr lang="de-DE" sz="1600">
                <a:latin typeface="Arial" panose="020B0604020202020204" pitchFamily="34" charset="0"/>
                <a:cs typeface="Arial" panose="020B0604020202020204" pitchFamily="34" charset="0"/>
              </a:rPr>
              <a:t> optimal </a:t>
            </a:r>
            <a:r>
              <a:rPr lang="de-DE" sz="1600" err="1">
                <a:latin typeface="Arial" panose="020B0604020202020204" pitchFamily="34" charset="0"/>
                <a:cs typeface="Arial" panose="020B0604020202020204" pitchFamily="34" charset="0"/>
              </a:rPr>
              <a:t>policies</a:t>
            </a:r>
            <a:r>
              <a:rPr lang="de-DE" sz="1600">
                <a:latin typeface="Arial" panose="020B0604020202020204" pitchFamily="34" charset="0"/>
                <a:cs typeface="Arial" panose="020B0604020202020204" pitchFamily="34" charset="0"/>
              </a:rPr>
              <a:t> </a:t>
            </a:r>
            <a:r>
              <a:rPr lang="de-DE" sz="1600" err="1">
                <a:latin typeface="Arial" panose="020B0604020202020204" pitchFamily="34" charset="0"/>
                <a:cs typeface="Arial" panose="020B0604020202020204" pitchFamily="34" charset="0"/>
              </a:rPr>
              <a:t>under</a:t>
            </a:r>
            <a:r>
              <a:rPr lang="de-DE" sz="1600">
                <a:latin typeface="Arial" panose="020B0604020202020204" pitchFamily="34" charset="0"/>
                <a:cs typeface="Arial" panose="020B0604020202020204" pitchFamily="34" charset="0"/>
              </a:rPr>
              <a:t> </a:t>
            </a:r>
            <a:r>
              <a:rPr lang="de-DE" sz="1600" err="1">
                <a:latin typeface="Arial" panose="020B0604020202020204" pitchFamily="34" charset="0"/>
                <a:cs typeface="Arial" panose="020B0604020202020204" pitchFamily="34" charset="0"/>
              </a:rPr>
              <a:t>subjective</a:t>
            </a:r>
            <a:r>
              <a:rPr lang="de-DE" sz="1600">
                <a:latin typeface="Arial" panose="020B0604020202020204" pitchFamily="34" charset="0"/>
                <a:cs typeface="Arial" panose="020B0604020202020204" pitchFamily="34" charset="0"/>
              </a:rPr>
              <a:t> </a:t>
            </a:r>
            <a:r>
              <a:rPr lang="de-DE" sz="1600" err="1">
                <a:latin typeface="Arial" panose="020B0604020202020204" pitchFamily="34" charset="0"/>
                <a:cs typeface="Arial" panose="020B0604020202020204" pitchFamily="34" charset="0"/>
              </a:rPr>
              <a:t>cost</a:t>
            </a:r>
            <a:r>
              <a:rPr lang="de-DE" sz="1600">
                <a:latin typeface="Arial" panose="020B0604020202020204" pitchFamily="34" charset="0"/>
                <a:cs typeface="Arial" panose="020B0604020202020204" pitchFamily="34" charset="0"/>
              </a:rPr>
              <a:t> </a:t>
            </a:r>
            <a:r>
              <a:rPr lang="de-DE" sz="1600" err="1">
                <a:latin typeface="Arial" panose="020B0604020202020204" pitchFamily="34" charset="0"/>
                <a:cs typeface="Arial" panose="020B0604020202020204" pitchFamily="34" charset="0"/>
              </a:rPr>
              <a:t>functions</a:t>
            </a:r>
            <a:endParaRPr lang="de-DE" sz="1600">
              <a:latin typeface="Arial" panose="020B0604020202020204" pitchFamily="34" charset="0"/>
              <a:cs typeface="Arial" panose="020B0604020202020204" pitchFamily="34" charset="0"/>
            </a:endParaRPr>
          </a:p>
        </p:txBody>
      </p:sp>
      <p:sp>
        <p:nvSpPr>
          <p:cNvPr id="18" name="Rechteck: abgerundete Ecken 17">
            <a:extLst>
              <a:ext uri="{FF2B5EF4-FFF2-40B4-BE49-F238E27FC236}">
                <a16:creationId xmlns:a16="http://schemas.microsoft.com/office/drawing/2014/main" id="{A4143FE7-06AD-8B6E-550F-87A29C161A95}"/>
              </a:ext>
            </a:extLst>
          </p:cNvPr>
          <p:cNvSpPr/>
          <p:nvPr/>
        </p:nvSpPr>
        <p:spPr>
          <a:xfrm>
            <a:off x="397869" y="1839920"/>
            <a:ext cx="715416" cy="348215"/>
          </a:xfrm>
          <a:prstGeom prst="roundRect">
            <a:avLst/>
          </a:prstGeom>
          <a:solidFill>
            <a:srgbClr val="E8D6EF"/>
          </a:solidFill>
          <a:ln>
            <a:solidFill>
              <a:srgbClr val="6B53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a:solidFill>
                  <a:schemeClr val="tx1"/>
                </a:solidFill>
                <a:latin typeface="Arial" panose="020B0604020202020204" pitchFamily="34" charset="0"/>
                <a:cs typeface="Arial" panose="020B0604020202020204" pitchFamily="34" charset="0"/>
              </a:rPr>
              <a:t>Freiburg</a:t>
            </a:r>
            <a:endParaRPr lang="en-US">
              <a:solidFill>
                <a:schemeClr val="tx1"/>
              </a:solidFill>
              <a:latin typeface="Arial" panose="020B0604020202020204" pitchFamily="34" charset="0"/>
              <a:cs typeface="Arial" panose="020B0604020202020204" pitchFamily="34" charset="0"/>
            </a:endParaRPr>
          </a:p>
        </p:txBody>
      </p:sp>
      <p:pic>
        <p:nvPicPr>
          <p:cNvPr id="10" name="Grafik 9" descr="Ein Bild, das Text, Diagramm, Reihe, Screenshot enthält.&#10;&#10;KI-generierte Inhalte können fehlerhaft sein.">
            <a:extLst>
              <a:ext uri="{FF2B5EF4-FFF2-40B4-BE49-F238E27FC236}">
                <a16:creationId xmlns:a16="http://schemas.microsoft.com/office/drawing/2014/main" id="{9472D8FB-B0C0-1530-0A38-F3826B80EC1B}"/>
              </a:ext>
            </a:extLst>
          </p:cNvPr>
          <p:cNvPicPr>
            <a:picLocks noChangeAspect="1"/>
          </p:cNvPicPr>
          <p:nvPr/>
        </p:nvPicPr>
        <p:blipFill>
          <a:blip r:embed="rId5"/>
          <a:stretch>
            <a:fillRect/>
          </a:stretch>
        </p:blipFill>
        <p:spPr>
          <a:xfrm>
            <a:off x="3801938" y="1742055"/>
            <a:ext cx="4743875" cy="2846325"/>
          </a:xfrm>
          <a:prstGeom prst="rect">
            <a:avLst/>
          </a:prstGeom>
        </p:spPr>
      </p:pic>
      <p:sp>
        <p:nvSpPr>
          <p:cNvPr id="11" name="Rechteck: abgerundete Ecken 10">
            <a:extLst>
              <a:ext uri="{FF2B5EF4-FFF2-40B4-BE49-F238E27FC236}">
                <a16:creationId xmlns:a16="http://schemas.microsoft.com/office/drawing/2014/main" id="{83AE57F4-23E4-1022-6A5A-018928EA0E40}"/>
              </a:ext>
            </a:extLst>
          </p:cNvPr>
          <p:cNvSpPr/>
          <p:nvPr/>
        </p:nvSpPr>
        <p:spPr>
          <a:xfrm>
            <a:off x="1014056" y="3112776"/>
            <a:ext cx="2444952" cy="343762"/>
          </a:xfrm>
          <a:prstGeom prst="roundRect">
            <a:avLst/>
          </a:prstGeom>
          <a:solidFill>
            <a:schemeClr val="bg1"/>
          </a:solid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t"/>
          <a:lstStyle/>
          <a:p>
            <a:pPr algn="ctr">
              <a:lnSpc>
                <a:spcPct val="150000"/>
              </a:lnSpc>
            </a:pPr>
            <a:r>
              <a:rPr lang="en-US" sz="1000" dirty="0">
                <a:solidFill>
                  <a:schemeClr val="tx1"/>
                </a:solidFill>
                <a:latin typeface="Arial" panose="020B0604020202020204" pitchFamily="34" charset="0"/>
                <a:ea typeface="Arial Unicode MS" panose="020B0604020202020204"/>
                <a:cs typeface="Arial" panose="020B0604020202020204" pitchFamily="34" charset="0"/>
              </a:rPr>
              <a:t>Expected reward maximization</a:t>
            </a:r>
          </a:p>
        </p:txBody>
      </p:sp>
    </p:spTree>
    <p:extLst>
      <p:ext uri="{BB962C8B-B14F-4D97-AF65-F5344CB8AC3E}">
        <p14:creationId xmlns:p14="http://schemas.microsoft.com/office/powerpoint/2010/main" val="2028753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188A6D-D34A-9B62-860B-ADEFD1A17E50}"/>
              </a:ext>
            </a:extLst>
          </p:cNvPr>
          <p:cNvSpPr>
            <a:spLocks noGrp="1"/>
          </p:cNvSpPr>
          <p:nvPr>
            <p:ph type="title"/>
          </p:nvPr>
        </p:nvSpPr>
        <p:spPr/>
        <p:txBody>
          <a:bodyPr>
            <a:normAutofit/>
          </a:bodyPr>
          <a:lstStyle/>
          <a:p>
            <a:r>
              <a:rPr lang="de-DE" sz="2400" b="0" dirty="0">
                <a:latin typeface="Arial" panose="020B0604020202020204" pitchFamily="34" charset="0"/>
                <a:cs typeface="Arial" panose="020B0604020202020204" pitchFamily="34" charset="0"/>
              </a:rPr>
              <a:t>First-stage </a:t>
            </a:r>
            <a:r>
              <a:rPr lang="de-DE" sz="2400" b="0" dirty="0" err="1">
                <a:latin typeface="Arial" panose="020B0604020202020204" pitchFamily="34" charset="0"/>
                <a:cs typeface="Arial" panose="020B0604020202020204" pitchFamily="34" charset="0"/>
              </a:rPr>
              <a:t>implementation</a:t>
            </a:r>
            <a:endParaRPr lang="de-DE" sz="2400" b="0" dirty="0">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AD62F993-3240-E5AA-D831-81BD3539D33F}"/>
              </a:ext>
            </a:extLst>
          </p:cNvPr>
          <p:cNvSpPr>
            <a:spLocks noGrp="1"/>
          </p:cNvSpPr>
          <p:nvPr>
            <p:ph idx="1"/>
          </p:nvPr>
        </p:nvSpPr>
        <p:spPr>
          <a:xfrm>
            <a:off x="457200" y="1100747"/>
            <a:ext cx="8229600" cy="3541188"/>
          </a:xfrm>
        </p:spPr>
        <p:txBody>
          <a:bodyPr>
            <a:normAutofit fontScale="77500" lnSpcReduction="20000"/>
          </a:bodyPr>
          <a:lstStyle/>
          <a:p>
            <a:pPr>
              <a:lnSpc>
                <a:spcPct val="160000"/>
              </a:lnSpc>
            </a:pPr>
            <a:r>
              <a:rPr lang="de-DE" sz="1600" dirty="0" err="1"/>
              <a:t>Application</a:t>
            </a:r>
            <a:r>
              <a:rPr lang="de-DE" sz="1600" dirty="0"/>
              <a:t> to Brüning, </a:t>
            </a:r>
            <a:r>
              <a:rPr lang="de-DE" sz="1600" dirty="0" err="1"/>
              <a:t>Manzey</a:t>
            </a:r>
            <a:r>
              <a:rPr lang="de-DE" sz="1600" dirty="0"/>
              <a:t> (2020) </a:t>
            </a:r>
            <a:r>
              <a:rPr lang="de-DE" sz="1600" dirty="0" err="1"/>
              <a:t>data</a:t>
            </a:r>
            <a:r>
              <a:rPr lang="de-DE" sz="1600" dirty="0"/>
              <a:t> </a:t>
            </a:r>
            <a:r>
              <a:rPr lang="de-DE" sz="1600" dirty="0" err="1"/>
              <a:t>subset</a:t>
            </a:r>
            <a:r>
              <a:rPr lang="de-DE" sz="1600" dirty="0"/>
              <a:t> (</a:t>
            </a:r>
            <a:r>
              <a:rPr lang="de-DE" sz="1600" dirty="0">
                <a:hlinkClick r:id="rId2"/>
              </a:rPr>
              <a:t>osf.io/x6n58</a:t>
            </a:r>
            <a:r>
              <a:rPr lang="de-DE" sz="1600" dirty="0"/>
              <a:t>)</a:t>
            </a:r>
          </a:p>
          <a:p>
            <a:pPr>
              <a:lnSpc>
                <a:spcPct val="160000"/>
              </a:lnSpc>
            </a:pPr>
            <a:r>
              <a:rPr lang="de-DE" sz="1600" dirty="0"/>
              <a:t>Full </a:t>
            </a:r>
            <a:r>
              <a:rPr lang="de-DE" sz="1600" dirty="0" err="1"/>
              <a:t>theoretical</a:t>
            </a:r>
            <a:r>
              <a:rPr lang="de-DE" sz="1600" dirty="0"/>
              <a:t> and </a:t>
            </a:r>
            <a:r>
              <a:rPr lang="de-DE" sz="1600" dirty="0" err="1"/>
              <a:t>implementational</a:t>
            </a:r>
            <a:r>
              <a:rPr lang="de-DE" sz="1600" dirty="0"/>
              <a:t> </a:t>
            </a:r>
            <a:r>
              <a:rPr lang="de-DE" sz="1600" dirty="0" err="1"/>
              <a:t>details</a:t>
            </a:r>
            <a:r>
              <a:rPr lang="de-DE" sz="1600" dirty="0"/>
              <a:t> on </a:t>
            </a:r>
            <a:r>
              <a:rPr lang="de-DE" sz="1600" dirty="0">
                <a:hlinkClick r:id="rId3"/>
              </a:rPr>
              <a:t>GitHub</a:t>
            </a:r>
            <a:r>
              <a:rPr lang="de-DE" sz="1600" dirty="0"/>
              <a:t>, </a:t>
            </a:r>
            <a:r>
              <a:rPr lang="de-DE" sz="1600" dirty="0" err="1"/>
              <a:t>including</a:t>
            </a:r>
            <a:r>
              <a:rPr lang="de-DE" sz="1600" dirty="0"/>
              <a:t> an extensive </a:t>
            </a:r>
            <a:r>
              <a:rPr lang="de-DE" sz="1600" dirty="0" err="1"/>
              <a:t>report</a:t>
            </a:r>
            <a:r>
              <a:rPr lang="de-DE" sz="1600" dirty="0"/>
              <a:t> (</a:t>
            </a:r>
            <a:r>
              <a:rPr lang="de-DE" sz="1600" dirty="0">
                <a:hlinkClick r:id="rId4"/>
              </a:rPr>
              <a:t>.</a:t>
            </a:r>
            <a:r>
              <a:rPr lang="de-DE" sz="1600" dirty="0" err="1">
                <a:hlinkClick r:id="rId4"/>
              </a:rPr>
              <a:t>pdf</a:t>
            </a:r>
            <a:r>
              <a:rPr lang="de-DE" sz="1600" dirty="0"/>
              <a:t>)</a:t>
            </a:r>
          </a:p>
          <a:p>
            <a:pPr>
              <a:lnSpc>
                <a:spcPct val="160000"/>
              </a:lnSpc>
            </a:pPr>
            <a:r>
              <a:rPr lang="de-DE" sz="1600" dirty="0"/>
              <a:t>Proof of </a:t>
            </a:r>
            <a:r>
              <a:rPr lang="de-DE" sz="1600" dirty="0" err="1"/>
              <a:t>principle</a:t>
            </a:r>
            <a:r>
              <a:rPr lang="de-DE" sz="1600" dirty="0"/>
              <a:t> </a:t>
            </a:r>
            <a:r>
              <a:rPr lang="de-DE" sz="1600" dirty="0" err="1"/>
              <a:t>shortcomings</a:t>
            </a:r>
            <a:endParaRPr lang="de-DE" sz="1600" dirty="0"/>
          </a:p>
          <a:p>
            <a:pPr lvl="1">
              <a:lnSpc>
                <a:spcPct val="160000"/>
              </a:lnSpc>
              <a:buFont typeface="Courier New" panose="02070309020205020404" pitchFamily="49" charset="0"/>
              <a:buChar char="o"/>
            </a:pPr>
            <a:r>
              <a:rPr lang="de-DE" sz="1600" dirty="0"/>
              <a:t>Generative </a:t>
            </a:r>
            <a:r>
              <a:rPr lang="de-DE" sz="1600" dirty="0" err="1"/>
              <a:t>simulations</a:t>
            </a:r>
            <a:r>
              <a:rPr lang="de-DE" sz="1600" dirty="0"/>
              <a:t> of </a:t>
            </a:r>
            <a:r>
              <a:rPr lang="de-DE" sz="1600" dirty="0" err="1"/>
              <a:t>restricted</a:t>
            </a:r>
            <a:r>
              <a:rPr lang="de-DE" sz="1600" dirty="0"/>
              <a:t> FCDT </a:t>
            </a:r>
            <a:r>
              <a:rPr lang="de-DE" sz="1600" dirty="0" err="1"/>
              <a:t>paradigm</a:t>
            </a:r>
            <a:r>
              <a:rPr lang="de-DE" sz="1600" dirty="0"/>
              <a:t>, </a:t>
            </a:r>
            <a:r>
              <a:rPr lang="de-DE" sz="1600" dirty="0" err="1"/>
              <a:t>no</a:t>
            </a:r>
            <a:r>
              <a:rPr lang="de-DE" sz="1600" dirty="0"/>
              <a:t> </a:t>
            </a:r>
            <a:r>
              <a:rPr lang="de-DE" sz="1600" dirty="0" err="1"/>
              <a:t>application</a:t>
            </a:r>
            <a:r>
              <a:rPr lang="de-DE" sz="1600" dirty="0"/>
              <a:t> to </a:t>
            </a:r>
            <a:r>
              <a:rPr lang="de-DE" sz="1600" dirty="0" err="1"/>
              <a:t>empirical</a:t>
            </a:r>
            <a:r>
              <a:rPr lang="de-DE" sz="1600" dirty="0"/>
              <a:t> </a:t>
            </a:r>
            <a:r>
              <a:rPr lang="de-DE" sz="1600" dirty="0" err="1"/>
              <a:t>data</a:t>
            </a:r>
            <a:endParaRPr lang="de-DE" sz="1600" dirty="0"/>
          </a:p>
          <a:p>
            <a:pPr lvl="1">
              <a:lnSpc>
                <a:spcPct val="160000"/>
              </a:lnSpc>
              <a:buFont typeface="Courier New" panose="02070309020205020404" pitchFamily="49" charset="0"/>
              <a:buChar char="o"/>
            </a:pPr>
            <a:r>
              <a:rPr lang="de-DE" sz="1600" dirty="0" err="1"/>
              <a:t>Reward-discounted</a:t>
            </a:r>
            <a:r>
              <a:rPr lang="de-DE" sz="1600" dirty="0"/>
              <a:t> infinite-</a:t>
            </a:r>
            <a:r>
              <a:rPr lang="de-DE" sz="1600" dirty="0" err="1"/>
              <a:t>horizon</a:t>
            </a:r>
            <a:r>
              <a:rPr lang="de-DE" sz="1600" dirty="0"/>
              <a:t> MDP </a:t>
            </a:r>
            <a:r>
              <a:rPr lang="de-DE" sz="1600" dirty="0" err="1"/>
              <a:t>approximation</a:t>
            </a:r>
            <a:r>
              <a:rPr lang="de-DE" sz="1600" dirty="0"/>
              <a:t> </a:t>
            </a:r>
            <a:r>
              <a:rPr lang="de-DE" sz="1600" dirty="0" err="1"/>
              <a:t>based</a:t>
            </a:r>
            <a:r>
              <a:rPr lang="de-DE" sz="1600" dirty="0"/>
              <a:t> on </a:t>
            </a:r>
            <a:r>
              <a:rPr lang="de-DE" sz="1600" dirty="0" err="1"/>
              <a:t>policy</a:t>
            </a:r>
            <a:r>
              <a:rPr lang="de-DE" sz="1600" dirty="0"/>
              <a:t> </a:t>
            </a:r>
            <a:r>
              <a:rPr lang="de-DE" sz="1600" dirty="0" err="1"/>
              <a:t>iteration</a:t>
            </a:r>
            <a:endParaRPr lang="de-DE" sz="1600" dirty="0"/>
          </a:p>
          <a:p>
            <a:pPr>
              <a:lnSpc>
                <a:spcPct val="160000"/>
              </a:lnSpc>
            </a:pPr>
            <a:r>
              <a:rPr lang="de-DE" sz="1600" dirty="0"/>
              <a:t>First-stage </a:t>
            </a:r>
            <a:r>
              <a:rPr lang="de-DE" sz="1600" dirty="0" err="1"/>
              <a:t>implementation</a:t>
            </a:r>
            <a:r>
              <a:rPr lang="de-DE" sz="1600" dirty="0"/>
              <a:t> </a:t>
            </a:r>
            <a:r>
              <a:rPr lang="de-DE" sz="1600" dirty="0" err="1"/>
              <a:t>advances</a:t>
            </a:r>
            <a:endParaRPr lang="de-DE" sz="1600" dirty="0"/>
          </a:p>
          <a:p>
            <a:pPr lvl="1">
              <a:lnSpc>
                <a:spcPct val="160000"/>
              </a:lnSpc>
              <a:buFont typeface="Courier New" panose="02070309020205020404" pitchFamily="49" charset="0"/>
              <a:buChar char="o"/>
            </a:pPr>
            <a:r>
              <a:rPr lang="de-DE" sz="1600" dirty="0" err="1"/>
              <a:t>Application</a:t>
            </a:r>
            <a:r>
              <a:rPr lang="de-DE" sz="1600" dirty="0"/>
              <a:t> to </a:t>
            </a:r>
            <a:r>
              <a:rPr lang="de-DE" sz="1600" dirty="0" err="1"/>
              <a:t>rich</a:t>
            </a:r>
            <a:r>
              <a:rPr lang="de-DE" sz="1600" dirty="0"/>
              <a:t> </a:t>
            </a:r>
            <a:r>
              <a:rPr lang="de-DE" sz="1600" dirty="0" err="1"/>
              <a:t>empirical</a:t>
            </a:r>
            <a:r>
              <a:rPr lang="de-DE" sz="1600" dirty="0"/>
              <a:t> </a:t>
            </a:r>
            <a:r>
              <a:rPr lang="de-DE" sz="1600" dirty="0" err="1"/>
              <a:t>data</a:t>
            </a:r>
            <a:r>
              <a:rPr lang="de-DE" sz="1600" dirty="0"/>
              <a:t> in the </a:t>
            </a:r>
            <a:r>
              <a:rPr lang="de-DE" sz="1600" dirty="0" err="1"/>
              <a:t>agentic</a:t>
            </a:r>
            <a:r>
              <a:rPr lang="de-DE" sz="1600" dirty="0"/>
              <a:t> behavioral </a:t>
            </a:r>
            <a:r>
              <a:rPr lang="de-DE" sz="1600" dirty="0" err="1"/>
              <a:t>modeling</a:t>
            </a:r>
            <a:r>
              <a:rPr lang="de-DE" sz="1600" dirty="0"/>
              <a:t> </a:t>
            </a:r>
            <a:r>
              <a:rPr lang="de-DE" sz="1600" dirty="0" err="1"/>
              <a:t>framework</a:t>
            </a:r>
            <a:r>
              <a:rPr lang="de-DE" sz="1600" dirty="0"/>
              <a:t> (</a:t>
            </a:r>
            <a:r>
              <a:rPr lang="de-DE" sz="1600" dirty="0">
                <a:hlinkClick r:id="rId5"/>
              </a:rPr>
              <a:t>Ostwald et al. (2026)</a:t>
            </a:r>
            <a:r>
              <a:rPr lang="de-DE" sz="1600" dirty="0"/>
              <a:t>) </a:t>
            </a:r>
          </a:p>
          <a:p>
            <a:pPr lvl="1">
              <a:lnSpc>
                <a:spcPct val="160000"/>
              </a:lnSpc>
              <a:buFont typeface="Courier New" panose="02070309020205020404" pitchFamily="49" charset="0"/>
              <a:buChar char="o"/>
            </a:pPr>
            <a:r>
              <a:rPr lang="de-DE" sz="1600" dirty="0"/>
              <a:t>Finite </a:t>
            </a:r>
            <a:r>
              <a:rPr lang="de-DE" sz="1600" dirty="0" err="1"/>
              <a:t>horizon</a:t>
            </a:r>
            <a:r>
              <a:rPr lang="de-DE" sz="1600" dirty="0"/>
              <a:t> MDP </a:t>
            </a:r>
            <a:r>
              <a:rPr lang="de-DE" sz="1600" dirty="0" err="1"/>
              <a:t>without</a:t>
            </a:r>
            <a:r>
              <a:rPr lang="de-DE" sz="1600" dirty="0"/>
              <a:t> </a:t>
            </a:r>
            <a:r>
              <a:rPr lang="de-DE" sz="1600" dirty="0" err="1"/>
              <a:t>reward</a:t>
            </a:r>
            <a:r>
              <a:rPr lang="de-DE" sz="1600" dirty="0"/>
              <a:t> </a:t>
            </a:r>
            <a:r>
              <a:rPr lang="de-DE" sz="1600" dirty="0" err="1"/>
              <a:t>discounting</a:t>
            </a:r>
            <a:r>
              <a:rPr lang="de-DE" sz="1600" dirty="0"/>
              <a:t> </a:t>
            </a:r>
            <a:r>
              <a:rPr lang="de-DE" sz="1600" dirty="0" err="1"/>
              <a:t>solved</a:t>
            </a:r>
            <a:r>
              <a:rPr lang="de-DE" sz="1600" dirty="0"/>
              <a:t> by </a:t>
            </a:r>
            <a:r>
              <a:rPr lang="de-DE" sz="1600" dirty="0" err="1"/>
              <a:t>backward</a:t>
            </a:r>
            <a:r>
              <a:rPr lang="de-DE" sz="1600" dirty="0"/>
              <a:t> </a:t>
            </a:r>
            <a:r>
              <a:rPr lang="de-DE" sz="1600" dirty="0" err="1"/>
              <a:t>induction</a:t>
            </a:r>
            <a:endParaRPr lang="de-DE" sz="1600" dirty="0"/>
          </a:p>
          <a:p>
            <a:pPr>
              <a:lnSpc>
                <a:spcPct val="160000"/>
              </a:lnSpc>
            </a:pPr>
            <a:r>
              <a:rPr lang="de-DE" sz="1600" dirty="0"/>
              <a:t>First-stage </a:t>
            </a:r>
            <a:r>
              <a:rPr lang="de-DE" sz="1600" dirty="0" err="1"/>
              <a:t>implementation</a:t>
            </a:r>
            <a:r>
              <a:rPr lang="de-DE" sz="1600" dirty="0"/>
              <a:t> </a:t>
            </a:r>
            <a:r>
              <a:rPr lang="de-DE" sz="1600" dirty="0" err="1"/>
              <a:t>shortcomings</a:t>
            </a:r>
            <a:endParaRPr lang="de-DE" sz="1600" dirty="0"/>
          </a:p>
          <a:p>
            <a:pPr lvl="1">
              <a:lnSpc>
                <a:spcPct val="160000"/>
              </a:lnSpc>
              <a:buFont typeface="Courier New" panose="02070309020205020404" pitchFamily="49" charset="0"/>
              <a:buChar char="o"/>
            </a:pPr>
            <a:r>
              <a:rPr lang="de-DE" sz="1600" dirty="0"/>
              <a:t>Focus on </a:t>
            </a:r>
            <a:r>
              <a:rPr lang="de-DE" sz="1600" dirty="0" err="1"/>
              <a:t>response</a:t>
            </a:r>
            <a:r>
              <a:rPr lang="de-DE" sz="1600" dirty="0"/>
              <a:t> </a:t>
            </a:r>
            <a:r>
              <a:rPr lang="de-DE" sz="1600" dirty="0" err="1"/>
              <a:t>data</a:t>
            </a:r>
            <a:r>
              <a:rPr lang="de-DE" sz="1600" dirty="0"/>
              <a:t>, not </a:t>
            </a:r>
            <a:r>
              <a:rPr lang="de-DE" sz="1600" dirty="0" err="1"/>
              <a:t>reaction</a:t>
            </a:r>
            <a:r>
              <a:rPr lang="de-DE" sz="1600" dirty="0"/>
              <a:t> </a:t>
            </a:r>
            <a:r>
              <a:rPr lang="de-DE" sz="1600" dirty="0" err="1"/>
              <a:t>times</a:t>
            </a:r>
            <a:r>
              <a:rPr lang="de-DE" sz="1600" dirty="0"/>
              <a:t> in a semi-MDP </a:t>
            </a:r>
            <a:r>
              <a:rPr lang="de-DE" sz="1600" dirty="0" err="1"/>
              <a:t>extension</a:t>
            </a:r>
            <a:endParaRPr lang="de-DE" sz="1600" dirty="0"/>
          </a:p>
          <a:p>
            <a:pPr lvl="1">
              <a:lnSpc>
                <a:spcPct val="160000"/>
              </a:lnSpc>
              <a:buFont typeface="Courier New" panose="02070309020205020404" pitchFamily="49" charset="0"/>
              <a:buChar char="o"/>
            </a:pPr>
            <a:r>
              <a:rPr lang="de-DE" sz="1600" dirty="0" err="1"/>
              <a:t>No</a:t>
            </a:r>
            <a:r>
              <a:rPr lang="de-DE" sz="1600" dirty="0"/>
              <a:t> </a:t>
            </a:r>
            <a:r>
              <a:rPr lang="de-DE" sz="1600" dirty="0" err="1"/>
              <a:t>consideration</a:t>
            </a:r>
            <a:r>
              <a:rPr lang="de-DE" sz="1600" dirty="0"/>
              <a:t> of dual-task </a:t>
            </a:r>
            <a:r>
              <a:rPr lang="de-DE" sz="1600" dirty="0" err="1"/>
              <a:t>efficiency</a:t>
            </a:r>
            <a:r>
              <a:rPr lang="de-DE" sz="1600" dirty="0"/>
              <a:t> </a:t>
            </a:r>
            <a:r>
              <a:rPr lang="de-DE" sz="1600" dirty="0" err="1"/>
              <a:t>or</a:t>
            </a:r>
            <a:r>
              <a:rPr lang="de-DE" sz="1600" dirty="0"/>
              <a:t> domain-</a:t>
            </a:r>
            <a:r>
              <a:rPr lang="de-DE" sz="1600" dirty="0" err="1"/>
              <a:t>specific</a:t>
            </a:r>
            <a:r>
              <a:rPr lang="de-DE" sz="1600" dirty="0"/>
              <a:t> </a:t>
            </a:r>
            <a:r>
              <a:rPr lang="de-DE" sz="1600" dirty="0" err="1"/>
              <a:t>cognitive</a:t>
            </a:r>
            <a:r>
              <a:rPr lang="de-DE" sz="1600" dirty="0"/>
              <a:t> </a:t>
            </a:r>
            <a:r>
              <a:rPr lang="de-DE" sz="1600" dirty="0" err="1"/>
              <a:t>processing</a:t>
            </a:r>
            <a:r>
              <a:rPr lang="de-DE" sz="1600" dirty="0"/>
              <a:t> </a:t>
            </a:r>
            <a:endParaRPr lang="de-DE" sz="1700" dirty="0"/>
          </a:p>
        </p:txBody>
      </p:sp>
      <p:sp>
        <p:nvSpPr>
          <p:cNvPr id="4" name="Foliennummernplatzhalter 3">
            <a:extLst>
              <a:ext uri="{FF2B5EF4-FFF2-40B4-BE49-F238E27FC236}">
                <a16:creationId xmlns:a16="http://schemas.microsoft.com/office/drawing/2014/main" id="{C1F5C49A-D8F8-DCC1-09BE-615300921DA7}"/>
              </a:ext>
            </a:extLst>
          </p:cNvPr>
          <p:cNvSpPr>
            <a:spLocks noGrp="1"/>
          </p:cNvSpPr>
          <p:nvPr>
            <p:ph type="sldNum" idx="12"/>
          </p:nvPr>
        </p:nvSpPr>
        <p:spPr/>
        <p:txBody>
          <a:bodyPr/>
          <a:lstStyle/>
          <a:p>
            <a:fld id="{5CD88B4E-D815-417B-99FD-41D66E5C06D4}" type="slidenum">
              <a:rPr lang="de-DE" smtClean="0"/>
              <a:t>11</a:t>
            </a:fld>
            <a:endParaRPr lang="de-DE"/>
          </a:p>
        </p:txBody>
      </p:sp>
      <mc:AlternateContent xmlns:mc="http://schemas.openxmlformats.org/markup-compatibility/2006" xmlns:a14="http://schemas.microsoft.com/office/drawing/2010/main">
        <mc:Choice Requires="a14">
          <p:sp>
            <p:nvSpPr>
              <p:cNvPr id="5" name="Textfeld 4">
                <a:extLst>
                  <a:ext uri="{FF2B5EF4-FFF2-40B4-BE49-F238E27FC236}">
                    <a16:creationId xmlns:a16="http://schemas.microsoft.com/office/drawing/2014/main" id="{0D958D6F-CD8E-51BF-149F-122193F5D98E}"/>
                  </a:ext>
                </a:extLst>
              </p:cNvPr>
              <p:cNvSpPr txBox="1"/>
              <p:nvPr/>
            </p:nvSpPr>
            <p:spPr>
              <a:xfrm>
                <a:off x="3562705" y="4426491"/>
                <a:ext cx="5124095" cy="215444"/>
              </a:xfrm>
              <a:prstGeom prst="rect">
                <a:avLst/>
              </a:prstGeom>
              <a:noFill/>
            </p:spPr>
            <p:txBody>
              <a:bodyPr wrap="none" lIns="0" tIns="0" rIns="0" bIns="0" rtlCol="0">
                <a:spAutoFit/>
              </a:bodyPr>
              <a:lstStyle/>
              <a:p>
                <a14:m>
                  <m:oMath xmlns:m="http://schemas.openxmlformats.org/officeDocument/2006/math">
                    <m:r>
                      <a:rPr lang="de-DE" sz="1400" b="0" i="1" smtClean="0">
                        <a:latin typeface="Cambria Math" panose="02040503050406030204" pitchFamily="18" charset="0"/>
                      </a:rPr>
                      <m:t>⇒</m:t>
                    </m:r>
                  </m:oMath>
                </a14:m>
                <a:r>
                  <a:rPr lang="de-DE" sz="1400" dirty="0">
                    <a:latin typeface="Arial" panose="020B0604020202020204" pitchFamily="34" charset="0"/>
                    <a:cs typeface="Arial" panose="020B0604020202020204" pitchFamily="34" charset="0"/>
                  </a:rPr>
                  <a:t> </a:t>
                </a:r>
                <a:r>
                  <a:rPr lang="de-DE" sz="1400" dirty="0">
                    <a:solidFill>
                      <a:srgbClr val="00B050"/>
                    </a:solidFill>
                    <a:latin typeface="Arial" panose="020B0604020202020204" pitchFamily="34" charset="0"/>
                    <a:cs typeface="Arial" panose="020B0604020202020204" pitchFamily="34" charset="0"/>
                  </a:rPr>
                  <a:t>Technical </a:t>
                </a:r>
                <a:r>
                  <a:rPr lang="de-DE" sz="1400" dirty="0" err="1">
                    <a:solidFill>
                      <a:srgbClr val="00B050"/>
                    </a:solidFill>
                    <a:latin typeface="Arial" panose="020B0604020202020204" pitchFamily="34" charset="0"/>
                    <a:cs typeface="Arial" panose="020B0604020202020204" pitchFamily="34" charset="0"/>
                  </a:rPr>
                  <a:t>advance</a:t>
                </a:r>
                <a:r>
                  <a:rPr lang="de-DE" sz="1400" dirty="0">
                    <a:solidFill>
                      <a:srgbClr val="00B050"/>
                    </a:solidFill>
                    <a:latin typeface="Arial" panose="020B0604020202020204" pitchFamily="34" charset="0"/>
                    <a:cs typeface="Arial" panose="020B0604020202020204" pitchFamily="34" charset="0"/>
                  </a:rPr>
                  <a:t> </a:t>
                </a:r>
                <a:r>
                  <a:rPr lang="de-DE" sz="1400" dirty="0">
                    <a:solidFill>
                      <a:srgbClr val="00B050"/>
                    </a:solidFill>
                    <a:latin typeface="Arial" panose="020B0604020202020204" pitchFamily="34" charset="0"/>
                    <a:cs typeface="Arial" panose="020B0604020202020204" pitchFamily="34" charset="0"/>
                    <a:sym typeface="Wingdings" panose="05000000000000000000" pitchFamily="2" charset="2"/>
                  </a:rPr>
                  <a:t> </a:t>
                </a:r>
                <a:r>
                  <a:rPr lang="de-DE" sz="1400" dirty="0">
                    <a:solidFill>
                      <a:schemeClr val="accent6">
                        <a:lumMod val="50000"/>
                      </a:schemeClr>
                    </a:solidFill>
                    <a:latin typeface="Arial" panose="020B0604020202020204" pitchFamily="34" charset="0"/>
                    <a:cs typeface="Arial" panose="020B0604020202020204" pitchFamily="34" charset="0"/>
                  </a:rPr>
                  <a:t>Psychological-</a:t>
                </a:r>
                <a:r>
                  <a:rPr lang="de-DE" sz="1400" dirty="0" err="1">
                    <a:solidFill>
                      <a:schemeClr val="accent6">
                        <a:lumMod val="50000"/>
                      </a:schemeClr>
                    </a:solidFill>
                    <a:latin typeface="Arial" panose="020B0604020202020204" pitchFamily="34" charset="0"/>
                    <a:cs typeface="Arial" panose="020B0604020202020204" pitchFamily="34" charset="0"/>
                  </a:rPr>
                  <a:t>neurocognitive</a:t>
                </a:r>
                <a:r>
                  <a:rPr lang="de-DE" sz="1400" dirty="0">
                    <a:solidFill>
                      <a:schemeClr val="accent6">
                        <a:lumMod val="50000"/>
                      </a:schemeClr>
                    </a:solidFill>
                    <a:latin typeface="Arial" panose="020B0604020202020204" pitchFamily="34" charset="0"/>
                    <a:cs typeface="Arial" panose="020B0604020202020204" pitchFamily="34" charset="0"/>
                  </a:rPr>
                  <a:t> </a:t>
                </a:r>
                <a:r>
                  <a:rPr lang="de-DE" sz="1400" dirty="0" err="1">
                    <a:solidFill>
                      <a:schemeClr val="accent6">
                        <a:lumMod val="50000"/>
                      </a:schemeClr>
                    </a:solidFill>
                    <a:latin typeface="Arial" panose="020B0604020202020204" pitchFamily="34" charset="0"/>
                    <a:cs typeface="Arial" panose="020B0604020202020204" pitchFamily="34" charset="0"/>
                  </a:rPr>
                  <a:t>advance</a:t>
                </a:r>
                <a:r>
                  <a:rPr lang="de-DE" sz="1400" dirty="0">
                    <a:solidFill>
                      <a:schemeClr val="accent6">
                        <a:lumMod val="50000"/>
                      </a:schemeClr>
                    </a:solidFill>
                    <a:latin typeface="Arial" panose="020B0604020202020204" pitchFamily="34" charset="0"/>
                    <a:cs typeface="Arial" panose="020B0604020202020204" pitchFamily="34" charset="0"/>
                  </a:rPr>
                  <a:t> </a:t>
                </a:r>
                <a:r>
                  <a:rPr lang="de-DE" sz="1400" dirty="0">
                    <a:solidFill>
                      <a:schemeClr val="accent6">
                        <a:lumMod val="50000"/>
                      </a:schemeClr>
                    </a:solidFill>
                    <a:latin typeface="Arial" panose="020B0604020202020204" pitchFamily="34" charset="0"/>
                    <a:cs typeface="Arial" panose="020B0604020202020204" pitchFamily="34" charset="0"/>
                    <a:sym typeface="Wingdings" panose="05000000000000000000" pitchFamily="2" charset="2"/>
                  </a:rPr>
                  <a:t></a:t>
                </a:r>
                <a:endParaRPr lang="de-DE" sz="1400" dirty="0">
                  <a:solidFill>
                    <a:schemeClr val="accent6">
                      <a:lumMod val="50000"/>
                    </a:schemeClr>
                  </a:solidFill>
                  <a:latin typeface="Arial" panose="020B0604020202020204" pitchFamily="34" charset="0"/>
                  <a:cs typeface="Arial" panose="020B0604020202020204" pitchFamily="34" charset="0"/>
                </a:endParaRPr>
              </a:p>
            </p:txBody>
          </p:sp>
        </mc:Choice>
        <mc:Fallback xmlns="">
          <p:sp>
            <p:nvSpPr>
              <p:cNvPr id="5" name="Textfeld 4">
                <a:extLst>
                  <a:ext uri="{FF2B5EF4-FFF2-40B4-BE49-F238E27FC236}">
                    <a16:creationId xmlns:a16="http://schemas.microsoft.com/office/drawing/2014/main" id="{0D958D6F-CD8E-51BF-149F-122193F5D98E}"/>
                  </a:ext>
                </a:extLst>
              </p:cNvPr>
              <p:cNvSpPr txBox="1">
                <a:spLocks noRot="1" noChangeAspect="1" noMove="1" noResize="1" noEditPoints="1" noAdjustHandles="1" noChangeArrowheads="1" noChangeShapeType="1" noTextEdit="1"/>
              </p:cNvSpPr>
              <p:nvPr/>
            </p:nvSpPr>
            <p:spPr>
              <a:xfrm>
                <a:off x="3562705" y="4426491"/>
                <a:ext cx="5124095" cy="215444"/>
              </a:xfrm>
              <a:prstGeom prst="rect">
                <a:avLst/>
              </a:prstGeom>
              <a:blipFill>
                <a:blip r:embed="rId6"/>
                <a:stretch>
                  <a:fillRect l="-951" t="-25714" r="-1070" b="-51429"/>
                </a:stretch>
              </a:blipFill>
            </p:spPr>
            <p:txBody>
              <a:bodyPr/>
              <a:lstStyle/>
              <a:p>
                <a:r>
                  <a:rPr lang="de-DE">
                    <a:noFill/>
                  </a:rPr>
                  <a:t> </a:t>
                </a:r>
              </a:p>
            </p:txBody>
          </p:sp>
        </mc:Fallback>
      </mc:AlternateContent>
    </p:spTree>
    <p:extLst>
      <p:ext uri="{BB962C8B-B14F-4D97-AF65-F5344CB8AC3E}">
        <p14:creationId xmlns:p14="http://schemas.microsoft.com/office/powerpoint/2010/main" val="322874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7648F-1946-047A-EC11-1A546F6A995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4991C5E-7E98-3982-6E0F-3330563D19C1}"/>
              </a:ext>
            </a:extLst>
          </p:cNvPr>
          <p:cNvSpPr>
            <a:spLocks noGrp="1"/>
          </p:cNvSpPr>
          <p:nvPr>
            <p:ph type="title"/>
          </p:nvPr>
        </p:nvSpPr>
        <p:spPr>
          <a:xfrm>
            <a:off x="755577" y="205979"/>
            <a:ext cx="7931223" cy="857250"/>
          </a:xfrm>
        </p:spPr>
        <p:txBody>
          <a:bodyPr anchor="ctr">
            <a:normAutofit/>
          </a:bodyPr>
          <a:lstStyle/>
          <a:p>
            <a:r>
              <a:rPr lang="de-DE" sz="2400" b="0" dirty="0">
                <a:latin typeface="Arial" panose="020B0604020202020204" pitchFamily="34" charset="0"/>
                <a:cs typeface="Arial" panose="020B0604020202020204" pitchFamily="34" charset="0"/>
              </a:rPr>
              <a:t>Experimental </a:t>
            </a:r>
            <a:r>
              <a:rPr lang="de-DE" sz="2400" b="0" dirty="0" err="1">
                <a:latin typeface="Arial" panose="020B0604020202020204" pitchFamily="34" charset="0"/>
                <a:cs typeface="Arial" panose="020B0604020202020204" pitchFamily="34" charset="0"/>
              </a:rPr>
              <a:t>data</a:t>
            </a:r>
            <a:endParaRPr lang="de-DE" sz="2400" b="0" dirty="0">
              <a:latin typeface="Arial" panose="020B0604020202020204" pitchFamily="34" charset="0"/>
              <a:cs typeface="Arial" panose="020B0604020202020204" pitchFamily="34" charset="0"/>
            </a:endParaRPr>
          </a:p>
        </p:txBody>
      </p:sp>
      <p:sp>
        <p:nvSpPr>
          <p:cNvPr id="4" name="Foliennummernplatzhalter 3">
            <a:extLst>
              <a:ext uri="{FF2B5EF4-FFF2-40B4-BE49-F238E27FC236}">
                <a16:creationId xmlns:a16="http://schemas.microsoft.com/office/drawing/2014/main" id="{B999576A-0D22-1D16-6046-F234E59FAD4C}"/>
              </a:ext>
            </a:extLst>
          </p:cNvPr>
          <p:cNvSpPr>
            <a:spLocks noGrp="1"/>
          </p:cNvSpPr>
          <p:nvPr>
            <p:ph type="sldNum" idx="12"/>
          </p:nvPr>
        </p:nvSpPr>
        <p:spPr>
          <a:xfrm>
            <a:off x="8256300" y="4731990"/>
            <a:ext cx="636180" cy="273844"/>
          </a:xfrm>
        </p:spPr>
        <p:txBody>
          <a:bodyPr anchor="ctr">
            <a:normAutofit/>
          </a:bodyPr>
          <a:lstStyle/>
          <a:p>
            <a:pPr>
              <a:spcAft>
                <a:spcPts val="600"/>
              </a:spcAft>
            </a:pPr>
            <a:fld id="{5CD88B4E-D815-417B-99FD-41D66E5C06D4}" type="slidenum">
              <a:rPr lang="de-DE" smtClean="0"/>
              <a:pPr>
                <a:spcAft>
                  <a:spcPts val="600"/>
                </a:spcAft>
              </a:pPr>
              <a:t>12</a:t>
            </a:fld>
            <a:endParaRPr lang="de-DE"/>
          </a:p>
        </p:txBody>
      </p:sp>
      <p:sp>
        <p:nvSpPr>
          <p:cNvPr id="16" name="Textfeld 15">
            <a:extLst>
              <a:ext uri="{FF2B5EF4-FFF2-40B4-BE49-F238E27FC236}">
                <a16:creationId xmlns:a16="http://schemas.microsoft.com/office/drawing/2014/main" id="{F2484787-F4B8-D35E-E37C-0C2402EFA3BA}"/>
              </a:ext>
            </a:extLst>
          </p:cNvPr>
          <p:cNvSpPr txBox="1"/>
          <p:nvPr/>
        </p:nvSpPr>
        <p:spPr>
          <a:xfrm>
            <a:off x="1132928" y="4379962"/>
            <a:ext cx="6753452" cy="215444"/>
          </a:xfrm>
          <a:prstGeom prst="rect">
            <a:avLst/>
          </a:prstGeom>
          <a:noFill/>
        </p:spPr>
        <p:txBody>
          <a:bodyPr wrap="none" lIns="0" tIns="0" rIns="0" bIns="0" rtlCol="0">
            <a:spAutoFit/>
          </a:bodyPr>
          <a:lstStyle/>
          <a:p>
            <a:r>
              <a:rPr lang="de-DE" sz="1400" dirty="0" err="1">
                <a:latin typeface="Arial" panose="020B0604020202020204" pitchFamily="34" charset="0"/>
                <a:cs typeface="Arial" panose="020B0604020202020204" pitchFamily="34" charset="0"/>
              </a:rPr>
              <a:t>Instructions</a:t>
            </a:r>
            <a:r>
              <a:rPr lang="de-DE" sz="1400" dirty="0">
                <a:latin typeface="Arial" panose="020B0604020202020204" pitchFamily="34" charset="0"/>
                <a:cs typeface="Arial" panose="020B0604020202020204" pitchFamily="34" charset="0"/>
              </a:rPr>
              <a:t> | </a:t>
            </a:r>
            <a:r>
              <a:rPr lang="de-DE" sz="1400" dirty="0" err="1">
                <a:latin typeface="Arial" panose="020B0604020202020204" pitchFamily="34" charset="0"/>
                <a:cs typeface="Arial" panose="020B0604020202020204" pitchFamily="34" charset="0"/>
              </a:rPr>
              <a:t>Balanced</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task</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performance</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with</a:t>
            </a:r>
            <a:r>
              <a:rPr lang="de-DE" sz="1400" dirty="0">
                <a:latin typeface="Arial" panose="020B0604020202020204" pitchFamily="34" charset="0"/>
                <a:cs typeface="Arial" panose="020B0604020202020204" pitchFamily="34" charset="0"/>
              </a:rPr>
              <a:t> high </a:t>
            </a:r>
            <a:r>
              <a:rPr lang="de-DE" sz="1400" dirty="0" err="1">
                <a:latin typeface="Arial" panose="020B0604020202020204" pitchFamily="34" charset="0"/>
                <a:cs typeface="Arial" panose="020B0604020202020204" pitchFamily="34" charset="0"/>
              </a:rPr>
              <a:t>accuracy</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within</a:t>
            </a:r>
            <a:r>
              <a:rPr lang="de-DE" sz="1400" dirty="0">
                <a:latin typeface="Arial" panose="020B0604020202020204" pitchFamily="34" charset="0"/>
                <a:cs typeface="Arial" panose="020B0604020202020204" pitchFamily="34" charset="0"/>
              </a:rPr>
              <a:t> a </a:t>
            </a:r>
            <a:r>
              <a:rPr lang="de-DE" sz="1400" dirty="0" err="1">
                <a:latin typeface="Arial" panose="020B0604020202020204" pitchFamily="34" charset="0"/>
                <a:cs typeface="Arial" panose="020B0604020202020204" pitchFamily="34" charset="0"/>
              </a:rPr>
              <a:t>given</a:t>
            </a:r>
            <a:r>
              <a:rPr lang="de-DE" sz="1400" dirty="0">
                <a:latin typeface="Arial" panose="020B0604020202020204" pitchFamily="34" charset="0"/>
                <a:cs typeface="Arial" panose="020B0604020202020204" pitchFamily="34" charset="0"/>
              </a:rPr>
              <a:t> time </a:t>
            </a:r>
            <a:r>
              <a:rPr lang="de-DE" sz="1400" dirty="0" err="1">
                <a:latin typeface="Arial" panose="020B0604020202020204" pitchFamily="34" charset="0"/>
                <a:cs typeface="Arial" panose="020B0604020202020204" pitchFamily="34" charset="0"/>
              </a:rPr>
              <a:t>limit</a:t>
            </a:r>
            <a:r>
              <a:rPr lang="de-DE" sz="1400" dirty="0">
                <a:latin typeface="Arial" panose="020B0604020202020204" pitchFamily="34" charset="0"/>
                <a:cs typeface="Arial" panose="020B0604020202020204" pitchFamily="34" charset="0"/>
              </a:rPr>
              <a:t>  </a:t>
            </a:r>
          </a:p>
        </p:txBody>
      </p:sp>
      <p:pic>
        <p:nvPicPr>
          <p:cNvPr id="22" name="Grafik 21">
            <a:extLst>
              <a:ext uri="{FF2B5EF4-FFF2-40B4-BE49-F238E27FC236}">
                <a16:creationId xmlns:a16="http://schemas.microsoft.com/office/drawing/2014/main" id="{AFAC9A91-51B3-DC1F-9FC8-ED4D04A82083}"/>
              </a:ext>
            </a:extLst>
          </p:cNvPr>
          <p:cNvPicPr>
            <a:picLocks noChangeAspect="1"/>
          </p:cNvPicPr>
          <p:nvPr/>
        </p:nvPicPr>
        <p:blipFill>
          <a:blip r:embed="rId2">
            <a:extLst>
              <a:ext uri="{28A0092B-C50C-407E-A947-70E740481C1C}">
                <a14:useLocalDpi xmlns:a14="http://schemas.microsoft.com/office/drawing/2010/main" val="0"/>
              </a:ext>
            </a:extLst>
          </a:blip>
          <a:srcRect l="6894" t="2676" b="4005"/>
          <a:stretch>
            <a:fillRect/>
          </a:stretch>
        </p:blipFill>
        <p:spPr>
          <a:xfrm>
            <a:off x="1605305" y="972457"/>
            <a:ext cx="5933389" cy="3345159"/>
          </a:xfrm>
          <a:prstGeom prst="rect">
            <a:avLst/>
          </a:prstGeom>
        </p:spPr>
      </p:pic>
    </p:spTree>
    <p:extLst>
      <p:ext uri="{BB962C8B-B14F-4D97-AF65-F5344CB8AC3E}">
        <p14:creationId xmlns:p14="http://schemas.microsoft.com/office/powerpoint/2010/main" val="2511929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0C717-1EC3-29FD-AD17-7AC420FF632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7098E9A-1C5F-DFF3-900B-E55E9EB3C68F}"/>
              </a:ext>
            </a:extLst>
          </p:cNvPr>
          <p:cNvSpPr>
            <a:spLocks noGrp="1"/>
          </p:cNvSpPr>
          <p:nvPr>
            <p:ph type="title"/>
          </p:nvPr>
        </p:nvSpPr>
        <p:spPr>
          <a:xfrm>
            <a:off x="755577" y="205979"/>
            <a:ext cx="7931223" cy="857250"/>
          </a:xfrm>
        </p:spPr>
        <p:txBody>
          <a:bodyPr anchor="ctr">
            <a:normAutofit/>
          </a:bodyPr>
          <a:lstStyle/>
          <a:p>
            <a:r>
              <a:rPr lang="de-DE" sz="2400" b="0" dirty="0">
                <a:latin typeface="Arial" panose="020B0604020202020204" pitchFamily="34" charset="0"/>
                <a:cs typeface="Arial" panose="020B0604020202020204" pitchFamily="34" charset="0"/>
              </a:rPr>
              <a:t>Experimental </a:t>
            </a:r>
            <a:r>
              <a:rPr lang="de-DE" sz="2400" b="0" dirty="0" err="1">
                <a:latin typeface="Arial" panose="020B0604020202020204" pitchFamily="34" charset="0"/>
                <a:cs typeface="Arial" panose="020B0604020202020204" pitchFamily="34" charset="0"/>
              </a:rPr>
              <a:t>data</a:t>
            </a:r>
            <a:endParaRPr lang="de-DE" sz="2400" b="0" dirty="0">
              <a:latin typeface="Arial" panose="020B0604020202020204" pitchFamily="34" charset="0"/>
              <a:cs typeface="Arial" panose="020B0604020202020204" pitchFamily="34" charset="0"/>
            </a:endParaRPr>
          </a:p>
        </p:txBody>
      </p:sp>
      <p:pic>
        <p:nvPicPr>
          <p:cNvPr id="5" name="Grafik 4">
            <a:extLst>
              <a:ext uri="{FF2B5EF4-FFF2-40B4-BE49-F238E27FC236}">
                <a16:creationId xmlns:a16="http://schemas.microsoft.com/office/drawing/2014/main" id="{36B3953C-7EB2-7C87-751C-1CAF1FCFBE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3885" y="810491"/>
            <a:ext cx="5676229" cy="3803072"/>
          </a:xfrm>
          <a:prstGeom prst="rect">
            <a:avLst/>
          </a:prstGeom>
          <a:noFill/>
        </p:spPr>
      </p:pic>
      <p:sp>
        <p:nvSpPr>
          <p:cNvPr id="4" name="Foliennummernplatzhalter 3">
            <a:extLst>
              <a:ext uri="{FF2B5EF4-FFF2-40B4-BE49-F238E27FC236}">
                <a16:creationId xmlns:a16="http://schemas.microsoft.com/office/drawing/2014/main" id="{C2EAEB96-9BA7-9EEB-D8EA-0CF4AB09403B}"/>
              </a:ext>
            </a:extLst>
          </p:cNvPr>
          <p:cNvSpPr>
            <a:spLocks noGrp="1"/>
          </p:cNvSpPr>
          <p:nvPr>
            <p:ph type="sldNum" idx="12"/>
          </p:nvPr>
        </p:nvSpPr>
        <p:spPr>
          <a:xfrm>
            <a:off x="8256300" y="4731990"/>
            <a:ext cx="636180" cy="273844"/>
          </a:xfrm>
        </p:spPr>
        <p:txBody>
          <a:bodyPr anchor="ctr">
            <a:normAutofit/>
          </a:bodyPr>
          <a:lstStyle/>
          <a:p>
            <a:pPr>
              <a:spcAft>
                <a:spcPts val="600"/>
              </a:spcAft>
            </a:pPr>
            <a:fld id="{5CD88B4E-D815-417B-99FD-41D66E5C06D4}" type="slidenum">
              <a:rPr lang="de-DE" smtClean="0"/>
              <a:pPr>
                <a:spcAft>
                  <a:spcPts val="600"/>
                </a:spcAft>
              </a:pPr>
              <a:t>13</a:t>
            </a:fld>
            <a:endParaRPr lang="de-DE"/>
          </a:p>
        </p:txBody>
      </p:sp>
    </p:spTree>
    <p:extLst>
      <p:ext uri="{BB962C8B-B14F-4D97-AF65-F5344CB8AC3E}">
        <p14:creationId xmlns:p14="http://schemas.microsoft.com/office/powerpoint/2010/main" val="4149499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9E3A6-F850-2B55-2E1F-E18DF88FC4A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7F3FE71-C1F0-A271-4424-F859B8A83D00}"/>
              </a:ext>
            </a:extLst>
          </p:cNvPr>
          <p:cNvSpPr>
            <a:spLocks noGrp="1"/>
          </p:cNvSpPr>
          <p:nvPr>
            <p:ph type="title"/>
          </p:nvPr>
        </p:nvSpPr>
        <p:spPr>
          <a:xfrm>
            <a:off x="755577" y="205979"/>
            <a:ext cx="7931223" cy="857250"/>
          </a:xfrm>
        </p:spPr>
        <p:txBody>
          <a:bodyPr anchor="ctr">
            <a:normAutofit/>
          </a:bodyPr>
          <a:lstStyle/>
          <a:p>
            <a:r>
              <a:rPr lang="de-DE" sz="2400" b="0" dirty="0">
                <a:latin typeface="Arial" panose="020B0604020202020204" pitchFamily="34" charset="0"/>
                <a:cs typeface="Arial" panose="020B0604020202020204" pitchFamily="34" charset="0"/>
              </a:rPr>
              <a:t>Experimental </a:t>
            </a:r>
            <a:r>
              <a:rPr lang="de-DE" sz="2400" b="0" dirty="0" err="1">
                <a:latin typeface="Arial" panose="020B0604020202020204" pitchFamily="34" charset="0"/>
                <a:cs typeface="Arial" panose="020B0604020202020204" pitchFamily="34" charset="0"/>
              </a:rPr>
              <a:t>data</a:t>
            </a:r>
            <a:endParaRPr lang="de-DE" sz="2400" b="0" dirty="0">
              <a:latin typeface="Arial" panose="020B0604020202020204" pitchFamily="34" charset="0"/>
              <a:cs typeface="Arial" panose="020B0604020202020204" pitchFamily="34" charset="0"/>
            </a:endParaRPr>
          </a:p>
        </p:txBody>
      </p:sp>
      <p:pic>
        <p:nvPicPr>
          <p:cNvPr id="5" name="Grafik 4">
            <a:extLst>
              <a:ext uri="{FF2B5EF4-FFF2-40B4-BE49-F238E27FC236}">
                <a16:creationId xmlns:a16="http://schemas.microsoft.com/office/drawing/2014/main" id="{780B590C-1FC6-8CA1-E708-7C321145CC1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733885" y="810491"/>
            <a:ext cx="5676229" cy="3803072"/>
          </a:xfrm>
          <a:prstGeom prst="rect">
            <a:avLst/>
          </a:prstGeom>
          <a:noFill/>
        </p:spPr>
      </p:pic>
      <p:sp>
        <p:nvSpPr>
          <p:cNvPr id="4" name="Foliennummernplatzhalter 3">
            <a:extLst>
              <a:ext uri="{FF2B5EF4-FFF2-40B4-BE49-F238E27FC236}">
                <a16:creationId xmlns:a16="http://schemas.microsoft.com/office/drawing/2014/main" id="{4F261BA5-DDE2-356A-E6D9-79D8CB223123}"/>
              </a:ext>
            </a:extLst>
          </p:cNvPr>
          <p:cNvSpPr>
            <a:spLocks noGrp="1"/>
          </p:cNvSpPr>
          <p:nvPr>
            <p:ph type="sldNum" idx="12"/>
          </p:nvPr>
        </p:nvSpPr>
        <p:spPr>
          <a:xfrm>
            <a:off x="8256300" y="4731990"/>
            <a:ext cx="636180" cy="273844"/>
          </a:xfrm>
        </p:spPr>
        <p:txBody>
          <a:bodyPr anchor="ctr">
            <a:normAutofit/>
          </a:bodyPr>
          <a:lstStyle/>
          <a:p>
            <a:pPr>
              <a:spcAft>
                <a:spcPts val="600"/>
              </a:spcAft>
            </a:pPr>
            <a:fld id="{5CD88B4E-D815-417B-99FD-41D66E5C06D4}" type="slidenum">
              <a:rPr lang="de-DE" smtClean="0"/>
              <a:pPr>
                <a:spcAft>
                  <a:spcPts val="600"/>
                </a:spcAft>
              </a:pPr>
              <a:t>14</a:t>
            </a:fld>
            <a:endParaRPr lang="de-DE"/>
          </a:p>
        </p:txBody>
      </p:sp>
    </p:spTree>
    <p:extLst>
      <p:ext uri="{BB962C8B-B14F-4D97-AF65-F5344CB8AC3E}">
        <p14:creationId xmlns:p14="http://schemas.microsoft.com/office/powerpoint/2010/main" val="1735992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9AF0E-8A93-1805-C387-D6DFF18B2A7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0894C5A-34CE-0FFA-EE0A-10C3DEE2ABFA}"/>
              </a:ext>
            </a:extLst>
          </p:cNvPr>
          <p:cNvSpPr>
            <a:spLocks noGrp="1"/>
          </p:cNvSpPr>
          <p:nvPr>
            <p:ph type="title"/>
          </p:nvPr>
        </p:nvSpPr>
        <p:spPr>
          <a:xfrm>
            <a:off x="755577" y="205979"/>
            <a:ext cx="7931223" cy="857250"/>
          </a:xfrm>
        </p:spPr>
        <p:txBody>
          <a:bodyPr anchor="ctr">
            <a:normAutofit/>
          </a:bodyPr>
          <a:lstStyle/>
          <a:p>
            <a:r>
              <a:rPr lang="de-DE" sz="2400" b="0" dirty="0">
                <a:latin typeface="Arial" panose="020B0604020202020204" pitchFamily="34" charset="0"/>
                <a:cs typeface="Arial" panose="020B0604020202020204" pitchFamily="34" charset="0"/>
              </a:rPr>
              <a:t>Experimental </a:t>
            </a:r>
            <a:r>
              <a:rPr lang="de-DE" sz="2400" b="0" dirty="0" err="1">
                <a:latin typeface="Arial" panose="020B0604020202020204" pitchFamily="34" charset="0"/>
                <a:cs typeface="Arial" panose="020B0604020202020204" pitchFamily="34" charset="0"/>
              </a:rPr>
              <a:t>data</a:t>
            </a:r>
            <a:endParaRPr lang="de-DE" sz="2400" b="0" dirty="0">
              <a:latin typeface="Arial" panose="020B0604020202020204" pitchFamily="34" charset="0"/>
              <a:cs typeface="Arial" panose="020B0604020202020204" pitchFamily="34" charset="0"/>
            </a:endParaRPr>
          </a:p>
        </p:txBody>
      </p:sp>
      <p:pic>
        <p:nvPicPr>
          <p:cNvPr id="5" name="Grafik 4">
            <a:extLst>
              <a:ext uri="{FF2B5EF4-FFF2-40B4-BE49-F238E27FC236}">
                <a16:creationId xmlns:a16="http://schemas.microsoft.com/office/drawing/2014/main" id="{497A04FB-CCBB-9CF8-B9BC-7E73340DCDA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733885" y="810491"/>
            <a:ext cx="5676229" cy="3803072"/>
          </a:xfrm>
          <a:prstGeom prst="rect">
            <a:avLst/>
          </a:prstGeom>
          <a:noFill/>
        </p:spPr>
      </p:pic>
      <p:sp>
        <p:nvSpPr>
          <p:cNvPr id="4" name="Foliennummernplatzhalter 3">
            <a:extLst>
              <a:ext uri="{FF2B5EF4-FFF2-40B4-BE49-F238E27FC236}">
                <a16:creationId xmlns:a16="http://schemas.microsoft.com/office/drawing/2014/main" id="{62E0850A-FF23-ED31-732F-C94508FDD266}"/>
              </a:ext>
            </a:extLst>
          </p:cNvPr>
          <p:cNvSpPr>
            <a:spLocks noGrp="1"/>
          </p:cNvSpPr>
          <p:nvPr>
            <p:ph type="sldNum" idx="12"/>
          </p:nvPr>
        </p:nvSpPr>
        <p:spPr>
          <a:xfrm>
            <a:off x="8256300" y="4731990"/>
            <a:ext cx="636180" cy="273844"/>
          </a:xfrm>
        </p:spPr>
        <p:txBody>
          <a:bodyPr anchor="ctr">
            <a:normAutofit/>
          </a:bodyPr>
          <a:lstStyle/>
          <a:p>
            <a:pPr>
              <a:spcAft>
                <a:spcPts val="600"/>
              </a:spcAft>
            </a:pPr>
            <a:fld id="{5CD88B4E-D815-417B-99FD-41D66E5C06D4}" type="slidenum">
              <a:rPr lang="de-DE" smtClean="0"/>
              <a:pPr>
                <a:spcAft>
                  <a:spcPts val="600"/>
                </a:spcAft>
              </a:pPr>
              <a:t>15</a:t>
            </a:fld>
            <a:endParaRPr lang="de-DE"/>
          </a:p>
        </p:txBody>
      </p:sp>
    </p:spTree>
    <p:extLst>
      <p:ext uri="{BB962C8B-B14F-4D97-AF65-F5344CB8AC3E}">
        <p14:creationId xmlns:p14="http://schemas.microsoft.com/office/powerpoint/2010/main" val="19068684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D1717-0D0E-8653-0A2C-9B6B6EDBC7F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40B6766-07BD-B12F-FEE4-4CF15885369A}"/>
              </a:ext>
            </a:extLst>
          </p:cNvPr>
          <p:cNvSpPr>
            <a:spLocks noGrp="1"/>
          </p:cNvSpPr>
          <p:nvPr>
            <p:ph type="title"/>
          </p:nvPr>
        </p:nvSpPr>
        <p:spPr/>
        <p:txBody>
          <a:bodyPr>
            <a:normAutofit/>
          </a:bodyPr>
          <a:lstStyle/>
          <a:p>
            <a:r>
              <a:rPr lang="de-DE" sz="2300" b="0" dirty="0" err="1">
                <a:latin typeface="Arial" panose="020B0604020202020204" pitchFamily="34" charset="0"/>
                <a:cs typeface="Arial" panose="020B0604020202020204" pitchFamily="34" charset="0"/>
              </a:rPr>
              <a:t>Agentic</a:t>
            </a:r>
            <a:r>
              <a:rPr lang="de-DE" sz="2300" b="0" dirty="0">
                <a:latin typeface="Arial" panose="020B0604020202020204" pitchFamily="34" charset="0"/>
                <a:cs typeface="Arial" panose="020B0604020202020204" pitchFamily="34" charset="0"/>
              </a:rPr>
              <a:t> behavioral </a:t>
            </a:r>
            <a:r>
              <a:rPr lang="de-DE" sz="2300" b="0" dirty="0" err="1">
                <a:latin typeface="Arial" panose="020B0604020202020204" pitchFamily="34" charset="0"/>
                <a:cs typeface="Arial" panose="020B0604020202020204" pitchFamily="34" charset="0"/>
              </a:rPr>
              <a:t>model</a:t>
            </a:r>
            <a:endParaRPr lang="de-DE" sz="2300" b="0" dirty="0">
              <a:latin typeface="Arial" panose="020B0604020202020204" pitchFamily="34" charset="0"/>
              <a:cs typeface="Arial" panose="020B0604020202020204" pitchFamily="34" charset="0"/>
            </a:endParaRPr>
          </a:p>
        </p:txBody>
      </p:sp>
      <p:sp>
        <p:nvSpPr>
          <p:cNvPr id="4" name="Foliennummernplatzhalter 3">
            <a:extLst>
              <a:ext uri="{FF2B5EF4-FFF2-40B4-BE49-F238E27FC236}">
                <a16:creationId xmlns:a16="http://schemas.microsoft.com/office/drawing/2014/main" id="{136D5393-E2C0-3719-E339-3E20FA958587}"/>
              </a:ext>
            </a:extLst>
          </p:cNvPr>
          <p:cNvSpPr>
            <a:spLocks noGrp="1"/>
          </p:cNvSpPr>
          <p:nvPr>
            <p:ph type="sldNum" idx="12"/>
          </p:nvPr>
        </p:nvSpPr>
        <p:spPr/>
        <p:txBody>
          <a:bodyPr/>
          <a:lstStyle/>
          <a:p>
            <a:fld id="{5CD88B4E-D815-417B-99FD-41D66E5C06D4}" type="slidenum">
              <a:rPr lang="de-DE" smtClean="0">
                <a:latin typeface="Arial" panose="020B0604020202020204" pitchFamily="34" charset="0"/>
                <a:cs typeface="Arial" panose="020B0604020202020204" pitchFamily="34" charset="0"/>
              </a:rPr>
              <a:t>16</a:t>
            </a:fld>
            <a:endParaRPr lang="de-DE">
              <a:latin typeface="Arial" panose="020B0604020202020204" pitchFamily="34" charset="0"/>
              <a:cs typeface="Arial" panose="020B0604020202020204" pitchFamily="34" charset="0"/>
            </a:endParaRPr>
          </a:p>
        </p:txBody>
      </p:sp>
      <p:pic>
        <p:nvPicPr>
          <p:cNvPr id="3" name="Grafik 2" descr="Ein Bild, das Gehirn enthält.&#10;&#10;KI-generierte Inhalte können fehlerhaft sein.">
            <a:extLst>
              <a:ext uri="{FF2B5EF4-FFF2-40B4-BE49-F238E27FC236}">
                <a16:creationId xmlns:a16="http://schemas.microsoft.com/office/drawing/2014/main" id="{BAB5A743-26A0-166D-1EE3-ADDACBEF5749}"/>
              </a:ext>
            </a:extLst>
          </p:cNvPr>
          <p:cNvPicPr>
            <a:picLocks noChangeAspect="1"/>
          </p:cNvPicPr>
          <p:nvPr/>
        </p:nvPicPr>
        <p:blipFill>
          <a:blip r:embed="rId2">
            <a:duotone>
              <a:schemeClr val="accent3">
                <a:shade val="45000"/>
                <a:satMod val="135000"/>
              </a:schemeClr>
              <a:prstClr val="white"/>
            </a:duotone>
            <a:alphaModFix amt="20000"/>
            <a:extLst>
              <a:ext uri="{28A0092B-C50C-407E-A947-70E740481C1C}">
                <a14:useLocalDpi xmlns:a14="http://schemas.microsoft.com/office/drawing/2010/main" val="0"/>
              </a:ext>
            </a:extLst>
          </a:blip>
          <a:stretch>
            <a:fillRect/>
          </a:stretch>
        </p:blipFill>
        <p:spPr>
          <a:xfrm rot="469041" flipH="1">
            <a:off x="4716118" y="1088783"/>
            <a:ext cx="3724912" cy="2418172"/>
          </a:xfrm>
          <a:prstGeom prst="rect">
            <a:avLst/>
          </a:prstGeom>
        </p:spPr>
      </p:pic>
      <p:sp>
        <p:nvSpPr>
          <p:cNvPr id="6" name="Rechteck: abgerundete Ecken 5">
            <a:extLst>
              <a:ext uri="{FF2B5EF4-FFF2-40B4-BE49-F238E27FC236}">
                <a16:creationId xmlns:a16="http://schemas.microsoft.com/office/drawing/2014/main" id="{B5DEA955-7667-AC8B-FCFC-D1406F73CC45}"/>
              </a:ext>
            </a:extLst>
          </p:cNvPr>
          <p:cNvSpPr/>
          <p:nvPr/>
        </p:nvSpPr>
        <p:spPr>
          <a:xfrm>
            <a:off x="900879" y="1246777"/>
            <a:ext cx="3218109" cy="3295486"/>
          </a:xfrm>
          <a:prstGeom prst="roundRect">
            <a:avLst>
              <a:gd name="adj" fmla="val 2994"/>
            </a:avLst>
          </a:prstGeom>
          <a:solidFill>
            <a:schemeClr val="bg1">
              <a:alpha val="80000"/>
            </a:schemeClr>
          </a:solidFill>
          <a:ln w="9525">
            <a:solidFill>
              <a:schemeClr val="bg1">
                <a:lumMod val="65000"/>
              </a:schemeClr>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C7EA569A-3181-9B77-A7E0-0DACF8D5B128}"/>
                  </a:ext>
                </a:extLst>
              </p:cNvPr>
              <p:cNvSpPr txBox="1"/>
              <p:nvPr/>
            </p:nvSpPr>
            <p:spPr>
              <a:xfrm>
                <a:off x="910971" y="1892954"/>
                <a:ext cx="3277500" cy="307777"/>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𝑠</m:t>
                          </m:r>
                        </m:e>
                        <m:sub>
                          <m:r>
                            <a:rPr lang="de-DE" sz="1400" b="0" i="1" smtClean="0">
                              <a:latin typeface="Cambria Math" panose="02040503050406030204" pitchFamily="18" charset="0"/>
                            </a:rPr>
                            <m:t>𝑡</m:t>
                          </m:r>
                        </m:sub>
                      </m:sSub>
                      <m:r>
                        <a:rPr lang="de-DE" sz="1400" b="0" i="1" smtClean="0">
                          <a:latin typeface="Cambria Math" panose="02040503050406030204" pitchFamily="18" charset="0"/>
                        </a:rPr>
                        <m:t>≔</m:t>
                      </m:r>
                      <m:r>
                        <a:rPr lang="de-DE" sz="1400" i="1">
                          <a:latin typeface="Cambria Math" panose="02040503050406030204" pitchFamily="18" charset="0"/>
                        </a:rPr>
                        <m:t>(</m:t>
                      </m:r>
                      <m:r>
                        <m:rPr>
                          <m:sty m:val="p"/>
                        </m:rPr>
                        <a:rPr lang="de-DE" sz="1400" b="0" i="0" smtClean="0">
                          <a:latin typeface="Cambria Math" panose="02040503050406030204" pitchFamily="18" charset="0"/>
                        </a:rPr>
                        <m:t>Stimuli</m:t>
                      </m:r>
                      <m:r>
                        <a:rPr lang="de-DE" sz="1400" b="0" i="0" smtClean="0">
                          <a:latin typeface="Cambria Math" panose="02040503050406030204" pitchFamily="18" charset="0"/>
                        </a:rPr>
                        <m:t>,</m:t>
                      </m:r>
                      <m:r>
                        <m:rPr>
                          <m:sty m:val="p"/>
                        </m:rPr>
                        <a:rPr lang="de-DE" sz="1400" b="0" i="0" smtClean="0">
                          <a:latin typeface="Cambria Math" panose="02040503050406030204" pitchFamily="18" charset="0"/>
                        </a:rPr>
                        <m:t>Label</m:t>
                      </m:r>
                      <m:r>
                        <a:rPr lang="de-DE" sz="1400" b="0" i="0" smtClean="0">
                          <a:latin typeface="Cambria Math" panose="02040503050406030204" pitchFamily="18" charset="0"/>
                        </a:rPr>
                        <m:t>,</m:t>
                      </m:r>
                      <m:r>
                        <m:rPr>
                          <m:sty m:val="p"/>
                        </m:rPr>
                        <a:rPr lang="de-DE" sz="1400" b="0" i="0" smtClean="0">
                          <a:latin typeface="Cambria Math" panose="02040503050406030204" pitchFamily="18" charset="0"/>
                        </a:rPr>
                        <m:t>Switch</m:t>
                      </m:r>
                      <m:r>
                        <a:rPr lang="de-DE" sz="1400" b="0" i="0" smtClean="0">
                          <a:latin typeface="Cambria Math" panose="02040503050406030204" pitchFamily="18" charset="0"/>
                        </a:rPr>
                        <m:t>,</m:t>
                      </m:r>
                      <m:r>
                        <m:rPr>
                          <m:sty m:val="p"/>
                        </m:rPr>
                        <a:rPr lang="de-DE" sz="1400" b="0" i="0" smtClean="0">
                          <a:latin typeface="Cambria Math" panose="02040503050406030204" pitchFamily="18" charset="0"/>
                        </a:rPr>
                        <m:t>Imbalance</m:t>
                      </m:r>
                      <m:r>
                        <a:rPr lang="de-DE" sz="1400" i="1">
                          <a:latin typeface="Cambria Math" panose="02040503050406030204" pitchFamily="18" charset="0"/>
                        </a:rPr>
                        <m:t>)</m:t>
                      </m:r>
                    </m:oMath>
                  </m:oMathPara>
                </a14:m>
                <a:endParaRPr lang="de-DE" sz="1400" dirty="0">
                  <a:effectLst/>
                  <a:latin typeface="Arial" panose="020B0604020202020204" pitchFamily="34" charset="0"/>
                  <a:ea typeface="CMU Serif" panose="02000603000000000000" pitchFamily="2" charset="0"/>
                  <a:cs typeface="Arial" panose="020B0604020202020204" pitchFamily="34" charset="0"/>
                </a:endParaRPr>
              </a:p>
            </p:txBody>
          </p:sp>
        </mc:Choice>
        <mc:Fallback xmlns="">
          <p:sp>
            <p:nvSpPr>
              <p:cNvPr id="7" name="Textfeld 6">
                <a:extLst>
                  <a:ext uri="{FF2B5EF4-FFF2-40B4-BE49-F238E27FC236}">
                    <a16:creationId xmlns:a16="http://schemas.microsoft.com/office/drawing/2014/main" id="{C7EA569A-3181-9B77-A7E0-0DACF8D5B128}"/>
                  </a:ext>
                </a:extLst>
              </p:cNvPr>
              <p:cNvSpPr txBox="1">
                <a:spLocks noRot="1" noChangeAspect="1" noMove="1" noResize="1" noEditPoints="1" noAdjustHandles="1" noChangeArrowheads="1" noChangeShapeType="1" noTextEdit="1"/>
              </p:cNvSpPr>
              <p:nvPr/>
            </p:nvSpPr>
            <p:spPr>
              <a:xfrm>
                <a:off x="910971" y="1892954"/>
                <a:ext cx="3277500" cy="307777"/>
              </a:xfrm>
              <a:prstGeom prst="rect">
                <a:avLst/>
              </a:prstGeom>
              <a:blipFill>
                <a:blip r:embed="rId3"/>
                <a:stretch>
                  <a:fillRect b="-10000"/>
                </a:stretch>
              </a:blipFill>
            </p:spPr>
            <p:txBody>
              <a:bodyPr/>
              <a:lstStyle/>
              <a:p>
                <a:r>
                  <a:rPr lang="de-DE">
                    <a:noFill/>
                  </a:rPr>
                  <a:t> </a:t>
                </a:r>
              </a:p>
            </p:txBody>
          </p:sp>
        </mc:Fallback>
      </mc:AlternateContent>
      <p:sp>
        <p:nvSpPr>
          <p:cNvPr id="8" name="Rechteck: abgerundete Ecken 7">
            <a:extLst>
              <a:ext uri="{FF2B5EF4-FFF2-40B4-BE49-F238E27FC236}">
                <a16:creationId xmlns:a16="http://schemas.microsoft.com/office/drawing/2014/main" id="{A346B1F1-8197-E7D5-6A27-D3BCA1D19377}"/>
              </a:ext>
            </a:extLst>
          </p:cNvPr>
          <p:cNvSpPr/>
          <p:nvPr/>
        </p:nvSpPr>
        <p:spPr>
          <a:xfrm>
            <a:off x="755576" y="846696"/>
            <a:ext cx="7832601" cy="3806402"/>
          </a:xfrm>
          <a:prstGeom prst="roundRect">
            <a:avLst>
              <a:gd name="adj" fmla="val 1343"/>
            </a:avLst>
          </a:prstGeom>
          <a:noFill/>
          <a:ln w="9525">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Arial" panose="020B0604020202020204" pitchFamily="34" charset="0"/>
              <a:cs typeface="Arial" panose="020B0604020202020204" pitchFamily="34" charset="0"/>
            </a:endParaRPr>
          </a:p>
        </p:txBody>
      </p:sp>
      <p:sp>
        <p:nvSpPr>
          <p:cNvPr id="9" name="Rechteck: abgerundete Ecken 8">
            <a:extLst>
              <a:ext uri="{FF2B5EF4-FFF2-40B4-BE49-F238E27FC236}">
                <a16:creationId xmlns:a16="http://schemas.microsoft.com/office/drawing/2014/main" id="{D41B1D8C-4E85-FE47-3244-EA52C1F2B160}"/>
              </a:ext>
            </a:extLst>
          </p:cNvPr>
          <p:cNvSpPr/>
          <p:nvPr/>
        </p:nvSpPr>
        <p:spPr>
          <a:xfrm>
            <a:off x="4837183" y="1246776"/>
            <a:ext cx="3543242" cy="2581157"/>
          </a:xfrm>
          <a:prstGeom prst="roundRect">
            <a:avLst>
              <a:gd name="adj" fmla="val 2555"/>
            </a:avLst>
          </a:prstGeom>
          <a:solidFill>
            <a:schemeClr val="bg1">
              <a:alpha val="36000"/>
            </a:schemeClr>
          </a:solidFill>
          <a:ln w="9525">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sz="1200" dirty="0">
              <a:solidFill>
                <a:schemeClr val="bg1">
                  <a:lumMod val="65000"/>
                </a:scheme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46608798-7518-0586-0E49-FD2D44D4B803}"/>
                  </a:ext>
                </a:extLst>
              </p:cNvPr>
              <p:cNvSpPr txBox="1"/>
              <p:nvPr/>
            </p:nvSpPr>
            <p:spPr>
              <a:xfrm>
                <a:off x="4960993" y="3481581"/>
                <a:ext cx="3488712" cy="278153"/>
              </a:xfrm>
              <a:prstGeom prst="rect">
                <a:avLst/>
              </a:prstGeom>
              <a:noFill/>
            </p:spPr>
            <p:txBody>
              <a:bodyPr wrap="none" rtlCol="0">
                <a:spAutoFit/>
              </a:bodyPr>
              <a:lstStyle/>
              <a:p>
                <a:r>
                  <a:rPr lang="de-DE" sz="11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Optimal </a:t>
                </a:r>
                <a:r>
                  <a:rPr lang="de-DE" sz="1100" dirty="0" err="1">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action</a:t>
                </a:r>
                <a:r>
                  <a:rPr lang="de-DE" sz="11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 </a:t>
                </a:r>
                <a:r>
                  <a:rPr lang="de-DE" sz="1100" dirty="0" err="1">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value</a:t>
                </a:r>
                <a:r>
                  <a:rPr lang="de-DE" sz="11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 </a:t>
                </a:r>
                <a:r>
                  <a:rPr lang="de-DE" sz="1100" dirty="0" err="1">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functions</a:t>
                </a:r>
                <a:r>
                  <a:rPr lang="de-DE" sz="11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 </a:t>
                </a:r>
                <a14:m>
                  <m:oMath xmlns:m="http://schemas.openxmlformats.org/officeDocument/2006/math">
                    <m:sSubSup>
                      <m:sSubSupPr>
                        <m:ctrlPr>
                          <a:rPr lang="de-DE" sz="1100" b="0" i="1" smtClean="0">
                            <a:solidFill>
                              <a:schemeClr val="bg1">
                                <a:lumMod val="65000"/>
                              </a:schemeClr>
                            </a:solidFill>
                            <a:effectLst/>
                            <a:latin typeface="Cambria Math" panose="02040503050406030204" pitchFamily="18" charset="0"/>
                            <a:ea typeface="CMU Serif" panose="02000603000000000000" pitchFamily="2" charset="0"/>
                            <a:cs typeface="Arial" panose="020B0604020202020204" pitchFamily="34" charset="0"/>
                          </a:rPr>
                        </m:ctrlPr>
                      </m:sSubSupPr>
                      <m:e>
                        <m:r>
                          <a:rPr lang="de-DE" sz="1100" b="0" i="1" smtClean="0">
                            <a:solidFill>
                              <a:schemeClr val="bg1">
                                <a:lumMod val="65000"/>
                              </a:schemeClr>
                            </a:solidFill>
                            <a:effectLst/>
                            <a:latin typeface="Cambria Math" panose="02040503050406030204" pitchFamily="18" charset="0"/>
                            <a:ea typeface="CMU Serif" panose="02000603000000000000" pitchFamily="2" charset="0"/>
                            <a:cs typeface="Arial" panose="020B0604020202020204" pitchFamily="34" charset="0"/>
                          </a:rPr>
                          <m:t>𝑞</m:t>
                        </m:r>
                      </m:e>
                      <m:sub>
                        <m:r>
                          <a:rPr lang="de-DE" sz="1100" b="0" i="1" smtClean="0">
                            <a:solidFill>
                              <a:schemeClr val="bg1">
                                <a:lumMod val="65000"/>
                              </a:schemeClr>
                            </a:solidFill>
                            <a:effectLst/>
                            <a:latin typeface="Cambria Math" panose="02040503050406030204" pitchFamily="18" charset="0"/>
                            <a:ea typeface="CMU Serif" panose="02000603000000000000" pitchFamily="2" charset="0"/>
                            <a:cs typeface="Arial" panose="020B0604020202020204" pitchFamily="34" charset="0"/>
                          </a:rPr>
                          <m:t>𝜒</m:t>
                        </m:r>
                        <m:r>
                          <a:rPr lang="de-DE" sz="1100" b="0" i="1" smtClean="0">
                            <a:solidFill>
                              <a:schemeClr val="bg1">
                                <a:lumMod val="65000"/>
                              </a:schemeClr>
                            </a:solidFill>
                            <a:effectLst/>
                            <a:latin typeface="Cambria Math" panose="02040503050406030204" pitchFamily="18" charset="0"/>
                            <a:ea typeface="CMU Serif" panose="02000603000000000000" pitchFamily="2" charset="0"/>
                            <a:cs typeface="Arial" panose="020B0604020202020204" pitchFamily="34" charset="0"/>
                          </a:rPr>
                          <m:t>,</m:t>
                        </m:r>
                        <m:r>
                          <a:rPr lang="de-DE" sz="1100" b="0" i="1" smtClean="0">
                            <a:solidFill>
                              <a:schemeClr val="bg1">
                                <a:lumMod val="65000"/>
                              </a:schemeClr>
                            </a:solidFill>
                            <a:effectLst/>
                            <a:latin typeface="Cambria Math" panose="02040503050406030204" pitchFamily="18" charset="0"/>
                            <a:ea typeface="CMU Serif" panose="02000603000000000000" pitchFamily="2" charset="0"/>
                            <a:cs typeface="Arial" panose="020B0604020202020204" pitchFamily="34" charset="0"/>
                          </a:rPr>
                          <m:t>𝑡</m:t>
                        </m:r>
                      </m:sub>
                      <m:sup>
                        <m:r>
                          <a:rPr lang="de-DE" sz="1100" b="0" i="1" smtClean="0">
                            <a:solidFill>
                              <a:schemeClr val="bg1">
                                <a:lumMod val="65000"/>
                              </a:schemeClr>
                            </a:solidFill>
                            <a:effectLst/>
                            <a:latin typeface="Cambria Math" panose="02040503050406030204" pitchFamily="18" charset="0"/>
                            <a:ea typeface="CMU Serif" panose="02000603000000000000" pitchFamily="2" charset="0"/>
                            <a:cs typeface="Arial" panose="020B0604020202020204" pitchFamily="34" charset="0"/>
                          </a:rPr>
                          <m:t>∗</m:t>
                        </m:r>
                      </m:sup>
                    </m:sSubSup>
                  </m:oMath>
                </a14:m>
                <a:r>
                  <a:rPr lang="de-DE" sz="11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 and decisions </a:t>
                </a:r>
                <a14:m>
                  <m:oMath xmlns:m="http://schemas.openxmlformats.org/officeDocument/2006/math">
                    <m:sSubSup>
                      <m:sSubSupPr>
                        <m:ctrlPr>
                          <a:rPr lang="de-DE" sz="1100" b="0" i="1" smtClean="0">
                            <a:solidFill>
                              <a:schemeClr val="bg1">
                                <a:lumMod val="65000"/>
                              </a:schemeClr>
                            </a:solidFill>
                            <a:effectLst/>
                            <a:latin typeface="Cambria Math" panose="02040503050406030204" pitchFamily="18" charset="0"/>
                            <a:ea typeface="CMU Bright" panose="02000603000000000000" pitchFamily="2" charset="0"/>
                            <a:cs typeface="CMU Bright" panose="02000603000000000000" pitchFamily="2" charset="0"/>
                          </a:rPr>
                        </m:ctrlPr>
                      </m:sSubSupPr>
                      <m:e>
                        <m:r>
                          <a:rPr lang="de-DE" sz="1100" b="0" i="1" smtClean="0">
                            <a:solidFill>
                              <a:schemeClr val="bg1">
                                <a:lumMod val="65000"/>
                              </a:schemeClr>
                            </a:solidFill>
                            <a:effectLst/>
                            <a:latin typeface="Cambria Math" panose="02040503050406030204" pitchFamily="18" charset="0"/>
                            <a:ea typeface="CMU Bright" panose="02000603000000000000" pitchFamily="2" charset="0"/>
                            <a:cs typeface="CMU Bright" panose="02000603000000000000" pitchFamily="2" charset="0"/>
                          </a:rPr>
                          <m:t>𝑑</m:t>
                        </m:r>
                      </m:e>
                      <m:sub>
                        <m:r>
                          <a:rPr lang="de-DE" sz="1100" b="0" i="1" smtClean="0">
                            <a:solidFill>
                              <a:schemeClr val="bg1">
                                <a:lumMod val="65000"/>
                              </a:schemeClr>
                            </a:solidFill>
                            <a:effectLst/>
                            <a:latin typeface="Cambria Math" panose="02040503050406030204" pitchFamily="18" charset="0"/>
                            <a:ea typeface="CMU Bright" panose="02000603000000000000" pitchFamily="2" charset="0"/>
                            <a:cs typeface="CMU Bright" panose="02000603000000000000" pitchFamily="2" charset="0"/>
                          </a:rPr>
                          <m:t>𝜒</m:t>
                        </m:r>
                        <m:r>
                          <a:rPr lang="de-DE" sz="1100" b="0" i="1" smtClean="0">
                            <a:solidFill>
                              <a:schemeClr val="bg1">
                                <a:lumMod val="65000"/>
                              </a:schemeClr>
                            </a:solidFill>
                            <a:effectLst/>
                            <a:latin typeface="Cambria Math" panose="02040503050406030204" pitchFamily="18" charset="0"/>
                            <a:ea typeface="CMU Bright" panose="02000603000000000000" pitchFamily="2" charset="0"/>
                            <a:cs typeface="CMU Bright" panose="02000603000000000000" pitchFamily="2" charset="0"/>
                          </a:rPr>
                          <m:t>,</m:t>
                        </m:r>
                        <m:r>
                          <a:rPr lang="de-DE" sz="1100" b="0" i="1" smtClean="0">
                            <a:solidFill>
                              <a:schemeClr val="bg1">
                                <a:lumMod val="65000"/>
                              </a:schemeClr>
                            </a:solidFill>
                            <a:effectLst/>
                            <a:latin typeface="Cambria Math" panose="02040503050406030204" pitchFamily="18" charset="0"/>
                            <a:ea typeface="CMU Bright" panose="02000603000000000000" pitchFamily="2" charset="0"/>
                            <a:cs typeface="CMU Bright" panose="02000603000000000000" pitchFamily="2" charset="0"/>
                          </a:rPr>
                          <m:t>𝑡</m:t>
                        </m:r>
                      </m:sub>
                      <m:sup>
                        <m:r>
                          <a:rPr lang="de-DE" sz="1100" b="0" i="1" smtClean="0">
                            <a:solidFill>
                              <a:schemeClr val="bg1">
                                <a:lumMod val="65000"/>
                              </a:schemeClr>
                            </a:solidFill>
                            <a:effectLst/>
                            <a:latin typeface="Cambria Math" panose="02040503050406030204" pitchFamily="18" charset="0"/>
                            <a:ea typeface="CMU Bright" panose="02000603000000000000" pitchFamily="2" charset="0"/>
                            <a:cs typeface="CMU Bright" panose="02000603000000000000" pitchFamily="2" charset="0"/>
                          </a:rPr>
                          <m:t>∗</m:t>
                        </m:r>
                      </m:sup>
                    </m:sSubSup>
                  </m:oMath>
                </a14:m>
                <a:endParaRPr lang="de-DE" sz="11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endParaRPr>
              </a:p>
            </p:txBody>
          </p:sp>
        </mc:Choice>
        <mc:Fallback xmlns="">
          <p:sp>
            <p:nvSpPr>
              <p:cNvPr id="11" name="Textfeld 10">
                <a:extLst>
                  <a:ext uri="{FF2B5EF4-FFF2-40B4-BE49-F238E27FC236}">
                    <a16:creationId xmlns:a16="http://schemas.microsoft.com/office/drawing/2014/main" id="{46608798-7518-0586-0E49-FD2D44D4B803}"/>
                  </a:ext>
                </a:extLst>
              </p:cNvPr>
              <p:cNvSpPr txBox="1">
                <a:spLocks noRot="1" noChangeAspect="1" noMove="1" noResize="1" noEditPoints="1" noAdjustHandles="1" noChangeArrowheads="1" noChangeShapeType="1" noTextEdit="1"/>
              </p:cNvSpPr>
              <p:nvPr/>
            </p:nvSpPr>
            <p:spPr>
              <a:xfrm>
                <a:off x="4960993" y="3481581"/>
                <a:ext cx="3488712" cy="278153"/>
              </a:xfrm>
              <a:prstGeom prst="rect">
                <a:avLst/>
              </a:prstGeom>
              <a:blipFill>
                <a:blip r:embed="rId4"/>
                <a:stretch>
                  <a:fillRect t="-2174" b="-6522"/>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2" name="Textfeld 11">
                <a:extLst>
                  <a:ext uri="{FF2B5EF4-FFF2-40B4-BE49-F238E27FC236}">
                    <a16:creationId xmlns:a16="http://schemas.microsoft.com/office/drawing/2014/main" id="{95EE46C6-B6B6-7F69-189A-1E1624311B65}"/>
                  </a:ext>
                </a:extLst>
              </p:cNvPr>
              <p:cNvSpPr txBox="1"/>
              <p:nvPr/>
            </p:nvSpPr>
            <p:spPr>
              <a:xfrm>
                <a:off x="5150083" y="2458282"/>
                <a:ext cx="3110532" cy="324512"/>
              </a:xfrm>
              <a:prstGeom prst="rect">
                <a:avLst/>
              </a:prstGeom>
              <a:noFill/>
            </p:spPr>
            <p:txBody>
              <a:bodyPr wrap="none" rtlCol="0">
                <a:spAutoFit/>
              </a:bodyPr>
              <a:lstStyle/>
              <a:p>
                <a:r>
                  <a:rPr lang="de-DE" sz="1300" dirty="0" err="1">
                    <a:solidFill>
                      <a:schemeClr val="bg1">
                        <a:lumMod val="65000"/>
                      </a:schemeClr>
                    </a:solidFill>
                    <a:latin typeface="Arial" panose="020B0604020202020204" pitchFamily="34" charset="0"/>
                    <a:ea typeface="CMU Serif" panose="02000603000000000000" pitchFamily="2" charset="0"/>
                    <a:cs typeface="Arial" panose="020B0604020202020204" pitchFamily="34" charset="0"/>
                  </a:rPr>
                  <a:t>Subjective</a:t>
                </a:r>
                <a:r>
                  <a:rPr lang="de-DE" sz="1300" dirty="0">
                    <a:solidFill>
                      <a:schemeClr val="bg1">
                        <a:lumMod val="65000"/>
                      </a:schemeClr>
                    </a:solidFill>
                    <a:latin typeface="Arial" panose="020B0604020202020204" pitchFamily="34" charset="0"/>
                    <a:ea typeface="CMU Serif" panose="02000603000000000000" pitchFamily="2" charset="0"/>
                    <a:cs typeface="Arial" panose="020B0604020202020204" pitchFamily="34" charset="0"/>
                  </a:rPr>
                  <a:t> </a:t>
                </a:r>
                <a:r>
                  <a:rPr lang="de-DE" sz="1300" dirty="0" err="1">
                    <a:solidFill>
                      <a:schemeClr val="bg1">
                        <a:lumMod val="65000"/>
                      </a:schemeClr>
                    </a:solidFill>
                    <a:latin typeface="Arial" panose="020B0604020202020204" pitchFamily="34" charset="0"/>
                    <a:ea typeface="CMU Serif" panose="02000603000000000000" pitchFamily="2" charset="0"/>
                    <a:cs typeface="Arial" panose="020B0604020202020204" pitchFamily="34" charset="0"/>
                  </a:rPr>
                  <a:t>reward</a:t>
                </a:r>
                <a:r>
                  <a:rPr lang="de-DE" sz="1300" dirty="0">
                    <a:solidFill>
                      <a:schemeClr val="bg1">
                        <a:lumMod val="65000"/>
                      </a:schemeClr>
                    </a:solidFill>
                    <a:latin typeface="Arial" panose="020B0604020202020204" pitchFamily="34" charset="0"/>
                    <a:ea typeface="CMU Serif" panose="02000603000000000000" pitchFamily="2" charset="0"/>
                    <a:cs typeface="Arial" panose="020B0604020202020204" pitchFamily="34" charset="0"/>
                  </a:rPr>
                  <a:t> </a:t>
                </a:r>
                <a:r>
                  <a:rPr lang="de-DE" sz="1300" dirty="0" err="1">
                    <a:solidFill>
                      <a:schemeClr val="bg1">
                        <a:lumMod val="65000"/>
                      </a:schemeClr>
                    </a:solidFill>
                    <a:latin typeface="Arial" panose="020B0604020202020204" pitchFamily="34" charset="0"/>
                    <a:ea typeface="CMU Serif" panose="02000603000000000000" pitchFamily="2" charset="0"/>
                    <a:cs typeface="Arial" panose="020B0604020202020204" pitchFamily="34" charset="0"/>
                  </a:rPr>
                  <a:t>function</a:t>
                </a:r>
                <a:r>
                  <a:rPr lang="de-DE" sz="1300" dirty="0">
                    <a:solidFill>
                      <a:schemeClr val="bg1">
                        <a:lumMod val="65000"/>
                      </a:schemeClr>
                    </a:solidFill>
                    <a:latin typeface="Arial" panose="020B0604020202020204" pitchFamily="34" charset="0"/>
                    <a:ea typeface="CMU Serif" panose="02000603000000000000" pitchFamily="2" charset="0"/>
                    <a:cs typeface="Arial" panose="020B0604020202020204" pitchFamily="34" charset="0"/>
                  </a:rPr>
                  <a:t> </a:t>
                </a:r>
                <a14:m>
                  <m:oMath xmlns:m="http://schemas.openxmlformats.org/officeDocument/2006/math">
                    <m:sSub>
                      <m:sSubPr>
                        <m:ctrlPr>
                          <a:rPr lang="de-DE" sz="1300" b="0" i="1" smtClean="0">
                            <a:solidFill>
                              <a:schemeClr val="bg1">
                                <a:lumMod val="65000"/>
                              </a:schemeClr>
                            </a:solidFill>
                            <a:latin typeface="Cambria Math" panose="02040503050406030204" pitchFamily="18" charset="0"/>
                          </a:rPr>
                        </m:ctrlPr>
                      </m:sSubPr>
                      <m:e>
                        <m:r>
                          <a:rPr lang="de-DE" sz="1300" b="0" i="1" smtClean="0">
                            <a:solidFill>
                              <a:schemeClr val="bg1">
                                <a:lumMod val="65000"/>
                              </a:schemeClr>
                            </a:solidFill>
                            <a:latin typeface="Cambria Math" panose="02040503050406030204" pitchFamily="18" charset="0"/>
                          </a:rPr>
                          <m:t>𝜌</m:t>
                        </m:r>
                      </m:e>
                      <m:sub>
                        <m:r>
                          <a:rPr lang="de-DE" sz="1300" b="0" i="1" smtClean="0">
                            <a:solidFill>
                              <a:schemeClr val="bg1">
                                <a:lumMod val="65000"/>
                              </a:schemeClr>
                            </a:solidFill>
                            <a:latin typeface="Cambria Math" panose="02040503050406030204" pitchFamily="18" charset="0"/>
                          </a:rPr>
                          <m:t>𝛽</m:t>
                        </m:r>
                        <m:r>
                          <a:rPr lang="de-DE" sz="1300" b="0" i="1" smtClean="0">
                            <a:solidFill>
                              <a:schemeClr val="bg1">
                                <a:lumMod val="65000"/>
                              </a:schemeClr>
                            </a:solidFill>
                            <a:latin typeface="Cambria Math" panose="02040503050406030204" pitchFamily="18" charset="0"/>
                          </a:rPr>
                          <m:t>,</m:t>
                        </m:r>
                        <m:r>
                          <a:rPr lang="de-DE" sz="1300" b="0" i="1" smtClean="0">
                            <a:solidFill>
                              <a:schemeClr val="bg1">
                                <a:lumMod val="65000"/>
                              </a:schemeClr>
                            </a:solidFill>
                            <a:latin typeface="Cambria Math" panose="02040503050406030204" pitchFamily="18" charset="0"/>
                          </a:rPr>
                          <m:t>𝜎</m:t>
                        </m:r>
                      </m:sub>
                    </m:sSub>
                    <m:d>
                      <m:dPr>
                        <m:ctrlPr>
                          <a:rPr lang="de-DE" sz="1300" b="0" i="1" smtClean="0">
                            <a:solidFill>
                              <a:schemeClr val="bg1">
                                <a:lumMod val="65000"/>
                              </a:schemeClr>
                            </a:solidFill>
                            <a:latin typeface="Cambria Math" panose="02040503050406030204" pitchFamily="18" charset="0"/>
                          </a:rPr>
                        </m:ctrlPr>
                      </m:dPr>
                      <m:e>
                        <m:sSubSup>
                          <m:sSubSupPr>
                            <m:ctrlPr>
                              <a:rPr lang="de-DE" sz="1300" b="0" i="1" smtClean="0">
                                <a:solidFill>
                                  <a:schemeClr val="bg1">
                                    <a:lumMod val="65000"/>
                                  </a:schemeClr>
                                </a:solidFill>
                                <a:latin typeface="Cambria Math" panose="02040503050406030204" pitchFamily="18" charset="0"/>
                              </a:rPr>
                            </m:ctrlPr>
                          </m:sSubSupPr>
                          <m:e>
                            <m:r>
                              <a:rPr lang="de-DE" sz="1300" b="0" i="1" smtClean="0">
                                <a:solidFill>
                                  <a:schemeClr val="bg1">
                                    <a:lumMod val="65000"/>
                                  </a:schemeClr>
                                </a:solidFill>
                                <a:latin typeface="Cambria Math" panose="02040503050406030204" pitchFamily="18" charset="0"/>
                              </a:rPr>
                              <m:t>𝑠</m:t>
                            </m:r>
                          </m:e>
                          <m:sub>
                            <m:r>
                              <a:rPr lang="de-DE" sz="1300" b="0" i="1" smtClean="0">
                                <a:solidFill>
                                  <a:schemeClr val="bg1">
                                    <a:lumMod val="65000"/>
                                  </a:schemeClr>
                                </a:solidFill>
                                <a:latin typeface="Cambria Math" panose="02040503050406030204" pitchFamily="18" charset="0"/>
                              </a:rPr>
                              <m:t>𝑡</m:t>
                            </m:r>
                          </m:sub>
                          <m:sup>
                            <m:r>
                              <a:rPr lang="de-DE" sz="1300" b="0" i="1" smtClean="0">
                                <a:solidFill>
                                  <a:schemeClr val="bg1">
                                    <a:lumMod val="65000"/>
                                  </a:schemeClr>
                                </a:solidFill>
                                <a:latin typeface="Cambria Math" panose="02040503050406030204" pitchFamily="18" charset="0"/>
                              </a:rPr>
                              <m:t>𝜒</m:t>
                            </m:r>
                          </m:sup>
                        </m:sSubSup>
                        <m:r>
                          <a:rPr lang="de-DE" sz="1300" b="0" i="1" smtClean="0">
                            <a:solidFill>
                              <a:schemeClr val="bg1">
                                <a:lumMod val="65000"/>
                              </a:schemeClr>
                            </a:solidFill>
                            <a:latin typeface="Cambria Math" panose="02040503050406030204" pitchFamily="18" charset="0"/>
                          </a:rPr>
                          <m:t>,</m:t>
                        </m:r>
                        <m:sSubSup>
                          <m:sSubSupPr>
                            <m:ctrlPr>
                              <a:rPr lang="de-DE" sz="1300" b="0" i="1" smtClean="0">
                                <a:solidFill>
                                  <a:schemeClr val="bg1">
                                    <a:lumMod val="65000"/>
                                  </a:schemeClr>
                                </a:solidFill>
                                <a:latin typeface="Cambria Math" panose="02040503050406030204" pitchFamily="18" charset="0"/>
                              </a:rPr>
                            </m:ctrlPr>
                          </m:sSubSupPr>
                          <m:e>
                            <m:r>
                              <a:rPr lang="de-DE" sz="1300" b="0" i="1" smtClean="0">
                                <a:solidFill>
                                  <a:schemeClr val="bg1">
                                    <a:lumMod val="65000"/>
                                  </a:schemeClr>
                                </a:solidFill>
                                <a:latin typeface="Cambria Math" panose="02040503050406030204" pitchFamily="18" charset="0"/>
                              </a:rPr>
                              <m:t>𝑎</m:t>
                            </m:r>
                          </m:e>
                          <m:sub>
                            <m:r>
                              <a:rPr lang="de-DE" sz="1300" b="0" i="1" smtClean="0">
                                <a:solidFill>
                                  <a:schemeClr val="bg1">
                                    <a:lumMod val="65000"/>
                                  </a:schemeClr>
                                </a:solidFill>
                                <a:latin typeface="Cambria Math" panose="02040503050406030204" pitchFamily="18" charset="0"/>
                              </a:rPr>
                              <m:t>𝑡</m:t>
                            </m:r>
                          </m:sub>
                          <m:sup>
                            <m:r>
                              <a:rPr lang="de-DE" sz="1300" b="0" i="1" smtClean="0">
                                <a:solidFill>
                                  <a:schemeClr val="bg1">
                                    <a:lumMod val="65000"/>
                                  </a:schemeClr>
                                </a:solidFill>
                                <a:latin typeface="Cambria Math" panose="02040503050406030204" pitchFamily="18" charset="0"/>
                              </a:rPr>
                              <m:t>𝜒</m:t>
                            </m:r>
                          </m:sup>
                        </m:sSubSup>
                      </m:e>
                    </m:d>
                  </m:oMath>
                </a14:m>
                <a:r>
                  <a:rPr lang="de-DE" sz="13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 </a:t>
                </a:r>
              </a:p>
            </p:txBody>
          </p:sp>
        </mc:Choice>
        <mc:Fallback xmlns="">
          <p:sp>
            <p:nvSpPr>
              <p:cNvPr id="12" name="Textfeld 11">
                <a:extLst>
                  <a:ext uri="{FF2B5EF4-FFF2-40B4-BE49-F238E27FC236}">
                    <a16:creationId xmlns:a16="http://schemas.microsoft.com/office/drawing/2014/main" id="{95EE46C6-B6B6-7F69-189A-1E1624311B65}"/>
                  </a:ext>
                </a:extLst>
              </p:cNvPr>
              <p:cNvSpPr txBox="1">
                <a:spLocks noRot="1" noChangeAspect="1" noMove="1" noResize="1" noEditPoints="1" noAdjustHandles="1" noChangeArrowheads="1" noChangeShapeType="1" noTextEdit="1"/>
              </p:cNvSpPr>
              <p:nvPr/>
            </p:nvSpPr>
            <p:spPr>
              <a:xfrm>
                <a:off x="5150083" y="2458282"/>
                <a:ext cx="3110532" cy="324512"/>
              </a:xfrm>
              <a:prstGeom prst="rect">
                <a:avLst/>
              </a:prstGeom>
              <a:blipFill>
                <a:blip r:embed="rId5"/>
                <a:stretch>
                  <a:fillRect l="-392" b="-9434"/>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EFEB8B81-7EF8-A4C2-9097-D6E038FC73AE}"/>
                  </a:ext>
                </a:extLst>
              </p:cNvPr>
              <p:cNvSpPr txBox="1"/>
              <p:nvPr/>
            </p:nvSpPr>
            <p:spPr>
              <a:xfrm>
                <a:off x="5058809" y="4102885"/>
                <a:ext cx="3293081" cy="326949"/>
              </a:xfrm>
              <a:prstGeom prst="rect">
                <a:avLst/>
              </a:prstGeom>
              <a:noFill/>
            </p:spPr>
            <p:txBody>
              <a:bodyPr wrap="none" rtlCol="0">
                <a:spAutoFit/>
              </a:bodyPr>
              <a:lstStyle/>
              <a:p>
                <a:r>
                  <a:rPr lang="de-DE" sz="1400" dirty="0">
                    <a:effectLst/>
                    <a:latin typeface="Arial" panose="020B0604020202020204" pitchFamily="34" charset="0"/>
                    <a:ea typeface="CMU Serif" panose="02000603000000000000" pitchFamily="2" charset="0"/>
                    <a:cs typeface="Arial" panose="020B0604020202020204" pitchFamily="34" charset="0"/>
                  </a:rPr>
                  <a:t>Action </a:t>
                </a:r>
                <a14:m>
                  <m:oMath xmlns:m="http://schemas.openxmlformats.org/officeDocument/2006/math">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𝑎</m:t>
                        </m:r>
                      </m:e>
                      <m:sub>
                        <m:r>
                          <a:rPr lang="de-DE" sz="1400" b="0" i="1" smtClean="0">
                            <a:latin typeface="Cambria Math" panose="02040503050406030204" pitchFamily="18" charset="0"/>
                          </a:rPr>
                          <m:t>𝑡</m:t>
                        </m:r>
                      </m:sub>
                    </m:sSub>
                    <m:r>
                      <a:rPr lang="de-DE" sz="1400" b="0" i="1" smtClean="0">
                        <a:latin typeface="Cambria Math" panose="02040503050406030204" pitchFamily="18" charset="0"/>
                      </a:rPr>
                      <m:t>∼</m:t>
                    </m:r>
                    <m:sSub>
                      <m:sSubPr>
                        <m:ctrlPr>
                          <a:rPr lang="de-DE" sz="1400" i="1">
                            <a:latin typeface="Cambria Math" panose="02040503050406030204" pitchFamily="18" charset="0"/>
                          </a:rPr>
                        </m:ctrlPr>
                      </m:sSubPr>
                      <m:e>
                        <m:r>
                          <a:rPr lang="de-DE" sz="1400" i="1">
                            <a:latin typeface="Cambria Math" panose="02040503050406030204" pitchFamily="18" charset="0"/>
                          </a:rPr>
                          <m:t>𝑝</m:t>
                        </m:r>
                      </m:e>
                      <m:sub>
                        <m:r>
                          <a:rPr lang="de-DE" sz="1400" b="0" i="1" smtClean="0">
                            <a:latin typeface="Cambria Math" panose="02040503050406030204" pitchFamily="18" charset="0"/>
                          </a:rPr>
                          <m:t>𝛽</m:t>
                        </m:r>
                        <m:r>
                          <a:rPr lang="de-DE" sz="1400" b="0" i="1" smtClean="0">
                            <a:latin typeface="Cambria Math" panose="02040503050406030204" pitchFamily="18" charset="0"/>
                          </a:rPr>
                          <m:t>, </m:t>
                        </m:r>
                        <m:r>
                          <a:rPr lang="de-DE" sz="1400" b="0" i="1" smtClean="0">
                            <a:latin typeface="Cambria Math" panose="02040503050406030204" pitchFamily="18" charset="0"/>
                          </a:rPr>
                          <m:t>𝜎</m:t>
                        </m:r>
                        <m:r>
                          <a:rPr lang="de-DE" sz="1400" b="0" i="1" smtClean="0">
                            <a:latin typeface="Cambria Math" panose="02040503050406030204" pitchFamily="18" charset="0"/>
                          </a:rPr>
                          <m:t>,</m:t>
                        </m:r>
                        <m:r>
                          <a:rPr lang="de-DE" sz="1400" b="0" i="1" smtClean="0">
                            <a:latin typeface="Cambria Math" panose="02040503050406030204" pitchFamily="18" charset="0"/>
                          </a:rPr>
                          <m:t>𝜏</m:t>
                        </m:r>
                      </m:sub>
                    </m:sSub>
                    <m:r>
                      <a:rPr lang="de-DE" sz="1400" i="1">
                        <a:latin typeface="Cambria Math" panose="02040503050406030204" pitchFamily="18" charset="0"/>
                      </a:rPr>
                      <m:t>(</m:t>
                    </m:r>
                    <m:r>
                      <m:rPr>
                        <m:sty m:val="p"/>
                      </m:rPr>
                      <a:rPr lang="de-DE" sz="1400" b="0" i="0" smtClean="0">
                        <a:latin typeface="Cambria Math" panose="02040503050406030204" pitchFamily="18" charset="0"/>
                      </a:rPr>
                      <m:t>PTD</m:t>
                    </m:r>
                    <m:r>
                      <a:rPr lang="de-DE" sz="1400" b="0" i="0" smtClean="0">
                        <a:latin typeface="Cambria Math" panose="02040503050406030204" pitchFamily="18" charset="0"/>
                      </a:rPr>
                      <m:t>/</m:t>
                    </m:r>
                    <m:r>
                      <m:rPr>
                        <m:sty m:val="p"/>
                      </m:rPr>
                      <a:rPr lang="de-DE" sz="1400" b="0" i="0" smtClean="0">
                        <a:latin typeface="Cambria Math" panose="02040503050406030204" pitchFamily="18" charset="0"/>
                      </a:rPr>
                      <m:t>RMC</m:t>
                    </m:r>
                    <m:r>
                      <a:rPr lang="de-DE" sz="1400" b="0" i="0" smtClean="0">
                        <a:latin typeface="Cambria Math" panose="02040503050406030204" pitchFamily="18" charset="0"/>
                      </a:rPr>
                      <m:t>, </m:t>
                    </m:r>
                    <m:r>
                      <m:rPr>
                        <m:sty m:val="p"/>
                      </m:rPr>
                      <a:rPr lang="de-DE" sz="1400" b="0" i="0" smtClean="0">
                        <a:latin typeface="Cambria Math" panose="02040503050406030204" pitchFamily="18" charset="0"/>
                      </a:rPr>
                      <m:t>Yes</m:t>
                    </m:r>
                    <m:r>
                      <a:rPr lang="de-DE" sz="1400" b="0" i="0" smtClean="0">
                        <a:latin typeface="Cambria Math" panose="02040503050406030204" pitchFamily="18" charset="0"/>
                      </a:rPr>
                      <m:t>/</m:t>
                    </m:r>
                    <m:r>
                      <m:rPr>
                        <m:sty m:val="p"/>
                      </m:rPr>
                      <a:rPr lang="de-DE" sz="1400" b="0" i="0" smtClean="0">
                        <a:latin typeface="Cambria Math" panose="02040503050406030204" pitchFamily="18" charset="0"/>
                      </a:rPr>
                      <m:t>No</m:t>
                    </m:r>
                    <m:r>
                      <a:rPr lang="de-DE" sz="1400" i="1">
                        <a:latin typeface="Cambria Math" panose="02040503050406030204" pitchFamily="18" charset="0"/>
                      </a:rPr>
                      <m:t>|</m:t>
                    </m:r>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𝑠</m:t>
                        </m:r>
                      </m:e>
                      <m:sub>
                        <m:r>
                          <a:rPr lang="de-DE" sz="1400" i="1">
                            <a:latin typeface="Cambria Math" panose="02040503050406030204" pitchFamily="18" charset="0"/>
                          </a:rPr>
                          <m:t>𝑡</m:t>
                        </m:r>
                      </m:sub>
                    </m:sSub>
                    <m:r>
                      <a:rPr lang="de-DE" sz="1400" i="1">
                        <a:latin typeface="Cambria Math" panose="02040503050406030204" pitchFamily="18" charset="0"/>
                      </a:rPr>
                      <m:t>)</m:t>
                    </m:r>
                  </m:oMath>
                </a14:m>
                <a:endParaRPr lang="de-DE" sz="1400" i="1" dirty="0">
                  <a:effectLst/>
                  <a:latin typeface="Arial" panose="020B0604020202020204" pitchFamily="34" charset="0"/>
                  <a:ea typeface="CMU Serif" panose="02000603000000000000" pitchFamily="2" charset="0"/>
                  <a:cs typeface="Arial" panose="020B0604020202020204" pitchFamily="34" charset="0"/>
                </a:endParaRPr>
              </a:p>
            </p:txBody>
          </p:sp>
        </mc:Choice>
        <mc:Fallback xmlns="">
          <p:sp>
            <p:nvSpPr>
              <p:cNvPr id="13" name="Textfeld 12">
                <a:extLst>
                  <a:ext uri="{FF2B5EF4-FFF2-40B4-BE49-F238E27FC236}">
                    <a16:creationId xmlns:a16="http://schemas.microsoft.com/office/drawing/2014/main" id="{EFEB8B81-7EF8-A4C2-9097-D6E038FC73AE}"/>
                  </a:ext>
                </a:extLst>
              </p:cNvPr>
              <p:cNvSpPr txBox="1">
                <a:spLocks noRot="1" noChangeAspect="1" noMove="1" noResize="1" noEditPoints="1" noAdjustHandles="1" noChangeArrowheads="1" noChangeShapeType="1" noTextEdit="1"/>
              </p:cNvSpPr>
              <p:nvPr/>
            </p:nvSpPr>
            <p:spPr>
              <a:xfrm>
                <a:off x="5058809" y="4102885"/>
                <a:ext cx="3293081" cy="326949"/>
              </a:xfrm>
              <a:prstGeom prst="rect">
                <a:avLst/>
              </a:prstGeom>
              <a:blipFill>
                <a:blip r:embed="rId6"/>
                <a:stretch>
                  <a:fillRect l="-556" t="-3704" b="-12963"/>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4" name="Textfeld 13">
                <a:extLst>
                  <a:ext uri="{FF2B5EF4-FFF2-40B4-BE49-F238E27FC236}">
                    <a16:creationId xmlns:a16="http://schemas.microsoft.com/office/drawing/2014/main" id="{6060388E-6834-D4AF-C934-3B102E20D759}"/>
                  </a:ext>
                </a:extLst>
              </p:cNvPr>
              <p:cNvSpPr txBox="1"/>
              <p:nvPr/>
            </p:nvSpPr>
            <p:spPr>
              <a:xfrm>
                <a:off x="894720" y="855097"/>
                <a:ext cx="3134063" cy="414729"/>
              </a:xfrm>
              <a:prstGeom prst="rect">
                <a:avLst/>
              </a:prstGeom>
              <a:noFill/>
            </p:spPr>
            <p:txBody>
              <a:bodyPr wrap="none" rtlCol="0">
                <a:spAutoFit/>
              </a:bodyPr>
              <a:lstStyle/>
              <a:p>
                <a:r>
                  <a:rPr lang="de-DE" sz="1400" dirty="0">
                    <a:latin typeface="Arial" panose="020B0604020202020204" pitchFamily="34" charset="0"/>
                    <a:ea typeface="CMU Serif" panose="02000603000000000000" pitchFamily="2" charset="0"/>
                    <a:cs typeface="Arial" panose="020B0604020202020204" pitchFamily="34" charset="0"/>
                  </a:rPr>
                  <a:t>Data </a:t>
                </a:r>
                <a:r>
                  <a:rPr lang="de-DE" sz="1400" dirty="0" err="1">
                    <a:latin typeface="Arial" panose="020B0604020202020204" pitchFamily="34" charset="0"/>
                    <a:ea typeface="CMU Serif" panose="02000603000000000000" pitchFamily="2" charset="0"/>
                    <a:cs typeface="Arial" panose="020B0604020202020204" pitchFamily="34" charset="0"/>
                  </a:rPr>
                  <a:t>model</a:t>
                </a:r>
                <a:r>
                  <a:rPr lang="de-DE" sz="1400" dirty="0">
                    <a:latin typeface="Arial" panose="020B0604020202020204" pitchFamily="34" charset="0"/>
                    <a:ea typeface="CMU Serif" panose="02000603000000000000" pitchFamily="2" charset="0"/>
                    <a:cs typeface="Arial" panose="020B0604020202020204" pitchFamily="34" charset="0"/>
                  </a:rPr>
                  <a:t> </a:t>
                </a:r>
                <a14:m>
                  <m:oMath xmlns:m="http://schemas.openxmlformats.org/officeDocument/2006/math">
                    <m:r>
                      <a:rPr lang="de-DE" sz="1400" b="0" i="1" smtClean="0">
                        <a:latin typeface="Cambria Math" panose="02040503050406030204" pitchFamily="18" charset="0"/>
                        <a:ea typeface="CMU Serif" panose="02000603000000000000" pitchFamily="2" charset="0"/>
                        <a:cs typeface="CMU Serif" panose="02000603000000000000" pitchFamily="2" charset="0"/>
                      </a:rPr>
                      <m:t>𝒟</m:t>
                    </m:r>
                    <m:r>
                      <a:rPr lang="de-DE" sz="1400" b="0" i="1" smtClean="0">
                        <a:latin typeface="Cambria Math" panose="02040503050406030204" pitchFamily="18" charset="0"/>
                        <a:ea typeface="CMU Serif" panose="02000603000000000000" pitchFamily="2" charset="0"/>
                        <a:cs typeface="CMU Serif" panose="02000603000000000000" pitchFamily="2" charset="0"/>
                      </a:rPr>
                      <m:t>≔</m:t>
                    </m:r>
                    <m:d>
                      <m:dPr>
                        <m:ctrlPr>
                          <a:rPr lang="de-DE" sz="1400" b="0" i="1" smtClean="0">
                            <a:latin typeface="Cambria Math" panose="02040503050406030204" pitchFamily="18" charset="0"/>
                            <a:ea typeface="CMU Serif" panose="02000603000000000000" pitchFamily="2" charset="0"/>
                            <a:cs typeface="CMU Serif" panose="02000603000000000000" pitchFamily="2" charset="0"/>
                          </a:rPr>
                        </m:ctrlPr>
                      </m:dPr>
                      <m:e>
                        <m:r>
                          <a:rPr lang="de-DE" sz="1400" b="0" i="1" smtClean="0">
                            <a:latin typeface="Cambria Math" panose="02040503050406030204" pitchFamily="18" charset="0"/>
                            <a:ea typeface="CMU Serif" panose="02000603000000000000" pitchFamily="2" charset="0"/>
                            <a:cs typeface="CMU Serif" panose="02000603000000000000" pitchFamily="2" charset="0"/>
                          </a:rPr>
                          <m:t>𝒯</m:t>
                        </m:r>
                        <m:r>
                          <a:rPr lang="de-DE" sz="1400" b="0" i="1" smtClean="0">
                            <a:latin typeface="Cambria Math" panose="02040503050406030204" pitchFamily="18" charset="0"/>
                            <a:ea typeface="CMU Serif" panose="02000603000000000000" pitchFamily="2" charset="0"/>
                            <a:cs typeface="CMU Serif" panose="02000603000000000000" pitchFamily="2" charset="0"/>
                          </a:rPr>
                          <m:t>,</m:t>
                        </m:r>
                        <m:r>
                          <a:rPr lang="de-DE" sz="1400" b="0" i="1" smtClean="0">
                            <a:latin typeface="Cambria Math" panose="02040503050406030204" pitchFamily="18" charset="0"/>
                            <a:ea typeface="CMU Serif" panose="02000603000000000000" pitchFamily="2" charset="0"/>
                            <a:cs typeface="CMU Serif" panose="02000603000000000000" pitchFamily="2" charset="0"/>
                          </a:rPr>
                          <m:t>𝒜</m:t>
                        </m:r>
                        <m:r>
                          <a:rPr lang="de-DE" sz="1400" b="0" i="1" smtClean="0">
                            <a:latin typeface="Cambria Math" panose="02040503050406030204" pitchFamily="18" charset="0"/>
                            <a:ea typeface="CMU Serif" panose="02000603000000000000" pitchFamily="2" charset="0"/>
                            <a:cs typeface="CMU Serif" panose="02000603000000000000" pitchFamily="2" charset="0"/>
                          </a:rPr>
                          <m:t>, </m:t>
                        </m:r>
                        <m:sSub>
                          <m:sSubPr>
                            <m:ctrlPr>
                              <a:rPr lang="de-DE" sz="14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400" b="0" i="1" smtClean="0">
                                <a:latin typeface="Cambria Math" panose="02040503050406030204" pitchFamily="18" charset="0"/>
                                <a:ea typeface="CMU Serif" panose="02000603000000000000" pitchFamily="2" charset="0"/>
                                <a:cs typeface="CMU Serif" panose="02000603000000000000" pitchFamily="2" charset="0"/>
                              </a:rPr>
                              <m:t>𝑝</m:t>
                            </m:r>
                          </m:e>
                          <m:sub>
                            <m:r>
                              <a:rPr lang="de-DE" sz="1400" b="0" i="1" smtClean="0">
                                <a:latin typeface="Cambria Math" panose="02040503050406030204" pitchFamily="18" charset="0"/>
                                <a:ea typeface="CMU Serif" panose="02000603000000000000" pitchFamily="2" charset="0"/>
                                <a:cs typeface="CMU Serif" panose="02000603000000000000" pitchFamily="2" charset="0"/>
                              </a:rPr>
                              <m:t>𝛽</m:t>
                            </m:r>
                            <m:r>
                              <a:rPr lang="de-DE" sz="1400" b="0" i="1" smtClean="0">
                                <a:latin typeface="Cambria Math" panose="02040503050406030204" pitchFamily="18" charset="0"/>
                                <a:ea typeface="CMU Serif" panose="02000603000000000000" pitchFamily="2" charset="0"/>
                                <a:cs typeface="CMU Serif" panose="02000603000000000000" pitchFamily="2" charset="0"/>
                              </a:rPr>
                              <m:t>,</m:t>
                            </m:r>
                            <m:r>
                              <a:rPr lang="de-DE" sz="1400" b="0" i="1" smtClean="0">
                                <a:latin typeface="Cambria Math" panose="02040503050406030204" pitchFamily="18" charset="0"/>
                                <a:ea typeface="CMU Serif" panose="02000603000000000000" pitchFamily="2" charset="0"/>
                                <a:cs typeface="CMU Serif" panose="02000603000000000000" pitchFamily="2" charset="0"/>
                              </a:rPr>
                              <m:t>𝜎</m:t>
                            </m:r>
                            <m:r>
                              <a:rPr lang="de-DE" sz="1400" b="0" i="1" smtClean="0">
                                <a:latin typeface="Cambria Math" panose="02040503050406030204" pitchFamily="18" charset="0"/>
                                <a:ea typeface="CMU Serif" panose="02000603000000000000" pitchFamily="2" charset="0"/>
                                <a:cs typeface="CMU Serif" panose="02000603000000000000" pitchFamily="2" charset="0"/>
                              </a:rPr>
                              <m:t>,</m:t>
                            </m:r>
                            <m:r>
                              <a:rPr lang="de-DE" sz="1400" b="0" i="1" smtClean="0">
                                <a:latin typeface="Cambria Math" panose="02040503050406030204" pitchFamily="18" charset="0"/>
                                <a:ea typeface="CMU Serif" panose="02000603000000000000" pitchFamily="2" charset="0"/>
                                <a:cs typeface="CMU Serif" panose="02000603000000000000" pitchFamily="2" charset="0"/>
                              </a:rPr>
                              <m:t>𝜏</m:t>
                            </m:r>
                          </m:sub>
                        </m:sSub>
                        <m:d>
                          <m:dPr>
                            <m:ctrlPr>
                              <a:rPr lang="de-DE" sz="1400" b="0" i="1" smtClean="0">
                                <a:latin typeface="Cambria Math" panose="02040503050406030204" pitchFamily="18" charset="0"/>
                                <a:ea typeface="CMU Serif" panose="02000603000000000000" pitchFamily="2" charset="0"/>
                                <a:cs typeface="CMU Serif" panose="02000603000000000000" pitchFamily="2" charset="0"/>
                              </a:rPr>
                            </m:ctrlPr>
                          </m:dPr>
                          <m:e>
                            <m:sSub>
                              <m:sSubPr>
                                <m:ctrlPr>
                                  <a:rPr lang="de-DE" sz="14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400" b="0" i="1" smtClean="0">
                                    <a:latin typeface="Cambria Math" panose="02040503050406030204" pitchFamily="18" charset="0"/>
                                    <a:ea typeface="CMU Serif" panose="02000603000000000000" pitchFamily="2" charset="0"/>
                                    <a:cs typeface="CMU Serif" panose="02000603000000000000" pitchFamily="2" charset="0"/>
                                  </a:rPr>
                                  <m:t>𝑎</m:t>
                                </m:r>
                              </m:e>
                              <m:sub>
                                <m:r>
                                  <a:rPr lang="de-DE" sz="1400" b="0" i="1" smtClean="0">
                                    <a:latin typeface="Cambria Math" panose="02040503050406030204" pitchFamily="18" charset="0"/>
                                    <a:ea typeface="CMU Serif" panose="02000603000000000000" pitchFamily="2" charset="0"/>
                                    <a:cs typeface="CMU Serif" panose="02000603000000000000" pitchFamily="2" charset="0"/>
                                  </a:rPr>
                                  <m:t>𝑡</m:t>
                                </m:r>
                              </m:sub>
                            </m:sSub>
                          </m:e>
                          <m:e>
                            <m:sSub>
                              <m:sSubPr>
                                <m:ctrlPr>
                                  <a:rPr lang="de-DE" sz="14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400" b="0" i="1" smtClean="0">
                                    <a:latin typeface="Cambria Math" panose="02040503050406030204" pitchFamily="18" charset="0"/>
                                    <a:ea typeface="CMU Serif" panose="02000603000000000000" pitchFamily="2" charset="0"/>
                                    <a:cs typeface="CMU Serif" panose="02000603000000000000" pitchFamily="2" charset="0"/>
                                  </a:rPr>
                                  <m:t>𝑠</m:t>
                                </m:r>
                              </m:e>
                              <m:sub>
                                <m:r>
                                  <a:rPr lang="de-DE" sz="1400" b="0" i="1" smtClean="0">
                                    <a:latin typeface="Cambria Math" panose="02040503050406030204" pitchFamily="18" charset="0"/>
                                    <a:ea typeface="CMU Serif" panose="02000603000000000000" pitchFamily="2" charset="0"/>
                                    <a:cs typeface="CMU Serif" panose="02000603000000000000" pitchFamily="2" charset="0"/>
                                  </a:rPr>
                                  <m:t>𝑡</m:t>
                                </m:r>
                              </m:sub>
                            </m:sSub>
                          </m:e>
                        </m:d>
                      </m:e>
                    </m:d>
                  </m:oMath>
                </a14:m>
                <a:r>
                  <a:rPr lang="de-DE" sz="1400" dirty="0">
                    <a:latin typeface="Arial" panose="020B0604020202020204" pitchFamily="34" charset="0"/>
                    <a:ea typeface="CMU Serif" panose="02000603000000000000" pitchFamily="2" charset="0"/>
                    <a:cs typeface="Arial" panose="020B0604020202020204" pitchFamily="34" charset="0"/>
                  </a:rPr>
                  <a:t> </a:t>
                </a:r>
              </a:p>
            </p:txBody>
          </p:sp>
        </mc:Choice>
        <mc:Fallback xmlns="">
          <p:sp>
            <p:nvSpPr>
              <p:cNvPr id="14" name="Textfeld 13">
                <a:extLst>
                  <a:ext uri="{FF2B5EF4-FFF2-40B4-BE49-F238E27FC236}">
                    <a16:creationId xmlns:a16="http://schemas.microsoft.com/office/drawing/2014/main" id="{6060388E-6834-D4AF-C934-3B102E20D759}"/>
                  </a:ext>
                </a:extLst>
              </p:cNvPr>
              <p:cNvSpPr txBox="1">
                <a:spLocks noRot="1" noChangeAspect="1" noMove="1" noResize="1" noEditPoints="1" noAdjustHandles="1" noChangeArrowheads="1" noChangeShapeType="1" noTextEdit="1"/>
              </p:cNvSpPr>
              <p:nvPr/>
            </p:nvSpPr>
            <p:spPr>
              <a:xfrm>
                <a:off x="894720" y="855097"/>
                <a:ext cx="3134063" cy="414729"/>
              </a:xfrm>
              <a:prstGeom prst="rect">
                <a:avLst/>
              </a:prstGeom>
              <a:blipFill>
                <a:blip r:embed="rId7"/>
                <a:stretch>
                  <a:fillRect l="-584" b="-2941"/>
                </a:stretch>
              </a:blipFill>
            </p:spPr>
            <p:txBody>
              <a:bodyPr/>
              <a:lstStyle/>
              <a:p>
                <a:r>
                  <a:rPr lang="de-DE">
                    <a:noFill/>
                  </a:rPr>
                  <a:t> </a:t>
                </a:r>
              </a:p>
            </p:txBody>
          </p:sp>
        </mc:Fallback>
      </mc:AlternateContent>
      <p:sp>
        <p:nvSpPr>
          <p:cNvPr id="15" name="Textfeld 14">
            <a:extLst>
              <a:ext uri="{FF2B5EF4-FFF2-40B4-BE49-F238E27FC236}">
                <a16:creationId xmlns:a16="http://schemas.microsoft.com/office/drawing/2014/main" id="{B642B268-6F75-02CF-8F3E-E30B9BD231F5}"/>
              </a:ext>
            </a:extLst>
          </p:cNvPr>
          <p:cNvSpPr txBox="1"/>
          <p:nvPr/>
        </p:nvSpPr>
        <p:spPr>
          <a:xfrm>
            <a:off x="910593" y="1301509"/>
            <a:ext cx="1089722" cy="307777"/>
          </a:xfrm>
          <a:prstGeom prst="rect">
            <a:avLst/>
          </a:prstGeom>
          <a:noFill/>
        </p:spPr>
        <p:txBody>
          <a:bodyPr wrap="none" rtlCol="0">
            <a:spAutoFit/>
          </a:bodyPr>
          <a:lstStyle/>
          <a:p>
            <a:r>
              <a:rPr lang="de-DE" sz="1400" dirty="0">
                <a:latin typeface="Arial" panose="020B0604020202020204" pitchFamily="34" charset="0"/>
                <a:ea typeface="CMU Serif" panose="02000603000000000000" pitchFamily="2" charset="0"/>
                <a:cs typeface="Arial" panose="020B0604020202020204" pitchFamily="34" charset="0"/>
              </a:rPr>
              <a:t>Task </a:t>
            </a:r>
            <a:r>
              <a:rPr lang="de-DE" sz="1400" dirty="0" err="1">
                <a:latin typeface="Arial" panose="020B0604020202020204" pitchFamily="34" charset="0"/>
                <a:ea typeface="CMU Serif" panose="02000603000000000000" pitchFamily="2" charset="0"/>
                <a:cs typeface="Arial" panose="020B0604020202020204" pitchFamily="34" charset="0"/>
              </a:rPr>
              <a:t>model</a:t>
            </a:r>
            <a:endParaRPr lang="de-DE" sz="1400" dirty="0">
              <a:latin typeface="Arial" panose="020B0604020202020204" pitchFamily="34" charset="0"/>
              <a:ea typeface="CMU Serif" panose="02000603000000000000" pitchFamily="2" charset="0"/>
              <a:cs typeface="Arial" panose="020B0604020202020204" pitchFamily="34" charset="0"/>
            </a:endParaRPr>
          </a:p>
        </p:txBody>
      </p:sp>
      <p:sp>
        <p:nvSpPr>
          <p:cNvPr id="16" name="Textfeld 15">
            <a:extLst>
              <a:ext uri="{FF2B5EF4-FFF2-40B4-BE49-F238E27FC236}">
                <a16:creationId xmlns:a16="http://schemas.microsoft.com/office/drawing/2014/main" id="{595EFD39-ED02-7009-860B-7B132A3FF729}"/>
              </a:ext>
            </a:extLst>
          </p:cNvPr>
          <p:cNvSpPr txBox="1"/>
          <p:nvPr/>
        </p:nvSpPr>
        <p:spPr>
          <a:xfrm>
            <a:off x="4859024" y="1294885"/>
            <a:ext cx="1189749" cy="307777"/>
          </a:xfrm>
          <a:prstGeom prst="rect">
            <a:avLst/>
          </a:prstGeom>
          <a:noFill/>
        </p:spPr>
        <p:txBody>
          <a:bodyPr wrap="none" rtlCol="0">
            <a:spAutoFit/>
          </a:bodyPr>
          <a:lstStyle/>
          <a:p>
            <a:r>
              <a:rPr lang="de-DE" sz="1400" dirty="0">
                <a:latin typeface="Arial" panose="020B0604020202020204" pitchFamily="34" charset="0"/>
                <a:ea typeface="CMU Serif" panose="02000603000000000000" pitchFamily="2" charset="0"/>
                <a:cs typeface="Arial" panose="020B0604020202020204" pitchFamily="34" charset="0"/>
              </a:rPr>
              <a:t>Agent </a:t>
            </a:r>
            <a:r>
              <a:rPr lang="de-DE" sz="1400" dirty="0" err="1">
                <a:latin typeface="Arial" panose="020B0604020202020204" pitchFamily="34" charset="0"/>
                <a:ea typeface="CMU Serif" panose="02000603000000000000" pitchFamily="2" charset="0"/>
                <a:cs typeface="Arial" panose="020B0604020202020204" pitchFamily="34" charset="0"/>
              </a:rPr>
              <a:t>model</a:t>
            </a:r>
            <a:endParaRPr lang="de-DE" sz="1400" dirty="0">
              <a:latin typeface="Arial" panose="020B0604020202020204" pitchFamily="34" charset="0"/>
              <a:ea typeface="CMU Serif" panose="02000603000000000000" pitchFamily="2" charset="0"/>
              <a:cs typeface="Arial" panose="020B0604020202020204" pitchFamily="34" charset="0"/>
            </a:endParaRPr>
          </a:p>
        </p:txBody>
      </p:sp>
      <mc:AlternateContent xmlns:mc="http://schemas.openxmlformats.org/markup-compatibility/2006" xmlns:a14="http://schemas.microsoft.com/office/drawing/2010/main">
        <mc:Choice Requires="a14">
          <p:sp>
            <p:nvSpPr>
              <p:cNvPr id="17" name="Textfeld 16">
                <a:extLst>
                  <a:ext uri="{FF2B5EF4-FFF2-40B4-BE49-F238E27FC236}">
                    <a16:creationId xmlns:a16="http://schemas.microsoft.com/office/drawing/2014/main" id="{B0C431EE-69BA-F37C-5A5D-003625AE469D}"/>
                  </a:ext>
                </a:extLst>
              </p:cNvPr>
              <p:cNvSpPr txBox="1"/>
              <p:nvPr/>
            </p:nvSpPr>
            <p:spPr>
              <a:xfrm>
                <a:off x="1307939" y="2942770"/>
                <a:ext cx="2483565" cy="307777"/>
              </a:xfrm>
              <a:prstGeom prst="rect">
                <a:avLst/>
              </a:prstGeom>
              <a:noFill/>
            </p:spPr>
            <p:txBody>
              <a:bodyPr wrap="none" rtlCol="0">
                <a:spAutoFit/>
              </a:bodyPr>
              <a:lstStyle/>
              <a:p>
                <a:pPr algn="ctr"/>
                <a:r>
                  <a:rPr lang="de-DE" sz="1400" dirty="0">
                    <a:latin typeface="Arial" panose="020B0604020202020204" pitchFamily="34" charset="0"/>
                    <a:cs typeface="Arial" panose="020B0604020202020204" pitchFamily="34" charset="0"/>
                  </a:rPr>
                  <a:t>State </a:t>
                </a:r>
                <a:r>
                  <a:rPr lang="de-DE" sz="1400" dirty="0" err="1">
                    <a:latin typeface="Arial" panose="020B0604020202020204" pitchFamily="34" charset="0"/>
                    <a:cs typeface="Arial" panose="020B0604020202020204" pitchFamily="34" charset="0"/>
                  </a:rPr>
                  <a:t>transition</a:t>
                </a:r>
                <a:r>
                  <a:rPr lang="de-DE" sz="1400" dirty="0">
                    <a:latin typeface="Arial" panose="020B0604020202020204" pitchFamily="34" charset="0"/>
                    <a:cs typeface="Arial" panose="020B0604020202020204" pitchFamily="34" charset="0"/>
                  </a:rPr>
                  <a:t> </a:t>
                </a:r>
                <a14:m>
                  <m:oMath xmlns:m="http://schemas.openxmlformats.org/officeDocument/2006/math">
                    <m:r>
                      <a:rPr lang="de-DE" sz="1400" i="1">
                        <a:latin typeface="Cambria Math" panose="02040503050406030204" pitchFamily="18" charset="0"/>
                      </a:rPr>
                      <m:t>𝑝</m:t>
                    </m:r>
                    <m:r>
                      <a:rPr lang="de-DE" sz="1400" i="1">
                        <a:latin typeface="Cambria Math" panose="02040503050406030204" pitchFamily="18" charset="0"/>
                      </a:rPr>
                      <m:t>(</m:t>
                    </m:r>
                    <m:sSub>
                      <m:sSubPr>
                        <m:ctrlPr>
                          <a:rPr lang="de-DE" sz="1400" i="1">
                            <a:latin typeface="Cambria Math" panose="02040503050406030204" pitchFamily="18" charset="0"/>
                          </a:rPr>
                        </m:ctrlPr>
                      </m:sSubPr>
                      <m:e>
                        <m:r>
                          <a:rPr lang="de-DE" sz="1400" i="1">
                            <a:latin typeface="Cambria Math" panose="02040503050406030204" pitchFamily="18" charset="0"/>
                          </a:rPr>
                          <m:t>𝑠</m:t>
                        </m:r>
                      </m:e>
                      <m:sub>
                        <m:r>
                          <a:rPr lang="de-DE" sz="1400" i="1">
                            <a:latin typeface="Cambria Math" panose="02040503050406030204" pitchFamily="18" charset="0"/>
                          </a:rPr>
                          <m:t>𝑡</m:t>
                        </m:r>
                        <m:r>
                          <a:rPr lang="de-DE" sz="1400" b="0" i="1" smtClean="0">
                            <a:latin typeface="Cambria Math" panose="02040503050406030204" pitchFamily="18" charset="0"/>
                          </a:rPr>
                          <m:t>+1</m:t>
                        </m:r>
                      </m:sub>
                    </m:sSub>
                    <m:r>
                      <a:rPr lang="de-DE" sz="1400" b="0" i="1" smtClean="0">
                        <a:latin typeface="Cambria Math" panose="02040503050406030204" pitchFamily="18" charset="0"/>
                      </a:rPr>
                      <m:t>|</m:t>
                    </m:r>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𝑠</m:t>
                        </m:r>
                      </m:e>
                      <m:sub>
                        <m:r>
                          <a:rPr lang="de-DE" sz="1400" b="0" i="1" smtClean="0">
                            <a:latin typeface="Cambria Math" panose="02040503050406030204" pitchFamily="18" charset="0"/>
                          </a:rPr>
                          <m:t>𝑡</m:t>
                        </m:r>
                      </m:sub>
                    </m:sSub>
                    <m:r>
                      <a:rPr lang="de-DE" sz="1400" b="0" i="1" smtClean="0">
                        <a:latin typeface="Cambria Math" panose="02040503050406030204" pitchFamily="18" charset="0"/>
                      </a:rPr>
                      <m:t>,</m:t>
                    </m:r>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𝑎</m:t>
                        </m:r>
                      </m:e>
                      <m:sub>
                        <m:r>
                          <a:rPr lang="de-DE" sz="1400" b="0" i="1" smtClean="0">
                            <a:latin typeface="Cambria Math" panose="02040503050406030204" pitchFamily="18" charset="0"/>
                          </a:rPr>
                          <m:t>𝑡</m:t>
                        </m:r>
                      </m:sub>
                    </m:sSub>
                    <m:r>
                      <a:rPr lang="de-DE" sz="1400" i="1">
                        <a:latin typeface="Cambria Math" panose="02040503050406030204" pitchFamily="18" charset="0"/>
                      </a:rPr>
                      <m:t>)</m:t>
                    </m:r>
                  </m:oMath>
                </a14:m>
                <a:r>
                  <a:rPr lang="de-DE" sz="1400" dirty="0">
                    <a:effectLst/>
                    <a:latin typeface="Arial" panose="020B0604020202020204" pitchFamily="34" charset="0"/>
                    <a:ea typeface="CMU Serif" panose="02000603000000000000" pitchFamily="2" charset="0"/>
                    <a:cs typeface="Arial" panose="020B0604020202020204" pitchFamily="34" charset="0"/>
                  </a:rPr>
                  <a:t> </a:t>
                </a:r>
              </a:p>
            </p:txBody>
          </p:sp>
        </mc:Choice>
        <mc:Fallback xmlns="">
          <p:sp>
            <p:nvSpPr>
              <p:cNvPr id="17" name="Textfeld 16">
                <a:extLst>
                  <a:ext uri="{FF2B5EF4-FFF2-40B4-BE49-F238E27FC236}">
                    <a16:creationId xmlns:a16="http://schemas.microsoft.com/office/drawing/2014/main" id="{B0C431EE-69BA-F37C-5A5D-003625AE469D}"/>
                  </a:ext>
                </a:extLst>
              </p:cNvPr>
              <p:cNvSpPr txBox="1">
                <a:spLocks noRot="1" noChangeAspect="1" noMove="1" noResize="1" noEditPoints="1" noAdjustHandles="1" noChangeArrowheads="1" noChangeShapeType="1" noTextEdit="1"/>
              </p:cNvSpPr>
              <p:nvPr/>
            </p:nvSpPr>
            <p:spPr>
              <a:xfrm>
                <a:off x="1307939" y="2942770"/>
                <a:ext cx="2483565" cy="307777"/>
              </a:xfrm>
              <a:prstGeom prst="rect">
                <a:avLst/>
              </a:prstGeom>
              <a:blipFill>
                <a:blip r:embed="rId8"/>
                <a:stretch>
                  <a:fillRect l="-246" t="-4000" b="-20000"/>
                </a:stretch>
              </a:blipFill>
            </p:spPr>
            <p:txBody>
              <a:bodyPr/>
              <a:lstStyle/>
              <a:p>
                <a:r>
                  <a:rPr lang="de-DE">
                    <a:noFill/>
                  </a:rPr>
                  <a:t> </a:t>
                </a:r>
              </a:p>
            </p:txBody>
          </p:sp>
        </mc:Fallback>
      </mc:AlternateContent>
      <p:cxnSp>
        <p:nvCxnSpPr>
          <p:cNvPr id="18" name="Gerade Verbindung mit Pfeil 17">
            <a:extLst>
              <a:ext uri="{FF2B5EF4-FFF2-40B4-BE49-F238E27FC236}">
                <a16:creationId xmlns:a16="http://schemas.microsoft.com/office/drawing/2014/main" id="{68F17912-D719-9B28-5127-58EC4D06A6AB}"/>
              </a:ext>
            </a:extLst>
          </p:cNvPr>
          <p:cNvCxnSpPr>
            <a:cxnSpLocks/>
            <a:stCxn id="41" idx="2"/>
            <a:endCxn id="12" idx="0"/>
          </p:cNvCxnSpPr>
          <p:nvPr/>
        </p:nvCxnSpPr>
        <p:spPr>
          <a:xfrm flipH="1">
            <a:off x="6705349" y="2184672"/>
            <a:ext cx="1" cy="273610"/>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Gerade Verbindung mit Pfeil 19">
            <a:extLst>
              <a:ext uri="{FF2B5EF4-FFF2-40B4-BE49-F238E27FC236}">
                <a16:creationId xmlns:a16="http://schemas.microsoft.com/office/drawing/2014/main" id="{EF345BAE-7551-0A9E-C646-5C6FD5ED7C5F}"/>
              </a:ext>
            </a:extLst>
          </p:cNvPr>
          <p:cNvCxnSpPr>
            <a:cxnSpLocks/>
            <a:stCxn id="11" idx="2"/>
            <a:endCxn id="13" idx="0"/>
          </p:cNvCxnSpPr>
          <p:nvPr/>
        </p:nvCxnSpPr>
        <p:spPr>
          <a:xfrm>
            <a:off x="6705349" y="3759734"/>
            <a:ext cx="1" cy="343151"/>
          </a:xfrm>
          <a:prstGeom prst="straightConnector1">
            <a:avLst/>
          </a:prstGeom>
          <a:ln w="3175">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Gerade Verbindung mit Pfeil 20">
            <a:extLst>
              <a:ext uri="{FF2B5EF4-FFF2-40B4-BE49-F238E27FC236}">
                <a16:creationId xmlns:a16="http://schemas.microsoft.com/office/drawing/2014/main" id="{7621A82F-FB52-2E82-8807-B7B854D72E2B}"/>
              </a:ext>
            </a:extLst>
          </p:cNvPr>
          <p:cNvCxnSpPr>
            <a:cxnSpLocks/>
            <a:stCxn id="17" idx="0"/>
            <a:endCxn id="7" idx="2"/>
          </p:cNvCxnSpPr>
          <p:nvPr/>
        </p:nvCxnSpPr>
        <p:spPr>
          <a:xfrm flipH="1" flipV="1">
            <a:off x="2549721" y="2200731"/>
            <a:ext cx="1" cy="742039"/>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Gerade Verbindung mit Pfeil 23">
            <a:extLst>
              <a:ext uri="{FF2B5EF4-FFF2-40B4-BE49-F238E27FC236}">
                <a16:creationId xmlns:a16="http://schemas.microsoft.com/office/drawing/2014/main" id="{4E026B0F-3331-D300-43C0-A1F38B11B930}"/>
              </a:ext>
            </a:extLst>
          </p:cNvPr>
          <p:cNvCxnSpPr>
            <a:cxnSpLocks/>
            <a:stCxn id="17" idx="2"/>
            <a:endCxn id="25" idx="0"/>
          </p:cNvCxnSpPr>
          <p:nvPr/>
        </p:nvCxnSpPr>
        <p:spPr>
          <a:xfrm flipH="1">
            <a:off x="2541541" y="3250547"/>
            <a:ext cx="8181" cy="861924"/>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feld 24">
                <a:extLst>
                  <a:ext uri="{FF2B5EF4-FFF2-40B4-BE49-F238E27FC236}">
                    <a16:creationId xmlns:a16="http://schemas.microsoft.com/office/drawing/2014/main" id="{97E49FEF-6E59-41D0-9387-16D8CC1E91C9}"/>
                  </a:ext>
                </a:extLst>
              </p:cNvPr>
              <p:cNvSpPr txBox="1"/>
              <p:nvPr/>
            </p:nvSpPr>
            <p:spPr>
              <a:xfrm>
                <a:off x="1631900" y="4112471"/>
                <a:ext cx="1819281" cy="307777"/>
              </a:xfrm>
              <a:prstGeom prst="rect">
                <a:avLst/>
              </a:prstGeom>
              <a:noFill/>
            </p:spPr>
            <p:txBody>
              <a:bodyPr wrap="none" rtlCol="0">
                <a:spAutoFit/>
              </a:bodyPr>
              <a:lstStyle/>
              <a:p>
                <a:pPr algn="ctr"/>
                <a:r>
                  <a:rPr lang="de-DE" sz="1400" dirty="0">
                    <a:effectLst/>
                    <a:latin typeface="Arial" panose="020B0604020202020204" pitchFamily="34" charset="0"/>
                    <a:ea typeface="CMU Serif" panose="02000603000000000000" pitchFamily="2" charset="0"/>
                    <a:cs typeface="Arial" panose="020B0604020202020204" pitchFamily="34" charset="0"/>
                  </a:rPr>
                  <a:t>Task reward</a:t>
                </a:r>
                <a14:m>
                  <m:oMath xmlns:m="http://schemas.openxmlformats.org/officeDocument/2006/math">
                    <m:r>
                      <a:rPr lang="de-DE" sz="1400" b="0" i="0" smtClean="0">
                        <a:effectLst/>
                        <a:latin typeface="Cambria Math" panose="02040503050406030204" pitchFamily="18" charset="0"/>
                        <a:ea typeface="CMU Serif" panose="02000603000000000000" pitchFamily="2" charset="0"/>
                        <a:cs typeface="CMU Serif" panose="02000603000000000000" pitchFamily="2" charset="0"/>
                      </a:rPr>
                      <m:t> </m:t>
                    </m:r>
                    <m:r>
                      <a:rPr lang="de-DE" sz="1400" i="1" smtClean="0">
                        <a:latin typeface="Cambria Math" panose="02040503050406030204" pitchFamily="18" charset="0"/>
                      </a:rPr>
                      <m:t>𝜚</m:t>
                    </m:r>
                    <m:r>
                      <a:rPr lang="de-DE" sz="1400" b="0" i="1" smtClean="0">
                        <a:latin typeface="Cambria Math" panose="02040503050406030204" pitchFamily="18" charset="0"/>
                      </a:rPr>
                      <m:t>(</m:t>
                    </m:r>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𝑠</m:t>
                        </m:r>
                      </m:e>
                      <m:sub>
                        <m:r>
                          <a:rPr lang="de-DE" sz="1400" b="0" i="1" smtClean="0">
                            <a:latin typeface="Cambria Math" panose="02040503050406030204" pitchFamily="18" charset="0"/>
                          </a:rPr>
                          <m:t>𝑡</m:t>
                        </m:r>
                      </m:sub>
                    </m:sSub>
                    <m:r>
                      <a:rPr lang="de-DE" sz="1400" b="0" i="1" smtClean="0">
                        <a:latin typeface="Cambria Math" panose="02040503050406030204" pitchFamily="18" charset="0"/>
                      </a:rPr>
                      <m:t>,</m:t>
                    </m:r>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𝑎</m:t>
                        </m:r>
                      </m:e>
                      <m:sub>
                        <m:r>
                          <a:rPr lang="de-DE" sz="1400" b="0" i="1" smtClean="0">
                            <a:latin typeface="Cambria Math" panose="02040503050406030204" pitchFamily="18" charset="0"/>
                          </a:rPr>
                          <m:t>𝑡</m:t>
                        </m:r>
                      </m:sub>
                    </m:sSub>
                    <m:r>
                      <a:rPr lang="de-DE" sz="1400" b="0" i="1" smtClean="0">
                        <a:latin typeface="Cambria Math" panose="02040503050406030204" pitchFamily="18" charset="0"/>
                      </a:rPr>
                      <m:t>)</m:t>
                    </m:r>
                  </m:oMath>
                </a14:m>
                <a:endParaRPr lang="de-DE" sz="1400" dirty="0">
                  <a:effectLst/>
                  <a:latin typeface="Arial" panose="020B0604020202020204" pitchFamily="34" charset="0"/>
                  <a:ea typeface="CMU Serif" panose="02000603000000000000" pitchFamily="2" charset="0"/>
                  <a:cs typeface="Arial" panose="020B0604020202020204" pitchFamily="34" charset="0"/>
                </a:endParaRPr>
              </a:p>
            </p:txBody>
          </p:sp>
        </mc:Choice>
        <mc:Fallback xmlns="">
          <p:sp>
            <p:nvSpPr>
              <p:cNvPr id="25" name="Textfeld 24">
                <a:extLst>
                  <a:ext uri="{FF2B5EF4-FFF2-40B4-BE49-F238E27FC236}">
                    <a16:creationId xmlns:a16="http://schemas.microsoft.com/office/drawing/2014/main" id="{97E49FEF-6E59-41D0-9387-16D8CC1E91C9}"/>
                  </a:ext>
                </a:extLst>
              </p:cNvPr>
              <p:cNvSpPr txBox="1">
                <a:spLocks noRot="1" noChangeAspect="1" noMove="1" noResize="1" noEditPoints="1" noAdjustHandles="1" noChangeArrowheads="1" noChangeShapeType="1" noTextEdit="1"/>
              </p:cNvSpPr>
              <p:nvPr/>
            </p:nvSpPr>
            <p:spPr>
              <a:xfrm>
                <a:off x="1631900" y="4112471"/>
                <a:ext cx="1819281" cy="307777"/>
              </a:xfrm>
              <a:prstGeom prst="rect">
                <a:avLst/>
              </a:prstGeom>
              <a:blipFill>
                <a:blip r:embed="rId9"/>
                <a:stretch>
                  <a:fillRect l="-671" t="-4000" b="-20000"/>
                </a:stretch>
              </a:blipFill>
            </p:spPr>
            <p:txBody>
              <a:bodyPr/>
              <a:lstStyle/>
              <a:p>
                <a:r>
                  <a:rPr lang="de-DE">
                    <a:noFill/>
                  </a:rPr>
                  <a:t> </a:t>
                </a:r>
              </a:p>
            </p:txBody>
          </p:sp>
        </mc:Fallback>
      </mc:AlternateContent>
      <p:sp>
        <p:nvSpPr>
          <p:cNvPr id="26" name="Textfeld 25">
            <a:extLst>
              <a:ext uri="{FF2B5EF4-FFF2-40B4-BE49-F238E27FC236}">
                <a16:creationId xmlns:a16="http://schemas.microsoft.com/office/drawing/2014/main" id="{D1D6E3F5-DB0C-88FF-D1E5-B310CA3D4709}"/>
              </a:ext>
            </a:extLst>
          </p:cNvPr>
          <p:cNvSpPr txBox="1"/>
          <p:nvPr/>
        </p:nvSpPr>
        <p:spPr>
          <a:xfrm>
            <a:off x="5612231" y="3867797"/>
            <a:ext cx="1030799" cy="261610"/>
          </a:xfrm>
          <a:prstGeom prst="rect">
            <a:avLst/>
          </a:prstGeom>
          <a:noFill/>
        </p:spPr>
        <p:txBody>
          <a:bodyPr wrap="square" rtlCol="0">
            <a:spAutoFit/>
          </a:bodyPr>
          <a:lstStyle/>
          <a:p>
            <a:r>
              <a:rPr lang="de-DE" sz="1100" dirty="0">
                <a:latin typeface="Arial" panose="020B0604020202020204" pitchFamily="34" charset="0"/>
                <a:ea typeface="CMU Serif" panose="02000603000000000000" pitchFamily="2" charset="0"/>
                <a:cs typeface="Arial" panose="020B0604020202020204" pitchFamily="34" charset="0"/>
              </a:rPr>
              <a:t>Action </a:t>
            </a:r>
            <a:r>
              <a:rPr lang="de-DE" sz="1100" dirty="0" err="1">
                <a:latin typeface="Arial" panose="020B0604020202020204" pitchFamily="34" charset="0"/>
                <a:ea typeface="CMU Serif" panose="02000603000000000000" pitchFamily="2" charset="0"/>
                <a:cs typeface="Arial" panose="020B0604020202020204" pitchFamily="34" charset="0"/>
              </a:rPr>
              <a:t>lifting</a:t>
            </a:r>
            <a:endParaRPr lang="de-DE" sz="1100" dirty="0">
              <a:latin typeface="Arial" panose="020B0604020202020204" pitchFamily="34" charset="0"/>
              <a:ea typeface="CMU Serif" panose="02000603000000000000" pitchFamily="2" charset="0"/>
              <a:cs typeface="Arial" panose="020B0604020202020204" pitchFamily="34" charset="0"/>
            </a:endParaRPr>
          </a:p>
        </p:txBody>
      </p:sp>
      <p:cxnSp>
        <p:nvCxnSpPr>
          <p:cNvPr id="29" name="Gerade Verbindung mit Pfeil 28">
            <a:extLst>
              <a:ext uri="{FF2B5EF4-FFF2-40B4-BE49-F238E27FC236}">
                <a16:creationId xmlns:a16="http://schemas.microsoft.com/office/drawing/2014/main" id="{7034D96A-B6DA-C589-9C47-2C836FE0971E}"/>
              </a:ext>
            </a:extLst>
          </p:cNvPr>
          <p:cNvCxnSpPr>
            <a:cxnSpLocks/>
          </p:cNvCxnSpPr>
          <p:nvPr/>
        </p:nvCxnSpPr>
        <p:spPr>
          <a:xfrm flipV="1">
            <a:off x="4223481" y="2034994"/>
            <a:ext cx="838723" cy="1"/>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EBB453DC-48EF-7730-C583-5C4AA70BCE97}"/>
              </a:ext>
            </a:extLst>
          </p:cNvPr>
          <p:cNvCxnSpPr>
            <a:cxnSpLocks/>
            <a:stCxn id="13" idx="1"/>
            <a:endCxn id="25" idx="3"/>
          </p:cNvCxnSpPr>
          <p:nvPr/>
        </p:nvCxnSpPr>
        <p:spPr>
          <a:xfrm flipH="1">
            <a:off x="3451181" y="4266360"/>
            <a:ext cx="1607628" cy="0"/>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feld 30">
                <a:extLst>
                  <a:ext uri="{FF2B5EF4-FFF2-40B4-BE49-F238E27FC236}">
                    <a16:creationId xmlns:a16="http://schemas.microsoft.com/office/drawing/2014/main" id="{7691A608-6C91-A8FA-5064-E38F08646ABB}"/>
                  </a:ext>
                </a:extLst>
              </p:cNvPr>
              <p:cNvSpPr txBox="1"/>
              <p:nvPr/>
            </p:nvSpPr>
            <p:spPr>
              <a:xfrm>
                <a:off x="7271104" y="878669"/>
                <a:ext cx="1171154"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de-DE" sz="1600" b="0" i="1" dirty="0" smtClean="0">
                          <a:latin typeface="Cambria Math" panose="02040503050406030204" pitchFamily="18" charset="0"/>
                          <a:ea typeface="CMU Serif" panose="02000603000000000000" pitchFamily="2" charset="0"/>
                          <a:cs typeface="CMU Serif" panose="02000603000000000000" pitchFamily="2" charset="0"/>
                        </a:rPr>
                        <m:t>𝑡</m:t>
                      </m:r>
                      <m:r>
                        <a:rPr lang="de-DE" sz="1600" i="1" dirty="0" smtClean="0">
                          <a:latin typeface="Cambria Math" panose="02040503050406030204" pitchFamily="18" charset="0"/>
                          <a:ea typeface="CMU Serif" panose="02000603000000000000" pitchFamily="2" charset="0"/>
                          <a:cs typeface="CMU Serif" panose="02000603000000000000" pitchFamily="2" charset="0"/>
                        </a:rPr>
                        <m:t>=</m:t>
                      </m:r>
                      <m:r>
                        <a:rPr lang="de-DE" sz="1600" b="0" i="1" dirty="0" smtClean="0">
                          <a:latin typeface="Cambria Math" panose="02040503050406030204" pitchFamily="18" charset="0"/>
                          <a:ea typeface="CMU Serif" panose="02000603000000000000" pitchFamily="2" charset="0"/>
                          <a:cs typeface="CMU Serif" panose="02000603000000000000" pitchFamily="2" charset="0"/>
                        </a:rPr>
                        <m:t>0</m:t>
                      </m:r>
                      <m:r>
                        <a:rPr lang="de-DE" sz="1600" i="1" dirty="0" smtClean="0">
                          <a:latin typeface="Cambria Math" panose="02040503050406030204" pitchFamily="18" charset="0"/>
                          <a:ea typeface="CMU Serif" panose="02000603000000000000" pitchFamily="2" charset="0"/>
                          <a:cs typeface="CMU Serif" panose="02000603000000000000" pitchFamily="2" charset="0"/>
                        </a:rPr>
                        <m:t>,…,</m:t>
                      </m:r>
                      <m:r>
                        <a:rPr lang="de-DE" sz="1600" b="0" i="1" dirty="0" smtClean="0">
                          <a:latin typeface="Cambria Math" panose="02040503050406030204" pitchFamily="18" charset="0"/>
                          <a:ea typeface="CMU Serif" panose="02000603000000000000" pitchFamily="2" charset="0"/>
                          <a:cs typeface="CMU Serif" panose="02000603000000000000" pitchFamily="2" charset="0"/>
                        </a:rPr>
                        <m:t>𝑛</m:t>
                      </m:r>
                    </m:oMath>
                  </m:oMathPara>
                </a14:m>
                <a:endParaRPr lang="de-DE" sz="1600" dirty="0">
                  <a:latin typeface="Arial" panose="020B0604020202020204" pitchFamily="34" charset="0"/>
                  <a:ea typeface="CMU Serif" panose="02000603000000000000" pitchFamily="2" charset="0"/>
                  <a:cs typeface="Arial" panose="020B0604020202020204" pitchFamily="34" charset="0"/>
                </a:endParaRPr>
              </a:p>
            </p:txBody>
          </p:sp>
        </mc:Choice>
        <mc:Fallback xmlns="">
          <p:sp>
            <p:nvSpPr>
              <p:cNvPr id="31" name="Textfeld 30">
                <a:extLst>
                  <a:ext uri="{FF2B5EF4-FFF2-40B4-BE49-F238E27FC236}">
                    <a16:creationId xmlns:a16="http://schemas.microsoft.com/office/drawing/2014/main" id="{7691A608-6C91-A8FA-5064-E38F08646ABB}"/>
                  </a:ext>
                </a:extLst>
              </p:cNvPr>
              <p:cNvSpPr txBox="1">
                <a:spLocks noRot="1" noChangeAspect="1" noMove="1" noResize="1" noEditPoints="1" noAdjustHandles="1" noChangeArrowheads="1" noChangeShapeType="1" noTextEdit="1"/>
              </p:cNvSpPr>
              <p:nvPr/>
            </p:nvSpPr>
            <p:spPr>
              <a:xfrm>
                <a:off x="7271104" y="878669"/>
                <a:ext cx="1171154" cy="338554"/>
              </a:xfrm>
              <a:prstGeom prst="rect">
                <a:avLst/>
              </a:prstGeom>
              <a:blipFill>
                <a:blip r:embed="rId10"/>
                <a:stretch>
                  <a:fillRect/>
                </a:stretch>
              </a:blipFill>
            </p:spPr>
            <p:txBody>
              <a:bodyPr/>
              <a:lstStyle/>
              <a:p>
                <a:r>
                  <a:rPr lang="de-DE">
                    <a:noFill/>
                  </a:rPr>
                  <a:t> </a:t>
                </a:r>
              </a:p>
            </p:txBody>
          </p:sp>
        </mc:Fallback>
      </mc:AlternateContent>
      <p:sp>
        <p:nvSpPr>
          <p:cNvPr id="32" name="Textfeld 31">
            <a:extLst>
              <a:ext uri="{FF2B5EF4-FFF2-40B4-BE49-F238E27FC236}">
                <a16:creationId xmlns:a16="http://schemas.microsoft.com/office/drawing/2014/main" id="{9D1AEBE1-FD87-E267-3651-01EE5B9FD571}"/>
              </a:ext>
            </a:extLst>
          </p:cNvPr>
          <p:cNvSpPr txBox="1"/>
          <p:nvPr/>
        </p:nvSpPr>
        <p:spPr>
          <a:xfrm>
            <a:off x="7755272" y="3704606"/>
            <a:ext cx="354219" cy="307777"/>
          </a:xfrm>
          <a:prstGeom prst="rect">
            <a:avLst/>
          </a:prstGeom>
          <a:noFill/>
        </p:spPr>
        <p:txBody>
          <a:bodyPr wrap="square">
            <a:spAutoFit/>
          </a:bodyPr>
          <a:lstStyle/>
          <a:p>
            <a:r>
              <a:rPr lang="de-DE" sz="1400" dirty="0">
                <a:solidFill>
                  <a:schemeClr val="tx1"/>
                </a:solidFill>
                <a:latin typeface="Arial" panose="020B0604020202020204" pitchFamily="34" charset="0"/>
                <a:cs typeface="Arial" panose="020B0604020202020204" pitchFamily="34" charset="0"/>
              </a:rPr>
              <a:t> </a:t>
            </a:r>
          </a:p>
        </p:txBody>
      </p:sp>
      <p:cxnSp>
        <p:nvCxnSpPr>
          <p:cNvPr id="34" name="Verbinder: gewinkelt 33">
            <a:extLst>
              <a:ext uri="{FF2B5EF4-FFF2-40B4-BE49-F238E27FC236}">
                <a16:creationId xmlns:a16="http://schemas.microsoft.com/office/drawing/2014/main" id="{38171AB2-6338-7757-1813-0497F5141691}"/>
              </a:ext>
            </a:extLst>
          </p:cNvPr>
          <p:cNvCxnSpPr>
            <a:cxnSpLocks/>
            <a:endCxn id="17" idx="3"/>
          </p:cNvCxnSpPr>
          <p:nvPr/>
        </p:nvCxnSpPr>
        <p:spPr>
          <a:xfrm rot="16200000" flipV="1">
            <a:off x="3519560" y="3368603"/>
            <a:ext cx="1169700" cy="625812"/>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Textfeld 40">
                <a:extLst>
                  <a:ext uri="{FF2B5EF4-FFF2-40B4-BE49-F238E27FC236}">
                    <a16:creationId xmlns:a16="http://schemas.microsoft.com/office/drawing/2014/main" id="{25AAA040-5559-4EFC-C4FD-CD77037EE781}"/>
                  </a:ext>
                </a:extLst>
              </p:cNvPr>
              <p:cNvSpPr txBox="1"/>
              <p:nvPr/>
            </p:nvSpPr>
            <p:spPr>
              <a:xfrm>
                <a:off x="5125782" y="1869906"/>
                <a:ext cx="3159135" cy="314766"/>
              </a:xfrm>
              <a:prstGeom prst="rect">
                <a:avLst/>
              </a:prstGeom>
              <a:noFill/>
            </p:spPr>
            <p:txBody>
              <a:bodyPr wrap="none" rtlCol="0">
                <a:spAutoFit/>
              </a:bodyPr>
              <a:lstStyle/>
              <a:p>
                <a:pPr algn="ctr"/>
                <a:r>
                  <a:rPr lang="de-DE" sz="1300" b="0" dirty="0">
                    <a:solidFill>
                      <a:schemeClr val="bg1">
                        <a:lumMod val="65000"/>
                      </a:schemeClr>
                    </a:solidFill>
                    <a:latin typeface="Arial" panose="020B0604020202020204" pitchFamily="34" charset="0"/>
                    <a:cs typeface="Arial" panose="020B0604020202020204" pitchFamily="34" charset="0"/>
                  </a:rPr>
                  <a:t>Reduced </a:t>
                </a:r>
                <a:r>
                  <a:rPr lang="de-DE" sz="1300" b="0" dirty="0" err="1">
                    <a:solidFill>
                      <a:schemeClr val="bg1">
                        <a:lumMod val="65000"/>
                      </a:schemeClr>
                    </a:solidFill>
                    <a:latin typeface="Arial" panose="020B0604020202020204" pitchFamily="34" charset="0"/>
                    <a:cs typeface="Arial" panose="020B0604020202020204" pitchFamily="34" charset="0"/>
                  </a:rPr>
                  <a:t>state</a:t>
                </a:r>
                <a:r>
                  <a:rPr lang="de-DE" sz="1300" b="0" dirty="0">
                    <a:solidFill>
                      <a:schemeClr val="bg1">
                        <a:lumMod val="65000"/>
                      </a:schemeClr>
                    </a:solidFill>
                    <a:latin typeface="Arial" panose="020B0604020202020204" pitchFamily="34" charset="0"/>
                    <a:cs typeface="Arial" panose="020B0604020202020204" pitchFamily="34" charset="0"/>
                  </a:rPr>
                  <a:t> </a:t>
                </a:r>
                <a14:m>
                  <m:oMath xmlns:m="http://schemas.openxmlformats.org/officeDocument/2006/math">
                    <m:sSubSup>
                      <m:sSubSupPr>
                        <m:ctrlPr>
                          <a:rPr lang="de-DE" sz="1300" b="0" i="1" smtClean="0">
                            <a:solidFill>
                              <a:schemeClr val="bg1">
                                <a:lumMod val="65000"/>
                              </a:schemeClr>
                            </a:solidFill>
                            <a:latin typeface="Cambria Math" panose="02040503050406030204" pitchFamily="18" charset="0"/>
                          </a:rPr>
                        </m:ctrlPr>
                      </m:sSubSupPr>
                      <m:e>
                        <m:r>
                          <a:rPr lang="de-DE" sz="1300" b="0" i="1" smtClean="0">
                            <a:solidFill>
                              <a:schemeClr val="bg1">
                                <a:lumMod val="65000"/>
                              </a:schemeClr>
                            </a:solidFill>
                            <a:latin typeface="Cambria Math" panose="02040503050406030204" pitchFamily="18" charset="0"/>
                          </a:rPr>
                          <m:t>𝑠</m:t>
                        </m:r>
                      </m:e>
                      <m:sub>
                        <m:r>
                          <a:rPr lang="de-DE" sz="1300" b="0" i="1" smtClean="0">
                            <a:solidFill>
                              <a:schemeClr val="bg1">
                                <a:lumMod val="65000"/>
                              </a:schemeClr>
                            </a:solidFill>
                            <a:latin typeface="Cambria Math" panose="02040503050406030204" pitchFamily="18" charset="0"/>
                          </a:rPr>
                          <m:t>𝑡</m:t>
                        </m:r>
                      </m:sub>
                      <m:sup>
                        <m:r>
                          <a:rPr lang="de-DE" sz="1300" b="0" i="1" smtClean="0">
                            <a:solidFill>
                              <a:schemeClr val="bg1">
                                <a:lumMod val="65000"/>
                              </a:schemeClr>
                            </a:solidFill>
                            <a:latin typeface="Cambria Math" panose="02040503050406030204" pitchFamily="18" charset="0"/>
                          </a:rPr>
                          <m:t>𝜒</m:t>
                        </m:r>
                      </m:sup>
                    </m:sSubSup>
                    <m:r>
                      <a:rPr lang="de-DE" sz="1300" b="0" i="1" smtClean="0">
                        <a:solidFill>
                          <a:schemeClr val="bg1">
                            <a:lumMod val="65000"/>
                          </a:schemeClr>
                        </a:solidFill>
                        <a:latin typeface="Cambria Math" panose="02040503050406030204" pitchFamily="18" charset="0"/>
                      </a:rPr>
                      <m:t>≔</m:t>
                    </m:r>
                    <m:r>
                      <a:rPr lang="de-DE" sz="1300" i="1">
                        <a:solidFill>
                          <a:schemeClr val="bg1">
                            <a:lumMod val="65000"/>
                          </a:schemeClr>
                        </a:solidFill>
                        <a:latin typeface="Cambria Math" panose="02040503050406030204" pitchFamily="18" charset="0"/>
                      </a:rPr>
                      <m:t>(</m:t>
                    </m:r>
                    <m:r>
                      <m:rPr>
                        <m:sty m:val="p"/>
                      </m:rPr>
                      <a:rPr lang="de-DE" sz="1300" b="0" i="0" smtClean="0">
                        <a:solidFill>
                          <a:schemeClr val="bg1">
                            <a:lumMod val="65000"/>
                          </a:schemeClr>
                        </a:solidFill>
                        <a:latin typeface="Cambria Math" panose="02040503050406030204" pitchFamily="18" charset="0"/>
                      </a:rPr>
                      <m:t>Switch</m:t>
                    </m:r>
                    <m:r>
                      <a:rPr lang="de-DE" sz="1300" b="0" i="0" smtClean="0">
                        <a:solidFill>
                          <a:schemeClr val="bg1">
                            <a:lumMod val="65000"/>
                          </a:schemeClr>
                        </a:solidFill>
                        <a:latin typeface="Cambria Math" panose="02040503050406030204" pitchFamily="18" charset="0"/>
                      </a:rPr>
                      <m:t>,</m:t>
                    </m:r>
                    <m:r>
                      <m:rPr>
                        <m:sty m:val="p"/>
                      </m:rPr>
                      <a:rPr lang="de-DE" sz="1300" b="0" i="0" smtClean="0">
                        <a:solidFill>
                          <a:schemeClr val="bg1">
                            <a:lumMod val="65000"/>
                          </a:schemeClr>
                        </a:solidFill>
                        <a:latin typeface="Cambria Math" panose="02040503050406030204" pitchFamily="18" charset="0"/>
                      </a:rPr>
                      <m:t>Imbalance</m:t>
                    </m:r>
                    <m:r>
                      <a:rPr lang="de-DE" sz="1300" i="1">
                        <a:solidFill>
                          <a:schemeClr val="bg1">
                            <a:lumMod val="65000"/>
                          </a:schemeClr>
                        </a:solidFill>
                        <a:latin typeface="Cambria Math" panose="02040503050406030204" pitchFamily="18" charset="0"/>
                      </a:rPr>
                      <m:t>)</m:t>
                    </m:r>
                  </m:oMath>
                </a14:m>
                <a:endParaRPr lang="de-DE" sz="13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endParaRPr>
              </a:p>
            </p:txBody>
          </p:sp>
        </mc:Choice>
        <mc:Fallback xmlns="">
          <p:sp>
            <p:nvSpPr>
              <p:cNvPr id="41" name="Textfeld 40">
                <a:extLst>
                  <a:ext uri="{FF2B5EF4-FFF2-40B4-BE49-F238E27FC236}">
                    <a16:creationId xmlns:a16="http://schemas.microsoft.com/office/drawing/2014/main" id="{25AAA040-5559-4EFC-C4FD-CD77037EE781}"/>
                  </a:ext>
                </a:extLst>
              </p:cNvPr>
              <p:cNvSpPr txBox="1">
                <a:spLocks noRot="1" noChangeAspect="1" noMove="1" noResize="1" noEditPoints="1" noAdjustHandles="1" noChangeArrowheads="1" noChangeShapeType="1" noTextEdit="1"/>
              </p:cNvSpPr>
              <p:nvPr/>
            </p:nvSpPr>
            <p:spPr>
              <a:xfrm>
                <a:off x="5125782" y="1869906"/>
                <a:ext cx="3159135" cy="314766"/>
              </a:xfrm>
              <a:prstGeom prst="rect">
                <a:avLst/>
              </a:prstGeom>
              <a:blipFill>
                <a:blip r:embed="rId11"/>
                <a:stretch>
                  <a:fillRect b="-13725"/>
                </a:stretch>
              </a:blipFill>
            </p:spPr>
            <p:txBody>
              <a:bodyPr/>
              <a:lstStyle/>
              <a:p>
                <a:r>
                  <a:rPr lang="de-DE">
                    <a:noFill/>
                  </a:rPr>
                  <a:t> </a:t>
                </a:r>
              </a:p>
            </p:txBody>
          </p:sp>
        </mc:Fallback>
      </mc:AlternateContent>
      <p:sp>
        <p:nvSpPr>
          <p:cNvPr id="57" name="Textfeld 56">
            <a:extLst>
              <a:ext uri="{FF2B5EF4-FFF2-40B4-BE49-F238E27FC236}">
                <a16:creationId xmlns:a16="http://schemas.microsoft.com/office/drawing/2014/main" id="{12C3D6F2-08E4-39F2-0FA9-A36BD4DED39B}"/>
              </a:ext>
            </a:extLst>
          </p:cNvPr>
          <p:cNvSpPr txBox="1"/>
          <p:nvPr/>
        </p:nvSpPr>
        <p:spPr>
          <a:xfrm>
            <a:off x="5010815" y="2980054"/>
            <a:ext cx="3389069" cy="292388"/>
          </a:xfrm>
          <a:prstGeom prst="rect">
            <a:avLst/>
          </a:prstGeom>
          <a:noFill/>
        </p:spPr>
        <p:txBody>
          <a:bodyPr wrap="none" rtlCol="0">
            <a:spAutoFit/>
          </a:bodyPr>
          <a:lstStyle/>
          <a:p>
            <a:r>
              <a:rPr lang="de-DE" sz="1300" dirty="0">
                <a:solidFill>
                  <a:schemeClr val="bg1">
                    <a:lumMod val="65000"/>
                  </a:schemeClr>
                </a:solidFill>
                <a:latin typeface="Arial" panose="020B0604020202020204" pitchFamily="34" charset="0"/>
                <a:cs typeface="Arial" panose="020B0604020202020204" pitchFamily="34" charset="0"/>
              </a:rPr>
              <a:t>Dynamic </a:t>
            </a:r>
            <a:r>
              <a:rPr lang="de-DE" sz="1300" dirty="0" err="1">
                <a:solidFill>
                  <a:schemeClr val="bg1">
                    <a:lumMod val="65000"/>
                  </a:schemeClr>
                </a:solidFill>
                <a:latin typeface="Arial" panose="020B0604020202020204" pitchFamily="34" charset="0"/>
                <a:cs typeface="Arial" panose="020B0604020202020204" pitchFamily="34" charset="0"/>
              </a:rPr>
              <a:t>programming</a:t>
            </a:r>
            <a:r>
              <a:rPr lang="de-DE" sz="1300" dirty="0">
                <a:solidFill>
                  <a:schemeClr val="bg1">
                    <a:lumMod val="65000"/>
                  </a:schemeClr>
                </a:solidFill>
                <a:latin typeface="Arial" panose="020B0604020202020204" pitchFamily="34" charset="0"/>
                <a:cs typeface="Arial" panose="020B0604020202020204" pitchFamily="34" charset="0"/>
              </a:rPr>
              <a:t> </a:t>
            </a:r>
            <a:r>
              <a:rPr lang="de-DE" sz="1300" dirty="0" err="1">
                <a:solidFill>
                  <a:schemeClr val="bg1">
                    <a:lumMod val="65000"/>
                  </a:schemeClr>
                </a:solidFill>
                <a:latin typeface="Arial" panose="020B0604020202020204" pitchFamily="34" charset="0"/>
                <a:cs typeface="Arial" panose="020B0604020202020204" pitchFamily="34" charset="0"/>
              </a:rPr>
              <a:t>backward</a:t>
            </a:r>
            <a:r>
              <a:rPr lang="de-DE" sz="1300" dirty="0">
                <a:solidFill>
                  <a:schemeClr val="bg1">
                    <a:lumMod val="65000"/>
                  </a:schemeClr>
                </a:solidFill>
                <a:latin typeface="Arial" panose="020B0604020202020204" pitchFamily="34" charset="0"/>
                <a:cs typeface="Arial" panose="020B0604020202020204" pitchFamily="34" charset="0"/>
              </a:rPr>
              <a:t> </a:t>
            </a:r>
            <a:r>
              <a:rPr lang="de-DE" sz="1300" dirty="0" err="1">
                <a:solidFill>
                  <a:schemeClr val="bg1">
                    <a:lumMod val="65000"/>
                  </a:schemeClr>
                </a:solidFill>
                <a:latin typeface="Arial" panose="020B0604020202020204" pitchFamily="34" charset="0"/>
                <a:cs typeface="Arial" panose="020B0604020202020204" pitchFamily="34" charset="0"/>
              </a:rPr>
              <a:t>induction</a:t>
            </a:r>
            <a:endParaRPr lang="de-DE" sz="13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endParaRPr>
          </a:p>
        </p:txBody>
      </p:sp>
      <p:cxnSp>
        <p:nvCxnSpPr>
          <p:cNvPr id="58" name="Gerade Verbindung mit Pfeil 57">
            <a:extLst>
              <a:ext uri="{FF2B5EF4-FFF2-40B4-BE49-F238E27FC236}">
                <a16:creationId xmlns:a16="http://schemas.microsoft.com/office/drawing/2014/main" id="{E42D293E-9DFB-197D-BE80-8A21A80001FC}"/>
              </a:ext>
            </a:extLst>
          </p:cNvPr>
          <p:cNvCxnSpPr>
            <a:cxnSpLocks/>
            <a:stCxn id="12" idx="2"/>
            <a:endCxn id="57" idx="0"/>
          </p:cNvCxnSpPr>
          <p:nvPr/>
        </p:nvCxnSpPr>
        <p:spPr>
          <a:xfrm>
            <a:off x="6705349" y="2782794"/>
            <a:ext cx="1" cy="197260"/>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Gerade Verbindung mit Pfeil 58">
            <a:extLst>
              <a:ext uri="{FF2B5EF4-FFF2-40B4-BE49-F238E27FC236}">
                <a16:creationId xmlns:a16="http://schemas.microsoft.com/office/drawing/2014/main" id="{F0AF94C2-8F42-F1DB-75FE-AC5ED34B7325}"/>
              </a:ext>
            </a:extLst>
          </p:cNvPr>
          <p:cNvCxnSpPr>
            <a:cxnSpLocks/>
            <a:stCxn id="57" idx="2"/>
            <a:endCxn id="11" idx="0"/>
          </p:cNvCxnSpPr>
          <p:nvPr/>
        </p:nvCxnSpPr>
        <p:spPr>
          <a:xfrm flipH="1">
            <a:off x="6705349" y="3272442"/>
            <a:ext cx="1" cy="209139"/>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sp>
        <p:nvSpPr>
          <p:cNvPr id="67" name="Textfeld 66">
            <a:extLst>
              <a:ext uri="{FF2B5EF4-FFF2-40B4-BE49-F238E27FC236}">
                <a16:creationId xmlns:a16="http://schemas.microsoft.com/office/drawing/2014/main" id="{48447DC3-4379-5AF9-2E32-061CAB3B53A5}"/>
              </a:ext>
            </a:extLst>
          </p:cNvPr>
          <p:cNvSpPr txBox="1"/>
          <p:nvPr/>
        </p:nvSpPr>
        <p:spPr>
          <a:xfrm>
            <a:off x="6737738" y="3867797"/>
            <a:ext cx="1690550" cy="261610"/>
          </a:xfrm>
          <a:prstGeom prst="rect">
            <a:avLst/>
          </a:prstGeom>
          <a:noFill/>
        </p:spPr>
        <p:txBody>
          <a:bodyPr wrap="square" rtlCol="0">
            <a:spAutoFit/>
          </a:bodyPr>
          <a:lstStyle/>
          <a:p>
            <a:r>
              <a:rPr lang="de-DE" sz="1100" dirty="0">
                <a:latin typeface="Arial" panose="020B0604020202020204" pitchFamily="34" charset="0"/>
                <a:ea typeface="CMU Serif" panose="02000603000000000000" pitchFamily="2" charset="0"/>
                <a:cs typeface="Arial" panose="020B0604020202020204" pitchFamily="34" charset="0"/>
              </a:rPr>
              <a:t>Post-</a:t>
            </a:r>
            <a:r>
              <a:rPr lang="de-DE" sz="1100" dirty="0" err="1">
                <a:latin typeface="Arial" panose="020B0604020202020204" pitchFamily="34" charset="0"/>
                <a:ea typeface="CMU Serif" panose="02000603000000000000" pitchFamily="2" charset="0"/>
                <a:cs typeface="Arial" panose="020B0604020202020204" pitchFamily="34" charset="0"/>
              </a:rPr>
              <a:t>decision</a:t>
            </a:r>
            <a:r>
              <a:rPr lang="de-DE" sz="1100" dirty="0">
                <a:latin typeface="Arial" panose="020B0604020202020204" pitchFamily="34" charset="0"/>
                <a:ea typeface="CMU Serif" panose="02000603000000000000" pitchFamily="2" charset="0"/>
                <a:cs typeface="Arial" panose="020B0604020202020204" pitchFamily="34" charset="0"/>
              </a:rPr>
              <a:t> </a:t>
            </a:r>
            <a:r>
              <a:rPr lang="de-DE" sz="1100" dirty="0" err="1">
                <a:latin typeface="Arial" panose="020B0604020202020204" pitchFamily="34" charset="0"/>
                <a:ea typeface="CMU Serif" panose="02000603000000000000" pitchFamily="2" charset="0"/>
                <a:cs typeface="Arial" panose="020B0604020202020204" pitchFamily="34" charset="0"/>
              </a:rPr>
              <a:t>noise</a:t>
            </a:r>
            <a:endParaRPr lang="de-DE" sz="1100" dirty="0">
              <a:latin typeface="Arial" panose="020B0604020202020204" pitchFamily="34" charset="0"/>
              <a:ea typeface="CMU Serif" panose="02000603000000000000" pitchFamily="2" charset="0"/>
              <a:cs typeface="Arial" panose="020B0604020202020204" pitchFamily="34" charset="0"/>
            </a:endParaRPr>
          </a:p>
        </p:txBody>
      </p:sp>
      <mc:AlternateContent xmlns:mc="http://schemas.openxmlformats.org/markup-compatibility/2006" xmlns:a14="http://schemas.microsoft.com/office/drawing/2010/main">
        <mc:Choice Requires="a14">
          <p:sp>
            <p:nvSpPr>
              <p:cNvPr id="71" name="Textfeld 70">
                <a:extLst>
                  <a:ext uri="{FF2B5EF4-FFF2-40B4-BE49-F238E27FC236}">
                    <a16:creationId xmlns:a16="http://schemas.microsoft.com/office/drawing/2014/main" id="{9F821925-19F8-EC5F-11B1-958741699A94}"/>
                  </a:ext>
                </a:extLst>
              </p:cNvPr>
              <p:cNvSpPr txBox="1"/>
              <p:nvPr/>
            </p:nvSpPr>
            <p:spPr>
              <a:xfrm>
                <a:off x="998474" y="1593990"/>
                <a:ext cx="3014113" cy="3081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de-DE" sz="1200" b="0" i="1" smtClean="0">
                          <a:latin typeface="Cambria Math" panose="02040503050406030204" pitchFamily="18" charset="0"/>
                          <a:ea typeface="CMU Serif" panose="02000603000000000000" pitchFamily="2" charset="0"/>
                          <a:cs typeface="CMU Serif" panose="02000603000000000000" pitchFamily="2" charset="0"/>
                        </a:rPr>
                        <m:t>𝒯</m:t>
                      </m:r>
                      <m:r>
                        <a:rPr lang="de-DE" sz="1200" b="0" i="1" smtClean="0">
                          <a:latin typeface="Cambria Math" panose="02040503050406030204" pitchFamily="18" charset="0"/>
                          <a:ea typeface="CMU Serif" panose="02000603000000000000" pitchFamily="2" charset="0"/>
                          <a:cs typeface="CMU Serif" panose="02000603000000000000" pitchFamily="2" charset="0"/>
                        </a:rPr>
                        <m:t>≔</m:t>
                      </m:r>
                      <m:d>
                        <m:d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dPr>
                        <m:e>
                          <m:r>
                            <a:rPr lang="de-DE" sz="1200" b="0" i="1" smtClean="0">
                              <a:latin typeface="Cambria Math" panose="02040503050406030204" pitchFamily="18" charset="0"/>
                              <a:ea typeface="CMU Serif" panose="02000603000000000000" pitchFamily="2" charset="0"/>
                              <a:cs typeface="CMU Serif" panose="02000603000000000000" pitchFamily="2" charset="0"/>
                            </a:rPr>
                            <m:t>𝐽</m:t>
                          </m:r>
                          <m:r>
                            <a:rPr lang="de-DE" sz="1200" b="0" i="1" smtClean="0">
                              <a:latin typeface="Cambria Math" panose="02040503050406030204" pitchFamily="18" charset="0"/>
                              <a:ea typeface="CMU Serif" panose="02000603000000000000" pitchFamily="2" charset="0"/>
                              <a:cs typeface="CMU Serif" panose="02000603000000000000" pitchFamily="2" charset="0"/>
                            </a:rPr>
                            <m:t>,</m:t>
                          </m:r>
                          <m:r>
                            <a:rPr lang="de-DE" sz="1200" b="0" i="1" smtClean="0">
                              <a:latin typeface="Cambria Math" panose="02040503050406030204" pitchFamily="18" charset="0"/>
                              <a:ea typeface="CMU Serif" panose="02000603000000000000" pitchFamily="2" charset="0"/>
                              <a:cs typeface="CMU Serif" panose="02000603000000000000" pitchFamily="2" charset="0"/>
                            </a:rPr>
                            <m:t>𝑆</m:t>
                          </m:r>
                          <m:r>
                            <a:rPr lang="de-DE" sz="1200" b="0" i="1" smtClean="0">
                              <a:latin typeface="Cambria Math" panose="02040503050406030204" pitchFamily="18" charset="0"/>
                              <a:ea typeface="CMU Serif" panose="02000603000000000000" pitchFamily="2" charset="0"/>
                              <a:cs typeface="CMU Serif" panose="02000603000000000000" pitchFamily="2" charset="0"/>
                            </a:rPr>
                            <m:t>,</m:t>
                          </m:r>
                          <m:r>
                            <a:rPr lang="de-DE" sz="1200" b="0" i="1" smtClean="0">
                              <a:latin typeface="Cambria Math" panose="02040503050406030204" pitchFamily="18" charset="0"/>
                              <a:ea typeface="CMU Serif" panose="02000603000000000000" pitchFamily="2" charset="0"/>
                              <a:cs typeface="CMU Serif" panose="02000603000000000000" pitchFamily="2" charset="0"/>
                            </a:rPr>
                            <m:t>𝐴</m:t>
                          </m:r>
                          <m:r>
                            <a:rPr lang="de-DE" sz="1200" b="0" i="1" smtClean="0">
                              <a:latin typeface="Cambria Math" panose="02040503050406030204" pitchFamily="18" charset="0"/>
                              <a:ea typeface="CMU Serif" panose="02000603000000000000" pitchFamily="2" charset="0"/>
                              <a:cs typeface="CMU Serif" panose="02000603000000000000" pitchFamily="2" charset="0"/>
                            </a:rPr>
                            <m:t>,</m:t>
                          </m:r>
                          <m:sSub>
                            <m:sSub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sSubPr>
                            <m:e>
                              <m:sSub>
                                <m:sSub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latin typeface="Cambria Math" panose="02040503050406030204" pitchFamily="18" charset="0"/>
                                      <a:ea typeface="CMU Serif" panose="02000603000000000000" pitchFamily="2" charset="0"/>
                                      <a:cs typeface="CMU Serif" panose="02000603000000000000" pitchFamily="2" charset="0"/>
                                    </a:rPr>
                                    <m:t>𝑅</m:t>
                                  </m:r>
                                </m:e>
                                <m:sub>
                                  <m:r>
                                    <a:rPr lang="de-DE" sz="1200" b="0" i="1" smtClean="0">
                                      <a:latin typeface="Cambria Math" panose="02040503050406030204" pitchFamily="18" charset="0"/>
                                      <a:ea typeface="CMU Serif" panose="02000603000000000000" pitchFamily="2" charset="0"/>
                                      <a:cs typeface="CMU Serif" panose="02000603000000000000" pitchFamily="2" charset="0"/>
                                    </a:rPr>
                                    <m:t>𝒯</m:t>
                                  </m:r>
                                </m:sub>
                              </m:sSub>
                            </m:e>
                            <m:sub>
                              <m:r>
                                <a:rPr lang="de-DE" sz="1200" b="0" i="1" smtClean="0">
                                  <a:latin typeface="Cambria Math" panose="02040503050406030204" pitchFamily="18" charset="0"/>
                                  <a:ea typeface="CMU Serif" panose="02000603000000000000" pitchFamily="2" charset="0"/>
                                  <a:cs typeface="CMU Serif" panose="02000603000000000000" pitchFamily="2" charset="0"/>
                                </a:rPr>
                                <m:t> </m:t>
                              </m:r>
                            </m:sub>
                          </m:sSub>
                          <m:r>
                            <a:rPr lang="de-DE" sz="1200" b="0" i="1" smtClean="0">
                              <a:latin typeface="Cambria Math" panose="02040503050406030204" pitchFamily="18" charset="0"/>
                              <a:ea typeface="CMU Serif" panose="02000603000000000000" pitchFamily="2" charset="0"/>
                              <a:cs typeface="CMU Serif" panose="02000603000000000000" pitchFamily="2" charset="0"/>
                            </a:rPr>
                            <m:t>, </m:t>
                          </m:r>
                          <m:r>
                            <a:rPr lang="de-DE" sz="1200" b="0" i="1" smtClean="0">
                              <a:latin typeface="Cambria Math" panose="02040503050406030204" pitchFamily="18" charset="0"/>
                              <a:ea typeface="CMU Serif" panose="02000603000000000000" pitchFamily="2" charset="0"/>
                              <a:cs typeface="CMU Serif" panose="02000603000000000000" pitchFamily="2" charset="0"/>
                            </a:rPr>
                            <m:t>𝑝</m:t>
                          </m:r>
                          <m:d>
                            <m:d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dPr>
                            <m:e>
                              <m:sSub>
                                <m:sSub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latin typeface="Cambria Math" panose="02040503050406030204" pitchFamily="18" charset="0"/>
                                      <a:ea typeface="CMU Serif" panose="02000603000000000000" pitchFamily="2" charset="0"/>
                                      <a:cs typeface="CMU Serif" panose="02000603000000000000" pitchFamily="2" charset="0"/>
                                    </a:rPr>
                                    <m:t>𝑠</m:t>
                                  </m:r>
                                </m:e>
                                <m:sub>
                                  <m:r>
                                    <a:rPr lang="de-DE" sz="1200" b="0" i="1" smtClean="0">
                                      <a:latin typeface="Cambria Math" panose="02040503050406030204" pitchFamily="18" charset="0"/>
                                      <a:ea typeface="CMU Serif" panose="02000603000000000000" pitchFamily="2" charset="0"/>
                                      <a:cs typeface="CMU Serif" panose="02000603000000000000" pitchFamily="2" charset="0"/>
                                    </a:rPr>
                                    <m:t>0</m:t>
                                  </m:r>
                                </m:sub>
                              </m:sSub>
                            </m:e>
                          </m:d>
                          <m:r>
                            <a:rPr lang="de-DE" sz="1200" b="0" i="1" smtClean="0">
                              <a:latin typeface="Cambria Math" panose="02040503050406030204" pitchFamily="18" charset="0"/>
                              <a:ea typeface="CMU Serif" panose="02000603000000000000" pitchFamily="2" charset="0"/>
                              <a:cs typeface="CMU Serif" panose="02000603000000000000" pitchFamily="2" charset="0"/>
                            </a:rPr>
                            <m:t>, </m:t>
                          </m:r>
                          <m:r>
                            <a:rPr lang="de-DE" sz="1200" b="0" i="1" smtClean="0">
                              <a:latin typeface="Cambria Math" panose="02040503050406030204" pitchFamily="18" charset="0"/>
                              <a:ea typeface="CMU Serif" panose="02000603000000000000" pitchFamily="2" charset="0"/>
                              <a:cs typeface="CMU Serif" panose="02000603000000000000" pitchFamily="2" charset="0"/>
                            </a:rPr>
                            <m:t>𝑝</m:t>
                          </m:r>
                          <m:d>
                            <m:d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dPr>
                            <m:e>
                              <m:sSub>
                                <m:sSub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latin typeface="Cambria Math" panose="02040503050406030204" pitchFamily="18" charset="0"/>
                                      <a:ea typeface="CMU Serif" panose="02000603000000000000" pitchFamily="2" charset="0"/>
                                      <a:cs typeface="CMU Serif" panose="02000603000000000000" pitchFamily="2" charset="0"/>
                                    </a:rPr>
                                    <m:t>𝑠</m:t>
                                  </m:r>
                                </m:e>
                                <m:sub>
                                  <m:r>
                                    <a:rPr lang="de-DE" sz="1200" b="0" i="1" smtClean="0">
                                      <a:latin typeface="Cambria Math" panose="02040503050406030204" pitchFamily="18" charset="0"/>
                                      <a:ea typeface="CMU Serif" panose="02000603000000000000" pitchFamily="2" charset="0"/>
                                      <a:cs typeface="CMU Serif" panose="02000603000000000000" pitchFamily="2" charset="0"/>
                                    </a:rPr>
                                    <m:t>𝑡</m:t>
                                  </m:r>
                                  <m:r>
                                    <a:rPr lang="de-DE" sz="1200" b="0" i="1" smtClean="0">
                                      <a:latin typeface="Cambria Math" panose="02040503050406030204" pitchFamily="18" charset="0"/>
                                      <a:ea typeface="CMU Serif" panose="02000603000000000000" pitchFamily="2" charset="0"/>
                                      <a:cs typeface="CMU Serif" panose="02000603000000000000" pitchFamily="2" charset="0"/>
                                    </a:rPr>
                                    <m:t>+1</m:t>
                                  </m:r>
                                </m:sub>
                              </m:sSub>
                            </m:e>
                            <m:e>
                              <m:sSub>
                                <m:sSub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latin typeface="Cambria Math" panose="02040503050406030204" pitchFamily="18" charset="0"/>
                                      <a:ea typeface="CMU Serif" panose="02000603000000000000" pitchFamily="2" charset="0"/>
                                      <a:cs typeface="CMU Serif" panose="02000603000000000000" pitchFamily="2" charset="0"/>
                                    </a:rPr>
                                    <m:t>𝑠</m:t>
                                  </m:r>
                                </m:e>
                                <m:sub>
                                  <m:r>
                                    <a:rPr lang="de-DE" sz="1200" b="0" i="1" smtClean="0">
                                      <a:latin typeface="Cambria Math" panose="02040503050406030204" pitchFamily="18" charset="0"/>
                                      <a:ea typeface="CMU Serif" panose="02000603000000000000" pitchFamily="2" charset="0"/>
                                      <a:cs typeface="CMU Serif" panose="02000603000000000000" pitchFamily="2" charset="0"/>
                                    </a:rPr>
                                    <m:t>𝑡</m:t>
                                  </m:r>
                                </m:sub>
                              </m:sSub>
                              <m:r>
                                <a:rPr lang="de-DE" sz="1200" b="0" i="1" smtClean="0">
                                  <a:latin typeface="Cambria Math" panose="02040503050406030204" pitchFamily="18" charset="0"/>
                                  <a:ea typeface="CMU Serif" panose="02000603000000000000" pitchFamily="2" charset="0"/>
                                  <a:cs typeface="CMU Serif" panose="02000603000000000000" pitchFamily="2" charset="0"/>
                                </a:rPr>
                                <m:t>,</m:t>
                              </m:r>
                              <m:sSub>
                                <m:sSub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latin typeface="Cambria Math" panose="02040503050406030204" pitchFamily="18" charset="0"/>
                                      <a:ea typeface="CMU Serif" panose="02000603000000000000" pitchFamily="2" charset="0"/>
                                      <a:cs typeface="CMU Serif" panose="02000603000000000000" pitchFamily="2" charset="0"/>
                                    </a:rPr>
                                    <m:t>𝑎</m:t>
                                  </m:r>
                                </m:e>
                                <m:sub>
                                  <m:r>
                                    <a:rPr lang="de-DE" sz="1200" b="0" i="1" smtClean="0">
                                      <a:latin typeface="Cambria Math" panose="02040503050406030204" pitchFamily="18" charset="0"/>
                                      <a:ea typeface="CMU Serif" panose="02000603000000000000" pitchFamily="2" charset="0"/>
                                      <a:cs typeface="CMU Serif" panose="02000603000000000000" pitchFamily="2" charset="0"/>
                                    </a:rPr>
                                    <m:t>𝑡</m:t>
                                  </m:r>
                                </m:sub>
                              </m:sSub>
                            </m:e>
                          </m:d>
                          <m:r>
                            <a:rPr lang="de-DE" sz="1200" b="0" i="1" smtClean="0">
                              <a:latin typeface="Cambria Math" panose="02040503050406030204" pitchFamily="18" charset="0"/>
                              <a:ea typeface="CMU Serif" panose="02000603000000000000" pitchFamily="2" charset="0"/>
                              <a:cs typeface="CMU Serif" panose="02000603000000000000" pitchFamily="2" charset="0"/>
                            </a:rPr>
                            <m:t>,</m:t>
                          </m:r>
                          <m:r>
                            <m:rPr>
                              <m:sty m:val="p"/>
                            </m:rPr>
                            <a:rPr lang="de-DE" sz="1200" b="0" i="1" smtClean="0">
                              <a:latin typeface="Cambria Math" panose="02040503050406030204" pitchFamily="18" charset="0"/>
                              <a:ea typeface="CMU Serif" panose="02000603000000000000" pitchFamily="2" charset="0"/>
                              <a:cs typeface="CMU Serif" panose="02000603000000000000" pitchFamily="2" charset="0"/>
                            </a:rPr>
                            <m:t>ϱ</m:t>
                          </m:r>
                        </m:e>
                      </m:d>
                    </m:oMath>
                  </m:oMathPara>
                </a14:m>
                <a:endParaRPr lang="de-DE" sz="1200" b="0" i="1" dirty="0">
                  <a:latin typeface="Cambria Math" panose="02040503050406030204" pitchFamily="18" charset="0"/>
                  <a:ea typeface="CMU Serif" panose="02000603000000000000" pitchFamily="2" charset="0"/>
                  <a:cs typeface="CMU Serif" panose="02000603000000000000" pitchFamily="2" charset="0"/>
                </a:endParaRPr>
              </a:p>
            </p:txBody>
          </p:sp>
        </mc:Choice>
        <mc:Fallback xmlns="">
          <p:sp>
            <p:nvSpPr>
              <p:cNvPr id="71" name="Textfeld 70">
                <a:extLst>
                  <a:ext uri="{FF2B5EF4-FFF2-40B4-BE49-F238E27FC236}">
                    <a16:creationId xmlns:a16="http://schemas.microsoft.com/office/drawing/2014/main" id="{9F821925-19F8-EC5F-11B1-958741699A94}"/>
                  </a:ext>
                </a:extLst>
              </p:cNvPr>
              <p:cNvSpPr txBox="1">
                <a:spLocks noRot="1" noChangeAspect="1" noMove="1" noResize="1" noEditPoints="1" noAdjustHandles="1" noChangeArrowheads="1" noChangeShapeType="1" noTextEdit="1"/>
              </p:cNvSpPr>
              <p:nvPr/>
            </p:nvSpPr>
            <p:spPr>
              <a:xfrm>
                <a:off x="998474" y="1593990"/>
                <a:ext cx="3014113" cy="308161"/>
              </a:xfrm>
              <a:prstGeom prst="rect">
                <a:avLst/>
              </a:prstGeom>
              <a:blipFill>
                <a:blip r:embed="rId12"/>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73" name="Textfeld 72">
                <a:extLst>
                  <a:ext uri="{FF2B5EF4-FFF2-40B4-BE49-F238E27FC236}">
                    <a16:creationId xmlns:a16="http://schemas.microsoft.com/office/drawing/2014/main" id="{72938CC2-DFFE-5565-A2C4-714A7E9EC19A}"/>
                  </a:ext>
                </a:extLst>
              </p:cNvPr>
              <p:cNvSpPr txBox="1"/>
              <p:nvPr/>
            </p:nvSpPr>
            <p:spPr>
              <a:xfrm>
                <a:off x="5357985" y="1594659"/>
                <a:ext cx="2574396" cy="3066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𝒜</m:t>
                      </m:r>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m:t>
                      </m:r>
                      <m:d>
                        <m:dPr>
                          <m:ctrlP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ctrlPr>
                        </m:dPr>
                        <m:e>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𝐽</m:t>
                          </m:r>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m:t>
                          </m:r>
                          <m:sSub>
                            <m:sSubPr>
                              <m:ctrlP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ℳ</m:t>
                              </m:r>
                            </m:e>
                            <m:sub>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𝜒</m:t>
                              </m:r>
                            </m:sub>
                          </m:sSub>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m:t>
                          </m:r>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𝐷</m:t>
                          </m:r>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m:t>
                          </m:r>
                          <m:sSub>
                            <m:sSubPr>
                              <m:ctrlP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𝑝</m:t>
                              </m:r>
                            </m:e>
                            <m:sub>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𝛽</m:t>
                              </m:r>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m:t>
                              </m:r>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𝜎</m:t>
                              </m:r>
                            </m:sub>
                          </m:sSub>
                          <m:d>
                            <m:dPr>
                              <m:ctrlP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ctrlPr>
                            </m:dPr>
                            <m:e>
                              <m:sSub>
                                <m:sSubPr>
                                  <m:ctrlP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𝑑</m:t>
                                  </m:r>
                                </m:e>
                                <m:sub>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𝑡</m:t>
                                  </m:r>
                                </m:sub>
                              </m:sSub>
                            </m:e>
                            <m:e>
                              <m:sSub>
                                <m:sSubPr>
                                  <m:ctrlP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𝑠</m:t>
                                  </m:r>
                                </m:e>
                                <m:sub>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𝑡</m:t>
                                  </m:r>
                                </m:sub>
                              </m:sSub>
                            </m:e>
                          </m:d>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m:t>
                          </m:r>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𝜌</m:t>
                          </m:r>
                        </m:e>
                      </m:d>
                    </m:oMath>
                  </m:oMathPara>
                </a14:m>
                <a:endParaRPr lang="de-DE" sz="1200" b="0" i="1" dirty="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endParaRPr>
              </a:p>
            </p:txBody>
          </p:sp>
        </mc:Choice>
        <mc:Fallback xmlns="">
          <p:sp>
            <p:nvSpPr>
              <p:cNvPr id="73" name="Textfeld 72">
                <a:extLst>
                  <a:ext uri="{FF2B5EF4-FFF2-40B4-BE49-F238E27FC236}">
                    <a16:creationId xmlns:a16="http://schemas.microsoft.com/office/drawing/2014/main" id="{72938CC2-DFFE-5565-A2C4-714A7E9EC19A}"/>
                  </a:ext>
                </a:extLst>
              </p:cNvPr>
              <p:cNvSpPr txBox="1">
                <a:spLocks noRot="1" noChangeAspect="1" noMove="1" noResize="1" noEditPoints="1" noAdjustHandles="1" noChangeArrowheads="1" noChangeShapeType="1" noTextEdit="1"/>
              </p:cNvSpPr>
              <p:nvPr/>
            </p:nvSpPr>
            <p:spPr>
              <a:xfrm>
                <a:off x="5357985" y="1594659"/>
                <a:ext cx="2574396" cy="306687"/>
              </a:xfrm>
              <a:prstGeom prst="rect">
                <a:avLst/>
              </a:prstGeom>
              <a:blipFill>
                <a:blip r:embed="rId13"/>
                <a:stretch>
                  <a:fillRect b="-2000"/>
                </a:stretch>
              </a:blipFill>
            </p:spPr>
            <p:txBody>
              <a:bodyPr/>
              <a:lstStyle/>
              <a:p>
                <a:r>
                  <a:rPr lang="de-DE">
                    <a:noFill/>
                  </a:rPr>
                  <a:t> </a:t>
                </a:r>
              </a:p>
            </p:txBody>
          </p:sp>
        </mc:Fallback>
      </mc:AlternateContent>
    </p:spTree>
    <p:extLst>
      <p:ext uri="{BB962C8B-B14F-4D97-AF65-F5344CB8AC3E}">
        <p14:creationId xmlns:p14="http://schemas.microsoft.com/office/powerpoint/2010/main" val="2903427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C2D0AA-045F-789C-DFC4-25A3EDE5DEF5}"/>
              </a:ext>
            </a:extLst>
          </p:cNvPr>
          <p:cNvSpPr>
            <a:spLocks noGrp="1"/>
          </p:cNvSpPr>
          <p:nvPr>
            <p:ph type="title"/>
          </p:nvPr>
        </p:nvSpPr>
        <p:spPr/>
        <p:txBody>
          <a:bodyPr>
            <a:normAutofit/>
          </a:bodyPr>
          <a:lstStyle/>
          <a:p>
            <a:r>
              <a:rPr lang="de-DE" sz="2200" b="0" dirty="0">
                <a:latin typeface="Arial" panose="020B0604020202020204" pitchFamily="34" charset="0"/>
                <a:cs typeface="Arial" panose="020B0604020202020204" pitchFamily="34" charset="0"/>
              </a:rPr>
              <a:t>Dynamic </a:t>
            </a:r>
            <a:r>
              <a:rPr lang="de-DE" sz="2200" b="0" dirty="0" err="1">
                <a:latin typeface="Arial" panose="020B0604020202020204" pitchFamily="34" charset="0"/>
                <a:cs typeface="Arial" panose="020B0604020202020204" pitchFamily="34" charset="0"/>
              </a:rPr>
              <a:t>programming</a:t>
            </a:r>
            <a:r>
              <a:rPr lang="de-DE" sz="2200" b="0" dirty="0">
                <a:latin typeface="Arial" panose="020B0604020202020204" pitchFamily="34" charset="0"/>
                <a:cs typeface="Arial" panose="020B0604020202020204" pitchFamily="34" charset="0"/>
              </a:rPr>
              <a:t> </a:t>
            </a:r>
            <a:r>
              <a:rPr lang="de-DE" sz="2200" b="0" dirty="0" err="1">
                <a:latin typeface="Arial" panose="020B0604020202020204" pitchFamily="34" charset="0"/>
                <a:cs typeface="Arial" panose="020B0604020202020204" pitchFamily="34" charset="0"/>
              </a:rPr>
              <a:t>backward</a:t>
            </a:r>
            <a:r>
              <a:rPr lang="de-DE" sz="2200" b="0" dirty="0">
                <a:latin typeface="Arial" panose="020B0604020202020204" pitchFamily="34" charset="0"/>
                <a:cs typeface="Arial" panose="020B0604020202020204" pitchFamily="34" charset="0"/>
              </a:rPr>
              <a:t> </a:t>
            </a:r>
            <a:r>
              <a:rPr lang="de-DE" sz="2200" b="0" dirty="0" err="1">
                <a:latin typeface="Arial" panose="020B0604020202020204" pitchFamily="34" charset="0"/>
                <a:cs typeface="Arial" panose="020B0604020202020204" pitchFamily="34" charset="0"/>
              </a:rPr>
              <a:t>induction</a:t>
            </a:r>
            <a:endParaRPr lang="de-DE" sz="2200" b="0" dirty="0">
              <a:latin typeface="Arial" panose="020B0604020202020204" pitchFamily="34" charset="0"/>
              <a:cs typeface="Arial" panose="020B0604020202020204" pitchFamily="34" charset="0"/>
            </a:endParaRPr>
          </a:p>
        </p:txBody>
      </p:sp>
      <p:sp>
        <p:nvSpPr>
          <p:cNvPr id="4" name="Foliennummernplatzhalter 3">
            <a:extLst>
              <a:ext uri="{FF2B5EF4-FFF2-40B4-BE49-F238E27FC236}">
                <a16:creationId xmlns:a16="http://schemas.microsoft.com/office/drawing/2014/main" id="{7E0408ED-CF39-66E4-FBBF-9C6E8F97BFFD}"/>
              </a:ext>
            </a:extLst>
          </p:cNvPr>
          <p:cNvSpPr>
            <a:spLocks noGrp="1"/>
          </p:cNvSpPr>
          <p:nvPr>
            <p:ph type="sldNum" idx="12"/>
          </p:nvPr>
        </p:nvSpPr>
        <p:spPr/>
        <p:txBody>
          <a:bodyPr/>
          <a:lstStyle/>
          <a:p>
            <a:fld id="{5CD88B4E-D815-417B-99FD-41D66E5C06D4}" type="slidenum">
              <a:rPr lang="de-DE" smtClean="0"/>
              <a:t>17</a:t>
            </a:fld>
            <a:endParaRPr lang="de-DE"/>
          </a:p>
        </p:txBody>
      </p:sp>
      <p:sp>
        <p:nvSpPr>
          <p:cNvPr id="5" name="Textfeld 4">
            <a:extLst>
              <a:ext uri="{FF2B5EF4-FFF2-40B4-BE49-F238E27FC236}">
                <a16:creationId xmlns:a16="http://schemas.microsoft.com/office/drawing/2014/main" id="{58BC1476-3561-09DF-51A4-8680B89D8165}"/>
              </a:ext>
            </a:extLst>
          </p:cNvPr>
          <p:cNvSpPr txBox="1"/>
          <p:nvPr/>
        </p:nvSpPr>
        <p:spPr>
          <a:xfrm>
            <a:off x="731648" y="925059"/>
            <a:ext cx="3337773" cy="307777"/>
          </a:xfrm>
          <a:prstGeom prst="rect">
            <a:avLst/>
          </a:prstGeom>
          <a:noFill/>
        </p:spPr>
        <p:txBody>
          <a:bodyPr wrap="none" rtlCol="0">
            <a:spAutoFit/>
          </a:bodyPr>
          <a:lstStyle/>
          <a:p>
            <a:r>
              <a:rPr lang="de-DE" sz="1400" dirty="0" err="1">
                <a:latin typeface="Arial" panose="020B0604020202020204" pitchFamily="34" charset="0"/>
                <a:cs typeface="Arial" panose="020B0604020202020204" pitchFamily="34" charset="0"/>
              </a:rPr>
              <a:t>Subjective</a:t>
            </a:r>
            <a:r>
              <a:rPr lang="de-DE" sz="1400" dirty="0">
                <a:latin typeface="Arial" panose="020B0604020202020204" pitchFamily="34" charset="0"/>
                <a:cs typeface="Arial" panose="020B0604020202020204" pitchFamily="34" charset="0"/>
              </a:rPr>
              <a:t> non-</a:t>
            </a:r>
            <a:r>
              <a:rPr lang="de-DE" sz="1400" dirty="0" err="1">
                <a:latin typeface="Arial" panose="020B0604020202020204" pitchFamily="34" charset="0"/>
                <a:cs typeface="Arial" panose="020B0604020202020204" pitchFamily="34" charset="0"/>
              </a:rPr>
              <a:t>reduced</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reward</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function</a:t>
            </a:r>
            <a:endParaRPr lang="de-DE" sz="1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feld 5">
                <a:extLst>
                  <a:ext uri="{FF2B5EF4-FFF2-40B4-BE49-F238E27FC236}">
                    <a16:creationId xmlns:a16="http://schemas.microsoft.com/office/drawing/2014/main" id="{BDA8004F-73E3-B3A1-7312-800EED80F182}"/>
                  </a:ext>
                </a:extLst>
              </p:cNvPr>
              <p:cNvSpPr txBox="1"/>
              <p:nvPr/>
            </p:nvSpPr>
            <p:spPr>
              <a:xfrm>
                <a:off x="2216579" y="1391798"/>
                <a:ext cx="5281574" cy="32694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𝜌</m:t>
                          </m:r>
                        </m:e>
                        <m:sub>
                          <m:r>
                            <a:rPr lang="de-DE" sz="1400" b="0" i="1" smtClean="0">
                              <a:latin typeface="Cambria Math" panose="02040503050406030204" pitchFamily="18" charset="0"/>
                            </a:rPr>
                            <m:t>𝛽</m:t>
                          </m:r>
                          <m:r>
                            <a:rPr lang="de-DE" sz="1400" b="0" i="1" smtClean="0">
                              <a:latin typeface="Cambria Math" panose="02040503050406030204" pitchFamily="18" charset="0"/>
                            </a:rPr>
                            <m:t>,</m:t>
                          </m:r>
                          <m:r>
                            <a:rPr lang="de-DE" sz="1400" b="0" i="1" smtClean="0">
                              <a:latin typeface="Cambria Math" panose="02040503050406030204" pitchFamily="18" charset="0"/>
                            </a:rPr>
                            <m:t>𝜎</m:t>
                          </m:r>
                        </m:sub>
                      </m:sSub>
                      <m:r>
                        <a:rPr lang="de-DE" sz="1400" b="0" i="1" smtClean="0">
                          <a:latin typeface="Cambria Math" panose="02040503050406030204" pitchFamily="18" charset="0"/>
                        </a:rPr>
                        <m:t>:</m:t>
                      </m:r>
                      <m:r>
                        <a:rPr lang="de-DE" sz="1400" b="0" i="1" smtClean="0">
                          <a:latin typeface="Cambria Math" panose="02040503050406030204" pitchFamily="18" charset="0"/>
                        </a:rPr>
                        <m:t>𝑆</m:t>
                      </m:r>
                      <m:r>
                        <a:rPr lang="de-DE" sz="1400" b="0" i="1" smtClean="0">
                          <a:latin typeface="Cambria Math" panose="02040503050406030204" pitchFamily="18" charset="0"/>
                        </a:rPr>
                        <m:t>×</m:t>
                      </m:r>
                      <m:r>
                        <a:rPr lang="de-DE" sz="1400" b="0" i="1" smtClean="0">
                          <a:latin typeface="Cambria Math" panose="02040503050406030204" pitchFamily="18" charset="0"/>
                        </a:rPr>
                        <m:t>𝐴</m:t>
                      </m:r>
                      <m:r>
                        <a:rPr lang="de-DE" sz="1400" b="0" i="1" smtClean="0">
                          <a:latin typeface="Cambria Math" panose="02040503050406030204" pitchFamily="18" charset="0"/>
                        </a:rPr>
                        <m:t>→</m:t>
                      </m:r>
                      <m:r>
                        <a:rPr lang="de-DE" sz="1400" b="0" i="1" smtClean="0">
                          <a:latin typeface="Cambria Math" panose="02040503050406030204" pitchFamily="18" charset="0"/>
                        </a:rPr>
                        <m:t>ℝ</m:t>
                      </m:r>
                      <m:r>
                        <a:rPr lang="de-DE" sz="1400" b="0" i="1" smtClean="0">
                          <a:latin typeface="Cambria Math" panose="02040503050406030204" pitchFamily="18" charset="0"/>
                        </a:rPr>
                        <m:t>, </m:t>
                      </m:r>
                      <m:d>
                        <m:dPr>
                          <m:ctrlPr>
                            <a:rPr lang="de-DE" sz="1400" b="0" i="1" smtClean="0">
                              <a:latin typeface="Cambria Math" panose="02040503050406030204" pitchFamily="18" charset="0"/>
                            </a:rPr>
                          </m:ctrlPr>
                        </m:dPr>
                        <m:e>
                          <m:r>
                            <a:rPr lang="de-DE" sz="1400" b="0" i="1" smtClean="0">
                              <a:latin typeface="Cambria Math" panose="02040503050406030204" pitchFamily="18" charset="0"/>
                            </a:rPr>
                            <m:t>𝑠</m:t>
                          </m:r>
                          <m:r>
                            <a:rPr lang="de-DE" sz="1400" b="0" i="1" smtClean="0">
                              <a:latin typeface="Cambria Math" panose="02040503050406030204" pitchFamily="18" charset="0"/>
                            </a:rPr>
                            <m:t>,</m:t>
                          </m:r>
                          <m:r>
                            <a:rPr lang="de-DE" sz="1400" b="0" i="1" smtClean="0">
                              <a:latin typeface="Cambria Math" panose="02040503050406030204" pitchFamily="18" charset="0"/>
                            </a:rPr>
                            <m:t>𝑎</m:t>
                          </m:r>
                        </m:e>
                      </m:d>
                      <m:r>
                        <a:rPr lang="de-DE" sz="1400" b="0" i="1" smtClean="0">
                          <a:latin typeface="Cambria Math" panose="02040503050406030204" pitchFamily="18" charset="0"/>
                        </a:rPr>
                        <m:t>↦</m:t>
                      </m:r>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𝜌</m:t>
                          </m:r>
                        </m:e>
                        <m:sub>
                          <m:r>
                            <a:rPr lang="de-DE" sz="1400" b="0" i="1" smtClean="0">
                              <a:latin typeface="Cambria Math" panose="02040503050406030204" pitchFamily="18" charset="0"/>
                            </a:rPr>
                            <m:t>𝛽</m:t>
                          </m:r>
                          <m:r>
                            <a:rPr lang="de-DE" sz="1400" b="0" i="1" smtClean="0">
                              <a:latin typeface="Cambria Math" panose="02040503050406030204" pitchFamily="18" charset="0"/>
                            </a:rPr>
                            <m:t>,</m:t>
                          </m:r>
                          <m:r>
                            <a:rPr lang="de-DE" sz="1400" b="0" i="1" smtClean="0">
                              <a:latin typeface="Cambria Math" panose="02040503050406030204" pitchFamily="18" charset="0"/>
                            </a:rPr>
                            <m:t>𝜎</m:t>
                          </m:r>
                        </m:sub>
                      </m:sSub>
                      <m:d>
                        <m:dPr>
                          <m:ctrlPr>
                            <a:rPr lang="de-DE" sz="1400" b="0" i="1" smtClean="0">
                              <a:latin typeface="Cambria Math" panose="02040503050406030204" pitchFamily="18" charset="0"/>
                            </a:rPr>
                          </m:ctrlPr>
                        </m:dPr>
                        <m:e>
                          <m:r>
                            <a:rPr lang="de-DE" sz="1400" b="0" i="1" smtClean="0">
                              <a:latin typeface="Cambria Math" panose="02040503050406030204" pitchFamily="18" charset="0"/>
                            </a:rPr>
                            <m:t>𝑠</m:t>
                          </m:r>
                          <m:r>
                            <a:rPr lang="de-DE" sz="1400" b="0" i="1" smtClean="0">
                              <a:latin typeface="Cambria Math" panose="02040503050406030204" pitchFamily="18" charset="0"/>
                            </a:rPr>
                            <m:t>,</m:t>
                          </m:r>
                          <m:r>
                            <a:rPr lang="de-DE" sz="1400" b="0" i="1" smtClean="0">
                              <a:latin typeface="Cambria Math" panose="02040503050406030204" pitchFamily="18" charset="0"/>
                            </a:rPr>
                            <m:t>𝑎</m:t>
                          </m:r>
                        </m:e>
                      </m:d>
                      <m:r>
                        <a:rPr lang="de-DE" sz="1400" b="0" i="1" smtClean="0">
                          <a:latin typeface="Cambria Math" panose="02040503050406030204" pitchFamily="18" charset="0"/>
                        </a:rPr>
                        <m:t>≔</m:t>
                      </m:r>
                      <m:r>
                        <a:rPr lang="de-DE" sz="1400" b="0" i="1" smtClean="0">
                          <a:solidFill>
                            <a:srgbClr val="00B050"/>
                          </a:solidFill>
                          <a:latin typeface="Cambria Math" panose="02040503050406030204" pitchFamily="18" charset="0"/>
                        </a:rPr>
                        <m:t>𝜌</m:t>
                      </m:r>
                      <m:d>
                        <m:dPr>
                          <m:ctrlPr>
                            <a:rPr lang="de-DE" sz="1400" b="0" i="1" smtClean="0">
                              <a:solidFill>
                                <a:srgbClr val="00B050"/>
                              </a:solidFill>
                              <a:latin typeface="Cambria Math" panose="02040503050406030204" pitchFamily="18" charset="0"/>
                            </a:rPr>
                          </m:ctrlPr>
                        </m:dPr>
                        <m:e>
                          <m:r>
                            <a:rPr lang="de-DE" sz="1400" b="0" i="1" smtClean="0">
                              <a:solidFill>
                                <a:srgbClr val="00B050"/>
                              </a:solidFill>
                              <a:latin typeface="Cambria Math" panose="02040503050406030204" pitchFamily="18" charset="0"/>
                            </a:rPr>
                            <m:t>𝑠</m:t>
                          </m:r>
                          <m:r>
                            <a:rPr lang="de-DE" sz="1400" b="0" i="1" smtClean="0">
                              <a:solidFill>
                                <a:srgbClr val="00B050"/>
                              </a:solidFill>
                              <a:latin typeface="Cambria Math" panose="02040503050406030204" pitchFamily="18" charset="0"/>
                            </a:rPr>
                            <m:t>,</m:t>
                          </m:r>
                          <m:r>
                            <a:rPr lang="de-DE" sz="1400" b="0" i="1" smtClean="0">
                              <a:solidFill>
                                <a:srgbClr val="00B050"/>
                              </a:solidFill>
                              <a:latin typeface="Cambria Math" panose="02040503050406030204" pitchFamily="18" charset="0"/>
                            </a:rPr>
                            <m:t>𝑎</m:t>
                          </m:r>
                        </m:e>
                      </m:d>
                      <m:r>
                        <a:rPr lang="de-DE" sz="1400" b="0" i="1" smtClean="0">
                          <a:latin typeface="Cambria Math" panose="02040503050406030204" pitchFamily="18" charset="0"/>
                        </a:rPr>
                        <m:t>+</m:t>
                      </m:r>
                      <m:sSub>
                        <m:sSubPr>
                          <m:ctrlPr>
                            <a:rPr lang="de-DE" sz="1400" b="0" i="1" smtClean="0">
                              <a:solidFill>
                                <a:schemeClr val="accent2">
                                  <a:lumMod val="75000"/>
                                </a:schemeClr>
                              </a:solidFill>
                              <a:latin typeface="Cambria Math" panose="02040503050406030204" pitchFamily="18" charset="0"/>
                            </a:rPr>
                          </m:ctrlPr>
                        </m:sSubPr>
                        <m:e>
                          <m:r>
                            <a:rPr lang="de-DE" sz="1400" b="0" i="1" smtClean="0">
                              <a:solidFill>
                                <a:schemeClr val="accent2">
                                  <a:lumMod val="75000"/>
                                </a:schemeClr>
                              </a:solidFill>
                              <a:latin typeface="Cambria Math" panose="02040503050406030204" pitchFamily="18" charset="0"/>
                            </a:rPr>
                            <m:t>𝜌</m:t>
                          </m:r>
                        </m:e>
                        <m:sub>
                          <m:r>
                            <a:rPr lang="de-DE" sz="1400" b="0" i="1" smtClean="0">
                              <a:solidFill>
                                <a:schemeClr val="accent2">
                                  <a:lumMod val="75000"/>
                                </a:schemeClr>
                              </a:solidFill>
                              <a:latin typeface="Cambria Math" panose="02040503050406030204" pitchFamily="18" charset="0"/>
                            </a:rPr>
                            <m:t>𝛽</m:t>
                          </m:r>
                        </m:sub>
                      </m:sSub>
                      <m:d>
                        <m:dPr>
                          <m:ctrlPr>
                            <a:rPr lang="de-DE" sz="1400" b="0" i="1" smtClean="0">
                              <a:solidFill>
                                <a:schemeClr val="accent2">
                                  <a:lumMod val="75000"/>
                                </a:schemeClr>
                              </a:solidFill>
                              <a:latin typeface="Cambria Math" panose="02040503050406030204" pitchFamily="18" charset="0"/>
                            </a:rPr>
                          </m:ctrlPr>
                        </m:dPr>
                        <m:e>
                          <m:r>
                            <a:rPr lang="de-DE" sz="1400" b="0" i="1" smtClean="0">
                              <a:solidFill>
                                <a:schemeClr val="accent2">
                                  <a:lumMod val="75000"/>
                                </a:schemeClr>
                              </a:solidFill>
                              <a:latin typeface="Cambria Math" panose="02040503050406030204" pitchFamily="18" charset="0"/>
                            </a:rPr>
                            <m:t>𝑠</m:t>
                          </m:r>
                          <m:r>
                            <a:rPr lang="de-DE" sz="1400" b="0" i="1" smtClean="0">
                              <a:solidFill>
                                <a:schemeClr val="accent2">
                                  <a:lumMod val="75000"/>
                                </a:schemeClr>
                              </a:solidFill>
                              <a:latin typeface="Cambria Math" panose="02040503050406030204" pitchFamily="18" charset="0"/>
                            </a:rPr>
                            <m:t>,</m:t>
                          </m:r>
                          <m:r>
                            <a:rPr lang="de-DE" sz="1400" b="0" i="1" smtClean="0">
                              <a:solidFill>
                                <a:schemeClr val="accent2">
                                  <a:lumMod val="75000"/>
                                </a:schemeClr>
                              </a:solidFill>
                              <a:latin typeface="Cambria Math" panose="02040503050406030204" pitchFamily="18" charset="0"/>
                            </a:rPr>
                            <m:t>𝑎</m:t>
                          </m:r>
                        </m:e>
                      </m:d>
                      <m:r>
                        <a:rPr lang="de-DE" sz="1400" b="0" i="1" smtClean="0">
                          <a:solidFill>
                            <a:schemeClr val="accent2">
                              <a:lumMod val="75000"/>
                            </a:schemeClr>
                          </a:solidFill>
                          <a:latin typeface="Cambria Math" panose="02040503050406030204" pitchFamily="18" charset="0"/>
                        </a:rPr>
                        <m:t>+</m:t>
                      </m:r>
                      <m:sSub>
                        <m:sSubPr>
                          <m:ctrlPr>
                            <a:rPr lang="de-DE" sz="1400" b="0" i="1" smtClean="0">
                              <a:solidFill>
                                <a:srgbClr val="FF0000"/>
                              </a:solidFill>
                              <a:latin typeface="Cambria Math" panose="02040503050406030204" pitchFamily="18" charset="0"/>
                            </a:rPr>
                          </m:ctrlPr>
                        </m:sSubPr>
                        <m:e>
                          <m:r>
                            <a:rPr lang="de-DE" sz="1400" b="0" i="1" smtClean="0">
                              <a:solidFill>
                                <a:srgbClr val="FF0000"/>
                              </a:solidFill>
                              <a:latin typeface="Cambria Math" panose="02040503050406030204" pitchFamily="18" charset="0"/>
                            </a:rPr>
                            <m:t>𝜌</m:t>
                          </m:r>
                        </m:e>
                        <m:sub>
                          <m:r>
                            <a:rPr lang="de-DE" sz="1400" b="0" i="1" smtClean="0">
                              <a:solidFill>
                                <a:srgbClr val="FF0000"/>
                              </a:solidFill>
                              <a:latin typeface="Cambria Math" panose="02040503050406030204" pitchFamily="18" charset="0"/>
                            </a:rPr>
                            <m:t>𝜎</m:t>
                          </m:r>
                        </m:sub>
                      </m:sSub>
                      <m:r>
                        <a:rPr lang="de-DE" sz="1400" b="0" i="1" smtClean="0">
                          <a:solidFill>
                            <a:srgbClr val="FF0000"/>
                          </a:solidFill>
                          <a:latin typeface="Cambria Math" panose="02040503050406030204" pitchFamily="18" charset="0"/>
                        </a:rPr>
                        <m:t>(</m:t>
                      </m:r>
                      <m:r>
                        <a:rPr lang="de-DE" sz="1400" b="0" i="1" smtClean="0">
                          <a:solidFill>
                            <a:srgbClr val="FF0000"/>
                          </a:solidFill>
                          <a:latin typeface="Cambria Math" panose="02040503050406030204" pitchFamily="18" charset="0"/>
                        </a:rPr>
                        <m:t>𝑠</m:t>
                      </m:r>
                      <m:r>
                        <a:rPr lang="de-DE" sz="1400" b="0" i="1" smtClean="0">
                          <a:solidFill>
                            <a:srgbClr val="FF0000"/>
                          </a:solidFill>
                          <a:latin typeface="Cambria Math" panose="02040503050406030204" pitchFamily="18" charset="0"/>
                        </a:rPr>
                        <m:t>,</m:t>
                      </m:r>
                      <m:r>
                        <a:rPr lang="de-DE" sz="1400" b="0" i="1" smtClean="0">
                          <a:solidFill>
                            <a:srgbClr val="FF0000"/>
                          </a:solidFill>
                          <a:latin typeface="Cambria Math" panose="02040503050406030204" pitchFamily="18" charset="0"/>
                        </a:rPr>
                        <m:t>𝑎</m:t>
                      </m:r>
                      <m:r>
                        <a:rPr lang="de-DE" sz="1400" b="0" i="1" smtClean="0">
                          <a:solidFill>
                            <a:srgbClr val="FF0000"/>
                          </a:solidFill>
                          <a:latin typeface="Cambria Math" panose="02040503050406030204" pitchFamily="18" charset="0"/>
                        </a:rPr>
                        <m:t>)</m:t>
                      </m:r>
                    </m:oMath>
                  </m:oMathPara>
                </a14:m>
                <a:endParaRPr lang="de-DE" sz="1400" dirty="0">
                  <a:latin typeface="Arial" panose="020B0604020202020204" pitchFamily="34" charset="0"/>
                  <a:cs typeface="Arial" panose="020B0604020202020204" pitchFamily="34" charset="0"/>
                </a:endParaRPr>
              </a:p>
            </p:txBody>
          </p:sp>
        </mc:Choice>
        <mc:Fallback xmlns="">
          <p:sp>
            <p:nvSpPr>
              <p:cNvPr id="6" name="Textfeld 5">
                <a:extLst>
                  <a:ext uri="{FF2B5EF4-FFF2-40B4-BE49-F238E27FC236}">
                    <a16:creationId xmlns:a16="http://schemas.microsoft.com/office/drawing/2014/main" id="{BDA8004F-73E3-B3A1-7312-800EED80F182}"/>
                  </a:ext>
                </a:extLst>
              </p:cNvPr>
              <p:cNvSpPr txBox="1">
                <a:spLocks noRot="1" noChangeAspect="1" noMove="1" noResize="1" noEditPoints="1" noAdjustHandles="1" noChangeArrowheads="1" noChangeShapeType="1" noTextEdit="1"/>
              </p:cNvSpPr>
              <p:nvPr/>
            </p:nvSpPr>
            <p:spPr>
              <a:xfrm>
                <a:off x="2216579" y="1391798"/>
                <a:ext cx="5281574" cy="326949"/>
              </a:xfrm>
              <a:prstGeom prst="rect">
                <a:avLst/>
              </a:prstGeom>
              <a:blipFill>
                <a:blip r:embed="rId2"/>
                <a:stretch>
                  <a:fillRect b="-3704"/>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9A7BF60D-6E5E-A33D-AA46-0CC5D77232A7}"/>
                  </a:ext>
                </a:extLst>
              </p:cNvPr>
              <p:cNvSpPr txBox="1"/>
              <p:nvPr/>
            </p:nvSpPr>
            <p:spPr>
              <a:xfrm>
                <a:off x="1858816" y="1854757"/>
                <a:ext cx="5997100" cy="237950"/>
              </a:xfrm>
              <a:prstGeom prst="rect">
                <a:avLst/>
              </a:prstGeom>
              <a:noFill/>
            </p:spPr>
            <p:txBody>
              <a:bodyPr wrap="square" lIns="0" tIns="0" rIns="0" bIns="0" rtlCol="0">
                <a:spAutoFit/>
              </a:bodyPr>
              <a:lstStyle/>
              <a:p>
                <a:r>
                  <a:rPr lang="de-DE" sz="1400" dirty="0">
                    <a:solidFill>
                      <a:srgbClr val="00B050"/>
                    </a:solidFill>
                    <a:latin typeface="Arial" panose="020B0604020202020204" pitchFamily="34" charset="0"/>
                    <a:cs typeface="Arial" panose="020B0604020202020204" pitchFamily="34" charset="0"/>
                  </a:rPr>
                  <a:t>Accuray </a:t>
                </a:r>
                <a:r>
                  <a:rPr lang="de-DE" sz="1400" dirty="0" err="1">
                    <a:solidFill>
                      <a:srgbClr val="00B050"/>
                    </a:solidFill>
                    <a:latin typeface="Arial" panose="020B0604020202020204" pitchFamily="34" charset="0"/>
                    <a:cs typeface="Arial" panose="020B0604020202020204" pitchFamily="34" charset="0"/>
                  </a:rPr>
                  <a:t>reward </a:t>
                </a:r>
                <a14:m>
                  <m:oMath xmlns:m="http://schemas.openxmlformats.org/officeDocument/2006/math">
                    <m:r>
                      <a:rPr lang="de-DE" sz="1400" i="1" smtClean="0">
                        <a:solidFill>
                          <a:srgbClr val="00B050"/>
                        </a:solidFill>
                        <a:latin typeface="Cambria Math" panose="02040503050406030204" pitchFamily="18" charset="0"/>
                      </a:rPr>
                      <m:t>𝜌</m:t>
                    </m:r>
                    <m:d>
                      <m:dPr>
                        <m:ctrlPr>
                          <a:rPr lang="de-DE" sz="1400" i="1">
                            <a:solidFill>
                              <a:srgbClr val="00B050"/>
                            </a:solidFill>
                            <a:latin typeface="Cambria Math" panose="02040503050406030204" pitchFamily="18" charset="0"/>
                          </a:rPr>
                        </m:ctrlPr>
                      </m:dPr>
                      <m:e>
                        <m:r>
                          <a:rPr lang="de-DE" sz="1400" i="1">
                            <a:solidFill>
                              <a:srgbClr val="00B050"/>
                            </a:solidFill>
                            <a:latin typeface="Cambria Math" panose="02040503050406030204" pitchFamily="18" charset="0"/>
                          </a:rPr>
                          <m:t>𝑠</m:t>
                        </m:r>
                        <m:r>
                          <a:rPr lang="de-DE" sz="1400" i="1">
                            <a:solidFill>
                              <a:srgbClr val="00B050"/>
                            </a:solidFill>
                            <a:latin typeface="Cambria Math" panose="02040503050406030204" pitchFamily="18" charset="0"/>
                          </a:rPr>
                          <m:t>,</m:t>
                        </m:r>
                        <m:r>
                          <a:rPr lang="de-DE" sz="1400" i="1">
                            <a:solidFill>
                              <a:srgbClr val="00B050"/>
                            </a:solidFill>
                            <a:latin typeface="Cambria Math" panose="02040503050406030204" pitchFamily="18" charset="0"/>
                          </a:rPr>
                          <m:t>𝑎</m:t>
                        </m:r>
                      </m:e>
                    </m:d>
                    <m:r>
                      <m:rPr>
                        <m:nor/>
                      </m:rPr>
                      <a:rPr lang="de-DE" sz="1400" b="0" i="0" smtClean="0">
                        <a:solidFill>
                          <a:srgbClr val="00B050"/>
                        </a:solidFill>
                        <a:latin typeface="Cambria Math" panose="02040503050406030204" pitchFamily="18" charset="0"/>
                      </a:rPr>
                      <m:t>          </m:t>
                    </m:r>
                    <m:r>
                      <m:rPr>
                        <m:nor/>
                      </m:rPr>
                      <a:rPr lang="de-DE" sz="1400" i="0" dirty="0" smtClean="0">
                        <a:solidFill>
                          <a:schemeClr val="accent2">
                            <a:lumMod val="75000"/>
                          </a:schemeClr>
                        </a:solidFill>
                        <a:latin typeface="Arial" panose="020B0604020202020204" pitchFamily="34" charset="0"/>
                        <a:cs typeface="Arial" panose="020B0604020202020204" pitchFamily="34" charset="0"/>
                      </a:rPr>
                      <m:t>Imbalance</m:t>
                    </m:r>
                    <m:r>
                      <m:rPr>
                        <m:nor/>
                      </m:rPr>
                      <a:rPr lang="de-DE" sz="1400" i="0" dirty="0" smtClean="0">
                        <a:solidFill>
                          <a:schemeClr val="accent2">
                            <a:lumMod val="75000"/>
                          </a:schemeClr>
                        </a:solidFill>
                        <a:latin typeface="Arial" panose="020B0604020202020204" pitchFamily="34" charset="0"/>
                        <a:cs typeface="Arial" panose="020B0604020202020204" pitchFamily="34" charset="0"/>
                      </a:rPr>
                      <m:t> </m:t>
                    </m:r>
                    <m:r>
                      <m:rPr>
                        <m:nor/>
                      </m:rPr>
                      <a:rPr lang="de-DE" sz="1400" i="0" dirty="0" smtClean="0">
                        <a:solidFill>
                          <a:schemeClr val="accent2">
                            <a:lumMod val="75000"/>
                          </a:schemeClr>
                        </a:solidFill>
                        <a:latin typeface="Arial" panose="020B0604020202020204" pitchFamily="34" charset="0"/>
                        <a:cs typeface="Arial" panose="020B0604020202020204" pitchFamily="34" charset="0"/>
                      </a:rPr>
                      <m:t>cost</m:t>
                    </m:r>
                    <m:r>
                      <m:rPr>
                        <m:nor/>
                      </m:rPr>
                      <a:rPr lang="de-DE" sz="1400" i="0" dirty="0" smtClean="0">
                        <a:solidFill>
                          <a:schemeClr val="accent2">
                            <a:lumMod val="75000"/>
                          </a:schemeClr>
                        </a:solidFill>
                        <a:latin typeface="Arial" panose="020B0604020202020204" pitchFamily="34" charset="0"/>
                        <a:cs typeface="Arial" panose="020B0604020202020204" pitchFamily="34" charset="0"/>
                      </a:rPr>
                      <m:t> </m:t>
                    </m:r>
                    <m:sSub>
                      <m:sSubPr>
                        <m:ctrlPr>
                          <a:rPr lang="de-DE" sz="1400" i="1">
                            <a:solidFill>
                              <a:schemeClr val="accent2">
                                <a:lumMod val="75000"/>
                              </a:schemeClr>
                            </a:solidFill>
                            <a:latin typeface="Cambria Math" panose="02040503050406030204" pitchFamily="18" charset="0"/>
                          </a:rPr>
                        </m:ctrlPr>
                      </m:sSubPr>
                      <m:e>
                        <m:r>
                          <a:rPr lang="de-DE" sz="1400" i="1">
                            <a:solidFill>
                              <a:schemeClr val="accent2">
                                <a:lumMod val="75000"/>
                              </a:schemeClr>
                            </a:solidFill>
                            <a:latin typeface="Cambria Math" panose="02040503050406030204" pitchFamily="18" charset="0"/>
                          </a:rPr>
                          <m:t>𝜌</m:t>
                        </m:r>
                      </m:e>
                      <m:sub>
                        <m:r>
                          <a:rPr lang="de-DE" sz="1400" i="1">
                            <a:solidFill>
                              <a:schemeClr val="accent2">
                                <a:lumMod val="75000"/>
                              </a:schemeClr>
                            </a:solidFill>
                            <a:latin typeface="Cambria Math" panose="02040503050406030204" pitchFamily="18" charset="0"/>
                          </a:rPr>
                          <m:t>𝛽</m:t>
                        </m:r>
                      </m:sub>
                    </m:sSub>
                    <m:d>
                      <m:dPr>
                        <m:ctrlPr>
                          <a:rPr lang="de-DE" sz="1400" i="1">
                            <a:solidFill>
                              <a:schemeClr val="accent2">
                                <a:lumMod val="75000"/>
                              </a:schemeClr>
                            </a:solidFill>
                            <a:latin typeface="Cambria Math" panose="02040503050406030204" pitchFamily="18" charset="0"/>
                          </a:rPr>
                        </m:ctrlPr>
                      </m:dPr>
                      <m:e>
                        <m:r>
                          <a:rPr lang="de-DE" sz="1400" i="1">
                            <a:solidFill>
                              <a:schemeClr val="accent2">
                                <a:lumMod val="75000"/>
                              </a:schemeClr>
                            </a:solidFill>
                            <a:latin typeface="Cambria Math" panose="02040503050406030204" pitchFamily="18" charset="0"/>
                          </a:rPr>
                          <m:t>𝑠</m:t>
                        </m:r>
                        <m:r>
                          <a:rPr lang="de-DE" sz="1400" i="1">
                            <a:solidFill>
                              <a:schemeClr val="accent2">
                                <a:lumMod val="75000"/>
                              </a:schemeClr>
                            </a:solidFill>
                            <a:latin typeface="Cambria Math" panose="02040503050406030204" pitchFamily="18" charset="0"/>
                          </a:rPr>
                          <m:t>,</m:t>
                        </m:r>
                        <m:r>
                          <a:rPr lang="de-DE" sz="1400" i="1">
                            <a:solidFill>
                              <a:schemeClr val="accent2">
                                <a:lumMod val="75000"/>
                              </a:schemeClr>
                            </a:solidFill>
                            <a:latin typeface="Cambria Math" panose="02040503050406030204" pitchFamily="18" charset="0"/>
                          </a:rPr>
                          <m:t>𝑎</m:t>
                        </m:r>
                      </m:e>
                    </m:d>
                    <m:r>
                      <a:rPr lang="de-DE" sz="1400" i="1">
                        <a:solidFill>
                          <a:schemeClr val="accent2">
                            <a:lumMod val="75000"/>
                          </a:schemeClr>
                        </a:solidFill>
                        <a:latin typeface="Cambria Math" panose="02040503050406030204" pitchFamily="18" charset="0"/>
                      </a:rPr>
                      <m:t>≔−</m:t>
                    </m:r>
                    <m:r>
                      <a:rPr lang="de-DE" sz="1400" i="1">
                        <a:solidFill>
                          <a:schemeClr val="accent2">
                            <a:lumMod val="75000"/>
                          </a:schemeClr>
                        </a:solidFill>
                        <a:latin typeface="Cambria Math" panose="02040503050406030204" pitchFamily="18" charset="0"/>
                      </a:rPr>
                      <m:t>𝛽</m:t>
                    </m:r>
                    <m:r>
                      <a:rPr lang="de-DE" sz="1400" i="1">
                        <a:solidFill>
                          <a:schemeClr val="accent2">
                            <a:lumMod val="75000"/>
                          </a:schemeClr>
                        </a:solidFill>
                        <a:latin typeface="Cambria Math" panose="02040503050406030204" pitchFamily="18" charset="0"/>
                      </a:rPr>
                      <m:t> ⋅|</m:t>
                    </m:r>
                    <m:sSup>
                      <m:sSupPr>
                        <m:ctrlPr>
                          <a:rPr lang="de-DE" sz="1400" i="1">
                            <a:solidFill>
                              <a:schemeClr val="accent2">
                                <a:lumMod val="75000"/>
                              </a:schemeClr>
                            </a:solidFill>
                            <a:latin typeface="Cambria Math" panose="02040503050406030204" pitchFamily="18" charset="0"/>
                          </a:rPr>
                        </m:ctrlPr>
                      </m:sSupPr>
                      <m:e>
                        <m:r>
                          <a:rPr lang="de-DE" sz="1400" i="1">
                            <a:solidFill>
                              <a:schemeClr val="accent2">
                                <a:lumMod val="75000"/>
                              </a:schemeClr>
                            </a:solidFill>
                            <a:latin typeface="Cambria Math" panose="02040503050406030204" pitchFamily="18" charset="0"/>
                          </a:rPr>
                          <m:t>𝑠</m:t>
                        </m:r>
                      </m:e>
                      <m:sup>
                        <m:r>
                          <a:rPr lang="de-DE" sz="1400" i="1">
                            <a:solidFill>
                              <a:schemeClr val="accent2">
                                <a:lumMod val="75000"/>
                              </a:schemeClr>
                            </a:solidFill>
                            <a:latin typeface="Cambria Math" panose="02040503050406030204" pitchFamily="18" charset="0"/>
                          </a:rPr>
                          <m:t>4</m:t>
                        </m:r>
                      </m:sup>
                    </m:sSup>
                    <m:r>
                      <a:rPr lang="de-DE" sz="1400" i="1">
                        <a:solidFill>
                          <a:schemeClr val="accent2">
                            <a:lumMod val="75000"/>
                          </a:schemeClr>
                        </a:solidFill>
                        <a:latin typeface="Cambria Math" panose="02040503050406030204" pitchFamily="18" charset="0"/>
                      </a:rPr>
                      <m:t>+</m:t>
                    </m:r>
                    <m:r>
                      <m:rPr>
                        <m:sty m:val="p"/>
                      </m:rPr>
                      <a:rPr lang="de-DE" sz="1400">
                        <a:solidFill>
                          <a:schemeClr val="accent2">
                            <a:lumMod val="75000"/>
                          </a:schemeClr>
                        </a:solidFill>
                        <a:latin typeface="Cambria Math" panose="02040503050406030204" pitchFamily="18" charset="0"/>
                      </a:rPr>
                      <m:t>Δ</m:t>
                    </m:r>
                    <m:r>
                      <a:rPr lang="de-DE" sz="1400" i="1">
                        <a:solidFill>
                          <a:schemeClr val="accent2">
                            <a:lumMod val="75000"/>
                          </a:schemeClr>
                        </a:solidFill>
                        <a:latin typeface="Cambria Math" panose="02040503050406030204" pitchFamily="18" charset="0"/>
                      </a:rPr>
                      <m:t>(</m:t>
                    </m:r>
                    <m:r>
                      <a:rPr lang="de-DE" sz="1400" i="1">
                        <a:solidFill>
                          <a:schemeClr val="accent2">
                            <a:lumMod val="75000"/>
                          </a:schemeClr>
                        </a:solidFill>
                        <a:latin typeface="Cambria Math" panose="02040503050406030204" pitchFamily="18" charset="0"/>
                      </a:rPr>
                      <m:t>𝑎</m:t>
                    </m:r>
                    <m:r>
                      <a:rPr lang="de-DE" sz="1400" i="1">
                        <a:solidFill>
                          <a:schemeClr val="accent2">
                            <a:lumMod val="75000"/>
                          </a:schemeClr>
                        </a:solidFill>
                        <a:latin typeface="Cambria Math" panose="02040503050406030204" pitchFamily="18" charset="0"/>
                      </a:rPr>
                      <m:t>)|</m:t>
                    </m:r>
                  </m:oMath>
                </a14:m>
                <a:endParaRPr lang="de-DE" sz="1400" dirty="0">
                  <a:latin typeface="Arial" panose="020B0604020202020204" pitchFamily="34" charset="0"/>
                  <a:cs typeface="Arial" panose="020B0604020202020204" pitchFamily="34" charset="0"/>
                </a:endParaRPr>
              </a:p>
            </p:txBody>
          </p:sp>
        </mc:Choice>
        <mc:Fallback xmlns="">
          <p:sp>
            <p:nvSpPr>
              <p:cNvPr id="7" name="Textfeld 6">
                <a:extLst>
                  <a:ext uri="{FF2B5EF4-FFF2-40B4-BE49-F238E27FC236}">
                    <a16:creationId xmlns:a16="http://schemas.microsoft.com/office/drawing/2014/main" id="{9A7BF60D-6E5E-A33D-AA46-0CC5D77232A7}"/>
                  </a:ext>
                </a:extLst>
              </p:cNvPr>
              <p:cNvSpPr txBox="1">
                <a:spLocks noRot="1" noChangeAspect="1" noMove="1" noResize="1" noEditPoints="1" noAdjustHandles="1" noChangeArrowheads="1" noChangeShapeType="1" noTextEdit="1"/>
              </p:cNvSpPr>
              <p:nvPr/>
            </p:nvSpPr>
            <p:spPr>
              <a:xfrm>
                <a:off x="1858816" y="1854757"/>
                <a:ext cx="5997100" cy="237950"/>
              </a:xfrm>
              <a:prstGeom prst="rect">
                <a:avLst/>
              </a:prstGeom>
              <a:blipFill>
                <a:blip r:embed="rId3"/>
                <a:stretch>
                  <a:fillRect l="-1829" t="-23077" b="-35897"/>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F3208D30-2E26-5514-C31B-6F39AD82E9D9}"/>
                  </a:ext>
                </a:extLst>
              </p:cNvPr>
              <p:cNvSpPr txBox="1"/>
              <p:nvPr/>
            </p:nvSpPr>
            <p:spPr>
              <a:xfrm>
                <a:off x="2062563" y="2247686"/>
                <a:ext cx="501887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de-DE" sz="1400" i="0" dirty="0" smtClean="0">
                          <a:solidFill>
                            <a:srgbClr val="FF0000"/>
                          </a:solidFill>
                          <a:latin typeface="Arial" panose="020B0604020202020204" pitchFamily="34" charset="0"/>
                          <a:cs typeface="Arial" panose="020B0604020202020204" pitchFamily="34" charset="0"/>
                        </a:rPr>
                        <m:t>Switch</m:t>
                      </m:r>
                      <m:r>
                        <m:rPr>
                          <m:nor/>
                        </m:rPr>
                        <a:rPr lang="de-DE" sz="1400" i="0" dirty="0" smtClean="0">
                          <a:solidFill>
                            <a:srgbClr val="FF0000"/>
                          </a:solidFill>
                          <a:latin typeface="Arial" panose="020B0604020202020204" pitchFamily="34" charset="0"/>
                          <a:cs typeface="Arial" panose="020B0604020202020204" pitchFamily="34" charset="0"/>
                        </a:rPr>
                        <m:t> </m:t>
                      </m:r>
                      <m:r>
                        <m:rPr>
                          <m:nor/>
                        </m:rPr>
                        <a:rPr lang="de-DE" sz="1400" i="0" dirty="0" smtClean="0">
                          <a:solidFill>
                            <a:srgbClr val="FF0000"/>
                          </a:solidFill>
                          <a:latin typeface="Arial" panose="020B0604020202020204" pitchFamily="34" charset="0"/>
                          <a:cs typeface="Arial" panose="020B0604020202020204" pitchFamily="34" charset="0"/>
                        </a:rPr>
                        <m:t>cost</m:t>
                      </m:r>
                      <m:r>
                        <m:rPr>
                          <m:nor/>
                        </m:rPr>
                        <a:rPr lang="de-DE" sz="1400" b="0" i="0" dirty="0" smtClean="0">
                          <a:solidFill>
                            <a:srgbClr val="FF0000"/>
                          </a:solidFill>
                          <a:latin typeface="Arial" panose="020B0604020202020204" pitchFamily="34" charset="0"/>
                          <a:cs typeface="Arial" panose="020B0604020202020204" pitchFamily="34" charset="0"/>
                        </a:rPr>
                        <m:t> </m:t>
                      </m:r>
                      <m:sSub>
                        <m:sSubPr>
                          <m:ctrlPr>
                            <a:rPr lang="de-DE" sz="1400" i="1" smtClean="0">
                              <a:solidFill>
                                <a:srgbClr val="FF0000"/>
                              </a:solidFill>
                              <a:latin typeface="Cambria Math" panose="02040503050406030204" pitchFamily="18" charset="0"/>
                            </a:rPr>
                          </m:ctrlPr>
                        </m:sSubPr>
                        <m:e>
                          <m:r>
                            <a:rPr lang="de-DE" sz="1400" i="1" smtClean="0">
                              <a:solidFill>
                                <a:srgbClr val="FF0000"/>
                              </a:solidFill>
                              <a:latin typeface="Cambria Math" panose="02040503050406030204" pitchFamily="18" charset="0"/>
                            </a:rPr>
                            <m:t>𝜌</m:t>
                          </m:r>
                        </m:e>
                        <m:sub>
                          <m:r>
                            <a:rPr lang="de-DE" sz="1400" b="0" i="1" smtClean="0">
                              <a:solidFill>
                                <a:srgbClr val="FF0000"/>
                              </a:solidFill>
                              <a:latin typeface="Cambria Math" panose="02040503050406030204" pitchFamily="18" charset="0"/>
                            </a:rPr>
                            <m:t>𝜎</m:t>
                          </m:r>
                        </m:sub>
                      </m:sSub>
                      <m:d>
                        <m:dPr>
                          <m:ctrlPr>
                            <a:rPr lang="de-DE" sz="1400" i="1">
                              <a:solidFill>
                                <a:srgbClr val="FF0000"/>
                              </a:solidFill>
                              <a:latin typeface="Cambria Math" panose="02040503050406030204" pitchFamily="18" charset="0"/>
                            </a:rPr>
                          </m:ctrlPr>
                        </m:dPr>
                        <m:e>
                          <m:r>
                            <a:rPr lang="de-DE" sz="1400" i="1">
                              <a:solidFill>
                                <a:srgbClr val="FF0000"/>
                              </a:solidFill>
                              <a:latin typeface="Cambria Math" panose="02040503050406030204" pitchFamily="18" charset="0"/>
                            </a:rPr>
                            <m:t>𝑠</m:t>
                          </m:r>
                          <m:r>
                            <a:rPr lang="de-DE" sz="1400" i="1">
                              <a:solidFill>
                                <a:srgbClr val="FF0000"/>
                              </a:solidFill>
                              <a:latin typeface="Cambria Math" panose="02040503050406030204" pitchFamily="18" charset="0"/>
                            </a:rPr>
                            <m:t>,</m:t>
                          </m:r>
                          <m:r>
                            <a:rPr lang="de-DE" sz="1400" i="1">
                              <a:solidFill>
                                <a:srgbClr val="FF0000"/>
                              </a:solidFill>
                              <a:latin typeface="Cambria Math" panose="02040503050406030204" pitchFamily="18" charset="0"/>
                            </a:rPr>
                            <m:t>𝑎</m:t>
                          </m:r>
                        </m:e>
                      </m:d>
                      <m:r>
                        <a:rPr lang="de-DE" sz="1400" b="0" i="1" smtClean="0">
                          <a:solidFill>
                            <a:srgbClr val="FF0000"/>
                          </a:solidFill>
                          <a:latin typeface="Cambria Math" panose="02040503050406030204" pitchFamily="18" charset="0"/>
                        </a:rPr>
                        <m:t>≔−</m:t>
                      </m:r>
                      <m:r>
                        <a:rPr lang="de-DE" sz="1400" i="1">
                          <a:solidFill>
                            <a:srgbClr val="FF0000"/>
                          </a:solidFill>
                          <a:latin typeface="Cambria Math" panose="02040503050406030204" pitchFamily="18" charset="0"/>
                        </a:rPr>
                        <m:t>𝜎</m:t>
                      </m:r>
                      <m:r>
                        <a:rPr lang="de-DE" sz="1400" i="1">
                          <a:solidFill>
                            <a:srgbClr val="FF0000"/>
                          </a:solidFill>
                          <a:latin typeface="Cambria Math" panose="02040503050406030204" pitchFamily="18" charset="0"/>
                        </a:rPr>
                        <m:t>⋅</m:t>
                      </m:r>
                      <m:d>
                        <m:dPr>
                          <m:begChr m:val="⟦"/>
                          <m:endChr m:val="⟧"/>
                          <m:ctrlPr>
                            <a:rPr lang="de-DE" sz="1400" b="0" i="1" smtClean="0">
                              <a:solidFill>
                                <a:srgbClr val="FF0000"/>
                              </a:solidFill>
                              <a:latin typeface="Cambria Math" panose="02040503050406030204" pitchFamily="18" charset="0"/>
                            </a:rPr>
                          </m:ctrlPr>
                        </m:dPr>
                        <m:e>
                          <m:d>
                            <m:dPr>
                              <m:ctrlPr>
                                <a:rPr lang="de-DE" sz="1400" b="0" i="1" smtClean="0">
                                  <a:solidFill>
                                    <a:srgbClr val="FF0000"/>
                                  </a:solidFill>
                                  <a:latin typeface="Cambria Math" panose="02040503050406030204" pitchFamily="18" charset="0"/>
                                </a:rPr>
                              </m:ctrlPr>
                            </m:dPr>
                            <m:e>
                              <m:sSup>
                                <m:sSupPr>
                                  <m:ctrlPr>
                                    <a:rPr lang="de-DE" sz="1400" b="0" i="1" smtClean="0">
                                      <a:solidFill>
                                        <a:srgbClr val="FF0000"/>
                                      </a:solidFill>
                                      <a:latin typeface="Cambria Math" panose="02040503050406030204" pitchFamily="18" charset="0"/>
                                    </a:rPr>
                                  </m:ctrlPr>
                                </m:sSupPr>
                                <m:e>
                                  <m:r>
                                    <a:rPr lang="de-DE" sz="1400" b="0" i="1" smtClean="0">
                                      <a:solidFill>
                                        <a:srgbClr val="FF0000"/>
                                      </a:solidFill>
                                      <a:latin typeface="Cambria Math" panose="02040503050406030204" pitchFamily="18" charset="0"/>
                                    </a:rPr>
                                    <m:t>𝑠</m:t>
                                  </m:r>
                                </m:e>
                                <m:sup>
                                  <m:r>
                                    <a:rPr lang="de-DE" sz="1400" b="0" i="1" smtClean="0">
                                      <a:solidFill>
                                        <a:srgbClr val="FF0000"/>
                                      </a:solidFill>
                                      <a:latin typeface="Cambria Math" panose="02040503050406030204" pitchFamily="18" charset="0"/>
                                    </a:rPr>
                                    <m:t>3</m:t>
                                  </m:r>
                                </m:sup>
                              </m:sSup>
                              <m:r>
                                <a:rPr lang="de-DE" sz="1400" b="0" i="1" smtClean="0">
                                  <a:solidFill>
                                    <a:srgbClr val="FF0000"/>
                                  </a:solidFill>
                                  <a:latin typeface="Cambria Math" panose="02040503050406030204" pitchFamily="18" charset="0"/>
                                </a:rPr>
                                <m:t>=1∧</m:t>
                              </m:r>
                              <m:r>
                                <a:rPr lang="de-DE" sz="1400" b="0" i="1" smtClean="0">
                                  <a:solidFill>
                                    <a:srgbClr val="FF0000"/>
                                  </a:solidFill>
                                  <a:latin typeface="Cambria Math" panose="02040503050406030204" pitchFamily="18" charset="0"/>
                                </a:rPr>
                                <m:t>𝑎</m:t>
                              </m:r>
                              <m:r>
                                <a:rPr lang="de-DE" sz="1400" b="0" i="1" smtClean="0">
                                  <a:solidFill>
                                    <a:srgbClr val="FF0000"/>
                                  </a:solidFill>
                                  <a:latin typeface="Cambria Math" panose="02040503050406030204" pitchFamily="18" charset="0"/>
                                </a:rPr>
                                <m:t>∈</m:t>
                              </m:r>
                              <m:sSup>
                                <m:sSupPr>
                                  <m:ctrlPr>
                                    <a:rPr lang="de-DE" sz="1400" b="0" i="1" smtClean="0">
                                      <a:solidFill>
                                        <a:srgbClr val="FF0000"/>
                                      </a:solidFill>
                                      <a:latin typeface="Cambria Math" panose="02040503050406030204" pitchFamily="18" charset="0"/>
                                    </a:rPr>
                                  </m:ctrlPr>
                                </m:sSupPr>
                                <m:e>
                                  <m:r>
                                    <a:rPr lang="de-DE" sz="1400" b="0" i="1" smtClean="0">
                                      <a:solidFill>
                                        <a:srgbClr val="FF0000"/>
                                      </a:solidFill>
                                      <a:latin typeface="Cambria Math" panose="02040503050406030204" pitchFamily="18" charset="0"/>
                                    </a:rPr>
                                    <m:t>𝐴</m:t>
                                  </m:r>
                                </m:e>
                                <m:sup>
                                  <m:r>
                                    <a:rPr lang="de-DE" sz="1400" b="0" i="1" smtClean="0">
                                      <a:solidFill>
                                        <a:srgbClr val="FF0000"/>
                                      </a:solidFill>
                                      <a:latin typeface="Cambria Math" panose="02040503050406030204" pitchFamily="18" charset="0"/>
                                    </a:rPr>
                                    <m:t>2</m:t>
                                  </m:r>
                                </m:sup>
                              </m:sSup>
                            </m:e>
                          </m:d>
                          <m:r>
                            <a:rPr lang="de-DE" sz="1400" b="0" i="1" smtClean="0">
                              <a:solidFill>
                                <a:srgbClr val="FF0000"/>
                              </a:solidFill>
                              <a:latin typeface="Cambria Math" panose="02040503050406030204" pitchFamily="18" charset="0"/>
                            </a:rPr>
                            <m:t>∨</m:t>
                          </m:r>
                          <m:d>
                            <m:dPr>
                              <m:ctrlPr>
                                <a:rPr lang="de-DE" sz="1400" b="0" i="1" smtClean="0">
                                  <a:solidFill>
                                    <a:srgbClr val="FF0000"/>
                                  </a:solidFill>
                                  <a:latin typeface="Cambria Math" panose="02040503050406030204" pitchFamily="18" charset="0"/>
                                </a:rPr>
                              </m:ctrlPr>
                            </m:dPr>
                            <m:e>
                              <m:sSup>
                                <m:sSupPr>
                                  <m:ctrlPr>
                                    <a:rPr lang="de-DE" sz="1400" b="0" i="1" smtClean="0">
                                      <a:solidFill>
                                        <a:srgbClr val="FF0000"/>
                                      </a:solidFill>
                                      <a:latin typeface="Cambria Math" panose="02040503050406030204" pitchFamily="18" charset="0"/>
                                    </a:rPr>
                                  </m:ctrlPr>
                                </m:sSupPr>
                                <m:e>
                                  <m:r>
                                    <a:rPr lang="de-DE" sz="1400" b="0" i="1" smtClean="0">
                                      <a:solidFill>
                                        <a:srgbClr val="FF0000"/>
                                      </a:solidFill>
                                      <a:latin typeface="Cambria Math" panose="02040503050406030204" pitchFamily="18" charset="0"/>
                                    </a:rPr>
                                    <m:t>𝑠</m:t>
                                  </m:r>
                                </m:e>
                                <m:sup>
                                  <m:r>
                                    <a:rPr lang="de-DE" sz="1400" b="0" i="1" smtClean="0">
                                      <a:solidFill>
                                        <a:srgbClr val="FF0000"/>
                                      </a:solidFill>
                                      <a:latin typeface="Cambria Math" panose="02040503050406030204" pitchFamily="18" charset="0"/>
                                    </a:rPr>
                                    <m:t>3</m:t>
                                  </m:r>
                                </m:sup>
                              </m:sSup>
                              <m:r>
                                <a:rPr lang="de-DE" sz="1400" b="0" i="1" smtClean="0">
                                  <a:solidFill>
                                    <a:srgbClr val="FF0000"/>
                                  </a:solidFill>
                                  <a:latin typeface="Cambria Math" panose="02040503050406030204" pitchFamily="18" charset="0"/>
                                </a:rPr>
                                <m:t>=2∧</m:t>
                              </m:r>
                              <m:sSup>
                                <m:sSupPr>
                                  <m:ctrlPr>
                                    <a:rPr lang="de-DE" sz="1400" b="0" i="1" smtClean="0">
                                      <a:solidFill>
                                        <a:srgbClr val="FF0000"/>
                                      </a:solidFill>
                                      <a:latin typeface="Cambria Math" panose="02040503050406030204" pitchFamily="18" charset="0"/>
                                    </a:rPr>
                                  </m:ctrlPr>
                                </m:sSupPr>
                                <m:e>
                                  <m:r>
                                    <a:rPr lang="de-DE" sz="1400" b="0" i="1" smtClean="0">
                                      <a:solidFill>
                                        <a:srgbClr val="FF0000"/>
                                      </a:solidFill>
                                      <a:latin typeface="Cambria Math" panose="02040503050406030204" pitchFamily="18" charset="0"/>
                                    </a:rPr>
                                    <m:t>𝐴</m:t>
                                  </m:r>
                                </m:e>
                                <m:sup>
                                  <m:r>
                                    <a:rPr lang="de-DE" sz="1400" b="0" i="1" smtClean="0">
                                      <a:solidFill>
                                        <a:srgbClr val="FF0000"/>
                                      </a:solidFill>
                                      <a:latin typeface="Cambria Math" panose="02040503050406030204" pitchFamily="18" charset="0"/>
                                    </a:rPr>
                                    <m:t>1</m:t>
                                  </m:r>
                                </m:sup>
                              </m:sSup>
                            </m:e>
                          </m:d>
                          <m:r>
                            <a:rPr lang="de-DE" sz="1400" b="0" i="1" smtClean="0">
                              <a:solidFill>
                                <a:srgbClr val="FF0000"/>
                              </a:solidFill>
                              <a:latin typeface="Cambria Math" panose="02040503050406030204" pitchFamily="18" charset="0"/>
                            </a:rPr>
                            <m:t> </m:t>
                          </m:r>
                        </m:e>
                      </m:d>
                    </m:oMath>
                  </m:oMathPara>
                </a14:m>
                <a:endParaRPr lang="de-DE" sz="1400" dirty="0">
                  <a:latin typeface="Arial" panose="020B0604020202020204" pitchFamily="34" charset="0"/>
                  <a:cs typeface="Arial" panose="020B0604020202020204" pitchFamily="34" charset="0"/>
                </a:endParaRPr>
              </a:p>
            </p:txBody>
          </p:sp>
        </mc:Choice>
        <mc:Fallback xmlns="">
          <p:sp>
            <p:nvSpPr>
              <p:cNvPr id="11" name="Textfeld 10">
                <a:extLst>
                  <a:ext uri="{FF2B5EF4-FFF2-40B4-BE49-F238E27FC236}">
                    <a16:creationId xmlns:a16="http://schemas.microsoft.com/office/drawing/2014/main" id="{F3208D30-2E26-5514-C31B-6F39AD82E9D9}"/>
                  </a:ext>
                </a:extLst>
              </p:cNvPr>
              <p:cNvSpPr txBox="1">
                <a:spLocks noRot="1" noChangeAspect="1" noMove="1" noResize="1" noEditPoints="1" noAdjustHandles="1" noChangeArrowheads="1" noChangeShapeType="1" noTextEdit="1"/>
              </p:cNvSpPr>
              <p:nvPr/>
            </p:nvSpPr>
            <p:spPr>
              <a:xfrm>
                <a:off x="2062563" y="2247686"/>
                <a:ext cx="5018873" cy="215444"/>
              </a:xfrm>
              <a:prstGeom prst="rect">
                <a:avLst/>
              </a:prstGeom>
              <a:blipFill>
                <a:blip r:embed="rId4"/>
                <a:stretch>
                  <a:fillRect l="-364" b="-25714"/>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2B21CF57-8C54-64AA-0038-DD3122022BB6}"/>
                  </a:ext>
                </a:extLst>
              </p:cNvPr>
              <p:cNvSpPr txBox="1"/>
              <p:nvPr/>
            </p:nvSpPr>
            <p:spPr>
              <a:xfrm>
                <a:off x="731648" y="2631616"/>
                <a:ext cx="3018199" cy="307777"/>
              </a:xfrm>
              <a:prstGeom prst="rect">
                <a:avLst/>
              </a:prstGeom>
              <a:noFill/>
            </p:spPr>
            <p:txBody>
              <a:bodyPr wrap="none" rtlCol="0">
                <a:spAutoFit/>
              </a:bodyPr>
              <a:lstStyle/>
              <a:p>
                <a:r>
                  <a:rPr lang="de-DE" sz="1400" dirty="0">
                    <a:latin typeface="Arial" panose="020B0604020202020204" pitchFamily="34" charset="0"/>
                    <a:cs typeface="Arial" panose="020B0604020202020204" pitchFamily="34" charset="0"/>
                  </a:rPr>
                  <a:t>Backward </a:t>
                </a:r>
                <a:r>
                  <a:rPr lang="de-DE" sz="1400" dirty="0" err="1">
                    <a:latin typeface="Arial" panose="020B0604020202020204" pitchFamily="34" charset="0"/>
                    <a:cs typeface="Arial" panose="020B0604020202020204" pitchFamily="34" charset="0"/>
                  </a:rPr>
                  <a:t>induction</a:t>
                </a:r>
                <a:r>
                  <a:rPr lang="de-DE" sz="1400" dirty="0">
                    <a:latin typeface="Arial" panose="020B0604020202020204" pitchFamily="34" charset="0"/>
                    <a:cs typeface="Arial" panose="020B0604020202020204" pitchFamily="34" charset="0"/>
                  </a:rPr>
                  <a:t> </a:t>
                </a:r>
                <a14:m>
                  <m:oMath xmlns:m="http://schemas.openxmlformats.org/officeDocument/2006/math">
                    <m:r>
                      <a:rPr lang="de-DE" sz="1400" b="0" i="1" smtClean="0">
                        <a:latin typeface="Cambria Math" panose="02040503050406030204" pitchFamily="18" charset="0"/>
                        <a:cs typeface="Arial" panose="020B0604020202020204" pitchFamily="34" charset="0"/>
                      </a:rPr>
                      <m:t>(</m:t>
                    </m:r>
                    <m:r>
                      <a:rPr lang="de-DE" sz="1400" b="0" i="1" smtClean="0">
                        <a:latin typeface="Cambria Math" panose="02040503050406030204" pitchFamily="18" charset="0"/>
                        <a:cs typeface="Arial" panose="020B0604020202020204" pitchFamily="34" charset="0"/>
                      </a:rPr>
                      <m:t>𝛾</m:t>
                    </m:r>
                    <m:r>
                      <a:rPr lang="de-DE" sz="1400" b="0" i="1" smtClean="0">
                        <a:latin typeface="Cambria Math" panose="02040503050406030204" pitchFamily="18" charset="0"/>
                        <a:cs typeface="Arial" panose="020B0604020202020204" pitchFamily="34" charset="0"/>
                      </a:rPr>
                      <m:t>≔1, </m:t>
                    </m:r>
                    <m:sSubSup>
                      <m:sSubSupPr>
                        <m:ctrlPr>
                          <a:rPr lang="de-DE" sz="1400" b="0" i="1" smtClean="0">
                            <a:latin typeface="Cambria Math" panose="02040503050406030204" pitchFamily="18" charset="0"/>
                            <a:cs typeface="Arial" panose="020B0604020202020204" pitchFamily="34" charset="0"/>
                          </a:rPr>
                        </m:ctrlPr>
                      </m:sSubSupPr>
                      <m:e>
                        <m:r>
                          <a:rPr lang="de-DE" sz="1400" b="0" i="1" smtClean="0">
                            <a:latin typeface="Cambria Math" panose="02040503050406030204" pitchFamily="18" charset="0"/>
                            <a:cs typeface="Arial" panose="020B0604020202020204" pitchFamily="34" charset="0"/>
                          </a:rPr>
                          <m:t>𝑣</m:t>
                        </m:r>
                      </m:e>
                      <m:sub>
                        <m:r>
                          <a:rPr lang="de-DE" sz="1400" b="0" i="1" smtClean="0">
                            <a:latin typeface="Cambria Math" panose="02040503050406030204" pitchFamily="18" charset="0"/>
                            <a:cs typeface="Arial" panose="020B0604020202020204" pitchFamily="34" charset="0"/>
                          </a:rPr>
                          <m:t>𝑛</m:t>
                        </m:r>
                      </m:sub>
                      <m:sup>
                        <m:r>
                          <a:rPr lang="de-DE" sz="1400" b="0" i="1" smtClean="0">
                            <a:latin typeface="Cambria Math" panose="02040503050406030204" pitchFamily="18" charset="0"/>
                            <a:cs typeface="Arial" panose="020B0604020202020204" pitchFamily="34" charset="0"/>
                          </a:rPr>
                          <m:t>∗</m:t>
                        </m:r>
                      </m:sup>
                    </m:sSubSup>
                    <m:r>
                      <a:rPr lang="de-DE" sz="1400" b="0" i="1" smtClean="0">
                        <a:latin typeface="Cambria Math" panose="02040503050406030204" pitchFamily="18" charset="0"/>
                        <a:cs typeface="Arial" panose="020B0604020202020204" pitchFamily="34" charset="0"/>
                      </a:rPr>
                      <m:t>≔0)</m:t>
                    </m:r>
                  </m:oMath>
                </a14:m>
                <a:endParaRPr lang="de-DE" sz="1400" dirty="0">
                  <a:latin typeface="Arial" panose="020B0604020202020204" pitchFamily="34" charset="0"/>
                  <a:cs typeface="Arial" panose="020B0604020202020204" pitchFamily="34" charset="0"/>
                </a:endParaRPr>
              </a:p>
            </p:txBody>
          </p:sp>
        </mc:Choice>
        <mc:Fallback xmlns="">
          <p:sp>
            <p:nvSpPr>
              <p:cNvPr id="13" name="Textfeld 12">
                <a:extLst>
                  <a:ext uri="{FF2B5EF4-FFF2-40B4-BE49-F238E27FC236}">
                    <a16:creationId xmlns:a16="http://schemas.microsoft.com/office/drawing/2014/main" id="{2B21CF57-8C54-64AA-0038-DD3122022BB6}"/>
                  </a:ext>
                </a:extLst>
              </p:cNvPr>
              <p:cNvSpPr txBox="1">
                <a:spLocks noRot="1" noChangeAspect="1" noMove="1" noResize="1" noEditPoints="1" noAdjustHandles="1" noChangeArrowheads="1" noChangeShapeType="1" noTextEdit="1"/>
              </p:cNvSpPr>
              <p:nvPr/>
            </p:nvSpPr>
            <p:spPr>
              <a:xfrm>
                <a:off x="731648" y="2631616"/>
                <a:ext cx="3018199" cy="307777"/>
              </a:xfrm>
              <a:prstGeom prst="rect">
                <a:avLst/>
              </a:prstGeom>
              <a:blipFill>
                <a:blip r:embed="rId5"/>
                <a:stretch>
                  <a:fillRect l="-606" t="-4000" b="-20000"/>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5" name="Textfeld 14">
                <a:extLst>
                  <a:ext uri="{FF2B5EF4-FFF2-40B4-BE49-F238E27FC236}">
                    <a16:creationId xmlns:a16="http://schemas.microsoft.com/office/drawing/2014/main" id="{75AF0117-CD2F-B9E1-957B-9C9A9F6B28C5}"/>
                  </a:ext>
                </a:extLst>
              </p:cNvPr>
              <p:cNvSpPr txBox="1"/>
              <p:nvPr/>
            </p:nvSpPr>
            <p:spPr>
              <a:xfrm>
                <a:off x="1037466" y="3414184"/>
                <a:ext cx="3819900" cy="294568"/>
              </a:xfrm>
              <a:prstGeom prst="rect">
                <a:avLst/>
              </a:prstGeom>
              <a:noFill/>
            </p:spPr>
            <p:txBody>
              <a:bodyPr wrap="square" rtlCol="0">
                <a:spAutoFit/>
              </a:bodyPr>
              <a:lstStyle/>
              <a:p>
                <a14:m>
                  <m:oMath xmlns:m="http://schemas.openxmlformats.org/officeDocument/2006/math">
                    <m:sSubSup>
                      <m:sSubSupPr>
                        <m:ctrlPr>
                          <a:rPr lang="de-DE" sz="1200" b="0" i="1" smtClean="0">
                            <a:latin typeface="Cambria Math" panose="02040503050406030204" pitchFamily="18" charset="0"/>
                          </a:rPr>
                        </m:ctrlPr>
                      </m:sSubSupPr>
                      <m:e>
                        <m:r>
                          <a:rPr lang="de-DE" sz="1200" b="0" i="1" smtClean="0">
                            <a:latin typeface="Cambria Math" panose="02040503050406030204" pitchFamily="18" charset="0"/>
                          </a:rPr>
                          <m:t>𝑞</m:t>
                        </m:r>
                      </m:e>
                      <m:sub>
                        <m:r>
                          <a:rPr lang="de-DE" sz="1200" b="0" i="1" smtClean="0">
                            <a:latin typeface="Cambria Math" panose="02040503050406030204" pitchFamily="18" charset="0"/>
                          </a:rPr>
                          <m:t>𝑡</m:t>
                        </m:r>
                      </m:sub>
                      <m:sup>
                        <m:r>
                          <a:rPr lang="de-DE" sz="1200" b="0" i="1" smtClean="0">
                            <a:latin typeface="Cambria Math" panose="02040503050406030204" pitchFamily="18" charset="0"/>
                          </a:rPr>
                          <m:t>∗</m:t>
                        </m:r>
                      </m:sup>
                    </m:sSubSup>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m:t>
                        </m:r>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𝑎</m:t>
                            </m:r>
                          </m:e>
                          <m:sub>
                            <m:r>
                              <a:rPr lang="de-DE" sz="1200" b="0" i="1" smtClean="0">
                                <a:latin typeface="Cambria Math" panose="02040503050406030204" pitchFamily="18" charset="0"/>
                              </a:rPr>
                              <m:t>𝑡</m:t>
                            </m:r>
                          </m:sub>
                        </m:sSub>
                      </m:e>
                    </m:d>
                    <m:r>
                      <a:rPr lang="de-DE" sz="1200" b="0" i="1" smtClean="0">
                        <a:latin typeface="Cambria Math" panose="02040503050406030204" pitchFamily="18" charset="0"/>
                      </a:rPr>
                      <m:t>=</m:t>
                    </m:r>
                    <m:r>
                      <a:rPr lang="de-DE" sz="1200" b="0" i="1" smtClean="0">
                        <a:latin typeface="Cambria Math" panose="02040503050406030204" pitchFamily="18" charset="0"/>
                      </a:rPr>
                      <m:t>𝜌</m:t>
                    </m:r>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m:t>
                        </m:r>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𝑎</m:t>
                            </m:r>
                          </m:e>
                          <m:sub>
                            <m:r>
                              <a:rPr lang="de-DE" sz="1200" b="0" i="1" smtClean="0">
                                <a:latin typeface="Cambria Math" panose="02040503050406030204" pitchFamily="18" charset="0"/>
                              </a:rPr>
                              <m:t>𝑡</m:t>
                            </m:r>
                          </m:sub>
                        </m:sSub>
                      </m:e>
                    </m:d>
                    <m:r>
                      <a:rPr lang="de-DE" sz="1200" b="0" i="1" smtClean="0">
                        <a:latin typeface="Cambria Math" panose="02040503050406030204" pitchFamily="18" charset="0"/>
                      </a:rPr>
                      <m:t>+</m:t>
                    </m:r>
                    <m:r>
                      <a:rPr lang="de-DE" sz="1200" b="0" i="1" smtClean="0">
                        <a:latin typeface="Cambria Math" panose="02040503050406030204" pitchFamily="18" charset="0"/>
                      </a:rPr>
                      <m:t>𝛾</m:t>
                    </m:r>
                    <m:nary>
                      <m:naryPr>
                        <m:chr m:val="∑"/>
                        <m:supHide m:val="on"/>
                        <m:ctrlPr>
                          <a:rPr lang="de-DE" sz="1200" b="0" i="1" smtClean="0">
                            <a:latin typeface="Cambria Math" panose="02040503050406030204" pitchFamily="18" charset="0"/>
                          </a:rPr>
                        </m:ctrlPr>
                      </m:naryPr>
                      <m:sub>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r>
                              <a:rPr lang="de-DE" sz="1200" b="0" i="1" smtClean="0">
                                <a:latin typeface="Cambria Math" panose="02040503050406030204" pitchFamily="18" charset="0"/>
                              </a:rPr>
                              <m:t>+1</m:t>
                            </m:r>
                          </m:sub>
                        </m:sSub>
                      </m:sub>
                      <m:sup/>
                      <m:e>
                        <m:r>
                          <a:rPr lang="de-DE" sz="1200" b="0" i="1" smtClean="0">
                            <a:latin typeface="Cambria Math" panose="02040503050406030204" pitchFamily="18" charset="0"/>
                          </a:rPr>
                          <m:t>𝑝</m:t>
                        </m:r>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r>
                                  <a:rPr lang="de-DE" sz="1200" b="0" i="1" smtClean="0">
                                    <a:latin typeface="Cambria Math" panose="02040503050406030204" pitchFamily="18" charset="0"/>
                                  </a:rPr>
                                  <m:t>+1</m:t>
                                </m:r>
                              </m:sub>
                            </m:sSub>
                          </m:e>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m:t>
                            </m:r>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𝑎</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 </m:t>
                            </m:r>
                          </m:e>
                        </m:d>
                        <m:sSubSup>
                          <m:sSubSupPr>
                            <m:ctrlPr>
                              <a:rPr lang="de-DE" sz="1200" b="0" i="1" smtClean="0">
                                <a:latin typeface="Cambria Math" panose="02040503050406030204" pitchFamily="18" charset="0"/>
                              </a:rPr>
                            </m:ctrlPr>
                          </m:sSubSupPr>
                          <m:e>
                            <m:r>
                              <a:rPr lang="de-DE" sz="1200" b="0" i="1" smtClean="0">
                                <a:latin typeface="Cambria Math" panose="02040503050406030204" pitchFamily="18" charset="0"/>
                              </a:rPr>
                              <m:t>𝑣</m:t>
                            </m:r>
                          </m:e>
                          <m:sub>
                            <m:r>
                              <a:rPr lang="de-DE" sz="1200" b="0" i="1" smtClean="0">
                                <a:latin typeface="Cambria Math" panose="02040503050406030204" pitchFamily="18" charset="0"/>
                              </a:rPr>
                              <m:t>𝑡</m:t>
                            </m:r>
                            <m:r>
                              <a:rPr lang="de-DE" sz="1200" b="0" i="1" smtClean="0">
                                <a:latin typeface="Cambria Math" panose="02040503050406030204" pitchFamily="18" charset="0"/>
                              </a:rPr>
                              <m:t>+1</m:t>
                            </m:r>
                          </m:sub>
                          <m:sup>
                            <m:r>
                              <a:rPr lang="de-DE" sz="1200" b="0" i="1" smtClean="0">
                                <a:latin typeface="Cambria Math" panose="02040503050406030204" pitchFamily="18" charset="0"/>
                              </a:rPr>
                              <m:t>∗</m:t>
                            </m:r>
                          </m:sup>
                        </m:sSubSup>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r>
                                  <a:rPr lang="de-DE" sz="1200" b="0" i="1" smtClean="0">
                                    <a:latin typeface="Cambria Math" panose="02040503050406030204" pitchFamily="18" charset="0"/>
                                  </a:rPr>
                                  <m:t>+1</m:t>
                                </m:r>
                              </m:sub>
                            </m:sSub>
                          </m:e>
                        </m:d>
                        <m:r>
                          <a:rPr lang="de-DE" sz="1200" b="0" i="1" smtClean="0">
                            <a:latin typeface="Cambria Math" panose="02040503050406030204" pitchFamily="18" charset="0"/>
                          </a:rPr>
                          <m:t> </m:t>
                        </m:r>
                      </m:e>
                    </m:nary>
                  </m:oMath>
                </a14:m>
                <a:r>
                  <a:rPr lang="de-DE" sz="1200" dirty="0">
                    <a:latin typeface="Arial" panose="020B0604020202020204" pitchFamily="34" charset="0"/>
                    <a:cs typeface="Arial" panose="020B0604020202020204" pitchFamily="34" charset="0"/>
                  </a:rPr>
                  <a:t> </a:t>
                </a:r>
              </a:p>
            </p:txBody>
          </p:sp>
        </mc:Choice>
        <mc:Fallback xmlns="">
          <p:sp>
            <p:nvSpPr>
              <p:cNvPr id="15" name="Textfeld 14">
                <a:extLst>
                  <a:ext uri="{FF2B5EF4-FFF2-40B4-BE49-F238E27FC236}">
                    <a16:creationId xmlns:a16="http://schemas.microsoft.com/office/drawing/2014/main" id="{75AF0117-CD2F-B9E1-957B-9C9A9F6B28C5}"/>
                  </a:ext>
                </a:extLst>
              </p:cNvPr>
              <p:cNvSpPr txBox="1">
                <a:spLocks noRot="1" noChangeAspect="1" noMove="1" noResize="1" noEditPoints="1" noAdjustHandles="1" noChangeArrowheads="1" noChangeShapeType="1" noTextEdit="1"/>
              </p:cNvSpPr>
              <p:nvPr/>
            </p:nvSpPr>
            <p:spPr>
              <a:xfrm>
                <a:off x="1037466" y="3414184"/>
                <a:ext cx="3819900" cy="294568"/>
              </a:xfrm>
              <a:prstGeom prst="rect">
                <a:avLst/>
              </a:prstGeom>
              <a:blipFill>
                <a:blip r:embed="rId6"/>
                <a:stretch>
                  <a:fillRect t="-91667" b="-145833"/>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7" name="Textfeld 16">
                <a:extLst>
                  <a:ext uri="{FF2B5EF4-FFF2-40B4-BE49-F238E27FC236}">
                    <a16:creationId xmlns:a16="http://schemas.microsoft.com/office/drawing/2014/main" id="{DFD0D6BB-3F73-4D89-D839-52461DE63B23}"/>
                  </a:ext>
                </a:extLst>
              </p:cNvPr>
              <p:cNvSpPr txBox="1"/>
              <p:nvPr/>
            </p:nvSpPr>
            <p:spPr>
              <a:xfrm>
                <a:off x="814776" y="3046049"/>
                <a:ext cx="1553971" cy="276999"/>
              </a:xfrm>
              <a:prstGeom prst="rect">
                <a:avLst/>
              </a:prstGeom>
              <a:noFill/>
            </p:spPr>
            <p:txBody>
              <a:bodyPr wrap="square">
                <a:spAutoFit/>
              </a:bodyPr>
              <a:lstStyle/>
              <a:p>
                <a:r>
                  <a:rPr lang="de-DE" sz="1200" b="0" dirty="0"/>
                  <a:t>For </a:t>
                </a:r>
                <a14:m>
                  <m:oMath xmlns:m="http://schemas.openxmlformats.org/officeDocument/2006/math">
                    <m:r>
                      <a:rPr lang="de-DE" sz="1200" b="0" i="1" smtClean="0">
                        <a:latin typeface="Cambria Math" panose="02040503050406030204" pitchFamily="18" charset="0"/>
                      </a:rPr>
                      <m:t>𝑡</m:t>
                    </m:r>
                    <m:r>
                      <a:rPr lang="de-DE" sz="1200" b="0" i="1" smtClean="0">
                        <a:latin typeface="Cambria Math" panose="02040503050406030204" pitchFamily="18" charset="0"/>
                      </a:rPr>
                      <m:t>=</m:t>
                    </m:r>
                    <m:r>
                      <a:rPr lang="de-DE" sz="1200" b="0" i="1" smtClean="0">
                        <a:latin typeface="Cambria Math" panose="02040503050406030204" pitchFamily="18" charset="0"/>
                      </a:rPr>
                      <m:t>𝑛</m:t>
                    </m:r>
                    <m:r>
                      <a:rPr lang="de-DE" sz="1200" b="0" i="1" smtClean="0">
                        <a:latin typeface="Cambria Math" panose="02040503050406030204" pitchFamily="18" charset="0"/>
                      </a:rPr>
                      <m:t>−1,…,0</m:t>
                    </m:r>
                  </m:oMath>
                </a14:m>
                <a:endParaRPr lang="de-DE" sz="1200" dirty="0"/>
              </a:p>
            </p:txBody>
          </p:sp>
        </mc:Choice>
        <mc:Fallback xmlns="">
          <p:sp>
            <p:nvSpPr>
              <p:cNvPr id="17" name="Textfeld 16">
                <a:extLst>
                  <a:ext uri="{FF2B5EF4-FFF2-40B4-BE49-F238E27FC236}">
                    <a16:creationId xmlns:a16="http://schemas.microsoft.com/office/drawing/2014/main" id="{DFD0D6BB-3F73-4D89-D839-52461DE63B23}"/>
                  </a:ext>
                </a:extLst>
              </p:cNvPr>
              <p:cNvSpPr txBox="1">
                <a:spLocks noRot="1" noChangeAspect="1" noMove="1" noResize="1" noEditPoints="1" noAdjustHandles="1" noChangeArrowheads="1" noChangeShapeType="1" noTextEdit="1"/>
              </p:cNvSpPr>
              <p:nvPr/>
            </p:nvSpPr>
            <p:spPr>
              <a:xfrm>
                <a:off x="814776" y="3046049"/>
                <a:ext cx="1553971" cy="276999"/>
              </a:xfrm>
              <a:prstGeom prst="rect">
                <a:avLst/>
              </a:prstGeom>
              <a:blipFill>
                <a:blip r:embed="rId7"/>
                <a:stretch>
                  <a:fillRect l="-392" t="-2222" b="-17778"/>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9" name="Textfeld 18">
                <a:extLst>
                  <a:ext uri="{FF2B5EF4-FFF2-40B4-BE49-F238E27FC236}">
                    <a16:creationId xmlns:a16="http://schemas.microsoft.com/office/drawing/2014/main" id="{5A8B7F76-A224-FF6F-8519-DAB4B8D79779}"/>
                  </a:ext>
                </a:extLst>
              </p:cNvPr>
              <p:cNvSpPr txBox="1"/>
              <p:nvPr/>
            </p:nvSpPr>
            <p:spPr>
              <a:xfrm>
                <a:off x="1037466" y="4157422"/>
                <a:ext cx="2519332" cy="389209"/>
              </a:xfrm>
              <a:prstGeom prst="rect">
                <a:avLst/>
              </a:prstGeom>
              <a:noFill/>
            </p:spPr>
            <p:txBody>
              <a:bodyPr wrap="square" rtlCol="0">
                <a:spAutoFit/>
              </a:bodyPr>
              <a:lstStyle/>
              <a:p>
                <a14:m>
                  <m:oMath xmlns:m="http://schemas.openxmlformats.org/officeDocument/2006/math">
                    <m:sSubSup>
                      <m:sSubSupPr>
                        <m:ctrlPr>
                          <a:rPr lang="de-DE" sz="1200" b="0" i="1" smtClean="0">
                            <a:latin typeface="Cambria Math" panose="02040503050406030204" pitchFamily="18" charset="0"/>
                          </a:rPr>
                        </m:ctrlPr>
                      </m:sSubSupPr>
                      <m:e>
                        <m:r>
                          <a:rPr lang="de-DE" sz="1200" b="0" i="1" smtClean="0">
                            <a:latin typeface="Cambria Math" panose="02040503050406030204" pitchFamily="18" charset="0"/>
                          </a:rPr>
                          <m:t>𝑑</m:t>
                        </m:r>
                      </m:e>
                      <m:sub>
                        <m:r>
                          <a:rPr lang="de-DE" sz="1200" b="0" i="1" smtClean="0">
                            <a:latin typeface="Cambria Math" panose="02040503050406030204" pitchFamily="18" charset="0"/>
                          </a:rPr>
                          <m:t>𝑡</m:t>
                        </m:r>
                      </m:sub>
                      <m:sup>
                        <m:r>
                          <a:rPr lang="de-DE" sz="1200" b="0" i="1" smtClean="0">
                            <a:latin typeface="Cambria Math" panose="02040503050406030204" pitchFamily="18" charset="0"/>
                          </a:rPr>
                          <m:t>∗</m:t>
                        </m:r>
                      </m:sup>
                    </m:sSubSup>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sub>
                        </m:sSub>
                      </m:e>
                    </m:d>
                    <m:r>
                      <a:rPr lang="de-DE" sz="1200" b="0" i="1" smtClean="0">
                        <a:latin typeface="Cambria Math" panose="02040503050406030204" pitchFamily="18" charset="0"/>
                      </a:rPr>
                      <m:t>=</m:t>
                    </m:r>
                    <m:func>
                      <m:funcPr>
                        <m:ctrlPr>
                          <a:rPr lang="de-DE" sz="1200" b="0" i="1" smtClean="0">
                            <a:latin typeface="Cambria Math" panose="02040503050406030204" pitchFamily="18" charset="0"/>
                          </a:rPr>
                        </m:ctrlPr>
                      </m:funcPr>
                      <m:fName>
                        <m:limLow>
                          <m:limLowPr>
                            <m:ctrlPr>
                              <a:rPr lang="de-DE" sz="1200" b="0" i="1" smtClean="0">
                                <a:latin typeface="Cambria Math" panose="02040503050406030204" pitchFamily="18" charset="0"/>
                              </a:rPr>
                            </m:ctrlPr>
                          </m:limLowPr>
                          <m:e>
                            <m:r>
                              <m:rPr>
                                <m:sty m:val="p"/>
                              </m:rPr>
                              <a:rPr lang="de-DE" sz="1200" b="0" i="0" smtClean="0">
                                <a:latin typeface="Cambria Math" panose="02040503050406030204" pitchFamily="18" charset="0"/>
                              </a:rPr>
                              <m:t>argmax</m:t>
                            </m:r>
                          </m:e>
                          <m:lim>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𝑎</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m:t>
                            </m:r>
                            <m:r>
                              <a:rPr lang="de-DE" sz="1200" b="0" i="1" smtClean="0">
                                <a:latin typeface="Cambria Math" panose="02040503050406030204" pitchFamily="18" charset="0"/>
                              </a:rPr>
                              <m:t>𝐴</m:t>
                            </m:r>
                          </m:lim>
                        </m:limLow>
                      </m:fName>
                      <m:e>
                        <m:sSubSup>
                          <m:sSubSupPr>
                            <m:ctrlPr>
                              <a:rPr lang="de-DE" sz="1200" b="0" i="1" smtClean="0">
                                <a:latin typeface="Cambria Math" panose="02040503050406030204" pitchFamily="18" charset="0"/>
                              </a:rPr>
                            </m:ctrlPr>
                          </m:sSubSupPr>
                          <m:e>
                            <m:r>
                              <a:rPr lang="de-DE" sz="1200" b="0" i="1" smtClean="0">
                                <a:latin typeface="Cambria Math" panose="02040503050406030204" pitchFamily="18" charset="0"/>
                              </a:rPr>
                              <m:t>𝑞</m:t>
                            </m:r>
                          </m:e>
                          <m:sub>
                            <m:r>
                              <a:rPr lang="de-DE" sz="1200" b="0" i="1" smtClean="0">
                                <a:latin typeface="Cambria Math" panose="02040503050406030204" pitchFamily="18" charset="0"/>
                              </a:rPr>
                              <m:t>𝑡</m:t>
                            </m:r>
                          </m:sub>
                          <m:sup>
                            <m:r>
                              <a:rPr lang="de-DE" sz="1200" b="0" i="1" smtClean="0">
                                <a:latin typeface="Cambria Math" panose="02040503050406030204" pitchFamily="18" charset="0"/>
                              </a:rPr>
                              <m:t>∗</m:t>
                            </m:r>
                          </m:sup>
                        </m:sSubSup>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m:t>
                            </m:r>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𝑎</m:t>
                                </m:r>
                              </m:e>
                              <m:sub>
                                <m:r>
                                  <a:rPr lang="de-DE" sz="1200" b="0" i="1" smtClean="0">
                                    <a:latin typeface="Cambria Math" panose="02040503050406030204" pitchFamily="18" charset="0"/>
                                  </a:rPr>
                                  <m:t>𝑡</m:t>
                                </m:r>
                              </m:sub>
                            </m:sSub>
                          </m:e>
                        </m:d>
                      </m:e>
                    </m:func>
                  </m:oMath>
                </a14:m>
                <a:r>
                  <a:rPr lang="de-DE" sz="1200" dirty="0">
                    <a:latin typeface="Arial" panose="020B0604020202020204" pitchFamily="34" charset="0"/>
                    <a:cs typeface="Arial" panose="020B0604020202020204" pitchFamily="34" charset="0"/>
                  </a:rPr>
                  <a:t>   </a:t>
                </a:r>
              </a:p>
            </p:txBody>
          </p:sp>
        </mc:Choice>
        <mc:Fallback xmlns="">
          <p:sp>
            <p:nvSpPr>
              <p:cNvPr id="19" name="Textfeld 18">
                <a:extLst>
                  <a:ext uri="{FF2B5EF4-FFF2-40B4-BE49-F238E27FC236}">
                    <a16:creationId xmlns:a16="http://schemas.microsoft.com/office/drawing/2014/main" id="{5A8B7F76-A224-FF6F-8519-DAB4B8D79779}"/>
                  </a:ext>
                </a:extLst>
              </p:cNvPr>
              <p:cNvSpPr txBox="1">
                <a:spLocks noRot="1" noChangeAspect="1" noMove="1" noResize="1" noEditPoints="1" noAdjustHandles="1" noChangeArrowheads="1" noChangeShapeType="1" noTextEdit="1"/>
              </p:cNvSpPr>
              <p:nvPr/>
            </p:nvSpPr>
            <p:spPr>
              <a:xfrm>
                <a:off x="1037466" y="4157422"/>
                <a:ext cx="2519332" cy="389209"/>
              </a:xfrm>
              <a:prstGeom prst="rect">
                <a:avLst/>
              </a:prstGeom>
              <a:blipFill>
                <a:blip r:embed="rId8"/>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1" name="Textfeld 20">
                <a:extLst>
                  <a:ext uri="{FF2B5EF4-FFF2-40B4-BE49-F238E27FC236}">
                    <a16:creationId xmlns:a16="http://schemas.microsoft.com/office/drawing/2014/main" id="{EB6F9B29-5D93-0CE1-79F7-903D3D17AE9C}"/>
                  </a:ext>
                </a:extLst>
              </p:cNvPr>
              <p:cNvSpPr txBox="1"/>
              <p:nvPr/>
            </p:nvSpPr>
            <p:spPr>
              <a:xfrm>
                <a:off x="1037466" y="3799888"/>
                <a:ext cx="2519332" cy="356829"/>
              </a:xfrm>
              <a:prstGeom prst="rect">
                <a:avLst/>
              </a:prstGeom>
              <a:noFill/>
            </p:spPr>
            <p:txBody>
              <a:bodyPr wrap="square" rtlCol="0">
                <a:spAutoFit/>
              </a:bodyPr>
              <a:lstStyle/>
              <a:p>
                <a14:m>
                  <m:oMath xmlns:m="http://schemas.openxmlformats.org/officeDocument/2006/math">
                    <m:sSubSup>
                      <m:sSubSupPr>
                        <m:ctrlPr>
                          <a:rPr lang="de-DE" sz="1200" b="0" i="1" smtClean="0">
                            <a:latin typeface="Cambria Math" panose="02040503050406030204" pitchFamily="18" charset="0"/>
                          </a:rPr>
                        </m:ctrlPr>
                      </m:sSubSupPr>
                      <m:e>
                        <m:r>
                          <a:rPr lang="de-DE" sz="1200" b="0" i="1" smtClean="0">
                            <a:latin typeface="Cambria Math" panose="02040503050406030204" pitchFamily="18" charset="0"/>
                          </a:rPr>
                          <m:t>𝑣</m:t>
                        </m:r>
                      </m:e>
                      <m:sub>
                        <m:r>
                          <a:rPr lang="de-DE" sz="1200" b="0" i="1" smtClean="0">
                            <a:latin typeface="Cambria Math" panose="02040503050406030204" pitchFamily="18" charset="0"/>
                          </a:rPr>
                          <m:t>𝑡</m:t>
                        </m:r>
                      </m:sub>
                      <m:sup>
                        <m:r>
                          <a:rPr lang="de-DE" sz="1200" b="0" i="1" smtClean="0">
                            <a:latin typeface="Cambria Math" panose="02040503050406030204" pitchFamily="18" charset="0"/>
                          </a:rPr>
                          <m:t>∗</m:t>
                        </m:r>
                      </m:sup>
                    </m:sSubSup>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sub>
                        </m:sSub>
                      </m:e>
                    </m:d>
                    <m:r>
                      <a:rPr lang="de-DE" sz="1200" b="0" i="1" smtClean="0">
                        <a:latin typeface="Cambria Math" panose="02040503050406030204" pitchFamily="18" charset="0"/>
                      </a:rPr>
                      <m:t>=</m:t>
                    </m:r>
                    <m:func>
                      <m:funcPr>
                        <m:ctrlPr>
                          <a:rPr lang="de-DE" sz="1200" b="0" i="1" smtClean="0">
                            <a:latin typeface="Cambria Math" panose="02040503050406030204" pitchFamily="18" charset="0"/>
                          </a:rPr>
                        </m:ctrlPr>
                      </m:funcPr>
                      <m:fName>
                        <m:limLow>
                          <m:limLowPr>
                            <m:ctrlPr>
                              <a:rPr lang="de-DE" sz="1200" b="0" i="1" smtClean="0">
                                <a:latin typeface="Cambria Math" panose="02040503050406030204" pitchFamily="18" charset="0"/>
                              </a:rPr>
                            </m:ctrlPr>
                          </m:limLowPr>
                          <m:e>
                            <m:r>
                              <m:rPr>
                                <m:sty m:val="p"/>
                              </m:rPr>
                              <a:rPr lang="de-DE" sz="1200" b="0" i="0" smtClean="0">
                                <a:latin typeface="Cambria Math" panose="02040503050406030204" pitchFamily="18" charset="0"/>
                              </a:rPr>
                              <m:t>max</m:t>
                            </m:r>
                          </m:e>
                          <m:lim>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𝑎</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m:t>
                            </m:r>
                            <m:r>
                              <a:rPr lang="de-DE" sz="1200" b="0" i="1" smtClean="0">
                                <a:latin typeface="Cambria Math" panose="02040503050406030204" pitchFamily="18" charset="0"/>
                              </a:rPr>
                              <m:t>𝐴</m:t>
                            </m:r>
                          </m:lim>
                        </m:limLow>
                      </m:fName>
                      <m:e>
                        <m:sSubSup>
                          <m:sSubSupPr>
                            <m:ctrlPr>
                              <a:rPr lang="de-DE" sz="1200" b="0" i="1" smtClean="0">
                                <a:latin typeface="Cambria Math" panose="02040503050406030204" pitchFamily="18" charset="0"/>
                              </a:rPr>
                            </m:ctrlPr>
                          </m:sSubSupPr>
                          <m:e>
                            <m:r>
                              <a:rPr lang="de-DE" sz="1200" b="0" i="1" smtClean="0">
                                <a:latin typeface="Cambria Math" panose="02040503050406030204" pitchFamily="18" charset="0"/>
                              </a:rPr>
                              <m:t>𝑞</m:t>
                            </m:r>
                          </m:e>
                          <m:sub>
                            <m:r>
                              <a:rPr lang="de-DE" sz="1200" b="0" i="1" smtClean="0">
                                <a:latin typeface="Cambria Math" panose="02040503050406030204" pitchFamily="18" charset="0"/>
                              </a:rPr>
                              <m:t>𝑡</m:t>
                            </m:r>
                          </m:sub>
                          <m:sup>
                            <m:r>
                              <a:rPr lang="de-DE" sz="1200" b="0" i="1" smtClean="0">
                                <a:latin typeface="Cambria Math" panose="02040503050406030204" pitchFamily="18" charset="0"/>
                              </a:rPr>
                              <m:t>∗</m:t>
                            </m:r>
                          </m:sup>
                        </m:sSubSup>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m:t>
                            </m:r>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𝑎</m:t>
                                </m:r>
                              </m:e>
                              <m:sub>
                                <m:r>
                                  <a:rPr lang="de-DE" sz="1200" b="0" i="1" smtClean="0">
                                    <a:latin typeface="Cambria Math" panose="02040503050406030204" pitchFamily="18" charset="0"/>
                                  </a:rPr>
                                  <m:t>𝑡</m:t>
                                </m:r>
                              </m:sub>
                            </m:sSub>
                          </m:e>
                        </m:d>
                      </m:e>
                    </m:func>
                  </m:oMath>
                </a14:m>
                <a:r>
                  <a:rPr lang="de-DE" sz="1200" dirty="0">
                    <a:latin typeface="Arial" panose="020B0604020202020204" pitchFamily="34" charset="0"/>
                    <a:cs typeface="Arial" panose="020B0604020202020204" pitchFamily="34" charset="0"/>
                  </a:rPr>
                  <a:t>   </a:t>
                </a:r>
              </a:p>
            </p:txBody>
          </p:sp>
        </mc:Choice>
        <mc:Fallback xmlns="">
          <p:sp>
            <p:nvSpPr>
              <p:cNvPr id="21" name="Textfeld 20">
                <a:extLst>
                  <a:ext uri="{FF2B5EF4-FFF2-40B4-BE49-F238E27FC236}">
                    <a16:creationId xmlns:a16="http://schemas.microsoft.com/office/drawing/2014/main" id="{EB6F9B29-5D93-0CE1-79F7-903D3D17AE9C}"/>
                  </a:ext>
                </a:extLst>
              </p:cNvPr>
              <p:cNvSpPr txBox="1">
                <a:spLocks noRot="1" noChangeAspect="1" noMove="1" noResize="1" noEditPoints="1" noAdjustHandles="1" noChangeArrowheads="1" noChangeShapeType="1" noTextEdit="1"/>
              </p:cNvSpPr>
              <p:nvPr/>
            </p:nvSpPr>
            <p:spPr>
              <a:xfrm>
                <a:off x="1037466" y="3799888"/>
                <a:ext cx="2519332" cy="356829"/>
              </a:xfrm>
              <a:prstGeom prst="rect">
                <a:avLst/>
              </a:prstGeom>
              <a:blipFill>
                <a:blip r:embed="rId9"/>
                <a:stretch>
                  <a:fillRect/>
                </a:stretch>
              </a:blipFill>
            </p:spPr>
            <p:txBody>
              <a:bodyPr/>
              <a:lstStyle/>
              <a:p>
                <a:r>
                  <a:rPr lang="de-DE">
                    <a:noFill/>
                  </a:rPr>
                  <a:t> </a:t>
                </a:r>
              </a:p>
            </p:txBody>
          </p:sp>
        </mc:Fallback>
      </mc:AlternateContent>
      <p:pic>
        <p:nvPicPr>
          <p:cNvPr id="25" name="Grafik 24">
            <a:extLst>
              <a:ext uri="{FF2B5EF4-FFF2-40B4-BE49-F238E27FC236}">
                <a16:creationId xmlns:a16="http://schemas.microsoft.com/office/drawing/2014/main" id="{5220168F-7A5E-8770-81E9-A3478252CFC3}"/>
              </a:ext>
            </a:extLst>
          </p:cNvPr>
          <p:cNvPicPr>
            <a:picLocks noChangeAspect="1"/>
          </p:cNvPicPr>
          <p:nvPr/>
        </p:nvPicPr>
        <p:blipFill>
          <a:blip r:embed="rId10"/>
          <a:stretch>
            <a:fillRect/>
          </a:stretch>
        </p:blipFill>
        <p:spPr>
          <a:xfrm>
            <a:off x="5012635" y="3157848"/>
            <a:ext cx="3525240" cy="1284080"/>
          </a:xfrm>
          <a:prstGeom prst="rect">
            <a:avLst/>
          </a:prstGeom>
          <a:ln>
            <a:solidFill>
              <a:schemeClr val="bg1">
                <a:lumMod val="65000"/>
              </a:schemeClr>
            </a:solidFill>
          </a:ln>
        </p:spPr>
      </p:pic>
    </p:spTree>
    <p:extLst>
      <p:ext uri="{BB962C8B-B14F-4D97-AF65-F5344CB8AC3E}">
        <p14:creationId xmlns:p14="http://schemas.microsoft.com/office/powerpoint/2010/main" val="26566062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579AB-CE1A-D2A2-C405-EBC24E8169B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CC2AB0E-713F-607F-13F1-A79532E352D6}"/>
              </a:ext>
            </a:extLst>
          </p:cNvPr>
          <p:cNvSpPr>
            <a:spLocks noGrp="1"/>
          </p:cNvSpPr>
          <p:nvPr>
            <p:ph type="title"/>
          </p:nvPr>
        </p:nvSpPr>
        <p:spPr/>
        <p:txBody>
          <a:bodyPr>
            <a:normAutofit/>
          </a:bodyPr>
          <a:lstStyle/>
          <a:p>
            <a:r>
              <a:rPr lang="de-DE" sz="2200" b="0" dirty="0" err="1"/>
              <a:t>Sequential</a:t>
            </a:r>
            <a:r>
              <a:rPr lang="de-DE" sz="2200" b="0" dirty="0"/>
              <a:t> </a:t>
            </a:r>
            <a:r>
              <a:rPr lang="de-DE" sz="2200" b="0" dirty="0" err="1"/>
              <a:t>conditional</a:t>
            </a:r>
            <a:r>
              <a:rPr lang="de-DE" sz="2200" b="0" dirty="0"/>
              <a:t> log </a:t>
            </a:r>
            <a:r>
              <a:rPr lang="de-DE" sz="2200" b="0" dirty="0" err="1"/>
              <a:t>likelihood</a:t>
            </a:r>
            <a:r>
              <a:rPr lang="de-DE" sz="2200" b="0" dirty="0"/>
              <a:t> </a:t>
            </a:r>
            <a:r>
              <a:rPr lang="de-DE" sz="2200" b="0" dirty="0" err="1"/>
              <a:t>maximization</a:t>
            </a:r>
            <a:endParaRPr lang="de-DE" sz="2200" b="0" dirty="0"/>
          </a:p>
        </p:txBody>
      </p:sp>
      <p:sp>
        <p:nvSpPr>
          <p:cNvPr id="4" name="Foliennummernplatzhalter 3">
            <a:extLst>
              <a:ext uri="{FF2B5EF4-FFF2-40B4-BE49-F238E27FC236}">
                <a16:creationId xmlns:a16="http://schemas.microsoft.com/office/drawing/2014/main" id="{9AE22114-52FC-0C43-B4D1-7EA3CB259372}"/>
              </a:ext>
            </a:extLst>
          </p:cNvPr>
          <p:cNvSpPr>
            <a:spLocks noGrp="1"/>
          </p:cNvSpPr>
          <p:nvPr>
            <p:ph type="sldNum" idx="12"/>
          </p:nvPr>
        </p:nvSpPr>
        <p:spPr/>
        <p:txBody>
          <a:bodyPr/>
          <a:lstStyle/>
          <a:p>
            <a:fld id="{5CD88B4E-D815-417B-99FD-41D66E5C06D4}" type="slidenum">
              <a:rPr lang="de-DE" smtClean="0"/>
              <a:t>18</a:t>
            </a:fld>
            <a:endParaRPr lang="de-DE"/>
          </a:p>
        </p:txBody>
      </p:sp>
      <mc:AlternateContent xmlns:mc="http://schemas.openxmlformats.org/markup-compatibility/2006" xmlns:a14="http://schemas.microsoft.com/office/drawing/2010/main">
        <mc:Choice Requires="a14">
          <p:sp>
            <p:nvSpPr>
              <p:cNvPr id="8" name="Textfeld 7">
                <a:extLst>
                  <a:ext uri="{FF2B5EF4-FFF2-40B4-BE49-F238E27FC236}">
                    <a16:creationId xmlns:a16="http://schemas.microsoft.com/office/drawing/2014/main" id="{ED3E8CCD-F0EE-9CAF-1547-97AD1F6823DF}"/>
                  </a:ext>
                </a:extLst>
              </p:cNvPr>
              <p:cNvSpPr txBox="1"/>
              <p:nvPr/>
            </p:nvSpPr>
            <p:spPr>
              <a:xfrm>
                <a:off x="1386279" y="3821935"/>
                <a:ext cx="6669817" cy="357918"/>
              </a:xfrm>
              <a:prstGeom prst="rect">
                <a:avLst/>
              </a:prstGeom>
              <a:noFill/>
            </p:spPr>
            <p:txBody>
              <a:bodyPr wrap="square">
                <a:spAutoFit/>
              </a:bodyPr>
              <a:lstStyle/>
              <a:p>
                <a14:m>
                  <m:oMath xmlns:m="http://schemas.openxmlformats.org/officeDocument/2006/math">
                    <m:r>
                      <a:rPr lang="de-DE" sz="1400" b="0" i="1" smtClean="0">
                        <a:latin typeface="Cambria Math" panose="02040503050406030204" pitchFamily="18" charset="0"/>
                      </a:rPr>
                      <m:t>ℓ</m:t>
                    </m:r>
                    <m:d>
                      <m:dPr>
                        <m:ctrlPr>
                          <a:rPr lang="de-DE" sz="1400" b="0" i="1" smtClean="0">
                            <a:latin typeface="Cambria Math" panose="02040503050406030204" pitchFamily="18" charset="0"/>
                          </a:rPr>
                        </m:ctrlPr>
                      </m:dPr>
                      <m:e>
                        <m:r>
                          <a:rPr lang="de-DE" sz="1400" b="0" i="1" smtClean="0">
                            <a:latin typeface="Cambria Math" panose="02040503050406030204" pitchFamily="18" charset="0"/>
                          </a:rPr>
                          <m:t>𝛽</m:t>
                        </m:r>
                        <m:r>
                          <a:rPr lang="de-DE" sz="1400" b="0" i="1" smtClean="0">
                            <a:latin typeface="Cambria Math" panose="02040503050406030204" pitchFamily="18" charset="0"/>
                          </a:rPr>
                          <m:t>,</m:t>
                        </m:r>
                        <m:r>
                          <a:rPr lang="de-DE" sz="1400" b="0" i="1" smtClean="0">
                            <a:latin typeface="Cambria Math" panose="02040503050406030204" pitchFamily="18" charset="0"/>
                          </a:rPr>
                          <m:t>𝜎</m:t>
                        </m:r>
                        <m:r>
                          <a:rPr lang="de-DE" sz="1400" b="0" i="1" smtClean="0">
                            <a:latin typeface="Cambria Math" panose="02040503050406030204" pitchFamily="18" charset="0"/>
                          </a:rPr>
                          <m:t>,</m:t>
                        </m:r>
                        <m:r>
                          <a:rPr lang="de-DE" sz="1400" b="0" i="1" smtClean="0">
                            <a:latin typeface="Cambria Math" panose="02040503050406030204" pitchFamily="18" charset="0"/>
                          </a:rPr>
                          <m:t>𝜏</m:t>
                        </m:r>
                      </m:e>
                    </m:d>
                    <m:r>
                      <a:rPr lang="de-DE" sz="1400" b="0" i="1" smtClean="0">
                        <a:latin typeface="Cambria Math" panose="02040503050406030204" pitchFamily="18" charset="0"/>
                      </a:rPr>
                      <m:t>=</m:t>
                    </m:r>
                    <m:nary>
                      <m:naryPr>
                        <m:chr m:val="∑"/>
                        <m:ctrlPr>
                          <a:rPr lang="de-DE" sz="1400" b="0" i="1" smtClean="0">
                            <a:latin typeface="Cambria Math" panose="02040503050406030204" pitchFamily="18" charset="0"/>
                          </a:rPr>
                        </m:ctrlPr>
                      </m:naryPr>
                      <m:sub>
                        <m:r>
                          <a:rPr lang="de-DE" sz="1400" b="0" i="1" smtClean="0">
                            <a:latin typeface="Cambria Math" panose="02040503050406030204" pitchFamily="18" charset="0"/>
                          </a:rPr>
                          <m:t>𝑏</m:t>
                        </m:r>
                        <m:r>
                          <a:rPr lang="de-DE" sz="1400" b="0" i="1" smtClean="0">
                            <a:latin typeface="Cambria Math" panose="02040503050406030204" pitchFamily="18" charset="0"/>
                          </a:rPr>
                          <m:t>=1</m:t>
                        </m:r>
                      </m:sub>
                      <m:sup>
                        <m:r>
                          <a:rPr lang="de-DE" sz="1400" b="0" i="1" smtClean="0">
                            <a:latin typeface="Cambria Math" panose="02040503050406030204" pitchFamily="18" charset="0"/>
                          </a:rPr>
                          <m:t>𝑚</m:t>
                        </m:r>
                      </m:sup>
                      <m:e>
                        <m:nary>
                          <m:naryPr>
                            <m:chr m:val="∑"/>
                            <m:ctrlPr>
                              <a:rPr lang="de-DE" sz="1400" b="0" i="1" smtClean="0">
                                <a:latin typeface="Cambria Math" panose="02040503050406030204" pitchFamily="18" charset="0"/>
                              </a:rPr>
                            </m:ctrlPr>
                          </m:naryPr>
                          <m:sub>
                            <m:r>
                              <a:rPr lang="de-DE" sz="1400" b="0" i="1" smtClean="0">
                                <a:latin typeface="Cambria Math" panose="02040503050406030204" pitchFamily="18" charset="0"/>
                              </a:rPr>
                              <m:t>𝑡</m:t>
                            </m:r>
                            <m:r>
                              <a:rPr lang="de-DE" sz="1400" b="0" i="1" smtClean="0">
                                <a:latin typeface="Cambria Math" panose="02040503050406030204" pitchFamily="18" charset="0"/>
                              </a:rPr>
                              <m:t>=0</m:t>
                            </m:r>
                          </m:sub>
                          <m:sup>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𝑛</m:t>
                                </m:r>
                              </m:e>
                              <m:sub>
                                <m:r>
                                  <a:rPr lang="de-DE" sz="1400" b="0" i="1" smtClean="0">
                                    <a:latin typeface="Cambria Math" panose="02040503050406030204" pitchFamily="18" charset="0"/>
                                  </a:rPr>
                                  <m:t>𝑏</m:t>
                                </m:r>
                              </m:sub>
                            </m:sSub>
                          </m:sup>
                          <m:e>
                            <m:d>
                              <m:dPr>
                                <m:ctrlPr>
                                  <a:rPr lang="de-DE" sz="1400" i="1">
                                    <a:latin typeface="Cambria Math" panose="02040503050406030204" pitchFamily="18" charset="0"/>
                                  </a:rPr>
                                </m:ctrlPr>
                              </m:dPr>
                              <m:e>
                                <m:sSubSup>
                                  <m:sSubSupPr>
                                    <m:ctrlPr>
                                      <a:rPr lang="de-DE" sz="1400" i="1">
                                        <a:latin typeface="Cambria Math" panose="02040503050406030204" pitchFamily="18" charset="0"/>
                                      </a:rPr>
                                    </m:ctrlPr>
                                  </m:sSubSupPr>
                                  <m:e>
                                    <m:r>
                                      <a:rPr lang="de-DE" sz="1400" i="1">
                                        <a:latin typeface="Cambria Math" panose="02040503050406030204" pitchFamily="18" charset="0"/>
                                      </a:rPr>
                                      <m:t>𝑞</m:t>
                                    </m:r>
                                  </m:e>
                                  <m:sub>
                                    <m:r>
                                      <a:rPr lang="de-DE" sz="1400" i="1">
                                        <a:latin typeface="Cambria Math" panose="02040503050406030204" pitchFamily="18" charset="0"/>
                                      </a:rPr>
                                      <m:t>𝑏</m:t>
                                    </m:r>
                                    <m:r>
                                      <a:rPr lang="de-DE" sz="1400" i="1">
                                        <a:latin typeface="Cambria Math" panose="02040503050406030204" pitchFamily="18" charset="0"/>
                                      </a:rPr>
                                      <m:t>,</m:t>
                                    </m:r>
                                    <m:r>
                                      <a:rPr lang="de-DE" sz="1400" i="1">
                                        <a:latin typeface="Cambria Math" panose="02040503050406030204" pitchFamily="18" charset="0"/>
                                      </a:rPr>
                                      <m:t>𝑡</m:t>
                                    </m:r>
                                  </m:sub>
                                  <m:sup>
                                    <m:r>
                                      <a:rPr lang="de-DE" sz="1400" i="1">
                                        <a:latin typeface="Cambria Math" panose="02040503050406030204" pitchFamily="18" charset="0"/>
                                      </a:rPr>
                                      <m:t>∗</m:t>
                                    </m:r>
                                  </m:sup>
                                </m:sSubSup>
                                <m:d>
                                  <m:dPr>
                                    <m:ctrlPr>
                                      <a:rPr lang="de-DE" sz="1400" i="1">
                                        <a:latin typeface="Cambria Math" panose="02040503050406030204" pitchFamily="18" charset="0"/>
                                      </a:rPr>
                                    </m:ctrlPr>
                                  </m:dPr>
                                  <m:e>
                                    <m:sSub>
                                      <m:sSubPr>
                                        <m:ctrlPr>
                                          <a:rPr lang="de-DE" sz="1400" i="1">
                                            <a:latin typeface="Cambria Math" panose="02040503050406030204" pitchFamily="18" charset="0"/>
                                          </a:rPr>
                                        </m:ctrlPr>
                                      </m:sSubPr>
                                      <m:e>
                                        <m:r>
                                          <a:rPr lang="de-DE" sz="1400" i="1">
                                            <a:latin typeface="Cambria Math" panose="02040503050406030204" pitchFamily="18" charset="0"/>
                                          </a:rPr>
                                          <m:t>𝑠</m:t>
                                        </m:r>
                                      </m:e>
                                      <m:sub>
                                        <m:r>
                                          <a:rPr lang="de-DE" sz="1400" i="1">
                                            <a:latin typeface="Cambria Math" panose="02040503050406030204" pitchFamily="18" charset="0"/>
                                          </a:rPr>
                                          <m:t>𝑏</m:t>
                                        </m:r>
                                        <m:r>
                                          <a:rPr lang="de-DE" sz="1400" i="1">
                                            <a:latin typeface="Cambria Math" panose="02040503050406030204" pitchFamily="18" charset="0"/>
                                          </a:rPr>
                                          <m:t>,</m:t>
                                        </m:r>
                                        <m:r>
                                          <a:rPr lang="de-DE" sz="1400" i="1">
                                            <a:latin typeface="Cambria Math" panose="02040503050406030204" pitchFamily="18" charset="0"/>
                                          </a:rPr>
                                          <m:t>𝑡</m:t>
                                        </m:r>
                                      </m:sub>
                                    </m:sSub>
                                    <m:r>
                                      <a:rPr lang="de-DE" sz="1400" i="1">
                                        <a:latin typeface="Cambria Math" panose="02040503050406030204" pitchFamily="18" charset="0"/>
                                      </a:rPr>
                                      <m:t>,</m:t>
                                    </m:r>
                                    <m:sSub>
                                      <m:sSubPr>
                                        <m:ctrlPr>
                                          <a:rPr lang="de-DE" sz="1400" i="1">
                                            <a:latin typeface="Cambria Math" panose="02040503050406030204" pitchFamily="18" charset="0"/>
                                          </a:rPr>
                                        </m:ctrlPr>
                                      </m:sSubPr>
                                      <m:e>
                                        <m:r>
                                          <a:rPr lang="de-DE" sz="1400" i="1">
                                            <a:latin typeface="Cambria Math" panose="02040503050406030204" pitchFamily="18" charset="0"/>
                                          </a:rPr>
                                          <m:t>𝑎</m:t>
                                        </m:r>
                                      </m:e>
                                      <m:sub>
                                        <m:r>
                                          <a:rPr lang="de-DE" sz="1400" i="1">
                                            <a:latin typeface="Cambria Math" panose="02040503050406030204" pitchFamily="18" charset="0"/>
                                          </a:rPr>
                                          <m:t>𝑏</m:t>
                                        </m:r>
                                        <m:r>
                                          <a:rPr lang="de-DE" sz="1400" i="1">
                                            <a:latin typeface="Cambria Math" panose="02040503050406030204" pitchFamily="18" charset="0"/>
                                          </a:rPr>
                                          <m:t>,</m:t>
                                        </m:r>
                                        <m:r>
                                          <a:rPr lang="de-DE" sz="1400" i="1">
                                            <a:latin typeface="Cambria Math" panose="02040503050406030204" pitchFamily="18" charset="0"/>
                                          </a:rPr>
                                          <m:t>𝑡</m:t>
                                        </m:r>
                                      </m:sub>
                                    </m:sSub>
                                    <m:r>
                                      <a:rPr lang="de-DE" sz="1400" i="1">
                                        <a:latin typeface="Cambria Math" panose="02040503050406030204" pitchFamily="18" charset="0"/>
                                      </a:rPr>
                                      <m:t>;</m:t>
                                    </m:r>
                                    <m:r>
                                      <a:rPr lang="de-DE" sz="1400" i="1">
                                        <a:latin typeface="Cambria Math" panose="02040503050406030204" pitchFamily="18" charset="0"/>
                                      </a:rPr>
                                      <m:t>𝛽</m:t>
                                    </m:r>
                                    <m:r>
                                      <a:rPr lang="de-DE" sz="1400" i="1">
                                        <a:latin typeface="Cambria Math" panose="02040503050406030204" pitchFamily="18" charset="0"/>
                                      </a:rPr>
                                      <m:t>,</m:t>
                                    </m:r>
                                    <m:r>
                                      <a:rPr lang="de-DE" sz="1400" i="1">
                                        <a:latin typeface="Cambria Math" panose="02040503050406030204" pitchFamily="18" charset="0"/>
                                      </a:rPr>
                                      <m:t>𝜎</m:t>
                                    </m:r>
                                  </m:e>
                                </m:d>
                                <m:r>
                                  <a:rPr lang="de-DE" sz="1400" b="0" i="1" smtClean="0">
                                    <a:latin typeface="Cambria Math" panose="02040503050406030204" pitchFamily="18" charset="0"/>
                                  </a:rPr>
                                  <m:t>/</m:t>
                                </m:r>
                                <m:r>
                                  <a:rPr lang="de-DE" sz="1400" b="0" i="1" smtClean="0">
                                    <a:latin typeface="Cambria Math" panose="02040503050406030204" pitchFamily="18" charset="0"/>
                                  </a:rPr>
                                  <m:t>𝜏</m:t>
                                </m:r>
                                <m:r>
                                  <a:rPr lang="de-DE" sz="1400" b="0" i="1" smtClean="0">
                                    <a:latin typeface="Cambria Math" panose="02040503050406030204" pitchFamily="18" charset="0"/>
                                  </a:rPr>
                                  <m:t>−</m:t>
                                </m:r>
                                <m:func>
                                  <m:funcPr>
                                    <m:ctrlPr>
                                      <a:rPr lang="de-DE" sz="1400" b="0" i="1" smtClean="0">
                                        <a:latin typeface="Cambria Math" panose="02040503050406030204" pitchFamily="18" charset="0"/>
                                      </a:rPr>
                                    </m:ctrlPr>
                                  </m:funcPr>
                                  <m:fName>
                                    <m:r>
                                      <m:rPr>
                                        <m:sty m:val="p"/>
                                      </m:rPr>
                                      <a:rPr lang="de-DE" sz="1400" b="0" i="0" smtClean="0">
                                        <a:latin typeface="Cambria Math" panose="02040503050406030204" pitchFamily="18" charset="0"/>
                                      </a:rPr>
                                      <m:t>ln</m:t>
                                    </m:r>
                                  </m:fName>
                                  <m:e>
                                    <m:d>
                                      <m:dPr>
                                        <m:ctrlPr>
                                          <a:rPr lang="de-DE" sz="1400" b="0" i="1" smtClean="0">
                                            <a:latin typeface="Cambria Math" panose="02040503050406030204" pitchFamily="18" charset="0"/>
                                          </a:rPr>
                                        </m:ctrlPr>
                                      </m:dPr>
                                      <m:e>
                                        <m:nary>
                                          <m:naryPr>
                                            <m:chr m:val="∑"/>
                                            <m:supHide m:val="on"/>
                                            <m:ctrlPr>
                                              <a:rPr lang="de-DE" sz="1400" i="1">
                                                <a:latin typeface="Cambria Math" panose="02040503050406030204" pitchFamily="18" charset="0"/>
                                              </a:rPr>
                                            </m:ctrlPr>
                                          </m:naryPr>
                                          <m:sub>
                                            <m:sSub>
                                              <m:sSubPr>
                                                <m:ctrlPr>
                                                  <a:rPr lang="de-DE" sz="1400" i="1">
                                                    <a:latin typeface="Cambria Math" panose="02040503050406030204" pitchFamily="18" charset="0"/>
                                                  </a:rPr>
                                                </m:ctrlPr>
                                              </m:sSubPr>
                                              <m:e>
                                                <m:r>
                                                  <a:rPr lang="de-DE" sz="1400" i="1">
                                                    <a:latin typeface="Cambria Math" panose="02040503050406030204" pitchFamily="18" charset="0"/>
                                                  </a:rPr>
                                                  <m:t>𝑎</m:t>
                                                </m:r>
                                              </m:e>
                                              <m:sub>
                                                <m:r>
                                                  <a:rPr lang="de-DE" sz="1400" b="0" i="1" smtClean="0">
                                                    <a:latin typeface="Cambria Math" panose="02040503050406030204" pitchFamily="18" charset="0"/>
                                                  </a:rPr>
                                                  <m:t>𝑏</m:t>
                                                </m:r>
                                                <m:r>
                                                  <a:rPr lang="de-DE" sz="1400" b="0" i="1" smtClean="0">
                                                    <a:latin typeface="Cambria Math" panose="02040503050406030204" pitchFamily="18" charset="0"/>
                                                  </a:rPr>
                                                  <m:t>,</m:t>
                                                </m:r>
                                                <m:r>
                                                  <a:rPr lang="de-DE" sz="1400" b="0" i="1" smtClean="0">
                                                    <a:latin typeface="Cambria Math" panose="02040503050406030204" pitchFamily="18" charset="0"/>
                                                  </a:rPr>
                                                  <m:t>𝑡</m:t>
                                                </m:r>
                                                <m:r>
                                                  <a:rPr lang="de-DE" sz="1400" b="0" i="1" smtClean="0">
                                                    <a:latin typeface="Cambria Math" panose="02040503050406030204" pitchFamily="18" charset="0"/>
                                                  </a:rPr>
                                                  <m:t> </m:t>
                                                </m:r>
                                              </m:sub>
                                            </m:sSub>
                                          </m:sub>
                                          <m:sup/>
                                          <m:e>
                                            <m:func>
                                              <m:funcPr>
                                                <m:ctrlPr>
                                                  <a:rPr lang="de-DE" sz="1400" i="1">
                                                    <a:latin typeface="Cambria Math" panose="02040503050406030204" pitchFamily="18" charset="0"/>
                                                  </a:rPr>
                                                </m:ctrlPr>
                                              </m:funcPr>
                                              <m:fName>
                                                <m:r>
                                                  <m:rPr>
                                                    <m:sty m:val="p"/>
                                                  </m:rPr>
                                                  <a:rPr lang="de-DE" sz="1400">
                                                    <a:latin typeface="Cambria Math" panose="02040503050406030204" pitchFamily="18" charset="0"/>
                                                  </a:rPr>
                                                  <m:t>exp</m:t>
                                                </m:r>
                                              </m:fName>
                                              <m:e>
                                                <m:d>
                                                  <m:dPr>
                                                    <m:ctrlPr>
                                                      <a:rPr lang="de-DE" sz="1400" i="1">
                                                        <a:latin typeface="Cambria Math" panose="02040503050406030204" pitchFamily="18" charset="0"/>
                                                      </a:rPr>
                                                    </m:ctrlPr>
                                                  </m:dPr>
                                                  <m:e>
                                                    <m:sSubSup>
                                                      <m:sSubSupPr>
                                                        <m:ctrlPr>
                                                          <a:rPr lang="de-DE" sz="1400" i="1">
                                                            <a:latin typeface="Cambria Math" panose="02040503050406030204" pitchFamily="18" charset="0"/>
                                                          </a:rPr>
                                                        </m:ctrlPr>
                                                      </m:sSubSupPr>
                                                      <m:e>
                                                        <m:r>
                                                          <a:rPr lang="de-DE" sz="1400" i="1">
                                                            <a:latin typeface="Cambria Math" panose="02040503050406030204" pitchFamily="18" charset="0"/>
                                                          </a:rPr>
                                                          <m:t>𝑞</m:t>
                                                        </m:r>
                                                      </m:e>
                                                      <m:sub>
                                                        <m:r>
                                                          <a:rPr lang="de-DE" sz="1400" i="1">
                                                            <a:latin typeface="Cambria Math" panose="02040503050406030204" pitchFamily="18" charset="0"/>
                                                          </a:rPr>
                                                          <m:t>𝑏</m:t>
                                                        </m:r>
                                                        <m:r>
                                                          <a:rPr lang="de-DE" sz="1400" i="1">
                                                            <a:latin typeface="Cambria Math" panose="02040503050406030204" pitchFamily="18" charset="0"/>
                                                          </a:rPr>
                                                          <m:t>,</m:t>
                                                        </m:r>
                                                        <m:r>
                                                          <a:rPr lang="de-DE" sz="1400" i="1">
                                                            <a:latin typeface="Cambria Math" panose="02040503050406030204" pitchFamily="18" charset="0"/>
                                                          </a:rPr>
                                                          <m:t>𝑡</m:t>
                                                        </m:r>
                                                      </m:sub>
                                                      <m:sup>
                                                        <m:r>
                                                          <a:rPr lang="de-DE" sz="1400" i="1">
                                                            <a:latin typeface="Cambria Math" panose="02040503050406030204" pitchFamily="18" charset="0"/>
                                                          </a:rPr>
                                                          <m:t>∗</m:t>
                                                        </m:r>
                                                      </m:sup>
                                                    </m:sSubSup>
                                                    <m:d>
                                                      <m:dPr>
                                                        <m:ctrlPr>
                                                          <a:rPr lang="de-DE" sz="1400" i="1">
                                                            <a:latin typeface="Cambria Math" panose="02040503050406030204" pitchFamily="18" charset="0"/>
                                                          </a:rPr>
                                                        </m:ctrlPr>
                                                      </m:dPr>
                                                      <m:e>
                                                        <m:sSub>
                                                          <m:sSubPr>
                                                            <m:ctrlPr>
                                                              <a:rPr lang="de-DE" sz="1400" i="1">
                                                                <a:latin typeface="Cambria Math" panose="02040503050406030204" pitchFamily="18" charset="0"/>
                                                              </a:rPr>
                                                            </m:ctrlPr>
                                                          </m:sSubPr>
                                                          <m:e>
                                                            <m:r>
                                                              <a:rPr lang="de-DE" sz="1400" i="1">
                                                                <a:latin typeface="Cambria Math" panose="02040503050406030204" pitchFamily="18" charset="0"/>
                                                              </a:rPr>
                                                              <m:t>𝑠</m:t>
                                                            </m:r>
                                                          </m:e>
                                                          <m:sub>
                                                            <m:r>
                                                              <a:rPr lang="de-DE" sz="1400" i="1">
                                                                <a:latin typeface="Cambria Math" panose="02040503050406030204" pitchFamily="18" charset="0"/>
                                                              </a:rPr>
                                                              <m:t>𝑏</m:t>
                                                            </m:r>
                                                            <m:r>
                                                              <a:rPr lang="de-DE" sz="1400" i="1">
                                                                <a:latin typeface="Cambria Math" panose="02040503050406030204" pitchFamily="18" charset="0"/>
                                                              </a:rPr>
                                                              <m:t>,</m:t>
                                                            </m:r>
                                                            <m:r>
                                                              <a:rPr lang="de-DE" sz="1400" i="1">
                                                                <a:latin typeface="Cambria Math" panose="02040503050406030204" pitchFamily="18" charset="0"/>
                                                              </a:rPr>
                                                              <m:t>𝑡</m:t>
                                                            </m:r>
                                                          </m:sub>
                                                        </m:sSub>
                                                        <m:r>
                                                          <a:rPr lang="de-DE" sz="1400" i="1">
                                                            <a:latin typeface="Cambria Math" panose="02040503050406030204" pitchFamily="18" charset="0"/>
                                                          </a:rPr>
                                                          <m:t>,</m:t>
                                                        </m:r>
                                                        <m:sSub>
                                                          <m:sSubPr>
                                                            <m:ctrlPr>
                                                              <a:rPr lang="de-DE" sz="1400" i="1">
                                                                <a:latin typeface="Cambria Math" panose="02040503050406030204" pitchFamily="18" charset="0"/>
                                                              </a:rPr>
                                                            </m:ctrlPr>
                                                          </m:sSubPr>
                                                          <m:e>
                                                            <m:r>
                                                              <a:rPr lang="de-DE" sz="1400" i="1">
                                                                <a:latin typeface="Cambria Math" panose="02040503050406030204" pitchFamily="18" charset="0"/>
                                                              </a:rPr>
                                                              <m:t>𝑎</m:t>
                                                            </m:r>
                                                          </m:e>
                                                          <m:sub>
                                                            <m:r>
                                                              <a:rPr lang="de-DE" sz="1400" i="1">
                                                                <a:latin typeface="Cambria Math" panose="02040503050406030204" pitchFamily="18" charset="0"/>
                                                              </a:rPr>
                                                              <m:t>𝑏</m:t>
                                                            </m:r>
                                                            <m:r>
                                                              <a:rPr lang="de-DE" sz="1400" i="1">
                                                                <a:latin typeface="Cambria Math" panose="02040503050406030204" pitchFamily="18" charset="0"/>
                                                              </a:rPr>
                                                              <m:t>,</m:t>
                                                            </m:r>
                                                            <m:r>
                                                              <a:rPr lang="de-DE" sz="1400" i="1">
                                                                <a:latin typeface="Cambria Math" panose="02040503050406030204" pitchFamily="18" charset="0"/>
                                                              </a:rPr>
                                                              <m:t>𝑡</m:t>
                                                            </m:r>
                                                          </m:sub>
                                                        </m:sSub>
                                                        <m:r>
                                                          <a:rPr lang="de-DE" sz="1400" i="1">
                                                            <a:latin typeface="Cambria Math" panose="02040503050406030204" pitchFamily="18" charset="0"/>
                                                          </a:rPr>
                                                          <m:t>;</m:t>
                                                        </m:r>
                                                        <m:r>
                                                          <a:rPr lang="de-DE" sz="1400" i="1">
                                                            <a:latin typeface="Cambria Math" panose="02040503050406030204" pitchFamily="18" charset="0"/>
                                                          </a:rPr>
                                                          <m:t>𝛽</m:t>
                                                        </m:r>
                                                        <m:r>
                                                          <a:rPr lang="de-DE" sz="1400" i="1">
                                                            <a:latin typeface="Cambria Math" panose="02040503050406030204" pitchFamily="18" charset="0"/>
                                                          </a:rPr>
                                                          <m:t>,</m:t>
                                                        </m:r>
                                                        <m:r>
                                                          <a:rPr lang="de-DE" sz="1400" i="1">
                                                            <a:latin typeface="Cambria Math" panose="02040503050406030204" pitchFamily="18" charset="0"/>
                                                          </a:rPr>
                                                          <m:t>𝜎</m:t>
                                                        </m:r>
                                                      </m:e>
                                                    </m:d>
                                                    <m:r>
                                                      <a:rPr lang="de-DE" sz="1400" b="0" i="1" smtClean="0">
                                                        <a:latin typeface="Cambria Math" panose="02040503050406030204" pitchFamily="18" charset="0"/>
                                                      </a:rPr>
                                                      <m:t>/</m:t>
                                                    </m:r>
                                                    <m:r>
                                                      <a:rPr lang="de-DE" sz="1400" b="0" i="1" smtClean="0">
                                                        <a:latin typeface="Cambria Math" panose="02040503050406030204" pitchFamily="18" charset="0"/>
                                                      </a:rPr>
                                                      <m:t>𝜏</m:t>
                                                    </m:r>
                                                  </m:e>
                                                </m:d>
                                              </m:e>
                                            </m:func>
                                          </m:e>
                                        </m:nary>
                                      </m:e>
                                    </m:d>
                                  </m:e>
                                </m:func>
                              </m:e>
                            </m:d>
                            <m:r>
                              <a:rPr lang="de-DE" sz="1400" b="0" i="1" smtClean="0">
                                <a:latin typeface="Cambria Math" panose="02040503050406030204" pitchFamily="18" charset="0"/>
                              </a:rPr>
                              <m:t> </m:t>
                            </m:r>
                          </m:e>
                        </m:nary>
                      </m:e>
                    </m:nary>
                  </m:oMath>
                </a14:m>
                <a:r>
                  <a:rPr lang="de-DE" sz="1400" dirty="0"/>
                  <a:t> </a:t>
                </a:r>
              </a:p>
            </p:txBody>
          </p:sp>
        </mc:Choice>
        <mc:Fallback xmlns="">
          <p:sp>
            <p:nvSpPr>
              <p:cNvPr id="8" name="Textfeld 7">
                <a:extLst>
                  <a:ext uri="{FF2B5EF4-FFF2-40B4-BE49-F238E27FC236}">
                    <a16:creationId xmlns:a16="http://schemas.microsoft.com/office/drawing/2014/main" id="{ED3E8CCD-F0EE-9CAF-1547-97AD1F6823DF}"/>
                  </a:ext>
                </a:extLst>
              </p:cNvPr>
              <p:cNvSpPr txBox="1">
                <a:spLocks noRot="1" noChangeAspect="1" noMove="1" noResize="1" noEditPoints="1" noAdjustHandles="1" noChangeArrowheads="1" noChangeShapeType="1" noTextEdit="1"/>
              </p:cNvSpPr>
              <p:nvPr/>
            </p:nvSpPr>
            <p:spPr>
              <a:xfrm>
                <a:off x="1386279" y="3821935"/>
                <a:ext cx="6669817" cy="357918"/>
              </a:xfrm>
              <a:prstGeom prst="rect">
                <a:avLst/>
              </a:prstGeom>
              <a:blipFill>
                <a:blip r:embed="rId2"/>
                <a:stretch>
                  <a:fillRect t="-83051" b="-127119"/>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7ABCB11E-E975-AC83-D570-6309B4C28992}"/>
                  </a:ext>
                </a:extLst>
              </p:cNvPr>
              <p:cNvSpPr txBox="1"/>
              <p:nvPr/>
            </p:nvSpPr>
            <p:spPr>
              <a:xfrm>
                <a:off x="618772" y="2012953"/>
                <a:ext cx="5722913" cy="292388"/>
              </a:xfrm>
              <a:prstGeom prst="rect">
                <a:avLst/>
              </a:prstGeom>
              <a:noFill/>
            </p:spPr>
            <p:txBody>
              <a:bodyPr wrap="none" rtlCol="0">
                <a:spAutoFit/>
              </a:bodyPr>
              <a:lstStyle/>
              <a:p>
                <a:r>
                  <a:rPr lang="de-DE" sz="1300" dirty="0">
                    <a:latin typeface="Arial" panose="020B0604020202020204" pitchFamily="34" charset="0"/>
                    <a:cs typeface="Arial" panose="020B0604020202020204" pitchFamily="34" charset="0"/>
                  </a:rPr>
                  <a:t>Agentic behavioral </a:t>
                </a:r>
                <a:r>
                  <a:rPr lang="de-DE" sz="1300" dirty="0" err="1">
                    <a:latin typeface="Arial" panose="020B0604020202020204" pitchFamily="34" charset="0"/>
                    <a:cs typeface="Arial" panose="020B0604020202020204" pitchFamily="34" charset="0"/>
                  </a:rPr>
                  <a:t>model</a:t>
                </a:r>
                <a:r>
                  <a:rPr lang="de-DE" sz="1300" dirty="0">
                    <a:latin typeface="Arial" panose="020B0604020202020204" pitchFamily="34" charset="0"/>
                    <a:cs typeface="Arial" panose="020B0604020202020204" pitchFamily="34" charset="0"/>
                  </a:rPr>
                  <a:t> (</a:t>
                </a:r>
                <a14:m>
                  <m:oMath xmlns:m="http://schemas.openxmlformats.org/officeDocument/2006/math">
                    <m:r>
                      <a:rPr lang="de-DE" sz="1300" b="0" i="1" smtClean="0">
                        <a:latin typeface="Cambria Math" panose="02040503050406030204" pitchFamily="18" charset="0"/>
                        <a:cs typeface="Arial" panose="020B0604020202020204" pitchFamily="34" charset="0"/>
                      </a:rPr>
                      <m:t>𝑏</m:t>
                    </m:r>
                    <m:r>
                      <a:rPr lang="de-DE" sz="1300" b="0" i="1" smtClean="0">
                        <a:latin typeface="Cambria Math" panose="02040503050406030204" pitchFamily="18" charset="0"/>
                        <a:cs typeface="Arial" panose="020B0604020202020204" pitchFamily="34" charset="0"/>
                      </a:rPr>
                      <m:t>=</m:t>
                    </m:r>
                    <m:r>
                      <m:rPr>
                        <m:sty m:val="p"/>
                      </m:rPr>
                      <a:rPr lang="de-DE" sz="1300" b="0" i="0" smtClean="0">
                        <a:latin typeface="Cambria Math" panose="02040503050406030204" pitchFamily="18" charset="0"/>
                        <a:cs typeface="Arial" panose="020B0604020202020204" pitchFamily="34" charset="0"/>
                      </a:rPr>
                      <m:t>block</m:t>
                    </m:r>
                    <m:r>
                      <a:rPr lang="de-DE" sz="1300" b="0" i="1" smtClean="0">
                        <a:latin typeface="Cambria Math" panose="02040503050406030204" pitchFamily="18" charset="0"/>
                        <a:cs typeface="Arial" panose="020B0604020202020204" pitchFamily="34" charset="0"/>
                      </a:rPr>
                      <m:t>, </m:t>
                    </m:r>
                    <m:r>
                      <a:rPr lang="de-DE" sz="1300" b="0" i="1" smtClean="0">
                        <a:latin typeface="Cambria Math" panose="02040503050406030204" pitchFamily="18" charset="0"/>
                        <a:cs typeface="Arial" panose="020B0604020202020204" pitchFamily="34" charset="0"/>
                      </a:rPr>
                      <m:t>𝑡</m:t>
                    </m:r>
                    <m:r>
                      <a:rPr lang="de-DE" sz="1300" b="0" i="1" smtClean="0">
                        <a:latin typeface="Cambria Math" panose="02040503050406030204" pitchFamily="18" charset="0"/>
                        <a:cs typeface="Arial" panose="020B0604020202020204" pitchFamily="34" charset="0"/>
                      </a:rPr>
                      <m:t>=</m:t>
                    </m:r>
                    <m:r>
                      <m:rPr>
                        <m:sty m:val="p"/>
                      </m:rPr>
                      <a:rPr lang="de-DE" sz="1300" b="0" i="0" smtClean="0">
                        <a:latin typeface="Cambria Math" panose="02040503050406030204" pitchFamily="18" charset="0"/>
                        <a:cs typeface="Arial" panose="020B0604020202020204" pitchFamily="34" charset="0"/>
                      </a:rPr>
                      <m:t>trial</m:t>
                    </m:r>
                    <m:r>
                      <a:rPr lang="de-DE" sz="1300" b="0" i="1" smtClean="0">
                        <a:latin typeface="Cambria Math" panose="02040503050406030204" pitchFamily="18" charset="0"/>
                        <a:cs typeface="Arial" panose="020B0604020202020204" pitchFamily="34" charset="0"/>
                      </a:rPr>
                      <m:t>, </m:t>
                    </m:r>
                    <m:sSub>
                      <m:sSubPr>
                        <m:ctrlPr>
                          <a:rPr lang="de-DE" sz="1300" b="0" i="1" smtClean="0">
                            <a:latin typeface="Cambria Math" panose="02040503050406030204" pitchFamily="18" charset="0"/>
                            <a:cs typeface="Arial" panose="020B0604020202020204" pitchFamily="34" charset="0"/>
                          </a:rPr>
                        </m:ctrlPr>
                      </m:sSubPr>
                      <m:e>
                        <m:r>
                          <a:rPr lang="de-DE" sz="1300" b="0" i="1" smtClean="0">
                            <a:latin typeface="Cambria Math" panose="02040503050406030204" pitchFamily="18" charset="0"/>
                            <a:cs typeface="Arial" panose="020B0604020202020204" pitchFamily="34" charset="0"/>
                          </a:rPr>
                          <m:t>𝑛</m:t>
                        </m:r>
                      </m:e>
                      <m:sub>
                        <m:r>
                          <a:rPr lang="de-DE" sz="1300" b="0" i="1" smtClean="0">
                            <a:latin typeface="Cambria Math" panose="02040503050406030204" pitchFamily="18" charset="0"/>
                            <a:cs typeface="Arial" panose="020B0604020202020204" pitchFamily="34" charset="0"/>
                          </a:rPr>
                          <m:t>𝑏</m:t>
                        </m:r>
                      </m:sub>
                    </m:sSub>
                    <m:r>
                      <a:rPr lang="de-DE" sz="1300" b="0" i="1" smtClean="0">
                        <a:latin typeface="Cambria Math" panose="02040503050406030204" pitchFamily="18" charset="0"/>
                        <a:cs typeface="Arial" panose="020B0604020202020204" pitchFamily="34" charset="0"/>
                      </a:rPr>
                      <m:t>=</m:t>
                    </m:r>
                    <m:r>
                      <m:rPr>
                        <m:sty m:val="p"/>
                      </m:rPr>
                      <a:rPr lang="de-DE" sz="1300" b="0" i="0" smtClean="0">
                        <a:latin typeface="Cambria Math" panose="02040503050406030204" pitchFamily="18" charset="0"/>
                        <a:cs typeface="Arial" panose="020B0604020202020204" pitchFamily="34" charset="0"/>
                      </a:rPr>
                      <m:t>number</m:t>
                    </m:r>
                    <m:r>
                      <a:rPr lang="de-DE" sz="1300" b="0" i="0" smtClean="0">
                        <a:latin typeface="Cambria Math" panose="02040503050406030204" pitchFamily="18" charset="0"/>
                        <a:cs typeface="Arial" panose="020B0604020202020204" pitchFamily="34" charset="0"/>
                      </a:rPr>
                      <m:t> </m:t>
                    </m:r>
                    <m:r>
                      <m:rPr>
                        <m:sty m:val="p"/>
                      </m:rPr>
                      <a:rPr lang="de-DE" sz="1300" b="0" i="0" smtClean="0">
                        <a:latin typeface="Cambria Math" panose="02040503050406030204" pitchFamily="18" charset="0"/>
                        <a:cs typeface="Arial" panose="020B0604020202020204" pitchFamily="34" charset="0"/>
                      </a:rPr>
                      <m:t>of</m:t>
                    </m:r>
                    <m:r>
                      <a:rPr lang="de-DE" sz="1300" b="0" i="0" smtClean="0">
                        <a:latin typeface="Cambria Math" panose="02040503050406030204" pitchFamily="18" charset="0"/>
                        <a:cs typeface="Arial" panose="020B0604020202020204" pitchFamily="34" charset="0"/>
                      </a:rPr>
                      <m:t> </m:t>
                    </m:r>
                    <m:r>
                      <m:rPr>
                        <m:sty m:val="p"/>
                      </m:rPr>
                      <a:rPr lang="de-DE" sz="1300" b="0" i="0" smtClean="0">
                        <a:latin typeface="Cambria Math" panose="02040503050406030204" pitchFamily="18" charset="0"/>
                        <a:cs typeface="Arial" panose="020B0604020202020204" pitchFamily="34" charset="0"/>
                      </a:rPr>
                      <m:t>trials</m:t>
                    </m:r>
                    <m:r>
                      <a:rPr lang="de-DE" sz="1300" b="0" i="0" smtClean="0">
                        <a:latin typeface="Cambria Math" panose="02040503050406030204" pitchFamily="18" charset="0"/>
                        <a:cs typeface="Arial" panose="020B0604020202020204" pitchFamily="34" charset="0"/>
                      </a:rPr>
                      <m:t> </m:t>
                    </m:r>
                    <m:r>
                      <m:rPr>
                        <m:sty m:val="p"/>
                      </m:rPr>
                      <a:rPr lang="de-DE" sz="1300" b="0" i="0" smtClean="0">
                        <a:latin typeface="Cambria Math" panose="02040503050406030204" pitchFamily="18" charset="0"/>
                        <a:cs typeface="Arial" panose="020B0604020202020204" pitchFamily="34" charset="0"/>
                      </a:rPr>
                      <m:t>in</m:t>
                    </m:r>
                    <m:r>
                      <a:rPr lang="de-DE" sz="1300" b="0" i="0" smtClean="0">
                        <a:latin typeface="Cambria Math" panose="02040503050406030204" pitchFamily="18" charset="0"/>
                        <a:cs typeface="Arial" panose="020B0604020202020204" pitchFamily="34" charset="0"/>
                      </a:rPr>
                      <m:t> </m:t>
                    </m:r>
                    <m:r>
                      <a:rPr lang="de-DE" sz="1300" b="0" i="1" smtClean="0">
                        <a:latin typeface="Cambria Math" panose="02040503050406030204" pitchFamily="18" charset="0"/>
                        <a:cs typeface="Arial" panose="020B0604020202020204" pitchFamily="34" charset="0"/>
                      </a:rPr>
                      <m:t>𝑏</m:t>
                    </m:r>
                  </m:oMath>
                </a14:m>
                <a:r>
                  <a:rPr lang="de-DE" sz="1300" dirty="0">
                    <a:latin typeface="Arial" panose="020B0604020202020204" pitchFamily="34" charset="0"/>
                    <a:cs typeface="Arial" panose="020B0604020202020204" pitchFamily="34" charset="0"/>
                  </a:rPr>
                  <a:t> )</a:t>
                </a:r>
              </a:p>
            </p:txBody>
          </p:sp>
        </mc:Choice>
        <mc:Fallback xmlns="">
          <p:sp>
            <p:nvSpPr>
              <p:cNvPr id="11" name="Textfeld 10">
                <a:extLst>
                  <a:ext uri="{FF2B5EF4-FFF2-40B4-BE49-F238E27FC236}">
                    <a16:creationId xmlns:a16="http://schemas.microsoft.com/office/drawing/2014/main" id="{7ABCB11E-E975-AC83-D570-6309B4C28992}"/>
                  </a:ext>
                </a:extLst>
              </p:cNvPr>
              <p:cNvSpPr txBox="1">
                <a:spLocks noRot="1" noChangeAspect="1" noMove="1" noResize="1" noEditPoints="1" noAdjustHandles="1" noChangeArrowheads="1" noChangeShapeType="1" noTextEdit="1"/>
              </p:cNvSpPr>
              <p:nvPr/>
            </p:nvSpPr>
            <p:spPr>
              <a:xfrm>
                <a:off x="618772" y="2012953"/>
                <a:ext cx="5722913" cy="292388"/>
              </a:xfrm>
              <a:prstGeom prst="rect">
                <a:avLst/>
              </a:prstGeom>
              <a:blipFill>
                <a:blip r:embed="rId3"/>
                <a:stretch>
                  <a:fillRect l="-213" t="-2083" b="-16667"/>
                </a:stretch>
              </a:blipFill>
            </p:spPr>
            <p:txBody>
              <a:bodyPr/>
              <a:lstStyle/>
              <a:p>
                <a:r>
                  <a:rPr lang="de-DE">
                    <a:noFill/>
                  </a:rPr>
                  <a:t> </a:t>
                </a:r>
              </a:p>
            </p:txBody>
          </p:sp>
        </mc:Fallback>
      </mc:AlternateContent>
      <p:sp>
        <p:nvSpPr>
          <p:cNvPr id="13" name="Textfeld 12">
            <a:extLst>
              <a:ext uri="{FF2B5EF4-FFF2-40B4-BE49-F238E27FC236}">
                <a16:creationId xmlns:a16="http://schemas.microsoft.com/office/drawing/2014/main" id="{EF947837-1447-B901-0E92-FFE79C680398}"/>
              </a:ext>
            </a:extLst>
          </p:cNvPr>
          <p:cNvSpPr txBox="1"/>
          <p:nvPr/>
        </p:nvSpPr>
        <p:spPr>
          <a:xfrm>
            <a:off x="618772" y="3420300"/>
            <a:ext cx="2829621" cy="292388"/>
          </a:xfrm>
          <a:prstGeom prst="rect">
            <a:avLst/>
          </a:prstGeom>
          <a:noFill/>
        </p:spPr>
        <p:txBody>
          <a:bodyPr wrap="none" rtlCol="0">
            <a:spAutoFit/>
          </a:bodyPr>
          <a:lstStyle/>
          <a:p>
            <a:r>
              <a:rPr lang="de-DE" sz="1300" dirty="0" err="1">
                <a:latin typeface="Arial" panose="020B0604020202020204" pitchFamily="34" charset="0"/>
                <a:cs typeface="Arial" panose="020B0604020202020204" pitchFamily="34" charset="0"/>
              </a:rPr>
              <a:t>Sequential</a:t>
            </a:r>
            <a:r>
              <a:rPr lang="de-DE" sz="1300" dirty="0">
                <a:latin typeface="Arial" panose="020B0604020202020204" pitchFamily="34" charset="0"/>
                <a:cs typeface="Arial" panose="020B0604020202020204" pitchFamily="34" charset="0"/>
              </a:rPr>
              <a:t> </a:t>
            </a:r>
            <a:r>
              <a:rPr lang="de-DE" sz="1300" dirty="0" err="1">
                <a:latin typeface="Arial" panose="020B0604020202020204" pitchFamily="34" charset="0"/>
                <a:cs typeface="Arial" panose="020B0604020202020204" pitchFamily="34" charset="0"/>
              </a:rPr>
              <a:t>conditional</a:t>
            </a:r>
            <a:r>
              <a:rPr lang="de-DE" sz="1300" dirty="0">
                <a:latin typeface="Arial" panose="020B0604020202020204" pitchFamily="34" charset="0"/>
                <a:cs typeface="Arial" panose="020B0604020202020204" pitchFamily="34" charset="0"/>
              </a:rPr>
              <a:t> log </a:t>
            </a:r>
            <a:r>
              <a:rPr lang="de-DE" sz="1300" dirty="0" err="1">
                <a:latin typeface="Arial" panose="020B0604020202020204" pitchFamily="34" charset="0"/>
                <a:cs typeface="Arial" panose="020B0604020202020204" pitchFamily="34" charset="0"/>
              </a:rPr>
              <a:t>likelihood</a:t>
            </a:r>
            <a:endParaRPr lang="de-DE" sz="13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5" name="Textfeld 14">
                <a:extLst>
                  <a:ext uri="{FF2B5EF4-FFF2-40B4-BE49-F238E27FC236}">
                    <a16:creationId xmlns:a16="http://schemas.microsoft.com/office/drawing/2014/main" id="{BB47569E-3AE6-9A5C-877B-4B108D360CE9}"/>
                  </a:ext>
                </a:extLst>
              </p:cNvPr>
              <p:cNvSpPr txBox="1"/>
              <p:nvPr/>
            </p:nvSpPr>
            <p:spPr>
              <a:xfrm>
                <a:off x="1181521" y="4179853"/>
                <a:ext cx="6780958" cy="379848"/>
              </a:xfrm>
              <a:prstGeom prst="rect">
                <a:avLst/>
              </a:prstGeom>
              <a:noFill/>
            </p:spPr>
            <p:txBody>
              <a:bodyPr wrap="square" rtlCol="0">
                <a:spAutoFit/>
              </a:bodyPr>
              <a:lstStyle/>
              <a:p>
                <a:pPr>
                  <a:lnSpc>
                    <a:spcPct val="150000"/>
                  </a:lnSpc>
                </a:pPr>
                <a:r>
                  <a:rPr lang="de-DE" sz="1200" dirty="0">
                    <a:latin typeface="Arial" panose="020B0604020202020204" pitchFamily="34" charset="0"/>
                    <a:cs typeface="Arial" panose="020B0604020202020204" pitchFamily="34" charset="0"/>
                  </a:rPr>
                  <a:t>Adaptive Nelder-Mead </a:t>
                </a:r>
                <a:r>
                  <a:rPr lang="de-DE" sz="1200" dirty="0" err="1">
                    <a:latin typeface="Arial" panose="020B0604020202020204" pitchFamily="34" charset="0"/>
                    <a:cs typeface="Arial" panose="020B0604020202020204" pitchFamily="34" charset="0"/>
                  </a:rPr>
                  <a:t>optimization</a:t>
                </a:r>
                <a:r>
                  <a:rPr lang="de-DE" sz="1200" dirty="0">
                    <a:latin typeface="Arial" panose="020B0604020202020204" pitchFamily="34" charset="0"/>
                    <a:cs typeface="Arial" panose="020B0604020202020204" pitchFamily="34" charset="0"/>
                  </a:rPr>
                  <a:t> (</a:t>
                </a:r>
                <a:r>
                  <a:rPr lang="de-DE" sz="1200" dirty="0" err="1">
                    <a:latin typeface="Arial" panose="020B0604020202020204" pitchFamily="34" charset="0"/>
                    <a:cs typeface="Arial" panose="020B0604020202020204" pitchFamily="34" charset="0"/>
                  </a:rPr>
                  <a:t>scipy.optimize.minimize</a:t>
                </a:r>
                <a:r>
                  <a:rPr lang="de-DE" sz="1200" dirty="0">
                    <a:latin typeface="Arial" panose="020B0604020202020204" pitchFamily="34" charset="0"/>
                    <a:cs typeface="Arial" panose="020B0604020202020204" pitchFamily="34" charset="0"/>
                  </a:rPr>
                  <a:t>) </a:t>
                </a:r>
                <a:r>
                  <a:rPr lang="de-DE" sz="1200" dirty="0" err="1">
                    <a:latin typeface="Arial" panose="020B0604020202020204" pitchFamily="34" charset="0"/>
                    <a:cs typeface="Arial" panose="020B0604020202020204" pitchFamily="34" charset="0"/>
                  </a:rPr>
                  <a:t>with</a:t>
                </a:r>
                <a14:m>
                  <m:oMath xmlns:m="http://schemas.openxmlformats.org/officeDocument/2006/math">
                    <m:r>
                      <a:rPr lang="de-DE" sz="1200" b="0" i="0" smtClean="0">
                        <a:latin typeface="Cambria Math" panose="02040503050406030204" pitchFamily="18" charset="0"/>
                      </a:rPr>
                      <m:t> </m:t>
                    </m:r>
                    <m:d>
                      <m:dPr>
                        <m:ctrlPr>
                          <a:rPr lang="de-DE" sz="1200" i="1">
                            <a:latin typeface="Cambria Math" panose="02040503050406030204" pitchFamily="18" charset="0"/>
                          </a:rPr>
                        </m:ctrlPr>
                      </m:dPr>
                      <m:e>
                        <m:sSup>
                          <m:sSupPr>
                            <m:ctrlPr>
                              <a:rPr lang="de-DE" sz="1200" i="1">
                                <a:latin typeface="Cambria Math" panose="02040503050406030204" pitchFamily="18" charset="0"/>
                              </a:rPr>
                            </m:ctrlPr>
                          </m:sSupPr>
                          <m:e>
                            <m:r>
                              <a:rPr lang="de-DE" sz="1200" i="1">
                                <a:latin typeface="Cambria Math" panose="02040503050406030204" pitchFamily="18" charset="0"/>
                              </a:rPr>
                              <m:t>𝛽</m:t>
                            </m:r>
                          </m:e>
                          <m:sup>
                            <m:d>
                              <m:dPr>
                                <m:ctrlPr>
                                  <a:rPr lang="de-DE" sz="1200" b="0" i="1" smtClean="0">
                                    <a:latin typeface="Cambria Math" panose="02040503050406030204" pitchFamily="18" charset="0"/>
                                  </a:rPr>
                                </m:ctrlPr>
                              </m:dPr>
                              <m:e>
                                <m:r>
                                  <a:rPr lang="de-DE" sz="1200" b="0" i="1" smtClean="0">
                                    <a:latin typeface="Cambria Math" panose="02040503050406030204" pitchFamily="18" charset="0"/>
                                  </a:rPr>
                                  <m:t>0</m:t>
                                </m:r>
                              </m:e>
                            </m:d>
                          </m:sup>
                        </m:sSup>
                        <m:r>
                          <a:rPr lang="de-DE" sz="1200" i="1">
                            <a:latin typeface="Cambria Math" panose="02040503050406030204" pitchFamily="18" charset="0"/>
                          </a:rPr>
                          <m:t>,</m:t>
                        </m:r>
                        <m:sSup>
                          <m:sSupPr>
                            <m:ctrlPr>
                              <a:rPr lang="de-DE" sz="1200" i="1">
                                <a:latin typeface="Cambria Math" panose="02040503050406030204" pitchFamily="18" charset="0"/>
                              </a:rPr>
                            </m:ctrlPr>
                          </m:sSupPr>
                          <m:e>
                            <m:r>
                              <a:rPr lang="de-DE" sz="1200" i="1">
                                <a:latin typeface="Cambria Math" panose="02040503050406030204" pitchFamily="18" charset="0"/>
                              </a:rPr>
                              <m:t>𝜎</m:t>
                            </m:r>
                          </m:e>
                          <m:sup>
                            <m:d>
                              <m:dPr>
                                <m:ctrlPr>
                                  <a:rPr lang="de-DE" sz="1200" b="0" i="1" smtClean="0">
                                    <a:latin typeface="Cambria Math" panose="02040503050406030204" pitchFamily="18" charset="0"/>
                                  </a:rPr>
                                </m:ctrlPr>
                              </m:dPr>
                              <m:e>
                                <m:r>
                                  <a:rPr lang="de-DE" sz="1200" b="0" i="1" smtClean="0">
                                    <a:latin typeface="Cambria Math" panose="02040503050406030204" pitchFamily="18" charset="0"/>
                                  </a:rPr>
                                  <m:t>0</m:t>
                                </m:r>
                              </m:e>
                            </m:d>
                          </m:sup>
                        </m:sSup>
                        <m:r>
                          <a:rPr lang="de-DE" sz="1200" i="1">
                            <a:latin typeface="Cambria Math" panose="02040503050406030204" pitchFamily="18" charset="0"/>
                          </a:rPr>
                          <m:t>,</m:t>
                        </m:r>
                        <m:sSup>
                          <m:sSupPr>
                            <m:ctrlPr>
                              <a:rPr lang="de-DE" sz="1200" i="1">
                                <a:latin typeface="Cambria Math" panose="02040503050406030204" pitchFamily="18" charset="0"/>
                              </a:rPr>
                            </m:ctrlPr>
                          </m:sSupPr>
                          <m:e>
                            <m:r>
                              <a:rPr lang="de-DE" sz="1200" i="1">
                                <a:latin typeface="Cambria Math" panose="02040503050406030204" pitchFamily="18" charset="0"/>
                              </a:rPr>
                              <m:t>𝜏</m:t>
                            </m:r>
                          </m:e>
                          <m:sup>
                            <m:d>
                              <m:dPr>
                                <m:ctrlPr>
                                  <a:rPr lang="de-DE" sz="1200" b="0" i="1" smtClean="0">
                                    <a:latin typeface="Cambria Math" panose="02040503050406030204" pitchFamily="18" charset="0"/>
                                  </a:rPr>
                                </m:ctrlPr>
                              </m:dPr>
                              <m:e>
                                <m:r>
                                  <a:rPr lang="de-DE" sz="1200" b="0" i="1" smtClean="0">
                                    <a:latin typeface="Cambria Math" panose="02040503050406030204" pitchFamily="18" charset="0"/>
                                  </a:rPr>
                                  <m:t>0</m:t>
                                </m:r>
                              </m:e>
                            </m:d>
                          </m:sup>
                        </m:sSup>
                      </m:e>
                    </m:d>
                    <m:r>
                      <a:rPr lang="de-DE" sz="1200" b="0" i="1" smtClean="0">
                        <a:latin typeface="Cambria Math" panose="02040503050406030204" pitchFamily="18" charset="0"/>
                      </a:rPr>
                      <m:t>≔(0.01,0.1,0.3)</m:t>
                    </m:r>
                  </m:oMath>
                </a14:m>
                <a:endParaRPr lang="de-DE" sz="1200" dirty="0">
                  <a:latin typeface="Arial" panose="020B0604020202020204" pitchFamily="34" charset="0"/>
                  <a:cs typeface="Arial" panose="020B0604020202020204" pitchFamily="34" charset="0"/>
                </a:endParaRPr>
              </a:p>
            </p:txBody>
          </p:sp>
        </mc:Choice>
        <mc:Fallback xmlns="">
          <p:sp>
            <p:nvSpPr>
              <p:cNvPr id="15" name="Textfeld 14">
                <a:extLst>
                  <a:ext uri="{FF2B5EF4-FFF2-40B4-BE49-F238E27FC236}">
                    <a16:creationId xmlns:a16="http://schemas.microsoft.com/office/drawing/2014/main" id="{BB47569E-3AE6-9A5C-877B-4B108D360CE9}"/>
                  </a:ext>
                </a:extLst>
              </p:cNvPr>
              <p:cNvSpPr txBox="1">
                <a:spLocks noRot="1" noChangeAspect="1" noMove="1" noResize="1" noEditPoints="1" noAdjustHandles="1" noChangeArrowheads="1" noChangeShapeType="1" noTextEdit="1"/>
              </p:cNvSpPr>
              <p:nvPr/>
            </p:nvSpPr>
            <p:spPr>
              <a:xfrm>
                <a:off x="1181521" y="4179853"/>
                <a:ext cx="6780958" cy="379848"/>
              </a:xfrm>
              <a:prstGeom prst="rect">
                <a:avLst/>
              </a:prstGeom>
              <a:blipFill>
                <a:blip r:embed="rId4"/>
                <a:stretch>
                  <a:fillRect l="-90" b="-8065"/>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7" name="Textfeld 16">
                <a:extLst>
                  <a:ext uri="{FF2B5EF4-FFF2-40B4-BE49-F238E27FC236}">
                    <a16:creationId xmlns:a16="http://schemas.microsoft.com/office/drawing/2014/main" id="{DCB9EB60-3274-561C-B418-9225CEB087DF}"/>
                  </a:ext>
                </a:extLst>
              </p:cNvPr>
              <p:cNvSpPr txBox="1"/>
              <p:nvPr/>
            </p:nvSpPr>
            <p:spPr>
              <a:xfrm>
                <a:off x="1571198" y="1380420"/>
                <a:ext cx="6299980" cy="528093"/>
              </a:xfrm>
              <a:prstGeom prst="rect">
                <a:avLst/>
              </a:prstGeom>
              <a:noFill/>
            </p:spPr>
            <p:txBody>
              <a:bodyPr wrap="square" rtlCol="0">
                <a:spAutoFit/>
              </a:bodyPr>
              <a:lstStyle/>
              <a:p>
                <a14:m>
                  <m:oMath xmlns:m="http://schemas.openxmlformats.org/officeDocument/2006/math">
                    <m:sSub>
                      <m:sSubPr>
                        <m:ctrlPr>
                          <a:rPr lang="de-DE" sz="1400" b="0" i="1" smtClean="0">
                            <a:latin typeface="Cambria Math" panose="02040503050406030204" pitchFamily="18" charset="0"/>
                            <a:cs typeface="Arial" panose="020B0604020202020204" pitchFamily="34" charset="0"/>
                          </a:rPr>
                        </m:ctrlPr>
                      </m:sSubPr>
                      <m:e>
                        <m:r>
                          <a:rPr lang="de-DE" sz="1400" b="0" i="1" smtClean="0">
                            <a:latin typeface="Cambria Math" panose="02040503050406030204" pitchFamily="18" charset="0"/>
                            <a:cs typeface="Arial" panose="020B0604020202020204" pitchFamily="34" charset="0"/>
                          </a:rPr>
                          <m:t>𝑝</m:t>
                        </m:r>
                      </m:e>
                      <m:sub>
                        <m:r>
                          <a:rPr lang="de-DE" sz="1400" b="0" i="1" smtClean="0">
                            <a:latin typeface="Cambria Math" panose="02040503050406030204" pitchFamily="18" charset="0"/>
                            <a:cs typeface="Arial" panose="020B0604020202020204" pitchFamily="34" charset="0"/>
                          </a:rPr>
                          <m:t>𝛽</m:t>
                        </m:r>
                        <m:r>
                          <a:rPr lang="de-DE" sz="1400" b="0" i="1" smtClean="0">
                            <a:latin typeface="Cambria Math" panose="02040503050406030204" pitchFamily="18" charset="0"/>
                            <a:cs typeface="Arial" panose="020B0604020202020204" pitchFamily="34" charset="0"/>
                          </a:rPr>
                          <m:t>,</m:t>
                        </m:r>
                        <m:r>
                          <a:rPr lang="de-DE" sz="1400" b="0" i="1" smtClean="0">
                            <a:latin typeface="Cambria Math" panose="02040503050406030204" pitchFamily="18" charset="0"/>
                            <a:cs typeface="Arial" panose="020B0604020202020204" pitchFamily="34" charset="0"/>
                          </a:rPr>
                          <m:t>𝜎</m:t>
                        </m:r>
                        <m:r>
                          <a:rPr lang="de-DE" sz="1400" b="0" i="1" smtClean="0">
                            <a:latin typeface="Cambria Math" panose="02040503050406030204" pitchFamily="18" charset="0"/>
                            <a:cs typeface="Arial" panose="020B0604020202020204" pitchFamily="34" charset="0"/>
                          </a:rPr>
                          <m:t>,</m:t>
                        </m:r>
                        <m:r>
                          <a:rPr lang="de-DE" sz="1400" b="0" i="1" smtClean="0">
                            <a:latin typeface="Cambria Math" panose="02040503050406030204" pitchFamily="18" charset="0"/>
                            <a:cs typeface="Arial" panose="020B0604020202020204" pitchFamily="34" charset="0"/>
                          </a:rPr>
                          <m:t>𝜏</m:t>
                        </m:r>
                      </m:sub>
                    </m:sSub>
                    <m:d>
                      <m:dPr>
                        <m:ctrlPr>
                          <a:rPr lang="de-DE" sz="1400" b="0" i="1" smtClean="0">
                            <a:latin typeface="Cambria Math" panose="02040503050406030204" pitchFamily="18" charset="0"/>
                            <a:cs typeface="Arial" panose="020B0604020202020204" pitchFamily="34" charset="0"/>
                          </a:rPr>
                        </m:ctrlPr>
                      </m:dPr>
                      <m:e>
                        <m:sSub>
                          <m:sSubPr>
                            <m:ctrlPr>
                              <a:rPr lang="de-DE" sz="1400" b="0" i="1" smtClean="0">
                                <a:latin typeface="Cambria Math" panose="02040503050406030204" pitchFamily="18" charset="0"/>
                                <a:cs typeface="Arial" panose="020B0604020202020204" pitchFamily="34" charset="0"/>
                              </a:rPr>
                            </m:ctrlPr>
                          </m:sSubPr>
                          <m:e>
                            <m:r>
                              <a:rPr lang="de-DE" sz="1400" b="0" i="1" smtClean="0">
                                <a:latin typeface="Cambria Math" panose="02040503050406030204" pitchFamily="18" charset="0"/>
                                <a:cs typeface="Arial" panose="020B0604020202020204" pitchFamily="34" charset="0"/>
                              </a:rPr>
                              <m:t>𝑎</m:t>
                            </m:r>
                          </m:e>
                          <m:sub>
                            <m:r>
                              <a:rPr lang="de-DE" sz="1400" b="0" i="1" smtClean="0">
                                <a:latin typeface="Cambria Math" panose="02040503050406030204" pitchFamily="18" charset="0"/>
                                <a:cs typeface="Arial" panose="020B0604020202020204" pitchFamily="34" charset="0"/>
                              </a:rPr>
                              <m:t>𝑡</m:t>
                            </m:r>
                          </m:sub>
                        </m:sSub>
                      </m:e>
                      <m:e>
                        <m:sSub>
                          <m:sSubPr>
                            <m:ctrlPr>
                              <a:rPr lang="de-DE" sz="1400" b="0" i="1" smtClean="0">
                                <a:latin typeface="Cambria Math" panose="02040503050406030204" pitchFamily="18" charset="0"/>
                                <a:cs typeface="Arial" panose="020B0604020202020204" pitchFamily="34" charset="0"/>
                              </a:rPr>
                            </m:ctrlPr>
                          </m:sSubPr>
                          <m:e>
                            <m:r>
                              <a:rPr lang="de-DE" sz="1400" b="0" i="1" smtClean="0">
                                <a:latin typeface="Cambria Math" panose="02040503050406030204" pitchFamily="18" charset="0"/>
                                <a:cs typeface="Arial" panose="020B0604020202020204" pitchFamily="34" charset="0"/>
                              </a:rPr>
                              <m:t>𝑠</m:t>
                            </m:r>
                          </m:e>
                          <m:sub>
                            <m:r>
                              <a:rPr lang="de-DE" sz="1400" b="0" i="1" smtClean="0">
                                <a:latin typeface="Cambria Math" panose="02040503050406030204" pitchFamily="18" charset="0"/>
                                <a:cs typeface="Arial" panose="020B0604020202020204" pitchFamily="34" charset="0"/>
                              </a:rPr>
                              <m:t>𝑡</m:t>
                            </m:r>
                          </m:sub>
                        </m:sSub>
                      </m:e>
                    </m:d>
                    <m:r>
                      <a:rPr lang="de-DE" sz="1400" b="0" i="1" smtClean="0">
                        <a:latin typeface="Cambria Math" panose="02040503050406030204" pitchFamily="18" charset="0"/>
                        <a:cs typeface="Arial" panose="020B0604020202020204" pitchFamily="34" charset="0"/>
                      </a:rPr>
                      <m:t>≔</m:t>
                    </m:r>
                    <m:f>
                      <m:fPr>
                        <m:ctrlPr>
                          <a:rPr lang="de-DE" sz="1400" b="0" i="1" smtClean="0">
                            <a:latin typeface="Cambria Math" panose="02040503050406030204" pitchFamily="18" charset="0"/>
                            <a:cs typeface="Arial" panose="020B0604020202020204" pitchFamily="34" charset="0"/>
                          </a:rPr>
                        </m:ctrlPr>
                      </m:fPr>
                      <m:num>
                        <m:r>
                          <m:rPr>
                            <m:sty m:val="p"/>
                          </m:rPr>
                          <a:rPr lang="de-DE" sz="1400" b="0" i="1" smtClean="0">
                            <a:latin typeface="Cambria Math" panose="02040503050406030204" pitchFamily="18" charset="0"/>
                            <a:cs typeface="Arial" panose="020B0604020202020204" pitchFamily="34" charset="0"/>
                          </a:rPr>
                          <m:t>exp</m:t>
                        </m:r>
                        <m:d>
                          <m:dPr>
                            <m:ctrlPr>
                              <a:rPr lang="de-DE" sz="1400" b="0" i="1" smtClean="0">
                                <a:latin typeface="Cambria Math" panose="02040503050406030204" pitchFamily="18" charset="0"/>
                                <a:cs typeface="Arial" panose="020B0604020202020204" pitchFamily="34" charset="0"/>
                              </a:rPr>
                            </m:ctrlPr>
                          </m:dPr>
                          <m:e>
                            <m:sSubSup>
                              <m:sSubSupPr>
                                <m:ctrlPr>
                                  <a:rPr lang="de-DE" sz="1400" b="0" i="1" smtClean="0">
                                    <a:latin typeface="Cambria Math" panose="02040503050406030204" pitchFamily="18" charset="0"/>
                                    <a:cs typeface="Arial" panose="020B0604020202020204" pitchFamily="34" charset="0"/>
                                  </a:rPr>
                                </m:ctrlPr>
                              </m:sSubSupPr>
                              <m:e>
                                <m:r>
                                  <a:rPr lang="de-DE" sz="1400" b="0" i="1" smtClean="0">
                                    <a:latin typeface="Cambria Math" panose="02040503050406030204" pitchFamily="18" charset="0"/>
                                    <a:cs typeface="Arial" panose="020B0604020202020204" pitchFamily="34" charset="0"/>
                                  </a:rPr>
                                  <m:t>𝑞</m:t>
                                </m:r>
                              </m:e>
                              <m:sub>
                                <m:r>
                                  <a:rPr lang="de-DE" sz="1400" b="0" i="1" smtClean="0">
                                    <a:latin typeface="Cambria Math" panose="02040503050406030204" pitchFamily="18" charset="0"/>
                                    <a:cs typeface="Arial" panose="020B0604020202020204" pitchFamily="34" charset="0"/>
                                  </a:rPr>
                                  <m:t>𝑡</m:t>
                                </m:r>
                              </m:sub>
                              <m:sup>
                                <m:r>
                                  <a:rPr lang="de-DE" sz="1400" b="0" i="1" smtClean="0">
                                    <a:latin typeface="Cambria Math" panose="02040503050406030204" pitchFamily="18" charset="0"/>
                                    <a:cs typeface="Arial" panose="020B0604020202020204" pitchFamily="34" charset="0"/>
                                  </a:rPr>
                                  <m:t>∗</m:t>
                                </m:r>
                              </m:sup>
                            </m:sSubSup>
                            <m:d>
                              <m:dPr>
                                <m:ctrlPr>
                                  <a:rPr lang="de-DE" sz="1400" i="1">
                                    <a:latin typeface="Cambria Math" panose="02040503050406030204" pitchFamily="18" charset="0"/>
                                  </a:rPr>
                                </m:ctrlPr>
                              </m:dPr>
                              <m:e>
                                <m:sSub>
                                  <m:sSubPr>
                                    <m:ctrlPr>
                                      <a:rPr lang="de-DE" sz="1400" i="1">
                                        <a:latin typeface="Cambria Math" panose="02040503050406030204" pitchFamily="18" charset="0"/>
                                      </a:rPr>
                                    </m:ctrlPr>
                                  </m:sSubPr>
                                  <m:e>
                                    <m:r>
                                      <a:rPr lang="de-DE" sz="1400" i="1">
                                        <a:latin typeface="Cambria Math" panose="02040503050406030204" pitchFamily="18" charset="0"/>
                                      </a:rPr>
                                      <m:t>𝑠</m:t>
                                    </m:r>
                                  </m:e>
                                  <m:sub>
                                    <m:r>
                                      <a:rPr lang="de-DE" sz="1400" i="1">
                                        <a:latin typeface="Cambria Math" panose="02040503050406030204" pitchFamily="18" charset="0"/>
                                      </a:rPr>
                                      <m:t>𝑡</m:t>
                                    </m:r>
                                  </m:sub>
                                </m:sSub>
                                <m:r>
                                  <a:rPr lang="de-DE" sz="1400" i="1">
                                    <a:latin typeface="Cambria Math" panose="02040503050406030204" pitchFamily="18" charset="0"/>
                                  </a:rPr>
                                  <m:t>,</m:t>
                                </m:r>
                                <m:sSub>
                                  <m:sSubPr>
                                    <m:ctrlPr>
                                      <a:rPr lang="de-DE" sz="1400" i="1">
                                        <a:latin typeface="Cambria Math" panose="02040503050406030204" pitchFamily="18" charset="0"/>
                                      </a:rPr>
                                    </m:ctrlPr>
                                  </m:sSubPr>
                                  <m:e>
                                    <m:r>
                                      <a:rPr lang="de-DE" sz="1400" i="1">
                                        <a:latin typeface="Cambria Math" panose="02040503050406030204" pitchFamily="18" charset="0"/>
                                      </a:rPr>
                                      <m:t>𝑎</m:t>
                                    </m:r>
                                  </m:e>
                                  <m:sub>
                                    <m:r>
                                      <a:rPr lang="de-DE" sz="1400" i="1">
                                        <a:latin typeface="Cambria Math" panose="02040503050406030204" pitchFamily="18" charset="0"/>
                                      </a:rPr>
                                      <m:t>𝑡</m:t>
                                    </m:r>
                                  </m:sub>
                                </m:sSub>
                                <m:r>
                                  <a:rPr lang="de-DE" sz="1400" i="1">
                                    <a:latin typeface="Cambria Math" panose="02040503050406030204" pitchFamily="18" charset="0"/>
                                  </a:rPr>
                                  <m:t>;</m:t>
                                </m:r>
                                <m:r>
                                  <a:rPr lang="de-DE" sz="1400" i="1">
                                    <a:latin typeface="Cambria Math" panose="02040503050406030204" pitchFamily="18" charset="0"/>
                                  </a:rPr>
                                  <m:t>𝛽</m:t>
                                </m:r>
                                <m:r>
                                  <a:rPr lang="de-DE" sz="1400" i="1">
                                    <a:latin typeface="Cambria Math" panose="02040503050406030204" pitchFamily="18" charset="0"/>
                                  </a:rPr>
                                  <m:t>,</m:t>
                                </m:r>
                                <m:r>
                                  <a:rPr lang="de-DE" sz="1400" i="1">
                                    <a:latin typeface="Cambria Math" panose="02040503050406030204" pitchFamily="18" charset="0"/>
                                  </a:rPr>
                                  <m:t>𝜎</m:t>
                                </m:r>
                              </m:e>
                            </m:d>
                          </m:e>
                        </m:d>
                      </m:num>
                      <m:den>
                        <m:nary>
                          <m:naryPr>
                            <m:chr m:val="∑"/>
                            <m:supHide m:val="on"/>
                            <m:ctrlPr>
                              <a:rPr lang="de-DE" sz="1400" b="0" i="1" smtClean="0">
                                <a:latin typeface="Cambria Math" panose="02040503050406030204" pitchFamily="18" charset="0"/>
                              </a:rPr>
                            </m:ctrlPr>
                          </m:naryPr>
                          <m:sub>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𝑎</m:t>
                                </m:r>
                              </m:e>
                              <m:sub>
                                <m:r>
                                  <a:rPr lang="de-DE" sz="1400" b="0" i="1" smtClean="0">
                                    <a:latin typeface="Cambria Math" panose="02040503050406030204" pitchFamily="18" charset="0"/>
                                  </a:rPr>
                                  <m:t>𝑡</m:t>
                                </m:r>
                              </m:sub>
                            </m:sSub>
                          </m:sub>
                          <m:sup/>
                          <m:e>
                            <m:r>
                              <m:rPr>
                                <m:sty m:val="p"/>
                              </m:rPr>
                              <a:rPr lang="de-DE" sz="1400" i="1">
                                <a:latin typeface="Cambria Math" panose="02040503050406030204" pitchFamily="18" charset="0"/>
                                <a:cs typeface="Arial" panose="020B0604020202020204" pitchFamily="34" charset="0"/>
                              </a:rPr>
                              <m:t>exp</m:t>
                            </m:r>
                            <m:d>
                              <m:dPr>
                                <m:ctrlPr>
                                  <a:rPr lang="de-DE" sz="1400" i="1">
                                    <a:latin typeface="Cambria Math" panose="02040503050406030204" pitchFamily="18" charset="0"/>
                                  </a:rPr>
                                </m:ctrlPr>
                              </m:dPr>
                              <m:e>
                                <m:sSubSup>
                                  <m:sSubSupPr>
                                    <m:ctrlPr>
                                      <a:rPr lang="de-DE" sz="1400" i="1">
                                        <a:latin typeface="Cambria Math" panose="02040503050406030204" pitchFamily="18" charset="0"/>
                                      </a:rPr>
                                    </m:ctrlPr>
                                  </m:sSubSupPr>
                                  <m:e>
                                    <m:r>
                                      <a:rPr lang="de-DE" sz="1400" i="1">
                                        <a:latin typeface="Cambria Math" panose="02040503050406030204" pitchFamily="18" charset="0"/>
                                      </a:rPr>
                                      <m:t>𝑞</m:t>
                                    </m:r>
                                  </m:e>
                                  <m:sub>
                                    <m:r>
                                      <a:rPr lang="de-DE" sz="1400" i="1">
                                        <a:latin typeface="Cambria Math" panose="02040503050406030204" pitchFamily="18" charset="0"/>
                                      </a:rPr>
                                      <m:t>𝑡</m:t>
                                    </m:r>
                                  </m:sub>
                                  <m:sup>
                                    <m:r>
                                      <a:rPr lang="de-DE" sz="1400" i="1">
                                        <a:latin typeface="Cambria Math" panose="02040503050406030204" pitchFamily="18" charset="0"/>
                                      </a:rPr>
                                      <m:t>∗</m:t>
                                    </m:r>
                                  </m:sup>
                                </m:sSubSup>
                                <m:d>
                                  <m:dPr>
                                    <m:ctrlPr>
                                      <a:rPr lang="de-DE" sz="1400" i="1">
                                        <a:latin typeface="Cambria Math" panose="02040503050406030204" pitchFamily="18" charset="0"/>
                                      </a:rPr>
                                    </m:ctrlPr>
                                  </m:dPr>
                                  <m:e>
                                    <m:sSub>
                                      <m:sSubPr>
                                        <m:ctrlPr>
                                          <a:rPr lang="de-DE" sz="1400" i="1">
                                            <a:latin typeface="Cambria Math" panose="02040503050406030204" pitchFamily="18" charset="0"/>
                                          </a:rPr>
                                        </m:ctrlPr>
                                      </m:sSubPr>
                                      <m:e>
                                        <m:r>
                                          <a:rPr lang="de-DE" sz="1400" i="1">
                                            <a:latin typeface="Cambria Math" panose="02040503050406030204" pitchFamily="18" charset="0"/>
                                          </a:rPr>
                                          <m:t>𝑠</m:t>
                                        </m:r>
                                      </m:e>
                                      <m:sub>
                                        <m:r>
                                          <a:rPr lang="de-DE" sz="1400" i="1">
                                            <a:latin typeface="Cambria Math" panose="02040503050406030204" pitchFamily="18" charset="0"/>
                                          </a:rPr>
                                          <m:t>𝑡</m:t>
                                        </m:r>
                                      </m:sub>
                                    </m:sSub>
                                    <m:r>
                                      <a:rPr lang="de-DE" sz="1400" i="1">
                                        <a:latin typeface="Cambria Math" panose="02040503050406030204" pitchFamily="18" charset="0"/>
                                      </a:rPr>
                                      <m:t>,</m:t>
                                    </m:r>
                                    <m:sSub>
                                      <m:sSubPr>
                                        <m:ctrlPr>
                                          <a:rPr lang="de-DE" sz="1400" i="1">
                                            <a:latin typeface="Cambria Math" panose="02040503050406030204" pitchFamily="18" charset="0"/>
                                          </a:rPr>
                                        </m:ctrlPr>
                                      </m:sSubPr>
                                      <m:e>
                                        <m:r>
                                          <a:rPr lang="de-DE" sz="1400" i="1">
                                            <a:latin typeface="Cambria Math" panose="02040503050406030204" pitchFamily="18" charset="0"/>
                                          </a:rPr>
                                          <m:t>𝑎</m:t>
                                        </m:r>
                                      </m:e>
                                      <m:sub>
                                        <m:r>
                                          <a:rPr lang="de-DE" sz="1400" i="1">
                                            <a:latin typeface="Cambria Math" panose="02040503050406030204" pitchFamily="18" charset="0"/>
                                          </a:rPr>
                                          <m:t>𝑡</m:t>
                                        </m:r>
                                      </m:sub>
                                    </m:sSub>
                                    <m:r>
                                      <a:rPr lang="de-DE" sz="1400" i="1">
                                        <a:latin typeface="Cambria Math" panose="02040503050406030204" pitchFamily="18" charset="0"/>
                                      </a:rPr>
                                      <m:t>;</m:t>
                                    </m:r>
                                    <m:r>
                                      <a:rPr lang="de-DE" sz="1400" i="1">
                                        <a:latin typeface="Cambria Math" panose="02040503050406030204" pitchFamily="18" charset="0"/>
                                      </a:rPr>
                                      <m:t>𝛽</m:t>
                                    </m:r>
                                    <m:r>
                                      <a:rPr lang="de-DE" sz="1400" i="1">
                                        <a:latin typeface="Cambria Math" panose="02040503050406030204" pitchFamily="18" charset="0"/>
                                      </a:rPr>
                                      <m:t>,</m:t>
                                    </m:r>
                                    <m:r>
                                      <a:rPr lang="de-DE" sz="1400" i="1">
                                        <a:latin typeface="Cambria Math" panose="02040503050406030204" pitchFamily="18" charset="0"/>
                                      </a:rPr>
                                      <m:t>𝜎</m:t>
                                    </m:r>
                                  </m:e>
                                </m:d>
                              </m:e>
                            </m:d>
                          </m:e>
                        </m:nary>
                      </m:den>
                    </m:f>
                    <m:r>
                      <a:rPr lang="de-DE" sz="1400" i="1">
                        <a:latin typeface="Cambria Math" panose="02040503050406030204" pitchFamily="18" charset="0"/>
                      </a:rPr>
                      <m:t>⇒</m:t>
                    </m:r>
                  </m:oMath>
                </a14:m>
                <a:r>
                  <a:rPr lang="de-DE" sz="1400" dirty="0"/>
                  <a:t> </a:t>
                </a:r>
                <a:r>
                  <a:rPr lang="de-DE" sz="1400" dirty="0">
                    <a:latin typeface="Arial" panose="020B0604020202020204" pitchFamily="34" charset="0"/>
                    <a:cs typeface="Arial" panose="020B0604020202020204" pitchFamily="34" charset="0"/>
                  </a:rPr>
                  <a:t>Action as </a:t>
                </a:r>
                <a:r>
                  <a:rPr lang="de-DE" sz="1400" dirty="0" err="1">
                    <a:latin typeface="Arial" panose="020B0604020202020204" pitchFamily="34" charset="0"/>
                    <a:cs typeface="Arial" panose="020B0604020202020204" pitchFamily="34" charset="0"/>
                  </a:rPr>
                  <a:t>noisy</a:t>
                </a:r>
                <a:r>
                  <a:rPr lang="de-DE" sz="1400" dirty="0">
                    <a:latin typeface="Arial" panose="020B0604020202020204" pitchFamily="34" charset="0"/>
                    <a:cs typeface="Arial" panose="020B0604020202020204" pitchFamily="34" charset="0"/>
                  </a:rPr>
                  <a:t> (soft-</a:t>
                </a:r>
                <a:r>
                  <a:rPr lang="de-DE" sz="1400" dirty="0" err="1">
                    <a:latin typeface="Arial" panose="020B0604020202020204" pitchFamily="34" charset="0"/>
                    <a:cs typeface="Arial" panose="020B0604020202020204" pitchFamily="34" charset="0"/>
                  </a:rPr>
                  <a:t>maximizing</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decision</a:t>
                </a:r>
                <a:endParaRPr lang="de-DE" sz="1400" dirty="0">
                  <a:latin typeface="Arial" panose="020B0604020202020204" pitchFamily="34" charset="0"/>
                  <a:cs typeface="Arial" panose="020B0604020202020204" pitchFamily="34" charset="0"/>
                </a:endParaRPr>
              </a:p>
            </p:txBody>
          </p:sp>
        </mc:Choice>
        <mc:Fallback xmlns="">
          <p:sp>
            <p:nvSpPr>
              <p:cNvPr id="17" name="Textfeld 16">
                <a:extLst>
                  <a:ext uri="{FF2B5EF4-FFF2-40B4-BE49-F238E27FC236}">
                    <a16:creationId xmlns:a16="http://schemas.microsoft.com/office/drawing/2014/main" id="{DCB9EB60-3274-561C-B418-9225CEB087DF}"/>
                  </a:ext>
                </a:extLst>
              </p:cNvPr>
              <p:cNvSpPr txBox="1">
                <a:spLocks noRot="1" noChangeAspect="1" noMove="1" noResize="1" noEditPoints="1" noAdjustHandles="1" noChangeArrowheads="1" noChangeShapeType="1" noTextEdit="1"/>
              </p:cNvSpPr>
              <p:nvPr/>
            </p:nvSpPr>
            <p:spPr>
              <a:xfrm>
                <a:off x="1571198" y="1380420"/>
                <a:ext cx="6299980" cy="528093"/>
              </a:xfrm>
              <a:prstGeom prst="rect">
                <a:avLst/>
              </a:prstGeom>
              <a:blipFill>
                <a:blip r:embed="rId5"/>
                <a:stretch>
                  <a:fillRect b="-59770"/>
                </a:stretch>
              </a:blipFill>
            </p:spPr>
            <p:txBody>
              <a:bodyPr/>
              <a:lstStyle/>
              <a:p>
                <a:r>
                  <a:rPr lang="de-DE">
                    <a:noFill/>
                  </a:rPr>
                  <a:t> </a:t>
                </a:r>
              </a:p>
            </p:txBody>
          </p:sp>
        </mc:Fallback>
      </mc:AlternateContent>
      <p:sp>
        <p:nvSpPr>
          <p:cNvPr id="19" name="Textfeld 18">
            <a:extLst>
              <a:ext uri="{FF2B5EF4-FFF2-40B4-BE49-F238E27FC236}">
                <a16:creationId xmlns:a16="http://schemas.microsoft.com/office/drawing/2014/main" id="{61627905-10F9-2A03-FE97-7C6DB41C22AE}"/>
              </a:ext>
            </a:extLst>
          </p:cNvPr>
          <p:cNvSpPr txBox="1"/>
          <p:nvPr/>
        </p:nvSpPr>
        <p:spPr>
          <a:xfrm>
            <a:off x="618772" y="1088032"/>
            <a:ext cx="1399720" cy="292388"/>
          </a:xfrm>
          <a:prstGeom prst="rect">
            <a:avLst/>
          </a:prstGeom>
          <a:noFill/>
        </p:spPr>
        <p:txBody>
          <a:bodyPr wrap="square">
            <a:spAutoFit/>
          </a:bodyPr>
          <a:lstStyle/>
          <a:p>
            <a:r>
              <a:rPr lang="de-DE" sz="1300" dirty="0">
                <a:latin typeface="Arial" panose="020B0604020202020204" pitchFamily="34" charset="0"/>
                <a:cs typeface="Arial" panose="020B0604020202020204" pitchFamily="34" charset="0"/>
              </a:rPr>
              <a:t>Data </a:t>
            </a:r>
            <a:r>
              <a:rPr lang="de-DE" sz="1300" dirty="0" err="1">
                <a:latin typeface="Arial" panose="020B0604020202020204" pitchFamily="34" charset="0"/>
                <a:cs typeface="Arial" panose="020B0604020202020204" pitchFamily="34" charset="0"/>
              </a:rPr>
              <a:t>model</a:t>
            </a:r>
            <a:endParaRPr lang="de-DE" sz="1300" dirty="0"/>
          </a:p>
        </p:txBody>
      </p:sp>
      <p:pic>
        <p:nvPicPr>
          <p:cNvPr id="5" name="Grafik 4">
            <a:extLst>
              <a:ext uri="{FF2B5EF4-FFF2-40B4-BE49-F238E27FC236}">
                <a16:creationId xmlns:a16="http://schemas.microsoft.com/office/drawing/2014/main" id="{DB34F578-40DE-7B08-AF49-497A4CBD5DE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7059" y="2409781"/>
            <a:ext cx="7931223" cy="899631"/>
          </a:xfrm>
          <a:prstGeom prst="rect">
            <a:avLst/>
          </a:prstGeom>
        </p:spPr>
      </p:pic>
    </p:spTree>
    <p:extLst>
      <p:ext uri="{BB962C8B-B14F-4D97-AF65-F5344CB8AC3E}">
        <p14:creationId xmlns:p14="http://schemas.microsoft.com/office/powerpoint/2010/main" val="2387473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4206E013-74B9-2E90-19ED-A76F5F08090B}"/>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algn="r">
              <a:buNone/>
              <a:defRPr sz="975" b="0">
                <a:solidFill>
                  <a:srgbClr val="888888"/>
                </a:solidFill>
                <a:latin typeface="Arial"/>
                <a:ea typeface="Arial"/>
                <a:cs typeface="Arial"/>
              </a:defRPr>
            </a:pPr>
            <a:r>
              <a:rPr sz="975" b="0">
                <a:solidFill>
                  <a:srgbClr val="888888"/>
                </a:solidFill>
                <a:latin typeface="Arial"/>
                <a:ea typeface="Arial"/>
                <a:cs typeface="Arial"/>
              </a:rPr>
              <a:t>9</a:t>
            </a:r>
          </a:p>
        </p:txBody>
      </p:sp>
      <mc:AlternateContent xmlns:mc="http://schemas.openxmlformats.org/markup-compatibility/2006" xmlns:a14="http://schemas.microsoft.com/office/drawing/2010/main">
        <mc:Choice Requires="a14">
          <p:sp>
            <p:nvSpPr>
              <p:cNvPr id="10" name="BIC result">
                <a:extLst>
                  <a:ext uri="{FF2B5EF4-FFF2-40B4-BE49-F238E27FC236}">
                    <a16:creationId xmlns:a16="http://schemas.microsoft.com/office/drawing/2014/main" id="{DBFE0C61-21F8-41EF-8CEA-93A7F5BC0823}"/>
                  </a:ext>
                </a:extLst>
              </p:cNvPr>
              <p:cNvSpPr>
                <a:spLocks noGrp="1"/>
              </p:cNvSpPr>
              <p:nvPr/>
            </p:nvSpPr>
            <p:spPr>
              <a:xfrm>
                <a:off x="932584" y="824933"/>
                <a:ext cx="7810500" cy="361950"/>
              </a:xfrm>
              <a:prstGeom prst="rect">
                <a:avLst/>
              </a:prstGeom>
              <a:noFill/>
              <a:ln w="0">
                <a:noFill/>
              </a:ln>
            </p:spPr>
            <p:txBody>
              <a:bodyPr lIns="0" tIns="0" rIns="0" bIns="0" anchor="ctr">
                <a:normAutofit/>
              </a:bodyPr>
              <a:lstStyle/>
              <a:p>
                <a:pPr marL="114300">
                  <a:spcAft>
                    <a:spcPts val="0"/>
                  </a:spcAft>
                  <a:defRPr sz="1500">
                    <a:solidFill>
                      <a:srgbClr val="111111"/>
                    </a:solidFill>
                    <a:latin typeface="Arial"/>
                    <a:ea typeface="Arial"/>
                    <a:cs typeface="Arial"/>
                  </a:defRPr>
                </a:pPr>
                <a14:m>
                  <m:oMath xmlns:m="http://schemas.openxmlformats.org/officeDocument/2006/math">
                    <m:r>
                      <a:rPr lang="en-US" sz="1300" b="0" i="1" smtClean="0">
                        <a:solidFill>
                          <a:srgbClr val="111111"/>
                        </a:solidFill>
                        <a:latin typeface="Cambria Math" panose="02040503050406030204" pitchFamily="18" charset="0"/>
                        <a:ea typeface="Arial"/>
                        <a:cs typeface="Arial"/>
                      </a:rPr>
                      <m:t>𝒜</m:t>
                    </m:r>
                    <m:r>
                      <a:rPr lang="de-DE" sz="1300" b="0" i="1" smtClean="0">
                        <a:solidFill>
                          <a:srgbClr val="111111"/>
                        </a:solidFill>
                        <a:latin typeface="Cambria Math" panose="02040503050406030204" pitchFamily="18" charset="0"/>
                        <a:ea typeface="Arial"/>
                        <a:cs typeface="Arial"/>
                      </a:rPr>
                      <m:t> </m:t>
                    </m:r>
                  </m:oMath>
                </a14:m>
                <a:r>
                  <a:rPr lang="en-US" sz="1300" dirty="0">
                    <a:solidFill>
                      <a:srgbClr val="111111"/>
                    </a:solidFill>
                    <a:latin typeface="Arial"/>
                    <a:ea typeface="Arial"/>
                    <a:cs typeface="Arial"/>
                  </a:rPr>
                  <a:t>had a higher BIC than a </a:t>
                </a:r>
                <a:r>
                  <a:rPr lang="en-US" sz="1300" dirty="0" err="1">
                    <a:solidFill>
                      <a:srgbClr val="111111"/>
                    </a:solidFill>
                    <a:latin typeface="Arial"/>
                    <a:ea typeface="Arial"/>
                    <a:cs typeface="Arial"/>
                  </a:rPr>
                  <a:t>random</a:t>
                </a:r>
                <a:r>
                  <a:rPr lang="en-US" sz="1300" dirty="0">
                    <a:solidFill>
                      <a:srgbClr val="111111"/>
                    </a:solidFill>
                    <a:latin typeface="Arial"/>
                    <a:ea typeface="Arial"/>
                    <a:cs typeface="Arial"/>
                  </a:rPr>
                  <a:t> </a:t>
                </a:r>
                <a:r>
                  <a:rPr lang="en-US" sz="1300" dirty="0" err="1">
                    <a:solidFill>
                      <a:srgbClr val="111111"/>
                    </a:solidFill>
                    <a:latin typeface="Arial"/>
                    <a:ea typeface="Arial"/>
                    <a:cs typeface="Arial"/>
                  </a:rPr>
                  <a:t>choice</a:t>
                </a:r>
                <a:r>
                  <a:rPr lang="en-US" sz="1300" dirty="0">
                    <a:solidFill>
                      <a:srgbClr val="111111"/>
                    </a:solidFill>
                    <a:latin typeface="Arial"/>
                    <a:ea typeface="Arial"/>
                    <a:cs typeface="Arial"/>
                  </a:rPr>
                  <a:t> </a:t>
                </a:r>
                <a:r>
                  <a:rPr lang="en-US" sz="1300" dirty="0" err="1">
                    <a:solidFill>
                      <a:srgbClr val="111111"/>
                    </a:solidFill>
                    <a:latin typeface="Arial"/>
                    <a:ea typeface="Arial"/>
                    <a:cs typeface="Arial"/>
                  </a:rPr>
                  <a:t>model</a:t>
                </a:r>
                <a:r>
                  <a:rPr lang="en-US" sz="1300" dirty="0">
                    <a:solidFill>
                      <a:srgbClr val="111111"/>
                    </a:solidFill>
                    <a:latin typeface="Arial"/>
                    <a:ea typeface="Arial"/>
                    <a:cs typeface="Arial"/>
                  </a:rPr>
                  <a:t> for all 49 participants (ΔBIC: 475.19 to 1374.70)</a:t>
                </a:r>
                <a:endParaRPr lang="de-DE" sz="1300" dirty="0">
                  <a:solidFill>
                    <a:srgbClr val="111111"/>
                  </a:solidFill>
                  <a:latin typeface="Arial"/>
                  <a:ea typeface="Arial"/>
                  <a:cs typeface="Arial"/>
                </a:endParaRPr>
              </a:p>
            </p:txBody>
          </p:sp>
        </mc:Choice>
        <mc:Fallback xmlns="">
          <p:sp>
            <p:nvSpPr>
              <p:cNvPr id="10" name="BIC result">
                <a:extLst>
                  <a:ext uri="{FF2B5EF4-FFF2-40B4-BE49-F238E27FC236}">
                    <a16:creationId xmlns:a16="http://schemas.microsoft.com/office/drawing/2014/main" id="{DBFE0C61-21F8-41EF-8CEA-93A7F5BC0823}"/>
                  </a:ext>
                </a:extLst>
              </p:cNvPr>
              <p:cNvSpPr>
                <a:spLocks noGrp="1" noRot="1" noChangeAspect="1" noMove="1" noResize="1" noEditPoints="1" noAdjustHandles="1" noChangeArrowheads="1" noChangeShapeType="1" noTextEdit="1"/>
              </p:cNvSpPr>
              <p:nvPr/>
            </p:nvSpPr>
            <p:spPr>
              <a:xfrm>
                <a:off x="932584" y="824933"/>
                <a:ext cx="7810500" cy="361950"/>
              </a:xfrm>
              <a:prstGeom prst="rect">
                <a:avLst/>
              </a:prstGeom>
              <a:blipFill>
                <a:blip r:embed="rId3"/>
                <a:stretch>
                  <a:fillRect b="-3333"/>
                </a:stretch>
              </a:blipFill>
              <a:ln w="0">
                <a:noFill/>
              </a:ln>
            </p:spPr>
            <p:txBody>
              <a:bodyPr/>
              <a:lstStyle/>
              <a:p>
                <a:r>
                  <a:rPr lang="de-DE">
                    <a:noFill/>
                  </a:rPr>
                  <a:t> </a:t>
                </a:r>
              </a:p>
            </p:txBody>
          </p:sp>
        </mc:Fallback>
      </mc:AlternateContent>
      <p:pic>
        <p:nvPicPr>
          <p:cNvPr id="3" name="Grafik 2">
            <a:extLst>
              <a:ext uri="{FF2B5EF4-FFF2-40B4-BE49-F238E27FC236}">
                <a16:creationId xmlns:a16="http://schemas.microsoft.com/office/drawing/2014/main" id="{A034D822-A6D0-08CF-B814-810C8B8E30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68064" y="1159305"/>
            <a:ext cx="5399661" cy="3528596"/>
          </a:xfrm>
          <a:prstGeom prst="rect">
            <a:avLst/>
          </a:prstGeom>
        </p:spPr>
      </p:pic>
      <p:sp>
        <p:nvSpPr>
          <p:cNvPr id="13" name="Textfeld 12">
            <a:extLst>
              <a:ext uri="{FF2B5EF4-FFF2-40B4-BE49-F238E27FC236}">
                <a16:creationId xmlns:a16="http://schemas.microsoft.com/office/drawing/2014/main" id="{6005D5E2-A5C1-DC29-9984-CDA360627B11}"/>
              </a:ext>
            </a:extLst>
          </p:cNvPr>
          <p:cNvSpPr txBox="1"/>
          <p:nvPr/>
        </p:nvSpPr>
        <p:spPr>
          <a:xfrm>
            <a:off x="408708" y="1606695"/>
            <a:ext cx="2722419" cy="955518"/>
          </a:xfrm>
          <a:prstGeom prst="rect">
            <a:avLst/>
          </a:prstGeom>
          <a:noFill/>
        </p:spPr>
        <p:txBody>
          <a:bodyPr wrap="square" rtlCol="0">
            <a:spAutoFit/>
          </a:bodyPr>
          <a:lstStyle/>
          <a:p>
            <a:pPr algn="ctr">
              <a:lnSpc>
                <a:spcPct val="150000"/>
              </a:lnSpc>
            </a:pPr>
            <a:r>
              <a:rPr lang="de-DE" sz="1300" dirty="0" err="1">
                <a:latin typeface="Arial" panose="020B0604020202020204" pitchFamily="34" charset="0"/>
                <a:cs typeface="Arial" panose="020B0604020202020204" pitchFamily="34" charset="0"/>
              </a:rPr>
              <a:t>Sequential</a:t>
            </a:r>
            <a:r>
              <a:rPr lang="de-DE" sz="1300" dirty="0">
                <a:latin typeface="Arial" panose="020B0604020202020204" pitchFamily="34" charset="0"/>
                <a:cs typeface="Arial" panose="020B0604020202020204" pitchFamily="34" charset="0"/>
              </a:rPr>
              <a:t> </a:t>
            </a:r>
            <a:r>
              <a:rPr lang="de-DE" sz="1300" dirty="0" err="1">
                <a:latin typeface="Arial" panose="020B0604020202020204" pitchFamily="34" charset="0"/>
                <a:cs typeface="Arial" panose="020B0604020202020204" pitchFamily="34" charset="0"/>
              </a:rPr>
              <a:t>conditional</a:t>
            </a:r>
            <a:endParaRPr lang="de-DE" sz="1300" dirty="0">
              <a:latin typeface="Arial" panose="020B0604020202020204" pitchFamily="34" charset="0"/>
              <a:cs typeface="Arial" panose="020B0604020202020204" pitchFamily="34" charset="0"/>
            </a:endParaRPr>
          </a:p>
          <a:p>
            <a:pPr algn="ctr">
              <a:lnSpc>
                <a:spcPct val="150000"/>
              </a:lnSpc>
            </a:pPr>
            <a:r>
              <a:rPr lang="de-DE" sz="1300" dirty="0">
                <a:latin typeface="Arial" panose="020B0604020202020204" pitchFamily="34" charset="0"/>
                <a:cs typeface="Arial" panose="020B0604020202020204" pitchFamily="34" charset="0"/>
              </a:rPr>
              <a:t>log </a:t>
            </a:r>
            <a:r>
              <a:rPr lang="de-DE" sz="1300" dirty="0" err="1">
                <a:latin typeface="Arial" panose="020B0604020202020204" pitchFamily="34" charset="0"/>
                <a:cs typeface="Arial" panose="020B0604020202020204" pitchFamily="34" charset="0"/>
              </a:rPr>
              <a:t>likelihood</a:t>
            </a:r>
            <a:r>
              <a:rPr lang="de-DE" sz="1300" dirty="0">
                <a:latin typeface="Arial" panose="020B0604020202020204" pitchFamily="34" charset="0"/>
                <a:cs typeface="Arial" panose="020B0604020202020204" pitchFamily="34" charset="0"/>
              </a:rPr>
              <a:t> </a:t>
            </a:r>
            <a:r>
              <a:rPr lang="de-DE" sz="1300" dirty="0" err="1">
                <a:latin typeface="Arial" panose="020B0604020202020204" pitchFamily="34" charset="0"/>
                <a:cs typeface="Arial" panose="020B0604020202020204" pitchFamily="34" charset="0"/>
              </a:rPr>
              <a:t>Surfaces</a:t>
            </a:r>
            <a:endParaRPr lang="de-DE" sz="1300" dirty="0">
              <a:latin typeface="Arial" panose="020B0604020202020204" pitchFamily="34" charset="0"/>
              <a:cs typeface="Arial" panose="020B0604020202020204" pitchFamily="34" charset="0"/>
            </a:endParaRPr>
          </a:p>
          <a:p>
            <a:pPr algn="ctr">
              <a:lnSpc>
                <a:spcPct val="150000"/>
              </a:lnSpc>
            </a:pPr>
            <a:r>
              <a:rPr lang="de-DE" sz="1300" dirty="0">
                <a:latin typeface="Arial" panose="020B0604020202020204" pitchFamily="34" charset="0"/>
                <a:cs typeface="Arial" panose="020B0604020202020204" pitchFamily="34" charset="0"/>
              </a:rPr>
              <a:t>(N = 3)</a:t>
            </a:r>
          </a:p>
        </p:txBody>
      </p:sp>
      <p:sp>
        <p:nvSpPr>
          <p:cNvPr id="15" name="Textfeld 14">
            <a:extLst>
              <a:ext uri="{FF2B5EF4-FFF2-40B4-BE49-F238E27FC236}">
                <a16:creationId xmlns:a16="http://schemas.microsoft.com/office/drawing/2014/main" id="{26FD7E59-7AE2-CECB-1922-99984A8DA1F8}"/>
              </a:ext>
            </a:extLst>
          </p:cNvPr>
          <p:cNvSpPr txBox="1"/>
          <p:nvPr/>
        </p:nvSpPr>
        <p:spPr>
          <a:xfrm>
            <a:off x="569767" y="3101149"/>
            <a:ext cx="2400300" cy="955518"/>
          </a:xfrm>
          <a:prstGeom prst="rect">
            <a:avLst/>
          </a:prstGeom>
          <a:noFill/>
        </p:spPr>
        <p:txBody>
          <a:bodyPr wrap="square" rtlCol="0">
            <a:spAutoFit/>
          </a:bodyPr>
          <a:lstStyle/>
          <a:p>
            <a:pPr algn="ctr">
              <a:lnSpc>
                <a:spcPct val="150000"/>
              </a:lnSpc>
            </a:pPr>
            <a:r>
              <a:rPr lang="de-DE" sz="1300" dirty="0">
                <a:latin typeface="Arial" panose="020B0604020202020204" pitchFamily="34" charset="0"/>
                <a:cs typeface="Arial" panose="020B0604020202020204" pitchFamily="34" charset="0"/>
              </a:rPr>
              <a:t>Parameter </a:t>
            </a:r>
            <a:r>
              <a:rPr lang="de-DE" sz="1300" dirty="0" err="1">
                <a:latin typeface="Arial" panose="020B0604020202020204" pitchFamily="34" charset="0"/>
                <a:cs typeface="Arial" panose="020B0604020202020204" pitchFamily="34" charset="0"/>
              </a:rPr>
              <a:t>estimate</a:t>
            </a:r>
            <a:endParaRPr lang="de-DE" sz="1300" dirty="0">
              <a:latin typeface="Arial" panose="020B0604020202020204" pitchFamily="34" charset="0"/>
              <a:cs typeface="Arial" panose="020B0604020202020204" pitchFamily="34" charset="0"/>
            </a:endParaRPr>
          </a:p>
          <a:p>
            <a:pPr algn="ctr">
              <a:lnSpc>
                <a:spcPct val="150000"/>
              </a:lnSpc>
            </a:pPr>
            <a:r>
              <a:rPr lang="de-DE" sz="1300" dirty="0" err="1">
                <a:latin typeface="Arial" panose="020B0604020202020204" pitchFamily="34" charset="0"/>
                <a:cs typeface="Arial" panose="020B0604020202020204" pitchFamily="34" charset="0"/>
              </a:rPr>
              <a:t>projections</a:t>
            </a:r>
            <a:endParaRPr lang="de-DE" sz="1300" dirty="0">
              <a:latin typeface="Arial" panose="020B0604020202020204" pitchFamily="34" charset="0"/>
              <a:cs typeface="Arial" panose="020B0604020202020204" pitchFamily="34" charset="0"/>
            </a:endParaRPr>
          </a:p>
          <a:p>
            <a:pPr algn="ctr">
              <a:lnSpc>
                <a:spcPct val="150000"/>
              </a:lnSpc>
            </a:pPr>
            <a:r>
              <a:rPr lang="de-DE" sz="1300" dirty="0">
                <a:latin typeface="Arial" panose="020B0604020202020204" pitchFamily="34" charset="0"/>
                <a:cs typeface="Arial" panose="020B0604020202020204" pitchFamily="34" charset="0"/>
              </a:rPr>
              <a:t>(N = 49)</a:t>
            </a:r>
          </a:p>
        </p:txBody>
      </p:sp>
      <p:sp>
        <p:nvSpPr>
          <p:cNvPr id="16" name="Titel 1">
            <a:extLst>
              <a:ext uri="{FF2B5EF4-FFF2-40B4-BE49-F238E27FC236}">
                <a16:creationId xmlns:a16="http://schemas.microsoft.com/office/drawing/2014/main" id="{B18F3487-45CC-06B7-B5F2-7C0048AFFBEE}"/>
              </a:ext>
            </a:extLst>
          </p:cNvPr>
          <p:cNvSpPr>
            <a:spLocks noGrp="1"/>
          </p:cNvSpPr>
          <p:nvPr>
            <p:ph type="title"/>
          </p:nvPr>
        </p:nvSpPr>
        <p:spPr>
          <a:xfrm>
            <a:off x="755577" y="205979"/>
            <a:ext cx="7931223" cy="857250"/>
          </a:xfrm>
        </p:spPr>
        <p:txBody>
          <a:bodyPr>
            <a:normAutofit/>
          </a:bodyPr>
          <a:lstStyle/>
          <a:p>
            <a:r>
              <a:rPr lang="de-DE" sz="2200" b="0" dirty="0"/>
              <a:t>Model </a:t>
            </a:r>
            <a:r>
              <a:rPr lang="de-DE" sz="2200" b="0" dirty="0" err="1"/>
              <a:t>comparison</a:t>
            </a:r>
            <a:r>
              <a:rPr lang="de-DE" sz="2200" b="0" dirty="0"/>
              <a:t> and </a:t>
            </a:r>
            <a:r>
              <a:rPr lang="de-DE" sz="2200" b="0" dirty="0" err="1"/>
              <a:t>parameter</a:t>
            </a:r>
            <a:r>
              <a:rPr lang="de-DE" sz="2200" b="0" dirty="0"/>
              <a:t> </a:t>
            </a:r>
            <a:r>
              <a:rPr lang="de-DE" sz="2200" b="0" dirty="0" err="1"/>
              <a:t>estimates</a:t>
            </a:r>
            <a:endParaRPr lang="de-DE" sz="2200" b="0" dirty="0"/>
          </a:p>
        </p:txBody>
      </p:sp>
    </p:spTree>
    <p:extLst>
      <p:ext uri="{BB962C8B-B14F-4D97-AF65-F5344CB8AC3E}">
        <p14:creationId xmlns:p14="http://schemas.microsoft.com/office/powerpoint/2010/main" val="27219851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D4A93424-992C-949A-F2A2-9FC3469513C7}"/>
              </a:ext>
            </a:extLst>
          </p:cNvPr>
          <p:cNvSpPr txBox="1"/>
          <p:nvPr/>
        </p:nvSpPr>
        <p:spPr>
          <a:xfrm>
            <a:off x="496586" y="2241778"/>
            <a:ext cx="4812026" cy="1021883"/>
          </a:xfrm>
          <a:prstGeom prst="rect">
            <a:avLst/>
          </a:prstGeom>
          <a:noFill/>
        </p:spPr>
        <p:txBody>
          <a:bodyPr wrap="square" rtlCol="0">
            <a:spAutoFit/>
          </a:bodyPr>
          <a:lstStyle/>
          <a:p>
            <a:pPr>
              <a:lnSpc>
                <a:spcPct val="150000"/>
              </a:lnSpc>
            </a:pPr>
            <a:r>
              <a:rPr lang="de-DE" sz="1400" dirty="0">
                <a:latin typeface="Arial" panose="020B0604020202020204" pitchFamily="34" charset="0"/>
                <a:cs typeface="Arial" panose="020B0604020202020204" pitchFamily="34" charset="0"/>
              </a:rPr>
              <a:t>Work Package 2.2 | Agent-</a:t>
            </a:r>
            <a:r>
              <a:rPr lang="de-DE" sz="1400" dirty="0" err="1">
                <a:latin typeface="Arial" panose="020B0604020202020204" pitchFamily="34" charset="0"/>
                <a:cs typeface="Arial" panose="020B0604020202020204" pitchFamily="34" charset="0"/>
              </a:rPr>
              <a:t>based</a:t>
            </a:r>
            <a:r>
              <a:rPr lang="de-DE" sz="1400" dirty="0">
                <a:latin typeface="Arial" panose="020B0604020202020204" pitchFamily="34" charset="0"/>
                <a:cs typeface="Arial" panose="020B0604020202020204" pitchFamily="34" charset="0"/>
              </a:rPr>
              <a:t> behavioral </a:t>
            </a:r>
            <a:r>
              <a:rPr lang="de-DE" sz="1400" dirty="0" err="1">
                <a:latin typeface="Arial" panose="020B0604020202020204" pitchFamily="34" charset="0"/>
                <a:cs typeface="Arial" panose="020B0604020202020204" pitchFamily="34" charset="0"/>
              </a:rPr>
              <a:t>modeling</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Statistical </a:t>
            </a:r>
            <a:r>
              <a:rPr lang="de-DE" sz="1400" dirty="0" err="1">
                <a:latin typeface="Arial" panose="020B0604020202020204" pitchFamily="34" charset="0"/>
                <a:cs typeface="Arial" panose="020B0604020202020204" pitchFamily="34" charset="0"/>
              </a:rPr>
              <a:t>model</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embedding</a:t>
            </a:r>
            <a:r>
              <a:rPr lang="de-DE" sz="1400" dirty="0">
                <a:latin typeface="Arial" panose="020B0604020202020204" pitchFamily="34" charset="0"/>
                <a:cs typeface="Arial" panose="020B0604020202020204" pitchFamily="34" charset="0"/>
              </a:rPr>
              <a:t> and </a:t>
            </a:r>
            <a:r>
              <a:rPr lang="de-DE" sz="1400" dirty="0" err="1">
                <a:latin typeface="Arial" panose="020B0604020202020204" pitchFamily="34" charset="0"/>
                <a:cs typeface="Arial" panose="020B0604020202020204" pitchFamily="34" charset="0"/>
              </a:rPr>
              <a:t>inference</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Model and </a:t>
            </a:r>
            <a:r>
              <a:rPr lang="de-DE" sz="1400" dirty="0" err="1">
                <a:latin typeface="Arial" panose="020B0604020202020204" pitchFamily="34" charset="0"/>
                <a:cs typeface="Arial" panose="020B0604020202020204" pitchFamily="34" charset="0"/>
              </a:rPr>
              <a:t>parameter</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recovery</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validation</a:t>
            </a:r>
            <a:endParaRPr lang="de-DE" sz="1400" dirty="0">
              <a:latin typeface="Arial" panose="020B0604020202020204" pitchFamily="34" charset="0"/>
              <a:cs typeface="Arial" panose="020B0604020202020204" pitchFamily="34" charset="0"/>
            </a:endParaRPr>
          </a:p>
        </p:txBody>
      </p:sp>
      <p:sp>
        <p:nvSpPr>
          <p:cNvPr id="2" name="Titel 1">
            <a:extLst>
              <a:ext uri="{FF2B5EF4-FFF2-40B4-BE49-F238E27FC236}">
                <a16:creationId xmlns:a16="http://schemas.microsoft.com/office/drawing/2014/main" id="{8C796E9C-8FCE-97F3-235C-AB7CC0047404}"/>
              </a:ext>
            </a:extLst>
          </p:cNvPr>
          <p:cNvSpPr>
            <a:spLocks noGrp="1"/>
          </p:cNvSpPr>
          <p:nvPr>
            <p:ph type="title"/>
          </p:nvPr>
        </p:nvSpPr>
        <p:spPr/>
        <p:txBody>
          <a:bodyPr>
            <a:normAutofit/>
          </a:bodyPr>
          <a:lstStyle/>
          <a:p>
            <a:r>
              <a:rPr lang="de-DE" sz="2600" b="0" err="1">
                <a:latin typeface="Arial"/>
                <a:cs typeface="Arial"/>
              </a:rPr>
              <a:t>Theoretical</a:t>
            </a:r>
            <a:r>
              <a:rPr lang="de-DE" sz="2600" b="0">
                <a:latin typeface="Arial"/>
                <a:cs typeface="Arial"/>
              </a:rPr>
              <a:t> </a:t>
            </a:r>
            <a:r>
              <a:rPr lang="de-DE" sz="2600" b="0" err="1">
                <a:latin typeface="Arial"/>
                <a:cs typeface="Arial"/>
              </a:rPr>
              <a:t>work</a:t>
            </a:r>
            <a:r>
              <a:rPr lang="de-DE" sz="2600" b="0">
                <a:latin typeface="Arial"/>
                <a:cs typeface="Arial"/>
              </a:rPr>
              <a:t> </a:t>
            </a:r>
            <a:r>
              <a:rPr lang="de-DE" sz="2600" b="0" err="1">
                <a:latin typeface="Arial"/>
                <a:cs typeface="Arial"/>
              </a:rPr>
              <a:t>packages</a:t>
            </a:r>
            <a:endParaRPr lang="de-DE" sz="2600" b="0">
              <a:latin typeface="Arial"/>
              <a:cs typeface="Arial"/>
            </a:endParaRPr>
          </a:p>
        </p:txBody>
      </p:sp>
      <p:sp>
        <p:nvSpPr>
          <p:cNvPr id="4" name="Foliennummernplatzhalter 3">
            <a:extLst>
              <a:ext uri="{FF2B5EF4-FFF2-40B4-BE49-F238E27FC236}">
                <a16:creationId xmlns:a16="http://schemas.microsoft.com/office/drawing/2014/main" id="{F2188B60-43E7-25FA-0477-F9CFB0938E86}"/>
              </a:ext>
            </a:extLst>
          </p:cNvPr>
          <p:cNvSpPr>
            <a:spLocks noGrp="1"/>
          </p:cNvSpPr>
          <p:nvPr>
            <p:ph type="sldNum" sz="quarter" idx="12"/>
          </p:nvPr>
        </p:nvSpPr>
        <p:spPr/>
        <p:txBody>
          <a:bodyPr/>
          <a:lstStyle/>
          <a:p>
            <a:fld id="{5CD88B4E-D815-417B-99FD-41D66E5C06D4}" type="slidenum">
              <a:rPr lang="de-DE" smtClean="0">
                <a:latin typeface="Arial"/>
                <a:cs typeface="Arial"/>
              </a:rPr>
              <a:pPr/>
              <a:t>20</a:t>
            </a:fld>
            <a:endParaRPr lang="de-DE">
              <a:latin typeface="Arial"/>
              <a:cs typeface="Arial"/>
            </a:endParaRPr>
          </a:p>
        </p:txBody>
      </p:sp>
      <p:sp>
        <p:nvSpPr>
          <p:cNvPr id="10" name="Textfeld 9">
            <a:extLst>
              <a:ext uri="{FF2B5EF4-FFF2-40B4-BE49-F238E27FC236}">
                <a16:creationId xmlns:a16="http://schemas.microsoft.com/office/drawing/2014/main" id="{CB6D906D-F193-6F1C-A21B-9DDF0E2A540F}"/>
              </a:ext>
            </a:extLst>
          </p:cNvPr>
          <p:cNvSpPr txBox="1"/>
          <p:nvPr/>
        </p:nvSpPr>
        <p:spPr>
          <a:xfrm>
            <a:off x="496586" y="1063229"/>
            <a:ext cx="4812025" cy="1021883"/>
          </a:xfrm>
          <a:prstGeom prst="rect">
            <a:avLst/>
          </a:prstGeom>
          <a:noFill/>
        </p:spPr>
        <p:txBody>
          <a:bodyPr wrap="square" rtlCol="0">
            <a:spAutoFit/>
          </a:bodyPr>
          <a:lstStyle/>
          <a:p>
            <a:pPr>
              <a:lnSpc>
                <a:spcPct val="150000"/>
              </a:lnSpc>
            </a:pPr>
            <a:r>
              <a:rPr lang="de-DE" sz="1400" dirty="0">
                <a:latin typeface="Arial" panose="020B0604020202020204" pitchFamily="34" charset="0"/>
                <a:cs typeface="Arial" panose="020B0604020202020204" pitchFamily="34" charset="0"/>
              </a:rPr>
              <a:t>Work Package 2.1 | Offline and online rational </a:t>
            </a:r>
            <a:r>
              <a:rPr lang="de-DE" sz="1400" dirty="0" err="1">
                <a:latin typeface="Arial" panose="020B0604020202020204" pitchFamily="34" charset="0"/>
                <a:cs typeface="Arial" panose="020B0604020202020204" pitchFamily="34" charset="0"/>
              </a:rPr>
              <a:t>analysis</a:t>
            </a:r>
            <a:r>
              <a:rPr lang="de-DE" sz="1400" dirty="0">
                <a:latin typeface="Arial" panose="020B0604020202020204" pitchFamily="34" charset="0"/>
                <a:cs typeface="Arial" panose="020B0604020202020204" pitchFamily="34" charset="0"/>
              </a:rPr>
              <a:t>  </a:t>
            </a: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Error- and </a:t>
            </a:r>
            <a:r>
              <a:rPr lang="de-DE" sz="1400" dirty="0" err="1">
                <a:latin typeface="Arial" panose="020B0604020202020204" pitchFamily="34" charset="0"/>
                <a:cs typeface="Arial" panose="020B0604020202020204" pitchFamily="34" charset="0"/>
              </a:rPr>
              <a:t>reward-sensitivity</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parameterization</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Temporal, </a:t>
            </a:r>
            <a:r>
              <a:rPr lang="de-DE" sz="1400" dirty="0" err="1">
                <a:latin typeface="Arial" panose="020B0604020202020204" pitchFamily="34" charset="0"/>
                <a:cs typeface="Arial" panose="020B0604020202020204" pitchFamily="34" charset="0"/>
              </a:rPr>
              <a:t>hierarchical</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concurrent</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characteristics</a:t>
            </a:r>
            <a:endParaRPr lang="de-DE" sz="1400" dirty="0">
              <a:latin typeface="Arial" panose="020B0604020202020204" pitchFamily="34" charset="0"/>
              <a:cs typeface="Arial" panose="020B0604020202020204" pitchFamily="34" charset="0"/>
            </a:endParaRPr>
          </a:p>
        </p:txBody>
      </p:sp>
      <p:sp>
        <p:nvSpPr>
          <p:cNvPr id="6" name="Textfeld 5">
            <a:extLst>
              <a:ext uri="{FF2B5EF4-FFF2-40B4-BE49-F238E27FC236}">
                <a16:creationId xmlns:a16="http://schemas.microsoft.com/office/drawing/2014/main" id="{59E6FD6A-B703-C7C3-4124-7B661FDF6CC9}"/>
              </a:ext>
            </a:extLst>
          </p:cNvPr>
          <p:cNvSpPr txBox="1"/>
          <p:nvPr/>
        </p:nvSpPr>
        <p:spPr>
          <a:xfrm>
            <a:off x="496586" y="3406373"/>
            <a:ext cx="6425603" cy="1021883"/>
          </a:xfrm>
          <a:prstGeom prst="rect">
            <a:avLst/>
          </a:prstGeom>
          <a:noFill/>
        </p:spPr>
        <p:txBody>
          <a:bodyPr wrap="square" rtlCol="0">
            <a:spAutoFit/>
          </a:bodyPr>
          <a:lstStyle/>
          <a:p>
            <a:pPr>
              <a:lnSpc>
                <a:spcPct val="150000"/>
              </a:lnSpc>
            </a:pPr>
            <a:r>
              <a:rPr lang="de-DE" sz="1400" dirty="0">
                <a:latin typeface="Arial" panose="020B0604020202020204" pitchFamily="34" charset="0"/>
                <a:cs typeface="Arial" panose="020B0604020202020204" pitchFamily="34" charset="0"/>
              </a:rPr>
              <a:t>Work Package 2.3 | ERN and FRN </a:t>
            </a:r>
            <a:r>
              <a:rPr lang="de-DE" sz="1400" dirty="0" err="1">
                <a:latin typeface="Arial" panose="020B0604020202020204" pitchFamily="34" charset="0"/>
                <a:cs typeface="Arial" panose="020B0604020202020204" pitchFamily="34" charset="0"/>
              </a:rPr>
              <a:t>integration</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err="1">
                <a:latin typeface="Arial" panose="020B0604020202020204" pitchFamily="34" charset="0"/>
                <a:cs typeface="Arial" panose="020B0604020202020204" pitchFamily="34" charset="0"/>
              </a:rPr>
              <a:t>Neural</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mass</a:t>
            </a:r>
            <a:r>
              <a:rPr lang="de-DE" sz="1400" dirty="0">
                <a:latin typeface="Arial" panose="020B0604020202020204" pitchFamily="34" charset="0"/>
                <a:cs typeface="Arial" panose="020B0604020202020204" pitchFamily="34" charset="0"/>
              </a:rPr>
              <a:t> and EEG </a:t>
            </a:r>
            <a:r>
              <a:rPr lang="de-DE" sz="1400" dirty="0" err="1">
                <a:latin typeface="Arial" panose="020B0604020202020204" pitchFamily="34" charset="0"/>
                <a:cs typeface="Arial" panose="020B0604020202020204" pitchFamily="34" charset="0"/>
              </a:rPr>
              <a:t>forward</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model</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augmentation</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Error/</a:t>
            </a:r>
            <a:r>
              <a:rPr lang="de-DE" sz="1400" dirty="0" err="1">
                <a:latin typeface="Arial" panose="020B0604020202020204" pitchFamily="34" charset="0"/>
                <a:cs typeface="Arial" panose="020B0604020202020204" pitchFamily="34" charset="0"/>
              </a:rPr>
              <a:t>reward</a:t>
            </a:r>
            <a:r>
              <a:rPr lang="de-DE" sz="1400" dirty="0">
                <a:latin typeface="Arial" panose="020B0604020202020204" pitchFamily="34" charset="0"/>
                <a:cs typeface="Arial" panose="020B0604020202020204" pitchFamily="34" charset="0"/>
              </a:rPr>
              <a:t> index-</a:t>
            </a:r>
            <a:r>
              <a:rPr lang="de-DE" sz="1400" dirty="0" err="1">
                <a:latin typeface="Arial" panose="020B0604020202020204" pitchFamily="34" charset="0"/>
                <a:cs typeface="Arial" panose="020B0604020202020204" pitchFamily="34" charset="0"/>
              </a:rPr>
              <a:t>dependent</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effective</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connectivity</a:t>
            </a:r>
            <a:endParaRPr lang="de-DE" sz="1400" dirty="0">
              <a:latin typeface="Arial" panose="020B0604020202020204" pitchFamily="34" charset="0"/>
              <a:cs typeface="Arial" panose="020B0604020202020204" pitchFamily="34" charset="0"/>
            </a:endParaRPr>
          </a:p>
        </p:txBody>
      </p:sp>
      <p:sp>
        <p:nvSpPr>
          <p:cNvPr id="11" name="Rechteck: abgerundete Ecken 10">
            <a:extLst>
              <a:ext uri="{FF2B5EF4-FFF2-40B4-BE49-F238E27FC236}">
                <a16:creationId xmlns:a16="http://schemas.microsoft.com/office/drawing/2014/main" id="{7F6470BF-8274-3BDF-1435-7AE59585704D}"/>
              </a:ext>
            </a:extLst>
          </p:cNvPr>
          <p:cNvSpPr/>
          <p:nvPr/>
        </p:nvSpPr>
        <p:spPr>
          <a:xfrm>
            <a:off x="5104903" y="2571750"/>
            <a:ext cx="1032936" cy="437783"/>
          </a:xfrm>
          <a:prstGeom prst="roundRect">
            <a:avLst/>
          </a:prstGeom>
          <a:solidFill>
            <a:srgbClr val="F6D9D7"/>
          </a:solidFill>
          <a:ln>
            <a:solidFill>
              <a:srgbClr val="D662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a:solidFill>
                  <a:schemeClr val="tx1"/>
                </a:solidFill>
                <a:latin typeface="Arial" panose="020B0604020202020204" pitchFamily="34" charset="0"/>
                <a:cs typeface="Arial" panose="020B0604020202020204" pitchFamily="34" charset="0"/>
              </a:rPr>
              <a:t>Tübingen</a:t>
            </a:r>
            <a:endParaRPr lang="en-US" sz="1000">
              <a:solidFill>
                <a:schemeClr val="tx1"/>
              </a:solidFill>
              <a:latin typeface="Arial" panose="020B0604020202020204" pitchFamily="34" charset="0"/>
              <a:cs typeface="Arial" panose="020B0604020202020204" pitchFamily="34" charset="0"/>
            </a:endParaRPr>
          </a:p>
        </p:txBody>
      </p:sp>
      <p:sp>
        <p:nvSpPr>
          <p:cNvPr id="13" name="Rechteck: abgerundete Ecken 12">
            <a:extLst>
              <a:ext uri="{FF2B5EF4-FFF2-40B4-BE49-F238E27FC236}">
                <a16:creationId xmlns:a16="http://schemas.microsoft.com/office/drawing/2014/main" id="{0650930A-4016-8846-548F-473400007458}"/>
              </a:ext>
            </a:extLst>
          </p:cNvPr>
          <p:cNvSpPr/>
          <p:nvPr/>
        </p:nvSpPr>
        <p:spPr>
          <a:xfrm>
            <a:off x="5004049" y="1322045"/>
            <a:ext cx="1088063" cy="447761"/>
          </a:xfrm>
          <a:prstGeom prst="roundRect">
            <a:avLst/>
          </a:prstGeom>
          <a:solidFill>
            <a:srgbClr val="CFE2F3"/>
          </a:solidFill>
          <a:ln>
            <a:solidFill>
              <a:srgbClr val="0B79C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a:solidFill>
                  <a:schemeClr val="tx1"/>
                </a:solidFill>
                <a:latin typeface="Arial" panose="020B0604020202020204" pitchFamily="34" charset="0"/>
                <a:cs typeface="Arial" panose="020B0604020202020204" pitchFamily="34" charset="0"/>
              </a:rPr>
              <a:t>Köln</a:t>
            </a:r>
            <a:endParaRPr lang="en-US" sz="1000">
              <a:solidFill>
                <a:schemeClr val="tx1"/>
              </a:solidFill>
              <a:latin typeface="Arial" panose="020B0604020202020204" pitchFamily="34" charset="0"/>
              <a:cs typeface="Arial" panose="020B0604020202020204" pitchFamily="34" charset="0"/>
            </a:endParaRPr>
          </a:p>
        </p:txBody>
      </p:sp>
      <p:pic>
        <p:nvPicPr>
          <p:cNvPr id="14" name="Grafik 13" descr="Computer Silhouette">
            <a:extLst>
              <a:ext uri="{FF2B5EF4-FFF2-40B4-BE49-F238E27FC236}">
                <a16:creationId xmlns:a16="http://schemas.microsoft.com/office/drawing/2014/main" id="{B828AC9A-9B23-396B-3092-755A9281005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45071" y="2342058"/>
            <a:ext cx="914400" cy="914400"/>
          </a:xfrm>
          <a:prstGeom prst="rect">
            <a:avLst/>
          </a:prstGeom>
        </p:spPr>
      </p:pic>
      <p:pic>
        <p:nvPicPr>
          <p:cNvPr id="16" name="Grafik 15" descr="Kopf mit Zahnrädern Silhouette">
            <a:extLst>
              <a:ext uri="{FF2B5EF4-FFF2-40B4-BE49-F238E27FC236}">
                <a16:creationId xmlns:a16="http://schemas.microsoft.com/office/drawing/2014/main" id="{D28C15D5-8573-0E72-0E4E-728AB5015C4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85415" y="1225211"/>
            <a:ext cx="857250" cy="857250"/>
          </a:xfrm>
          <a:prstGeom prst="rect">
            <a:avLst/>
          </a:prstGeom>
        </p:spPr>
      </p:pic>
      <p:pic>
        <p:nvPicPr>
          <p:cNvPr id="24" name="Grafik 23">
            <a:extLst>
              <a:ext uri="{FF2B5EF4-FFF2-40B4-BE49-F238E27FC236}">
                <a16:creationId xmlns:a16="http://schemas.microsoft.com/office/drawing/2014/main" id="{3BCC8E38-AC47-7BA7-04B9-07D136ED4CA7}"/>
              </a:ext>
            </a:extLst>
          </p:cNvPr>
          <p:cNvPicPr>
            <a:picLocks noChangeAspect="1"/>
          </p:cNvPicPr>
          <p:nvPr/>
        </p:nvPicPr>
        <p:blipFill>
          <a:blip r:embed="rId7"/>
          <a:stretch>
            <a:fillRect/>
          </a:stretch>
        </p:blipFill>
        <p:spPr>
          <a:xfrm>
            <a:off x="7265245" y="1444860"/>
            <a:ext cx="1498216" cy="463210"/>
          </a:xfrm>
          <a:prstGeom prst="rect">
            <a:avLst/>
          </a:prstGeom>
        </p:spPr>
      </p:pic>
      <p:pic>
        <p:nvPicPr>
          <p:cNvPr id="26" name="Grafik 25">
            <a:extLst>
              <a:ext uri="{FF2B5EF4-FFF2-40B4-BE49-F238E27FC236}">
                <a16:creationId xmlns:a16="http://schemas.microsoft.com/office/drawing/2014/main" id="{7A738835-00FC-DC65-0639-5378B75545D0}"/>
              </a:ext>
            </a:extLst>
          </p:cNvPr>
          <p:cNvPicPr>
            <a:picLocks noChangeAspect="1"/>
          </p:cNvPicPr>
          <p:nvPr/>
        </p:nvPicPr>
        <p:blipFill>
          <a:blip r:embed="rId8"/>
          <a:stretch>
            <a:fillRect/>
          </a:stretch>
        </p:blipFill>
        <p:spPr>
          <a:xfrm>
            <a:off x="7271996" y="2443584"/>
            <a:ext cx="1484714" cy="624239"/>
          </a:xfrm>
          <a:prstGeom prst="rect">
            <a:avLst/>
          </a:prstGeom>
        </p:spPr>
      </p:pic>
      <p:sp>
        <p:nvSpPr>
          <p:cNvPr id="8" name="Rechteck: abgerundete Ecken 7">
            <a:extLst>
              <a:ext uri="{FF2B5EF4-FFF2-40B4-BE49-F238E27FC236}">
                <a16:creationId xmlns:a16="http://schemas.microsoft.com/office/drawing/2014/main" id="{45C4374F-4B95-4C3D-48E7-CD7564E5B4F1}"/>
              </a:ext>
            </a:extLst>
          </p:cNvPr>
          <p:cNvSpPr/>
          <p:nvPr/>
        </p:nvSpPr>
        <p:spPr>
          <a:xfrm>
            <a:off x="5124000" y="1646674"/>
            <a:ext cx="1109355" cy="447761"/>
          </a:xfrm>
          <a:prstGeom prst="roundRect">
            <a:avLst/>
          </a:prstGeom>
          <a:solidFill>
            <a:srgbClr val="E8D6EF"/>
          </a:solidFill>
          <a:ln>
            <a:solidFill>
              <a:srgbClr val="6B53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a:solidFill>
                  <a:schemeClr val="tx1"/>
                </a:solidFill>
                <a:latin typeface="Arial" panose="020B0604020202020204" pitchFamily="34" charset="0"/>
                <a:cs typeface="Arial" panose="020B0604020202020204" pitchFamily="34" charset="0"/>
              </a:rPr>
              <a:t>Freiburg</a:t>
            </a:r>
            <a:endParaRPr lang="en-US">
              <a:solidFill>
                <a:schemeClr val="tx1"/>
              </a:solidFill>
              <a:latin typeface="Arial" panose="020B0604020202020204" pitchFamily="34" charset="0"/>
              <a:cs typeface="Arial" panose="020B0604020202020204" pitchFamily="34" charset="0"/>
            </a:endParaRPr>
          </a:p>
        </p:txBody>
      </p:sp>
      <p:grpSp>
        <p:nvGrpSpPr>
          <p:cNvPr id="22" name="Gruppieren 21">
            <a:extLst>
              <a:ext uri="{FF2B5EF4-FFF2-40B4-BE49-F238E27FC236}">
                <a16:creationId xmlns:a16="http://schemas.microsoft.com/office/drawing/2014/main" id="{D286514F-BEE7-4F59-A679-DDE57A061A84}"/>
              </a:ext>
            </a:extLst>
          </p:cNvPr>
          <p:cNvGrpSpPr/>
          <p:nvPr/>
        </p:nvGrpSpPr>
        <p:grpSpPr>
          <a:xfrm>
            <a:off x="7010597" y="3485452"/>
            <a:ext cx="1673449" cy="996704"/>
            <a:chOff x="7099686" y="3516055"/>
            <a:chExt cx="1673449" cy="996704"/>
          </a:xfrm>
        </p:grpSpPr>
        <p:sp>
          <p:nvSpPr>
            <p:cNvPr id="15" name="Rechteck 14">
              <a:extLst>
                <a:ext uri="{FF2B5EF4-FFF2-40B4-BE49-F238E27FC236}">
                  <a16:creationId xmlns:a16="http://schemas.microsoft.com/office/drawing/2014/main" id="{F125DA24-171C-3D32-750C-F00D9D4027CE}"/>
                </a:ext>
              </a:extLst>
            </p:cNvPr>
            <p:cNvSpPr/>
            <p:nvPr/>
          </p:nvSpPr>
          <p:spPr>
            <a:xfrm>
              <a:off x="8136731" y="4214813"/>
              <a:ext cx="119569" cy="1092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20" name="Gruppieren 19">
              <a:extLst>
                <a:ext uri="{FF2B5EF4-FFF2-40B4-BE49-F238E27FC236}">
                  <a16:creationId xmlns:a16="http://schemas.microsoft.com/office/drawing/2014/main" id="{647C771E-B215-F278-2796-F7292B20FC19}"/>
                </a:ext>
              </a:extLst>
            </p:cNvPr>
            <p:cNvGrpSpPr/>
            <p:nvPr/>
          </p:nvGrpSpPr>
          <p:grpSpPr>
            <a:xfrm>
              <a:off x="7099686" y="3516055"/>
              <a:ext cx="1673449" cy="996704"/>
              <a:chOff x="7099686" y="3516055"/>
              <a:chExt cx="1673449" cy="996704"/>
            </a:xfrm>
          </p:grpSpPr>
          <p:pic>
            <p:nvPicPr>
              <p:cNvPr id="12" name="Grafik 11">
                <a:extLst>
                  <a:ext uri="{FF2B5EF4-FFF2-40B4-BE49-F238E27FC236}">
                    <a16:creationId xmlns:a16="http://schemas.microsoft.com/office/drawing/2014/main" id="{427AE364-7CA9-521F-14DE-CCF9079BDF93}"/>
                  </a:ext>
                </a:extLst>
              </p:cNvPr>
              <p:cNvPicPr>
                <a:picLocks noChangeAspect="1"/>
              </p:cNvPicPr>
              <p:nvPr/>
            </p:nvPicPr>
            <p:blipFill>
              <a:blip r:embed="rId9"/>
              <a:stretch>
                <a:fillRect/>
              </a:stretch>
            </p:blipFill>
            <p:spPr>
              <a:xfrm>
                <a:off x="7739465" y="3598359"/>
                <a:ext cx="1033670" cy="914400"/>
              </a:xfrm>
              <a:prstGeom prst="rect">
                <a:avLst/>
              </a:prstGeom>
            </p:spPr>
          </p:pic>
          <p:pic>
            <p:nvPicPr>
              <p:cNvPr id="18" name="Grafik 17">
                <a:extLst>
                  <a:ext uri="{FF2B5EF4-FFF2-40B4-BE49-F238E27FC236}">
                    <a16:creationId xmlns:a16="http://schemas.microsoft.com/office/drawing/2014/main" id="{6BBDA8A3-3495-BA56-6F67-7BC7F180FBB7}"/>
                  </a:ext>
                </a:extLst>
              </p:cNvPr>
              <p:cNvPicPr>
                <a:picLocks noChangeAspect="1"/>
              </p:cNvPicPr>
              <p:nvPr/>
            </p:nvPicPr>
            <p:blipFill>
              <a:blip r:embed="rId10"/>
              <a:stretch>
                <a:fillRect/>
              </a:stretch>
            </p:blipFill>
            <p:spPr>
              <a:xfrm>
                <a:off x="7136955" y="3544458"/>
                <a:ext cx="656458" cy="914401"/>
              </a:xfrm>
              <a:prstGeom prst="rect">
                <a:avLst/>
              </a:prstGeom>
            </p:spPr>
          </p:pic>
          <p:sp>
            <p:nvSpPr>
              <p:cNvPr id="19" name="Rechteck 18">
                <a:extLst>
                  <a:ext uri="{FF2B5EF4-FFF2-40B4-BE49-F238E27FC236}">
                    <a16:creationId xmlns:a16="http://schemas.microsoft.com/office/drawing/2014/main" id="{7C32DC97-2EB3-6B57-9E0D-B96216E7F4A1}"/>
                  </a:ext>
                </a:extLst>
              </p:cNvPr>
              <p:cNvSpPr/>
              <p:nvPr/>
            </p:nvSpPr>
            <p:spPr>
              <a:xfrm>
                <a:off x="7099686" y="3516055"/>
                <a:ext cx="119569" cy="1092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21" name="Rechteck 20">
              <a:extLst>
                <a:ext uri="{FF2B5EF4-FFF2-40B4-BE49-F238E27FC236}">
                  <a16:creationId xmlns:a16="http://schemas.microsoft.com/office/drawing/2014/main" id="{EE6AF23C-5253-550B-E094-94AEB2411FEC}"/>
                </a:ext>
              </a:extLst>
            </p:cNvPr>
            <p:cNvSpPr/>
            <p:nvPr/>
          </p:nvSpPr>
          <p:spPr>
            <a:xfrm>
              <a:off x="8136731" y="4214813"/>
              <a:ext cx="119569" cy="1092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pic>
        <p:nvPicPr>
          <p:cNvPr id="9" name="Grafik 8">
            <a:extLst>
              <a:ext uri="{FF2B5EF4-FFF2-40B4-BE49-F238E27FC236}">
                <a16:creationId xmlns:a16="http://schemas.microsoft.com/office/drawing/2014/main" id="{6C8BCF83-050A-F22C-071E-39CB9BE3FBBD}"/>
              </a:ext>
            </a:extLst>
          </p:cNvPr>
          <p:cNvPicPr>
            <a:picLocks noChangeAspect="1"/>
          </p:cNvPicPr>
          <p:nvPr/>
        </p:nvPicPr>
        <p:blipFill rotWithShape="1">
          <a:blip r:embed="rId11"/>
          <a:srcRect l="115" r="115"/>
          <a:stretch/>
        </p:blipFill>
        <p:spPr>
          <a:xfrm flipH="1">
            <a:off x="5701166" y="3551333"/>
            <a:ext cx="1017053" cy="806525"/>
          </a:xfrm>
          <a:prstGeom prst="rect">
            <a:avLst/>
          </a:prstGeom>
          <a:noFill/>
          <a:ln w="9525" cap="flat" cmpd="sng" algn="ctr">
            <a:noFill/>
            <a:prstDash val="solid"/>
            <a:round/>
            <a:headEnd type="none" w="med" len="med"/>
            <a:tailEnd type="none" w="med" len="med"/>
          </a:ln>
        </p:spPr>
      </p:pic>
    </p:spTree>
    <p:extLst>
      <p:ext uri="{BB962C8B-B14F-4D97-AF65-F5344CB8AC3E}">
        <p14:creationId xmlns:p14="http://schemas.microsoft.com/office/powerpoint/2010/main" val="42426502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C123D-C115-8553-7221-82BBBE231B5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22A526B-4CC8-53C1-8ACE-44E9FC96F770}"/>
              </a:ext>
            </a:extLst>
          </p:cNvPr>
          <p:cNvSpPr>
            <a:spLocks noGrp="1"/>
          </p:cNvSpPr>
          <p:nvPr>
            <p:ph type="title"/>
          </p:nvPr>
        </p:nvSpPr>
        <p:spPr/>
        <p:txBody>
          <a:bodyPr>
            <a:normAutofit/>
          </a:bodyPr>
          <a:lstStyle/>
          <a:p>
            <a:r>
              <a:rPr lang="de-DE" sz="2600" b="0">
                <a:latin typeface="Arial"/>
                <a:cs typeface="Arial"/>
              </a:rPr>
              <a:t>Summary</a:t>
            </a:r>
          </a:p>
        </p:txBody>
      </p:sp>
      <p:sp>
        <p:nvSpPr>
          <p:cNvPr id="4" name="Foliennummernplatzhalter 3">
            <a:extLst>
              <a:ext uri="{FF2B5EF4-FFF2-40B4-BE49-F238E27FC236}">
                <a16:creationId xmlns:a16="http://schemas.microsoft.com/office/drawing/2014/main" id="{84426E88-A212-CBF1-02D2-B20786B07242}"/>
              </a:ext>
            </a:extLst>
          </p:cNvPr>
          <p:cNvSpPr>
            <a:spLocks noGrp="1"/>
          </p:cNvSpPr>
          <p:nvPr>
            <p:ph type="sldNum" sz="quarter" idx="12"/>
          </p:nvPr>
        </p:nvSpPr>
        <p:spPr>
          <a:xfrm>
            <a:off x="8256300" y="4684284"/>
            <a:ext cx="636180" cy="273844"/>
          </a:xfrm>
        </p:spPr>
        <p:txBody>
          <a:bodyPr/>
          <a:lstStyle/>
          <a:p>
            <a:fld id="{5CD88B4E-D815-417B-99FD-41D66E5C06D4}" type="slidenum">
              <a:rPr lang="de-DE" smtClean="0">
                <a:latin typeface="Arial"/>
                <a:cs typeface="Arial"/>
              </a:rPr>
              <a:pPr/>
              <a:t>21</a:t>
            </a:fld>
            <a:endParaRPr lang="de-DE">
              <a:latin typeface="Arial"/>
              <a:cs typeface="Arial"/>
            </a:endParaRPr>
          </a:p>
        </p:txBody>
      </p:sp>
      <p:sp>
        <p:nvSpPr>
          <p:cNvPr id="3" name="Textfeld 2">
            <a:extLst>
              <a:ext uri="{FF2B5EF4-FFF2-40B4-BE49-F238E27FC236}">
                <a16:creationId xmlns:a16="http://schemas.microsoft.com/office/drawing/2014/main" id="{75BF64B1-230F-DC86-AC1E-CAC52EF65A53}"/>
              </a:ext>
            </a:extLst>
          </p:cNvPr>
          <p:cNvSpPr txBox="1"/>
          <p:nvPr/>
        </p:nvSpPr>
        <p:spPr>
          <a:xfrm>
            <a:off x="788426" y="2202720"/>
            <a:ext cx="8280920" cy="1021883"/>
          </a:xfrm>
          <a:prstGeom prst="rect">
            <a:avLst/>
          </a:prstGeom>
          <a:noFill/>
        </p:spPr>
        <p:txBody>
          <a:bodyPr wrap="square" rtlCol="0">
            <a:spAutoFit/>
          </a:bodyPr>
          <a:lstStyle/>
          <a:p>
            <a:pPr>
              <a:lnSpc>
                <a:spcPct val="150000"/>
              </a:lnSpc>
            </a:pPr>
            <a:r>
              <a:rPr lang="de-DE" sz="1400" dirty="0">
                <a:latin typeface="Arial" panose="020B0604020202020204" pitchFamily="34" charset="0"/>
                <a:cs typeface="Arial" panose="020B0604020202020204" pitchFamily="34" charset="0"/>
              </a:rPr>
              <a:t>Working </a:t>
            </a:r>
            <a:r>
              <a:rPr lang="de-DE" sz="1400" dirty="0" err="1">
                <a:latin typeface="Arial" panose="020B0604020202020204" pitchFamily="34" charset="0"/>
                <a:cs typeface="Arial" panose="020B0604020202020204" pitchFamily="34" charset="0"/>
              </a:rPr>
              <a:t>hypotheses</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Task </a:t>
            </a:r>
            <a:r>
              <a:rPr lang="de-DE" sz="1400" dirty="0" err="1">
                <a:latin typeface="Arial" panose="020B0604020202020204" pitchFamily="34" charset="0"/>
                <a:cs typeface="Arial" panose="020B0604020202020204" pitchFamily="34" charset="0"/>
              </a:rPr>
              <a:t>switching</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as</a:t>
            </a:r>
            <a:r>
              <a:rPr lang="de-DE" sz="1400" dirty="0">
                <a:latin typeface="Arial" panose="020B0604020202020204" pitchFamily="34" charset="0"/>
                <a:cs typeface="Arial" panose="020B0604020202020204" pitchFamily="34" charset="0"/>
              </a:rPr>
              <a:t> optimal </a:t>
            </a:r>
            <a:r>
              <a:rPr lang="de-DE" sz="1400" dirty="0" err="1">
                <a:latin typeface="Arial" panose="020B0604020202020204" pitchFamily="34" charset="0"/>
                <a:cs typeface="Arial" panose="020B0604020202020204" pitchFamily="34" charset="0"/>
              </a:rPr>
              <a:t>behavior</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under</a:t>
            </a:r>
            <a:r>
              <a:rPr lang="de-DE" sz="1400" dirty="0">
                <a:latin typeface="Arial" panose="020B0604020202020204" pitchFamily="34" charset="0"/>
                <a:cs typeface="Arial" panose="020B0604020202020204" pitchFamily="34" charset="0"/>
              </a:rPr>
              <a:t> individual </a:t>
            </a:r>
            <a:r>
              <a:rPr lang="de-DE" sz="1400" dirty="0" err="1">
                <a:latin typeface="Arial" panose="020B0604020202020204" pitchFamily="34" charset="0"/>
                <a:cs typeface="Arial" panose="020B0604020202020204" pitchFamily="34" charset="0"/>
              </a:rPr>
              <a:t>subjective</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cost</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functions</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Individual </a:t>
            </a:r>
            <a:r>
              <a:rPr lang="de-DE" sz="1400" dirty="0" err="1">
                <a:latin typeface="Arial" panose="020B0604020202020204" pitchFamily="34" charset="0"/>
                <a:cs typeface="Arial" panose="020B0604020202020204" pitchFamily="34" charset="0"/>
              </a:rPr>
              <a:t>error</a:t>
            </a:r>
            <a:r>
              <a:rPr lang="de-DE" sz="1400" dirty="0">
                <a:latin typeface="Arial" panose="020B0604020202020204" pitchFamily="34" charset="0"/>
                <a:cs typeface="Arial" panose="020B0604020202020204" pitchFamily="34" charset="0"/>
              </a:rPr>
              <a:t> and </a:t>
            </a:r>
            <a:r>
              <a:rPr lang="de-DE" sz="1400" dirty="0" err="1">
                <a:latin typeface="Arial" panose="020B0604020202020204" pitchFamily="34" charset="0"/>
                <a:cs typeface="Arial" panose="020B0604020202020204" pitchFamily="34" charset="0"/>
              </a:rPr>
              <a:t>reward</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sensitivities</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as</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modulators</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of</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subjective</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cost</a:t>
            </a:r>
            <a:endParaRPr lang="de-DE" sz="1400" dirty="0">
              <a:latin typeface="Arial" panose="020B0604020202020204" pitchFamily="34" charset="0"/>
              <a:cs typeface="Arial" panose="020B0604020202020204" pitchFamily="34" charset="0"/>
            </a:endParaRPr>
          </a:p>
        </p:txBody>
      </p:sp>
      <p:sp>
        <p:nvSpPr>
          <p:cNvPr id="7" name="Textfeld 6">
            <a:extLst>
              <a:ext uri="{FF2B5EF4-FFF2-40B4-BE49-F238E27FC236}">
                <a16:creationId xmlns:a16="http://schemas.microsoft.com/office/drawing/2014/main" id="{8A3B6414-67BC-8648-7B71-E040221C808E}"/>
              </a:ext>
            </a:extLst>
          </p:cNvPr>
          <p:cNvSpPr txBox="1"/>
          <p:nvPr/>
        </p:nvSpPr>
        <p:spPr>
          <a:xfrm>
            <a:off x="788426" y="963094"/>
            <a:ext cx="7776864" cy="1021883"/>
          </a:xfrm>
          <a:prstGeom prst="rect">
            <a:avLst/>
          </a:prstGeom>
          <a:noFill/>
        </p:spPr>
        <p:txBody>
          <a:bodyPr wrap="square" rtlCol="0">
            <a:spAutoFit/>
          </a:bodyPr>
          <a:lstStyle/>
          <a:p>
            <a:pPr>
              <a:lnSpc>
                <a:spcPct val="150000"/>
              </a:lnSpc>
            </a:pPr>
            <a:r>
              <a:rPr lang="de-DE" sz="1400" dirty="0">
                <a:latin typeface="Arial" panose="020B0604020202020204" pitchFamily="34" charset="0"/>
                <a:cs typeface="Arial" panose="020B0604020202020204" pitchFamily="34" charset="0"/>
              </a:rPr>
              <a:t>Research </a:t>
            </a:r>
            <a:r>
              <a:rPr lang="de-DE" sz="1400" dirty="0" err="1">
                <a:latin typeface="Arial" panose="020B0604020202020204" pitchFamily="34" charset="0"/>
                <a:cs typeface="Arial" panose="020B0604020202020204" pitchFamily="34" charset="0"/>
              </a:rPr>
              <a:t>questions</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Computational </a:t>
            </a:r>
            <a:r>
              <a:rPr lang="de-DE" sz="1400" dirty="0" err="1">
                <a:latin typeface="Arial" panose="020B0604020202020204" pitchFamily="34" charset="0"/>
                <a:cs typeface="Arial" panose="020B0604020202020204" pitchFamily="34" charset="0"/>
              </a:rPr>
              <a:t>mechanisms</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of</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experimentally</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established</a:t>
            </a:r>
            <a:r>
              <a:rPr lang="de-DE" sz="1400" dirty="0">
                <a:latin typeface="Arial" panose="020B0604020202020204" pitchFamily="34" charset="0"/>
                <a:cs typeface="Arial" panose="020B0604020202020204" pitchFamily="34" charset="0"/>
              </a:rPr>
              <a:t> FCDT </a:t>
            </a:r>
            <a:r>
              <a:rPr lang="de-DE" sz="1400" dirty="0" err="1">
                <a:latin typeface="Arial" panose="020B0604020202020204" pitchFamily="34" charset="0"/>
                <a:cs typeface="Arial" panose="020B0604020202020204" pitchFamily="34" charset="0"/>
              </a:rPr>
              <a:t>response</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strategies</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Individual </a:t>
            </a:r>
            <a:r>
              <a:rPr lang="de-DE" sz="1400" dirty="0" err="1">
                <a:latin typeface="Arial" panose="020B0604020202020204" pitchFamily="34" charset="0"/>
                <a:cs typeface="Arial" panose="020B0604020202020204" pitchFamily="34" charset="0"/>
              </a:rPr>
              <a:t>determinants</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of</a:t>
            </a:r>
            <a:r>
              <a:rPr lang="de-DE" sz="1400" dirty="0">
                <a:latin typeface="Arial" panose="020B0604020202020204" pitchFamily="34" charset="0"/>
                <a:cs typeface="Arial" panose="020B0604020202020204" pitchFamily="34" charset="0"/>
              </a:rPr>
              <a:t> FCDT </a:t>
            </a:r>
            <a:r>
              <a:rPr lang="de-DE" sz="1400" dirty="0" err="1">
                <a:latin typeface="Arial" panose="020B0604020202020204" pitchFamily="34" charset="0"/>
                <a:cs typeface="Arial" panose="020B0604020202020204" pitchFamily="34" charset="0"/>
              </a:rPr>
              <a:t>response</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strategy</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formation</a:t>
            </a:r>
            <a:r>
              <a:rPr lang="de-DE" sz="1400" dirty="0">
                <a:latin typeface="Arial" panose="020B0604020202020204" pitchFamily="34" charset="0"/>
                <a:cs typeface="Arial" panose="020B0604020202020204" pitchFamily="34" charset="0"/>
              </a:rPr>
              <a:t> </a:t>
            </a:r>
          </a:p>
        </p:txBody>
      </p:sp>
      <p:sp>
        <p:nvSpPr>
          <p:cNvPr id="11" name="Rechteck: abgerundete Ecken 10">
            <a:extLst>
              <a:ext uri="{FF2B5EF4-FFF2-40B4-BE49-F238E27FC236}">
                <a16:creationId xmlns:a16="http://schemas.microsoft.com/office/drawing/2014/main" id="{26448C50-3E88-424C-5CCD-008AC30DC088}"/>
              </a:ext>
            </a:extLst>
          </p:cNvPr>
          <p:cNvSpPr/>
          <p:nvPr/>
        </p:nvSpPr>
        <p:spPr>
          <a:xfrm>
            <a:off x="711246" y="2214017"/>
            <a:ext cx="7931223" cy="1088311"/>
          </a:xfrm>
          <a:prstGeom prst="roundRect">
            <a:avLst>
              <a:gd name="adj" fmla="val 6334"/>
            </a:avLst>
          </a:prstGeom>
          <a:noFill/>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lnSpc>
                <a:spcPct val="150000"/>
              </a:lnSpc>
            </a:pPr>
            <a:endParaRPr lang="en-US" sz="1000">
              <a:solidFill>
                <a:schemeClr val="tx1"/>
              </a:solidFill>
              <a:latin typeface="Arial" panose="020B0604020202020204" pitchFamily="34" charset="0"/>
              <a:ea typeface="Arial Unicode MS" panose="020B0604020202020204"/>
              <a:cs typeface="Arial" panose="020B0604020202020204" pitchFamily="34" charset="0"/>
            </a:endParaRPr>
          </a:p>
        </p:txBody>
      </p:sp>
      <p:sp>
        <p:nvSpPr>
          <p:cNvPr id="8" name="Rechteck: abgerundete Ecken 7">
            <a:extLst>
              <a:ext uri="{FF2B5EF4-FFF2-40B4-BE49-F238E27FC236}">
                <a16:creationId xmlns:a16="http://schemas.microsoft.com/office/drawing/2014/main" id="{294D5CBF-AD82-2732-249A-9D1D469405A9}"/>
              </a:ext>
            </a:extLst>
          </p:cNvPr>
          <p:cNvSpPr/>
          <p:nvPr/>
        </p:nvSpPr>
        <p:spPr>
          <a:xfrm>
            <a:off x="711246" y="965063"/>
            <a:ext cx="7931223" cy="1088311"/>
          </a:xfrm>
          <a:prstGeom prst="roundRect">
            <a:avLst>
              <a:gd name="adj" fmla="val 6334"/>
            </a:avLst>
          </a:prstGeom>
          <a:noFill/>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lnSpc>
                <a:spcPct val="150000"/>
              </a:lnSpc>
            </a:pPr>
            <a:endParaRPr lang="en-US" sz="1000">
              <a:solidFill>
                <a:schemeClr val="tx1"/>
              </a:solidFill>
              <a:latin typeface="Arial" panose="020B0604020202020204" pitchFamily="34" charset="0"/>
              <a:ea typeface="Arial Unicode MS" panose="020B0604020202020204"/>
              <a:cs typeface="Arial" panose="020B0604020202020204" pitchFamily="34" charset="0"/>
            </a:endParaRPr>
          </a:p>
        </p:txBody>
      </p:sp>
      <p:sp>
        <p:nvSpPr>
          <p:cNvPr id="5" name="Textfeld 4">
            <a:extLst>
              <a:ext uri="{FF2B5EF4-FFF2-40B4-BE49-F238E27FC236}">
                <a16:creationId xmlns:a16="http://schemas.microsoft.com/office/drawing/2014/main" id="{37326886-527B-964D-2DAA-1B754D798290}"/>
              </a:ext>
            </a:extLst>
          </p:cNvPr>
          <p:cNvSpPr txBox="1"/>
          <p:nvPr/>
        </p:nvSpPr>
        <p:spPr>
          <a:xfrm>
            <a:off x="788426" y="3492359"/>
            <a:ext cx="8280920" cy="1021883"/>
          </a:xfrm>
          <a:prstGeom prst="rect">
            <a:avLst/>
          </a:prstGeom>
          <a:noFill/>
        </p:spPr>
        <p:txBody>
          <a:bodyPr wrap="square" rtlCol="0">
            <a:spAutoFit/>
          </a:bodyPr>
          <a:lstStyle/>
          <a:p>
            <a:pPr>
              <a:lnSpc>
                <a:spcPct val="150000"/>
              </a:lnSpc>
            </a:pPr>
            <a:r>
              <a:rPr lang="de-DE" sz="1400" dirty="0">
                <a:latin typeface="Arial" panose="020B0604020202020204" pitchFamily="34" charset="0"/>
                <a:cs typeface="Arial" panose="020B0604020202020204" pitchFamily="34" charset="0"/>
              </a:rPr>
              <a:t>Research </a:t>
            </a:r>
            <a:r>
              <a:rPr lang="de-DE" sz="1400" dirty="0" err="1">
                <a:latin typeface="Arial" panose="020B0604020202020204" pitchFamily="34" charset="0"/>
                <a:cs typeface="Arial" panose="020B0604020202020204" pitchFamily="34" charset="0"/>
              </a:rPr>
              <a:t>unit</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contributions</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FCDT </a:t>
            </a:r>
            <a:r>
              <a:rPr lang="de-DE" sz="1400" dirty="0" err="1">
                <a:latin typeface="Arial" panose="020B0604020202020204" pitchFamily="34" charset="0"/>
                <a:cs typeface="Arial" panose="020B0604020202020204" pitchFamily="34" charset="0"/>
              </a:rPr>
              <a:t>paradigm</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as</a:t>
            </a:r>
            <a:r>
              <a:rPr lang="de-DE" sz="1400" dirty="0">
                <a:latin typeface="Arial" panose="020B0604020202020204" pitchFamily="34" charset="0"/>
                <a:cs typeface="Arial" panose="020B0604020202020204" pitchFamily="34" charset="0"/>
              </a:rPr>
              <a:t> experimental </a:t>
            </a:r>
            <a:r>
              <a:rPr lang="de-DE" sz="1400" dirty="0" err="1">
                <a:latin typeface="Arial" panose="020B0604020202020204" pitchFamily="34" charset="0"/>
                <a:cs typeface="Arial" panose="020B0604020202020204" pitchFamily="34" charset="0"/>
              </a:rPr>
              <a:t>testbed</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for</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studying</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task</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switching</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behavior</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Rational </a:t>
            </a:r>
            <a:r>
              <a:rPr lang="de-DE" sz="1400" dirty="0" err="1">
                <a:latin typeface="Arial" panose="020B0604020202020204" pitchFamily="34" charset="0"/>
                <a:cs typeface="Arial" panose="020B0604020202020204" pitchFamily="34" charset="0"/>
              </a:rPr>
              <a:t>analysis</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perspective</a:t>
            </a:r>
            <a:r>
              <a:rPr lang="de-DE" sz="1400" dirty="0">
                <a:latin typeface="Arial" panose="020B0604020202020204" pitchFamily="34" charset="0"/>
                <a:cs typeface="Arial" panose="020B0604020202020204" pitchFamily="34" charset="0"/>
              </a:rPr>
              <a:t> and </a:t>
            </a:r>
            <a:r>
              <a:rPr lang="de-DE" sz="1400" dirty="0" err="1">
                <a:latin typeface="Arial" panose="020B0604020202020204" pitchFamily="34" charset="0"/>
                <a:cs typeface="Arial" panose="020B0604020202020204" pitchFamily="34" charset="0"/>
              </a:rPr>
              <a:t>agent-based</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neurobehavioral</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modeling</a:t>
            </a:r>
            <a:r>
              <a:rPr lang="de-DE" sz="1400" dirty="0">
                <a:latin typeface="Arial" panose="020B0604020202020204" pitchFamily="34" charset="0"/>
                <a:cs typeface="Arial" panose="020B0604020202020204" pitchFamily="34" charset="0"/>
              </a:rPr>
              <a:t>  </a:t>
            </a:r>
          </a:p>
        </p:txBody>
      </p:sp>
      <p:sp>
        <p:nvSpPr>
          <p:cNvPr id="6" name="Rechteck: abgerundete Ecken 5">
            <a:extLst>
              <a:ext uri="{FF2B5EF4-FFF2-40B4-BE49-F238E27FC236}">
                <a16:creationId xmlns:a16="http://schemas.microsoft.com/office/drawing/2014/main" id="{90EBA53F-7F65-0493-9FA0-F42F92840063}"/>
              </a:ext>
            </a:extLst>
          </p:cNvPr>
          <p:cNvSpPr/>
          <p:nvPr/>
        </p:nvSpPr>
        <p:spPr>
          <a:xfrm>
            <a:off x="711246" y="3496512"/>
            <a:ext cx="7931223" cy="1088311"/>
          </a:xfrm>
          <a:prstGeom prst="roundRect">
            <a:avLst>
              <a:gd name="adj" fmla="val 6334"/>
            </a:avLst>
          </a:prstGeom>
          <a:noFill/>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lnSpc>
                <a:spcPct val="150000"/>
              </a:lnSpc>
            </a:pPr>
            <a:endParaRPr lang="en-US" sz="1000">
              <a:solidFill>
                <a:schemeClr val="tx1"/>
              </a:solidFill>
              <a:latin typeface="Arial" panose="020B0604020202020204" pitchFamily="34" charset="0"/>
              <a:ea typeface="Arial Unicode MS" panose="020B0604020202020204"/>
              <a:cs typeface="Arial" panose="020B0604020202020204" pitchFamily="34" charset="0"/>
            </a:endParaRPr>
          </a:p>
        </p:txBody>
      </p:sp>
    </p:spTree>
    <p:extLst>
      <p:ext uri="{BB962C8B-B14F-4D97-AF65-F5344CB8AC3E}">
        <p14:creationId xmlns:p14="http://schemas.microsoft.com/office/powerpoint/2010/main" val="9768630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DDFB1545-6EAD-30C4-1FDB-B788CF70C7D5}"/>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22</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spTree>
    <p:extLst>
      <p:ext uri="{BB962C8B-B14F-4D97-AF65-F5344CB8AC3E}">
        <p14:creationId xmlns:p14="http://schemas.microsoft.com/office/powerpoint/2010/main" val="2455846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97F1F7-0296-447D-9028-05E58D5A236D}"/>
              </a:ext>
            </a:extLst>
          </p:cNvPr>
          <p:cNvSpPr>
            <a:spLocks noGrp="1"/>
          </p:cNvSpPr>
          <p:nvPr>
            <p:ph type="title"/>
          </p:nvPr>
        </p:nvSpPr>
        <p:spPr/>
        <p:txBody>
          <a:bodyPr/>
          <a:lstStyle/>
          <a:p>
            <a:r>
              <a:rPr lang="de-DE" sz="2100" b="0" err="1">
                <a:solidFill>
                  <a:prstClr val="black"/>
                </a:solidFill>
              </a:rPr>
              <a:t>Empirical</a:t>
            </a:r>
            <a:r>
              <a:rPr lang="de-DE" sz="2100" b="0">
                <a:solidFill>
                  <a:prstClr val="black"/>
                </a:solidFill>
              </a:rPr>
              <a:t> </a:t>
            </a:r>
            <a:r>
              <a:rPr lang="de-DE" sz="2100" b="0" err="1">
                <a:solidFill>
                  <a:prstClr val="black"/>
                </a:solidFill>
              </a:rPr>
              <a:t>Objective</a:t>
            </a:r>
            <a:r>
              <a:rPr lang="de-DE" sz="2100" b="0">
                <a:solidFill>
                  <a:prstClr val="black"/>
                </a:solidFill>
              </a:rPr>
              <a:t> 1: </a:t>
            </a:r>
            <a:r>
              <a:rPr lang="en-US" sz="2100" b="0">
                <a:solidFill>
                  <a:prstClr val="black"/>
                </a:solidFill>
              </a:rPr>
              <a:t>Influence of </a:t>
            </a:r>
            <a:r>
              <a:rPr lang="en-US" sz="2100" b="0">
                <a:solidFill>
                  <a:srgbClr val="B99212"/>
                </a:solidFill>
              </a:rPr>
              <a:t>learning ability </a:t>
            </a:r>
            <a:r>
              <a:rPr lang="en-US" sz="2100" b="0">
                <a:solidFill>
                  <a:prstClr val="black"/>
                </a:solidFill>
              </a:rPr>
              <a:t>and </a:t>
            </a:r>
            <a:r>
              <a:rPr lang="en-US" sz="2100" b="0">
                <a:solidFill>
                  <a:srgbClr val="B99212"/>
                </a:solidFill>
              </a:rPr>
              <a:t>error sensitivity </a:t>
            </a:r>
            <a:r>
              <a:rPr lang="en-US" sz="2100" b="0">
                <a:solidFill>
                  <a:prstClr val="black"/>
                </a:solidFill>
              </a:rPr>
              <a:t>on </a:t>
            </a:r>
            <a:r>
              <a:rPr lang="en-US" sz="2100" b="0">
                <a:solidFill>
                  <a:srgbClr val="B99212"/>
                </a:solidFill>
              </a:rPr>
              <a:t>response strategy </a:t>
            </a:r>
            <a:r>
              <a:rPr lang="en-US" sz="2100" b="0">
                <a:solidFill>
                  <a:prstClr val="black"/>
                </a:solidFill>
              </a:rPr>
              <a:t>formation</a:t>
            </a:r>
            <a:endParaRPr lang="en-US"/>
          </a:p>
        </p:txBody>
      </p:sp>
      <p:sp>
        <p:nvSpPr>
          <p:cNvPr id="4" name="Foliennummernplatzhalter 3">
            <a:extLst>
              <a:ext uri="{FF2B5EF4-FFF2-40B4-BE49-F238E27FC236}">
                <a16:creationId xmlns:a16="http://schemas.microsoft.com/office/drawing/2014/main" id="{278DCD06-D416-43A4-B063-4AAE59C282B7}"/>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23</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grpSp>
        <p:nvGrpSpPr>
          <p:cNvPr id="33" name="Gruppieren 32">
            <a:extLst>
              <a:ext uri="{FF2B5EF4-FFF2-40B4-BE49-F238E27FC236}">
                <a16:creationId xmlns:a16="http://schemas.microsoft.com/office/drawing/2014/main" id="{38A804D6-34B3-4A33-9B09-DBFAB64A76B4}"/>
              </a:ext>
            </a:extLst>
          </p:cNvPr>
          <p:cNvGrpSpPr/>
          <p:nvPr/>
        </p:nvGrpSpPr>
        <p:grpSpPr>
          <a:xfrm>
            <a:off x="872677" y="2482810"/>
            <a:ext cx="7880527" cy="2145512"/>
            <a:chOff x="9330490" y="3216735"/>
            <a:chExt cx="2734720" cy="1930328"/>
          </a:xfrm>
        </p:grpSpPr>
        <p:sp>
          <p:nvSpPr>
            <p:cNvPr id="34" name="Rechteck: abgerundete Ecken 33">
              <a:extLst>
                <a:ext uri="{FF2B5EF4-FFF2-40B4-BE49-F238E27FC236}">
                  <a16:creationId xmlns:a16="http://schemas.microsoft.com/office/drawing/2014/main" id="{498B4A03-890C-4C6B-A128-52AB57462E59}"/>
                </a:ext>
              </a:extLst>
            </p:cNvPr>
            <p:cNvSpPr/>
            <p:nvPr/>
          </p:nvSpPr>
          <p:spPr>
            <a:xfrm>
              <a:off x="9330490" y="3216736"/>
              <a:ext cx="2734720" cy="1930327"/>
            </a:xfrm>
            <a:prstGeom prst="roundRect">
              <a:avLst/>
            </a:prstGeom>
            <a:noFill/>
            <a:ln w="952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Calibri"/>
                <a:ea typeface="+mn-ea"/>
                <a:cs typeface="+mn-cs"/>
              </a:endParaRPr>
            </a:p>
          </p:txBody>
        </p:sp>
        <p:sp>
          <p:nvSpPr>
            <p:cNvPr id="35" name="Rechteck: abgerundete Ecken 34">
              <a:extLst>
                <a:ext uri="{FF2B5EF4-FFF2-40B4-BE49-F238E27FC236}">
                  <a16:creationId xmlns:a16="http://schemas.microsoft.com/office/drawing/2014/main" id="{33CC627E-09BF-42FC-B712-45E915E7406D}"/>
                </a:ext>
              </a:extLst>
            </p:cNvPr>
            <p:cNvSpPr/>
            <p:nvPr/>
          </p:nvSpPr>
          <p:spPr>
            <a:xfrm>
              <a:off x="9330490" y="3216735"/>
              <a:ext cx="2734720" cy="219153"/>
            </a:xfrm>
            <a:prstGeom prst="roundRect">
              <a:avLst/>
            </a:prstGeom>
            <a:solidFill>
              <a:srgbClr val="CCA326"/>
            </a:solidFill>
            <a:ln>
              <a:solidFill>
                <a:srgbClr val="B9921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a:ln>
                    <a:noFill/>
                  </a:ln>
                  <a:solidFill>
                    <a:prstClr val="white"/>
                  </a:solidFill>
                  <a:effectLst/>
                  <a:uLnTx/>
                  <a:uFillTx/>
                  <a:latin typeface="Calibri"/>
                  <a:ea typeface="+mn-ea"/>
                  <a:cs typeface="+mn-cs"/>
                </a:rPr>
                <a:t>Work Package 1.1 – </a:t>
              </a:r>
              <a:r>
                <a:rPr kumimoji="0" lang="de-DE" sz="1050" b="1" i="0" u="none" strike="noStrike" kern="1200" cap="none" spc="0" normalizeH="0" baseline="0" noProof="0">
                  <a:ln>
                    <a:noFill/>
                  </a:ln>
                  <a:solidFill>
                    <a:prstClr val="white"/>
                  </a:solidFill>
                  <a:effectLst/>
                  <a:uLnTx/>
                  <a:uFillTx/>
                  <a:latin typeface="Calibri"/>
                  <a:ea typeface="+mn-ea"/>
                  <a:cs typeface="+mn-cs"/>
                </a:rPr>
                <a:t>Experiment 1a</a:t>
              </a:r>
              <a:r>
                <a:rPr kumimoji="0" lang="de-DE" sz="1050" b="0" i="0" u="none" strike="noStrike" kern="1200" cap="none" spc="0" normalizeH="0" baseline="0" noProof="0">
                  <a:ln>
                    <a:noFill/>
                  </a:ln>
                  <a:solidFill>
                    <a:prstClr val="white"/>
                  </a:solidFill>
                  <a:effectLst/>
                  <a:uLnTx/>
                  <a:uFillTx/>
                  <a:latin typeface="Calibri"/>
                  <a:ea typeface="+mn-ea"/>
                  <a:cs typeface="+mn-cs"/>
                </a:rPr>
                <a:t>, n = 90 </a:t>
              </a:r>
              <a:r>
                <a:rPr kumimoji="0" lang="de-DE" sz="1050" b="0" i="0" u="none" strike="noStrike" kern="1200" cap="none" spc="0" normalizeH="0" baseline="0" noProof="0" err="1">
                  <a:ln>
                    <a:noFill/>
                  </a:ln>
                  <a:solidFill>
                    <a:prstClr val="white"/>
                  </a:solidFill>
                  <a:effectLst/>
                  <a:uLnTx/>
                  <a:uFillTx/>
                  <a:latin typeface="Calibri"/>
                  <a:ea typeface="+mn-ea"/>
                  <a:cs typeface="+mn-cs"/>
                </a:rPr>
                <a:t>participants</a:t>
              </a:r>
              <a:endParaRPr kumimoji="0" lang="en-US" sz="10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69" name="Grafik 68">
            <a:extLst>
              <a:ext uri="{FF2B5EF4-FFF2-40B4-BE49-F238E27FC236}">
                <a16:creationId xmlns:a16="http://schemas.microsoft.com/office/drawing/2014/main" id="{A2D8A705-6CDD-4C27-958B-54E682AF5807}"/>
              </a:ext>
            </a:extLst>
          </p:cNvPr>
          <p:cNvPicPr>
            <a:picLocks noChangeAspect="1"/>
          </p:cNvPicPr>
          <p:nvPr/>
        </p:nvPicPr>
        <p:blipFill>
          <a:blip r:embed="rId3"/>
          <a:stretch>
            <a:fillRect/>
          </a:stretch>
        </p:blipFill>
        <p:spPr>
          <a:xfrm>
            <a:off x="4085946" y="1205403"/>
            <a:ext cx="4848771" cy="1032618"/>
          </a:xfrm>
          <a:prstGeom prst="rect">
            <a:avLst/>
          </a:prstGeom>
        </p:spPr>
      </p:pic>
      <p:pic>
        <p:nvPicPr>
          <p:cNvPr id="30" name="Inhaltsplatzhalter 5">
            <a:extLst>
              <a:ext uri="{FF2B5EF4-FFF2-40B4-BE49-F238E27FC236}">
                <a16:creationId xmlns:a16="http://schemas.microsoft.com/office/drawing/2014/main" id="{33EE3581-AFDE-41E9-BDED-354D1D80B2C3}"/>
              </a:ext>
            </a:extLst>
          </p:cNvPr>
          <p:cNvPicPr>
            <a:picLocks noGrp="1" noChangeAspect="1"/>
          </p:cNvPicPr>
          <p:nvPr>
            <p:ph idx="1"/>
          </p:nvPr>
        </p:nvPicPr>
        <p:blipFill rotWithShape="1">
          <a:blip r:embed="rId4" cstate="print">
            <a:extLst>
              <a:ext uri="{28A0092B-C50C-407E-A947-70E740481C1C}">
                <a14:useLocalDpi xmlns:a14="http://schemas.microsoft.com/office/drawing/2010/main" val="0"/>
              </a:ext>
            </a:extLst>
          </a:blip>
          <a:srcRect l="1839" t="10314" r="64293" b="62885"/>
          <a:stretch/>
        </p:blipFill>
        <p:spPr>
          <a:xfrm>
            <a:off x="1271803" y="3512019"/>
            <a:ext cx="612897" cy="434541"/>
          </a:xfrm>
        </p:spPr>
      </p:pic>
      <p:sp>
        <p:nvSpPr>
          <p:cNvPr id="31" name="Textfeld 30">
            <a:extLst>
              <a:ext uri="{FF2B5EF4-FFF2-40B4-BE49-F238E27FC236}">
                <a16:creationId xmlns:a16="http://schemas.microsoft.com/office/drawing/2014/main" id="{5C87D906-780E-4B85-826F-75C028430B1F}"/>
              </a:ext>
            </a:extLst>
          </p:cNvPr>
          <p:cNvSpPr txBox="1"/>
          <p:nvPr/>
        </p:nvSpPr>
        <p:spPr>
          <a:xfrm>
            <a:off x="3167844" y="3232339"/>
            <a:ext cx="561278" cy="193027"/>
          </a:xfrm>
          <a:prstGeom prst="rect">
            <a:avLst/>
          </a:prstGeom>
          <a:noFill/>
          <a:ln w="12700">
            <a:noFill/>
          </a:ln>
        </p:spPr>
        <p:txBody>
          <a:bodyPr wrap="square" tIns="27000" bIns="27000" rtlCol="0">
            <a:noAutofit/>
          </a:bodyPr>
          <a:lstStyle>
            <a:defPPr>
              <a:defRPr lang="de-DE"/>
            </a:defPPr>
            <a:lvl1pPr algn="ctr">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err="1">
                <a:ln>
                  <a:noFill/>
                </a:ln>
                <a:solidFill>
                  <a:prstClr val="black"/>
                </a:solidFill>
                <a:effectLst/>
                <a:uLnTx/>
                <a:uFillTx/>
                <a:latin typeface="Calibri"/>
                <a:ea typeface="+mn-ea"/>
                <a:cs typeface="+mn-cs"/>
              </a:rPr>
              <a:t>Flanker</a:t>
            </a:r>
            <a:endParaRPr kumimoji="0" lang="de-DE" sz="9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Calibri"/>
                <a:ea typeface="+mn-ea"/>
                <a:cs typeface="+mn-cs"/>
              </a:rPr>
              <a:t>Task</a:t>
            </a:r>
          </a:p>
        </p:txBody>
      </p:sp>
      <p:sp>
        <p:nvSpPr>
          <p:cNvPr id="32" name="Textfeld 31">
            <a:extLst>
              <a:ext uri="{FF2B5EF4-FFF2-40B4-BE49-F238E27FC236}">
                <a16:creationId xmlns:a16="http://schemas.microsoft.com/office/drawing/2014/main" id="{F4337AF7-2471-4963-92E9-E01AD24EE5FB}"/>
              </a:ext>
            </a:extLst>
          </p:cNvPr>
          <p:cNvSpPr txBox="1"/>
          <p:nvPr/>
        </p:nvSpPr>
        <p:spPr>
          <a:xfrm>
            <a:off x="3196620" y="3609889"/>
            <a:ext cx="561372"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600" b="0" i="0" u="none" strike="noStrike" kern="1200" cap="none" spc="0" normalizeH="0" baseline="0" noProof="0">
                <a:ln>
                  <a:noFill/>
                </a:ln>
                <a:solidFill>
                  <a:prstClr val="black"/>
                </a:solidFill>
                <a:effectLst/>
                <a:uLnTx/>
                <a:uFillTx/>
                <a:latin typeface="Calibri"/>
                <a:ea typeface="+mn-ea"/>
                <a:cs typeface="+mn-cs"/>
                <a:sym typeface="Wingdings" panose="05000000000000000000" pitchFamily="2" charset="2"/>
              </a:rPr>
              <a:t></a:t>
            </a:r>
            <a:endParaRPr kumimoji="0" lang="en-US" sz="600" b="0" i="0" u="none" strike="noStrike" kern="1200" cap="none" spc="0" normalizeH="0" baseline="0" noProof="0">
              <a:ln>
                <a:noFill/>
              </a:ln>
              <a:solidFill>
                <a:prstClr val="black"/>
              </a:solidFill>
              <a:effectLst/>
              <a:uLnTx/>
              <a:uFillTx/>
              <a:latin typeface="Calibri"/>
              <a:ea typeface="+mn-ea"/>
              <a:cs typeface="+mn-cs"/>
            </a:endParaRPr>
          </a:p>
        </p:txBody>
      </p:sp>
      <p:sp>
        <p:nvSpPr>
          <p:cNvPr id="40" name="Rechteck: abgerundete Ecken 39">
            <a:extLst>
              <a:ext uri="{FF2B5EF4-FFF2-40B4-BE49-F238E27FC236}">
                <a16:creationId xmlns:a16="http://schemas.microsoft.com/office/drawing/2014/main" id="{94BEA94F-5D5E-409C-BC36-287BF2D62196}"/>
              </a:ext>
            </a:extLst>
          </p:cNvPr>
          <p:cNvSpPr/>
          <p:nvPr/>
        </p:nvSpPr>
        <p:spPr>
          <a:xfrm>
            <a:off x="1205177" y="3232336"/>
            <a:ext cx="1904453" cy="828125"/>
          </a:xfrm>
          <a:prstGeom prst="roundRect">
            <a:avLst>
              <a:gd name="adj" fmla="val 0"/>
            </a:avLst>
          </a:prstGeom>
          <a:noFill/>
          <a:ln w="12700">
            <a:solidFill>
              <a:srgbClr val="CCA326"/>
            </a:solid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feld 40">
            <a:extLst>
              <a:ext uri="{FF2B5EF4-FFF2-40B4-BE49-F238E27FC236}">
                <a16:creationId xmlns:a16="http://schemas.microsoft.com/office/drawing/2014/main" id="{F730E234-7107-4F22-9CBB-D00E70699B84}"/>
              </a:ext>
            </a:extLst>
          </p:cNvPr>
          <p:cNvSpPr txBox="1"/>
          <p:nvPr/>
        </p:nvSpPr>
        <p:spPr>
          <a:xfrm>
            <a:off x="1204989" y="3232338"/>
            <a:ext cx="1904662" cy="193027"/>
          </a:xfrm>
          <a:prstGeom prst="rect">
            <a:avLst/>
          </a:prstGeom>
          <a:noFill/>
          <a:ln w="12700">
            <a:no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Calibri"/>
                <a:ea typeface="+mn-ea"/>
                <a:cs typeface="+mn-cs"/>
              </a:rPr>
              <a:t>Free </a:t>
            </a:r>
            <a:r>
              <a:rPr kumimoji="0" lang="de-DE" sz="900" b="0" i="0" u="none" strike="noStrike" kern="1200" cap="none" spc="0" normalizeH="0" baseline="0" noProof="0" err="1">
                <a:ln>
                  <a:noFill/>
                </a:ln>
                <a:solidFill>
                  <a:prstClr val="black"/>
                </a:solidFill>
                <a:effectLst/>
                <a:uLnTx/>
                <a:uFillTx/>
                <a:latin typeface="Calibri"/>
                <a:ea typeface="+mn-ea"/>
                <a:cs typeface="+mn-cs"/>
              </a:rPr>
              <a:t>Concurrent</a:t>
            </a:r>
            <a:r>
              <a:rPr kumimoji="0" lang="de-DE" sz="900" b="0" i="0" u="none" strike="noStrike" kern="1200" cap="none" spc="0" normalizeH="0" baseline="0" noProof="0">
                <a:ln>
                  <a:noFill/>
                </a:ln>
                <a:solidFill>
                  <a:prstClr val="black"/>
                </a:solidFill>
                <a:effectLst/>
                <a:uLnTx/>
                <a:uFillTx/>
                <a:latin typeface="Calibri"/>
                <a:ea typeface="+mn-ea"/>
                <a:cs typeface="+mn-cs"/>
              </a:rPr>
              <a:t> Dual-</a:t>
            </a:r>
            <a:r>
              <a:rPr kumimoji="0" lang="de-DE" sz="900" b="0" i="0" u="none" strike="noStrike" kern="1200" cap="none" spc="0" normalizeH="0" baseline="0" noProof="0" err="1">
                <a:ln>
                  <a:noFill/>
                </a:ln>
                <a:solidFill>
                  <a:prstClr val="black"/>
                </a:solidFill>
                <a:effectLst/>
                <a:uLnTx/>
                <a:uFillTx/>
                <a:latin typeface="Calibri"/>
                <a:ea typeface="+mn-ea"/>
                <a:cs typeface="+mn-cs"/>
              </a:rPr>
              <a:t>Tasking</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42" name="Rechteck: abgerundete Ecken 41">
            <a:extLst>
              <a:ext uri="{FF2B5EF4-FFF2-40B4-BE49-F238E27FC236}">
                <a16:creationId xmlns:a16="http://schemas.microsoft.com/office/drawing/2014/main" id="{3885E62C-BB6E-4C95-AF39-69F00C749F0A}"/>
              </a:ext>
            </a:extLst>
          </p:cNvPr>
          <p:cNvSpPr/>
          <p:nvPr/>
        </p:nvSpPr>
        <p:spPr>
          <a:xfrm>
            <a:off x="3192566" y="3232337"/>
            <a:ext cx="513000" cy="828124"/>
          </a:xfrm>
          <a:prstGeom prst="roundRect">
            <a:avLst>
              <a:gd name="adj" fmla="val 0"/>
            </a:avLst>
          </a:prstGeom>
          <a:noFill/>
          <a:ln w="12700">
            <a:solidFill>
              <a:srgbClr val="CCA326"/>
            </a:solid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pic>
        <p:nvPicPr>
          <p:cNvPr id="43" name="Grafik 42">
            <a:extLst>
              <a:ext uri="{FF2B5EF4-FFF2-40B4-BE49-F238E27FC236}">
                <a16:creationId xmlns:a16="http://schemas.microsoft.com/office/drawing/2014/main" id="{3E55E33A-A05F-47E7-BF1B-8C774BA7C7F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602" t="24729" r="1076" b="12759"/>
          <a:stretch/>
        </p:blipFill>
        <p:spPr>
          <a:xfrm>
            <a:off x="1906735" y="3489787"/>
            <a:ext cx="1193087" cy="499868"/>
          </a:xfrm>
          <a:prstGeom prst="rect">
            <a:avLst/>
          </a:prstGeom>
        </p:spPr>
      </p:pic>
      <p:sp>
        <p:nvSpPr>
          <p:cNvPr id="44" name="Textfeld 43">
            <a:extLst>
              <a:ext uri="{FF2B5EF4-FFF2-40B4-BE49-F238E27FC236}">
                <a16:creationId xmlns:a16="http://schemas.microsoft.com/office/drawing/2014/main" id="{0AB45178-5D3B-46E1-A2E5-908ED463362F}"/>
              </a:ext>
            </a:extLst>
          </p:cNvPr>
          <p:cNvSpPr txBox="1"/>
          <p:nvPr/>
        </p:nvSpPr>
        <p:spPr>
          <a:xfrm>
            <a:off x="1204989" y="2795366"/>
            <a:ext cx="268847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Performance-based Factors: response strategies, error sensitivity &amp; learning ability</a:t>
            </a:r>
          </a:p>
        </p:txBody>
      </p:sp>
      <p:pic>
        <p:nvPicPr>
          <p:cNvPr id="24" name="Grafik 23">
            <a:extLst>
              <a:ext uri="{FF2B5EF4-FFF2-40B4-BE49-F238E27FC236}">
                <a16:creationId xmlns:a16="http://schemas.microsoft.com/office/drawing/2014/main" id="{591D250F-FB33-41CD-8906-D407A7FEADA7}"/>
              </a:ext>
            </a:extLst>
          </p:cNvPr>
          <p:cNvPicPr>
            <a:picLocks noChangeAspect="1"/>
          </p:cNvPicPr>
          <p:nvPr/>
        </p:nvPicPr>
        <p:blipFill rotWithShape="1">
          <a:blip r:embed="rId6"/>
          <a:srcRect l="115" r="115"/>
          <a:stretch/>
        </p:blipFill>
        <p:spPr>
          <a:xfrm>
            <a:off x="928989" y="3875515"/>
            <a:ext cx="872771" cy="692109"/>
          </a:xfrm>
          <a:prstGeom prst="rect">
            <a:avLst/>
          </a:prstGeom>
          <a:noFill/>
          <a:ln w="9525" cap="flat" cmpd="sng" algn="ctr">
            <a:noFill/>
            <a:prstDash val="solid"/>
            <a:round/>
            <a:headEnd type="none" w="med" len="med"/>
            <a:tailEnd type="none" w="med" len="med"/>
          </a:ln>
        </p:spPr>
      </p:pic>
      <p:sp>
        <p:nvSpPr>
          <p:cNvPr id="8" name="Pfeil: nach rechts 7">
            <a:extLst>
              <a:ext uri="{FF2B5EF4-FFF2-40B4-BE49-F238E27FC236}">
                <a16:creationId xmlns:a16="http://schemas.microsoft.com/office/drawing/2014/main" id="{92E6BD49-5428-4F62-949F-2A30528204B9}"/>
              </a:ext>
            </a:extLst>
          </p:cNvPr>
          <p:cNvSpPr/>
          <p:nvPr/>
        </p:nvSpPr>
        <p:spPr>
          <a:xfrm>
            <a:off x="3815916" y="3616774"/>
            <a:ext cx="302857" cy="149993"/>
          </a:xfrm>
          <a:prstGeom prst="rightArrow">
            <a:avLst/>
          </a:prstGeom>
          <a:solidFill>
            <a:srgbClr val="CCA326"/>
          </a:solidFill>
          <a:ln>
            <a:solidFill>
              <a:srgbClr val="9D7B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nvGrpSpPr>
          <p:cNvPr id="9" name="Gruppieren 8">
            <a:extLst>
              <a:ext uri="{FF2B5EF4-FFF2-40B4-BE49-F238E27FC236}">
                <a16:creationId xmlns:a16="http://schemas.microsoft.com/office/drawing/2014/main" id="{F9F0DCC3-0797-4EA8-971E-02C3804C334F}"/>
              </a:ext>
            </a:extLst>
          </p:cNvPr>
          <p:cNvGrpSpPr/>
          <p:nvPr/>
        </p:nvGrpSpPr>
        <p:grpSpPr>
          <a:xfrm>
            <a:off x="7119960" y="2858881"/>
            <a:ext cx="1566840" cy="1723557"/>
            <a:chOff x="9667618" y="3811841"/>
            <a:chExt cx="2089120" cy="2298076"/>
          </a:xfrm>
        </p:grpSpPr>
        <p:sp>
          <p:nvSpPr>
            <p:cNvPr id="12" name="Freihandform: Form 11">
              <a:extLst>
                <a:ext uri="{FF2B5EF4-FFF2-40B4-BE49-F238E27FC236}">
                  <a16:creationId xmlns:a16="http://schemas.microsoft.com/office/drawing/2014/main" id="{9A5A7154-F169-4308-98A4-4226A70DAB1C}"/>
                </a:ext>
              </a:extLst>
            </p:cNvPr>
            <p:cNvSpPr/>
            <p:nvPr/>
          </p:nvSpPr>
          <p:spPr>
            <a:xfrm>
              <a:off x="10845800" y="4486772"/>
              <a:ext cx="716280" cy="797965"/>
            </a:xfrm>
            <a:custGeom>
              <a:avLst/>
              <a:gdLst>
                <a:gd name="connsiteX0" fmla="*/ 0 w 716280"/>
                <a:gd name="connsiteY0" fmla="*/ 514711 h 797965"/>
                <a:gd name="connsiteX1" fmla="*/ 55880 w 716280"/>
                <a:gd name="connsiteY1" fmla="*/ 616311 h 797965"/>
                <a:gd name="connsiteX2" fmla="*/ 101600 w 716280"/>
                <a:gd name="connsiteY2" fmla="*/ 611231 h 797965"/>
                <a:gd name="connsiteX3" fmla="*/ 167640 w 716280"/>
                <a:gd name="connsiteY3" fmla="*/ 540111 h 797965"/>
                <a:gd name="connsiteX4" fmla="*/ 223520 w 716280"/>
                <a:gd name="connsiteY4" fmla="*/ 595991 h 797965"/>
                <a:gd name="connsiteX5" fmla="*/ 335280 w 716280"/>
                <a:gd name="connsiteY5" fmla="*/ 52431 h 797965"/>
                <a:gd name="connsiteX6" fmla="*/ 350520 w 716280"/>
                <a:gd name="connsiteY6" fmla="*/ 21951 h 797965"/>
                <a:gd name="connsiteX7" fmla="*/ 396240 w 716280"/>
                <a:gd name="connsiteY7" fmla="*/ 57511 h 797965"/>
                <a:gd name="connsiteX8" fmla="*/ 406400 w 716280"/>
                <a:gd name="connsiteY8" fmla="*/ 67671 h 797965"/>
                <a:gd name="connsiteX9" fmla="*/ 533400 w 716280"/>
                <a:gd name="connsiteY9" fmla="*/ 783951 h 797965"/>
                <a:gd name="connsiteX10" fmla="*/ 716280 w 716280"/>
                <a:gd name="connsiteY10" fmla="*/ 560431 h 797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6280" h="797965">
                  <a:moveTo>
                    <a:pt x="0" y="514711"/>
                  </a:moveTo>
                  <a:cubicBezTo>
                    <a:pt x="19473" y="557467"/>
                    <a:pt x="38947" y="600224"/>
                    <a:pt x="55880" y="616311"/>
                  </a:cubicBezTo>
                  <a:cubicBezTo>
                    <a:pt x="72813" y="632398"/>
                    <a:pt x="82973" y="623931"/>
                    <a:pt x="101600" y="611231"/>
                  </a:cubicBezTo>
                  <a:cubicBezTo>
                    <a:pt x="120227" y="598531"/>
                    <a:pt x="147320" y="542651"/>
                    <a:pt x="167640" y="540111"/>
                  </a:cubicBezTo>
                  <a:cubicBezTo>
                    <a:pt x="187960" y="537571"/>
                    <a:pt x="195580" y="677271"/>
                    <a:pt x="223520" y="595991"/>
                  </a:cubicBezTo>
                  <a:cubicBezTo>
                    <a:pt x="251460" y="514711"/>
                    <a:pt x="314113" y="148104"/>
                    <a:pt x="335280" y="52431"/>
                  </a:cubicBezTo>
                  <a:cubicBezTo>
                    <a:pt x="356447" y="-43242"/>
                    <a:pt x="340360" y="21104"/>
                    <a:pt x="350520" y="21951"/>
                  </a:cubicBezTo>
                  <a:cubicBezTo>
                    <a:pt x="360680" y="22798"/>
                    <a:pt x="396240" y="57511"/>
                    <a:pt x="396240" y="57511"/>
                  </a:cubicBezTo>
                  <a:cubicBezTo>
                    <a:pt x="405553" y="65131"/>
                    <a:pt x="383540" y="-53402"/>
                    <a:pt x="406400" y="67671"/>
                  </a:cubicBezTo>
                  <a:cubicBezTo>
                    <a:pt x="429260" y="188744"/>
                    <a:pt x="481753" y="701824"/>
                    <a:pt x="533400" y="783951"/>
                  </a:cubicBezTo>
                  <a:cubicBezTo>
                    <a:pt x="585047" y="866078"/>
                    <a:pt x="716280" y="560431"/>
                    <a:pt x="716280" y="560431"/>
                  </a:cubicBezTo>
                </a:path>
              </a:pathLst>
            </a:custGeom>
            <a:noFill/>
            <a:ln>
              <a:solidFill>
                <a:srgbClr val="CCA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cxnSp>
          <p:nvCxnSpPr>
            <p:cNvPr id="57" name="Gerader Verbinder 56">
              <a:extLst>
                <a:ext uri="{FF2B5EF4-FFF2-40B4-BE49-F238E27FC236}">
                  <a16:creationId xmlns:a16="http://schemas.microsoft.com/office/drawing/2014/main" id="{4F6CCBBA-C0C3-46D7-A0C9-1F1B43125EE5}"/>
                </a:ext>
              </a:extLst>
            </p:cNvPr>
            <p:cNvCxnSpPr>
              <a:cxnSpLocks/>
            </p:cNvCxnSpPr>
            <p:nvPr/>
          </p:nvCxnSpPr>
          <p:spPr>
            <a:xfrm>
              <a:off x="10072269" y="4282417"/>
              <a:ext cx="0" cy="1212850"/>
            </a:xfrm>
            <a:prstGeom prst="line">
              <a:avLst/>
            </a:prstGeom>
            <a:noFill/>
            <a:ln w="28575" cap="flat" cmpd="sng" algn="ctr">
              <a:solidFill>
                <a:schemeClr val="tx1"/>
              </a:solidFill>
              <a:prstDash val="solid"/>
              <a:miter lim="800000"/>
            </a:ln>
            <a:effectLst/>
          </p:spPr>
        </p:cxnSp>
        <p:sp>
          <p:nvSpPr>
            <p:cNvPr id="58" name="Textfeld 57">
              <a:extLst>
                <a:ext uri="{FF2B5EF4-FFF2-40B4-BE49-F238E27FC236}">
                  <a16:creationId xmlns:a16="http://schemas.microsoft.com/office/drawing/2014/main" id="{EECC32F9-7552-4206-A5E5-EF71FA86448A}"/>
                </a:ext>
              </a:extLst>
            </p:cNvPr>
            <p:cNvSpPr txBox="1"/>
            <p:nvPr/>
          </p:nvSpPr>
          <p:spPr>
            <a:xfrm>
              <a:off x="9667618" y="4187502"/>
              <a:ext cx="461665" cy="1323910"/>
            </a:xfrm>
            <a:prstGeom prst="rect">
              <a:avLst/>
            </a:prstGeom>
            <a:noFill/>
          </p:spPr>
          <p:txBody>
            <a:bodyPr vert="vert270"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a:ln>
                    <a:noFill/>
                  </a:ln>
                  <a:solidFill>
                    <a:prstClr val="black"/>
                  </a:solidFill>
                  <a:effectLst/>
                  <a:uLnTx/>
                  <a:uFillTx/>
                  <a:latin typeface="Quicksand"/>
                  <a:ea typeface="Quicksand"/>
                  <a:cs typeface="Quicksand"/>
                  <a:sym typeface="Arial"/>
                </a:rPr>
                <a:t>RTs/ERs/ERN</a:t>
              </a:r>
            </a:p>
          </p:txBody>
        </p:sp>
        <p:cxnSp>
          <p:nvCxnSpPr>
            <p:cNvPr id="59" name="Gerader Verbinder 58">
              <a:extLst>
                <a:ext uri="{FF2B5EF4-FFF2-40B4-BE49-F238E27FC236}">
                  <a16:creationId xmlns:a16="http://schemas.microsoft.com/office/drawing/2014/main" id="{34C12C5A-C7A2-4755-BAAB-EA62CC350445}"/>
                </a:ext>
              </a:extLst>
            </p:cNvPr>
            <p:cNvCxnSpPr>
              <a:cxnSpLocks/>
            </p:cNvCxnSpPr>
            <p:nvPr/>
          </p:nvCxnSpPr>
          <p:spPr>
            <a:xfrm flipH="1">
              <a:off x="10072272" y="5495267"/>
              <a:ext cx="1334614" cy="0"/>
            </a:xfrm>
            <a:prstGeom prst="line">
              <a:avLst/>
            </a:prstGeom>
            <a:noFill/>
            <a:ln w="28575" cap="flat" cmpd="sng" algn="ctr">
              <a:solidFill>
                <a:schemeClr val="tx1"/>
              </a:solidFill>
              <a:prstDash val="solid"/>
              <a:miter lim="800000"/>
            </a:ln>
            <a:effectLst/>
          </p:spPr>
        </p:cxnSp>
        <p:sp>
          <p:nvSpPr>
            <p:cNvPr id="66" name="Rechteck 65">
              <a:extLst>
                <a:ext uri="{FF2B5EF4-FFF2-40B4-BE49-F238E27FC236}">
                  <a16:creationId xmlns:a16="http://schemas.microsoft.com/office/drawing/2014/main" id="{4D702A3F-BB7B-4FCE-97C1-77883AF655E7}"/>
                </a:ext>
              </a:extLst>
            </p:cNvPr>
            <p:cNvSpPr/>
            <p:nvPr/>
          </p:nvSpPr>
          <p:spPr>
            <a:xfrm>
              <a:off x="11137205" y="4966401"/>
              <a:ext cx="133469" cy="503266"/>
            </a:xfrm>
            <a:prstGeom prst="rect">
              <a:avLst/>
            </a:prstGeom>
            <a:solidFill>
              <a:sysClr val="windowText" lastClr="000000"/>
            </a:solidFill>
            <a:ln w="12700" cap="flat" cmpd="sng" algn="ctr">
              <a:solidFill>
                <a:schemeClr val="tx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67" name="Rechteck 66">
              <a:extLst>
                <a:ext uri="{FF2B5EF4-FFF2-40B4-BE49-F238E27FC236}">
                  <a16:creationId xmlns:a16="http://schemas.microsoft.com/office/drawing/2014/main" id="{88440EBE-E6DA-4965-9B72-8A67A0F84517}"/>
                </a:ext>
              </a:extLst>
            </p:cNvPr>
            <p:cNvSpPr/>
            <p:nvPr/>
          </p:nvSpPr>
          <p:spPr>
            <a:xfrm>
              <a:off x="10414938" y="4641127"/>
              <a:ext cx="119138" cy="833639"/>
            </a:xfrm>
            <a:prstGeom prst="rect">
              <a:avLst/>
            </a:prstGeom>
            <a:solidFill>
              <a:srgbClr val="666666"/>
            </a:solidFill>
            <a:ln w="12700" cap="flat" cmpd="sng" algn="ctr">
              <a:solidFill>
                <a:schemeClr val="tx1"/>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black"/>
                </a:solidFill>
                <a:effectLst/>
                <a:uLnTx/>
                <a:uFillTx/>
                <a:latin typeface="Calibri"/>
                <a:ea typeface="+mn-ea"/>
                <a:cs typeface="Arial"/>
                <a:sym typeface="Arial"/>
              </a:endParaRPr>
            </a:p>
          </p:txBody>
        </p:sp>
        <p:sp>
          <p:nvSpPr>
            <p:cNvPr id="86" name="Textfeld 85">
              <a:extLst>
                <a:ext uri="{FF2B5EF4-FFF2-40B4-BE49-F238E27FC236}">
                  <a16:creationId xmlns:a16="http://schemas.microsoft.com/office/drawing/2014/main" id="{507047BF-F3D6-4F3B-921D-45FABBDACF09}"/>
                </a:ext>
              </a:extLst>
            </p:cNvPr>
            <p:cNvSpPr txBox="1"/>
            <p:nvPr/>
          </p:nvSpPr>
          <p:spPr>
            <a:xfrm>
              <a:off x="10855298" y="5501801"/>
              <a:ext cx="901440" cy="6081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88"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Switcher, Response </a:t>
              </a:r>
              <a:r>
                <a:rPr kumimoji="0" lang="de-DE" sz="788"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grouper</a:t>
              </a:r>
              <a:endParaRPr kumimoji="0" lang="en-US" sz="788"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7" name="Textfeld 86">
              <a:extLst>
                <a:ext uri="{FF2B5EF4-FFF2-40B4-BE49-F238E27FC236}">
                  <a16:creationId xmlns:a16="http://schemas.microsoft.com/office/drawing/2014/main" id="{ACC53F22-092F-4EB1-AEFA-6B62D8D59AB3}"/>
                </a:ext>
              </a:extLst>
            </p:cNvPr>
            <p:cNvSpPr txBox="1"/>
            <p:nvPr/>
          </p:nvSpPr>
          <p:spPr>
            <a:xfrm>
              <a:off x="10140145" y="5501801"/>
              <a:ext cx="815640" cy="284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88"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Blocker</a:t>
              </a:r>
              <a:endParaRPr kumimoji="0" lang="en-US" sz="788"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 name="Freihandform: Form 10">
              <a:extLst>
                <a:ext uri="{FF2B5EF4-FFF2-40B4-BE49-F238E27FC236}">
                  <a16:creationId xmlns:a16="http://schemas.microsoft.com/office/drawing/2014/main" id="{99A080B4-7F89-48A4-AF99-C111932E3904}"/>
                </a:ext>
              </a:extLst>
            </p:cNvPr>
            <p:cNvSpPr/>
            <p:nvPr/>
          </p:nvSpPr>
          <p:spPr>
            <a:xfrm>
              <a:off x="10099040" y="4806583"/>
              <a:ext cx="619760" cy="478154"/>
            </a:xfrm>
            <a:custGeom>
              <a:avLst/>
              <a:gdLst>
                <a:gd name="connsiteX0" fmla="*/ 0 w 619760"/>
                <a:gd name="connsiteY0" fmla="*/ 242937 h 478154"/>
                <a:gd name="connsiteX1" fmla="*/ 81280 w 619760"/>
                <a:gd name="connsiteY1" fmla="*/ 339457 h 478154"/>
                <a:gd name="connsiteX2" fmla="*/ 172720 w 619760"/>
                <a:gd name="connsiteY2" fmla="*/ 268337 h 478154"/>
                <a:gd name="connsiteX3" fmla="*/ 228600 w 619760"/>
                <a:gd name="connsiteY3" fmla="*/ 298817 h 478154"/>
                <a:gd name="connsiteX4" fmla="*/ 355600 w 619760"/>
                <a:gd name="connsiteY4" fmla="*/ 34657 h 478154"/>
                <a:gd name="connsiteX5" fmla="*/ 391160 w 619760"/>
                <a:gd name="connsiteY5" fmla="*/ 4177 h 478154"/>
                <a:gd name="connsiteX6" fmla="*/ 396240 w 619760"/>
                <a:gd name="connsiteY6" fmla="*/ 44817 h 478154"/>
                <a:gd name="connsiteX7" fmla="*/ 421640 w 619760"/>
                <a:gd name="connsiteY7" fmla="*/ 44817 h 478154"/>
                <a:gd name="connsiteX8" fmla="*/ 513080 w 619760"/>
                <a:gd name="connsiteY8" fmla="*/ 466457 h 478154"/>
                <a:gd name="connsiteX9" fmla="*/ 619760 w 619760"/>
                <a:gd name="connsiteY9" fmla="*/ 319137 h 47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760" h="478154">
                  <a:moveTo>
                    <a:pt x="0" y="242937"/>
                  </a:moveTo>
                  <a:cubicBezTo>
                    <a:pt x="26246" y="289080"/>
                    <a:pt x="52493" y="335224"/>
                    <a:pt x="81280" y="339457"/>
                  </a:cubicBezTo>
                  <a:cubicBezTo>
                    <a:pt x="110067" y="343690"/>
                    <a:pt x="148167" y="275110"/>
                    <a:pt x="172720" y="268337"/>
                  </a:cubicBezTo>
                  <a:cubicBezTo>
                    <a:pt x="197273" y="261564"/>
                    <a:pt x="198120" y="337764"/>
                    <a:pt x="228600" y="298817"/>
                  </a:cubicBezTo>
                  <a:cubicBezTo>
                    <a:pt x="259080" y="259870"/>
                    <a:pt x="328507" y="83764"/>
                    <a:pt x="355600" y="34657"/>
                  </a:cubicBezTo>
                  <a:cubicBezTo>
                    <a:pt x="382693" y="-14450"/>
                    <a:pt x="384387" y="2484"/>
                    <a:pt x="391160" y="4177"/>
                  </a:cubicBezTo>
                  <a:cubicBezTo>
                    <a:pt x="397933" y="5870"/>
                    <a:pt x="391160" y="38044"/>
                    <a:pt x="396240" y="44817"/>
                  </a:cubicBezTo>
                  <a:cubicBezTo>
                    <a:pt x="401320" y="51590"/>
                    <a:pt x="402167" y="-25456"/>
                    <a:pt x="421640" y="44817"/>
                  </a:cubicBezTo>
                  <a:cubicBezTo>
                    <a:pt x="441113" y="115090"/>
                    <a:pt x="480060" y="420737"/>
                    <a:pt x="513080" y="466457"/>
                  </a:cubicBezTo>
                  <a:cubicBezTo>
                    <a:pt x="546100" y="512177"/>
                    <a:pt x="582930" y="415657"/>
                    <a:pt x="619760" y="319137"/>
                  </a:cubicBezTo>
                </a:path>
              </a:pathLst>
            </a:custGeom>
            <a:noFill/>
            <a:ln>
              <a:solidFill>
                <a:srgbClr val="9D7B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46" name="Textfeld 45">
              <a:extLst>
                <a:ext uri="{FF2B5EF4-FFF2-40B4-BE49-F238E27FC236}">
                  <a16:creationId xmlns:a16="http://schemas.microsoft.com/office/drawing/2014/main" id="{32FE66AD-8B6B-4433-811D-820054D33B5E}"/>
                </a:ext>
              </a:extLst>
            </p:cNvPr>
            <p:cNvSpPr txBox="1"/>
            <p:nvPr/>
          </p:nvSpPr>
          <p:spPr>
            <a:xfrm>
              <a:off x="10174314" y="3811841"/>
              <a:ext cx="1130531" cy="30777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Expectations</a:t>
              </a:r>
            </a:p>
          </p:txBody>
        </p:sp>
      </p:grpSp>
      <p:grpSp>
        <p:nvGrpSpPr>
          <p:cNvPr id="6" name="Gruppieren 5">
            <a:extLst>
              <a:ext uri="{FF2B5EF4-FFF2-40B4-BE49-F238E27FC236}">
                <a16:creationId xmlns:a16="http://schemas.microsoft.com/office/drawing/2014/main" id="{9025D935-413C-41DE-A48E-BB0F3E08CD3B}"/>
              </a:ext>
            </a:extLst>
          </p:cNvPr>
          <p:cNvGrpSpPr/>
          <p:nvPr/>
        </p:nvGrpSpPr>
        <p:grpSpPr>
          <a:xfrm>
            <a:off x="4139952" y="2802250"/>
            <a:ext cx="2988020" cy="1749208"/>
            <a:chOff x="5719890" y="3736334"/>
            <a:chExt cx="3984026" cy="2332277"/>
          </a:xfrm>
        </p:grpSpPr>
        <p:sp>
          <p:nvSpPr>
            <p:cNvPr id="47" name="Textfeld 46">
              <a:extLst>
                <a:ext uri="{FF2B5EF4-FFF2-40B4-BE49-F238E27FC236}">
                  <a16:creationId xmlns:a16="http://schemas.microsoft.com/office/drawing/2014/main" id="{A1468B76-3FD1-4324-9908-B097581D1BB7}"/>
                </a:ext>
              </a:extLst>
            </p:cNvPr>
            <p:cNvSpPr txBox="1"/>
            <p:nvPr/>
          </p:nvSpPr>
          <p:spPr>
            <a:xfrm>
              <a:off x="5719890" y="3736334"/>
              <a:ext cx="3984026"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Behavioral Outcomes: Response times, Error Rates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EEG Outcomes: Error-related negativity</a:t>
              </a:r>
            </a:p>
          </p:txBody>
        </p:sp>
        <p:pic>
          <p:nvPicPr>
            <p:cNvPr id="45" name="Grafik 44">
              <a:extLst>
                <a:ext uri="{FF2B5EF4-FFF2-40B4-BE49-F238E27FC236}">
                  <a16:creationId xmlns:a16="http://schemas.microsoft.com/office/drawing/2014/main" id="{50245031-DDE5-4911-B0D6-9A0C1898EFDA}"/>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5784382" y="4338908"/>
              <a:ext cx="1409185" cy="1496498"/>
            </a:xfrm>
            <a:prstGeom prst="rect">
              <a:avLst/>
            </a:prstGeom>
          </p:spPr>
        </p:pic>
        <p:sp>
          <p:nvSpPr>
            <p:cNvPr id="5" name="Rechteck: abgerundete Ecken 4">
              <a:extLst>
                <a:ext uri="{FF2B5EF4-FFF2-40B4-BE49-F238E27FC236}">
                  <a16:creationId xmlns:a16="http://schemas.microsoft.com/office/drawing/2014/main" id="{322F2688-3FC5-4F6A-AADA-07D898477DD7}"/>
                </a:ext>
              </a:extLst>
            </p:cNvPr>
            <p:cNvSpPr/>
            <p:nvPr/>
          </p:nvSpPr>
          <p:spPr>
            <a:xfrm>
              <a:off x="6948076" y="4309781"/>
              <a:ext cx="300075" cy="63138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nvGrpSpPr>
            <p:cNvPr id="49" name="Gruppieren 48">
              <a:extLst>
                <a:ext uri="{FF2B5EF4-FFF2-40B4-BE49-F238E27FC236}">
                  <a16:creationId xmlns:a16="http://schemas.microsoft.com/office/drawing/2014/main" id="{EF0F1E90-1581-400B-80D1-B6D33DBF9451}"/>
                </a:ext>
              </a:extLst>
            </p:cNvPr>
            <p:cNvGrpSpPr/>
            <p:nvPr/>
          </p:nvGrpSpPr>
          <p:grpSpPr>
            <a:xfrm>
              <a:off x="7069238" y="4266834"/>
              <a:ext cx="2402394" cy="1801777"/>
              <a:chOff x="8947315" y="4242162"/>
              <a:chExt cx="2621293" cy="2004028"/>
            </a:xfrm>
          </p:grpSpPr>
          <p:sp>
            <p:nvSpPr>
              <p:cNvPr id="51" name="Textfeld 50">
                <a:extLst>
                  <a:ext uri="{FF2B5EF4-FFF2-40B4-BE49-F238E27FC236}">
                    <a16:creationId xmlns:a16="http://schemas.microsoft.com/office/drawing/2014/main" id="{FB866F3C-6395-47AF-97A1-A7D0F0B9E1C0}"/>
                  </a:ext>
                </a:extLst>
              </p:cNvPr>
              <p:cNvSpPr txBox="1"/>
              <p:nvPr/>
            </p:nvSpPr>
            <p:spPr>
              <a:xfrm>
                <a:off x="10166625" y="5938098"/>
                <a:ext cx="679102" cy="30809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Blocks</a:t>
                </a:r>
                <a:endParaRPr kumimoji="0" lang="en-US"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2" name="Textfeld 51">
                <a:extLst>
                  <a:ext uri="{FF2B5EF4-FFF2-40B4-BE49-F238E27FC236}">
                    <a16:creationId xmlns:a16="http://schemas.microsoft.com/office/drawing/2014/main" id="{8745EF31-82F2-40D4-9D23-927B8248AD50}"/>
                  </a:ext>
                </a:extLst>
              </p:cNvPr>
              <p:cNvSpPr txBox="1"/>
              <p:nvPr/>
            </p:nvSpPr>
            <p:spPr>
              <a:xfrm rot="16200000">
                <a:off x="8597784" y="4857454"/>
                <a:ext cx="1001300" cy="30223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Error Rates</a:t>
                </a:r>
                <a:endParaRPr kumimoji="0" lang="en-US"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50" name="Grafik 49">
                <a:extLst>
                  <a:ext uri="{FF2B5EF4-FFF2-40B4-BE49-F238E27FC236}">
                    <a16:creationId xmlns:a16="http://schemas.microsoft.com/office/drawing/2014/main" id="{D819B429-366F-4961-814D-907DD304F285}"/>
                  </a:ext>
                </a:extLst>
              </p:cNvPr>
              <p:cNvPicPr>
                <a:picLocks noChangeAspect="1"/>
              </p:cNvPicPr>
              <p:nvPr/>
            </p:nvPicPr>
            <p:blipFill rotWithShape="1">
              <a:blip r:embed="rId8"/>
              <a:srcRect l="8324" t="2966" b="9289"/>
              <a:stretch/>
            </p:blipFill>
            <p:spPr>
              <a:xfrm>
                <a:off x="9221544" y="4242162"/>
                <a:ext cx="2347064" cy="1759836"/>
              </a:xfrm>
              <a:prstGeom prst="rect">
                <a:avLst/>
              </a:prstGeom>
            </p:spPr>
          </p:pic>
        </p:grpSp>
      </p:grpSp>
      <p:sp>
        <p:nvSpPr>
          <p:cNvPr id="48" name="Textfeld 47">
            <a:extLst>
              <a:ext uri="{FF2B5EF4-FFF2-40B4-BE49-F238E27FC236}">
                <a16:creationId xmlns:a16="http://schemas.microsoft.com/office/drawing/2014/main" id="{8A373B30-EF3D-4069-8AE5-1DC17441E88B}"/>
              </a:ext>
            </a:extLst>
          </p:cNvPr>
          <p:cNvSpPr txBox="1"/>
          <p:nvPr/>
        </p:nvSpPr>
        <p:spPr>
          <a:xfrm>
            <a:off x="1968824" y="1378332"/>
            <a:ext cx="2021934" cy="91794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explore additional task information</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performance maximization </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exploit given task information</a:t>
            </a:r>
            <a:endParaRPr kumimoji="0" lang="en-US" sz="105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effort minimization	</a:t>
            </a:r>
            <a:r>
              <a:rPr kumimoji="0" lang="en-US" sz="1050" b="0" i="0" u="none" strike="noStrike" kern="1200" cap="none" spc="0" normalizeH="0" baseline="0" noProof="0">
                <a:ln>
                  <a:noFill/>
                </a:ln>
                <a:solidFill>
                  <a:prstClr val="black"/>
                </a:solidFill>
                <a:effectLst/>
                <a:uLnTx/>
                <a:uFillTx/>
                <a:latin typeface="Arial"/>
                <a:ea typeface="+mn-ea"/>
                <a:cs typeface="Arial"/>
                <a:sym typeface="Arial"/>
              </a:rPr>
              <a:t>	</a:t>
            </a:r>
            <a:endParaRPr kumimoji="0" lang="en-US" sz="1050" b="0" i="0" u="none" strike="noStrike" kern="1200" cap="none" spc="0" normalizeH="0" baseline="0" noProof="0">
              <a:ln>
                <a:noFill/>
              </a:ln>
              <a:solidFill>
                <a:prstClr val="black"/>
              </a:solidFill>
              <a:effectLst/>
              <a:uLnTx/>
              <a:uFillTx/>
              <a:latin typeface="Arial"/>
              <a:ea typeface="+mn-ea"/>
              <a:cs typeface="Arial"/>
            </a:endParaRPr>
          </a:p>
        </p:txBody>
      </p:sp>
      <p:sp>
        <p:nvSpPr>
          <p:cNvPr id="53" name="Pfeil: nach rechts 52">
            <a:extLst>
              <a:ext uri="{FF2B5EF4-FFF2-40B4-BE49-F238E27FC236}">
                <a16:creationId xmlns:a16="http://schemas.microsoft.com/office/drawing/2014/main" id="{3787BF2C-1AFD-4B15-ADED-425FB2192CEE}"/>
              </a:ext>
            </a:extLst>
          </p:cNvPr>
          <p:cNvSpPr/>
          <p:nvPr/>
        </p:nvSpPr>
        <p:spPr>
          <a:xfrm>
            <a:off x="1687428" y="1836127"/>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4" name="Pfeil: nach rechts 53">
            <a:extLst>
              <a:ext uri="{FF2B5EF4-FFF2-40B4-BE49-F238E27FC236}">
                <a16:creationId xmlns:a16="http://schemas.microsoft.com/office/drawing/2014/main" id="{88259B80-DC7B-451E-9F4A-031F3EAA5448}"/>
              </a:ext>
            </a:extLst>
          </p:cNvPr>
          <p:cNvSpPr/>
          <p:nvPr/>
        </p:nvSpPr>
        <p:spPr>
          <a:xfrm>
            <a:off x="1687428" y="1985838"/>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55" name="Textfeld 54">
            <a:extLst>
              <a:ext uri="{FF2B5EF4-FFF2-40B4-BE49-F238E27FC236}">
                <a16:creationId xmlns:a16="http://schemas.microsoft.com/office/drawing/2014/main" id="{6F8B74F1-CDD7-4495-81CF-55E0D4596CF3}"/>
              </a:ext>
            </a:extLst>
          </p:cNvPr>
          <p:cNvSpPr txBox="1"/>
          <p:nvPr/>
        </p:nvSpPr>
        <p:spPr>
          <a:xfrm>
            <a:off x="527374" y="1431712"/>
            <a:ext cx="1160114" cy="646331"/>
          </a:xfrm>
          <a:prstGeom prst="rect">
            <a:avLst/>
          </a:prstGeom>
          <a:solidFill>
            <a:schemeClr val="bg1"/>
          </a:solid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a:ea typeface="+mn-ea"/>
                <a:cs typeface="Arial"/>
              </a:rPr>
              <a:t>Switcher &amp; Response </a:t>
            </a:r>
            <a:r>
              <a:rPr kumimoji="0" lang="de-DE" sz="900" b="0" i="0" u="none" strike="noStrike" kern="1200" cap="none" spc="0" normalizeH="0" baseline="0" noProof="0" err="1">
                <a:ln>
                  <a:noFill/>
                </a:ln>
                <a:solidFill>
                  <a:prstClr val="black"/>
                </a:solidFill>
                <a:effectLst/>
                <a:uLnTx/>
                <a:uFillTx/>
                <a:latin typeface="Arial"/>
                <a:ea typeface="+mn-ea"/>
                <a:cs typeface="Arial"/>
              </a:rPr>
              <a:t>grouper</a:t>
            </a:r>
            <a:endParaRPr kumimoji="0" lang="de-DE" sz="9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Blocker</a:t>
            </a:r>
          </a:p>
        </p:txBody>
      </p:sp>
      <p:sp>
        <p:nvSpPr>
          <p:cNvPr id="56" name="Pfeil: nach rechts 55">
            <a:extLst>
              <a:ext uri="{FF2B5EF4-FFF2-40B4-BE49-F238E27FC236}">
                <a16:creationId xmlns:a16="http://schemas.microsoft.com/office/drawing/2014/main" id="{717F1F56-7933-4B3A-9A69-32002164EA64}"/>
              </a:ext>
            </a:extLst>
          </p:cNvPr>
          <p:cNvSpPr/>
          <p:nvPr/>
        </p:nvSpPr>
        <p:spPr>
          <a:xfrm>
            <a:off x="1687428" y="1481593"/>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60" name="Pfeil: nach rechts 59">
            <a:extLst>
              <a:ext uri="{FF2B5EF4-FFF2-40B4-BE49-F238E27FC236}">
                <a16:creationId xmlns:a16="http://schemas.microsoft.com/office/drawing/2014/main" id="{C1CD0058-7C47-44FC-BFF9-9FC56E56C4CD}"/>
              </a:ext>
            </a:extLst>
          </p:cNvPr>
          <p:cNvSpPr/>
          <p:nvPr/>
        </p:nvSpPr>
        <p:spPr>
          <a:xfrm>
            <a:off x="1687428" y="1631304"/>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3" name="Textfeld 12">
            <a:extLst>
              <a:ext uri="{FF2B5EF4-FFF2-40B4-BE49-F238E27FC236}">
                <a16:creationId xmlns:a16="http://schemas.microsoft.com/office/drawing/2014/main" id="{E4C6B332-2D7B-778B-D6CA-894E3056F3B8}"/>
              </a:ext>
            </a:extLst>
          </p:cNvPr>
          <p:cNvSpPr txBox="1"/>
          <p:nvPr/>
        </p:nvSpPr>
        <p:spPr>
          <a:xfrm>
            <a:off x="584200" y="1073150"/>
            <a:ext cx="2743200" cy="2576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1361"/>
              </a:lnSpc>
              <a:spcBef>
                <a:spcPts val="0"/>
              </a:spcBef>
              <a:spcAft>
                <a:spcPts val="0"/>
              </a:spcAft>
              <a:buClrTx/>
              <a:buSzTx/>
              <a:buFontTx/>
              <a:buNone/>
              <a:tabLst/>
              <a:defRPr/>
            </a:pPr>
            <a:r>
              <a:rPr kumimoji="0" lang="en-US" sz="1050" b="0" i="0" u="sng" strike="noStrike" kern="1200" cap="none" spc="0" normalizeH="0" baseline="0" noProof="0">
                <a:ln>
                  <a:noFill/>
                </a:ln>
                <a:solidFill>
                  <a:prstClr val="black"/>
                </a:solidFill>
                <a:effectLst/>
                <a:uLnTx/>
                <a:uFillTx/>
                <a:latin typeface="Arial"/>
                <a:ea typeface="+mn-ea"/>
                <a:cs typeface="+mn-cs"/>
              </a:rPr>
              <a:t>Basic assumptions: </a:t>
            </a:r>
            <a:r>
              <a:rPr kumimoji="0" lang="en-US" sz="1050" b="0" i="0" u="none" strike="noStrike" kern="1200" cap="none" spc="0" normalizeH="0" baseline="0" noProof="0">
                <a:ln>
                  <a:noFill/>
                </a:ln>
                <a:solidFill>
                  <a:prstClr val="black"/>
                </a:solidFill>
                <a:effectLst/>
                <a:uLnTx/>
                <a:uFillTx/>
                <a:latin typeface="Arial"/>
                <a:ea typeface="+mn-ea"/>
                <a:cs typeface="+mn-cs"/>
              </a:rPr>
              <a:t>​</a:t>
            </a:r>
          </a:p>
        </p:txBody>
      </p:sp>
      <p:sp>
        <p:nvSpPr>
          <p:cNvPr id="61" name="Textfeld 60">
            <a:extLst>
              <a:ext uri="{FF2B5EF4-FFF2-40B4-BE49-F238E27FC236}">
                <a16:creationId xmlns:a16="http://schemas.microsoft.com/office/drawing/2014/main" id="{2CCC7616-9BF0-482D-ABBE-42EF792B7944}"/>
              </a:ext>
            </a:extLst>
          </p:cNvPr>
          <p:cNvSpPr txBox="1"/>
          <p:nvPr/>
        </p:nvSpPr>
        <p:spPr>
          <a:xfrm>
            <a:off x="804461" y="4748709"/>
            <a:ext cx="782460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Ackerman</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1986; Brüning &amp; </a:t>
            </a: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Manzey</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2018; Brüning et al., 2021, Ramsey et al., 2003; Rogers &amp; </a:t>
            </a: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Monsell</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1995; Ullsperger et al., 2014 </a:t>
            </a:r>
          </a:p>
        </p:txBody>
      </p:sp>
    </p:spTree>
    <p:extLst>
      <p:ext uri="{BB962C8B-B14F-4D97-AF65-F5344CB8AC3E}">
        <p14:creationId xmlns:p14="http://schemas.microsoft.com/office/powerpoint/2010/main" val="18853828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97F1F7-0296-447D-9028-05E58D5A236D}"/>
              </a:ext>
            </a:extLst>
          </p:cNvPr>
          <p:cNvSpPr>
            <a:spLocks noGrp="1"/>
          </p:cNvSpPr>
          <p:nvPr>
            <p:ph type="title"/>
          </p:nvPr>
        </p:nvSpPr>
        <p:spPr/>
        <p:txBody>
          <a:bodyPr/>
          <a:lstStyle/>
          <a:p>
            <a:r>
              <a:rPr lang="de-DE" sz="2100" b="0" err="1">
                <a:solidFill>
                  <a:prstClr val="black"/>
                </a:solidFill>
              </a:rPr>
              <a:t>Empirical</a:t>
            </a:r>
            <a:r>
              <a:rPr lang="de-DE" sz="2100" b="0">
                <a:solidFill>
                  <a:prstClr val="black"/>
                </a:solidFill>
              </a:rPr>
              <a:t> </a:t>
            </a:r>
            <a:r>
              <a:rPr lang="de-DE" sz="2100" b="0" err="1">
                <a:solidFill>
                  <a:prstClr val="black"/>
                </a:solidFill>
              </a:rPr>
              <a:t>Objective</a:t>
            </a:r>
            <a:r>
              <a:rPr lang="de-DE" sz="2100" b="0">
                <a:solidFill>
                  <a:prstClr val="black"/>
                </a:solidFill>
              </a:rPr>
              <a:t> 1: </a:t>
            </a:r>
            <a:r>
              <a:rPr lang="en-US" sz="2100" b="0">
                <a:solidFill>
                  <a:prstClr val="black"/>
                </a:solidFill>
              </a:rPr>
              <a:t>Influence of </a:t>
            </a:r>
            <a:r>
              <a:rPr lang="en-US" sz="2100" b="0">
                <a:solidFill>
                  <a:srgbClr val="B99212"/>
                </a:solidFill>
              </a:rPr>
              <a:t>learning ability </a:t>
            </a:r>
            <a:r>
              <a:rPr lang="en-US" sz="2100" b="0">
                <a:solidFill>
                  <a:prstClr val="black"/>
                </a:solidFill>
              </a:rPr>
              <a:t>and </a:t>
            </a:r>
            <a:r>
              <a:rPr lang="en-US" sz="2100" b="0">
                <a:solidFill>
                  <a:srgbClr val="B99212"/>
                </a:solidFill>
              </a:rPr>
              <a:t>error sensitivity </a:t>
            </a:r>
            <a:r>
              <a:rPr lang="en-US" sz="2100" b="0">
                <a:solidFill>
                  <a:prstClr val="black"/>
                </a:solidFill>
              </a:rPr>
              <a:t>on </a:t>
            </a:r>
            <a:r>
              <a:rPr lang="en-US" sz="2100" b="0">
                <a:solidFill>
                  <a:srgbClr val="B99212"/>
                </a:solidFill>
              </a:rPr>
              <a:t>response strategy </a:t>
            </a:r>
            <a:r>
              <a:rPr lang="en-US" sz="2100" b="0">
                <a:solidFill>
                  <a:prstClr val="black"/>
                </a:solidFill>
              </a:rPr>
              <a:t>formation</a:t>
            </a:r>
            <a:endParaRPr lang="en-US"/>
          </a:p>
        </p:txBody>
      </p:sp>
      <p:sp>
        <p:nvSpPr>
          <p:cNvPr id="4" name="Foliennummernplatzhalter 3">
            <a:extLst>
              <a:ext uri="{FF2B5EF4-FFF2-40B4-BE49-F238E27FC236}">
                <a16:creationId xmlns:a16="http://schemas.microsoft.com/office/drawing/2014/main" id="{278DCD06-D416-43A4-B063-4AAE59C282B7}"/>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24</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grpSp>
        <p:nvGrpSpPr>
          <p:cNvPr id="33" name="Gruppieren 32">
            <a:extLst>
              <a:ext uri="{FF2B5EF4-FFF2-40B4-BE49-F238E27FC236}">
                <a16:creationId xmlns:a16="http://schemas.microsoft.com/office/drawing/2014/main" id="{38A804D6-34B3-4A33-9B09-DBFAB64A76B4}"/>
              </a:ext>
            </a:extLst>
          </p:cNvPr>
          <p:cNvGrpSpPr/>
          <p:nvPr/>
        </p:nvGrpSpPr>
        <p:grpSpPr>
          <a:xfrm>
            <a:off x="872677" y="2409733"/>
            <a:ext cx="7880527" cy="2268251"/>
            <a:chOff x="9330490" y="3150987"/>
            <a:chExt cx="2734720" cy="1996076"/>
          </a:xfrm>
        </p:grpSpPr>
        <p:sp>
          <p:nvSpPr>
            <p:cNvPr id="34" name="Rechteck: abgerundete Ecken 33">
              <a:extLst>
                <a:ext uri="{FF2B5EF4-FFF2-40B4-BE49-F238E27FC236}">
                  <a16:creationId xmlns:a16="http://schemas.microsoft.com/office/drawing/2014/main" id="{498B4A03-890C-4C6B-A128-52AB57462E59}"/>
                </a:ext>
              </a:extLst>
            </p:cNvPr>
            <p:cNvSpPr/>
            <p:nvPr/>
          </p:nvSpPr>
          <p:spPr>
            <a:xfrm>
              <a:off x="9330490" y="3216736"/>
              <a:ext cx="2734720" cy="1930327"/>
            </a:xfrm>
            <a:prstGeom prst="roundRect">
              <a:avLst/>
            </a:prstGeom>
            <a:noFill/>
            <a:ln w="952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Calibri"/>
                <a:ea typeface="+mn-ea"/>
                <a:cs typeface="+mn-cs"/>
              </a:endParaRPr>
            </a:p>
          </p:txBody>
        </p:sp>
        <p:sp>
          <p:nvSpPr>
            <p:cNvPr id="35" name="Rechteck: abgerundete Ecken 34">
              <a:extLst>
                <a:ext uri="{FF2B5EF4-FFF2-40B4-BE49-F238E27FC236}">
                  <a16:creationId xmlns:a16="http://schemas.microsoft.com/office/drawing/2014/main" id="{33CC627E-09BF-42FC-B712-45E915E7406D}"/>
                </a:ext>
              </a:extLst>
            </p:cNvPr>
            <p:cNvSpPr/>
            <p:nvPr/>
          </p:nvSpPr>
          <p:spPr>
            <a:xfrm>
              <a:off x="9330490" y="3150987"/>
              <a:ext cx="2734720" cy="219153"/>
            </a:xfrm>
            <a:prstGeom prst="roundRect">
              <a:avLst/>
            </a:prstGeom>
            <a:solidFill>
              <a:srgbClr val="CCA326"/>
            </a:solidFill>
            <a:ln>
              <a:solidFill>
                <a:srgbClr val="B9921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a:ln>
                    <a:noFill/>
                  </a:ln>
                  <a:solidFill>
                    <a:prstClr val="white"/>
                  </a:solidFill>
                  <a:effectLst/>
                  <a:uLnTx/>
                  <a:uFillTx/>
                  <a:latin typeface="Calibri"/>
                  <a:ea typeface="+mn-ea"/>
                  <a:cs typeface="+mn-cs"/>
                </a:rPr>
                <a:t>Work Package 1.1 – </a:t>
              </a:r>
              <a:r>
                <a:rPr kumimoji="0" lang="de-DE" sz="1050" b="1" i="0" u="none" strike="noStrike" kern="1200" cap="none" spc="0" normalizeH="0" baseline="0" noProof="0">
                  <a:ln>
                    <a:noFill/>
                  </a:ln>
                  <a:solidFill>
                    <a:prstClr val="white"/>
                  </a:solidFill>
                  <a:effectLst/>
                  <a:uLnTx/>
                  <a:uFillTx/>
                  <a:latin typeface="Calibri"/>
                  <a:ea typeface="+mn-ea"/>
                  <a:cs typeface="+mn-cs"/>
                </a:rPr>
                <a:t>Experiment 1b</a:t>
              </a:r>
              <a:r>
                <a:rPr kumimoji="0" lang="de-DE" sz="1050" b="0" i="0" u="none" strike="noStrike" kern="1200" cap="none" spc="0" normalizeH="0" baseline="0" noProof="0">
                  <a:ln>
                    <a:noFill/>
                  </a:ln>
                  <a:solidFill>
                    <a:prstClr val="white"/>
                  </a:solidFill>
                  <a:effectLst/>
                  <a:uLnTx/>
                  <a:uFillTx/>
                  <a:latin typeface="Calibri"/>
                  <a:ea typeface="+mn-ea"/>
                  <a:cs typeface="+mn-cs"/>
                </a:rPr>
                <a:t>, n = 90 </a:t>
              </a:r>
              <a:r>
                <a:rPr kumimoji="0" lang="de-DE" sz="1050" b="0" i="0" u="none" strike="noStrike" kern="1200" cap="none" spc="0" normalizeH="0" baseline="0" noProof="0" err="1">
                  <a:ln>
                    <a:noFill/>
                  </a:ln>
                  <a:solidFill>
                    <a:prstClr val="white"/>
                  </a:solidFill>
                  <a:effectLst/>
                  <a:uLnTx/>
                  <a:uFillTx/>
                  <a:latin typeface="Calibri"/>
                  <a:ea typeface="+mn-ea"/>
                  <a:cs typeface="+mn-cs"/>
                </a:rPr>
                <a:t>participants</a:t>
              </a:r>
              <a:endParaRPr kumimoji="0" lang="en-US" sz="10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69" name="Grafik 68">
            <a:extLst>
              <a:ext uri="{FF2B5EF4-FFF2-40B4-BE49-F238E27FC236}">
                <a16:creationId xmlns:a16="http://schemas.microsoft.com/office/drawing/2014/main" id="{A2D8A705-6CDD-4C27-958B-54E682AF5807}"/>
              </a:ext>
            </a:extLst>
          </p:cNvPr>
          <p:cNvPicPr>
            <a:picLocks noChangeAspect="1"/>
          </p:cNvPicPr>
          <p:nvPr/>
        </p:nvPicPr>
        <p:blipFill>
          <a:blip r:embed="rId3"/>
          <a:stretch>
            <a:fillRect/>
          </a:stretch>
        </p:blipFill>
        <p:spPr>
          <a:xfrm>
            <a:off x="4085946" y="1205403"/>
            <a:ext cx="4848771" cy="1032618"/>
          </a:xfrm>
          <a:prstGeom prst="rect">
            <a:avLst/>
          </a:prstGeom>
        </p:spPr>
      </p:pic>
      <p:sp>
        <p:nvSpPr>
          <p:cNvPr id="40" name="Rechteck: abgerundete Ecken 39">
            <a:extLst>
              <a:ext uri="{FF2B5EF4-FFF2-40B4-BE49-F238E27FC236}">
                <a16:creationId xmlns:a16="http://schemas.microsoft.com/office/drawing/2014/main" id="{94BEA94F-5D5E-409C-BC36-287BF2D62196}"/>
              </a:ext>
            </a:extLst>
          </p:cNvPr>
          <p:cNvSpPr/>
          <p:nvPr/>
        </p:nvSpPr>
        <p:spPr>
          <a:xfrm>
            <a:off x="1205178" y="3140626"/>
            <a:ext cx="2508653" cy="1483352"/>
          </a:xfrm>
          <a:prstGeom prst="roundRect">
            <a:avLst>
              <a:gd name="adj" fmla="val 0"/>
            </a:avLst>
          </a:prstGeom>
          <a:noFill/>
          <a:ln w="12700">
            <a:solidFill>
              <a:srgbClr val="CCA326"/>
            </a:solid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feld 40">
            <a:extLst>
              <a:ext uri="{FF2B5EF4-FFF2-40B4-BE49-F238E27FC236}">
                <a16:creationId xmlns:a16="http://schemas.microsoft.com/office/drawing/2014/main" id="{F730E234-7107-4F22-9CBB-D00E70699B84}"/>
              </a:ext>
            </a:extLst>
          </p:cNvPr>
          <p:cNvSpPr txBox="1"/>
          <p:nvPr/>
        </p:nvSpPr>
        <p:spPr>
          <a:xfrm>
            <a:off x="1549362" y="3134808"/>
            <a:ext cx="1904662" cy="193027"/>
          </a:xfrm>
          <a:prstGeom prst="rect">
            <a:avLst/>
          </a:prstGeom>
          <a:noFill/>
          <a:ln w="12700">
            <a:no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Calibri"/>
                <a:ea typeface="+mn-ea"/>
                <a:cs typeface="+mn-cs"/>
              </a:rPr>
              <a:t>Free </a:t>
            </a:r>
            <a:r>
              <a:rPr kumimoji="0" lang="de-DE" sz="900" b="0" i="0" u="none" strike="noStrike" kern="1200" cap="none" spc="0" normalizeH="0" baseline="0" noProof="0" err="1">
                <a:ln>
                  <a:noFill/>
                </a:ln>
                <a:solidFill>
                  <a:prstClr val="black"/>
                </a:solidFill>
                <a:effectLst/>
                <a:uLnTx/>
                <a:uFillTx/>
                <a:latin typeface="Calibri"/>
                <a:ea typeface="+mn-ea"/>
                <a:cs typeface="+mn-cs"/>
              </a:rPr>
              <a:t>Concurrent</a:t>
            </a:r>
            <a:r>
              <a:rPr kumimoji="0" lang="de-DE" sz="900" b="0" i="0" u="none" strike="noStrike" kern="1200" cap="none" spc="0" normalizeH="0" baseline="0" noProof="0">
                <a:ln>
                  <a:noFill/>
                </a:ln>
                <a:solidFill>
                  <a:prstClr val="black"/>
                </a:solidFill>
                <a:effectLst/>
                <a:uLnTx/>
                <a:uFillTx/>
                <a:latin typeface="Calibri"/>
                <a:ea typeface="+mn-ea"/>
                <a:cs typeface="+mn-cs"/>
              </a:rPr>
              <a:t> Dual-</a:t>
            </a:r>
            <a:r>
              <a:rPr kumimoji="0" lang="de-DE" sz="900" b="0" i="0" u="none" strike="noStrike" kern="1200" cap="none" spc="0" normalizeH="0" baseline="0" noProof="0" err="1">
                <a:ln>
                  <a:noFill/>
                </a:ln>
                <a:solidFill>
                  <a:prstClr val="black"/>
                </a:solidFill>
                <a:effectLst/>
                <a:uLnTx/>
                <a:uFillTx/>
                <a:latin typeface="Calibri"/>
                <a:ea typeface="+mn-ea"/>
                <a:cs typeface="+mn-cs"/>
              </a:rPr>
              <a:t>Tasking</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grpSp>
        <p:nvGrpSpPr>
          <p:cNvPr id="9" name="Gruppieren 8">
            <a:extLst>
              <a:ext uri="{FF2B5EF4-FFF2-40B4-BE49-F238E27FC236}">
                <a16:creationId xmlns:a16="http://schemas.microsoft.com/office/drawing/2014/main" id="{725266C4-09B2-4EB5-B94D-D19B627CE8C2}"/>
              </a:ext>
            </a:extLst>
          </p:cNvPr>
          <p:cNvGrpSpPr/>
          <p:nvPr/>
        </p:nvGrpSpPr>
        <p:grpSpPr>
          <a:xfrm>
            <a:off x="3176581" y="4090904"/>
            <a:ext cx="583406" cy="532556"/>
            <a:chOff x="4223792" y="5454538"/>
            <a:chExt cx="777874" cy="710075"/>
          </a:xfrm>
        </p:grpSpPr>
        <p:sp>
          <p:nvSpPr>
            <p:cNvPr id="31" name="Textfeld 30">
              <a:extLst>
                <a:ext uri="{FF2B5EF4-FFF2-40B4-BE49-F238E27FC236}">
                  <a16:creationId xmlns:a16="http://schemas.microsoft.com/office/drawing/2014/main" id="{5C87D906-780E-4B85-826F-75C028430B1F}"/>
                </a:ext>
              </a:extLst>
            </p:cNvPr>
            <p:cNvSpPr txBox="1"/>
            <p:nvPr/>
          </p:nvSpPr>
          <p:spPr>
            <a:xfrm>
              <a:off x="4223792" y="5517232"/>
              <a:ext cx="748370" cy="408343"/>
            </a:xfrm>
            <a:prstGeom prst="rect">
              <a:avLst/>
            </a:prstGeom>
            <a:noFill/>
            <a:ln w="12700">
              <a:noFill/>
            </a:ln>
          </p:spPr>
          <p:txBody>
            <a:bodyPr wrap="square" tIns="27000" bIns="27000" rtlCol="0">
              <a:noAutofit/>
            </a:bodyPr>
            <a:lstStyle>
              <a:defPPr>
                <a:defRPr lang="de-DE"/>
              </a:defPPr>
              <a:lvl1pPr algn="ctr">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err="1">
                  <a:ln>
                    <a:noFill/>
                  </a:ln>
                  <a:solidFill>
                    <a:prstClr val="black"/>
                  </a:solidFill>
                  <a:effectLst/>
                  <a:uLnTx/>
                  <a:uFillTx/>
                  <a:latin typeface="Calibri"/>
                  <a:ea typeface="+mn-ea"/>
                  <a:cs typeface="+mn-cs"/>
                </a:rPr>
                <a:t>Flanker</a:t>
              </a:r>
              <a:endParaRPr kumimoji="0" lang="de-DE" sz="9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Calibri"/>
                  <a:ea typeface="+mn-ea"/>
                  <a:cs typeface="+mn-cs"/>
                </a:rPr>
                <a:t>Task</a:t>
              </a:r>
            </a:p>
          </p:txBody>
        </p:sp>
        <p:sp>
          <p:nvSpPr>
            <p:cNvPr id="32" name="Textfeld 31">
              <a:extLst>
                <a:ext uri="{FF2B5EF4-FFF2-40B4-BE49-F238E27FC236}">
                  <a16:creationId xmlns:a16="http://schemas.microsoft.com/office/drawing/2014/main" id="{F4337AF7-2471-4963-92E9-E01AD24EE5FB}"/>
                </a:ext>
              </a:extLst>
            </p:cNvPr>
            <p:cNvSpPr txBox="1"/>
            <p:nvPr/>
          </p:nvSpPr>
          <p:spPr>
            <a:xfrm>
              <a:off x="4253171" y="5916353"/>
              <a:ext cx="748495"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600" b="0" i="0" u="none" strike="noStrike" kern="1200" cap="none" spc="0" normalizeH="0" baseline="0" noProof="0">
                  <a:ln>
                    <a:noFill/>
                  </a:ln>
                  <a:solidFill>
                    <a:prstClr val="black"/>
                  </a:solidFill>
                  <a:effectLst/>
                  <a:uLnTx/>
                  <a:uFillTx/>
                  <a:latin typeface="Calibri"/>
                  <a:ea typeface="+mn-ea"/>
                  <a:cs typeface="+mn-cs"/>
                  <a:sym typeface="Wingdings" panose="05000000000000000000" pitchFamily="2" charset="2"/>
                </a:rPr>
                <a:t></a:t>
              </a:r>
              <a:endParaRPr kumimoji="0" lang="en-US" sz="600" b="0" i="0" u="none" strike="noStrike" kern="1200" cap="none" spc="0" normalizeH="0" baseline="0" noProof="0">
                <a:ln>
                  <a:noFill/>
                </a:ln>
                <a:solidFill>
                  <a:prstClr val="black"/>
                </a:solidFill>
                <a:effectLst/>
                <a:uLnTx/>
                <a:uFillTx/>
                <a:latin typeface="Calibri"/>
                <a:ea typeface="+mn-ea"/>
                <a:cs typeface="+mn-cs"/>
              </a:endParaRPr>
            </a:p>
          </p:txBody>
        </p:sp>
        <p:sp>
          <p:nvSpPr>
            <p:cNvPr id="42" name="Rechteck: abgerundete Ecken 41">
              <a:extLst>
                <a:ext uri="{FF2B5EF4-FFF2-40B4-BE49-F238E27FC236}">
                  <a16:creationId xmlns:a16="http://schemas.microsoft.com/office/drawing/2014/main" id="{3885E62C-BB6E-4C95-AF39-69F00C749F0A}"/>
                </a:ext>
              </a:extLst>
            </p:cNvPr>
            <p:cNvSpPr/>
            <p:nvPr/>
          </p:nvSpPr>
          <p:spPr>
            <a:xfrm>
              <a:off x="4255977" y="5454538"/>
              <a:ext cx="684000" cy="710075"/>
            </a:xfrm>
            <a:prstGeom prst="roundRect">
              <a:avLst>
                <a:gd name="adj" fmla="val 0"/>
              </a:avLst>
            </a:prstGeom>
            <a:noFill/>
            <a:ln w="12700">
              <a:solidFill>
                <a:srgbClr val="CCA326"/>
              </a:solid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43" name="Grafik 42">
            <a:extLst>
              <a:ext uri="{FF2B5EF4-FFF2-40B4-BE49-F238E27FC236}">
                <a16:creationId xmlns:a16="http://schemas.microsoft.com/office/drawing/2014/main" id="{3E55E33A-A05F-47E7-BF1B-8C774BA7C7F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02" t="24729" r="1076" b="12759"/>
          <a:stretch/>
        </p:blipFill>
        <p:spPr>
          <a:xfrm>
            <a:off x="1905149" y="4068938"/>
            <a:ext cx="1193087" cy="499868"/>
          </a:xfrm>
          <a:prstGeom prst="rect">
            <a:avLst/>
          </a:prstGeom>
        </p:spPr>
      </p:pic>
      <p:sp>
        <p:nvSpPr>
          <p:cNvPr id="44" name="Textfeld 43">
            <a:extLst>
              <a:ext uri="{FF2B5EF4-FFF2-40B4-BE49-F238E27FC236}">
                <a16:creationId xmlns:a16="http://schemas.microsoft.com/office/drawing/2014/main" id="{0AB45178-5D3B-46E1-A2E5-908ED463362F}"/>
              </a:ext>
            </a:extLst>
          </p:cNvPr>
          <p:cNvSpPr txBox="1"/>
          <p:nvPr/>
        </p:nvSpPr>
        <p:spPr>
          <a:xfrm>
            <a:off x="1204989" y="2733768"/>
            <a:ext cx="268847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Performance-based Factors: response strategies, error sensitivity &amp; learning ability</a:t>
            </a:r>
          </a:p>
        </p:txBody>
      </p:sp>
      <p:pic>
        <p:nvPicPr>
          <p:cNvPr id="24" name="Grafik 23">
            <a:extLst>
              <a:ext uri="{FF2B5EF4-FFF2-40B4-BE49-F238E27FC236}">
                <a16:creationId xmlns:a16="http://schemas.microsoft.com/office/drawing/2014/main" id="{591D250F-FB33-41CD-8906-D407A7FEADA7}"/>
              </a:ext>
            </a:extLst>
          </p:cNvPr>
          <p:cNvPicPr>
            <a:picLocks noChangeAspect="1"/>
          </p:cNvPicPr>
          <p:nvPr/>
        </p:nvPicPr>
        <p:blipFill rotWithShape="1">
          <a:blip r:embed="rId5"/>
          <a:srcRect l="115" r="115"/>
          <a:stretch/>
        </p:blipFill>
        <p:spPr>
          <a:xfrm>
            <a:off x="951415" y="3897155"/>
            <a:ext cx="846972" cy="671651"/>
          </a:xfrm>
          <a:prstGeom prst="rect">
            <a:avLst/>
          </a:prstGeom>
          <a:noFill/>
          <a:ln w="9525" cap="flat" cmpd="sng" algn="ctr">
            <a:noFill/>
            <a:prstDash val="solid"/>
            <a:round/>
            <a:headEnd type="none" w="med" len="med"/>
            <a:tailEnd type="none" w="med" len="med"/>
          </a:ln>
        </p:spPr>
      </p:pic>
      <p:sp>
        <p:nvSpPr>
          <p:cNvPr id="46" name="Textfeld 45">
            <a:extLst>
              <a:ext uri="{FF2B5EF4-FFF2-40B4-BE49-F238E27FC236}">
                <a16:creationId xmlns:a16="http://schemas.microsoft.com/office/drawing/2014/main" id="{9A0EAC01-9F09-45E5-A6B4-00EFBE59C62B}"/>
              </a:ext>
            </a:extLst>
          </p:cNvPr>
          <p:cNvSpPr txBox="1"/>
          <p:nvPr/>
        </p:nvSpPr>
        <p:spPr>
          <a:xfrm>
            <a:off x="1618006" y="3296392"/>
            <a:ext cx="394379" cy="193027"/>
          </a:xfrm>
          <a:prstGeom prst="rect">
            <a:avLst/>
          </a:prstGeom>
          <a:noFill/>
          <a:ln w="12700">
            <a:no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Calibri"/>
                <a:ea typeface="+mn-ea"/>
                <a:cs typeface="+mn-cs"/>
              </a:rPr>
              <a:t>Easy</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48" name="Textfeld 47">
            <a:extLst>
              <a:ext uri="{FF2B5EF4-FFF2-40B4-BE49-F238E27FC236}">
                <a16:creationId xmlns:a16="http://schemas.microsoft.com/office/drawing/2014/main" id="{A8BA00C9-707E-437B-B12A-69D27067F6C8}"/>
              </a:ext>
            </a:extLst>
          </p:cNvPr>
          <p:cNvSpPr txBox="1"/>
          <p:nvPr/>
        </p:nvSpPr>
        <p:spPr>
          <a:xfrm>
            <a:off x="2929744" y="3296392"/>
            <a:ext cx="448424" cy="193027"/>
          </a:xfrm>
          <a:prstGeom prst="rect">
            <a:avLst/>
          </a:prstGeom>
          <a:noFill/>
          <a:ln w="12700">
            <a:no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Calibri"/>
                <a:ea typeface="+mn-ea"/>
                <a:cs typeface="+mn-cs"/>
              </a:rPr>
              <a:t>Hard</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pic>
        <p:nvPicPr>
          <p:cNvPr id="53" name="Grafik 52">
            <a:extLst>
              <a:ext uri="{FF2B5EF4-FFF2-40B4-BE49-F238E27FC236}">
                <a16:creationId xmlns:a16="http://schemas.microsoft.com/office/drawing/2014/main" id="{680CD85B-0071-4285-A1BF-B3EC5B14181A}"/>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1332173" y="3388444"/>
            <a:ext cx="1037099" cy="675000"/>
          </a:xfrm>
          <a:prstGeom prst="rect">
            <a:avLst/>
          </a:prstGeom>
        </p:spPr>
      </p:pic>
      <p:pic>
        <p:nvPicPr>
          <p:cNvPr id="55" name="Grafik 54">
            <a:extLst>
              <a:ext uri="{FF2B5EF4-FFF2-40B4-BE49-F238E27FC236}">
                <a16:creationId xmlns:a16="http://schemas.microsoft.com/office/drawing/2014/main" id="{4F4C5C52-CD77-4C3E-961F-EB4644DE79CD}"/>
              </a:ext>
            </a:extLst>
          </p:cNvPr>
          <p:cNvPicPr>
            <a:picLocks noChangeAspect="1"/>
          </p:cNvPicPr>
          <p:nvPr/>
        </p:nvPicPr>
        <p:blipFill>
          <a:blip r:embed="rId7"/>
          <a:stretch>
            <a:fillRect/>
          </a:stretch>
        </p:blipFill>
        <p:spPr>
          <a:xfrm>
            <a:off x="2545112" y="3455960"/>
            <a:ext cx="1042815" cy="607484"/>
          </a:xfrm>
          <a:prstGeom prst="rect">
            <a:avLst/>
          </a:prstGeom>
        </p:spPr>
      </p:pic>
      <p:sp>
        <p:nvSpPr>
          <p:cNvPr id="60" name="Pfeil: nach rechts 59">
            <a:extLst>
              <a:ext uri="{FF2B5EF4-FFF2-40B4-BE49-F238E27FC236}">
                <a16:creationId xmlns:a16="http://schemas.microsoft.com/office/drawing/2014/main" id="{4E272567-7BED-419C-A066-4431B4DA9781}"/>
              </a:ext>
            </a:extLst>
          </p:cNvPr>
          <p:cNvSpPr/>
          <p:nvPr/>
        </p:nvSpPr>
        <p:spPr>
          <a:xfrm>
            <a:off x="3815916" y="3616774"/>
            <a:ext cx="302857" cy="149993"/>
          </a:xfrm>
          <a:prstGeom prst="rightArrow">
            <a:avLst/>
          </a:prstGeom>
          <a:solidFill>
            <a:srgbClr val="CCA326"/>
          </a:solidFill>
          <a:ln>
            <a:solidFill>
              <a:srgbClr val="9D7B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62" name="Textfeld 61">
            <a:extLst>
              <a:ext uri="{FF2B5EF4-FFF2-40B4-BE49-F238E27FC236}">
                <a16:creationId xmlns:a16="http://schemas.microsoft.com/office/drawing/2014/main" id="{F4FEA433-346D-4C42-962B-21722505ECD0}"/>
              </a:ext>
            </a:extLst>
          </p:cNvPr>
          <p:cNvSpPr txBox="1"/>
          <p:nvPr/>
        </p:nvSpPr>
        <p:spPr>
          <a:xfrm>
            <a:off x="4139952" y="2802251"/>
            <a:ext cx="298802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Behavioral Outcomes: Response times, Error Rates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EEG Outcomes: Error-related negativity</a:t>
            </a:r>
          </a:p>
        </p:txBody>
      </p:sp>
      <p:pic>
        <p:nvPicPr>
          <p:cNvPr id="63" name="Grafik 62">
            <a:extLst>
              <a:ext uri="{FF2B5EF4-FFF2-40B4-BE49-F238E27FC236}">
                <a16:creationId xmlns:a16="http://schemas.microsoft.com/office/drawing/2014/main" id="{B3BAF750-01D2-4631-84EA-FC14E5C566F8}"/>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4188321" y="3254181"/>
            <a:ext cx="1056889" cy="1122374"/>
          </a:xfrm>
          <a:prstGeom prst="rect">
            <a:avLst/>
          </a:prstGeom>
        </p:spPr>
      </p:pic>
      <p:sp>
        <p:nvSpPr>
          <p:cNvPr id="64" name="Rechteck: abgerundete Ecken 63">
            <a:extLst>
              <a:ext uri="{FF2B5EF4-FFF2-40B4-BE49-F238E27FC236}">
                <a16:creationId xmlns:a16="http://schemas.microsoft.com/office/drawing/2014/main" id="{C5D6FB36-822E-489A-8AB2-6E0ACF63978C}"/>
              </a:ext>
            </a:extLst>
          </p:cNvPr>
          <p:cNvSpPr/>
          <p:nvPr/>
        </p:nvSpPr>
        <p:spPr>
          <a:xfrm>
            <a:off x="5061092" y="3232336"/>
            <a:ext cx="225056" cy="47354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nvGrpSpPr>
          <p:cNvPr id="65" name="Gruppieren 64">
            <a:extLst>
              <a:ext uri="{FF2B5EF4-FFF2-40B4-BE49-F238E27FC236}">
                <a16:creationId xmlns:a16="http://schemas.microsoft.com/office/drawing/2014/main" id="{F281B91C-2EE7-4849-BC8E-5861D6528EDB}"/>
              </a:ext>
            </a:extLst>
          </p:cNvPr>
          <p:cNvGrpSpPr/>
          <p:nvPr/>
        </p:nvGrpSpPr>
        <p:grpSpPr>
          <a:xfrm>
            <a:off x="5151964" y="3200125"/>
            <a:ext cx="1801796" cy="1351332"/>
            <a:chOff x="8947315" y="4242162"/>
            <a:chExt cx="2621293" cy="2004028"/>
          </a:xfrm>
        </p:grpSpPr>
        <p:sp>
          <p:nvSpPr>
            <p:cNvPr id="68" name="Textfeld 67">
              <a:extLst>
                <a:ext uri="{FF2B5EF4-FFF2-40B4-BE49-F238E27FC236}">
                  <a16:creationId xmlns:a16="http://schemas.microsoft.com/office/drawing/2014/main" id="{17550242-77C5-4A18-855F-3E2426A51F66}"/>
                </a:ext>
              </a:extLst>
            </p:cNvPr>
            <p:cNvSpPr txBox="1"/>
            <p:nvPr/>
          </p:nvSpPr>
          <p:spPr>
            <a:xfrm>
              <a:off x="10166625" y="5938098"/>
              <a:ext cx="679102" cy="30809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Blocks</a:t>
              </a:r>
              <a:endParaRPr kumimoji="0" lang="en-US"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0" name="Textfeld 69">
              <a:extLst>
                <a:ext uri="{FF2B5EF4-FFF2-40B4-BE49-F238E27FC236}">
                  <a16:creationId xmlns:a16="http://schemas.microsoft.com/office/drawing/2014/main" id="{D1249897-7383-432C-95F6-D9F3EB4D7CA7}"/>
                </a:ext>
              </a:extLst>
            </p:cNvPr>
            <p:cNvSpPr txBox="1"/>
            <p:nvPr/>
          </p:nvSpPr>
          <p:spPr>
            <a:xfrm rot="16200000">
              <a:off x="8597783" y="4857455"/>
              <a:ext cx="1001301" cy="30223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Error Rates</a:t>
              </a:r>
              <a:endParaRPr kumimoji="0" lang="en-US"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76" name="Grafik 75">
              <a:extLst>
                <a:ext uri="{FF2B5EF4-FFF2-40B4-BE49-F238E27FC236}">
                  <a16:creationId xmlns:a16="http://schemas.microsoft.com/office/drawing/2014/main" id="{C55A4687-C234-4594-A4A3-CB6EE273C74D}"/>
                </a:ext>
              </a:extLst>
            </p:cNvPr>
            <p:cNvPicPr>
              <a:picLocks noChangeAspect="1"/>
            </p:cNvPicPr>
            <p:nvPr/>
          </p:nvPicPr>
          <p:blipFill rotWithShape="1">
            <a:blip r:embed="rId9"/>
            <a:srcRect l="8324" t="2966" b="9289"/>
            <a:stretch/>
          </p:blipFill>
          <p:spPr>
            <a:xfrm>
              <a:off x="9221544" y="4242162"/>
              <a:ext cx="2347064" cy="1759836"/>
            </a:xfrm>
            <a:prstGeom prst="rect">
              <a:avLst/>
            </a:prstGeom>
          </p:spPr>
        </p:pic>
      </p:grpSp>
      <p:sp>
        <p:nvSpPr>
          <p:cNvPr id="78" name="Freihandform: Form 77">
            <a:extLst>
              <a:ext uri="{FF2B5EF4-FFF2-40B4-BE49-F238E27FC236}">
                <a16:creationId xmlns:a16="http://schemas.microsoft.com/office/drawing/2014/main" id="{95DDCF89-B31E-40ED-8A0B-43C2FD93F6B7}"/>
              </a:ext>
            </a:extLst>
          </p:cNvPr>
          <p:cNvSpPr/>
          <p:nvPr/>
        </p:nvSpPr>
        <p:spPr>
          <a:xfrm>
            <a:off x="8003597" y="3365079"/>
            <a:ext cx="537210" cy="598474"/>
          </a:xfrm>
          <a:custGeom>
            <a:avLst/>
            <a:gdLst>
              <a:gd name="connsiteX0" fmla="*/ 0 w 716280"/>
              <a:gd name="connsiteY0" fmla="*/ 514711 h 797965"/>
              <a:gd name="connsiteX1" fmla="*/ 55880 w 716280"/>
              <a:gd name="connsiteY1" fmla="*/ 616311 h 797965"/>
              <a:gd name="connsiteX2" fmla="*/ 101600 w 716280"/>
              <a:gd name="connsiteY2" fmla="*/ 611231 h 797965"/>
              <a:gd name="connsiteX3" fmla="*/ 167640 w 716280"/>
              <a:gd name="connsiteY3" fmla="*/ 540111 h 797965"/>
              <a:gd name="connsiteX4" fmla="*/ 223520 w 716280"/>
              <a:gd name="connsiteY4" fmla="*/ 595991 h 797965"/>
              <a:gd name="connsiteX5" fmla="*/ 335280 w 716280"/>
              <a:gd name="connsiteY5" fmla="*/ 52431 h 797965"/>
              <a:gd name="connsiteX6" fmla="*/ 350520 w 716280"/>
              <a:gd name="connsiteY6" fmla="*/ 21951 h 797965"/>
              <a:gd name="connsiteX7" fmla="*/ 396240 w 716280"/>
              <a:gd name="connsiteY7" fmla="*/ 57511 h 797965"/>
              <a:gd name="connsiteX8" fmla="*/ 406400 w 716280"/>
              <a:gd name="connsiteY8" fmla="*/ 67671 h 797965"/>
              <a:gd name="connsiteX9" fmla="*/ 533400 w 716280"/>
              <a:gd name="connsiteY9" fmla="*/ 783951 h 797965"/>
              <a:gd name="connsiteX10" fmla="*/ 716280 w 716280"/>
              <a:gd name="connsiteY10" fmla="*/ 560431 h 797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6280" h="797965">
                <a:moveTo>
                  <a:pt x="0" y="514711"/>
                </a:moveTo>
                <a:cubicBezTo>
                  <a:pt x="19473" y="557467"/>
                  <a:pt x="38947" y="600224"/>
                  <a:pt x="55880" y="616311"/>
                </a:cubicBezTo>
                <a:cubicBezTo>
                  <a:pt x="72813" y="632398"/>
                  <a:pt x="82973" y="623931"/>
                  <a:pt x="101600" y="611231"/>
                </a:cubicBezTo>
                <a:cubicBezTo>
                  <a:pt x="120227" y="598531"/>
                  <a:pt x="147320" y="542651"/>
                  <a:pt x="167640" y="540111"/>
                </a:cubicBezTo>
                <a:cubicBezTo>
                  <a:pt x="187960" y="537571"/>
                  <a:pt x="195580" y="677271"/>
                  <a:pt x="223520" y="595991"/>
                </a:cubicBezTo>
                <a:cubicBezTo>
                  <a:pt x="251460" y="514711"/>
                  <a:pt x="314113" y="148104"/>
                  <a:pt x="335280" y="52431"/>
                </a:cubicBezTo>
                <a:cubicBezTo>
                  <a:pt x="356447" y="-43242"/>
                  <a:pt x="340360" y="21104"/>
                  <a:pt x="350520" y="21951"/>
                </a:cubicBezTo>
                <a:cubicBezTo>
                  <a:pt x="360680" y="22798"/>
                  <a:pt x="396240" y="57511"/>
                  <a:pt x="396240" y="57511"/>
                </a:cubicBezTo>
                <a:cubicBezTo>
                  <a:pt x="405553" y="65131"/>
                  <a:pt x="383540" y="-53402"/>
                  <a:pt x="406400" y="67671"/>
                </a:cubicBezTo>
                <a:cubicBezTo>
                  <a:pt x="429260" y="188744"/>
                  <a:pt x="481753" y="701824"/>
                  <a:pt x="533400" y="783951"/>
                </a:cubicBezTo>
                <a:cubicBezTo>
                  <a:pt x="585047" y="866078"/>
                  <a:pt x="716280" y="560431"/>
                  <a:pt x="716280" y="560431"/>
                </a:cubicBezTo>
              </a:path>
            </a:pathLst>
          </a:custGeom>
          <a:noFill/>
          <a:ln>
            <a:solidFill>
              <a:srgbClr val="CCA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cxnSp>
        <p:nvCxnSpPr>
          <p:cNvPr id="79" name="Gerader Verbinder 78">
            <a:extLst>
              <a:ext uri="{FF2B5EF4-FFF2-40B4-BE49-F238E27FC236}">
                <a16:creationId xmlns:a16="http://schemas.microsoft.com/office/drawing/2014/main" id="{34C4388F-9003-485B-8DEA-3F7A3A9270A7}"/>
              </a:ext>
            </a:extLst>
          </p:cNvPr>
          <p:cNvCxnSpPr>
            <a:cxnSpLocks/>
          </p:cNvCxnSpPr>
          <p:nvPr/>
        </p:nvCxnSpPr>
        <p:spPr>
          <a:xfrm>
            <a:off x="7423448" y="3211813"/>
            <a:ext cx="0" cy="909638"/>
          </a:xfrm>
          <a:prstGeom prst="line">
            <a:avLst/>
          </a:prstGeom>
          <a:noFill/>
          <a:ln w="28575" cap="flat" cmpd="sng" algn="ctr">
            <a:solidFill>
              <a:schemeClr val="tx1"/>
            </a:solidFill>
            <a:prstDash val="solid"/>
            <a:miter lim="800000"/>
          </a:ln>
          <a:effectLst/>
        </p:spPr>
      </p:cxnSp>
      <p:sp>
        <p:nvSpPr>
          <p:cNvPr id="80" name="Textfeld 79">
            <a:extLst>
              <a:ext uri="{FF2B5EF4-FFF2-40B4-BE49-F238E27FC236}">
                <a16:creationId xmlns:a16="http://schemas.microsoft.com/office/drawing/2014/main" id="{9B9C6B80-DA52-49FA-AADD-696DBE7D0541}"/>
              </a:ext>
            </a:extLst>
          </p:cNvPr>
          <p:cNvSpPr txBox="1"/>
          <p:nvPr/>
        </p:nvSpPr>
        <p:spPr>
          <a:xfrm>
            <a:off x="7119960" y="3140627"/>
            <a:ext cx="346249" cy="992932"/>
          </a:xfrm>
          <a:prstGeom prst="rect">
            <a:avLst/>
          </a:prstGeom>
          <a:noFill/>
        </p:spPr>
        <p:txBody>
          <a:bodyPr vert="vert270"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a:ln>
                  <a:noFill/>
                </a:ln>
                <a:solidFill>
                  <a:prstClr val="black"/>
                </a:solidFill>
                <a:effectLst/>
                <a:uLnTx/>
                <a:uFillTx/>
                <a:latin typeface="Quicksand"/>
                <a:ea typeface="Quicksand"/>
                <a:cs typeface="Quicksand"/>
                <a:sym typeface="Arial"/>
              </a:rPr>
              <a:t>RTs/ERs/ERN</a:t>
            </a:r>
          </a:p>
        </p:txBody>
      </p:sp>
      <p:cxnSp>
        <p:nvCxnSpPr>
          <p:cNvPr id="81" name="Gerader Verbinder 80">
            <a:extLst>
              <a:ext uri="{FF2B5EF4-FFF2-40B4-BE49-F238E27FC236}">
                <a16:creationId xmlns:a16="http://schemas.microsoft.com/office/drawing/2014/main" id="{92F124CA-FE8F-4282-BDA7-64AE4E2E97C7}"/>
              </a:ext>
            </a:extLst>
          </p:cNvPr>
          <p:cNvCxnSpPr>
            <a:cxnSpLocks/>
          </p:cNvCxnSpPr>
          <p:nvPr/>
        </p:nvCxnSpPr>
        <p:spPr>
          <a:xfrm flipH="1">
            <a:off x="7423450" y="4121450"/>
            <a:ext cx="1000961" cy="0"/>
          </a:xfrm>
          <a:prstGeom prst="line">
            <a:avLst/>
          </a:prstGeom>
          <a:noFill/>
          <a:ln w="28575" cap="flat" cmpd="sng" algn="ctr">
            <a:solidFill>
              <a:schemeClr val="tx1"/>
            </a:solidFill>
            <a:prstDash val="solid"/>
            <a:miter lim="800000"/>
          </a:ln>
          <a:effectLst/>
        </p:spPr>
      </p:cxnSp>
      <p:sp>
        <p:nvSpPr>
          <p:cNvPr id="82" name="Rechteck 81">
            <a:extLst>
              <a:ext uri="{FF2B5EF4-FFF2-40B4-BE49-F238E27FC236}">
                <a16:creationId xmlns:a16="http://schemas.microsoft.com/office/drawing/2014/main" id="{0BDBB46F-A72D-449F-A257-22709B7EC178}"/>
              </a:ext>
            </a:extLst>
          </p:cNvPr>
          <p:cNvSpPr/>
          <p:nvPr/>
        </p:nvSpPr>
        <p:spPr>
          <a:xfrm>
            <a:off x="8222151" y="3724801"/>
            <a:ext cx="100102" cy="377450"/>
          </a:xfrm>
          <a:prstGeom prst="rect">
            <a:avLst/>
          </a:prstGeom>
          <a:solidFill>
            <a:sysClr val="windowText" lastClr="000000"/>
          </a:solidFill>
          <a:ln w="12700" cap="flat" cmpd="sng" algn="ctr">
            <a:solidFill>
              <a:schemeClr val="tx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83" name="Rechteck 82">
            <a:extLst>
              <a:ext uri="{FF2B5EF4-FFF2-40B4-BE49-F238E27FC236}">
                <a16:creationId xmlns:a16="http://schemas.microsoft.com/office/drawing/2014/main" id="{72FA45B7-80B7-4BE5-B15E-20E85BE397F5}"/>
              </a:ext>
            </a:extLst>
          </p:cNvPr>
          <p:cNvSpPr/>
          <p:nvPr/>
        </p:nvSpPr>
        <p:spPr>
          <a:xfrm>
            <a:off x="7680450" y="3480846"/>
            <a:ext cx="89354" cy="625229"/>
          </a:xfrm>
          <a:prstGeom prst="rect">
            <a:avLst/>
          </a:prstGeom>
          <a:solidFill>
            <a:srgbClr val="666666"/>
          </a:solidFill>
          <a:ln w="12700" cap="flat" cmpd="sng" algn="ctr">
            <a:solidFill>
              <a:schemeClr val="tx1"/>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black"/>
              </a:solidFill>
              <a:effectLst/>
              <a:uLnTx/>
              <a:uFillTx/>
              <a:latin typeface="Calibri"/>
              <a:ea typeface="+mn-ea"/>
              <a:cs typeface="Arial"/>
              <a:sym typeface="Arial"/>
            </a:endParaRPr>
          </a:p>
        </p:txBody>
      </p:sp>
      <p:sp>
        <p:nvSpPr>
          <p:cNvPr id="84" name="Textfeld 83">
            <a:extLst>
              <a:ext uri="{FF2B5EF4-FFF2-40B4-BE49-F238E27FC236}">
                <a16:creationId xmlns:a16="http://schemas.microsoft.com/office/drawing/2014/main" id="{6FE26D47-FB80-4C32-A9F4-FCE2E1AA1AAE}"/>
              </a:ext>
            </a:extLst>
          </p:cNvPr>
          <p:cNvSpPr txBox="1"/>
          <p:nvPr/>
        </p:nvSpPr>
        <p:spPr>
          <a:xfrm>
            <a:off x="8005172" y="4120803"/>
            <a:ext cx="678311" cy="4560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88"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Switcher, Response </a:t>
            </a:r>
            <a:r>
              <a:rPr kumimoji="0" lang="de-DE" sz="788"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grouper</a:t>
            </a:r>
            <a:endParaRPr kumimoji="0" lang="en-US" sz="788"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5" name="Textfeld 84">
            <a:extLst>
              <a:ext uri="{FF2B5EF4-FFF2-40B4-BE49-F238E27FC236}">
                <a16:creationId xmlns:a16="http://schemas.microsoft.com/office/drawing/2014/main" id="{411D834A-5E5B-470C-A0C7-40C1598D04A3}"/>
              </a:ext>
            </a:extLst>
          </p:cNvPr>
          <p:cNvSpPr txBox="1"/>
          <p:nvPr/>
        </p:nvSpPr>
        <p:spPr>
          <a:xfrm>
            <a:off x="7474355" y="4126351"/>
            <a:ext cx="611730" cy="2135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88"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Blocker</a:t>
            </a:r>
            <a:endParaRPr kumimoji="0" lang="en-US" sz="788"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8" name="Freihandform: Form 87">
            <a:extLst>
              <a:ext uri="{FF2B5EF4-FFF2-40B4-BE49-F238E27FC236}">
                <a16:creationId xmlns:a16="http://schemas.microsoft.com/office/drawing/2014/main" id="{773EA256-8AE4-459C-B711-CCA233293959}"/>
              </a:ext>
            </a:extLst>
          </p:cNvPr>
          <p:cNvSpPr/>
          <p:nvPr/>
        </p:nvSpPr>
        <p:spPr>
          <a:xfrm>
            <a:off x="7443527" y="3604937"/>
            <a:ext cx="464820" cy="358616"/>
          </a:xfrm>
          <a:custGeom>
            <a:avLst/>
            <a:gdLst>
              <a:gd name="connsiteX0" fmla="*/ 0 w 619760"/>
              <a:gd name="connsiteY0" fmla="*/ 242937 h 478154"/>
              <a:gd name="connsiteX1" fmla="*/ 81280 w 619760"/>
              <a:gd name="connsiteY1" fmla="*/ 339457 h 478154"/>
              <a:gd name="connsiteX2" fmla="*/ 172720 w 619760"/>
              <a:gd name="connsiteY2" fmla="*/ 268337 h 478154"/>
              <a:gd name="connsiteX3" fmla="*/ 228600 w 619760"/>
              <a:gd name="connsiteY3" fmla="*/ 298817 h 478154"/>
              <a:gd name="connsiteX4" fmla="*/ 355600 w 619760"/>
              <a:gd name="connsiteY4" fmla="*/ 34657 h 478154"/>
              <a:gd name="connsiteX5" fmla="*/ 391160 w 619760"/>
              <a:gd name="connsiteY5" fmla="*/ 4177 h 478154"/>
              <a:gd name="connsiteX6" fmla="*/ 396240 w 619760"/>
              <a:gd name="connsiteY6" fmla="*/ 44817 h 478154"/>
              <a:gd name="connsiteX7" fmla="*/ 421640 w 619760"/>
              <a:gd name="connsiteY7" fmla="*/ 44817 h 478154"/>
              <a:gd name="connsiteX8" fmla="*/ 513080 w 619760"/>
              <a:gd name="connsiteY8" fmla="*/ 466457 h 478154"/>
              <a:gd name="connsiteX9" fmla="*/ 619760 w 619760"/>
              <a:gd name="connsiteY9" fmla="*/ 319137 h 47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760" h="478154">
                <a:moveTo>
                  <a:pt x="0" y="242937"/>
                </a:moveTo>
                <a:cubicBezTo>
                  <a:pt x="26246" y="289080"/>
                  <a:pt x="52493" y="335224"/>
                  <a:pt x="81280" y="339457"/>
                </a:cubicBezTo>
                <a:cubicBezTo>
                  <a:pt x="110067" y="343690"/>
                  <a:pt x="148167" y="275110"/>
                  <a:pt x="172720" y="268337"/>
                </a:cubicBezTo>
                <a:cubicBezTo>
                  <a:pt x="197273" y="261564"/>
                  <a:pt x="198120" y="337764"/>
                  <a:pt x="228600" y="298817"/>
                </a:cubicBezTo>
                <a:cubicBezTo>
                  <a:pt x="259080" y="259870"/>
                  <a:pt x="328507" y="83764"/>
                  <a:pt x="355600" y="34657"/>
                </a:cubicBezTo>
                <a:cubicBezTo>
                  <a:pt x="382693" y="-14450"/>
                  <a:pt x="384387" y="2484"/>
                  <a:pt x="391160" y="4177"/>
                </a:cubicBezTo>
                <a:cubicBezTo>
                  <a:pt x="397933" y="5870"/>
                  <a:pt x="391160" y="38044"/>
                  <a:pt x="396240" y="44817"/>
                </a:cubicBezTo>
                <a:cubicBezTo>
                  <a:pt x="401320" y="51590"/>
                  <a:pt x="402167" y="-25456"/>
                  <a:pt x="421640" y="44817"/>
                </a:cubicBezTo>
                <a:cubicBezTo>
                  <a:pt x="441113" y="115090"/>
                  <a:pt x="480060" y="420737"/>
                  <a:pt x="513080" y="466457"/>
                </a:cubicBezTo>
                <a:cubicBezTo>
                  <a:pt x="546100" y="512177"/>
                  <a:pt x="582930" y="415657"/>
                  <a:pt x="619760" y="319137"/>
                </a:cubicBezTo>
              </a:path>
            </a:pathLst>
          </a:custGeom>
          <a:noFill/>
          <a:ln>
            <a:solidFill>
              <a:srgbClr val="9D7B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9" name="Textfeld 88">
            <a:extLst>
              <a:ext uri="{FF2B5EF4-FFF2-40B4-BE49-F238E27FC236}">
                <a16:creationId xmlns:a16="http://schemas.microsoft.com/office/drawing/2014/main" id="{7A32B2C8-F9AD-4908-823B-6C7EC15FE14C}"/>
              </a:ext>
            </a:extLst>
          </p:cNvPr>
          <p:cNvSpPr txBox="1"/>
          <p:nvPr/>
        </p:nvSpPr>
        <p:spPr>
          <a:xfrm>
            <a:off x="7499982" y="2858881"/>
            <a:ext cx="847898" cy="2308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Expectations</a:t>
            </a:r>
          </a:p>
        </p:txBody>
      </p:sp>
      <p:sp>
        <p:nvSpPr>
          <p:cNvPr id="6" name="Textfeld 5">
            <a:extLst>
              <a:ext uri="{FF2B5EF4-FFF2-40B4-BE49-F238E27FC236}">
                <a16:creationId xmlns:a16="http://schemas.microsoft.com/office/drawing/2014/main" id="{55A36AB2-9A9E-56D3-349D-5CEB4A9D5E0A}"/>
              </a:ext>
            </a:extLst>
          </p:cNvPr>
          <p:cNvSpPr txBox="1"/>
          <p:nvPr/>
        </p:nvSpPr>
        <p:spPr>
          <a:xfrm>
            <a:off x="1968824" y="1378332"/>
            <a:ext cx="2021934" cy="91794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explore additional task information</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performance maximization </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exploit given task information</a:t>
            </a:r>
            <a:endParaRPr kumimoji="0" lang="en-US" sz="105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effort minimization	</a:t>
            </a:r>
            <a:r>
              <a:rPr kumimoji="0" lang="en-US" sz="1050" b="0" i="0" u="none" strike="noStrike" kern="1200" cap="none" spc="0" normalizeH="0" baseline="0" noProof="0">
                <a:ln>
                  <a:noFill/>
                </a:ln>
                <a:solidFill>
                  <a:prstClr val="black"/>
                </a:solidFill>
                <a:effectLst/>
                <a:uLnTx/>
                <a:uFillTx/>
                <a:latin typeface="Arial"/>
                <a:ea typeface="+mn-ea"/>
                <a:cs typeface="Arial"/>
                <a:sym typeface="Arial"/>
              </a:rPr>
              <a:t>	</a:t>
            </a:r>
            <a:endParaRPr kumimoji="0" lang="en-US" sz="1050" b="0" i="0" u="none" strike="noStrike" kern="1200" cap="none" spc="0" normalizeH="0" baseline="0" noProof="0">
              <a:ln>
                <a:noFill/>
              </a:ln>
              <a:solidFill>
                <a:prstClr val="black"/>
              </a:solidFill>
              <a:effectLst/>
              <a:uLnTx/>
              <a:uFillTx/>
              <a:latin typeface="Arial"/>
              <a:ea typeface="+mn-ea"/>
              <a:cs typeface="Arial"/>
            </a:endParaRPr>
          </a:p>
        </p:txBody>
      </p:sp>
      <p:sp>
        <p:nvSpPr>
          <p:cNvPr id="8" name="Pfeil: nach rechts 7">
            <a:extLst>
              <a:ext uri="{FF2B5EF4-FFF2-40B4-BE49-F238E27FC236}">
                <a16:creationId xmlns:a16="http://schemas.microsoft.com/office/drawing/2014/main" id="{0A0276C6-13A0-39AB-F950-C86753B93B34}"/>
              </a:ext>
            </a:extLst>
          </p:cNvPr>
          <p:cNvSpPr/>
          <p:nvPr/>
        </p:nvSpPr>
        <p:spPr>
          <a:xfrm>
            <a:off x="1687428" y="1836127"/>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1" name="Pfeil: nach rechts 10">
            <a:extLst>
              <a:ext uri="{FF2B5EF4-FFF2-40B4-BE49-F238E27FC236}">
                <a16:creationId xmlns:a16="http://schemas.microsoft.com/office/drawing/2014/main" id="{9CE5C97E-722F-D5E5-8218-8D36C0BFAB12}"/>
              </a:ext>
            </a:extLst>
          </p:cNvPr>
          <p:cNvSpPr/>
          <p:nvPr/>
        </p:nvSpPr>
        <p:spPr>
          <a:xfrm>
            <a:off x="1687428" y="1985838"/>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3" name="Textfeld 12">
            <a:extLst>
              <a:ext uri="{FF2B5EF4-FFF2-40B4-BE49-F238E27FC236}">
                <a16:creationId xmlns:a16="http://schemas.microsoft.com/office/drawing/2014/main" id="{8AD2365D-01D5-20BF-B508-CD6CE23E9F5E}"/>
              </a:ext>
            </a:extLst>
          </p:cNvPr>
          <p:cNvSpPr txBox="1"/>
          <p:nvPr/>
        </p:nvSpPr>
        <p:spPr>
          <a:xfrm>
            <a:off x="527374" y="1431712"/>
            <a:ext cx="1160114" cy="646331"/>
          </a:xfrm>
          <a:prstGeom prst="rect">
            <a:avLst/>
          </a:prstGeom>
          <a:solidFill>
            <a:schemeClr val="bg1"/>
          </a:solid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a:ea typeface="+mn-ea"/>
                <a:cs typeface="Arial"/>
              </a:rPr>
              <a:t>Switcher &amp; Response </a:t>
            </a:r>
            <a:r>
              <a:rPr kumimoji="0" lang="de-DE" sz="900" b="0" i="0" u="none" strike="noStrike" kern="1200" cap="none" spc="0" normalizeH="0" baseline="0" noProof="0" err="1">
                <a:ln>
                  <a:noFill/>
                </a:ln>
                <a:solidFill>
                  <a:prstClr val="black"/>
                </a:solidFill>
                <a:effectLst/>
                <a:uLnTx/>
                <a:uFillTx/>
                <a:latin typeface="Arial"/>
                <a:ea typeface="+mn-ea"/>
                <a:cs typeface="Arial"/>
              </a:rPr>
              <a:t>grouper</a:t>
            </a:r>
            <a:endParaRPr kumimoji="0" lang="de-DE" sz="9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Blocker</a:t>
            </a:r>
          </a:p>
        </p:txBody>
      </p:sp>
      <p:sp>
        <p:nvSpPr>
          <p:cNvPr id="15" name="Pfeil: nach rechts 14">
            <a:extLst>
              <a:ext uri="{FF2B5EF4-FFF2-40B4-BE49-F238E27FC236}">
                <a16:creationId xmlns:a16="http://schemas.microsoft.com/office/drawing/2014/main" id="{F10677BB-08DB-A965-7E76-78D4ACA93CF6}"/>
              </a:ext>
            </a:extLst>
          </p:cNvPr>
          <p:cNvSpPr/>
          <p:nvPr/>
        </p:nvSpPr>
        <p:spPr>
          <a:xfrm>
            <a:off x="1687428" y="1481593"/>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7" name="Pfeil: nach rechts 16">
            <a:extLst>
              <a:ext uri="{FF2B5EF4-FFF2-40B4-BE49-F238E27FC236}">
                <a16:creationId xmlns:a16="http://schemas.microsoft.com/office/drawing/2014/main" id="{D1765A88-2FFE-CEDC-CB9A-45EF03928A9C}"/>
              </a:ext>
            </a:extLst>
          </p:cNvPr>
          <p:cNvSpPr/>
          <p:nvPr/>
        </p:nvSpPr>
        <p:spPr>
          <a:xfrm>
            <a:off x="1687428" y="1631304"/>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9" name="Textfeld 18">
            <a:extLst>
              <a:ext uri="{FF2B5EF4-FFF2-40B4-BE49-F238E27FC236}">
                <a16:creationId xmlns:a16="http://schemas.microsoft.com/office/drawing/2014/main" id="{CC2E8E18-420A-2B07-3C19-2DF62C000418}"/>
              </a:ext>
            </a:extLst>
          </p:cNvPr>
          <p:cNvSpPr txBox="1"/>
          <p:nvPr/>
        </p:nvSpPr>
        <p:spPr>
          <a:xfrm>
            <a:off x="584200" y="1073150"/>
            <a:ext cx="2743200" cy="2576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1361"/>
              </a:lnSpc>
              <a:spcBef>
                <a:spcPts val="0"/>
              </a:spcBef>
              <a:spcAft>
                <a:spcPts val="0"/>
              </a:spcAft>
              <a:buClrTx/>
              <a:buSzTx/>
              <a:buFontTx/>
              <a:buNone/>
              <a:tabLst/>
              <a:defRPr/>
            </a:pPr>
            <a:r>
              <a:rPr kumimoji="0" lang="en-US" sz="1050" b="0" i="0" u="sng" strike="noStrike" kern="1200" cap="none" spc="0" normalizeH="0" baseline="0" noProof="0">
                <a:ln>
                  <a:noFill/>
                </a:ln>
                <a:solidFill>
                  <a:prstClr val="black"/>
                </a:solidFill>
                <a:effectLst/>
                <a:uLnTx/>
                <a:uFillTx/>
                <a:latin typeface="Arial"/>
                <a:ea typeface="+mn-ea"/>
                <a:cs typeface="+mn-cs"/>
              </a:rPr>
              <a:t>Basic assumptions: </a:t>
            </a:r>
            <a:r>
              <a:rPr kumimoji="0" lang="en-US" sz="1050" b="0" i="0" u="none" strike="noStrike" kern="1200" cap="none" spc="0" normalizeH="0" baseline="0" noProof="0">
                <a:ln>
                  <a:noFill/>
                </a:ln>
                <a:solidFill>
                  <a:prstClr val="black"/>
                </a:solidFill>
                <a:effectLst/>
                <a:uLnTx/>
                <a:uFillTx/>
                <a:latin typeface="Arial"/>
                <a:ea typeface="+mn-ea"/>
                <a:cs typeface="+mn-cs"/>
              </a:rPr>
              <a:t>​</a:t>
            </a:r>
          </a:p>
        </p:txBody>
      </p:sp>
      <p:pic>
        <p:nvPicPr>
          <p:cNvPr id="47" name="Grafik 46">
            <a:extLst>
              <a:ext uri="{FF2B5EF4-FFF2-40B4-BE49-F238E27FC236}">
                <a16:creationId xmlns:a16="http://schemas.microsoft.com/office/drawing/2014/main" id="{D84A1860-84FD-4514-ACA5-8CFC6F6829FC}"/>
              </a:ext>
            </a:extLst>
          </p:cNvPr>
          <p:cNvPicPr>
            <a:picLocks noChangeAspect="1"/>
          </p:cNvPicPr>
          <p:nvPr/>
        </p:nvPicPr>
        <p:blipFill rotWithShape="1">
          <a:blip r:embed="rId10"/>
          <a:srcRect b="13312"/>
          <a:stretch/>
        </p:blipFill>
        <p:spPr>
          <a:xfrm>
            <a:off x="3339901" y="3190999"/>
            <a:ext cx="304276" cy="259467"/>
          </a:xfrm>
          <a:prstGeom prst="rect">
            <a:avLst/>
          </a:prstGeom>
        </p:spPr>
      </p:pic>
      <p:sp>
        <p:nvSpPr>
          <p:cNvPr id="49" name="Textfeld 48">
            <a:extLst>
              <a:ext uri="{FF2B5EF4-FFF2-40B4-BE49-F238E27FC236}">
                <a16:creationId xmlns:a16="http://schemas.microsoft.com/office/drawing/2014/main" id="{3983CB69-8733-4A19-8D7C-ED6F64C9C4EF}"/>
              </a:ext>
            </a:extLst>
          </p:cNvPr>
          <p:cNvSpPr txBox="1"/>
          <p:nvPr/>
        </p:nvSpPr>
        <p:spPr>
          <a:xfrm>
            <a:off x="804461" y="4748709"/>
            <a:ext cx="782460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Ackerman</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1986; Brüning &amp; </a:t>
            </a: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Manzey</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2018; Brüning et al., 2021, Ramsey et al., 2003; Rogers &amp; </a:t>
            </a: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Monsell</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1995; Ullsperger et al., 2014 </a:t>
            </a:r>
          </a:p>
        </p:txBody>
      </p:sp>
    </p:spTree>
    <p:extLst>
      <p:ext uri="{BB962C8B-B14F-4D97-AF65-F5344CB8AC3E}">
        <p14:creationId xmlns:p14="http://schemas.microsoft.com/office/powerpoint/2010/main" val="9705821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848FDE-0705-4B4F-A21F-7984AEB2201C}"/>
              </a:ext>
            </a:extLst>
          </p:cNvPr>
          <p:cNvSpPr>
            <a:spLocks noGrp="1"/>
          </p:cNvSpPr>
          <p:nvPr>
            <p:ph type="title"/>
          </p:nvPr>
        </p:nvSpPr>
        <p:spPr/>
        <p:txBody>
          <a:bodyPr/>
          <a:lstStyle/>
          <a:p>
            <a:r>
              <a:rPr lang="de-DE" sz="2100" b="0" err="1">
                <a:solidFill>
                  <a:prstClr val="black"/>
                </a:solidFill>
              </a:rPr>
              <a:t>Empirical</a:t>
            </a:r>
            <a:r>
              <a:rPr lang="de-DE" sz="2100" b="0">
                <a:solidFill>
                  <a:prstClr val="black"/>
                </a:solidFill>
              </a:rPr>
              <a:t> </a:t>
            </a:r>
            <a:r>
              <a:rPr lang="de-DE" sz="2100" b="0" err="1">
                <a:solidFill>
                  <a:prstClr val="black"/>
                </a:solidFill>
              </a:rPr>
              <a:t>Objective</a:t>
            </a:r>
            <a:r>
              <a:rPr lang="de-DE" sz="2100" b="0">
                <a:solidFill>
                  <a:prstClr val="black"/>
                </a:solidFill>
              </a:rPr>
              <a:t> 2: </a:t>
            </a:r>
            <a:r>
              <a:rPr lang="en-US" sz="2100" b="0">
                <a:solidFill>
                  <a:prstClr val="black"/>
                </a:solidFill>
              </a:rPr>
              <a:t>Relationship between </a:t>
            </a:r>
            <a:r>
              <a:rPr lang="en-US" sz="2100" b="0">
                <a:solidFill>
                  <a:srgbClr val="B99212"/>
                </a:solidFill>
              </a:rPr>
              <a:t>response strategies</a:t>
            </a:r>
            <a:r>
              <a:rPr lang="en-US" sz="2100" b="0">
                <a:solidFill>
                  <a:prstClr val="black"/>
                </a:solidFill>
              </a:rPr>
              <a:t>, </a:t>
            </a:r>
            <a:r>
              <a:rPr lang="en-US" sz="2100" b="0">
                <a:solidFill>
                  <a:srgbClr val="B99212"/>
                </a:solidFill>
              </a:rPr>
              <a:t>reward</a:t>
            </a:r>
            <a:r>
              <a:rPr lang="en-US" sz="2100" b="0">
                <a:solidFill>
                  <a:prstClr val="black"/>
                </a:solidFill>
              </a:rPr>
              <a:t>, and </a:t>
            </a:r>
            <a:r>
              <a:rPr lang="en-US" sz="2100" b="0">
                <a:solidFill>
                  <a:srgbClr val="B99212"/>
                </a:solidFill>
              </a:rPr>
              <a:t>reward sensitivity</a:t>
            </a:r>
            <a:endParaRPr lang="en-US"/>
          </a:p>
        </p:txBody>
      </p:sp>
      <p:sp>
        <p:nvSpPr>
          <p:cNvPr id="4" name="Foliennummernplatzhalter 3">
            <a:extLst>
              <a:ext uri="{FF2B5EF4-FFF2-40B4-BE49-F238E27FC236}">
                <a16:creationId xmlns:a16="http://schemas.microsoft.com/office/drawing/2014/main" id="{F73431F1-2799-41C2-BB77-787EF51CB8D5}"/>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25</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pic>
        <p:nvPicPr>
          <p:cNvPr id="5" name="Grafik 4">
            <a:extLst>
              <a:ext uri="{FF2B5EF4-FFF2-40B4-BE49-F238E27FC236}">
                <a16:creationId xmlns:a16="http://schemas.microsoft.com/office/drawing/2014/main" id="{8E81382F-4433-434D-BBE7-68BEB71FE33F}"/>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033798" y="1163595"/>
            <a:ext cx="4985297" cy="1031942"/>
          </a:xfrm>
          <a:prstGeom prst="rect">
            <a:avLst/>
          </a:prstGeom>
        </p:spPr>
      </p:pic>
      <p:sp>
        <p:nvSpPr>
          <p:cNvPr id="6" name="Textfeld 5">
            <a:extLst>
              <a:ext uri="{FF2B5EF4-FFF2-40B4-BE49-F238E27FC236}">
                <a16:creationId xmlns:a16="http://schemas.microsoft.com/office/drawing/2014/main" id="{6612F34C-8A52-D54E-26FA-DA1AA62B3324}"/>
              </a:ext>
            </a:extLst>
          </p:cNvPr>
          <p:cNvSpPr txBox="1"/>
          <p:nvPr/>
        </p:nvSpPr>
        <p:spPr>
          <a:xfrm>
            <a:off x="1968824" y="1378332"/>
            <a:ext cx="2021934" cy="91794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explore additional task information</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performance maximization </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exploit given task information</a:t>
            </a:r>
            <a:endParaRPr kumimoji="0" lang="en-US" sz="105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effort minimization	</a:t>
            </a:r>
            <a:r>
              <a:rPr kumimoji="0" lang="en-US" sz="1050" b="0" i="0" u="none" strike="noStrike" kern="1200" cap="none" spc="0" normalizeH="0" baseline="0" noProof="0">
                <a:ln>
                  <a:noFill/>
                </a:ln>
                <a:solidFill>
                  <a:prstClr val="black"/>
                </a:solidFill>
                <a:effectLst/>
                <a:uLnTx/>
                <a:uFillTx/>
                <a:latin typeface="Arial"/>
                <a:ea typeface="+mn-ea"/>
                <a:cs typeface="Arial"/>
                <a:sym typeface="Arial"/>
              </a:rPr>
              <a:t>	</a:t>
            </a:r>
            <a:endParaRPr kumimoji="0" lang="en-US" sz="1050" b="0" i="0" u="none" strike="noStrike" kern="1200" cap="none" spc="0" normalizeH="0" baseline="0" noProof="0">
              <a:ln>
                <a:noFill/>
              </a:ln>
              <a:solidFill>
                <a:prstClr val="black"/>
              </a:solidFill>
              <a:effectLst/>
              <a:uLnTx/>
              <a:uFillTx/>
              <a:latin typeface="Arial"/>
              <a:ea typeface="+mn-ea"/>
              <a:cs typeface="Arial"/>
            </a:endParaRPr>
          </a:p>
        </p:txBody>
      </p:sp>
      <p:sp>
        <p:nvSpPr>
          <p:cNvPr id="8" name="Pfeil: nach rechts 7">
            <a:extLst>
              <a:ext uri="{FF2B5EF4-FFF2-40B4-BE49-F238E27FC236}">
                <a16:creationId xmlns:a16="http://schemas.microsoft.com/office/drawing/2014/main" id="{969524CA-9340-613B-96C3-A3F9630BC915}"/>
              </a:ext>
            </a:extLst>
          </p:cNvPr>
          <p:cNvSpPr/>
          <p:nvPr/>
        </p:nvSpPr>
        <p:spPr>
          <a:xfrm>
            <a:off x="1687428" y="1836127"/>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0" name="Pfeil: nach rechts 9">
            <a:extLst>
              <a:ext uri="{FF2B5EF4-FFF2-40B4-BE49-F238E27FC236}">
                <a16:creationId xmlns:a16="http://schemas.microsoft.com/office/drawing/2014/main" id="{A45D5D65-82B4-F750-78F3-59D70AB3E94B}"/>
              </a:ext>
            </a:extLst>
          </p:cNvPr>
          <p:cNvSpPr/>
          <p:nvPr/>
        </p:nvSpPr>
        <p:spPr>
          <a:xfrm>
            <a:off x="1687428" y="1985838"/>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2" name="Textfeld 11">
            <a:extLst>
              <a:ext uri="{FF2B5EF4-FFF2-40B4-BE49-F238E27FC236}">
                <a16:creationId xmlns:a16="http://schemas.microsoft.com/office/drawing/2014/main" id="{46CCFB86-89CD-3D48-1B53-30FE61FAF1CA}"/>
              </a:ext>
            </a:extLst>
          </p:cNvPr>
          <p:cNvSpPr txBox="1"/>
          <p:nvPr/>
        </p:nvSpPr>
        <p:spPr>
          <a:xfrm>
            <a:off x="527374" y="1431712"/>
            <a:ext cx="1160114" cy="646331"/>
          </a:xfrm>
          <a:prstGeom prst="rect">
            <a:avLst/>
          </a:prstGeom>
          <a:solidFill>
            <a:schemeClr val="bg1"/>
          </a:solid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a:ea typeface="+mn-ea"/>
                <a:cs typeface="Arial"/>
              </a:rPr>
              <a:t>Switcher &amp; Response </a:t>
            </a:r>
            <a:r>
              <a:rPr kumimoji="0" lang="de-DE" sz="900" b="0" i="0" u="none" strike="noStrike" kern="1200" cap="none" spc="0" normalizeH="0" baseline="0" noProof="0" err="1">
                <a:ln>
                  <a:noFill/>
                </a:ln>
                <a:solidFill>
                  <a:prstClr val="black"/>
                </a:solidFill>
                <a:effectLst/>
                <a:uLnTx/>
                <a:uFillTx/>
                <a:latin typeface="Arial"/>
                <a:ea typeface="+mn-ea"/>
                <a:cs typeface="Arial"/>
              </a:rPr>
              <a:t>grouper</a:t>
            </a:r>
            <a:endParaRPr kumimoji="0" lang="de-DE" sz="9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Blocker</a:t>
            </a:r>
          </a:p>
        </p:txBody>
      </p:sp>
      <p:sp>
        <p:nvSpPr>
          <p:cNvPr id="14" name="Pfeil: nach rechts 13">
            <a:extLst>
              <a:ext uri="{FF2B5EF4-FFF2-40B4-BE49-F238E27FC236}">
                <a16:creationId xmlns:a16="http://schemas.microsoft.com/office/drawing/2014/main" id="{FDD67369-9827-0D69-F432-CB8B0FB84EB7}"/>
              </a:ext>
            </a:extLst>
          </p:cNvPr>
          <p:cNvSpPr/>
          <p:nvPr/>
        </p:nvSpPr>
        <p:spPr>
          <a:xfrm>
            <a:off x="1687428" y="1481593"/>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6" name="Pfeil: nach rechts 15">
            <a:extLst>
              <a:ext uri="{FF2B5EF4-FFF2-40B4-BE49-F238E27FC236}">
                <a16:creationId xmlns:a16="http://schemas.microsoft.com/office/drawing/2014/main" id="{F7654BA9-037F-BAAA-B542-77823F59F1CA}"/>
              </a:ext>
            </a:extLst>
          </p:cNvPr>
          <p:cNvSpPr/>
          <p:nvPr/>
        </p:nvSpPr>
        <p:spPr>
          <a:xfrm>
            <a:off x="1687428" y="1631304"/>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8" name="Textfeld 17">
            <a:extLst>
              <a:ext uri="{FF2B5EF4-FFF2-40B4-BE49-F238E27FC236}">
                <a16:creationId xmlns:a16="http://schemas.microsoft.com/office/drawing/2014/main" id="{D16BAA31-D773-80DF-5DFC-DC7A5349D91D}"/>
              </a:ext>
            </a:extLst>
          </p:cNvPr>
          <p:cNvSpPr txBox="1"/>
          <p:nvPr/>
        </p:nvSpPr>
        <p:spPr>
          <a:xfrm>
            <a:off x="584200" y="1073150"/>
            <a:ext cx="2743200" cy="2576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1361"/>
              </a:lnSpc>
              <a:spcBef>
                <a:spcPts val="0"/>
              </a:spcBef>
              <a:spcAft>
                <a:spcPts val="0"/>
              </a:spcAft>
              <a:buClrTx/>
              <a:buSzTx/>
              <a:buFontTx/>
              <a:buNone/>
              <a:tabLst/>
              <a:defRPr/>
            </a:pPr>
            <a:r>
              <a:rPr kumimoji="0" lang="en-US" sz="1050" b="0" i="0" u="sng" strike="noStrike" kern="1200" cap="none" spc="0" normalizeH="0" baseline="0" noProof="0">
                <a:ln>
                  <a:noFill/>
                </a:ln>
                <a:solidFill>
                  <a:prstClr val="black"/>
                </a:solidFill>
                <a:effectLst/>
                <a:uLnTx/>
                <a:uFillTx/>
                <a:latin typeface="Arial"/>
                <a:ea typeface="+mn-ea"/>
                <a:cs typeface="+mn-cs"/>
              </a:rPr>
              <a:t>Basic assumptions: </a:t>
            </a:r>
            <a:r>
              <a:rPr kumimoji="0" lang="en-US" sz="1050" b="0" i="0" u="none" strike="noStrike" kern="1200" cap="none" spc="0" normalizeH="0" baseline="0" noProof="0">
                <a:ln>
                  <a:noFill/>
                </a:ln>
                <a:solidFill>
                  <a:prstClr val="black"/>
                </a:solidFill>
                <a:effectLst/>
                <a:uLnTx/>
                <a:uFillTx/>
                <a:latin typeface="Arial"/>
                <a:ea typeface="+mn-ea"/>
                <a:cs typeface="+mn-cs"/>
              </a:rPr>
              <a:t>​</a:t>
            </a:r>
          </a:p>
        </p:txBody>
      </p:sp>
      <p:grpSp>
        <p:nvGrpSpPr>
          <p:cNvPr id="11" name="Gruppieren 10">
            <a:extLst>
              <a:ext uri="{FF2B5EF4-FFF2-40B4-BE49-F238E27FC236}">
                <a16:creationId xmlns:a16="http://schemas.microsoft.com/office/drawing/2014/main" id="{67F93329-F0A4-62C2-4D99-3E9A9AA13E8A}"/>
              </a:ext>
            </a:extLst>
          </p:cNvPr>
          <p:cNvGrpSpPr/>
          <p:nvPr/>
        </p:nvGrpSpPr>
        <p:grpSpPr>
          <a:xfrm>
            <a:off x="872677" y="2409733"/>
            <a:ext cx="7880527" cy="2268251"/>
            <a:chOff x="9330490" y="3150987"/>
            <a:chExt cx="2734720" cy="1996076"/>
          </a:xfrm>
        </p:grpSpPr>
        <p:sp>
          <p:nvSpPr>
            <p:cNvPr id="7" name="Rechteck: abgerundete Ecken 6">
              <a:extLst>
                <a:ext uri="{FF2B5EF4-FFF2-40B4-BE49-F238E27FC236}">
                  <a16:creationId xmlns:a16="http://schemas.microsoft.com/office/drawing/2014/main" id="{0690DAFF-CF20-1F70-2FD6-B7E2489D4044}"/>
                </a:ext>
              </a:extLst>
            </p:cNvPr>
            <p:cNvSpPr/>
            <p:nvPr/>
          </p:nvSpPr>
          <p:spPr>
            <a:xfrm>
              <a:off x="9330490" y="3216736"/>
              <a:ext cx="2734720" cy="1930327"/>
            </a:xfrm>
            <a:prstGeom prst="roundRect">
              <a:avLst/>
            </a:prstGeom>
            <a:noFill/>
            <a:ln w="952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Calibri"/>
                <a:ea typeface="+mn-ea"/>
                <a:cs typeface="+mn-cs"/>
              </a:endParaRPr>
            </a:p>
          </p:txBody>
        </p:sp>
        <p:sp>
          <p:nvSpPr>
            <p:cNvPr id="9" name="Rechteck: abgerundete Ecken 8">
              <a:extLst>
                <a:ext uri="{FF2B5EF4-FFF2-40B4-BE49-F238E27FC236}">
                  <a16:creationId xmlns:a16="http://schemas.microsoft.com/office/drawing/2014/main" id="{09D32B15-8C59-9239-DD9A-38C2DA4B37E6}"/>
                </a:ext>
              </a:extLst>
            </p:cNvPr>
            <p:cNvSpPr/>
            <p:nvPr/>
          </p:nvSpPr>
          <p:spPr>
            <a:xfrm>
              <a:off x="9330490" y="3150987"/>
              <a:ext cx="2734720" cy="219153"/>
            </a:xfrm>
            <a:prstGeom prst="roundRect">
              <a:avLst/>
            </a:prstGeom>
            <a:solidFill>
              <a:srgbClr val="CCA326"/>
            </a:solidFill>
            <a:ln>
              <a:solidFill>
                <a:srgbClr val="B9921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dirty="0">
                  <a:ln>
                    <a:noFill/>
                  </a:ln>
                  <a:solidFill>
                    <a:prstClr val="white"/>
                  </a:solidFill>
                  <a:effectLst/>
                  <a:uLnTx/>
                  <a:uFillTx/>
                  <a:latin typeface="Calibri"/>
                  <a:ea typeface="+mn-ea"/>
                  <a:cs typeface="+mn-cs"/>
                </a:rPr>
                <a:t>Work Package 1.2 – </a:t>
              </a:r>
              <a:r>
                <a:rPr kumimoji="0" lang="de-DE" sz="1050" b="1" i="0" u="none" strike="noStrike" kern="1200" cap="none" spc="0" normalizeH="0" baseline="0" noProof="0" dirty="0">
                  <a:ln>
                    <a:noFill/>
                  </a:ln>
                  <a:solidFill>
                    <a:prstClr val="white"/>
                  </a:solidFill>
                  <a:effectLst/>
                  <a:uLnTx/>
                  <a:uFillTx/>
                  <a:latin typeface="Calibri"/>
                  <a:ea typeface="+mn-ea"/>
                  <a:cs typeface="+mn-cs"/>
                </a:rPr>
                <a:t>Experiment 2a</a:t>
              </a:r>
              <a:r>
                <a:rPr kumimoji="0" lang="de-DE" sz="1050" b="0" i="0" u="none" strike="noStrike" kern="1200" cap="none" spc="0" normalizeH="0" baseline="0" noProof="0" dirty="0">
                  <a:ln>
                    <a:noFill/>
                  </a:ln>
                  <a:solidFill>
                    <a:prstClr val="white"/>
                  </a:solidFill>
                  <a:effectLst/>
                  <a:uLnTx/>
                  <a:uFillTx/>
                  <a:latin typeface="Calibri"/>
                  <a:ea typeface="+mn-ea"/>
                  <a:cs typeface="+mn-cs"/>
                </a:rPr>
                <a:t>, n = 90 </a:t>
              </a:r>
              <a:r>
                <a:rPr kumimoji="0" lang="de-DE" sz="1050" b="0" i="0" u="none" strike="noStrike" kern="1200" cap="none" spc="0" normalizeH="0" baseline="0" noProof="0" dirty="0" err="1">
                  <a:ln>
                    <a:noFill/>
                  </a:ln>
                  <a:solidFill>
                    <a:prstClr val="white"/>
                  </a:solidFill>
                  <a:effectLst/>
                  <a:uLnTx/>
                  <a:uFillTx/>
                  <a:latin typeface="Calibri"/>
                  <a:ea typeface="+mn-ea"/>
                  <a:cs typeface="+mn-cs"/>
                </a:rPr>
                <a:t>participants</a:t>
              </a:r>
              <a:endParaRPr kumimoji="0" lang="en-US" sz="1050" b="0"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15" name="Rechteck: abgerundete Ecken 14">
            <a:extLst>
              <a:ext uri="{FF2B5EF4-FFF2-40B4-BE49-F238E27FC236}">
                <a16:creationId xmlns:a16="http://schemas.microsoft.com/office/drawing/2014/main" id="{A34546B4-1534-5262-9813-669EA48D9F9E}"/>
              </a:ext>
            </a:extLst>
          </p:cNvPr>
          <p:cNvSpPr/>
          <p:nvPr/>
        </p:nvSpPr>
        <p:spPr>
          <a:xfrm>
            <a:off x="1203268" y="3140626"/>
            <a:ext cx="2510563" cy="1483352"/>
          </a:xfrm>
          <a:prstGeom prst="roundRect">
            <a:avLst>
              <a:gd name="adj" fmla="val 0"/>
            </a:avLst>
          </a:prstGeom>
          <a:noFill/>
          <a:ln w="12700">
            <a:solidFill>
              <a:srgbClr val="CCA326"/>
            </a:solid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feld 18">
            <a:extLst>
              <a:ext uri="{FF2B5EF4-FFF2-40B4-BE49-F238E27FC236}">
                <a16:creationId xmlns:a16="http://schemas.microsoft.com/office/drawing/2014/main" id="{66216714-27C0-8099-6877-4D5BFE272767}"/>
              </a:ext>
            </a:extLst>
          </p:cNvPr>
          <p:cNvSpPr txBox="1"/>
          <p:nvPr/>
        </p:nvSpPr>
        <p:spPr>
          <a:xfrm>
            <a:off x="1549362" y="3134808"/>
            <a:ext cx="1904662" cy="193027"/>
          </a:xfrm>
          <a:prstGeom prst="rect">
            <a:avLst/>
          </a:prstGeom>
          <a:noFill/>
          <a:ln w="12700">
            <a:no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Calibri"/>
                <a:ea typeface="+mn-ea"/>
                <a:cs typeface="+mn-cs"/>
              </a:rPr>
              <a:t>Free </a:t>
            </a:r>
            <a:r>
              <a:rPr kumimoji="0" lang="de-DE" sz="900" b="0" i="0" u="none" strike="noStrike" kern="1200" cap="none" spc="0" normalizeH="0" baseline="0" noProof="0" err="1">
                <a:ln>
                  <a:noFill/>
                </a:ln>
                <a:solidFill>
                  <a:prstClr val="black"/>
                </a:solidFill>
                <a:effectLst/>
                <a:uLnTx/>
                <a:uFillTx/>
                <a:latin typeface="Calibri"/>
                <a:ea typeface="+mn-ea"/>
                <a:cs typeface="+mn-cs"/>
              </a:rPr>
              <a:t>Concurrent</a:t>
            </a:r>
            <a:r>
              <a:rPr kumimoji="0" lang="de-DE" sz="900" b="0" i="0" u="none" strike="noStrike" kern="1200" cap="none" spc="0" normalizeH="0" baseline="0" noProof="0">
                <a:ln>
                  <a:noFill/>
                </a:ln>
                <a:solidFill>
                  <a:prstClr val="black"/>
                </a:solidFill>
                <a:effectLst/>
                <a:uLnTx/>
                <a:uFillTx/>
                <a:latin typeface="Calibri"/>
                <a:ea typeface="+mn-ea"/>
                <a:cs typeface="+mn-cs"/>
              </a:rPr>
              <a:t> Dual-</a:t>
            </a:r>
            <a:r>
              <a:rPr kumimoji="0" lang="de-DE" sz="900" b="0" i="0" u="none" strike="noStrike" kern="1200" cap="none" spc="0" normalizeH="0" baseline="0" noProof="0" err="1">
                <a:ln>
                  <a:noFill/>
                </a:ln>
                <a:solidFill>
                  <a:prstClr val="black"/>
                </a:solidFill>
                <a:effectLst/>
                <a:uLnTx/>
                <a:uFillTx/>
                <a:latin typeface="Calibri"/>
                <a:ea typeface="+mn-ea"/>
                <a:cs typeface="+mn-cs"/>
              </a:rPr>
              <a:t>Tasking</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feld 27">
            <a:extLst>
              <a:ext uri="{FF2B5EF4-FFF2-40B4-BE49-F238E27FC236}">
                <a16:creationId xmlns:a16="http://schemas.microsoft.com/office/drawing/2014/main" id="{1AD1FBF5-4138-C5D6-A5BC-68A778F72DDA}"/>
              </a:ext>
            </a:extLst>
          </p:cNvPr>
          <p:cNvSpPr txBox="1"/>
          <p:nvPr/>
        </p:nvSpPr>
        <p:spPr>
          <a:xfrm>
            <a:off x="1204989" y="2733768"/>
            <a:ext cx="2688473" cy="369332"/>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rPr>
              <a:t>Performance-based Factors: </a:t>
            </a:r>
            <a:endParaRPr kumimoji="0" lang="de-DE"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rPr>
              <a:t>response strategies &amp; reward sensitivity</a:t>
            </a: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0" name="Grafik 29">
            <a:extLst>
              <a:ext uri="{FF2B5EF4-FFF2-40B4-BE49-F238E27FC236}">
                <a16:creationId xmlns:a16="http://schemas.microsoft.com/office/drawing/2014/main" id="{9466CD39-D772-8426-966B-9B528BE36ADF}"/>
              </a:ext>
            </a:extLst>
          </p:cNvPr>
          <p:cNvPicPr>
            <a:picLocks noChangeAspect="1"/>
          </p:cNvPicPr>
          <p:nvPr/>
        </p:nvPicPr>
        <p:blipFill rotWithShape="1">
          <a:blip r:embed="rId5"/>
          <a:srcRect l="115" r="115"/>
          <a:stretch/>
        </p:blipFill>
        <p:spPr>
          <a:xfrm>
            <a:off x="915969" y="3880346"/>
            <a:ext cx="846972" cy="671651"/>
          </a:xfrm>
          <a:prstGeom prst="rect">
            <a:avLst/>
          </a:prstGeom>
          <a:noFill/>
          <a:ln w="9525" cap="flat" cmpd="sng" algn="ctr">
            <a:noFill/>
            <a:prstDash val="solid"/>
            <a:round/>
            <a:headEnd type="none" w="med" len="med"/>
            <a:tailEnd type="none" w="med" len="med"/>
          </a:ln>
        </p:spPr>
      </p:pic>
      <p:sp>
        <p:nvSpPr>
          <p:cNvPr id="32" name="Textfeld 31">
            <a:extLst>
              <a:ext uri="{FF2B5EF4-FFF2-40B4-BE49-F238E27FC236}">
                <a16:creationId xmlns:a16="http://schemas.microsoft.com/office/drawing/2014/main" id="{AF8340A6-36C8-4838-892B-480A0665C2F4}"/>
              </a:ext>
            </a:extLst>
          </p:cNvPr>
          <p:cNvSpPr txBox="1"/>
          <p:nvPr/>
        </p:nvSpPr>
        <p:spPr>
          <a:xfrm>
            <a:off x="1203268" y="3270371"/>
            <a:ext cx="521146" cy="187424"/>
          </a:xfrm>
          <a:prstGeom prst="rect">
            <a:avLst/>
          </a:prstGeom>
          <a:noFill/>
          <a:ln w="12700">
            <a:noFill/>
          </a:ln>
        </p:spPr>
        <p:txBody>
          <a:bodyPr wrap="square" lIns="91440" tIns="27000" rIns="91440" bIns="27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prstClr val="black"/>
                </a:solidFill>
                <a:effectLst/>
                <a:uLnTx/>
                <a:uFillTx/>
                <a:latin typeface="Calibri"/>
                <a:ea typeface="+mn-ea"/>
                <a:cs typeface="+mn-cs"/>
              </a:rPr>
              <a:t>Global</a:t>
            </a:r>
            <a:endParaRPr kumimoji="0" lang="en-US" sz="900" b="0" i="0" u="none" strike="noStrike" kern="1200" cap="none" spc="0" normalizeH="0" baseline="0" noProof="0" dirty="0">
              <a:ln>
                <a:noFill/>
              </a:ln>
              <a:solidFill>
                <a:prstClr val="black"/>
              </a:solidFill>
              <a:effectLst/>
              <a:uLnTx/>
              <a:uFillTx/>
              <a:latin typeface="Calibri"/>
              <a:ea typeface="+mn-ea"/>
              <a:cs typeface="+mn-cs"/>
            </a:endParaRPr>
          </a:p>
        </p:txBody>
      </p:sp>
      <p:sp>
        <p:nvSpPr>
          <p:cNvPr id="40" name="Pfeil: nach rechts 39">
            <a:extLst>
              <a:ext uri="{FF2B5EF4-FFF2-40B4-BE49-F238E27FC236}">
                <a16:creationId xmlns:a16="http://schemas.microsoft.com/office/drawing/2014/main" id="{A6C32834-8675-0190-683E-DE28D58EBFE1}"/>
              </a:ext>
            </a:extLst>
          </p:cNvPr>
          <p:cNvSpPr/>
          <p:nvPr/>
        </p:nvSpPr>
        <p:spPr>
          <a:xfrm>
            <a:off x="3815916" y="3616774"/>
            <a:ext cx="302857" cy="149993"/>
          </a:xfrm>
          <a:prstGeom prst="rightArrow">
            <a:avLst/>
          </a:prstGeom>
          <a:solidFill>
            <a:srgbClr val="CCA326"/>
          </a:solidFill>
          <a:ln>
            <a:solidFill>
              <a:srgbClr val="9D7B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42" name="Textfeld 41">
            <a:extLst>
              <a:ext uri="{FF2B5EF4-FFF2-40B4-BE49-F238E27FC236}">
                <a16:creationId xmlns:a16="http://schemas.microsoft.com/office/drawing/2014/main" id="{EB2913DA-9932-EA1A-5CDB-6AC273447146}"/>
              </a:ext>
            </a:extLst>
          </p:cNvPr>
          <p:cNvSpPr txBox="1"/>
          <p:nvPr/>
        </p:nvSpPr>
        <p:spPr>
          <a:xfrm>
            <a:off x="4139952" y="2802251"/>
            <a:ext cx="2988020" cy="369332"/>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Behavioral Outcomes: RTs, ERs, Switch Rates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a:ea typeface="+mn-ea"/>
                <a:cs typeface="Arial"/>
              </a:rPr>
              <a:t>EEG Outcomes: Feedback-related negativity</a:t>
            </a:r>
          </a:p>
        </p:txBody>
      </p:sp>
      <p:pic>
        <p:nvPicPr>
          <p:cNvPr id="44" name="Grafik 43" descr="Ein Bild, das Diagramm, Farbigkeit, Kreis, Reihe enthält.&#10;&#10;KI-generierte Inhalte können fehlerhaft sein.">
            <a:extLst>
              <a:ext uri="{FF2B5EF4-FFF2-40B4-BE49-F238E27FC236}">
                <a16:creationId xmlns:a16="http://schemas.microsoft.com/office/drawing/2014/main" id="{6064E933-93EF-017E-0BF2-197D4E4916D6}"/>
              </a:ext>
            </a:extLst>
          </p:cNvPr>
          <p:cNvPicPr>
            <a:picLocks noChangeAspect="1"/>
          </p:cNvPicPr>
          <p:nvPr/>
        </p:nvPicPr>
        <p:blipFill>
          <a:blip r:embed="rId6"/>
          <a:srcRect/>
          <a:stretch/>
        </p:blipFill>
        <p:spPr>
          <a:xfrm>
            <a:off x="4142804" y="3287642"/>
            <a:ext cx="1102406" cy="1030164"/>
          </a:xfrm>
          <a:prstGeom prst="rect">
            <a:avLst/>
          </a:prstGeom>
        </p:spPr>
      </p:pic>
      <p:grpSp>
        <p:nvGrpSpPr>
          <p:cNvPr id="89" name="Gruppieren 88">
            <a:extLst>
              <a:ext uri="{FF2B5EF4-FFF2-40B4-BE49-F238E27FC236}">
                <a16:creationId xmlns:a16="http://schemas.microsoft.com/office/drawing/2014/main" id="{8B0F3A1B-CB0A-E53E-C3FB-3C937610AD9A}"/>
              </a:ext>
            </a:extLst>
          </p:cNvPr>
          <p:cNvGrpSpPr/>
          <p:nvPr/>
        </p:nvGrpSpPr>
        <p:grpSpPr>
          <a:xfrm>
            <a:off x="5243006" y="3205184"/>
            <a:ext cx="1801798" cy="1351333"/>
            <a:chOff x="8947315" y="4242162"/>
            <a:chExt cx="2621293" cy="2004028"/>
          </a:xfrm>
        </p:grpSpPr>
        <p:sp>
          <p:nvSpPr>
            <p:cNvPr id="86" name="Textfeld 85">
              <a:extLst>
                <a:ext uri="{FF2B5EF4-FFF2-40B4-BE49-F238E27FC236}">
                  <a16:creationId xmlns:a16="http://schemas.microsoft.com/office/drawing/2014/main" id="{124AC46D-FDEC-52F7-7F87-D29427A2D3BA}"/>
                </a:ext>
              </a:extLst>
            </p:cNvPr>
            <p:cNvSpPr txBox="1"/>
            <p:nvPr/>
          </p:nvSpPr>
          <p:spPr>
            <a:xfrm>
              <a:off x="10166625" y="5938098"/>
              <a:ext cx="679102" cy="30809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Blocks</a:t>
              </a:r>
              <a:endParaRPr kumimoji="0" lang="en-US"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7" name="Textfeld 86">
              <a:extLst>
                <a:ext uri="{FF2B5EF4-FFF2-40B4-BE49-F238E27FC236}">
                  <a16:creationId xmlns:a16="http://schemas.microsoft.com/office/drawing/2014/main" id="{288F1B65-B363-B6B8-D136-CF3B2FD3FA32}"/>
                </a:ext>
              </a:extLst>
            </p:cNvPr>
            <p:cNvSpPr txBox="1"/>
            <p:nvPr/>
          </p:nvSpPr>
          <p:spPr>
            <a:xfrm rot="16200000">
              <a:off x="8597783" y="4857455"/>
              <a:ext cx="1001301" cy="30223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Error Rates</a:t>
              </a:r>
              <a:endParaRPr kumimoji="0" lang="en-US"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88" name="Grafik 87">
              <a:extLst>
                <a:ext uri="{FF2B5EF4-FFF2-40B4-BE49-F238E27FC236}">
                  <a16:creationId xmlns:a16="http://schemas.microsoft.com/office/drawing/2014/main" id="{426DDB5A-98D4-1894-AB95-028558843484}"/>
                </a:ext>
              </a:extLst>
            </p:cNvPr>
            <p:cNvPicPr>
              <a:picLocks noChangeAspect="1"/>
            </p:cNvPicPr>
            <p:nvPr/>
          </p:nvPicPr>
          <p:blipFill rotWithShape="1">
            <a:blip r:embed="rId7"/>
            <a:srcRect l="8324" t="2966" b="9289"/>
            <a:stretch/>
          </p:blipFill>
          <p:spPr>
            <a:xfrm>
              <a:off x="9221544" y="4242162"/>
              <a:ext cx="2347064" cy="1759836"/>
            </a:xfrm>
            <a:prstGeom prst="rect">
              <a:avLst/>
            </a:prstGeom>
          </p:spPr>
        </p:pic>
      </p:grpSp>
      <p:cxnSp>
        <p:nvCxnSpPr>
          <p:cNvPr id="93" name="Gerader Verbinder 92">
            <a:extLst>
              <a:ext uri="{FF2B5EF4-FFF2-40B4-BE49-F238E27FC236}">
                <a16:creationId xmlns:a16="http://schemas.microsoft.com/office/drawing/2014/main" id="{F80158F9-CECD-0CC3-AEDC-D1D495EF5E24}"/>
              </a:ext>
            </a:extLst>
          </p:cNvPr>
          <p:cNvCxnSpPr>
            <a:cxnSpLocks/>
          </p:cNvCxnSpPr>
          <p:nvPr/>
        </p:nvCxnSpPr>
        <p:spPr>
          <a:xfrm>
            <a:off x="7423448" y="3211813"/>
            <a:ext cx="0" cy="909638"/>
          </a:xfrm>
          <a:prstGeom prst="line">
            <a:avLst/>
          </a:prstGeom>
          <a:noFill/>
          <a:ln w="28575" cap="flat" cmpd="sng" algn="ctr">
            <a:solidFill>
              <a:schemeClr val="tx1"/>
            </a:solidFill>
            <a:prstDash val="solid"/>
            <a:miter lim="800000"/>
          </a:ln>
          <a:effectLst/>
        </p:spPr>
      </p:cxnSp>
      <p:sp>
        <p:nvSpPr>
          <p:cNvPr id="95" name="Textfeld 94">
            <a:extLst>
              <a:ext uri="{FF2B5EF4-FFF2-40B4-BE49-F238E27FC236}">
                <a16:creationId xmlns:a16="http://schemas.microsoft.com/office/drawing/2014/main" id="{8E631063-7BD1-0D79-9B44-BF7FB4F51CBC}"/>
              </a:ext>
            </a:extLst>
          </p:cNvPr>
          <p:cNvSpPr txBox="1"/>
          <p:nvPr/>
        </p:nvSpPr>
        <p:spPr>
          <a:xfrm>
            <a:off x="7119960" y="3140626"/>
            <a:ext cx="307777" cy="1042991"/>
          </a:xfrm>
          <a:prstGeom prst="rect">
            <a:avLst/>
          </a:prstGeom>
          <a:noFill/>
        </p:spPr>
        <p:txBody>
          <a:bodyPr vert="vert270"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Switch Rates / FRN</a:t>
            </a:r>
          </a:p>
        </p:txBody>
      </p:sp>
      <p:cxnSp>
        <p:nvCxnSpPr>
          <p:cNvPr id="97" name="Gerader Verbinder 96">
            <a:extLst>
              <a:ext uri="{FF2B5EF4-FFF2-40B4-BE49-F238E27FC236}">
                <a16:creationId xmlns:a16="http://schemas.microsoft.com/office/drawing/2014/main" id="{6728927F-2AF0-5C0B-3413-92EF23AC4776}"/>
              </a:ext>
            </a:extLst>
          </p:cNvPr>
          <p:cNvCxnSpPr>
            <a:cxnSpLocks/>
          </p:cNvCxnSpPr>
          <p:nvPr/>
        </p:nvCxnSpPr>
        <p:spPr>
          <a:xfrm flipH="1">
            <a:off x="7423451" y="4121450"/>
            <a:ext cx="1080000" cy="0"/>
          </a:xfrm>
          <a:prstGeom prst="line">
            <a:avLst/>
          </a:prstGeom>
          <a:noFill/>
          <a:ln w="28575" cap="flat" cmpd="sng" algn="ctr">
            <a:solidFill>
              <a:schemeClr val="tx1"/>
            </a:solidFill>
            <a:prstDash val="solid"/>
            <a:miter lim="800000"/>
          </a:ln>
          <a:effectLst/>
        </p:spPr>
      </p:cxnSp>
      <p:sp>
        <p:nvSpPr>
          <p:cNvPr id="99" name="Rechteck 98">
            <a:extLst>
              <a:ext uri="{FF2B5EF4-FFF2-40B4-BE49-F238E27FC236}">
                <a16:creationId xmlns:a16="http://schemas.microsoft.com/office/drawing/2014/main" id="{9B735013-8E0E-98A6-4042-FD19723F4EAF}"/>
              </a:ext>
            </a:extLst>
          </p:cNvPr>
          <p:cNvSpPr/>
          <p:nvPr/>
        </p:nvSpPr>
        <p:spPr>
          <a:xfrm>
            <a:off x="8234310" y="3599682"/>
            <a:ext cx="72000" cy="515878"/>
          </a:xfrm>
          <a:prstGeom prst="rect">
            <a:avLst/>
          </a:prstGeom>
          <a:solidFill>
            <a:srgbClr val="808080"/>
          </a:solidFill>
          <a:ln w="12700" cap="flat" cmpd="sng" algn="ctr">
            <a:solidFill>
              <a:schemeClr val="tx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dirty="0">
              <a:ln>
                <a:noFill/>
              </a:ln>
              <a:solidFill>
                <a:prstClr val="black"/>
              </a:solidFill>
              <a:effectLst/>
              <a:uLnTx/>
              <a:uFillTx/>
              <a:latin typeface="Calibri"/>
              <a:ea typeface="+mn-ea"/>
              <a:cs typeface="Arial"/>
              <a:sym typeface="Arial"/>
            </a:endParaRPr>
          </a:p>
        </p:txBody>
      </p:sp>
      <p:sp>
        <p:nvSpPr>
          <p:cNvPr id="101" name="Rechteck 100">
            <a:extLst>
              <a:ext uri="{FF2B5EF4-FFF2-40B4-BE49-F238E27FC236}">
                <a16:creationId xmlns:a16="http://schemas.microsoft.com/office/drawing/2014/main" id="{347813F9-9D25-A774-C51B-6328F455BAFA}"/>
              </a:ext>
            </a:extLst>
          </p:cNvPr>
          <p:cNvSpPr/>
          <p:nvPr/>
        </p:nvSpPr>
        <p:spPr>
          <a:xfrm>
            <a:off x="7599859" y="3954106"/>
            <a:ext cx="72000" cy="161454"/>
          </a:xfrm>
          <a:prstGeom prst="rect">
            <a:avLst/>
          </a:prstGeom>
          <a:solidFill>
            <a:srgbClr val="2E75B6"/>
          </a:solidFill>
          <a:ln w="12700" cap="flat" cmpd="sng" algn="ctr">
            <a:solidFill>
              <a:schemeClr val="tx1"/>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black"/>
              </a:solidFill>
              <a:effectLst/>
              <a:uLnTx/>
              <a:uFillTx/>
              <a:latin typeface="Calibri"/>
              <a:ea typeface="+mn-ea"/>
              <a:cs typeface="Arial"/>
              <a:sym typeface="Arial"/>
            </a:endParaRPr>
          </a:p>
        </p:txBody>
      </p:sp>
      <p:sp>
        <p:nvSpPr>
          <p:cNvPr id="103" name="Textfeld 102">
            <a:extLst>
              <a:ext uri="{FF2B5EF4-FFF2-40B4-BE49-F238E27FC236}">
                <a16:creationId xmlns:a16="http://schemas.microsoft.com/office/drawing/2014/main" id="{3DB1A589-E8CD-903F-64AF-6D448B57ADB5}"/>
              </a:ext>
            </a:extLst>
          </p:cNvPr>
          <p:cNvSpPr txBox="1"/>
          <p:nvPr/>
        </p:nvSpPr>
        <p:spPr>
          <a:xfrm>
            <a:off x="8010719" y="4126351"/>
            <a:ext cx="640619" cy="4560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88"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Switcher, Response </a:t>
            </a:r>
            <a:r>
              <a:rPr kumimoji="0" lang="de-DE" sz="788"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grouper</a:t>
            </a:r>
            <a:endParaRPr kumimoji="0" lang="en-US" sz="788"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5" name="Textfeld 104">
            <a:extLst>
              <a:ext uri="{FF2B5EF4-FFF2-40B4-BE49-F238E27FC236}">
                <a16:creationId xmlns:a16="http://schemas.microsoft.com/office/drawing/2014/main" id="{27099FDB-BA79-6A18-AF43-54EFB8E108A0}"/>
              </a:ext>
            </a:extLst>
          </p:cNvPr>
          <p:cNvSpPr txBox="1"/>
          <p:nvPr/>
        </p:nvSpPr>
        <p:spPr>
          <a:xfrm>
            <a:off x="7474355" y="4126351"/>
            <a:ext cx="611730" cy="2135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88"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Blocker</a:t>
            </a:r>
            <a:endParaRPr kumimoji="0" lang="en-US" sz="788"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9" name="Textfeld 108">
            <a:extLst>
              <a:ext uri="{FF2B5EF4-FFF2-40B4-BE49-F238E27FC236}">
                <a16:creationId xmlns:a16="http://schemas.microsoft.com/office/drawing/2014/main" id="{54E07DFE-37F2-C185-18DF-04E96364509F}"/>
              </a:ext>
            </a:extLst>
          </p:cNvPr>
          <p:cNvSpPr txBox="1"/>
          <p:nvPr/>
        </p:nvSpPr>
        <p:spPr>
          <a:xfrm>
            <a:off x="7499982" y="2858881"/>
            <a:ext cx="847898" cy="2308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Expectations</a:t>
            </a:r>
          </a:p>
        </p:txBody>
      </p:sp>
      <p:pic>
        <p:nvPicPr>
          <p:cNvPr id="13" name="Grafik 12">
            <a:extLst>
              <a:ext uri="{FF2B5EF4-FFF2-40B4-BE49-F238E27FC236}">
                <a16:creationId xmlns:a16="http://schemas.microsoft.com/office/drawing/2014/main" id="{79D46BFB-146C-171E-247C-FA9BD4B405DB}"/>
              </a:ext>
            </a:extLst>
          </p:cNvPr>
          <p:cNvPicPr>
            <a:picLocks noChangeAspect="1"/>
          </p:cNvPicPr>
          <p:nvPr/>
        </p:nvPicPr>
        <p:blipFill rotWithShape="1">
          <a:blip r:embed="rId8"/>
          <a:srcRect r="8346" b="49643"/>
          <a:stretch/>
        </p:blipFill>
        <p:spPr>
          <a:xfrm>
            <a:off x="2978983" y="4351481"/>
            <a:ext cx="323932" cy="199214"/>
          </a:xfrm>
          <a:prstGeom prst="rect">
            <a:avLst/>
          </a:prstGeom>
        </p:spPr>
      </p:pic>
      <p:pic>
        <p:nvPicPr>
          <p:cNvPr id="17" name="Grafik 16">
            <a:extLst>
              <a:ext uri="{FF2B5EF4-FFF2-40B4-BE49-F238E27FC236}">
                <a16:creationId xmlns:a16="http://schemas.microsoft.com/office/drawing/2014/main" id="{393162E1-06B4-ABC8-1D99-BE4C2A1ECB69}"/>
              </a:ext>
            </a:extLst>
          </p:cNvPr>
          <p:cNvPicPr>
            <a:picLocks noChangeAspect="1"/>
          </p:cNvPicPr>
          <p:nvPr/>
        </p:nvPicPr>
        <p:blipFill rotWithShape="1">
          <a:blip r:embed="rId8"/>
          <a:srcRect l="11561" t="51068" b="1988"/>
          <a:stretch/>
        </p:blipFill>
        <p:spPr>
          <a:xfrm>
            <a:off x="3335662" y="4353796"/>
            <a:ext cx="335291" cy="199214"/>
          </a:xfrm>
          <a:prstGeom prst="rect">
            <a:avLst/>
          </a:prstGeom>
        </p:spPr>
      </p:pic>
      <p:sp>
        <p:nvSpPr>
          <p:cNvPr id="20" name="Rechteck: abgerundete Ecken 19">
            <a:extLst>
              <a:ext uri="{FF2B5EF4-FFF2-40B4-BE49-F238E27FC236}">
                <a16:creationId xmlns:a16="http://schemas.microsoft.com/office/drawing/2014/main" id="{BB83078F-D8E3-A6EC-1B6F-7CC4EE5F4B56}"/>
              </a:ext>
            </a:extLst>
          </p:cNvPr>
          <p:cNvSpPr/>
          <p:nvPr/>
        </p:nvSpPr>
        <p:spPr>
          <a:xfrm>
            <a:off x="2941656" y="4078562"/>
            <a:ext cx="770197" cy="545416"/>
          </a:xfrm>
          <a:prstGeom prst="roundRect">
            <a:avLst>
              <a:gd name="adj" fmla="val 0"/>
            </a:avLst>
          </a:prstGeom>
          <a:noFill/>
          <a:ln w="12700">
            <a:solidFill>
              <a:srgbClr val="CCA326"/>
            </a:solid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Arial"/>
            </a:endParaRPr>
          </a:p>
        </p:txBody>
      </p:sp>
      <p:sp>
        <p:nvSpPr>
          <p:cNvPr id="25" name="Textfeld 24">
            <a:extLst>
              <a:ext uri="{FF2B5EF4-FFF2-40B4-BE49-F238E27FC236}">
                <a16:creationId xmlns:a16="http://schemas.microsoft.com/office/drawing/2014/main" id="{5946888F-087A-CD34-CB02-587E0DB3D6C5}"/>
              </a:ext>
            </a:extLst>
          </p:cNvPr>
          <p:cNvSpPr txBox="1"/>
          <p:nvPr/>
        </p:nvSpPr>
        <p:spPr>
          <a:xfrm>
            <a:off x="2969894" y="4092798"/>
            <a:ext cx="692142" cy="242153"/>
          </a:xfrm>
          <a:prstGeom prst="rect">
            <a:avLst/>
          </a:prstGeom>
          <a:noFill/>
          <a:ln w="12700">
            <a:noFill/>
          </a:ln>
        </p:spPr>
        <p:txBody>
          <a:bodyPr wrap="square" lIns="91440" tIns="27000" rIns="91440" bIns="27000" rtlCol="0" anchor="t">
            <a:noAutofit/>
          </a:bodyPr>
          <a:lstStyle>
            <a:defPPr>
              <a:defRPr lang="de-DE"/>
            </a:defPPr>
            <a:lvl1pPr algn="ctr">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err="1">
                <a:ln>
                  <a:noFill/>
                </a:ln>
                <a:solidFill>
                  <a:prstClr val="black"/>
                </a:solidFill>
                <a:effectLst/>
                <a:uLnTx/>
                <a:uFillTx/>
                <a:latin typeface="Arial"/>
                <a:ea typeface="+mn-ea"/>
                <a:cs typeface="Arial"/>
              </a:rPr>
              <a:t>Probabilistic</a:t>
            </a:r>
            <a:r>
              <a:rPr kumimoji="0" lang="de-DE" sz="700" b="0" i="0" u="none" strike="noStrike" kern="1200" cap="none" spc="0" normalizeH="0" baseline="0" noProof="0" dirty="0">
                <a:ln>
                  <a:noFill/>
                </a:ln>
                <a:solidFill>
                  <a:prstClr val="black"/>
                </a:solidFill>
                <a:effectLst/>
                <a:uLnTx/>
                <a:uFillTx/>
                <a:latin typeface="Arial"/>
                <a:ea typeface="+mn-ea"/>
                <a:cs typeface="Arial"/>
              </a:rPr>
              <a:t> </a:t>
            </a:r>
            <a:r>
              <a:rPr kumimoji="0" lang="de-DE" sz="700" b="0" i="0" u="none" strike="noStrike" kern="1200" cap="none" spc="0" normalizeH="0" baseline="0" noProof="0" dirty="0" err="1">
                <a:ln>
                  <a:noFill/>
                </a:ln>
                <a:solidFill>
                  <a:prstClr val="black"/>
                </a:solidFill>
                <a:effectLst/>
                <a:uLnTx/>
                <a:uFillTx/>
                <a:latin typeface="Arial"/>
                <a:ea typeface="+mn-ea"/>
                <a:cs typeface="Arial"/>
              </a:rPr>
              <a:t>learning</a:t>
            </a:r>
            <a:endParaRPr kumimoji="0" lang="de-DE" sz="700" b="0" i="0" u="none" strike="noStrike" kern="1200" cap="none" spc="0" normalizeH="0" baseline="0" noProof="0" dirty="0">
              <a:ln>
                <a:noFill/>
              </a:ln>
              <a:solidFill>
                <a:prstClr val="black"/>
              </a:solidFill>
              <a:effectLst/>
              <a:uLnTx/>
              <a:uFillTx/>
              <a:latin typeface="Arial"/>
              <a:ea typeface="+mn-ea"/>
              <a:cs typeface="Arial"/>
            </a:endParaRPr>
          </a:p>
        </p:txBody>
      </p:sp>
      <p:sp>
        <p:nvSpPr>
          <p:cNvPr id="29" name="Textfeld 28">
            <a:extLst>
              <a:ext uri="{FF2B5EF4-FFF2-40B4-BE49-F238E27FC236}">
                <a16:creationId xmlns:a16="http://schemas.microsoft.com/office/drawing/2014/main" id="{8903689E-1D0D-A309-429E-9792CF066E85}"/>
              </a:ext>
            </a:extLst>
          </p:cNvPr>
          <p:cNvSpPr txBox="1"/>
          <p:nvPr/>
        </p:nvSpPr>
        <p:spPr>
          <a:xfrm>
            <a:off x="4348074" y="4025837"/>
            <a:ext cx="474008"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1" i="0" u="none" strike="noStrike" kern="1200" cap="none" spc="0" normalizeH="0" baseline="0" noProof="0" dirty="0" err="1">
                <a:ln>
                  <a:noFill/>
                </a:ln>
                <a:solidFill>
                  <a:prstClr val="black"/>
                </a:solidFill>
                <a:effectLst/>
                <a:uLnTx/>
                <a:uFillTx/>
                <a:latin typeface="Arial Narrow" panose="020B0606020202030204" pitchFamily="34" charset="0"/>
                <a:ea typeface="Calibri"/>
                <a:cs typeface="Arial" panose="020B0604020202020204" pitchFamily="34" charset="0"/>
              </a:rPr>
              <a:t>RewP</a:t>
            </a:r>
            <a:endParaRPr kumimoji="0" lang="de-DE" sz="900" b="1" i="0" u="none" strike="noStrike" kern="1200" cap="none" spc="0" normalizeH="0" baseline="0" noProof="0" dirty="0">
              <a:ln>
                <a:noFill/>
              </a:ln>
              <a:solidFill>
                <a:prstClr val="black"/>
              </a:solidFill>
              <a:effectLst/>
              <a:uLnTx/>
              <a:uFillTx/>
              <a:latin typeface="Arial Narrow" panose="020B0606020202030204" pitchFamily="34" charset="0"/>
              <a:ea typeface="Calibri"/>
              <a:cs typeface="Arial" panose="020B0604020202020204" pitchFamily="34" charset="0"/>
            </a:endParaRPr>
          </a:p>
        </p:txBody>
      </p:sp>
      <p:pic>
        <p:nvPicPr>
          <p:cNvPr id="21" name="Inhaltsplatzhalter 5">
            <a:extLst>
              <a:ext uri="{FF2B5EF4-FFF2-40B4-BE49-F238E27FC236}">
                <a16:creationId xmlns:a16="http://schemas.microsoft.com/office/drawing/2014/main" id="{0851F4FF-6121-35DE-3FCF-D319A6C549B7}"/>
              </a:ext>
            </a:extLst>
          </p:cNvPr>
          <p:cNvPicPr>
            <a:picLocks noGrp="1" noChangeAspect="1"/>
          </p:cNvPicPr>
          <p:nvPr>
            <p:ph idx="1"/>
          </p:nvPr>
        </p:nvPicPr>
        <p:blipFill rotWithShape="1">
          <a:blip r:embed="rId9">
            <a:extLst>
              <a:ext uri="{28A0092B-C50C-407E-A947-70E740481C1C}">
                <a14:useLocalDpi xmlns:a14="http://schemas.microsoft.com/office/drawing/2010/main" val="0"/>
              </a:ext>
            </a:extLst>
          </a:blip>
          <a:srcRect t="66" b="66"/>
          <a:stretch/>
        </p:blipFill>
        <p:spPr>
          <a:xfrm>
            <a:off x="1283308" y="3424744"/>
            <a:ext cx="1144680" cy="648000"/>
          </a:xfrm>
        </p:spPr>
      </p:pic>
      <p:pic>
        <p:nvPicPr>
          <p:cNvPr id="23" name="Inhaltsplatzhalter 5">
            <a:extLst>
              <a:ext uri="{FF2B5EF4-FFF2-40B4-BE49-F238E27FC236}">
                <a16:creationId xmlns:a16="http://schemas.microsoft.com/office/drawing/2014/main" id="{FC66A410-0327-0926-F3AB-D26D1DAF69BA}"/>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t="805" b="805"/>
          <a:stretch/>
        </p:blipFill>
        <p:spPr>
          <a:xfrm>
            <a:off x="2483725" y="3424744"/>
            <a:ext cx="1136410" cy="648000"/>
          </a:xfrm>
          <a:prstGeom prst="rect">
            <a:avLst/>
          </a:prstGeom>
        </p:spPr>
      </p:pic>
      <p:sp>
        <p:nvSpPr>
          <p:cNvPr id="34" name="Textfeld 33">
            <a:extLst>
              <a:ext uri="{FF2B5EF4-FFF2-40B4-BE49-F238E27FC236}">
                <a16:creationId xmlns:a16="http://schemas.microsoft.com/office/drawing/2014/main" id="{ACF5F10B-9F52-0B9D-0DAD-A0A6D0BD8FE9}"/>
              </a:ext>
            </a:extLst>
          </p:cNvPr>
          <p:cNvSpPr txBox="1"/>
          <p:nvPr/>
        </p:nvSpPr>
        <p:spPr>
          <a:xfrm>
            <a:off x="2399554" y="3266634"/>
            <a:ext cx="765078" cy="187424"/>
          </a:xfrm>
          <a:prstGeom prst="rect">
            <a:avLst/>
          </a:prstGeom>
          <a:noFill/>
          <a:ln w="12700">
            <a:noFill/>
          </a:ln>
        </p:spPr>
        <p:txBody>
          <a:bodyPr wrap="square" lIns="91440" tIns="27000" rIns="91440" bIns="27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prstClr val="black"/>
                </a:solidFill>
                <a:effectLst/>
                <a:uLnTx/>
                <a:uFillTx/>
                <a:latin typeface="Calibri"/>
                <a:ea typeface="+mn-ea"/>
                <a:cs typeface="+mn-cs"/>
              </a:rPr>
              <a:t>High vs. Low</a:t>
            </a:r>
            <a:endParaRPr kumimoji="0" lang="en-US" sz="900" b="0" i="0" u="none" strike="noStrike" kern="1200" cap="none" spc="0" normalizeH="0" baseline="0" noProof="0" dirty="0">
              <a:ln>
                <a:noFill/>
              </a:ln>
              <a:solidFill>
                <a:prstClr val="black"/>
              </a:solidFill>
              <a:effectLst/>
              <a:uLnTx/>
              <a:uFillTx/>
              <a:latin typeface="Calibri"/>
              <a:ea typeface="+mn-ea"/>
              <a:cs typeface="+mn-cs"/>
            </a:endParaRPr>
          </a:p>
        </p:txBody>
      </p:sp>
      <p:sp>
        <p:nvSpPr>
          <p:cNvPr id="49" name="Rechteck 48">
            <a:extLst>
              <a:ext uri="{FF2B5EF4-FFF2-40B4-BE49-F238E27FC236}">
                <a16:creationId xmlns:a16="http://schemas.microsoft.com/office/drawing/2014/main" id="{E3B7BC95-7ADE-4F5E-9A42-E599CAA97A94}"/>
              </a:ext>
            </a:extLst>
          </p:cNvPr>
          <p:cNvSpPr/>
          <p:nvPr/>
        </p:nvSpPr>
        <p:spPr>
          <a:xfrm>
            <a:off x="7703158" y="3935560"/>
            <a:ext cx="72000" cy="180000"/>
          </a:xfrm>
          <a:prstGeom prst="rect">
            <a:avLst/>
          </a:prstGeom>
          <a:solidFill>
            <a:srgbClr val="808080"/>
          </a:solidFill>
          <a:ln w="12700" cap="flat" cmpd="sng" algn="ctr">
            <a:solidFill>
              <a:schemeClr val="tx1"/>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black"/>
              </a:solidFill>
              <a:effectLst/>
              <a:uLnTx/>
              <a:uFillTx/>
              <a:latin typeface="Calibri"/>
              <a:ea typeface="+mn-ea"/>
              <a:cs typeface="Arial"/>
              <a:sym typeface="Arial"/>
            </a:endParaRPr>
          </a:p>
        </p:txBody>
      </p:sp>
      <p:sp>
        <p:nvSpPr>
          <p:cNvPr id="50" name="Rechteck 49">
            <a:extLst>
              <a:ext uri="{FF2B5EF4-FFF2-40B4-BE49-F238E27FC236}">
                <a16:creationId xmlns:a16="http://schemas.microsoft.com/office/drawing/2014/main" id="{E98A1AA6-1015-4E2F-B98D-C293EE682106}"/>
              </a:ext>
            </a:extLst>
          </p:cNvPr>
          <p:cNvSpPr/>
          <p:nvPr/>
        </p:nvSpPr>
        <p:spPr>
          <a:xfrm>
            <a:off x="8121731" y="3737717"/>
            <a:ext cx="72000" cy="377843"/>
          </a:xfrm>
          <a:prstGeom prst="rect">
            <a:avLst/>
          </a:prstGeom>
          <a:solidFill>
            <a:srgbClr val="2E75B6"/>
          </a:solidFill>
          <a:ln w="12700" cap="flat" cmpd="sng" algn="ctr">
            <a:solidFill>
              <a:schemeClr val="tx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dirty="0">
              <a:ln>
                <a:noFill/>
              </a:ln>
              <a:solidFill>
                <a:prstClr val="black"/>
              </a:solidFill>
              <a:effectLst/>
              <a:uLnTx/>
              <a:uFillTx/>
              <a:latin typeface="Calibri"/>
              <a:ea typeface="+mn-ea"/>
              <a:cs typeface="Arial"/>
              <a:sym typeface="Arial"/>
            </a:endParaRPr>
          </a:p>
        </p:txBody>
      </p:sp>
      <p:sp>
        <p:nvSpPr>
          <p:cNvPr id="51" name="Rechteck 50">
            <a:extLst>
              <a:ext uri="{FF2B5EF4-FFF2-40B4-BE49-F238E27FC236}">
                <a16:creationId xmlns:a16="http://schemas.microsoft.com/office/drawing/2014/main" id="{990DA4B0-202E-4B28-AF06-34B337FABD96}"/>
              </a:ext>
            </a:extLst>
          </p:cNvPr>
          <p:cNvSpPr/>
          <p:nvPr/>
        </p:nvSpPr>
        <p:spPr>
          <a:xfrm>
            <a:off x="8341618" y="3492575"/>
            <a:ext cx="72000" cy="622985"/>
          </a:xfrm>
          <a:prstGeom prst="rect">
            <a:avLst/>
          </a:prstGeom>
          <a:solidFill>
            <a:srgbClr val="C55A11"/>
          </a:solidFill>
          <a:ln w="12700" cap="flat" cmpd="sng" algn="ctr">
            <a:solidFill>
              <a:schemeClr val="tx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dirty="0">
              <a:ln>
                <a:noFill/>
              </a:ln>
              <a:solidFill>
                <a:prstClr val="black"/>
              </a:solidFill>
              <a:effectLst/>
              <a:uLnTx/>
              <a:uFillTx/>
              <a:latin typeface="Calibri"/>
              <a:ea typeface="+mn-ea"/>
              <a:cs typeface="Arial"/>
              <a:sym typeface="Arial"/>
            </a:endParaRPr>
          </a:p>
        </p:txBody>
      </p:sp>
      <p:sp>
        <p:nvSpPr>
          <p:cNvPr id="52" name="Rechteck 51">
            <a:extLst>
              <a:ext uri="{FF2B5EF4-FFF2-40B4-BE49-F238E27FC236}">
                <a16:creationId xmlns:a16="http://schemas.microsoft.com/office/drawing/2014/main" id="{153F8151-6C73-4A8B-A6A5-F365E448B504}"/>
              </a:ext>
            </a:extLst>
          </p:cNvPr>
          <p:cNvSpPr/>
          <p:nvPr/>
        </p:nvSpPr>
        <p:spPr>
          <a:xfrm>
            <a:off x="7810466" y="3918507"/>
            <a:ext cx="72000" cy="197053"/>
          </a:xfrm>
          <a:prstGeom prst="rect">
            <a:avLst/>
          </a:prstGeom>
          <a:solidFill>
            <a:srgbClr val="C55A11"/>
          </a:solidFill>
          <a:ln w="12700" cap="flat" cmpd="sng" algn="ctr">
            <a:solidFill>
              <a:schemeClr val="tx1"/>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black"/>
              </a:solidFill>
              <a:effectLst/>
              <a:uLnTx/>
              <a:uFillTx/>
              <a:latin typeface="Calibri"/>
              <a:ea typeface="+mn-ea"/>
              <a:cs typeface="Arial"/>
              <a:sym typeface="Arial"/>
            </a:endParaRPr>
          </a:p>
        </p:txBody>
      </p:sp>
      <p:sp>
        <p:nvSpPr>
          <p:cNvPr id="91" name="Freihandform: Form 90">
            <a:extLst>
              <a:ext uri="{FF2B5EF4-FFF2-40B4-BE49-F238E27FC236}">
                <a16:creationId xmlns:a16="http://schemas.microsoft.com/office/drawing/2014/main" id="{785A9DD3-022A-6035-C994-3E85A79F6D05}"/>
              </a:ext>
            </a:extLst>
          </p:cNvPr>
          <p:cNvSpPr/>
          <p:nvPr/>
        </p:nvSpPr>
        <p:spPr>
          <a:xfrm>
            <a:off x="8003597" y="3365079"/>
            <a:ext cx="537210" cy="598474"/>
          </a:xfrm>
          <a:custGeom>
            <a:avLst/>
            <a:gdLst>
              <a:gd name="connsiteX0" fmla="*/ 0 w 716280"/>
              <a:gd name="connsiteY0" fmla="*/ 514711 h 797965"/>
              <a:gd name="connsiteX1" fmla="*/ 55880 w 716280"/>
              <a:gd name="connsiteY1" fmla="*/ 616311 h 797965"/>
              <a:gd name="connsiteX2" fmla="*/ 101600 w 716280"/>
              <a:gd name="connsiteY2" fmla="*/ 611231 h 797965"/>
              <a:gd name="connsiteX3" fmla="*/ 167640 w 716280"/>
              <a:gd name="connsiteY3" fmla="*/ 540111 h 797965"/>
              <a:gd name="connsiteX4" fmla="*/ 223520 w 716280"/>
              <a:gd name="connsiteY4" fmla="*/ 595991 h 797965"/>
              <a:gd name="connsiteX5" fmla="*/ 335280 w 716280"/>
              <a:gd name="connsiteY5" fmla="*/ 52431 h 797965"/>
              <a:gd name="connsiteX6" fmla="*/ 350520 w 716280"/>
              <a:gd name="connsiteY6" fmla="*/ 21951 h 797965"/>
              <a:gd name="connsiteX7" fmla="*/ 396240 w 716280"/>
              <a:gd name="connsiteY7" fmla="*/ 57511 h 797965"/>
              <a:gd name="connsiteX8" fmla="*/ 406400 w 716280"/>
              <a:gd name="connsiteY8" fmla="*/ 67671 h 797965"/>
              <a:gd name="connsiteX9" fmla="*/ 533400 w 716280"/>
              <a:gd name="connsiteY9" fmla="*/ 783951 h 797965"/>
              <a:gd name="connsiteX10" fmla="*/ 716280 w 716280"/>
              <a:gd name="connsiteY10" fmla="*/ 560431 h 797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6280" h="797965">
                <a:moveTo>
                  <a:pt x="0" y="514711"/>
                </a:moveTo>
                <a:cubicBezTo>
                  <a:pt x="19473" y="557467"/>
                  <a:pt x="38947" y="600224"/>
                  <a:pt x="55880" y="616311"/>
                </a:cubicBezTo>
                <a:cubicBezTo>
                  <a:pt x="72813" y="632398"/>
                  <a:pt x="82973" y="623931"/>
                  <a:pt x="101600" y="611231"/>
                </a:cubicBezTo>
                <a:cubicBezTo>
                  <a:pt x="120227" y="598531"/>
                  <a:pt x="147320" y="542651"/>
                  <a:pt x="167640" y="540111"/>
                </a:cubicBezTo>
                <a:cubicBezTo>
                  <a:pt x="187960" y="537571"/>
                  <a:pt x="195580" y="677271"/>
                  <a:pt x="223520" y="595991"/>
                </a:cubicBezTo>
                <a:cubicBezTo>
                  <a:pt x="251460" y="514711"/>
                  <a:pt x="314113" y="148104"/>
                  <a:pt x="335280" y="52431"/>
                </a:cubicBezTo>
                <a:cubicBezTo>
                  <a:pt x="356447" y="-43242"/>
                  <a:pt x="340360" y="21104"/>
                  <a:pt x="350520" y="21951"/>
                </a:cubicBezTo>
                <a:cubicBezTo>
                  <a:pt x="360680" y="22798"/>
                  <a:pt x="396240" y="57511"/>
                  <a:pt x="396240" y="57511"/>
                </a:cubicBezTo>
                <a:cubicBezTo>
                  <a:pt x="405553" y="65131"/>
                  <a:pt x="383540" y="-53402"/>
                  <a:pt x="406400" y="67671"/>
                </a:cubicBezTo>
                <a:cubicBezTo>
                  <a:pt x="429260" y="188744"/>
                  <a:pt x="481753" y="701824"/>
                  <a:pt x="533400" y="783951"/>
                </a:cubicBezTo>
                <a:cubicBezTo>
                  <a:pt x="585047" y="866078"/>
                  <a:pt x="716280" y="560431"/>
                  <a:pt x="716280" y="560431"/>
                </a:cubicBezTo>
              </a:path>
            </a:pathLst>
          </a:custGeom>
          <a:noFill/>
          <a:ln>
            <a:solidFill>
              <a:srgbClr val="CCA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07" name="Freihandform: Form 106">
            <a:extLst>
              <a:ext uri="{FF2B5EF4-FFF2-40B4-BE49-F238E27FC236}">
                <a16:creationId xmlns:a16="http://schemas.microsoft.com/office/drawing/2014/main" id="{86CDD63C-5F24-36D2-B244-65987F444FFB}"/>
              </a:ext>
            </a:extLst>
          </p:cNvPr>
          <p:cNvSpPr/>
          <p:nvPr/>
        </p:nvSpPr>
        <p:spPr>
          <a:xfrm>
            <a:off x="7443527" y="3604937"/>
            <a:ext cx="464820" cy="358616"/>
          </a:xfrm>
          <a:custGeom>
            <a:avLst/>
            <a:gdLst>
              <a:gd name="connsiteX0" fmla="*/ 0 w 619760"/>
              <a:gd name="connsiteY0" fmla="*/ 242937 h 478154"/>
              <a:gd name="connsiteX1" fmla="*/ 81280 w 619760"/>
              <a:gd name="connsiteY1" fmla="*/ 339457 h 478154"/>
              <a:gd name="connsiteX2" fmla="*/ 172720 w 619760"/>
              <a:gd name="connsiteY2" fmla="*/ 268337 h 478154"/>
              <a:gd name="connsiteX3" fmla="*/ 228600 w 619760"/>
              <a:gd name="connsiteY3" fmla="*/ 298817 h 478154"/>
              <a:gd name="connsiteX4" fmla="*/ 355600 w 619760"/>
              <a:gd name="connsiteY4" fmla="*/ 34657 h 478154"/>
              <a:gd name="connsiteX5" fmla="*/ 391160 w 619760"/>
              <a:gd name="connsiteY5" fmla="*/ 4177 h 478154"/>
              <a:gd name="connsiteX6" fmla="*/ 396240 w 619760"/>
              <a:gd name="connsiteY6" fmla="*/ 44817 h 478154"/>
              <a:gd name="connsiteX7" fmla="*/ 421640 w 619760"/>
              <a:gd name="connsiteY7" fmla="*/ 44817 h 478154"/>
              <a:gd name="connsiteX8" fmla="*/ 513080 w 619760"/>
              <a:gd name="connsiteY8" fmla="*/ 466457 h 478154"/>
              <a:gd name="connsiteX9" fmla="*/ 619760 w 619760"/>
              <a:gd name="connsiteY9" fmla="*/ 319137 h 47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760" h="478154">
                <a:moveTo>
                  <a:pt x="0" y="242937"/>
                </a:moveTo>
                <a:cubicBezTo>
                  <a:pt x="26246" y="289080"/>
                  <a:pt x="52493" y="335224"/>
                  <a:pt x="81280" y="339457"/>
                </a:cubicBezTo>
                <a:cubicBezTo>
                  <a:pt x="110067" y="343690"/>
                  <a:pt x="148167" y="275110"/>
                  <a:pt x="172720" y="268337"/>
                </a:cubicBezTo>
                <a:cubicBezTo>
                  <a:pt x="197273" y="261564"/>
                  <a:pt x="198120" y="337764"/>
                  <a:pt x="228600" y="298817"/>
                </a:cubicBezTo>
                <a:cubicBezTo>
                  <a:pt x="259080" y="259870"/>
                  <a:pt x="328507" y="83764"/>
                  <a:pt x="355600" y="34657"/>
                </a:cubicBezTo>
                <a:cubicBezTo>
                  <a:pt x="382693" y="-14450"/>
                  <a:pt x="384387" y="2484"/>
                  <a:pt x="391160" y="4177"/>
                </a:cubicBezTo>
                <a:cubicBezTo>
                  <a:pt x="397933" y="5870"/>
                  <a:pt x="391160" y="38044"/>
                  <a:pt x="396240" y="44817"/>
                </a:cubicBezTo>
                <a:cubicBezTo>
                  <a:pt x="401320" y="51590"/>
                  <a:pt x="402167" y="-25456"/>
                  <a:pt x="421640" y="44817"/>
                </a:cubicBezTo>
                <a:cubicBezTo>
                  <a:pt x="441113" y="115090"/>
                  <a:pt x="480060" y="420737"/>
                  <a:pt x="513080" y="466457"/>
                </a:cubicBezTo>
                <a:cubicBezTo>
                  <a:pt x="546100" y="512177"/>
                  <a:pt x="582930" y="415657"/>
                  <a:pt x="619760" y="319137"/>
                </a:cubicBezTo>
              </a:path>
            </a:pathLst>
          </a:custGeom>
          <a:noFill/>
          <a:ln>
            <a:solidFill>
              <a:srgbClr val="9D7B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nvGrpSpPr>
          <p:cNvPr id="35" name="Gruppieren 34">
            <a:extLst>
              <a:ext uri="{FF2B5EF4-FFF2-40B4-BE49-F238E27FC236}">
                <a16:creationId xmlns:a16="http://schemas.microsoft.com/office/drawing/2014/main" id="{FFAD34E6-7972-4DBF-BEE7-5D591AF384C9}"/>
              </a:ext>
            </a:extLst>
          </p:cNvPr>
          <p:cNvGrpSpPr/>
          <p:nvPr/>
        </p:nvGrpSpPr>
        <p:grpSpPr>
          <a:xfrm>
            <a:off x="3159317" y="3329440"/>
            <a:ext cx="466140" cy="289307"/>
            <a:chOff x="3254084" y="3468656"/>
            <a:chExt cx="466140" cy="289307"/>
          </a:xfrm>
        </p:grpSpPr>
        <p:sp>
          <p:nvSpPr>
            <p:cNvPr id="3" name="Sprechblase: oval 2">
              <a:extLst>
                <a:ext uri="{FF2B5EF4-FFF2-40B4-BE49-F238E27FC236}">
                  <a16:creationId xmlns:a16="http://schemas.microsoft.com/office/drawing/2014/main" id="{8132C850-6345-46FA-BDAC-AC8AD7A9AC36}"/>
                </a:ext>
              </a:extLst>
            </p:cNvPr>
            <p:cNvSpPr/>
            <p:nvPr/>
          </p:nvSpPr>
          <p:spPr>
            <a:xfrm flipH="1">
              <a:off x="3254084" y="3468656"/>
              <a:ext cx="466140" cy="289307"/>
            </a:xfrm>
            <a:prstGeom prst="wedgeEllipseCallout">
              <a:avLst/>
            </a:prstGeom>
            <a:solidFill>
              <a:schemeClr val="bg1"/>
            </a:solidFill>
            <a:ln w="19050">
              <a:solidFill>
                <a:srgbClr val="B992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48" name="Grafik 47">
              <a:extLst>
                <a:ext uri="{FF2B5EF4-FFF2-40B4-BE49-F238E27FC236}">
                  <a16:creationId xmlns:a16="http://schemas.microsoft.com/office/drawing/2014/main" id="{A1C35516-5657-443B-8AB3-ED3315464B15}"/>
                </a:ext>
              </a:extLst>
            </p:cNvPr>
            <p:cNvPicPr>
              <a:picLocks noChangeAspect="1"/>
            </p:cNvPicPr>
            <p:nvPr/>
          </p:nvPicPr>
          <p:blipFill rotWithShape="1">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rcRect l="3825" r="3825"/>
            <a:stretch/>
          </p:blipFill>
          <p:spPr>
            <a:xfrm>
              <a:off x="3336600" y="3472326"/>
              <a:ext cx="270156" cy="279253"/>
            </a:xfrm>
            <a:prstGeom prst="ellipse">
              <a:avLst/>
            </a:prstGeom>
          </p:spPr>
        </p:pic>
      </p:grpSp>
      <p:pic>
        <p:nvPicPr>
          <p:cNvPr id="26" name="Grafik 25" descr="Ein Bild, das Text, Reihe enthält.&#10;&#10;KI-generierte Inhalte können fehlerhaft sein.">
            <a:extLst>
              <a:ext uri="{FF2B5EF4-FFF2-40B4-BE49-F238E27FC236}">
                <a16:creationId xmlns:a16="http://schemas.microsoft.com/office/drawing/2014/main" id="{0D4BCD1F-2802-5B58-1A6F-C523BE832275}"/>
              </a:ext>
            </a:extLst>
          </p:cNvPr>
          <p:cNvPicPr>
            <a:picLocks noChangeAspect="1"/>
          </p:cNvPicPr>
          <p:nvPr/>
        </p:nvPicPr>
        <p:blipFill rotWithShape="1">
          <a:blip r:embed="rId13" cstate="print">
            <a:extLst>
              <a:ext uri="{28A0092B-C50C-407E-A947-70E740481C1C}">
                <a14:useLocalDpi xmlns:a14="http://schemas.microsoft.com/office/drawing/2010/main" val="0"/>
              </a:ext>
            </a:extLst>
          </a:blip>
          <a:srcRect l="3602" t="24729" r="1076" b="12759"/>
          <a:stretch/>
        </p:blipFill>
        <p:spPr>
          <a:xfrm>
            <a:off x="1724642" y="4082309"/>
            <a:ext cx="1193087" cy="499868"/>
          </a:xfrm>
          <a:prstGeom prst="rect">
            <a:avLst/>
          </a:prstGeom>
        </p:spPr>
      </p:pic>
      <p:sp>
        <p:nvSpPr>
          <p:cNvPr id="53" name="Textfeld 52">
            <a:extLst>
              <a:ext uri="{FF2B5EF4-FFF2-40B4-BE49-F238E27FC236}">
                <a16:creationId xmlns:a16="http://schemas.microsoft.com/office/drawing/2014/main" id="{5A899F68-8961-49F1-8888-F1C7651E1ABD}"/>
              </a:ext>
            </a:extLst>
          </p:cNvPr>
          <p:cNvSpPr txBox="1"/>
          <p:nvPr/>
        </p:nvSpPr>
        <p:spPr>
          <a:xfrm>
            <a:off x="915969" y="4744860"/>
            <a:ext cx="7824607" cy="215444"/>
          </a:xfrm>
          <a:prstGeom prst="rect">
            <a:avLst/>
          </a:prstGeom>
          <a:noFill/>
        </p:spPr>
        <p:txBody>
          <a:bodyPr wrap="square" rtlCol="0">
            <a:spAutoFit/>
          </a:bodyPr>
          <a:lstStyle>
            <a:defPPr>
              <a:defRPr lang="de-DE"/>
            </a:defPPr>
            <a:lvl1pPr algn="ctr">
              <a:defRPr sz="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Braem</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2017; Dreisbach &amp; Fröber, 2019; Farmer et al., 2018; Fröber &amp; Dreisbach, 2016; Shen &amp; Chun, 2011; Ullsperger et al., 2024 </a:t>
            </a:r>
          </a:p>
        </p:txBody>
      </p:sp>
    </p:spTree>
    <p:extLst>
      <p:ext uri="{BB962C8B-B14F-4D97-AF65-F5344CB8AC3E}">
        <p14:creationId xmlns:p14="http://schemas.microsoft.com/office/powerpoint/2010/main" val="39247544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848FDE-0705-4B4F-A21F-7984AEB2201C}"/>
              </a:ext>
            </a:extLst>
          </p:cNvPr>
          <p:cNvSpPr>
            <a:spLocks noGrp="1"/>
          </p:cNvSpPr>
          <p:nvPr>
            <p:ph type="title"/>
          </p:nvPr>
        </p:nvSpPr>
        <p:spPr/>
        <p:txBody>
          <a:bodyPr/>
          <a:lstStyle/>
          <a:p>
            <a:r>
              <a:rPr lang="de-DE" sz="2100" b="0" dirty="0" err="1">
                <a:solidFill>
                  <a:prstClr val="black"/>
                </a:solidFill>
              </a:rPr>
              <a:t>Empirical</a:t>
            </a:r>
            <a:r>
              <a:rPr lang="de-DE" sz="2100" b="0" dirty="0">
                <a:solidFill>
                  <a:prstClr val="black"/>
                </a:solidFill>
              </a:rPr>
              <a:t> </a:t>
            </a:r>
            <a:r>
              <a:rPr lang="de-DE" sz="2100" b="0" dirty="0" err="1">
                <a:solidFill>
                  <a:prstClr val="black"/>
                </a:solidFill>
              </a:rPr>
              <a:t>Objective</a:t>
            </a:r>
            <a:r>
              <a:rPr lang="de-DE" sz="2100" b="0" dirty="0">
                <a:solidFill>
                  <a:prstClr val="black"/>
                </a:solidFill>
              </a:rPr>
              <a:t> 2: </a:t>
            </a:r>
            <a:r>
              <a:rPr lang="en-US" sz="2100" b="0" dirty="0">
                <a:solidFill>
                  <a:prstClr val="black"/>
                </a:solidFill>
              </a:rPr>
              <a:t>Relationship between </a:t>
            </a:r>
            <a:r>
              <a:rPr lang="en-US" sz="2100" b="0" dirty="0">
                <a:solidFill>
                  <a:srgbClr val="B99212"/>
                </a:solidFill>
              </a:rPr>
              <a:t>response strategies</a:t>
            </a:r>
            <a:r>
              <a:rPr lang="en-US" sz="2100" b="0" dirty="0">
                <a:solidFill>
                  <a:prstClr val="black"/>
                </a:solidFill>
              </a:rPr>
              <a:t>, </a:t>
            </a:r>
            <a:r>
              <a:rPr lang="en-US" sz="2100" b="0" dirty="0">
                <a:solidFill>
                  <a:srgbClr val="B99212"/>
                </a:solidFill>
              </a:rPr>
              <a:t>reward</a:t>
            </a:r>
            <a:r>
              <a:rPr lang="en-US" sz="2100" b="0" dirty="0">
                <a:solidFill>
                  <a:prstClr val="black"/>
                </a:solidFill>
              </a:rPr>
              <a:t>, and </a:t>
            </a:r>
            <a:r>
              <a:rPr lang="en-US" sz="2100" b="0" dirty="0">
                <a:solidFill>
                  <a:srgbClr val="B99212"/>
                </a:solidFill>
              </a:rPr>
              <a:t>reward sensitivity</a:t>
            </a:r>
            <a:endParaRPr lang="en-US" dirty="0"/>
          </a:p>
        </p:txBody>
      </p:sp>
      <p:sp>
        <p:nvSpPr>
          <p:cNvPr id="4" name="Foliennummernplatzhalter 3">
            <a:extLst>
              <a:ext uri="{FF2B5EF4-FFF2-40B4-BE49-F238E27FC236}">
                <a16:creationId xmlns:a16="http://schemas.microsoft.com/office/drawing/2014/main" id="{F73431F1-2799-41C2-BB77-787EF51CB8D5}"/>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26</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pic>
        <p:nvPicPr>
          <p:cNvPr id="5" name="Grafik 4">
            <a:extLst>
              <a:ext uri="{FF2B5EF4-FFF2-40B4-BE49-F238E27FC236}">
                <a16:creationId xmlns:a16="http://schemas.microsoft.com/office/drawing/2014/main" id="{8E81382F-4433-434D-BBE7-68BEB71FE33F}"/>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033798" y="1163595"/>
            <a:ext cx="4985297" cy="1031942"/>
          </a:xfrm>
          <a:prstGeom prst="rect">
            <a:avLst/>
          </a:prstGeom>
        </p:spPr>
      </p:pic>
      <p:sp>
        <p:nvSpPr>
          <p:cNvPr id="6" name="Textfeld 5">
            <a:extLst>
              <a:ext uri="{FF2B5EF4-FFF2-40B4-BE49-F238E27FC236}">
                <a16:creationId xmlns:a16="http://schemas.microsoft.com/office/drawing/2014/main" id="{6612F34C-8A52-D54E-26FA-DA1AA62B3324}"/>
              </a:ext>
            </a:extLst>
          </p:cNvPr>
          <p:cNvSpPr txBox="1"/>
          <p:nvPr/>
        </p:nvSpPr>
        <p:spPr>
          <a:xfrm>
            <a:off x="1968824" y="1378332"/>
            <a:ext cx="2021934" cy="91794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explore additional task information</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performance maximization </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exploit given task information</a:t>
            </a:r>
            <a:endParaRPr kumimoji="0" lang="en-US" sz="105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effort minimization	</a:t>
            </a:r>
            <a:r>
              <a:rPr kumimoji="0" lang="en-US" sz="1050" b="0" i="0" u="none" strike="noStrike" kern="1200" cap="none" spc="0" normalizeH="0" baseline="0" noProof="0">
                <a:ln>
                  <a:noFill/>
                </a:ln>
                <a:solidFill>
                  <a:prstClr val="black"/>
                </a:solidFill>
                <a:effectLst/>
                <a:uLnTx/>
                <a:uFillTx/>
                <a:latin typeface="Arial"/>
                <a:ea typeface="+mn-ea"/>
                <a:cs typeface="Arial"/>
                <a:sym typeface="Arial"/>
              </a:rPr>
              <a:t>	</a:t>
            </a:r>
            <a:endParaRPr kumimoji="0" lang="en-US" sz="1050" b="0" i="0" u="none" strike="noStrike" kern="1200" cap="none" spc="0" normalizeH="0" baseline="0" noProof="0">
              <a:ln>
                <a:noFill/>
              </a:ln>
              <a:solidFill>
                <a:prstClr val="black"/>
              </a:solidFill>
              <a:effectLst/>
              <a:uLnTx/>
              <a:uFillTx/>
              <a:latin typeface="Arial"/>
              <a:ea typeface="+mn-ea"/>
              <a:cs typeface="Arial"/>
            </a:endParaRPr>
          </a:p>
        </p:txBody>
      </p:sp>
      <p:sp>
        <p:nvSpPr>
          <p:cNvPr id="8" name="Pfeil: nach rechts 7">
            <a:extLst>
              <a:ext uri="{FF2B5EF4-FFF2-40B4-BE49-F238E27FC236}">
                <a16:creationId xmlns:a16="http://schemas.microsoft.com/office/drawing/2014/main" id="{969524CA-9340-613B-96C3-A3F9630BC915}"/>
              </a:ext>
            </a:extLst>
          </p:cNvPr>
          <p:cNvSpPr/>
          <p:nvPr/>
        </p:nvSpPr>
        <p:spPr>
          <a:xfrm>
            <a:off x="1687428" y="1836127"/>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0" name="Pfeil: nach rechts 9">
            <a:extLst>
              <a:ext uri="{FF2B5EF4-FFF2-40B4-BE49-F238E27FC236}">
                <a16:creationId xmlns:a16="http://schemas.microsoft.com/office/drawing/2014/main" id="{A45D5D65-82B4-F750-78F3-59D70AB3E94B}"/>
              </a:ext>
            </a:extLst>
          </p:cNvPr>
          <p:cNvSpPr/>
          <p:nvPr/>
        </p:nvSpPr>
        <p:spPr>
          <a:xfrm>
            <a:off x="1687428" y="1985838"/>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2" name="Textfeld 11">
            <a:extLst>
              <a:ext uri="{FF2B5EF4-FFF2-40B4-BE49-F238E27FC236}">
                <a16:creationId xmlns:a16="http://schemas.microsoft.com/office/drawing/2014/main" id="{46CCFB86-89CD-3D48-1B53-30FE61FAF1CA}"/>
              </a:ext>
            </a:extLst>
          </p:cNvPr>
          <p:cNvSpPr txBox="1"/>
          <p:nvPr/>
        </p:nvSpPr>
        <p:spPr>
          <a:xfrm>
            <a:off x="527374" y="1431712"/>
            <a:ext cx="1160114" cy="646331"/>
          </a:xfrm>
          <a:prstGeom prst="rect">
            <a:avLst/>
          </a:prstGeom>
          <a:solidFill>
            <a:schemeClr val="bg1"/>
          </a:solid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a:ea typeface="+mn-ea"/>
                <a:cs typeface="Arial"/>
              </a:rPr>
              <a:t>Switcher &amp; Response </a:t>
            </a:r>
            <a:r>
              <a:rPr kumimoji="0" lang="de-DE" sz="900" b="0" i="0" u="none" strike="noStrike" kern="1200" cap="none" spc="0" normalizeH="0" baseline="0" noProof="0" err="1">
                <a:ln>
                  <a:noFill/>
                </a:ln>
                <a:solidFill>
                  <a:prstClr val="black"/>
                </a:solidFill>
                <a:effectLst/>
                <a:uLnTx/>
                <a:uFillTx/>
                <a:latin typeface="Arial"/>
                <a:ea typeface="+mn-ea"/>
                <a:cs typeface="Arial"/>
              </a:rPr>
              <a:t>grouper</a:t>
            </a:r>
            <a:endParaRPr kumimoji="0" lang="de-DE" sz="9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Blocker</a:t>
            </a:r>
          </a:p>
        </p:txBody>
      </p:sp>
      <p:sp>
        <p:nvSpPr>
          <p:cNvPr id="14" name="Pfeil: nach rechts 13">
            <a:extLst>
              <a:ext uri="{FF2B5EF4-FFF2-40B4-BE49-F238E27FC236}">
                <a16:creationId xmlns:a16="http://schemas.microsoft.com/office/drawing/2014/main" id="{FDD67369-9827-0D69-F432-CB8B0FB84EB7}"/>
              </a:ext>
            </a:extLst>
          </p:cNvPr>
          <p:cNvSpPr/>
          <p:nvPr/>
        </p:nvSpPr>
        <p:spPr>
          <a:xfrm>
            <a:off x="1687428" y="1481593"/>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6" name="Pfeil: nach rechts 15">
            <a:extLst>
              <a:ext uri="{FF2B5EF4-FFF2-40B4-BE49-F238E27FC236}">
                <a16:creationId xmlns:a16="http://schemas.microsoft.com/office/drawing/2014/main" id="{F7654BA9-037F-BAAA-B542-77823F59F1CA}"/>
              </a:ext>
            </a:extLst>
          </p:cNvPr>
          <p:cNvSpPr/>
          <p:nvPr/>
        </p:nvSpPr>
        <p:spPr>
          <a:xfrm>
            <a:off x="1687428" y="1631304"/>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18" name="Textfeld 17">
            <a:extLst>
              <a:ext uri="{FF2B5EF4-FFF2-40B4-BE49-F238E27FC236}">
                <a16:creationId xmlns:a16="http://schemas.microsoft.com/office/drawing/2014/main" id="{D16BAA31-D773-80DF-5DFC-DC7A5349D91D}"/>
              </a:ext>
            </a:extLst>
          </p:cNvPr>
          <p:cNvSpPr txBox="1"/>
          <p:nvPr/>
        </p:nvSpPr>
        <p:spPr>
          <a:xfrm>
            <a:off x="584200" y="1073150"/>
            <a:ext cx="2743200" cy="2576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1361"/>
              </a:lnSpc>
              <a:spcBef>
                <a:spcPts val="0"/>
              </a:spcBef>
              <a:spcAft>
                <a:spcPts val="0"/>
              </a:spcAft>
              <a:buClrTx/>
              <a:buSzTx/>
              <a:buFontTx/>
              <a:buNone/>
              <a:tabLst/>
              <a:defRPr/>
            </a:pPr>
            <a:r>
              <a:rPr kumimoji="0" lang="en-US" sz="1050" b="0" i="0" u="sng" strike="noStrike" kern="1200" cap="none" spc="0" normalizeH="0" baseline="0" noProof="0">
                <a:ln>
                  <a:noFill/>
                </a:ln>
                <a:solidFill>
                  <a:prstClr val="black"/>
                </a:solidFill>
                <a:effectLst/>
                <a:uLnTx/>
                <a:uFillTx/>
                <a:latin typeface="Arial"/>
                <a:ea typeface="+mn-ea"/>
                <a:cs typeface="+mn-cs"/>
              </a:rPr>
              <a:t>Basic assumptions: </a:t>
            </a:r>
            <a:r>
              <a:rPr kumimoji="0" lang="en-US" sz="1050" b="0" i="0" u="none" strike="noStrike" kern="1200" cap="none" spc="0" normalizeH="0" baseline="0" noProof="0">
                <a:ln>
                  <a:noFill/>
                </a:ln>
                <a:solidFill>
                  <a:prstClr val="black"/>
                </a:solidFill>
                <a:effectLst/>
                <a:uLnTx/>
                <a:uFillTx/>
                <a:latin typeface="Arial"/>
                <a:ea typeface="+mn-ea"/>
                <a:cs typeface="+mn-cs"/>
              </a:rPr>
              <a:t>​</a:t>
            </a:r>
          </a:p>
        </p:txBody>
      </p:sp>
      <p:grpSp>
        <p:nvGrpSpPr>
          <p:cNvPr id="11" name="Gruppieren 10">
            <a:extLst>
              <a:ext uri="{FF2B5EF4-FFF2-40B4-BE49-F238E27FC236}">
                <a16:creationId xmlns:a16="http://schemas.microsoft.com/office/drawing/2014/main" id="{67F93329-F0A4-62C2-4D99-3E9A9AA13E8A}"/>
              </a:ext>
            </a:extLst>
          </p:cNvPr>
          <p:cNvGrpSpPr/>
          <p:nvPr/>
        </p:nvGrpSpPr>
        <p:grpSpPr>
          <a:xfrm>
            <a:off x="872677" y="2409733"/>
            <a:ext cx="7880527" cy="2268251"/>
            <a:chOff x="9330490" y="3150987"/>
            <a:chExt cx="2734720" cy="1996076"/>
          </a:xfrm>
        </p:grpSpPr>
        <p:sp>
          <p:nvSpPr>
            <p:cNvPr id="7" name="Rechteck: abgerundete Ecken 6">
              <a:extLst>
                <a:ext uri="{FF2B5EF4-FFF2-40B4-BE49-F238E27FC236}">
                  <a16:creationId xmlns:a16="http://schemas.microsoft.com/office/drawing/2014/main" id="{0690DAFF-CF20-1F70-2FD6-B7E2489D4044}"/>
                </a:ext>
              </a:extLst>
            </p:cNvPr>
            <p:cNvSpPr/>
            <p:nvPr/>
          </p:nvSpPr>
          <p:spPr>
            <a:xfrm>
              <a:off x="9330490" y="3216736"/>
              <a:ext cx="2734720" cy="1930327"/>
            </a:xfrm>
            <a:prstGeom prst="roundRect">
              <a:avLst/>
            </a:prstGeom>
            <a:noFill/>
            <a:ln w="952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Calibri"/>
                <a:ea typeface="+mn-ea"/>
                <a:cs typeface="+mn-cs"/>
              </a:endParaRPr>
            </a:p>
          </p:txBody>
        </p:sp>
        <p:sp>
          <p:nvSpPr>
            <p:cNvPr id="9" name="Rechteck: abgerundete Ecken 8">
              <a:extLst>
                <a:ext uri="{FF2B5EF4-FFF2-40B4-BE49-F238E27FC236}">
                  <a16:creationId xmlns:a16="http://schemas.microsoft.com/office/drawing/2014/main" id="{09D32B15-8C59-9239-DD9A-38C2DA4B37E6}"/>
                </a:ext>
              </a:extLst>
            </p:cNvPr>
            <p:cNvSpPr/>
            <p:nvPr/>
          </p:nvSpPr>
          <p:spPr>
            <a:xfrm>
              <a:off x="9330490" y="3150987"/>
              <a:ext cx="2734720" cy="219153"/>
            </a:xfrm>
            <a:prstGeom prst="roundRect">
              <a:avLst/>
            </a:prstGeom>
            <a:solidFill>
              <a:srgbClr val="CCA326"/>
            </a:solidFill>
            <a:ln>
              <a:solidFill>
                <a:srgbClr val="B9921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dirty="0">
                  <a:ln>
                    <a:noFill/>
                  </a:ln>
                  <a:solidFill>
                    <a:prstClr val="white"/>
                  </a:solidFill>
                  <a:effectLst/>
                  <a:uLnTx/>
                  <a:uFillTx/>
                  <a:latin typeface="Calibri"/>
                  <a:ea typeface="+mn-ea"/>
                  <a:cs typeface="+mn-cs"/>
                </a:rPr>
                <a:t>Work Package 1.2 – </a:t>
              </a:r>
              <a:r>
                <a:rPr kumimoji="0" lang="de-DE" sz="1050" b="1" i="0" u="none" strike="noStrike" kern="1200" cap="none" spc="0" normalizeH="0" baseline="0" noProof="0" dirty="0">
                  <a:ln>
                    <a:noFill/>
                  </a:ln>
                  <a:solidFill>
                    <a:prstClr val="white"/>
                  </a:solidFill>
                  <a:effectLst/>
                  <a:uLnTx/>
                  <a:uFillTx/>
                  <a:latin typeface="Calibri"/>
                  <a:ea typeface="+mn-ea"/>
                  <a:cs typeface="+mn-cs"/>
                </a:rPr>
                <a:t>Experiment 2b</a:t>
              </a:r>
              <a:r>
                <a:rPr kumimoji="0" lang="de-DE" sz="1050" b="0" i="0" u="none" strike="noStrike" kern="1200" cap="none" spc="0" normalizeH="0" baseline="0" noProof="0" dirty="0">
                  <a:ln>
                    <a:noFill/>
                  </a:ln>
                  <a:solidFill>
                    <a:prstClr val="white"/>
                  </a:solidFill>
                  <a:effectLst/>
                  <a:uLnTx/>
                  <a:uFillTx/>
                  <a:latin typeface="Calibri"/>
                  <a:ea typeface="+mn-ea"/>
                  <a:cs typeface="+mn-cs"/>
                </a:rPr>
                <a:t>, n = 90 </a:t>
              </a:r>
              <a:r>
                <a:rPr kumimoji="0" lang="de-DE" sz="1050" b="0" i="0" u="none" strike="noStrike" kern="1200" cap="none" spc="0" normalizeH="0" baseline="0" noProof="0" dirty="0" err="1">
                  <a:ln>
                    <a:noFill/>
                  </a:ln>
                  <a:solidFill>
                    <a:prstClr val="white"/>
                  </a:solidFill>
                  <a:effectLst/>
                  <a:uLnTx/>
                  <a:uFillTx/>
                  <a:latin typeface="Calibri"/>
                  <a:ea typeface="+mn-ea"/>
                  <a:cs typeface="+mn-cs"/>
                </a:rPr>
                <a:t>participants</a:t>
              </a:r>
              <a:endParaRPr kumimoji="0" lang="en-US" sz="1050" b="0"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15" name="Rechteck: abgerundete Ecken 14">
            <a:extLst>
              <a:ext uri="{FF2B5EF4-FFF2-40B4-BE49-F238E27FC236}">
                <a16:creationId xmlns:a16="http://schemas.microsoft.com/office/drawing/2014/main" id="{A34546B4-1534-5262-9813-669EA48D9F9E}"/>
              </a:ext>
            </a:extLst>
          </p:cNvPr>
          <p:cNvSpPr/>
          <p:nvPr/>
        </p:nvSpPr>
        <p:spPr>
          <a:xfrm>
            <a:off x="1205178" y="3140626"/>
            <a:ext cx="2508653" cy="1483352"/>
          </a:xfrm>
          <a:prstGeom prst="roundRect">
            <a:avLst>
              <a:gd name="adj" fmla="val 0"/>
            </a:avLst>
          </a:prstGeom>
          <a:noFill/>
          <a:ln w="12700">
            <a:solidFill>
              <a:srgbClr val="CCA326"/>
            </a:solid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feld 18">
            <a:extLst>
              <a:ext uri="{FF2B5EF4-FFF2-40B4-BE49-F238E27FC236}">
                <a16:creationId xmlns:a16="http://schemas.microsoft.com/office/drawing/2014/main" id="{66216714-27C0-8099-6877-4D5BFE272767}"/>
              </a:ext>
            </a:extLst>
          </p:cNvPr>
          <p:cNvSpPr txBox="1"/>
          <p:nvPr/>
        </p:nvSpPr>
        <p:spPr>
          <a:xfrm>
            <a:off x="1549362" y="3134808"/>
            <a:ext cx="1904662" cy="193027"/>
          </a:xfrm>
          <a:prstGeom prst="rect">
            <a:avLst/>
          </a:prstGeom>
          <a:noFill/>
          <a:ln w="12700">
            <a:no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Calibri"/>
                <a:ea typeface="+mn-ea"/>
                <a:cs typeface="+mn-cs"/>
              </a:rPr>
              <a:t>Free </a:t>
            </a:r>
            <a:r>
              <a:rPr kumimoji="0" lang="de-DE" sz="900" b="0" i="0" u="none" strike="noStrike" kern="1200" cap="none" spc="0" normalizeH="0" baseline="0" noProof="0" err="1">
                <a:ln>
                  <a:noFill/>
                </a:ln>
                <a:solidFill>
                  <a:prstClr val="black"/>
                </a:solidFill>
                <a:effectLst/>
                <a:uLnTx/>
                <a:uFillTx/>
                <a:latin typeface="Calibri"/>
                <a:ea typeface="+mn-ea"/>
                <a:cs typeface="+mn-cs"/>
              </a:rPr>
              <a:t>Concurrent</a:t>
            </a:r>
            <a:r>
              <a:rPr kumimoji="0" lang="de-DE" sz="900" b="0" i="0" u="none" strike="noStrike" kern="1200" cap="none" spc="0" normalizeH="0" baseline="0" noProof="0">
                <a:ln>
                  <a:noFill/>
                </a:ln>
                <a:solidFill>
                  <a:prstClr val="black"/>
                </a:solidFill>
                <a:effectLst/>
                <a:uLnTx/>
                <a:uFillTx/>
                <a:latin typeface="Calibri"/>
                <a:ea typeface="+mn-ea"/>
                <a:cs typeface="+mn-cs"/>
              </a:rPr>
              <a:t> Dual-</a:t>
            </a:r>
            <a:r>
              <a:rPr kumimoji="0" lang="de-DE" sz="900" b="0" i="0" u="none" strike="noStrike" kern="1200" cap="none" spc="0" normalizeH="0" baseline="0" noProof="0" err="1">
                <a:ln>
                  <a:noFill/>
                </a:ln>
                <a:solidFill>
                  <a:prstClr val="black"/>
                </a:solidFill>
                <a:effectLst/>
                <a:uLnTx/>
                <a:uFillTx/>
                <a:latin typeface="Calibri"/>
                <a:ea typeface="+mn-ea"/>
                <a:cs typeface="+mn-cs"/>
              </a:rPr>
              <a:t>Tasking</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feld 27">
            <a:extLst>
              <a:ext uri="{FF2B5EF4-FFF2-40B4-BE49-F238E27FC236}">
                <a16:creationId xmlns:a16="http://schemas.microsoft.com/office/drawing/2014/main" id="{1AD1FBF5-4138-C5D6-A5BC-68A778F72DDA}"/>
              </a:ext>
            </a:extLst>
          </p:cNvPr>
          <p:cNvSpPr txBox="1"/>
          <p:nvPr/>
        </p:nvSpPr>
        <p:spPr>
          <a:xfrm>
            <a:off x="1204989" y="2733768"/>
            <a:ext cx="2688473" cy="369332"/>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rPr>
              <a:t>Performance-based Factors: </a:t>
            </a:r>
            <a:endParaRPr kumimoji="0" lang="de-DE"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rPr>
              <a:t>response strategies &amp; reward sensitivity</a:t>
            </a: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0" name="Grafik 29">
            <a:extLst>
              <a:ext uri="{FF2B5EF4-FFF2-40B4-BE49-F238E27FC236}">
                <a16:creationId xmlns:a16="http://schemas.microsoft.com/office/drawing/2014/main" id="{9466CD39-D772-8426-966B-9B528BE36ADF}"/>
              </a:ext>
            </a:extLst>
          </p:cNvPr>
          <p:cNvPicPr>
            <a:picLocks noChangeAspect="1"/>
          </p:cNvPicPr>
          <p:nvPr/>
        </p:nvPicPr>
        <p:blipFill rotWithShape="1">
          <a:blip r:embed="rId5"/>
          <a:srcRect l="115" r="115"/>
          <a:stretch/>
        </p:blipFill>
        <p:spPr>
          <a:xfrm>
            <a:off x="906591" y="3880346"/>
            <a:ext cx="846972" cy="671651"/>
          </a:xfrm>
          <a:prstGeom prst="rect">
            <a:avLst/>
          </a:prstGeom>
          <a:noFill/>
          <a:ln w="9525" cap="flat" cmpd="sng" algn="ctr">
            <a:noFill/>
            <a:prstDash val="solid"/>
            <a:round/>
            <a:headEnd type="none" w="med" len="med"/>
            <a:tailEnd type="none" w="med" len="med"/>
          </a:ln>
        </p:spPr>
      </p:pic>
      <p:sp>
        <p:nvSpPr>
          <p:cNvPr id="40" name="Pfeil: nach rechts 39">
            <a:extLst>
              <a:ext uri="{FF2B5EF4-FFF2-40B4-BE49-F238E27FC236}">
                <a16:creationId xmlns:a16="http://schemas.microsoft.com/office/drawing/2014/main" id="{A6C32834-8675-0190-683E-DE28D58EBFE1}"/>
              </a:ext>
            </a:extLst>
          </p:cNvPr>
          <p:cNvSpPr/>
          <p:nvPr/>
        </p:nvSpPr>
        <p:spPr>
          <a:xfrm>
            <a:off x="3815916" y="3616774"/>
            <a:ext cx="302857" cy="149993"/>
          </a:xfrm>
          <a:prstGeom prst="rightArrow">
            <a:avLst/>
          </a:prstGeom>
          <a:solidFill>
            <a:srgbClr val="CCA326"/>
          </a:solidFill>
          <a:ln>
            <a:solidFill>
              <a:srgbClr val="9D7B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42" name="Textfeld 41">
            <a:extLst>
              <a:ext uri="{FF2B5EF4-FFF2-40B4-BE49-F238E27FC236}">
                <a16:creationId xmlns:a16="http://schemas.microsoft.com/office/drawing/2014/main" id="{EB2913DA-9932-EA1A-5CDB-6AC273447146}"/>
              </a:ext>
            </a:extLst>
          </p:cNvPr>
          <p:cNvSpPr txBox="1"/>
          <p:nvPr/>
        </p:nvSpPr>
        <p:spPr>
          <a:xfrm>
            <a:off x="4139952" y="2802251"/>
            <a:ext cx="2988020" cy="369332"/>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Behavioral Outcomes: RTs, ERs, Switch Rates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a:ea typeface="+mn-ea"/>
                <a:cs typeface="Arial"/>
              </a:rPr>
              <a:t>EEG Outcomes: Feedback-related negativity</a:t>
            </a:r>
          </a:p>
        </p:txBody>
      </p:sp>
      <p:pic>
        <p:nvPicPr>
          <p:cNvPr id="44" name="Grafik 43" descr="Ein Bild, das Diagramm, Farbigkeit, Kreis, Reihe enthält.&#10;&#10;KI-generierte Inhalte können fehlerhaft sein.">
            <a:extLst>
              <a:ext uri="{FF2B5EF4-FFF2-40B4-BE49-F238E27FC236}">
                <a16:creationId xmlns:a16="http://schemas.microsoft.com/office/drawing/2014/main" id="{6064E933-93EF-017E-0BF2-197D4E4916D6}"/>
              </a:ext>
            </a:extLst>
          </p:cNvPr>
          <p:cNvPicPr>
            <a:picLocks noChangeAspect="1"/>
          </p:cNvPicPr>
          <p:nvPr/>
        </p:nvPicPr>
        <p:blipFill>
          <a:blip r:embed="rId6"/>
          <a:srcRect/>
          <a:stretch/>
        </p:blipFill>
        <p:spPr>
          <a:xfrm>
            <a:off x="4142804" y="3287642"/>
            <a:ext cx="1102406" cy="1030164"/>
          </a:xfrm>
          <a:prstGeom prst="rect">
            <a:avLst/>
          </a:prstGeom>
        </p:spPr>
      </p:pic>
      <p:grpSp>
        <p:nvGrpSpPr>
          <p:cNvPr id="89" name="Gruppieren 88">
            <a:extLst>
              <a:ext uri="{FF2B5EF4-FFF2-40B4-BE49-F238E27FC236}">
                <a16:creationId xmlns:a16="http://schemas.microsoft.com/office/drawing/2014/main" id="{8B0F3A1B-CB0A-E53E-C3FB-3C937610AD9A}"/>
              </a:ext>
            </a:extLst>
          </p:cNvPr>
          <p:cNvGrpSpPr/>
          <p:nvPr/>
        </p:nvGrpSpPr>
        <p:grpSpPr>
          <a:xfrm>
            <a:off x="5243006" y="3205184"/>
            <a:ext cx="1801798" cy="1351333"/>
            <a:chOff x="8947315" y="4242162"/>
            <a:chExt cx="2621293" cy="2004028"/>
          </a:xfrm>
        </p:grpSpPr>
        <p:sp>
          <p:nvSpPr>
            <p:cNvPr id="86" name="Textfeld 85">
              <a:extLst>
                <a:ext uri="{FF2B5EF4-FFF2-40B4-BE49-F238E27FC236}">
                  <a16:creationId xmlns:a16="http://schemas.microsoft.com/office/drawing/2014/main" id="{124AC46D-FDEC-52F7-7F87-D29427A2D3BA}"/>
                </a:ext>
              </a:extLst>
            </p:cNvPr>
            <p:cNvSpPr txBox="1"/>
            <p:nvPr/>
          </p:nvSpPr>
          <p:spPr>
            <a:xfrm>
              <a:off x="10166625" y="5938098"/>
              <a:ext cx="679102" cy="30809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Blocks</a:t>
              </a:r>
              <a:endParaRPr kumimoji="0" lang="en-US"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7" name="Textfeld 86">
              <a:extLst>
                <a:ext uri="{FF2B5EF4-FFF2-40B4-BE49-F238E27FC236}">
                  <a16:creationId xmlns:a16="http://schemas.microsoft.com/office/drawing/2014/main" id="{288F1B65-B363-B6B8-D136-CF3B2FD3FA32}"/>
                </a:ext>
              </a:extLst>
            </p:cNvPr>
            <p:cNvSpPr txBox="1"/>
            <p:nvPr/>
          </p:nvSpPr>
          <p:spPr>
            <a:xfrm rot="16200000">
              <a:off x="8597783" y="4857455"/>
              <a:ext cx="1001301" cy="30223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Error Rates</a:t>
              </a:r>
              <a:endParaRPr kumimoji="0" lang="en-US"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88" name="Grafik 87">
              <a:extLst>
                <a:ext uri="{FF2B5EF4-FFF2-40B4-BE49-F238E27FC236}">
                  <a16:creationId xmlns:a16="http://schemas.microsoft.com/office/drawing/2014/main" id="{426DDB5A-98D4-1894-AB95-028558843484}"/>
                </a:ext>
              </a:extLst>
            </p:cNvPr>
            <p:cNvPicPr>
              <a:picLocks noChangeAspect="1"/>
            </p:cNvPicPr>
            <p:nvPr/>
          </p:nvPicPr>
          <p:blipFill rotWithShape="1">
            <a:blip r:embed="rId7"/>
            <a:srcRect l="8324" t="2966" b="9289"/>
            <a:stretch/>
          </p:blipFill>
          <p:spPr>
            <a:xfrm>
              <a:off x="9221544" y="4242162"/>
              <a:ext cx="2347064" cy="1759836"/>
            </a:xfrm>
            <a:prstGeom prst="rect">
              <a:avLst/>
            </a:prstGeom>
          </p:spPr>
        </p:pic>
      </p:grpSp>
      <p:cxnSp>
        <p:nvCxnSpPr>
          <p:cNvPr id="93" name="Gerader Verbinder 92">
            <a:extLst>
              <a:ext uri="{FF2B5EF4-FFF2-40B4-BE49-F238E27FC236}">
                <a16:creationId xmlns:a16="http://schemas.microsoft.com/office/drawing/2014/main" id="{F80158F9-CECD-0CC3-AEDC-D1D495EF5E24}"/>
              </a:ext>
            </a:extLst>
          </p:cNvPr>
          <p:cNvCxnSpPr>
            <a:cxnSpLocks/>
          </p:cNvCxnSpPr>
          <p:nvPr/>
        </p:nvCxnSpPr>
        <p:spPr>
          <a:xfrm>
            <a:off x="7423448" y="3211813"/>
            <a:ext cx="0" cy="909638"/>
          </a:xfrm>
          <a:prstGeom prst="line">
            <a:avLst/>
          </a:prstGeom>
          <a:noFill/>
          <a:ln w="28575" cap="flat" cmpd="sng" algn="ctr">
            <a:solidFill>
              <a:schemeClr val="tx1"/>
            </a:solidFill>
            <a:prstDash val="solid"/>
            <a:miter lim="800000"/>
          </a:ln>
          <a:effectLst/>
        </p:spPr>
      </p:cxnSp>
      <p:sp>
        <p:nvSpPr>
          <p:cNvPr id="95" name="Textfeld 94">
            <a:extLst>
              <a:ext uri="{FF2B5EF4-FFF2-40B4-BE49-F238E27FC236}">
                <a16:creationId xmlns:a16="http://schemas.microsoft.com/office/drawing/2014/main" id="{8E631063-7BD1-0D79-9B44-BF7FB4F51CBC}"/>
              </a:ext>
            </a:extLst>
          </p:cNvPr>
          <p:cNvSpPr txBox="1"/>
          <p:nvPr/>
        </p:nvSpPr>
        <p:spPr>
          <a:xfrm>
            <a:off x="7119960" y="3140626"/>
            <a:ext cx="307777" cy="1042991"/>
          </a:xfrm>
          <a:prstGeom prst="rect">
            <a:avLst/>
          </a:prstGeom>
          <a:noFill/>
        </p:spPr>
        <p:txBody>
          <a:bodyPr vert="vert270"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Switch Rates / FRN</a:t>
            </a:r>
          </a:p>
        </p:txBody>
      </p:sp>
      <p:cxnSp>
        <p:nvCxnSpPr>
          <p:cNvPr id="97" name="Gerader Verbinder 96">
            <a:extLst>
              <a:ext uri="{FF2B5EF4-FFF2-40B4-BE49-F238E27FC236}">
                <a16:creationId xmlns:a16="http://schemas.microsoft.com/office/drawing/2014/main" id="{6728927F-2AF0-5C0B-3413-92EF23AC4776}"/>
              </a:ext>
            </a:extLst>
          </p:cNvPr>
          <p:cNvCxnSpPr>
            <a:cxnSpLocks/>
          </p:cNvCxnSpPr>
          <p:nvPr/>
        </p:nvCxnSpPr>
        <p:spPr>
          <a:xfrm flipH="1">
            <a:off x="7423451" y="4121450"/>
            <a:ext cx="1080000" cy="0"/>
          </a:xfrm>
          <a:prstGeom prst="line">
            <a:avLst/>
          </a:prstGeom>
          <a:noFill/>
          <a:ln w="28575" cap="flat" cmpd="sng" algn="ctr">
            <a:solidFill>
              <a:schemeClr val="tx1"/>
            </a:solidFill>
            <a:prstDash val="solid"/>
            <a:miter lim="800000"/>
          </a:ln>
          <a:effectLst/>
        </p:spPr>
      </p:cxnSp>
      <p:sp>
        <p:nvSpPr>
          <p:cNvPr id="99" name="Rechteck 98">
            <a:extLst>
              <a:ext uri="{FF2B5EF4-FFF2-40B4-BE49-F238E27FC236}">
                <a16:creationId xmlns:a16="http://schemas.microsoft.com/office/drawing/2014/main" id="{9B735013-8E0E-98A6-4042-FD19723F4EAF}"/>
              </a:ext>
            </a:extLst>
          </p:cNvPr>
          <p:cNvSpPr/>
          <p:nvPr/>
        </p:nvSpPr>
        <p:spPr>
          <a:xfrm>
            <a:off x="8234310" y="3599682"/>
            <a:ext cx="72000" cy="515878"/>
          </a:xfrm>
          <a:prstGeom prst="rect">
            <a:avLst/>
          </a:prstGeom>
          <a:solidFill>
            <a:srgbClr val="808080"/>
          </a:solidFill>
          <a:ln w="12700" cap="flat" cmpd="sng" algn="ctr">
            <a:solidFill>
              <a:schemeClr val="tx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dirty="0">
              <a:ln>
                <a:noFill/>
              </a:ln>
              <a:solidFill>
                <a:prstClr val="black"/>
              </a:solidFill>
              <a:effectLst/>
              <a:uLnTx/>
              <a:uFillTx/>
              <a:latin typeface="Calibri"/>
              <a:ea typeface="+mn-ea"/>
              <a:cs typeface="Arial"/>
              <a:sym typeface="Arial"/>
            </a:endParaRPr>
          </a:p>
        </p:txBody>
      </p:sp>
      <p:sp>
        <p:nvSpPr>
          <p:cNvPr id="101" name="Rechteck 100">
            <a:extLst>
              <a:ext uri="{FF2B5EF4-FFF2-40B4-BE49-F238E27FC236}">
                <a16:creationId xmlns:a16="http://schemas.microsoft.com/office/drawing/2014/main" id="{347813F9-9D25-A774-C51B-6328F455BAFA}"/>
              </a:ext>
            </a:extLst>
          </p:cNvPr>
          <p:cNvSpPr/>
          <p:nvPr/>
        </p:nvSpPr>
        <p:spPr>
          <a:xfrm>
            <a:off x="7599859" y="3954106"/>
            <a:ext cx="72000" cy="161454"/>
          </a:xfrm>
          <a:prstGeom prst="rect">
            <a:avLst/>
          </a:prstGeom>
          <a:solidFill>
            <a:srgbClr val="2E75B6"/>
          </a:solidFill>
          <a:ln w="12700" cap="flat" cmpd="sng" algn="ctr">
            <a:solidFill>
              <a:schemeClr val="tx1"/>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black"/>
              </a:solidFill>
              <a:effectLst/>
              <a:uLnTx/>
              <a:uFillTx/>
              <a:latin typeface="Calibri"/>
              <a:ea typeface="+mn-ea"/>
              <a:cs typeface="Arial"/>
              <a:sym typeface="Arial"/>
            </a:endParaRPr>
          </a:p>
        </p:txBody>
      </p:sp>
      <p:sp>
        <p:nvSpPr>
          <p:cNvPr id="103" name="Textfeld 102">
            <a:extLst>
              <a:ext uri="{FF2B5EF4-FFF2-40B4-BE49-F238E27FC236}">
                <a16:creationId xmlns:a16="http://schemas.microsoft.com/office/drawing/2014/main" id="{3DB1A589-E8CD-903F-64AF-6D448B57ADB5}"/>
              </a:ext>
            </a:extLst>
          </p:cNvPr>
          <p:cNvSpPr txBox="1"/>
          <p:nvPr/>
        </p:nvSpPr>
        <p:spPr>
          <a:xfrm>
            <a:off x="8010719" y="4126351"/>
            <a:ext cx="640619" cy="4560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88"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Switcher, Response </a:t>
            </a:r>
            <a:r>
              <a:rPr kumimoji="0" lang="de-DE" sz="788"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grouper</a:t>
            </a:r>
            <a:endParaRPr kumimoji="0" lang="en-US" sz="788"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5" name="Textfeld 104">
            <a:extLst>
              <a:ext uri="{FF2B5EF4-FFF2-40B4-BE49-F238E27FC236}">
                <a16:creationId xmlns:a16="http://schemas.microsoft.com/office/drawing/2014/main" id="{27099FDB-BA79-6A18-AF43-54EFB8E108A0}"/>
              </a:ext>
            </a:extLst>
          </p:cNvPr>
          <p:cNvSpPr txBox="1"/>
          <p:nvPr/>
        </p:nvSpPr>
        <p:spPr>
          <a:xfrm>
            <a:off x="7474355" y="4126351"/>
            <a:ext cx="611730" cy="2135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788"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Blocker</a:t>
            </a:r>
            <a:endParaRPr kumimoji="0" lang="en-US" sz="788"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9" name="Textfeld 108">
            <a:extLst>
              <a:ext uri="{FF2B5EF4-FFF2-40B4-BE49-F238E27FC236}">
                <a16:creationId xmlns:a16="http://schemas.microsoft.com/office/drawing/2014/main" id="{54E07DFE-37F2-C185-18DF-04E96364509F}"/>
              </a:ext>
            </a:extLst>
          </p:cNvPr>
          <p:cNvSpPr txBox="1"/>
          <p:nvPr/>
        </p:nvSpPr>
        <p:spPr>
          <a:xfrm>
            <a:off x="7499982" y="2858881"/>
            <a:ext cx="847898" cy="2308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Expectations</a:t>
            </a:r>
          </a:p>
        </p:txBody>
      </p:sp>
      <p:pic>
        <p:nvPicPr>
          <p:cNvPr id="13" name="Grafik 12">
            <a:extLst>
              <a:ext uri="{FF2B5EF4-FFF2-40B4-BE49-F238E27FC236}">
                <a16:creationId xmlns:a16="http://schemas.microsoft.com/office/drawing/2014/main" id="{79D46BFB-146C-171E-247C-FA9BD4B405DB}"/>
              </a:ext>
            </a:extLst>
          </p:cNvPr>
          <p:cNvPicPr>
            <a:picLocks noChangeAspect="1"/>
          </p:cNvPicPr>
          <p:nvPr/>
        </p:nvPicPr>
        <p:blipFill rotWithShape="1">
          <a:blip r:embed="rId8"/>
          <a:srcRect r="8346" b="49643"/>
          <a:stretch/>
        </p:blipFill>
        <p:spPr>
          <a:xfrm>
            <a:off x="2978983" y="4351481"/>
            <a:ext cx="323932" cy="199214"/>
          </a:xfrm>
          <a:prstGeom prst="rect">
            <a:avLst/>
          </a:prstGeom>
        </p:spPr>
      </p:pic>
      <p:pic>
        <p:nvPicPr>
          <p:cNvPr id="17" name="Grafik 16">
            <a:extLst>
              <a:ext uri="{FF2B5EF4-FFF2-40B4-BE49-F238E27FC236}">
                <a16:creationId xmlns:a16="http://schemas.microsoft.com/office/drawing/2014/main" id="{393162E1-06B4-ABC8-1D99-BE4C2A1ECB69}"/>
              </a:ext>
            </a:extLst>
          </p:cNvPr>
          <p:cNvPicPr>
            <a:picLocks noChangeAspect="1"/>
          </p:cNvPicPr>
          <p:nvPr/>
        </p:nvPicPr>
        <p:blipFill rotWithShape="1">
          <a:blip r:embed="rId8"/>
          <a:srcRect l="11561" t="51068" b="1988"/>
          <a:stretch/>
        </p:blipFill>
        <p:spPr>
          <a:xfrm>
            <a:off x="3335662" y="4353796"/>
            <a:ext cx="335291" cy="199214"/>
          </a:xfrm>
          <a:prstGeom prst="rect">
            <a:avLst/>
          </a:prstGeom>
        </p:spPr>
      </p:pic>
      <p:sp>
        <p:nvSpPr>
          <p:cNvPr id="20" name="Rechteck: abgerundete Ecken 19">
            <a:extLst>
              <a:ext uri="{FF2B5EF4-FFF2-40B4-BE49-F238E27FC236}">
                <a16:creationId xmlns:a16="http://schemas.microsoft.com/office/drawing/2014/main" id="{BB83078F-D8E3-A6EC-1B6F-7CC4EE5F4B56}"/>
              </a:ext>
            </a:extLst>
          </p:cNvPr>
          <p:cNvSpPr/>
          <p:nvPr/>
        </p:nvSpPr>
        <p:spPr>
          <a:xfrm>
            <a:off x="2941656" y="4078562"/>
            <a:ext cx="770197" cy="545416"/>
          </a:xfrm>
          <a:prstGeom prst="roundRect">
            <a:avLst>
              <a:gd name="adj" fmla="val 0"/>
            </a:avLst>
          </a:prstGeom>
          <a:noFill/>
          <a:ln w="12700">
            <a:solidFill>
              <a:srgbClr val="CCA326"/>
            </a:solid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Arial"/>
              <a:ea typeface="+mn-ea"/>
              <a:cs typeface="Arial"/>
            </a:endParaRPr>
          </a:p>
        </p:txBody>
      </p:sp>
      <p:sp>
        <p:nvSpPr>
          <p:cNvPr id="25" name="Textfeld 24">
            <a:extLst>
              <a:ext uri="{FF2B5EF4-FFF2-40B4-BE49-F238E27FC236}">
                <a16:creationId xmlns:a16="http://schemas.microsoft.com/office/drawing/2014/main" id="{5946888F-087A-CD34-CB02-587E0DB3D6C5}"/>
              </a:ext>
            </a:extLst>
          </p:cNvPr>
          <p:cNvSpPr txBox="1"/>
          <p:nvPr/>
        </p:nvSpPr>
        <p:spPr>
          <a:xfrm>
            <a:off x="2969894" y="4092798"/>
            <a:ext cx="692142" cy="242153"/>
          </a:xfrm>
          <a:prstGeom prst="rect">
            <a:avLst/>
          </a:prstGeom>
          <a:noFill/>
          <a:ln w="12700">
            <a:noFill/>
          </a:ln>
        </p:spPr>
        <p:txBody>
          <a:bodyPr wrap="square" lIns="91440" tIns="27000" rIns="91440" bIns="27000" rtlCol="0" anchor="t">
            <a:noAutofit/>
          </a:bodyPr>
          <a:lstStyle>
            <a:defPPr>
              <a:defRPr lang="de-DE"/>
            </a:defPPr>
            <a:lvl1pPr algn="ctr">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err="1">
                <a:ln>
                  <a:noFill/>
                </a:ln>
                <a:solidFill>
                  <a:prstClr val="black"/>
                </a:solidFill>
                <a:effectLst/>
                <a:uLnTx/>
                <a:uFillTx/>
                <a:latin typeface="Arial"/>
                <a:ea typeface="+mn-ea"/>
                <a:cs typeface="Arial"/>
              </a:rPr>
              <a:t>Probabilistic</a:t>
            </a:r>
            <a:r>
              <a:rPr kumimoji="0" lang="de-DE" sz="700" b="0" i="0" u="none" strike="noStrike" kern="1200" cap="none" spc="0" normalizeH="0" baseline="0" noProof="0" dirty="0">
                <a:ln>
                  <a:noFill/>
                </a:ln>
                <a:solidFill>
                  <a:prstClr val="black"/>
                </a:solidFill>
                <a:effectLst/>
                <a:uLnTx/>
                <a:uFillTx/>
                <a:latin typeface="Arial"/>
                <a:ea typeface="+mn-ea"/>
                <a:cs typeface="Arial"/>
              </a:rPr>
              <a:t> </a:t>
            </a:r>
            <a:r>
              <a:rPr kumimoji="0" lang="de-DE" sz="700" b="0" i="0" u="none" strike="noStrike" kern="1200" cap="none" spc="0" normalizeH="0" baseline="0" noProof="0" dirty="0" err="1">
                <a:ln>
                  <a:noFill/>
                </a:ln>
                <a:solidFill>
                  <a:prstClr val="black"/>
                </a:solidFill>
                <a:effectLst/>
                <a:uLnTx/>
                <a:uFillTx/>
                <a:latin typeface="Arial"/>
                <a:ea typeface="+mn-ea"/>
                <a:cs typeface="Arial"/>
              </a:rPr>
              <a:t>learning</a:t>
            </a:r>
            <a:endParaRPr kumimoji="0" lang="de-DE" sz="700" b="0" i="0" u="none" strike="noStrike" kern="1200" cap="none" spc="0" normalizeH="0" baseline="0" noProof="0" dirty="0">
              <a:ln>
                <a:noFill/>
              </a:ln>
              <a:solidFill>
                <a:prstClr val="black"/>
              </a:solidFill>
              <a:effectLst/>
              <a:uLnTx/>
              <a:uFillTx/>
              <a:latin typeface="Arial"/>
              <a:ea typeface="+mn-ea"/>
              <a:cs typeface="Arial"/>
            </a:endParaRPr>
          </a:p>
        </p:txBody>
      </p:sp>
      <p:sp>
        <p:nvSpPr>
          <p:cNvPr id="29" name="Textfeld 28">
            <a:extLst>
              <a:ext uri="{FF2B5EF4-FFF2-40B4-BE49-F238E27FC236}">
                <a16:creationId xmlns:a16="http://schemas.microsoft.com/office/drawing/2014/main" id="{8903689E-1D0D-A309-429E-9792CF066E85}"/>
              </a:ext>
            </a:extLst>
          </p:cNvPr>
          <p:cNvSpPr txBox="1"/>
          <p:nvPr/>
        </p:nvSpPr>
        <p:spPr>
          <a:xfrm>
            <a:off x="4348074" y="4025837"/>
            <a:ext cx="474008"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1" i="0" u="none" strike="noStrike" kern="1200" cap="none" spc="0" normalizeH="0" baseline="0" noProof="0" dirty="0" err="1">
                <a:ln>
                  <a:noFill/>
                </a:ln>
                <a:solidFill>
                  <a:prstClr val="black"/>
                </a:solidFill>
                <a:effectLst/>
                <a:uLnTx/>
                <a:uFillTx/>
                <a:latin typeface="Arial Narrow" panose="020B0606020202030204" pitchFamily="34" charset="0"/>
                <a:ea typeface="Calibri"/>
                <a:cs typeface="Arial" panose="020B0604020202020204" pitchFamily="34" charset="0"/>
              </a:rPr>
              <a:t>RewP</a:t>
            </a:r>
            <a:endParaRPr kumimoji="0" lang="de-DE" sz="900" b="1" i="0" u="none" strike="noStrike" kern="1200" cap="none" spc="0" normalizeH="0" baseline="0" noProof="0" dirty="0">
              <a:ln>
                <a:noFill/>
              </a:ln>
              <a:solidFill>
                <a:prstClr val="black"/>
              </a:solidFill>
              <a:effectLst/>
              <a:uLnTx/>
              <a:uFillTx/>
              <a:latin typeface="Arial Narrow" panose="020B0606020202030204" pitchFamily="34" charset="0"/>
              <a:ea typeface="Calibri"/>
              <a:cs typeface="Arial" panose="020B0604020202020204" pitchFamily="34" charset="0"/>
            </a:endParaRPr>
          </a:p>
        </p:txBody>
      </p:sp>
      <p:pic>
        <p:nvPicPr>
          <p:cNvPr id="21" name="Inhaltsplatzhalter 5">
            <a:extLst>
              <a:ext uri="{FF2B5EF4-FFF2-40B4-BE49-F238E27FC236}">
                <a16:creationId xmlns:a16="http://schemas.microsoft.com/office/drawing/2014/main" id="{0851F4FF-6121-35DE-3FCF-D319A6C549B7}"/>
              </a:ext>
            </a:extLst>
          </p:cNvPr>
          <p:cNvPicPr>
            <a:picLocks noGrp="1" noChangeAspect="1"/>
          </p:cNvPicPr>
          <p:nvPr>
            <p:ph idx="1"/>
          </p:nvPr>
        </p:nvPicPr>
        <p:blipFill rotWithShape="1">
          <a:blip r:embed="rId9">
            <a:extLst>
              <a:ext uri="{28A0092B-C50C-407E-A947-70E740481C1C}">
                <a14:useLocalDpi xmlns:a14="http://schemas.microsoft.com/office/drawing/2010/main" val="0"/>
              </a:ext>
            </a:extLst>
          </a:blip>
          <a:srcRect t="66" b="66"/>
          <a:stretch/>
        </p:blipFill>
        <p:spPr>
          <a:xfrm>
            <a:off x="1283308" y="3424744"/>
            <a:ext cx="1144680" cy="648000"/>
          </a:xfrm>
        </p:spPr>
      </p:pic>
      <p:pic>
        <p:nvPicPr>
          <p:cNvPr id="23" name="Inhaltsplatzhalter 5">
            <a:extLst>
              <a:ext uri="{FF2B5EF4-FFF2-40B4-BE49-F238E27FC236}">
                <a16:creationId xmlns:a16="http://schemas.microsoft.com/office/drawing/2014/main" id="{FC66A410-0327-0926-F3AB-D26D1DAF69BA}"/>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t="965" b="965"/>
          <a:stretch/>
        </p:blipFill>
        <p:spPr>
          <a:xfrm>
            <a:off x="2483725" y="3424744"/>
            <a:ext cx="1136410" cy="648000"/>
          </a:xfrm>
          <a:prstGeom prst="rect">
            <a:avLst/>
          </a:prstGeom>
        </p:spPr>
      </p:pic>
      <p:sp>
        <p:nvSpPr>
          <p:cNvPr id="49" name="Rechteck 48">
            <a:extLst>
              <a:ext uri="{FF2B5EF4-FFF2-40B4-BE49-F238E27FC236}">
                <a16:creationId xmlns:a16="http://schemas.microsoft.com/office/drawing/2014/main" id="{E3B7BC95-7ADE-4F5E-9A42-E599CAA97A94}"/>
              </a:ext>
            </a:extLst>
          </p:cNvPr>
          <p:cNvSpPr/>
          <p:nvPr/>
        </p:nvSpPr>
        <p:spPr>
          <a:xfrm>
            <a:off x="7703158" y="3935560"/>
            <a:ext cx="72000" cy="180000"/>
          </a:xfrm>
          <a:prstGeom prst="rect">
            <a:avLst/>
          </a:prstGeom>
          <a:solidFill>
            <a:srgbClr val="808080"/>
          </a:solidFill>
          <a:ln w="12700" cap="flat" cmpd="sng" algn="ctr">
            <a:solidFill>
              <a:schemeClr val="tx1"/>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black"/>
              </a:solidFill>
              <a:effectLst/>
              <a:uLnTx/>
              <a:uFillTx/>
              <a:latin typeface="Calibri"/>
              <a:ea typeface="+mn-ea"/>
              <a:cs typeface="Arial"/>
              <a:sym typeface="Arial"/>
            </a:endParaRPr>
          </a:p>
        </p:txBody>
      </p:sp>
      <p:sp>
        <p:nvSpPr>
          <p:cNvPr id="50" name="Rechteck 49">
            <a:extLst>
              <a:ext uri="{FF2B5EF4-FFF2-40B4-BE49-F238E27FC236}">
                <a16:creationId xmlns:a16="http://schemas.microsoft.com/office/drawing/2014/main" id="{E98A1AA6-1015-4E2F-B98D-C293EE682106}"/>
              </a:ext>
            </a:extLst>
          </p:cNvPr>
          <p:cNvSpPr/>
          <p:nvPr/>
        </p:nvSpPr>
        <p:spPr>
          <a:xfrm>
            <a:off x="8121731" y="3737717"/>
            <a:ext cx="72000" cy="377843"/>
          </a:xfrm>
          <a:prstGeom prst="rect">
            <a:avLst/>
          </a:prstGeom>
          <a:solidFill>
            <a:srgbClr val="2E75B6"/>
          </a:solidFill>
          <a:ln w="12700" cap="flat" cmpd="sng" algn="ctr">
            <a:solidFill>
              <a:schemeClr val="tx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dirty="0">
              <a:ln>
                <a:noFill/>
              </a:ln>
              <a:solidFill>
                <a:prstClr val="black"/>
              </a:solidFill>
              <a:effectLst/>
              <a:uLnTx/>
              <a:uFillTx/>
              <a:latin typeface="Calibri"/>
              <a:ea typeface="+mn-ea"/>
              <a:cs typeface="Arial"/>
              <a:sym typeface="Arial"/>
            </a:endParaRPr>
          </a:p>
        </p:txBody>
      </p:sp>
      <p:sp>
        <p:nvSpPr>
          <p:cNvPr id="51" name="Rechteck 50">
            <a:extLst>
              <a:ext uri="{FF2B5EF4-FFF2-40B4-BE49-F238E27FC236}">
                <a16:creationId xmlns:a16="http://schemas.microsoft.com/office/drawing/2014/main" id="{990DA4B0-202E-4B28-AF06-34B337FABD96}"/>
              </a:ext>
            </a:extLst>
          </p:cNvPr>
          <p:cNvSpPr/>
          <p:nvPr/>
        </p:nvSpPr>
        <p:spPr>
          <a:xfrm>
            <a:off x="8341618" y="3492575"/>
            <a:ext cx="72000" cy="622985"/>
          </a:xfrm>
          <a:prstGeom prst="rect">
            <a:avLst/>
          </a:prstGeom>
          <a:solidFill>
            <a:srgbClr val="C55A11"/>
          </a:solidFill>
          <a:ln w="12700" cap="flat" cmpd="sng" algn="ctr">
            <a:solidFill>
              <a:schemeClr val="tx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dirty="0">
              <a:ln>
                <a:noFill/>
              </a:ln>
              <a:solidFill>
                <a:prstClr val="black"/>
              </a:solidFill>
              <a:effectLst/>
              <a:uLnTx/>
              <a:uFillTx/>
              <a:latin typeface="Calibri"/>
              <a:ea typeface="+mn-ea"/>
              <a:cs typeface="Arial"/>
              <a:sym typeface="Arial"/>
            </a:endParaRPr>
          </a:p>
        </p:txBody>
      </p:sp>
      <p:sp>
        <p:nvSpPr>
          <p:cNvPr id="52" name="Rechteck 51">
            <a:extLst>
              <a:ext uri="{FF2B5EF4-FFF2-40B4-BE49-F238E27FC236}">
                <a16:creationId xmlns:a16="http://schemas.microsoft.com/office/drawing/2014/main" id="{153F8151-6C73-4A8B-A6A5-F365E448B504}"/>
              </a:ext>
            </a:extLst>
          </p:cNvPr>
          <p:cNvSpPr/>
          <p:nvPr/>
        </p:nvSpPr>
        <p:spPr>
          <a:xfrm>
            <a:off x="7810466" y="3918507"/>
            <a:ext cx="72000" cy="197053"/>
          </a:xfrm>
          <a:prstGeom prst="rect">
            <a:avLst/>
          </a:prstGeom>
          <a:solidFill>
            <a:srgbClr val="C55A11"/>
          </a:solidFill>
          <a:ln w="12700" cap="flat" cmpd="sng" algn="ctr">
            <a:solidFill>
              <a:schemeClr val="tx1"/>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de-DE" sz="1350" b="0" i="0" u="none" strike="noStrike" kern="0" cap="none" spc="0" normalizeH="0" baseline="0" noProof="0">
              <a:ln>
                <a:noFill/>
              </a:ln>
              <a:solidFill>
                <a:prstClr val="black"/>
              </a:solidFill>
              <a:effectLst/>
              <a:uLnTx/>
              <a:uFillTx/>
              <a:latin typeface="Calibri"/>
              <a:ea typeface="+mn-ea"/>
              <a:cs typeface="Arial"/>
              <a:sym typeface="Arial"/>
            </a:endParaRPr>
          </a:p>
        </p:txBody>
      </p:sp>
      <p:sp>
        <p:nvSpPr>
          <p:cNvPr id="91" name="Freihandform: Form 90">
            <a:extLst>
              <a:ext uri="{FF2B5EF4-FFF2-40B4-BE49-F238E27FC236}">
                <a16:creationId xmlns:a16="http://schemas.microsoft.com/office/drawing/2014/main" id="{785A9DD3-022A-6035-C994-3E85A79F6D05}"/>
              </a:ext>
            </a:extLst>
          </p:cNvPr>
          <p:cNvSpPr/>
          <p:nvPr/>
        </p:nvSpPr>
        <p:spPr>
          <a:xfrm>
            <a:off x="8003597" y="3365079"/>
            <a:ext cx="537210" cy="598474"/>
          </a:xfrm>
          <a:custGeom>
            <a:avLst/>
            <a:gdLst>
              <a:gd name="connsiteX0" fmla="*/ 0 w 716280"/>
              <a:gd name="connsiteY0" fmla="*/ 514711 h 797965"/>
              <a:gd name="connsiteX1" fmla="*/ 55880 w 716280"/>
              <a:gd name="connsiteY1" fmla="*/ 616311 h 797965"/>
              <a:gd name="connsiteX2" fmla="*/ 101600 w 716280"/>
              <a:gd name="connsiteY2" fmla="*/ 611231 h 797965"/>
              <a:gd name="connsiteX3" fmla="*/ 167640 w 716280"/>
              <a:gd name="connsiteY3" fmla="*/ 540111 h 797965"/>
              <a:gd name="connsiteX4" fmla="*/ 223520 w 716280"/>
              <a:gd name="connsiteY4" fmla="*/ 595991 h 797965"/>
              <a:gd name="connsiteX5" fmla="*/ 335280 w 716280"/>
              <a:gd name="connsiteY5" fmla="*/ 52431 h 797965"/>
              <a:gd name="connsiteX6" fmla="*/ 350520 w 716280"/>
              <a:gd name="connsiteY6" fmla="*/ 21951 h 797965"/>
              <a:gd name="connsiteX7" fmla="*/ 396240 w 716280"/>
              <a:gd name="connsiteY7" fmla="*/ 57511 h 797965"/>
              <a:gd name="connsiteX8" fmla="*/ 406400 w 716280"/>
              <a:gd name="connsiteY8" fmla="*/ 67671 h 797965"/>
              <a:gd name="connsiteX9" fmla="*/ 533400 w 716280"/>
              <a:gd name="connsiteY9" fmla="*/ 783951 h 797965"/>
              <a:gd name="connsiteX10" fmla="*/ 716280 w 716280"/>
              <a:gd name="connsiteY10" fmla="*/ 560431 h 797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6280" h="797965">
                <a:moveTo>
                  <a:pt x="0" y="514711"/>
                </a:moveTo>
                <a:cubicBezTo>
                  <a:pt x="19473" y="557467"/>
                  <a:pt x="38947" y="600224"/>
                  <a:pt x="55880" y="616311"/>
                </a:cubicBezTo>
                <a:cubicBezTo>
                  <a:pt x="72813" y="632398"/>
                  <a:pt x="82973" y="623931"/>
                  <a:pt x="101600" y="611231"/>
                </a:cubicBezTo>
                <a:cubicBezTo>
                  <a:pt x="120227" y="598531"/>
                  <a:pt x="147320" y="542651"/>
                  <a:pt x="167640" y="540111"/>
                </a:cubicBezTo>
                <a:cubicBezTo>
                  <a:pt x="187960" y="537571"/>
                  <a:pt x="195580" y="677271"/>
                  <a:pt x="223520" y="595991"/>
                </a:cubicBezTo>
                <a:cubicBezTo>
                  <a:pt x="251460" y="514711"/>
                  <a:pt x="314113" y="148104"/>
                  <a:pt x="335280" y="52431"/>
                </a:cubicBezTo>
                <a:cubicBezTo>
                  <a:pt x="356447" y="-43242"/>
                  <a:pt x="340360" y="21104"/>
                  <a:pt x="350520" y="21951"/>
                </a:cubicBezTo>
                <a:cubicBezTo>
                  <a:pt x="360680" y="22798"/>
                  <a:pt x="396240" y="57511"/>
                  <a:pt x="396240" y="57511"/>
                </a:cubicBezTo>
                <a:cubicBezTo>
                  <a:pt x="405553" y="65131"/>
                  <a:pt x="383540" y="-53402"/>
                  <a:pt x="406400" y="67671"/>
                </a:cubicBezTo>
                <a:cubicBezTo>
                  <a:pt x="429260" y="188744"/>
                  <a:pt x="481753" y="701824"/>
                  <a:pt x="533400" y="783951"/>
                </a:cubicBezTo>
                <a:cubicBezTo>
                  <a:pt x="585047" y="866078"/>
                  <a:pt x="716280" y="560431"/>
                  <a:pt x="716280" y="560431"/>
                </a:cubicBezTo>
              </a:path>
            </a:pathLst>
          </a:custGeom>
          <a:noFill/>
          <a:ln>
            <a:solidFill>
              <a:srgbClr val="CCA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07" name="Freihandform: Form 106">
            <a:extLst>
              <a:ext uri="{FF2B5EF4-FFF2-40B4-BE49-F238E27FC236}">
                <a16:creationId xmlns:a16="http://schemas.microsoft.com/office/drawing/2014/main" id="{86CDD63C-5F24-36D2-B244-65987F444FFB}"/>
              </a:ext>
            </a:extLst>
          </p:cNvPr>
          <p:cNvSpPr/>
          <p:nvPr/>
        </p:nvSpPr>
        <p:spPr>
          <a:xfrm>
            <a:off x="7443527" y="3604937"/>
            <a:ext cx="464820" cy="358616"/>
          </a:xfrm>
          <a:custGeom>
            <a:avLst/>
            <a:gdLst>
              <a:gd name="connsiteX0" fmla="*/ 0 w 619760"/>
              <a:gd name="connsiteY0" fmla="*/ 242937 h 478154"/>
              <a:gd name="connsiteX1" fmla="*/ 81280 w 619760"/>
              <a:gd name="connsiteY1" fmla="*/ 339457 h 478154"/>
              <a:gd name="connsiteX2" fmla="*/ 172720 w 619760"/>
              <a:gd name="connsiteY2" fmla="*/ 268337 h 478154"/>
              <a:gd name="connsiteX3" fmla="*/ 228600 w 619760"/>
              <a:gd name="connsiteY3" fmla="*/ 298817 h 478154"/>
              <a:gd name="connsiteX4" fmla="*/ 355600 w 619760"/>
              <a:gd name="connsiteY4" fmla="*/ 34657 h 478154"/>
              <a:gd name="connsiteX5" fmla="*/ 391160 w 619760"/>
              <a:gd name="connsiteY5" fmla="*/ 4177 h 478154"/>
              <a:gd name="connsiteX6" fmla="*/ 396240 w 619760"/>
              <a:gd name="connsiteY6" fmla="*/ 44817 h 478154"/>
              <a:gd name="connsiteX7" fmla="*/ 421640 w 619760"/>
              <a:gd name="connsiteY7" fmla="*/ 44817 h 478154"/>
              <a:gd name="connsiteX8" fmla="*/ 513080 w 619760"/>
              <a:gd name="connsiteY8" fmla="*/ 466457 h 478154"/>
              <a:gd name="connsiteX9" fmla="*/ 619760 w 619760"/>
              <a:gd name="connsiteY9" fmla="*/ 319137 h 47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760" h="478154">
                <a:moveTo>
                  <a:pt x="0" y="242937"/>
                </a:moveTo>
                <a:cubicBezTo>
                  <a:pt x="26246" y="289080"/>
                  <a:pt x="52493" y="335224"/>
                  <a:pt x="81280" y="339457"/>
                </a:cubicBezTo>
                <a:cubicBezTo>
                  <a:pt x="110067" y="343690"/>
                  <a:pt x="148167" y="275110"/>
                  <a:pt x="172720" y="268337"/>
                </a:cubicBezTo>
                <a:cubicBezTo>
                  <a:pt x="197273" y="261564"/>
                  <a:pt x="198120" y="337764"/>
                  <a:pt x="228600" y="298817"/>
                </a:cubicBezTo>
                <a:cubicBezTo>
                  <a:pt x="259080" y="259870"/>
                  <a:pt x="328507" y="83764"/>
                  <a:pt x="355600" y="34657"/>
                </a:cubicBezTo>
                <a:cubicBezTo>
                  <a:pt x="382693" y="-14450"/>
                  <a:pt x="384387" y="2484"/>
                  <a:pt x="391160" y="4177"/>
                </a:cubicBezTo>
                <a:cubicBezTo>
                  <a:pt x="397933" y="5870"/>
                  <a:pt x="391160" y="38044"/>
                  <a:pt x="396240" y="44817"/>
                </a:cubicBezTo>
                <a:cubicBezTo>
                  <a:pt x="401320" y="51590"/>
                  <a:pt x="402167" y="-25456"/>
                  <a:pt x="421640" y="44817"/>
                </a:cubicBezTo>
                <a:cubicBezTo>
                  <a:pt x="441113" y="115090"/>
                  <a:pt x="480060" y="420737"/>
                  <a:pt x="513080" y="466457"/>
                </a:cubicBezTo>
                <a:cubicBezTo>
                  <a:pt x="546100" y="512177"/>
                  <a:pt x="582930" y="415657"/>
                  <a:pt x="619760" y="319137"/>
                </a:cubicBezTo>
              </a:path>
            </a:pathLst>
          </a:custGeom>
          <a:noFill/>
          <a:ln>
            <a:solidFill>
              <a:srgbClr val="9D7B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53" name="Textfeld 52">
            <a:extLst>
              <a:ext uri="{FF2B5EF4-FFF2-40B4-BE49-F238E27FC236}">
                <a16:creationId xmlns:a16="http://schemas.microsoft.com/office/drawing/2014/main" id="{43904D7B-54F4-4407-BDE6-E7CA93B3BEAE}"/>
              </a:ext>
            </a:extLst>
          </p:cNvPr>
          <p:cNvSpPr txBox="1"/>
          <p:nvPr/>
        </p:nvSpPr>
        <p:spPr>
          <a:xfrm>
            <a:off x="1203268" y="3270371"/>
            <a:ext cx="521146" cy="187424"/>
          </a:xfrm>
          <a:prstGeom prst="rect">
            <a:avLst/>
          </a:prstGeom>
          <a:noFill/>
          <a:ln w="12700">
            <a:noFill/>
          </a:ln>
        </p:spPr>
        <p:txBody>
          <a:bodyPr wrap="square" lIns="91440" tIns="27000" rIns="91440" bIns="27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prstClr val="black"/>
                </a:solidFill>
                <a:effectLst/>
                <a:uLnTx/>
                <a:uFillTx/>
                <a:latin typeface="Calibri"/>
                <a:ea typeface="+mn-ea"/>
                <a:cs typeface="+mn-cs"/>
              </a:rPr>
              <a:t>Global</a:t>
            </a:r>
            <a:endParaRPr kumimoji="0" lang="en-US" sz="900" b="0" i="0" u="none" strike="noStrike" kern="1200" cap="none" spc="0" normalizeH="0" baseline="0" noProof="0" dirty="0">
              <a:ln>
                <a:noFill/>
              </a:ln>
              <a:solidFill>
                <a:prstClr val="black"/>
              </a:solidFill>
              <a:effectLst/>
              <a:uLnTx/>
              <a:uFillTx/>
              <a:latin typeface="Calibri"/>
              <a:ea typeface="+mn-ea"/>
              <a:cs typeface="+mn-cs"/>
            </a:endParaRPr>
          </a:p>
        </p:txBody>
      </p:sp>
      <p:sp>
        <p:nvSpPr>
          <p:cNvPr id="54" name="Textfeld 53">
            <a:extLst>
              <a:ext uri="{FF2B5EF4-FFF2-40B4-BE49-F238E27FC236}">
                <a16:creationId xmlns:a16="http://schemas.microsoft.com/office/drawing/2014/main" id="{7F0E1076-6365-4D36-8832-AF7BF1B4A6EF}"/>
              </a:ext>
            </a:extLst>
          </p:cNvPr>
          <p:cNvSpPr txBox="1"/>
          <p:nvPr/>
        </p:nvSpPr>
        <p:spPr>
          <a:xfrm>
            <a:off x="2399554" y="3266634"/>
            <a:ext cx="765078" cy="187424"/>
          </a:xfrm>
          <a:prstGeom prst="rect">
            <a:avLst/>
          </a:prstGeom>
          <a:noFill/>
          <a:ln w="12700">
            <a:noFill/>
          </a:ln>
        </p:spPr>
        <p:txBody>
          <a:bodyPr wrap="square" lIns="91440" tIns="27000" rIns="91440" bIns="27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prstClr val="black"/>
                </a:solidFill>
                <a:effectLst/>
                <a:uLnTx/>
                <a:uFillTx/>
                <a:latin typeface="Calibri"/>
                <a:ea typeface="+mn-ea"/>
                <a:cs typeface="+mn-cs"/>
              </a:rPr>
              <a:t>High vs. Low</a:t>
            </a:r>
            <a:endParaRPr kumimoji="0" lang="en-US" sz="9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55" name="Gruppieren 54">
            <a:extLst>
              <a:ext uri="{FF2B5EF4-FFF2-40B4-BE49-F238E27FC236}">
                <a16:creationId xmlns:a16="http://schemas.microsoft.com/office/drawing/2014/main" id="{24178FDD-199E-44FE-AA58-BCFC2A57BE6A}"/>
              </a:ext>
            </a:extLst>
          </p:cNvPr>
          <p:cNvGrpSpPr/>
          <p:nvPr/>
        </p:nvGrpSpPr>
        <p:grpSpPr>
          <a:xfrm>
            <a:off x="3159317" y="3329440"/>
            <a:ext cx="466140" cy="289307"/>
            <a:chOff x="3254084" y="3468656"/>
            <a:chExt cx="466140" cy="289307"/>
          </a:xfrm>
        </p:grpSpPr>
        <p:sp>
          <p:nvSpPr>
            <p:cNvPr id="56" name="Sprechblase: oval 55">
              <a:extLst>
                <a:ext uri="{FF2B5EF4-FFF2-40B4-BE49-F238E27FC236}">
                  <a16:creationId xmlns:a16="http://schemas.microsoft.com/office/drawing/2014/main" id="{A6463B0D-0C95-469C-A4D4-7112BB6F3B74}"/>
                </a:ext>
              </a:extLst>
            </p:cNvPr>
            <p:cNvSpPr/>
            <p:nvPr/>
          </p:nvSpPr>
          <p:spPr>
            <a:xfrm flipH="1">
              <a:off x="3254084" y="3468656"/>
              <a:ext cx="466140" cy="289307"/>
            </a:xfrm>
            <a:prstGeom prst="wedgeEllipseCallout">
              <a:avLst/>
            </a:prstGeom>
            <a:solidFill>
              <a:schemeClr val="bg1"/>
            </a:solidFill>
            <a:ln w="19050">
              <a:solidFill>
                <a:srgbClr val="B992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57" name="Grafik 56">
              <a:extLst>
                <a:ext uri="{FF2B5EF4-FFF2-40B4-BE49-F238E27FC236}">
                  <a16:creationId xmlns:a16="http://schemas.microsoft.com/office/drawing/2014/main" id="{58246BEF-E39E-4EB6-9059-AC8414FEABC5}"/>
                </a:ext>
              </a:extLst>
            </p:cNvPr>
            <p:cNvPicPr>
              <a:picLocks noChangeAspect="1"/>
            </p:cNvPicPr>
            <p:nvPr/>
          </p:nvPicPr>
          <p:blipFill rotWithShape="1">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rcRect l="3825" r="3825"/>
            <a:stretch/>
          </p:blipFill>
          <p:spPr>
            <a:xfrm>
              <a:off x="3336600" y="3472326"/>
              <a:ext cx="270156" cy="279253"/>
            </a:xfrm>
            <a:prstGeom prst="ellipse">
              <a:avLst/>
            </a:prstGeom>
          </p:spPr>
        </p:pic>
      </p:grpSp>
      <p:pic>
        <p:nvPicPr>
          <p:cNvPr id="26" name="Grafik 25" descr="Ein Bild, das Text, Reihe enthält.&#10;&#10;KI-generierte Inhalte können fehlerhaft sein.">
            <a:extLst>
              <a:ext uri="{FF2B5EF4-FFF2-40B4-BE49-F238E27FC236}">
                <a16:creationId xmlns:a16="http://schemas.microsoft.com/office/drawing/2014/main" id="{0D4BCD1F-2802-5B58-1A6F-C523BE832275}"/>
              </a:ext>
            </a:extLst>
          </p:cNvPr>
          <p:cNvPicPr>
            <a:picLocks noChangeAspect="1"/>
          </p:cNvPicPr>
          <p:nvPr/>
        </p:nvPicPr>
        <p:blipFill rotWithShape="1">
          <a:blip r:embed="rId13" cstate="print">
            <a:extLst>
              <a:ext uri="{28A0092B-C50C-407E-A947-70E740481C1C}">
                <a14:useLocalDpi xmlns:a14="http://schemas.microsoft.com/office/drawing/2010/main" val="0"/>
              </a:ext>
            </a:extLst>
          </a:blip>
          <a:srcRect l="3602" t="24729" r="1076" b="12759"/>
          <a:stretch/>
        </p:blipFill>
        <p:spPr>
          <a:xfrm>
            <a:off x="1690774" y="4082309"/>
            <a:ext cx="1193087" cy="499868"/>
          </a:xfrm>
          <a:prstGeom prst="rect">
            <a:avLst/>
          </a:prstGeom>
        </p:spPr>
      </p:pic>
      <p:sp>
        <p:nvSpPr>
          <p:cNvPr id="58" name="Textfeld 57">
            <a:extLst>
              <a:ext uri="{FF2B5EF4-FFF2-40B4-BE49-F238E27FC236}">
                <a16:creationId xmlns:a16="http://schemas.microsoft.com/office/drawing/2014/main" id="{A939764F-EB09-4202-A022-5F621E118F77}"/>
              </a:ext>
            </a:extLst>
          </p:cNvPr>
          <p:cNvSpPr txBox="1"/>
          <p:nvPr/>
        </p:nvSpPr>
        <p:spPr>
          <a:xfrm>
            <a:off x="915969" y="4744860"/>
            <a:ext cx="7824607" cy="215444"/>
          </a:xfrm>
          <a:prstGeom prst="rect">
            <a:avLst/>
          </a:prstGeom>
          <a:noFill/>
        </p:spPr>
        <p:txBody>
          <a:bodyPr wrap="square" rtlCol="0">
            <a:spAutoFit/>
          </a:bodyPr>
          <a:lstStyle>
            <a:defPPr>
              <a:defRPr lang="de-DE"/>
            </a:defPPr>
            <a:lvl1pPr algn="ctr">
              <a:defRPr sz="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Braem</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2017; Dreisbach &amp; Fröber, 2019; Farmer et al., 2018; Fröber &amp; Dreisbach, 2016; Shen &amp; Chun, 2011; Ullsperger et al., 2024 </a:t>
            </a:r>
          </a:p>
        </p:txBody>
      </p:sp>
    </p:spTree>
    <p:extLst>
      <p:ext uri="{BB962C8B-B14F-4D97-AF65-F5344CB8AC3E}">
        <p14:creationId xmlns:p14="http://schemas.microsoft.com/office/powerpoint/2010/main" val="3084005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E51468-7923-3060-504A-591810EA79EA}"/>
              </a:ext>
            </a:extLst>
          </p:cNvPr>
          <p:cNvSpPr>
            <a:spLocks noGrp="1"/>
          </p:cNvSpPr>
          <p:nvPr>
            <p:ph type="title"/>
          </p:nvPr>
        </p:nvSpPr>
        <p:spPr/>
        <p:txBody>
          <a:bodyPr>
            <a:normAutofit/>
          </a:bodyPr>
          <a:lstStyle/>
          <a:p>
            <a:r>
              <a:rPr lang="de-DE" sz="2100" b="0" dirty="0" err="1"/>
              <a:t>Empirical</a:t>
            </a:r>
            <a:r>
              <a:rPr lang="de-DE" sz="2100" b="0" dirty="0"/>
              <a:t> </a:t>
            </a:r>
            <a:r>
              <a:rPr lang="de-DE" sz="2100" b="0" dirty="0" err="1"/>
              <a:t>objective</a:t>
            </a:r>
            <a:r>
              <a:rPr lang="de-DE" sz="2100" b="0" dirty="0"/>
              <a:t> 3: </a:t>
            </a:r>
            <a:r>
              <a:rPr lang="en-US" sz="2100" b="0" dirty="0">
                <a:solidFill>
                  <a:srgbClr val="B99212"/>
                </a:solidFill>
              </a:rPr>
              <a:t>Psychological traits </a:t>
            </a:r>
            <a:r>
              <a:rPr lang="en-US" sz="2100" b="0" dirty="0"/>
              <a:t>affecting response strategies</a:t>
            </a:r>
            <a:endParaRPr lang="de-DE" sz="2100" b="0" dirty="0"/>
          </a:p>
        </p:txBody>
      </p:sp>
      <p:sp>
        <p:nvSpPr>
          <p:cNvPr id="4" name="Foliennummernplatzhalter 3">
            <a:extLst>
              <a:ext uri="{FF2B5EF4-FFF2-40B4-BE49-F238E27FC236}">
                <a16:creationId xmlns:a16="http://schemas.microsoft.com/office/drawing/2014/main" id="{90831680-2FDB-BBA5-64B7-30DDF3B4C2A8}"/>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27</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pic>
        <p:nvPicPr>
          <p:cNvPr id="47" name="Grafik 46">
            <a:extLst>
              <a:ext uri="{FF2B5EF4-FFF2-40B4-BE49-F238E27FC236}">
                <a16:creationId xmlns:a16="http://schemas.microsoft.com/office/drawing/2014/main" id="{E96B1171-6026-4088-9F2C-3AA42C73F3E3}"/>
              </a:ext>
            </a:extLst>
          </p:cNvPr>
          <p:cNvPicPr>
            <a:picLocks noChangeAspect="1"/>
          </p:cNvPicPr>
          <p:nvPr/>
        </p:nvPicPr>
        <p:blipFill>
          <a:blip r:embed="rId3"/>
          <a:stretch>
            <a:fillRect/>
          </a:stretch>
        </p:blipFill>
        <p:spPr>
          <a:xfrm>
            <a:off x="867317" y="3311332"/>
            <a:ext cx="624892" cy="624892"/>
          </a:xfrm>
          <a:prstGeom prst="rect">
            <a:avLst/>
          </a:prstGeom>
        </p:spPr>
      </p:pic>
      <p:sp>
        <p:nvSpPr>
          <p:cNvPr id="48" name="Textfeld 47">
            <a:extLst>
              <a:ext uri="{FF2B5EF4-FFF2-40B4-BE49-F238E27FC236}">
                <a16:creationId xmlns:a16="http://schemas.microsoft.com/office/drawing/2014/main" id="{75C6D2F1-5402-4CDB-B6D4-C0C650DF897D}"/>
              </a:ext>
            </a:extLst>
          </p:cNvPr>
          <p:cNvSpPr txBox="1"/>
          <p:nvPr/>
        </p:nvSpPr>
        <p:spPr>
          <a:xfrm>
            <a:off x="1603949" y="2641569"/>
            <a:ext cx="4703803" cy="18591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225"/>
              </a:spcBef>
              <a:spcAft>
                <a:spcPts val="0"/>
              </a:spcAft>
              <a:buClrTx/>
              <a:buSzTx/>
              <a:buFontTx/>
              <a:buNone/>
              <a:tabLst/>
              <a:defRPr/>
            </a:pPr>
            <a:r>
              <a:rPr kumimoji="0" lang="en-US" sz="1000" b="0" i="0" u="sng"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Motivation &amp; Effort</a:t>
            </a:r>
          </a:p>
          <a:p>
            <a:pPr marL="324000" marR="0" lvl="1" indent="-128588"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Need for Cognition </a:t>
            </a: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 would prefer complex to simple problems.”</a:t>
            </a:r>
            <a:endPar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324000" marR="0" lvl="1" indent="-128588"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Trait Persistence </a:t>
            </a: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“If I decide to do something, I keep going until I reach my goal.”</a:t>
            </a:r>
          </a:p>
          <a:p>
            <a:pPr marL="324000" marR="0" lvl="1" indent="-128588"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Behavioral activation system </a:t>
            </a: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would excite me to win a contest”</a:t>
            </a:r>
          </a:p>
          <a:p>
            <a:pPr marL="0" marR="0" lvl="0" indent="0" algn="l" defTabSz="914400" rtl="0" eaLnBrk="1" fontAlgn="auto" latinLnBrk="0" hangingPunct="1">
              <a:lnSpc>
                <a:spcPct val="150000"/>
              </a:lnSpc>
              <a:spcBef>
                <a:spcPts val="225"/>
              </a:spcBef>
              <a:spcAft>
                <a:spcPts val="0"/>
              </a:spcAft>
              <a:buClrTx/>
              <a:buSzTx/>
              <a:buFontTx/>
              <a:buNone/>
              <a:tabLst/>
              <a:defRPr/>
            </a:pPr>
            <a:r>
              <a:rPr kumimoji="0" lang="en-US" sz="1000" b="0" i="0" u="sng"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Personality &amp; Attitude</a:t>
            </a:r>
          </a:p>
          <a:p>
            <a:pPr marL="457200" marR="0" lvl="1" indent="-147488"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Big Five (especially: conscientiousness, openness) </a:t>
            </a:r>
          </a:p>
          <a:p>
            <a:pPr marL="457200" marR="0" lvl="1" indent="-147488"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Polychronicity “</a:t>
            </a: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 would rather switch back and forth between several projects than concentrate my efforts on just one. </a:t>
            </a: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p>
        </p:txBody>
      </p:sp>
      <p:sp>
        <p:nvSpPr>
          <p:cNvPr id="84" name="Textfeld 83">
            <a:extLst>
              <a:ext uri="{FF2B5EF4-FFF2-40B4-BE49-F238E27FC236}">
                <a16:creationId xmlns:a16="http://schemas.microsoft.com/office/drawing/2014/main" id="{43462289-7EC8-4243-AF83-E6C7425A6E3F}"/>
              </a:ext>
            </a:extLst>
          </p:cNvPr>
          <p:cNvSpPr txBox="1"/>
          <p:nvPr/>
        </p:nvSpPr>
        <p:spPr>
          <a:xfrm>
            <a:off x="1786960" y="4746996"/>
            <a:ext cx="5868455" cy="21929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Brüning &amp; </a:t>
            </a: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Manzey</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2018; </a:t>
            </a: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Poposki</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&amp; Oswald, 2010; </a:t>
            </a: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Redick</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et al., 2016; </a:t>
            </a: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Shenhav</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et al., 2013; </a:t>
            </a: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Umemoto</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&amp; </a:t>
            </a: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Holroyd</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2016</a:t>
            </a:r>
          </a:p>
        </p:txBody>
      </p:sp>
      <p:sp>
        <p:nvSpPr>
          <p:cNvPr id="50" name="Inhaltsplatzhalter 9">
            <a:extLst>
              <a:ext uri="{FF2B5EF4-FFF2-40B4-BE49-F238E27FC236}">
                <a16:creationId xmlns:a16="http://schemas.microsoft.com/office/drawing/2014/main" id="{09F7F2EC-4594-43B4-B937-EBEC149FED89}"/>
              </a:ext>
            </a:extLst>
          </p:cNvPr>
          <p:cNvSpPr txBox="1">
            <a:spLocks/>
          </p:cNvSpPr>
          <p:nvPr/>
        </p:nvSpPr>
        <p:spPr>
          <a:xfrm>
            <a:off x="4883489" y="1445363"/>
            <a:ext cx="4003934" cy="715209"/>
          </a:xfrm>
          <a:prstGeom prst="rect">
            <a:avLst/>
          </a:prstGeom>
        </p:spPr>
        <p:txBody>
          <a:bodyPr vert="horz" lIns="68580" tIns="34290" rIns="68580" bIns="3429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Quicksand"/>
                <a:cs typeface="Arial" panose="020B0604020202020204" pitchFamily="34" charset="0"/>
                <a:sym typeface="Wingdings" panose="05000000000000000000" pitchFamily="2" charset="2"/>
              </a:rPr>
              <a:t>What determines the formation of an individual's natural preference? Why are some individuals more persistent / less flexible in (current) task performance than others?</a:t>
            </a:r>
          </a:p>
          <a:p>
            <a:pPr marL="0" marR="0" lvl="0"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Quicksand"/>
                <a:cs typeface="Arial" panose="020B0604020202020204" pitchFamily="34" charset="0"/>
                <a:sym typeface="Wingdings" panose="05000000000000000000" pitchFamily="2" charset="2"/>
              </a:rPr>
              <a:t> Selective psychological test battery</a:t>
            </a:r>
          </a:p>
        </p:txBody>
      </p:sp>
      <p:pic>
        <p:nvPicPr>
          <p:cNvPr id="51" name="Grafik 50" descr="Hilfe mit einfarbiger Füllung">
            <a:extLst>
              <a:ext uri="{FF2B5EF4-FFF2-40B4-BE49-F238E27FC236}">
                <a16:creationId xmlns:a16="http://schemas.microsoft.com/office/drawing/2014/main" id="{307D12EA-F93D-4917-8FFF-B8A2C975D6F3}"/>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20775" y="1461538"/>
            <a:ext cx="378000" cy="378000"/>
          </a:xfrm>
          <a:prstGeom prst="rect">
            <a:avLst/>
          </a:prstGeom>
        </p:spPr>
      </p:pic>
      <p:sp>
        <p:nvSpPr>
          <p:cNvPr id="55" name="Textfeld 54">
            <a:extLst>
              <a:ext uri="{FF2B5EF4-FFF2-40B4-BE49-F238E27FC236}">
                <a16:creationId xmlns:a16="http://schemas.microsoft.com/office/drawing/2014/main" id="{7B929306-4C2C-4812-B1E7-ADE827459FCF}"/>
              </a:ext>
            </a:extLst>
          </p:cNvPr>
          <p:cNvSpPr txBox="1"/>
          <p:nvPr/>
        </p:nvSpPr>
        <p:spPr>
          <a:xfrm>
            <a:off x="2314127" y="1426181"/>
            <a:ext cx="2021934" cy="91794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explore additional task information</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performance maximization </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exploit given task information</a:t>
            </a:r>
            <a:endParaRPr kumimoji="0" lang="en-US" sz="105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effort minimization	</a:t>
            </a:r>
            <a:r>
              <a:rPr kumimoji="0" lang="en-US" sz="1050" b="0" i="0" u="none" strike="noStrike" kern="1200" cap="none" spc="0" normalizeH="0" baseline="0" noProof="0">
                <a:ln>
                  <a:noFill/>
                </a:ln>
                <a:solidFill>
                  <a:prstClr val="black"/>
                </a:solidFill>
                <a:effectLst/>
                <a:uLnTx/>
                <a:uFillTx/>
                <a:latin typeface="Arial"/>
                <a:ea typeface="+mn-ea"/>
                <a:cs typeface="Arial"/>
                <a:sym typeface="Arial"/>
              </a:rPr>
              <a:t>	</a:t>
            </a:r>
            <a:endParaRPr kumimoji="0" lang="en-US" sz="1050" b="0" i="0" u="none" strike="noStrike" kern="1200" cap="none" spc="0" normalizeH="0" baseline="0" noProof="0">
              <a:ln>
                <a:noFill/>
              </a:ln>
              <a:solidFill>
                <a:prstClr val="black"/>
              </a:solidFill>
              <a:effectLst/>
              <a:uLnTx/>
              <a:uFillTx/>
              <a:latin typeface="Arial"/>
              <a:ea typeface="+mn-ea"/>
              <a:cs typeface="Arial"/>
            </a:endParaRPr>
          </a:p>
        </p:txBody>
      </p:sp>
      <p:sp>
        <p:nvSpPr>
          <p:cNvPr id="56" name="Pfeil: nach rechts 55">
            <a:extLst>
              <a:ext uri="{FF2B5EF4-FFF2-40B4-BE49-F238E27FC236}">
                <a16:creationId xmlns:a16="http://schemas.microsoft.com/office/drawing/2014/main" id="{515E8801-5E2F-4DD2-8CE2-DA88E125ED8E}"/>
              </a:ext>
            </a:extLst>
          </p:cNvPr>
          <p:cNvSpPr/>
          <p:nvPr/>
        </p:nvSpPr>
        <p:spPr>
          <a:xfrm>
            <a:off x="2032731" y="1883976"/>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70" name="Pfeil: nach rechts 69">
            <a:extLst>
              <a:ext uri="{FF2B5EF4-FFF2-40B4-BE49-F238E27FC236}">
                <a16:creationId xmlns:a16="http://schemas.microsoft.com/office/drawing/2014/main" id="{A53A4848-B9DA-4B84-8468-085722293DC7}"/>
              </a:ext>
            </a:extLst>
          </p:cNvPr>
          <p:cNvSpPr/>
          <p:nvPr/>
        </p:nvSpPr>
        <p:spPr>
          <a:xfrm>
            <a:off x="2032731" y="2033687"/>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72" name="Textfeld 71">
            <a:extLst>
              <a:ext uri="{FF2B5EF4-FFF2-40B4-BE49-F238E27FC236}">
                <a16:creationId xmlns:a16="http://schemas.microsoft.com/office/drawing/2014/main" id="{FC29E03A-763D-46B1-B6C2-F9F48A8698D6}"/>
              </a:ext>
            </a:extLst>
          </p:cNvPr>
          <p:cNvSpPr txBox="1"/>
          <p:nvPr/>
        </p:nvSpPr>
        <p:spPr>
          <a:xfrm>
            <a:off x="872677" y="1479561"/>
            <a:ext cx="1160114" cy="646331"/>
          </a:xfrm>
          <a:prstGeom prst="rect">
            <a:avLst/>
          </a:prstGeom>
          <a:solidFill>
            <a:schemeClr val="bg1"/>
          </a:solid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a:ea typeface="+mn-ea"/>
                <a:cs typeface="Arial"/>
              </a:rPr>
              <a:t>Switcher &amp; Response </a:t>
            </a:r>
            <a:r>
              <a:rPr kumimoji="0" lang="de-DE" sz="900" b="0" i="0" u="none" strike="noStrike" kern="1200" cap="none" spc="0" normalizeH="0" baseline="0" noProof="0" err="1">
                <a:ln>
                  <a:noFill/>
                </a:ln>
                <a:solidFill>
                  <a:prstClr val="black"/>
                </a:solidFill>
                <a:effectLst/>
                <a:uLnTx/>
                <a:uFillTx/>
                <a:latin typeface="Arial"/>
                <a:ea typeface="+mn-ea"/>
                <a:cs typeface="Arial"/>
              </a:rPr>
              <a:t>grouper</a:t>
            </a:r>
            <a:endParaRPr kumimoji="0" lang="de-DE" sz="9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Blocker</a:t>
            </a:r>
          </a:p>
        </p:txBody>
      </p:sp>
      <p:sp>
        <p:nvSpPr>
          <p:cNvPr id="75" name="Pfeil: nach rechts 74">
            <a:extLst>
              <a:ext uri="{FF2B5EF4-FFF2-40B4-BE49-F238E27FC236}">
                <a16:creationId xmlns:a16="http://schemas.microsoft.com/office/drawing/2014/main" id="{165602B4-4411-432A-AE6B-BA8495796723}"/>
              </a:ext>
            </a:extLst>
          </p:cNvPr>
          <p:cNvSpPr/>
          <p:nvPr/>
        </p:nvSpPr>
        <p:spPr>
          <a:xfrm>
            <a:off x="2032731" y="1529442"/>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76" name="Pfeil: nach rechts 75">
            <a:extLst>
              <a:ext uri="{FF2B5EF4-FFF2-40B4-BE49-F238E27FC236}">
                <a16:creationId xmlns:a16="http://schemas.microsoft.com/office/drawing/2014/main" id="{53968554-530B-42B6-A324-B97B95E37210}"/>
              </a:ext>
            </a:extLst>
          </p:cNvPr>
          <p:cNvSpPr/>
          <p:nvPr/>
        </p:nvSpPr>
        <p:spPr>
          <a:xfrm>
            <a:off x="2032731" y="1679153"/>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80" name="Textfeld 79">
            <a:extLst>
              <a:ext uri="{FF2B5EF4-FFF2-40B4-BE49-F238E27FC236}">
                <a16:creationId xmlns:a16="http://schemas.microsoft.com/office/drawing/2014/main" id="{07CA82FB-F8AE-46D4-B16F-B3938B16EBAE}"/>
              </a:ext>
            </a:extLst>
          </p:cNvPr>
          <p:cNvSpPr txBox="1"/>
          <p:nvPr/>
        </p:nvSpPr>
        <p:spPr>
          <a:xfrm>
            <a:off x="929503" y="1120999"/>
            <a:ext cx="2743200" cy="2576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1361"/>
              </a:lnSpc>
              <a:spcBef>
                <a:spcPts val="0"/>
              </a:spcBef>
              <a:spcAft>
                <a:spcPts val="0"/>
              </a:spcAft>
              <a:buClrTx/>
              <a:buSzTx/>
              <a:buFontTx/>
              <a:buNone/>
              <a:tabLst/>
              <a:defRPr/>
            </a:pPr>
            <a:r>
              <a:rPr kumimoji="0" lang="en-US" sz="1050" b="0" i="0" u="sng" strike="noStrike" kern="1200" cap="none" spc="0" normalizeH="0" baseline="0" noProof="0" dirty="0">
                <a:ln>
                  <a:noFill/>
                </a:ln>
                <a:solidFill>
                  <a:prstClr val="black"/>
                </a:solidFill>
                <a:effectLst/>
                <a:uLnTx/>
                <a:uFillTx/>
                <a:latin typeface="Arial"/>
                <a:ea typeface="+mn-ea"/>
                <a:cs typeface="+mn-cs"/>
              </a:rPr>
              <a:t>Basic assumptions: </a:t>
            </a:r>
            <a:r>
              <a:rPr kumimoji="0" lang="en-US" sz="1050" b="0" i="0" u="none" strike="noStrike" kern="1200" cap="none" spc="0" normalizeH="0" baseline="0" noProof="0" dirty="0">
                <a:ln>
                  <a:noFill/>
                </a:ln>
                <a:solidFill>
                  <a:prstClr val="black"/>
                </a:solidFill>
                <a:effectLst/>
                <a:uLnTx/>
                <a:uFillTx/>
                <a:latin typeface="Arial"/>
                <a:ea typeface="+mn-ea"/>
                <a:cs typeface="+mn-cs"/>
              </a:rPr>
              <a:t>​</a:t>
            </a:r>
          </a:p>
        </p:txBody>
      </p:sp>
      <p:grpSp>
        <p:nvGrpSpPr>
          <p:cNvPr id="81" name="Gruppieren 80">
            <a:extLst>
              <a:ext uri="{FF2B5EF4-FFF2-40B4-BE49-F238E27FC236}">
                <a16:creationId xmlns:a16="http://schemas.microsoft.com/office/drawing/2014/main" id="{2A8FF629-5FA1-470A-B10D-9DCF1ADEC47D}"/>
              </a:ext>
            </a:extLst>
          </p:cNvPr>
          <p:cNvGrpSpPr/>
          <p:nvPr/>
        </p:nvGrpSpPr>
        <p:grpSpPr>
          <a:xfrm>
            <a:off x="755577" y="2320535"/>
            <a:ext cx="7931223" cy="2357451"/>
            <a:chOff x="9330490" y="3072491"/>
            <a:chExt cx="2734720" cy="2074572"/>
          </a:xfrm>
        </p:grpSpPr>
        <p:sp>
          <p:nvSpPr>
            <p:cNvPr id="82" name="Rechteck: abgerundete Ecken 81">
              <a:extLst>
                <a:ext uri="{FF2B5EF4-FFF2-40B4-BE49-F238E27FC236}">
                  <a16:creationId xmlns:a16="http://schemas.microsoft.com/office/drawing/2014/main" id="{30B33083-BDB1-400C-B6C1-F6FCCB57FFCC}"/>
                </a:ext>
              </a:extLst>
            </p:cNvPr>
            <p:cNvSpPr/>
            <p:nvPr/>
          </p:nvSpPr>
          <p:spPr>
            <a:xfrm>
              <a:off x="9330490" y="3190482"/>
              <a:ext cx="2734720" cy="1956581"/>
            </a:xfrm>
            <a:prstGeom prst="roundRect">
              <a:avLst/>
            </a:prstGeom>
            <a:noFill/>
            <a:ln w="952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Calibri"/>
                <a:ea typeface="+mn-ea"/>
                <a:cs typeface="+mn-cs"/>
              </a:endParaRPr>
            </a:p>
          </p:txBody>
        </p:sp>
        <p:sp>
          <p:nvSpPr>
            <p:cNvPr id="83" name="Rechteck: abgerundete Ecken 82">
              <a:extLst>
                <a:ext uri="{FF2B5EF4-FFF2-40B4-BE49-F238E27FC236}">
                  <a16:creationId xmlns:a16="http://schemas.microsoft.com/office/drawing/2014/main" id="{B153B783-E65D-4799-A110-86D82A71813F}"/>
                </a:ext>
              </a:extLst>
            </p:cNvPr>
            <p:cNvSpPr/>
            <p:nvPr/>
          </p:nvSpPr>
          <p:spPr>
            <a:xfrm>
              <a:off x="9330490" y="3072491"/>
              <a:ext cx="2734720" cy="219153"/>
            </a:xfrm>
            <a:prstGeom prst="roundRect">
              <a:avLst/>
            </a:prstGeom>
            <a:solidFill>
              <a:srgbClr val="CCA326"/>
            </a:solidFill>
            <a:ln>
              <a:solidFill>
                <a:srgbClr val="B9921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dirty="0">
                  <a:ln>
                    <a:noFill/>
                  </a:ln>
                  <a:solidFill>
                    <a:prstClr val="white"/>
                  </a:solidFill>
                  <a:effectLst/>
                  <a:uLnTx/>
                  <a:uFillTx/>
                  <a:latin typeface="Calibri"/>
                  <a:ea typeface="+mn-ea"/>
                  <a:cs typeface="+mn-cs"/>
                </a:rPr>
                <a:t>Work Package 1.3 – Experiment 1a – 2b + 50% </a:t>
              </a:r>
              <a:r>
                <a:rPr kumimoji="0" lang="de-DE" sz="1050" b="0" i="0" u="none" strike="noStrike" kern="1200" cap="none" spc="0" normalizeH="0" baseline="0" noProof="0" dirty="0" err="1">
                  <a:ln>
                    <a:noFill/>
                  </a:ln>
                  <a:solidFill>
                    <a:prstClr val="white"/>
                  </a:solidFill>
                  <a:effectLst/>
                  <a:uLnTx/>
                  <a:uFillTx/>
                  <a:latin typeface="Calibri"/>
                  <a:ea typeface="+mn-ea"/>
                  <a:cs typeface="+mn-cs"/>
                </a:rPr>
                <a:t>of</a:t>
              </a:r>
              <a:r>
                <a:rPr kumimoji="0" lang="de-DE" sz="1050" b="0" i="0" u="none" strike="noStrike" kern="1200" cap="none" spc="0" normalizeH="0" baseline="0" noProof="0" dirty="0">
                  <a:ln>
                    <a:noFill/>
                  </a:ln>
                  <a:solidFill>
                    <a:prstClr val="white"/>
                  </a:solidFill>
                  <a:effectLst/>
                  <a:uLnTx/>
                  <a:uFillTx/>
                  <a:latin typeface="Calibri"/>
                  <a:ea typeface="+mn-ea"/>
                  <a:cs typeface="+mn-cs"/>
                </a:rPr>
                <a:t> </a:t>
              </a:r>
              <a:r>
                <a:rPr kumimoji="0" lang="de-DE" sz="1050" b="0" i="0" u="none" strike="noStrike" kern="1200" cap="none" spc="0" normalizeH="0" baseline="0" noProof="0" dirty="0" err="1">
                  <a:ln>
                    <a:noFill/>
                  </a:ln>
                  <a:solidFill>
                    <a:prstClr val="white"/>
                  </a:solidFill>
                  <a:effectLst/>
                  <a:uLnTx/>
                  <a:uFillTx/>
                  <a:latin typeface="Calibri"/>
                  <a:ea typeface="+mn-ea"/>
                  <a:cs typeface="+mn-cs"/>
                </a:rPr>
                <a:t>joint</a:t>
              </a:r>
              <a:r>
                <a:rPr kumimoji="0" lang="de-DE" sz="1050" b="0" i="0" u="none" strike="noStrike" kern="1200" cap="none" spc="0" normalizeH="0" baseline="0" noProof="0" dirty="0">
                  <a:ln>
                    <a:noFill/>
                  </a:ln>
                  <a:solidFill>
                    <a:prstClr val="white"/>
                  </a:solidFill>
                  <a:effectLst/>
                  <a:uLnTx/>
                  <a:uFillTx/>
                  <a:latin typeface="Calibri"/>
                  <a:ea typeface="+mn-ea"/>
                  <a:cs typeface="+mn-cs"/>
                </a:rPr>
                <a:t> </a:t>
              </a:r>
              <a:r>
                <a:rPr kumimoji="0" lang="de-DE" sz="1050" b="0" i="0" u="none" strike="noStrike" kern="1200" cap="none" spc="0" normalizeH="0" baseline="0" noProof="0" dirty="0" err="1">
                  <a:ln>
                    <a:noFill/>
                  </a:ln>
                  <a:solidFill>
                    <a:prstClr val="white"/>
                  </a:solidFill>
                  <a:effectLst/>
                  <a:uLnTx/>
                  <a:uFillTx/>
                  <a:latin typeface="Calibri"/>
                  <a:ea typeface="+mn-ea"/>
                  <a:cs typeface="+mn-cs"/>
                </a:rPr>
                <a:t>experiment</a:t>
              </a:r>
              <a:r>
                <a:rPr kumimoji="0" lang="de-DE" sz="1050" b="0" i="0" u="none" strike="noStrike" kern="1200" cap="none" spc="0" normalizeH="0" baseline="0" noProof="0" dirty="0">
                  <a:ln>
                    <a:noFill/>
                  </a:ln>
                  <a:solidFill>
                    <a:prstClr val="white"/>
                  </a:solidFill>
                  <a:effectLst/>
                  <a:uLnTx/>
                  <a:uFillTx/>
                  <a:latin typeface="Calibri"/>
                  <a:ea typeface="+mn-ea"/>
                  <a:cs typeface="+mn-cs"/>
                </a:rPr>
                <a:t>, </a:t>
              </a:r>
              <a:r>
                <a:rPr kumimoji="0" lang="de-DE" sz="1050" b="1" i="0" u="none" strike="noStrike" kern="1200" cap="none" spc="0" normalizeH="0" baseline="0" noProof="0" dirty="0">
                  <a:ln>
                    <a:noFill/>
                  </a:ln>
                  <a:solidFill>
                    <a:prstClr val="white"/>
                  </a:solidFill>
                  <a:effectLst/>
                  <a:uLnTx/>
                  <a:uFillTx/>
                  <a:latin typeface="Calibri"/>
                  <a:ea typeface="+mn-ea"/>
                  <a:cs typeface="+mn-cs"/>
                </a:rPr>
                <a:t>n = 410 </a:t>
              </a:r>
              <a:r>
                <a:rPr kumimoji="0" lang="de-DE" sz="1050" b="1" i="0" u="none" strike="noStrike" kern="1200" cap="none" spc="0" normalizeH="0" baseline="0" noProof="0" dirty="0" err="1">
                  <a:ln>
                    <a:noFill/>
                  </a:ln>
                  <a:solidFill>
                    <a:prstClr val="white"/>
                  </a:solidFill>
                  <a:effectLst/>
                  <a:uLnTx/>
                  <a:uFillTx/>
                  <a:latin typeface="Calibri"/>
                  <a:ea typeface="+mn-ea"/>
                  <a:cs typeface="+mn-cs"/>
                </a:rPr>
                <a:t>participants</a:t>
              </a:r>
              <a:endParaRPr kumimoji="0" lang="en-US" sz="1050" b="1"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8" name="Textfeld 7">
            <a:extLst>
              <a:ext uri="{FF2B5EF4-FFF2-40B4-BE49-F238E27FC236}">
                <a16:creationId xmlns:a16="http://schemas.microsoft.com/office/drawing/2014/main" id="{1A9D8050-A292-4D58-97E3-7E2FF4C04E0F}"/>
              </a:ext>
            </a:extLst>
          </p:cNvPr>
          <p:cNvSpPr txBox="1"/>
          <p:nvPr/>
        </p:nvSpPr>
        <p:spPr>
          <a:xfrm>
            <a:off x="6221062" y="2647575"/>
            <a:ext cx="2117887" cy="702756"/>
          </a:xfrm>
          <a:prstGeom prst="rect">
            <a:avLst/>
          </a:prstGeom>
          <a:noFill/>
        </p:spPr>
        <p:txBody>
          <a:bodyPr wrap="none" rtlCol="0">
            <a:spAutoFit/>
          </a:bodyPr>
          <a:lstStyle/>
          <a:p>
            <a:pPr marL="0" marR="0" lvl="0" indent="0" algn="l" defTabSz="914400" rtl="0" eaLnBrk="1" fontAlgn="auto" latinLnBrk="0" hangingPunct="1">
              <a:lnSpc>
                <a:spcPct val="100000"/>
              </a:lnSpc>
              <a:spcBef>
                <a:spcPts val="225"/>
              </a:spcBef>
              <a:spcAft>
                <a:spcPts val="0"/>
              </a:spcAft>
              <a:buClrTx/>
              <a:buSzTx/>
              <a:buFontTx/>
              <a:buNone/>
              <a:tabLst/>
              <a:defRPr/>
            </a:pPr>
            <a:r>
              <a:rPr kumimoji="0" lang="en-US" sz="1000" b="0" i="0" u="sng"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Cognitive ability</a:t>
            </a:r>
            <a:endPar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457200" marR="0" lvl="1" indent="-147488" algn="l" defTabSz="914400" rtl="0" eaLnBrk="1" fontAlgn="auto" latinLnBrk="0" hangingPunct="1">
              <a:lnSpc>
                <a:spcPct val="100000"/>
              </a:lnSpc>
              <a:spcBef>
                <a:spcPts val="225"/>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Working memory capacity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2" name="Grafik 11">
            <a:extLst>
              <a:ext uri="{FF2B5EF4-FFF2-40B4-BE49-F238E27FC236}">
                <a16:creationId xmlns:a16="http://schemas.microsoft.com/office/drawing/2014/main" id="{AB4CFE4C-A86D-4748-AADC-3CC547D0C803}"/>
              </a:ext>
            </a:extLst>
          </p:cNvPr>
          <p:cNvPicPr>
            <a:picLocks noChangeAspect="1"/>
          </p:cNvPicPr>
          <p:nvPr/>
        </p:nvPicPr>
        <p:blipFill rotWithShape="1">
          <a:blip r:embed="rId6"/>
          <a:srcRect t="1660" b="-1"/>
          <a:stretch/>
        </p:blipFill>
        <p:spPr>
          <a:xfrm>
            <a:off x="6518978" y="3102474"/>
            <a:ext cx="1695520" cy="1420802"/>
          </a:xfrm>
          <a:prstGeom prst="rect">
            <a:avLst/>
          </a:prstGeom>
        </p:spPr>
      </p:pic>
      <p:sp>
        <p:nvSpPr>
          <p:cNvPr id="85" name="Textfeld 84">
            <a:extLst>
              <a:ext uri="{FF2B5EF4-FFF2-40B4-BE49-F238E27FC236}">
                <a16:creationId xmlns:a16="http://schemas.microsoft.com/office/drawing/2014/main" id="{25DE519D-60BB-48EB-A624-C58BC7E183D8}"/>
              </a:ext>
            </a:extLst>
          </p:cNvPr>
          <p:cNvSpPr txBox="1"/>
          <p:nvPr/>
        </p:nvSpPr>
        <p:spPr>
          <a:xfrm>
            <a:off x="7678421" y="4523275"/>
            <a:ext cx="961239" cy="18466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Foster et al., 2014</a:t>
            </a:r>
          </a:p>
        </p:txBody>
      </p:sp>
    </p:spTree>
    <p:extLst>
      <p:ext uri="{BB962C8B-B14F-4D97-AF65-F5344CB8AC3E}">
        <p14:creationId xmlns:p14="http://schemas.microsoft.com/office/powerpoint/2010/main" val="15900567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E51468-7923-3060-504A-591810EA79EA}"/>
              </a:ext>
            </a:extLst>
          </p:cNvPr>
          <p:cNvSpPr>
            <a:spLocks noGrp="1"/>
          </p:cNvSpPr>
          <p:nvPr>
            <p:ph type="title"/>
          </p:nvPr>
        </p:nvSpPr>
        <p:spPr/>
        <p:txBody>
          <a:bodyPr>
            <a:normAutofit/>
          </a:bodyPr>
          <a:lstStyle/>
          <a:p>
            <a:r>
              <a:rPr lang="de-DE" sz="2100" b="0" dirty="0" err="1"/>
              <a:t>Empirical</a:t>
            </a:r>
            <a:r>
              <a:rPr lang="de-DE" sz="2100" b="0" dirty="0"/>
              <a:t> </a:t>
            </a:r>
            <a:r>
              <a:rPr lang="de-DE" sz="2100" b="0" dirty="0" err="1"/>
              <a:t>objective</a:t>
            </a:r>
            <a:r>
              <a:rPr lang="de-DE" sz="2100" b="0" dirty="0"/>
              <a:t> 3: </a:t>
            </a:r>
            <a:r>
              <a:rPr lang="en-US" sz="2100" b="0" dirty="0">
                <a:solidFill>
                  <a:srgbClr val="B99212"/>
                </a:solidFill>
              </a:rPr>
              <a:t>Psychological traits </a:t>
            </a:r>
            <a:r>
              <a:rPr lang="en-US" sz="2100" b="0" dirty="0"/>
              <a:t>affecting response strategies</a:t>
            </a:r>
            <a:endParaRPr lang="de-DE" sz="2100" b="0" dirty="0"/>
          </a:p>
        </p:txBody>
      </p:sp>
      <p:sp>
        <p:nvSpPr>
          <p:cNvPr id="4" name="Foliennummernplatzhalter 3">
            <a:extLst>
              <a:ext uri="{FF2B5EF4-FFF2-40B4-BE49-F238E27FC236}">
                <a16:creationId xmlns:a16="http://schemas.microsoft.com/office/drawing/2014/main" id="{90831680-2FDB-BBA5-64B7-30DDF3B4C2A8}"/>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28</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sp>
        <p:nvSpPr>
          <p:cNvPr id="54" name="Rechteck: abgerundete Ecken 53">
            <a:extLst>
              <a:ext uri="{FF2B5EF4-FFF2-40B4-BE49-F238E27FC236}">
                <a16:creationId xmlns:a16="http://schemas.microsoft.com/office/drawing/2014/main" id="{E44AB0C3-C1BD-4438-B92E-B0028889982F}"/>
              </a:ext>
            </a:extLst>
          </p:cNvPr>
          <p:cNvSpPr/>
          <p:nvPr/>
        </p:nvSpPr>
        <p:spPr>
          <a:xfrm>
            <a:off x="4136816" y="4312098"/>
            <a:ext cx="550241" cy="341436"/>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sp>
        <p:nvSpPr>
          <p:cNvPr id="73" name="Rechteck: abgerundete Ecken 72">
            <a:extLst>
              <a:ext uri="{FF2B5EF4-FFF2-40B4-BE49-F238E27FC236}">
                <a16:creationId xmlns:a16="http://schemas.microsoft.com/office/drawing/2014/main" id="{B4FA1429-BF8F-4213-8926-D477D23124B2}"/>
              </a:ext>
            </a:extLst>
          </p:cNvPr>
          <p:cNvSpPr/>
          <p:nvPr/>
        </p:nvSpPr>
        <p:spPr>
          <a:xfrm>
            <a:off x="3968978" y="3074160"/>
            <a:ext cx="718079" cy="261161"/>
          </a:xfrm>
          <a:prstGeom prst="roundRect">
            <a:avLst/>
          </a:prstGeom>
          <a:solidFill>
            <a:srgbClr val="E8D6EF"/>
          </a:solidFill>
          <a:ln>
            <a:solidFill>
              <a:srgbClr val="6B53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Freiburg</a:t>
            </a:r>
            <a:endParaRPr kumimoji="0" lang="en-US" sz="13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4" name="Rechteck: abgerundete Ecken 73">
            <a:extLst>
              <a:ext uri="{FF2B5EF4-FFF2-40B4-BE49-F238E27FC236}">
                <a16:creationId xmlns:a16="http://schemas.microsoft.com/office/drawing/2014/main" id="{27117C90-0F15-4C64-A426-692E34D76493}"/>
              </a:ext>
            </a:extLst>
          </p:cNvPr>
          <p:cNvSpPr/>
          <p:nvPr/>
        </p:nvSpPr>
        <p:spPr>
          <a:xfrm>
            <a:off x="1140439" y="3074160"/>
            <a:ext cx="718079" cy="261161"/>
          </a:xfrm>
          <a:prstGeom prst="roundRect">
            <a:avLst/>
          </a:prstGeom>
          <a:solidFill>
            <a:srgbClr val="FFF4D1"/>
          </a:solidFill>
          <a:ln>
            <a:solidFill>
              <a:srgbClr val="CCA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Magdeburg</a:t>
            </a:r>
            <a:endParaRPr kumimoji="0" lang="en-US" sz="13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9" name="Textfeld 78">
            <a:extLst>
              <a:ext uri="{FF2B5EF4-FFF2-40B4-BE49-F238E27FC236}">
                <a16:creationId xmlns:a16="http://schemas.microsoft.com/office/drawing/2014/main" id="{AC03034F-ED1A-47EB-88ED-6BA1BDC64E48}"/>
              </a:ext>
            </a:extLst>
          </p:cNvPr>
          <p:cNvSpPr txBox="1"/>
          <p:nvPr/>
        </p:nvSpPr>
        <p:spPr>
          <a:xfrm>
            <a:off x="929695" y="2762138"/>
            <a:ext cx="467906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225"/>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Comparison of the influence of strategies on task choice across paradigms</a:t>
            </a:r>
          </a:p>
        </p:txBody>
      </p:sp>
      <p:sp>
        <p:nvSpPr>
          <p:cNvPr id="84" name="Textfeld 83">
            <a:extLst>
              <a:ext uri="{FF2B5EF4-FFF2-40B4-BE49-F238E27FC236}">
                <a16:creationId xmlns:a16="http://schemas.microsoft.com/office/drawing/2014/main" id="{43462289-7EC8-4243-AF83-E6C7425A6E3F}"/>
              </a:ext>
            </a:extLst>
          </p:cNvPr>
          <p:cNvSpPr txBox="1"/>
          <p:nvPr/>
        </p:nvSpPr>
        <p:spPr>
          <a:xfrm>
            <a:off x="1786960" y="4752048"/>
            <a:ext cx="5868455" cy="21929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Brüning et al., 2020; Brüning et al., 2021; Mittelstädt et al., 2018, 2019, 2021; </a:t>
            </a:r>
            <a:r>
              <a:rPr kumimoji="0" lang="de-DE" sz="8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Monno</a:t>
            </a:r>
            <a:r>
              <a:rPr kumimoji="0" lang="de-DE"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et al., 2021; Reinert &amp; Brüning, 2022</a:t>
            </a:r>
          </a:p>
        </p:txBody>
      </p:sp>
      <p:sp>
        <p:nvSpPr>
          <p:cNvPr id="55" name="Textfeld 54">
            <a:extLst>
              <a:ext uri="{FF2B5EF4-FFF2-40B4-BE49-F238E27FC236}">
                <a16:creationId xmlns:a16="http://schemas.microsoft.com/office/drawing/2014/main" id="{7B929306-4C2C-4812-B1E7-ADE827459FCF}"/>
              </a:ext>
            </a:extLst>
          </p:cNvPr>
          <p:cNvSpPr txBox="1"/>
          <p:nvPr/>
        </p:nvSpPr>
        <p:spPr>
          <a:xfrm>
            <a:off x="2314127" y="1426181"/>
            <a:ext cx="2021934" cy="91794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explore additional task information</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performance maximization </a:t>
            </a:r>
            <a:endParaRPr kumimoji="0" lang="de-DE"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exploit given task information</a:t>
            </a:r>
            <a:endParaRPr kumimoji="0" lang="en-US" sz="105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90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mn-ea"/>
                <a:cs typeface="Arial"/>
                <a:sym typeface="Arial"/>
              </a:rPr>
              <a:t>effort minimization	</a:t>
            </a:r>
            <a:r>
              <a:rPr kumimoji="0" lang="en-US" sz="1050" b="0" i="0" u="none" strike="noStrike" kern="1200" cap="none" spc="0" normalizeH="0" baseline="0" noProof="0">
                <a:ln>
                  <a:noFill/>
                </a:ln>
                <a:solidFill>
                  <a:prstClr val="black"/>
                </a:solidFill>
                <a:effectLst/>
                <a:uLnTx/>
                <a:uFillTx/>
                <a:latin typeface="Arial"/>
                <a:ea typeface="+mn-ea"/>
                <a:cs typeface="Arial"/>
                <a:sym typeface="Arial"/>
              </a:rPr>
              <a:t>	</a:t>
            </a:r>
            <a:endParaRPr kumimoji="0" lang="en-US" sz="1050" b="0" i="0" u="none" strike="noStrike" kern="1200" cap="none" spc="0" normalizeH="0" baseline="0" noProof="0">
              <a:ln>
                <a:noFill/>
              </a:ln>
              <a:solidFill>
                <a:prstClr val="black"/>
              </a:solidFill>
              <a:effectLst/>
              <a:uLnTx/>
              <a:uFillTx/>
              <a:latin typeface="Arial"/>
              <a:ea typeface="+mn-ea"/>
              <a:cs typeface="Arial"/>
            </a:endParaRPr>
          </a:p>
        </p:txBody>
      </p:sp>
      <p:sp>
        <p:nvSpPr>
          <p:cNvPr id="56" name="Pfeil: nach rechts 55">
            <a:extLst>
              <a:ext uri="{FF2B5EF4-FFF2-40B4-BE49-F238E27FC236}">
                <a16:creationId xmlns:a16="http://schemas.microsoft.com/office/drawing/2014/main" id="{515E8801-5E2F-4DD2-8CE2-DA88E125ED8E}"/>
              </a:ext>
            </a:extLst>
          </p:cNvPr>
          <p:cNvSpPr/>
          <p:nvPr/>
        </p:nvSpPr>
        <p:spPr>
          <a:xfrm>
            <a:off x="2032731" y="1883976"/>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70" name="Pfeil: nach rechts 69">
            <a:extLst>
              <a:ext uri="{FF2B5EF4-FFF2-40B4-BE49-F238E27FC236}">
                <a16:creationId xmlns:a16="http://schemas.microsoft.com/office/drawing/2014/main" id="{A53A4848-B9DA-4B84-8468-085722293DC7}"/>
              </a:ext>
            </a:extLst>
          </p:cNvPr>
          <p:cNvSpPr/>
          <p:nvPr/>
        </p:nvSpPr>
        <p:spPr>
          <a:xfrm>
            <a:off x="2032731" y="2033687"/>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72" name="Textfeld 71">
            <a:extLst>
              <a:ext uri="{FF2B5EF4-FFF2-40B4-BE49-F238E27FC236}">
                <a16:creationId xmlns:a16="http://schemas.microsoft.com/office/drawing/2014/main" id="{FC29E03A-763D-46B1-B6C2-F9F48A8698D6}"/>
              </a:ext>
            </a:extLst>
          </p:cNvPr>
          <p:cNvSpPr txBox="1"/>
          <p:nvPr/>
        </p:nvSpPr>
        <p:spPr>
          <a:xfrm>
            <a:off x="872677" y="1479561"/>
            <a:ext cx="1160114" cy="646331"/>
          </a:xfrm>
          <a:prstGeom prst="rect">
            <a:avLst/>
          </a:prstGeom>
          <a:solidFill>
            <a:schemeClr val="bg1"/>
          </a:solid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a:ea typeface="+mn-ea"/>
                <a:cs typeface="Arial"/>
              </a:rPr>
              <a:t>Switcher &amp; Response </a:t>
            </a:r>
            <a:r>
              <a:rPr kumimoji="0" lang="de-DE" sz="900" b="0" i="0" u="none" strike="noStrike" kern="1200" cap="none" spc="0" normalizeH="0" baseline="0" noProof="0" err="1">
                <a:ln>
                  <a:noFill/>
                </a:ln>
                <a:solidFill>
                  <a:prstClr val="black"/>
                </a:solidFill>
                <a:effectLst/>
                <a:uLnTx/>
                <a:uFillTx/>
                <a:latin typeface="Arial"/>
                <a:ea typeface="+mn-ea"/>
                <a:cs typeface="Arial"/>
              </a:rPr>
              <a:t>grouper</a:t>
            </a:r>
            <a:endParaRPr kumimoji="0" lang="de-DE" sz="9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Blocker</a:t>
            </a:r>
          </a:p>
        </p:txBody>
      </p:sp>
      <p:sp>
        <p:nvSpPr>
          <p:cNvPr id="75" name="Pfeil: nach rechts 74">
            <a:extLst>
              <a:ext uri="{FF2B5EF4-FFF2-40B4-BE49-F238E27FC236}">
                <a16:creationId xmlns:a16="http://schemas.microsoft.com/office/drawing/2014/main" id="{165602B4-4411-432A-AE6B-BA8495796723}"/>
              </a:ext>
            </a:extLst>
          </p:cNvPr>
          <p:cNvSpPr/>
          <p:nvPr/>
        </p:nvSpPr>
        <p:spPr>
          <a:xfrm>
            <a:off x="2032731" y="1529442"/>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76" name="Pfeil: nach rechts 75">
            <a:extLst>
              <a:ext uri="{FF2B5EF4-FFF2-40B4-BE49-F238E27FC236}">
                <a16:creationId xmlns:a16="http://schemas.microsoft.com/office/drawing/2014/main" id="{53968554-530B-42B6-A324-B97B95E37210}"/>
              </a:ext>
            </a:extLst>
          </p:cNvPr>
          <p:cNvSpPr/>
          <p:nvPr/>
        </p:nvSpPr>
        <p:spPr>
          <a:xfrm>
            <a:off x="2032731" y="1679153"/>
            <a:ext cx="270000" cy="94334"/>
          </a:xfrm>
          <a:prstGeom prst="rightArrow">
            <a:avLst/>
          </a:prstGeom>
          <a:solidFill>
            <a:srgbClr val="E9D38B"/>
          </a:solidFill>
          <a:ln w="12700" cap="flat" cmpd="sng" algn="ctr">
            <a:solidFill>
              <a:srgbClr val="9D7B0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350" b="0" i="0" u="none" strike="noStrike" kern="1200" cap="none" spc="0" normalizeH="0" baseline="0" noProof="0">
              <a:ln>
                <a:noFill/>
              </a:ln>
              <a:solidFill>
                <a:prstClr val="black"/>
              </a:solidFill>
              <a:effectLst/>
              <a:uLnTx/>
              <a:uFillTx/>
              <a:latin typeface="Calibri"/>
              <a:ea typeface="+mn-ea"/>
              <a:cs typeface="Arial"/>
              <a:sym typeface="Arial"/>
            </a:endParaRPr>
          </a:p>
        </p:txBody>
      </p:sp>
      <p:sp>
        <p:nvSpPr>
          <p:cNvPr id="80" name="Textfeld 79">
            <a:extLst>
              <a:ext uri="{FF2B5EF4-FFF2-40B4-BE49-F238E27FC236}">
                <a16:creationId xmlns:a16="http://schemas.microsoft.com/office/drawing/2014/main" id="{07CA82FB-F8AE-46D4-B16F-B3938B16EBAE}"/>
              </a:ext>
            </a:extLst>
          </p:cNvPr>
          <p:cNvSpPr txBox="1"/>
          <p:nvPr/>
        </p:nvSpPr>
        <p:spPr>
          <a:xfrm>
            <a:off x="929503" y="1120999"/>
            <a:ext cx="2743200" cy="2576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1361"/>
              </a:lnSpc>
              <a:spcBef>
                <a:spcPts val="0"/>
              </a:spcBef>
              <a:spcAft>
                <a:spcPts val="0"/>
              </a:spcAft>
              <a:buClrTx/>
              <a:buSzTx/>
              <a:buFontTx/>
              <a:buNone/>
              <a:tabLst/>
              <a:defRPr/>
            </a:pPr>
            <a:r>
              <a:rPr kumimoji="0" lang="en-US" sz="1050" b="0" i="0" u="sng" strike="noStrike" kern="1200" cap="none" spc="0" normalizeH="0" baseline="0" noProof="0" dirty="0">
                <a:ln>
                  <a:noFill/>
                </a:ln>
                <a:solidFill>
                  <a:prstClr val="black"/>
                </a:solidFill>
                <a:effectLst/>
                <a:uLnTx/>
                <a:uFillTx/>
                <a:latin typeface="Arial"/>
                <a:ea typeface="+mn-ea"/>
                <a:cs typeface="+mn-cs"/>
              </a:rPr>
              <a:t>Basic assumptions: </a:t>
            </a:r>
            <a:r>
              <a:rPr kumimoji="0" lang="en-US" sz="1050" b="0" i="0" u="none" strike="noStrike" kern="1200" cap="none" spc="0" normalizeH="0" baseline="0" noProof="0" dirty="0">
                <a:ln>
                  <a:noFill/>
                </a:ln>
                <a:solidFill>
                  <a:prstClr val="black"/>
                </a:solidFill>
                <a:effectLst/>
                <a:uLnTx/>
                <a:uFillTx/>
                <a:latin typeface="Arial"/>
                <a:ea typeface="+mn-ea"/>
                <a:cs typeface="+mn-cs"/>
              </a:rPr>
              <a:t>​</a:t>
            </a:r>
          </a:p>
        </p:txBody>
      </p:sp>
      <p:grpSp>
        <p:nvGrpSpPr>
          <p:cNvPr id="81" name="Gruppieren 80">
            <a:extLst>
              <a:ext uri="{FF2B5EF4-FFF2-40B4-BE49-F238E27FC236}">
                <a16:creationId xmlns:a16="http://schemas.microsoft.com/office/drawing/2014/main" id="{2A8FF629-5FA1-470A-B10D-9DCF1ADEC47D}"/>
              </a:ext>
            </a:extLst>
          </p:cNvPr>
          <p:cNvGrpSpPr/>
          <p:nvPr/>
        </p:nvGrpSpPr>
        <p:grpSpPr>
          <a:xfrm>
            <a:off x="872677" y="2409733"/>
            <a:ext cx="7880527" cy="2268251"/>
            <a:chOff x="9330490" y="3150987"/>
            <a:chExt cx="2734720" cy="1996076"/>
          </a:xfrm>
        </p:grpSpPr>
        <p:sp>
          <p:nvSpPr>
            <p:cNvPr id="82" name="Rechteck: abgerundete Ecken 81">
              <a:extLst>
                <a:ext uri="{FF2B5EF4-FFF2-40B4-BE49-F238E27FC236}">
                  <a16:creationId xmlns:a16="http://schemas.microsoft.com/office/drawing/2014/main" id="{30B33083-BDB1-400C-B6C1-F6FCCB57FFCC}"/>
                </a:ext>
              </a:extLst>
            </p:cNvPr>
            <p:cNvSpPr/>
            <p:nvPr/>
          </p:nvSpPr>
          <p:spPr>
            <a:xfrm>
              <a:off x="9330490" y="3216736"/>
              <a:ext cx="2734720" cy="1930327"/>
            </a:xfrm>
            <a:prstGeom prst="roundRect">
              <a:avLst/>
            </a:prstGeom>
            <a:noFill/>
            <a:ln w="952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Calibri"/>
                <a:ea typeface="+mn-ea"/>
                <a:cs typeface="+mn-cs"/>
              </a:endParaRPr>
            </a:p>
          </p:txBody>
        </p:sp>
        <p:sp>
          <p:nvSpPr>
            <p:cNvPr id="83" name="Rechteck: abgerundete Ecken 82">
              <a:extLst>
                <a:ext uri="{FF2B5EF4-FFF2-40B4-BE49-F238E27FC236}">
                  <a16:creationId xmlns:a16="http://schemas.microsoft.com/office/drawing/2014/main" id="{B153B783-E65D-4799-A110-86D82A71813F}"/>
                </a:ext>
              </a:extLst>
            </p:cNvPr>
            <p:cNvSpPr/>
            <p:nvPr/>
          </p:nvSpPr>
          <p:spPr>
            <a:xfrm>
              <a:off x="9330490" y="3150987"/>
              <a:ext cx="2734720" cy="219153"/>
            </a:xfrm>
            <a:prstGeom prst="roundRect">
              <a:avLst/>
            </a:prstGeom>
            <a:solidFill>
              <a:srgbClr val="CCA326"/>
            </a:solidFill>
            <a:ln>
              <a:solidFill>
                <a:srgbClr val="B99212"/>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dirty="0">
                  <a:ln>
                    <a:noFill/>
                  </a:ln>
                  <a:solidFill>
                    <a:prstClr val="white"/>
                  </a:solidFill>
                  <a:effectLst/>
                  <a:uLnTx/>
                  <a:uFillTx/>
                  <a:latin typeface="Calibri"/>
                  <a:ea typeface="+mn-ea"/>
                  <a:cs typeface="+mn-cs"/>
                </a:rPr>
                <a:t>Work Package 3 – </a:t>
              </a:r>
              <a:r>
                <a:rPr kumimoji="0" lang="de-DE" sz="1050" b="0" i="0" u="none" strike="noStrike" kern="1200" cap="none" spc="0" normalizeH="0" baseline="0" noProof="0" dirty="0" err="1">
                  <a:ln>
                    <a:noFill/>
                  </a:ln>
                  <a:solidFill>
                    <a:prstClr val="white"/>
                  </a:solidFill>
                  <a:effectLst/>
                  <a:uLnTx/>
                  <a:uFillTx/>
                  <a:latin typeface="Calibri"/>
                  <a:ea typeface="+mn-ea"/>
                  <a:cs typeface="+mn-cs"/>
                </a:rPr>
                <a:t>Collaboration</a:t>
              </a:r>
              <a:r>
                <a:rPr kumimoji="0" lang="de-DE" sz="1050" b="0" i="0" u="none" strike="noStrike" kern="1200" cap="none" spc="0" normalizeH="0" baseline="0" noProof="0" dirty="0">
                  <a:ln>
                    <a:noFill/>
                  </a:ln>
                  <a:solidFill>
                    <a:prstClr val="white"/>
                  </a:solidFill>
                  <a:effectLst/>
                  <a:uLnTx/>
                  <a:uFillTx/>
                  <a:latin typeface="Calibri"/>
                  <a:ea typeface="+mn-ea"/>
                  <a:cs typeface="+mn-cs"/>
                </a:rPr>
                <a:t> </a:t>
              </a:r>
              <a:r>
                <a:rPr kumimoji="0" lang="de-DE" sz="1050" b="0" i="0" u="none" strike="noStrike" kern="1200" cap="none" spc="0" normalizeH="0" baseline="0" noProof="0" dirty="0" err="1">
                  <a:ln>
                    <a:noFill/>
                  </a:ln>
                  <a:solidFill>
                    <a:prstClr val="white"/>
                  </a:solidFill>
                  <a:effectLst/>
                  <a:uLnTx/>
                  <a:uFillTx/>
                  <a:latin typeface="Calibri"/>
                  <a:ea typeface="+mn-ea"/>
                  <a:cs typeface="+mn-cs"/>
                </a:rPr>
                <a:t>with</a:t>
              </a:r>
              <a:r>
                <a:rPr kumimoji="0" lang="de-DE" sz="1050" b="0" i="0" u="none" strike="noStrike" kern="1200" cap="none" spc="0" normalizeH="0" baseline="0" noProof="0" dirty="0">
                  <a:ln>
                    <a:noFill/>
                  </a:ln>
                  <a:solidFill>
                    <a:prstClr val="white"/>
                  </a:solidFill>
                  <a:effectLst/>
                  <a:uLnTx/>
                  <a:uFillTx/>
                  <a:latin typeface="Calibri"/>
                  <a:ea typeface="+mn-ea"/>
                  <a:cs typeface="+mn-cs"/>
                </a:rPr>
                <a:t> Project #2, n = 100 </a:t>
              </a:r>
              <a:r>
                <a:rPr kumimoji="0" lang="de-DE" sz="1050" b="0" i="0" u="none" strike="noStrike" kern="1200" cap="none" spc="0" normalizeH="0" baseline="0" noProof="0" dirty="0" err="1">
                  <a:ln>
                    <a:noFill/>
                  </a:ln>
                  <a:solidFill>
                    <a:prstClr val="white"/>
                  </a:solidFill>
                  <a:effectLst/>
                  <a:uLnTx/>
                  <a:uFillTx/>
                  <a:latin typeface="Calibri"/>
                  <a:ea typeface="+mn-ea"/>
                  <a:cs typeface="+mn-cs"/>
                </a:rPr>
                <a:t>participants</a:t>
              </a:r>
              <a:endParaRPr kumimoji="0" lang="en-US" sz="1050" b="0" i="0" u="none" strike="noStrike" kern="1200" cap="none" spc="0" normalizeH="0" baseline="0" noProof="0" dirty="0">
                <a:ln>
                  <a:noFill/>
                </a:ln>
                <a:solidFill>
                  <a:prstClr val="white"/>
                </a:solidFill>
                <a:effectLst/>
                <a:uLnTx/>
                <a:uFillTx/>
                <a:latin typeface="Calibri"/>
                <a:ea typeface="+mn-ea"/>
                <a:cs typeface="+mn-cs"/>
              </a:endParaRPr>
            </a:p>
          </p:txBody>
        </p:sp>
      </p:grpSp>
      <p:pic>
        <p:nvPicPr>
          <p:cNvPr id="28" name="Inhaltsplatzhalter 5">
            <a:extLst>
              <a:ext uri="{FF2B5EF4-FFF2-40B4-BE49-F238E27FC236}">
                <a16:creationId xmlns:a16="http://schemas.microsoft.com/office/drawing/2014/main" id="{C42891B2-EAD1-4895-89AF-2827C66DCD25}"/>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l="1839" t="10314" r="64293" b="62885"/>
          <a:stretch/>
        </p:blipFill>
        <p:spPr>
          <a:xfrm>
            <a:off x="1157646" y="3473932"/>
            <a:ext cx="865376" cy="613547"/>
          </a:xfrm>
        </p:spPr>
      </p:pic>
      <p:sp>
        <p:nvSpPr>
          <p:cNvPr id="29" name="Rechteck: abgerundete Ecken 28">
            <a:extLst>
              <a:ext uri="{FF2B5EF4-FFF2-40B4-BE49-F238E27FC236}">
                <a16:creationId xmlns:a16="http://schemas.microsoft.com/office/drawing/2014/main" id="{A8AF8B31-F954-4082-A03B-3E6163FA6E07}"/>
              </a:ext>
            </a:extLst>
          </p:cNvPr>
          <p:cNvSpPr/>
          <p:nvPr/>
        </p:nvSpPr>
        <p:spPr>
          <a:xfrm>
            <a:off x="1140439" y="3082423"/>
            <a:ext cx="2648721" cy="1557991"/>
          </a:xfrm>
          <a:prstGeom prst="roundRect">
            <a:avLst>
              <a:gd name="adj" fmla="val 0"/>
            </a:avLst>
          </a:prstGeom>
          <a:noFill/>
          <a:ln w="12700">
            <a:solidFill>
              <a:srgbClr val="CCA326"/>
            </a:solid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feld 29">
            <a:extLst>
              <a:ext uri="{FF2B5EF4-FFF2-40B4-BE49-F238E27FC236}">
                <a16:creationId xmlns:a16="http://schemas.microsoft.com/office/drawing/2014/main" id="{A51BD11C-4F8C-4713-A34C-CD3C72EFD691}"/>
              </a:ext>
            </a:extLst>
          </p:cNvPr>
          <p:cNvSpPr txBox="1"/>
          <p:nvPr/>
        </p:nvSpPr>
        <p:spPr>
          <a:xfrm>
            <a:off x="1845957" y="3110429"/>
            <a:ext cx="1904662" cy="193027"/>
          </a:xfrm>
          <a:prstGeom prst="rect">
            <a:avLst/>
          </a:prstGeom>
          <a:noFill/>
          <a:ln w="12700">
            <a:no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Free </a:t>
            </a:r>
            <a:r>
              <a:rPr kumimoji="0" lang="de-DE" sz="10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Concurrent</a:t>
            </a:r>
            <a:r>
              <a:rPr kumimoji="0" lang="de-DE"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Dual-</a:t>
            </a:r>
            <a:r>
              <a:rPr kumimoji="0" lang="de-DE" sz="10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Tasking</a:t>
            </a:r>
            <a:endPar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31" name="Grafik 30">
            <a:extLst>
              <a:ext uri="{FF2B5EF4-FFF2-40B4-BE49-F238E27FC236}">
                <a16:creationId xmlns:a16="http://schemas.microsoft.com/office/drawing/2014/main" id="{53274BF9-497D-4C2E-8AA0-0734C3D9E70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02" t="24729" r="1076" b="12759"/>
          <a:stretch/>
        </p:blipFill>
        <p:spPr>
          <a:xfrm>
            <a:off x="2040228" y="3772063"/>
            <a:ext cx="1683606" cy="705380"/>
          </a:xfrm>
          <a:prstGeom prst="rect">
            <a:avLst/>
          </a:prstGeom>
        </p:spPr>
      </p:pic>
      <p:sp>
        <p:nvSpPr>
          <p:cNvPr id="32" name="Rechteck: abgerundete Ecken 31">
            <a:extLst>
              <a:ext uri="{FF2B5EF4-FFF2-40B4-BE49-F238E27FC236}">
                <a16:creationId xmlns:a16="http://schemas.microsoft.com/office/drawing/2014/main" id="{A0C3BF25-446E-41C5-B1FC-FD9EB2A7912C}"/>
              </a:ext>
            </a:extLst>
          </p:cNvPr>
          <p:cNvSpPr/>
          <p:nvPr/>
        </p:nvSpPr>
        <p:spPr>
          <a:xfrm>
            <a:off x="3973658" y="3079533"/>
            <a:ext cx="2716924" cy="1557992"/>
          </a:xfrm>
          <a:prstGeom prst="roundRect">
            <a:avLst>
              <a:gd name="adj" fmla="val 0"/>
            </a:avLst>
          </a:prstGeom>
          <a:noFill/>
          <a:ln w="12700">
            <a:solidFill>
              <a:srgbClr val="6B53A9"/>
            </a:solid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pic>
        <p:nvPicPr>
          <p:cNvPr id="3" name="Grafik 2">
            <a:extLst>
              <a:ext uri="{FF2B5EF4-FFF2-40B4-BE49-F238E27FC236}">
                <a16:creationId xmlns:a16="http://schemas.microsoft.com/office/drawing/2014/main" id="{77A761ED-CB54-4345-A518-9939255FBA54}"/>
              </a:ext>
            </a:extLst>
          </p:cNvPr>
          <p:cNvPicPr>
            <a:picLocks noChangeAspect="1"/>
          </p:cNvPicPr>
          <p:nvPr/>
        </p:nvPicPr>
        <p:blipFill>
          <a:blip r:embed="rId5"/>
          <a:stretch>
            <a:fillRect/>
          </a:stretch>
        </p:blipFill>
        <p:spPr>
          <a:xfrm>
            <a:off x="4380912" y="3378089"/>
            <a:ext cx="1920191" cy="1314151"/>
          </a:xfrm>
          <a:prstGeom prst="rect">
            <a:avLst/>
          </a:prstGeom>
        </p:spPr>
      </p:pic>
      <p:sp>
        <p:nvSpPr>
          <p:cNvPr id="34" name="Textfeld 33">
            <a:extLst>
              <a:ext uri="{FF2B5EF4-FFF2-40B4-BE49-F238E27FC236}">
                <a16:creationId xmlns:a16="http://schemas.microsoft.com/office/drawing/2014/main" id="{D1D1AE71-2B39-4429-867C-741102018C11}"/>
              </a:ext>
            </a:extLst>
          </p:cNvPr>
          <p:cNvSpPr txBox="1"/>
          <p:nvPr/>
        </p:nvSpPr>
        <p:spPr>
          <a:xfrm>
            <a:off x="4687057" y="3115801"/>
            <a:ext cx="2061480" cy="208282"/>
          </a:xfrm>
          <a:prstGeom prst="rect">
            <a:avLst/>
          </a:prstGeom>
          <a:noFill/>
          <a:ln w="12700">
            <a:noFill/>
          </a:ln>
        </p:spPr>
        <p:txBody>
          <a:bodyPr wrap="square" tIns="27000" bIns="27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Self-</a:t>
            </a:r>
            <a:r>
              <a:rPr kumimoji="0" lang="de-DE" sz="10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organized</a:t>
            </a:r>
            <a:r>
              <a:rPr kumimoji="0" lang="de-DE"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de-DE" sz="10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Tasking-Switching</a:t>
            </a:r>
            <a:endPar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6" name="Textfeld 35">
            <a:extLst>
              <a:ext uri="{FF2B5EF4-FFF2-40B4-BE49-F238E27FC236}">
                <a16:creationId xmlns:a16="http://schemas.microsoft.com/office/drawing/2014/main" id="{C237F9E3-A8B4-476A-BEDB-8AEF4D8ABA8F}"/>
              </a:ext>
            </a:extLst>
          </p:cNvPr>
          <p:cNvSpPr txBox="1"/>
          <p:nvPr/>
        </p:nvSpPr>
        <p:spPr>
          <a:xfrm>
            <a:off x="7412425" y="2794672"/>
            <a:ext cx="847898" cy="2308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Expectations</a:t>
            </a:r>
          </a:p>
        </p:txBody>
      </p:sp>
      <p:sp>
        <p:nvSpPr>
          <p:cNvPr id="37" name="Textfeld 36">
            <a:extLst>
              <a:ext uri="{FF2B5EF4-FFF2-40B4-BE49-F238E27FC236}">
                <a16:creationId xmlns:a16="http://schemas.microsoft.com/office/drawing/2014/main" id="{39518290-A6A7-480E-9EBD-1E9B6F3E3F26}"/>
              </a:ext>
            </a:extLst>
          </p:cNvPr>
          <p:cNvSpPr txBox="1"/>
          <p:nvPr/>
        </p:nvSpPr>
        <p:spPr>
          <a:xfrm>
            <a:off x="6875080" y="3111769"/>
            <a:ext cx="1721568" cy="1354217"/>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Switching and response grouping ↔ global strategy:</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Proactive task processing and performance maximization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Blockers ↔ local strategy:</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Minimizing effort by switching only when necessary</a:t>
            </a:r>
          </a:p>
        </p:txBody>
      </p:sp>
      <p:sp>
        <p:nvSpPr>
          <p:cNvPr id="38" name="Inhaltsplatzhalter 9">
            <a:extLst>
              <a:ext uri="{FF2B5EF4-FFF2-40B4-BE49-F238E27FC236}">
                <a16:creationId xmlns:a16="http://schemas.microsoft.com/office/drawing/2014/main" id="{89C3438C-B0B0-43D6-A0BE-BE7BD39C1959}"/>
              </a:ext>
            </a:extLst>
          </p:cNvPr>
          <p:cNvSpPr txBox="1">
            <a:spLocks/>
          </p:cNvSpPr>
          <p:nvPr/>
        </p:nvSpPr>
        <p:spPr>
          <a:xfrm>
            <a:off x="4883489" y="1445363"/>
            <a:ext cx="4003934" cy="715209"/>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Quicksand"/>
                <a:cs typeface="Arial" panose="020B0604020202020204" pitchFamily="34" charset="0"/>
                <a:sym typeface="Wingdings" panose="05000000000000000000" pitchFamily="2" charset="2"/>
              </a:rPr>
              <a:t>Does the variability in task-switch choice frequency in the FCDT paradigm extend to the self-organized task-switching paradigm?</a:t>
            </a:r>
          </a:p>
          <a:p>
            <a:pPr marL="0" marR="0" lvl="0"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Quicksand"/>
                <a:cs typeface="Arial" panose="020B0604020202020204" pitchFamily="34" charset="0"/>
                <a:sym typeface="Wingdings" panose="05000000000000000000" pitchFamily="2" charset="2"/>
              </a:rPr>
              <a:t> Joint experiment with Freiburg</a:t>
            </a:r>
          </a:p>
        </p:txBody>
      </p:sp>
      <p:pic>
        <p:nvPicPr>
          <p:cNvPr id="39" name="Grafik 38" descr="Hilfe mit einfarbiger Füllung">
            <a:extLst>
              <a:ext uri="{FF2B5EF4-FFF2-40B4-BE49-F238E27FC236}">
                <a16:creationId xmlns:a16="http://schemas.microsoft.com/office/drawing/2014/main" id="{36E598B7-A3D5-403D-9653-F24D62D41FF5}"/>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20775" y="1461538"/>
            <a:ext cx="378000" cy="378000"/>
          </a:xfrm>
          <a:prstGeom prst="rect">
            <a:avLst/>
          </a:prstGeom>
        </p:spPr>
      </p:pic>
    </p:spTree>
    <p:extLst>
      <p:ext uri="{BB962C8B-B14F-4D97-AF65-F5344CB8AC3E}">
        <p14:creationId xmlns:p14="http://schemas.microsoft.com/office/powerpoint/2010/main" val="10975482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D857FB-D4DA-4195-AE2D-EAD1A02B1B9D}"/>
              </a:ext>
            </a:extLst>
          </p:cNvPr>
          <p:cNvSpPr>
            <a:spLocks noGrp="1"/>
          </p:cNvSpPr>
          <p:nvPr>
            <p:ph type="title"/>
          </p:nvPr>
        </p:nvSpPr>
        <p:spPr/>
        <p:txBody>
          <a:bodyPr/>
          <a:lstStyle/>
          <a:p>
            <a:r>
              <a:rPr lang="de-DE"/>
              <a:t>Response </a:t>
            </a:r>
            <a:r>
              <a:rPr lang="de-DE" err="1"/>
              <a:t>Strategies</a:t>
            </a:r>
            <a:r>
              <a:rPr lang="de-DE"/>
              <a:t> – </a:t>
            </a:r>
            <a:r>
              <a:rPr lang="de-DE" err="1">
                <a:solidFill>
                  <a:srgbClr val="9D7B0F"/>
                </a:solidFill>
              </a:rPr>
              <a:t>Paradigm</a:t>
            </a:r>
            <a:endParaRPr lang="en-US">
              <a:solidFill>
                <a:srgbClr val="9D7B0F"/>
              </a:solidFill>
            </a:endParaRPr>
          </a:p>
        </p:txBody>
      </p:sp>
      <p:sp>
        <p:nvSpPr>
          <p:cNvPr id="4" name="Foliennummernplatzhalter 3">
            <a:extLst>
              <a:ext uri="{FF2B5EF4-FFF2-40B4-BE49-F238E27FC236}">
                <a16:creationId xmlns:a16="http://schemas.microsoft.com/office/drawing/2014/main" id="{FE3E8B20-AFDE-4E30-B56F-10469739B956}"/>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29</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cxnSp>
        <p:nvCxnSpPr>
          <p:cNvPr id="33" name="Gerade Verbindung mit Pfeil 32">
            <a:extLst>
              <a:ext uri="{FF2B5EF4-FFF2-40B4-BE49-F238E27FC236}">
                <a16:creationId xmlns:a16="http://schemas.microsoft.com/office/drawing/2014/main" id="{4A7C3067-E53E-4C29-AB5D-79E8F2DF3CF9}"/>
              </a:ext>
            </a:extLst>
          </p:cNvPr>
          <p:cNvCxnSpPr>
            <a:cxnSpLocks/>
          </p:cNvCxnSpPr>
          <p:nvPr/>
        </p:nvCxnSpPr>
        <p:spPr>
          <a:xfrm>
            <a:off x="2362615" y="2237328"/>
            <a:ext cx="1197836"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DDF9839A-648A-4696-A15C-E5BCC134748F}"/>
              </a:ext>
            </a:extLst>
          </p:cNvPr>
          <p:cNvCxnSpPr>
            <a:cxnSpLocks/>
          </p:cNvCxnSpPr>
          <p:nvPr/>
        </p:nvCxnSpPr>
        <p:spPr>
          <a:xfrm flipH="1">
            <a:off x="2480330" y="2071119"/>
            <a:ext cx="1904" cy="16200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39C1078F-95E4-468C-8B86-F7D18CC27AD4}"/>
              </a:ext>
            </a:extLst>
          </p:cNvPr>
          <p:cNvCxnSpPr>
            <a:cxnSpLocks/>
          </p:cNvCxnSpPr>
          <p:nvPr/>
        </p:nvCxnSpPr>
        <p:spPr>
          <a:xfrm>
            <a:off x="2639809" y="2077380"/>
            <a:ext cx="2540" cy="16200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43756027-8903-40D3-891D-B483AB16B85D}"/>
              </a:ext>
            </a:extLst>
          </p:cNvPr>
          <p:cNvCxnSpPr>
            <a:cxnSpLocks/>
          </p:cNvCxnSpPr>
          <p:nvPr/>
        </p:nvCxnSpPr>
        <p:spPr>
          <a:xfrm>
            <a:off x="2801827" y="2077380"/>
            <a:ext cx="2540" cy="16200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BFD59D77-2C91-43E6-8E68-54A46DF702BB}"/>
              </a:ext>
            </a:extLst>
          </p:cNvPr>
          <p:cNvCxnSpPr>
            <a:cxnSpLocks/>
          </p:cNvCxnSpPr>
          <p:nvPr/>
        </p:nvCxnSpPr>
        <p:spPr>
          <a:xfrm>
            <a:off x="3074397" y="2077380"/>
            <a:ext cx="2540" cy="16200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03D356C5-9CBE-43D2-AE8A-0D1BF54949A6}"/>
              </a:ext>
            </a:extLst>
          </p:cNvPr>
          <p:cNvCxnSpPr>
            <a:cxnSpLocks/>
          </p:cNvCxnSpPr>
          <p:nvPr/>
        </p:nvCxnSpPr>
        <p:spPr>
          <a:xfrm>
            <a:off x="2912379" y="2247045"/>
            <a:ext cx="2540" cy="16200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616E7A80-66AC-4709-BB41-8180CB459BBE}"/>
              </a:ext>
            </a:extLst>
          </p:cNvPr>
          <p:cNvCxnSpPr>
            <a:cxnSpLocks/>
          </p:cNvCxnSpPr>
          <p:nvPr/>
        </p:nvCxnSpPr>
        <p:spPr>
          <a:xfrm>
            <a:off x="3179869" y="2247045"/>
            <a:ext cx="2540" cy="16200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 name="Gerader Verbinder 40">
            <a:extLst>
              <a:ext uri="{FF2B5EF4-FFF2-40B4-BE49-F238E27FC236}">
                <a16:creationId xmlns:a16="http://schemas.microsoft.com/office/drawing/2014/main" id="{7687D650-1B43-4DEB-B4E8-28859621B9F7}"/>
              </a:ext>
            </a:extLst>
          </p:cNvPr>
          <p:cNvCxnSpPr>
            <a:cxnSpLocks/>
          </p:cNvCxnSpPr>
          <p:nvPr/>
        </p:nvCxnSpPr>
        <p:spPr>
          <a:xfrm>
            <a:off x="3341887" y="2247045"/>
            <a:ext cx="2540" cy="16200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sp>
        <p:nvSpPr>
          <p:cNvPr id="42" name="Textfeld 41">
            <a:extLst>
              <a:ext uri="{FF2B5EF4-FFF2-40B4-BE49-F238E27FC236}">
                <a16:creationId xmlns:a16="http://schemas.microsoft.com/office/drawing/2014/main" id="{258CA10D-BA40-428A-9AFA-93FAAED1297A}"/>
              </a:ext>
            </a:extLst>
          </p:cNvPr>
          <p:cNvSpPr txBox="1"/>
          <p:nvPr/>
        </p:nvSpPr>
        <p:spPr>
          <a:xfrm>
            <a:off x="1964926" y="2043725"/>
            <a:ext cx="465192"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Calibri"/>
                <a:ea typeface="+mn-ea"/>
                <a:cs typeface="+mn-cs"/>
              </a:rPr>
              <a:t>Letter</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feld 42">
            <a:extLst>
              <a:ext uri="{FF2B5EF4-FFF2-40B4-BE49-F238E27FC236}">
                <a16:creationId xmlns:a16="http://schemas.microsoft.com/office/drawing/2014/main" id="{72DEF854-B339-4B9A-9141-9731B1AA6246}"/>
              </a:ext>
            </a:extLst>
          </p:cNvPr>
          <p:cNvSpPr txBox="1"/>
          <p:nvPr/>
        </p:nvSpPr>
        <p:spPr>
          <a:xfrm>
            <a:off x="1964926" y="2252387"/>
            <a:ext cx="402674"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Calibri"/>
                <a:ea typeface="+mn-ea"/>
                <a:cs typeface="+mn-cs"/>
              </a:rPr>
              <a:t>Digit</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feld 46">
            <a:extLst>
              <a:ext uri="{FF2B5EF4-FFF2-40B4-BE49-F238E27FC236}">
                <a16:creationId xmlns:a16="http://schemas.microsoft.com/office/drawing/2014/main" id="{02EC3867-C3A0-4097-8160-903669C0B81E}"/>
              </a:ext>
            </a:extLst>
          </p:cNvPr>
          <p:cNvSpPr txBox="1"/>
          <p:nvPr/>
        </p:nvSpPr>
        <p:spPr>
          <a:xfrm>
            <a:off x="3806571" y="2470853"/>
            <a:ext cx="479618"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srgbClr val="0066FF"/>
                </a:solidFill>
                <a:effectLst/>
                <a:uLnTx/>
                <a:uFillTx/>
                <a:latin typeface="Arial" panose="020B0604020202020204" pitchFamily="34" charset="0"/>
                <a:ea typeface="+mn-ea"/>
                <a:cs typeface="Arial" panose="020B0604020202020204" pitchFamily="34" charset="0"/>
              </a:rPr>
              <a:t>Letter</a:t>
            </a:r>
            <a:endParaRPr kumimoji="0" lang="en-US" sz="900" b="0" i="0" u="none" strike="noStrike" kern="1200" cap="none" spc="0" normalizeH="0" baseline="0" noProof="0">
              <a:ln>
                <a:noFill/>
              </a:ln>
              <a:solidFill>
                <a:srgbClr val="0066FF"/>
              </a:solidFill>
              <a:effectLst/>
              <a:uLnTx/>
              <a:uFillTx/>
              <a:latin typeface="Arial" panose="020B0604020202020204" pitchFamily="34" charset="0"/>
              <a:ea typeface="+mn-ea"/>
              <a:cs typeface="Arial" panose="020B0604020202020204" pitchFamily="34" charset="0"/>
            </a:endParaRPr>
          </a:p>
        </p:txBody>
      </p:sp>
      <p:sp>
        <p:nvSpPr>
          <p:cNvPr id="48" name="Textfeld 47">
            <a:extLst>
              <a:ext uri="{FF2B5EF4-FFF2-40B4-BE49-F238E27FC236}">
                <a16:creationId xmlns:a16="http://schemas.microsoft.com/office/drawing/2014/main" id="{29738B60-3E8F-439A-81BD-505BDA9319AD}"/>
              </a:ext>
            </a:extLst>
          </p:cNvPr>
          <p:cNvSpPr txBox="1"/>
          <p:nvPr/>
        </p:nvSpPr>
        <p:spPr>
          <a:xfrm>
            <a:off x="4151370" y="2470852"/>
            <a:ext cx="415498"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srgbClr val="990000"/>
                </a:solidFill>
                <a:effectLst/>
                <a:uLnTx/>
                <a:uFillTx/>
                <a:latin typeface="Arial" panose="020B0604020202020204" pitchFamily="34" charset="0"/>
                <a:ea typeface="+mn-ea"/>
                <a:cs typeface="Arial" panose="020B0604020202020204" pitchFamily="34" charset="0"/>
              </a:rPr>
              <a:t>Digit</a:t>
            </a:r>
            <a:endParaRPr kumimoji="0" lang="en-US" sz="900" b="0" i="0" u="none" strike="noStrike" kern="1200" cap="none" spc="0" normalizeH="0" baseline="0" noProof="0">
              <a:ln>
                <a:noFill/>
              </a:ln>
              <a:solidFill>
                <a:srgbClr val="990000"/>
              </a:solidFill>
              <a:effectLst/>
              <a:uLnTx/>
              <a:uFillTx/>
              <a:latin typeface="Arial" panose="020B0604020202020204" pitchFamily="34" charset="0"/>
              <a:ea typeface="+mn-ea"/>
              <a:cs typeface="Arial" panose="020B0604020202020204" pitchFamily="34" charset="0"/>
            </a:endParaRPr>
          </a:p>
        </p:txBody>
      </p:sp>
      <p:pic>
        <p:nvPicPr>
          <p:cNvPr id="49" name="Grafik 48">
            <a:extLst>
              <a:ext uri="{FF2B5EF4-FFF2-40B4-BE49-F238E27FC236}">
                <a16:creationId xmlns:a16="http://schemas.microsoft.com/office/drawing/2014/main" id="{E695D944-64E2-4AA9-88A3-3B504EBDECD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967773" y="2292972"/>
            <a:ext cx="3719027" cy="2376000"/>
          </a:xfrm>
          <a:prstGeom prst="rect">
            <a:avLst/>
          </a:prstGeom>
        </p:spPr>
      </p:pic>
      <p:grpSp>
        <p:nvGrpSpPr>
          <p:cNvPr id="146" name="Gruppieren 145">
            <a:extLst>
              <a:ext uri="{FF2B5EF4-FFF2-40B4-BE49-F238E27FC236}">
                <a16:creationId xmlns:a16="http://schemas.microsoft.com/office/drawing/2014/main" id="{D57E5EEE-E62E-45C3-A526-1F287E81678D}"/>
              </a:ext>
            </a:extLst>
          </p:cNvPr>
          <p:cNvGrpSpPr/>
          <p:nvPr/>
        </p:nvGrpSpPr>
        <p:grpSpPr>
          <a:xfrm>
            <a:off x="716655" y="2302329"/>
            <a:ext cx="655730" cy="779912"/>
            <a:chOff x="6242027" y="3448778"/>
            <a:chExt cx="822029" cy="977705"/>
          </a:xfrm>
        </p:grpSpPr>
        <p:sp>
          <p:nvSpPr>
            <p:cNvPr id="147" name="Rechteck 146">
              <a:extLst>
                <a:ext uri="{FF2B5EF4-FFF2-40B4-BE49-F238E27FC236}">
                  <a16:creationId xmlns:a16="http://schemas.microsoft.com/office/drawing/2014/main" id="{68C63DD4-AF06-4F86-8978-F6F2F75DA9D5}"/>
                </a:ext>
              </a:extLst>
            </p:cNvPr>
            <p:cNvSpPr/>
            <p:nvPr/>
          </p:nvSpPr>
          <p:spPr>
            <a:xfrm>
              <a:off x="6242027" y="3783878"/>
              <a:ext cx="822029" cy="642605"/>
            </a:xfrm>
            <a:prstGeom prst="rect">
              <a:avLst/>
            </a:prstGeom>
            <a:solidFill>
              <a:srgbClr val="808080"/>
            </a:solidFill>
            <a:ln w="28575">
              <a:solidFill>
                <a:schemeClr val="tx1"/>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a:ln>
                  <a:noFill/>
                </a:ln>
                <a:solidFill>
                  <a:prstClr val="black"/>
                </a:solidFill>
                <a:effectLst/>
                <a:uLnTx/>
                <a:uFillTx/>
                <a:latin typeface="Calibri"/>
                <a:ea typeface="+mn-ea"/>
                <a:cs typeface="+mn-cs"/>
              </a:endParaRPr>
            </a:p>
          </p:txBody>
        </p:sp>
        <p:sp>
          <p:nvSpPr>
            <p:cNvPr id="148" name="Textfeld 147">
              <a:extLst>
                <a:ext uri="{FF2B5EF4-FFF2-40B4-BE49-F238E27FC236}">
                  <a16:creationId xmlns:a16="http://schemas.microsoft.com/office/drawing/2014/main" id="{95C8CB1F-F624-4A18-90CF-A8ED9BC67846}"/>
                </a:ext>
              </a:extLst>
            </p:cNvPr>
            <p:cNvSpPr txBox="1"/>
            <p:nvPr/>
          </p:nvSpPr>
          <p:spPr>
            <a:xfrm>
              <a:off x="6433985" y="3841060"/>
              <a:ext cx="474404"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U</a:t>
              </a:r>
            </a:p>
          </p:txBody>
        </p:sp>
        <p:sp>
          <p:nvSpPr>
            <p:cNvPr id="149" name="Textfeld 148">
              <a:extLst>
                <a:ext uri="{FF2B5EF4-FFF2-40B4-BE49-F238E27FC236}">
                  <a16:creationId xmlns:a16="http://schemas.microsoft.com/office/drawing/2014/main" id="{4226E203-8582-44AD-BB42-4D4E2F9F28F6}"/>
                </a:ext>
              </a:extLst>
            </p:cNvPr>
            <p:cNvSpPr txBox="1"/>
            <p:nvPr/>
          </p:nvSpPr>
          <p:spPr>
            <a:xfrm>
              <a:off x="6433985" y="4055838"/>
              <a:ext cx="474406"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7</a:t>
              </a:r>
            </a:p>
          </p:txBody>
        </p:sp>
        <p:sp>
          <p:nvSpPr>
            <p:cNvPr id="150" name="Textfeld 149">
              <a:extLst>
                <a:ext uri="{FF2B5EF4-FFF2-40B4-BE49-F238E27FC236}">
                  <a16:creationId xmlns:a16="http://schemas.microsoft.com/office/drawing/2014/main" id="{E6C7ACF0-7F7A-4DC6-A895-C937C8A9637A}"/>
                </a:ext>
              </a:extLst>
            </p:cNvPr>
            <p:cNvSpPr txBox="1"/>
            <p:nvPr/>
          </p:nvSpPr>
          <p:spPr>
            <a:xfrm>
              <a:off x="6477766" y="3448778"/>
              <a:ext cx="344034" cy="31831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a:t>
              </a:r>
            </a:p>
          </p:txBody>
        </p:sp>
      </p:grpSp>
      <p:grpSp>
        <p:nvGrpSpPr>
          <p:cNvPr id="151" name="Gruppieren 150">
            <a:extLst>
              <a:ext uri="{FF2B5EF4-FFF2-40B4-BE49-F238E27FC236}">
                <a16:creationId xmlns:a16="http://schemas.microsoft.com/office/drawing/2014/main" id="{CEADD50C-2476-4B76-997B-CD2091D5A69C}"/>
              </a:ext>
            </a:extLst>
          </p:cNvPr>
          <p:cNvGrpSpPr/>
          <p:nvPr/>
        </p:nvGrpSpPr>
        <p:grpSpPr>
          <a:xfrm>
            <a:off x="1293598" y="2474630"/>
            <a:ext cx="655730" cy="767322"/>
            <a:chOff x="6965290" y="3258929"/>
            <a:chExt cx="822029" cy="961922"/>
          </a:xfrm>
        </p:grpSpPr>
        <p:sp>
          <p:nvSpPr>
            <p:cNvPr id="152" name="Rechteck 151">
              <a:extLst>
                <a:ext uri="{FF2B5EF4-FFF2-40B4-BE49-F238E27FC236}">
                  <a16:creationId xmlns:a16="http://schemas.microsoft.com/office/drawing/2014/main" id="{A4BA8F5F-AED4-4BC6-804A-6B215542E600}"/>
                </a:ext>
              </a:extLst>
            </p:cNvPr>
            <p:cNvSpPr/>
            <p:nvPr/>
          </p:nvSpPr>
          <p:spPr>
            <a:xfrm>
              <a:off x="6965290" y="3578246"/>
              <a:ext cx="822029" cy="642605"/>
            </a:xfrm>
            <a:prstGeom prst="rect">
              <a:avLst/>
            </a:prstGeom>
            <a:solidFill>
              <a:srgbClr val="808080"/>
            </a:solidFill>
            <a:ln w="28575">
              <a:solidFill>
                <a:schemeClr val="tx1"/>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a:ln>
                  <a:noFill/>
                </a:ln>
                <a:solidFill>
                  <a:prstClr val="black"/>
                </a:solidFill>
                <a:effectLst/>
                <a:uLnTx/>
                <a:uFillTx/>
                <a:latin typeface="Calibri"/>
                <a:ea typeface="+mn-ea"/>
                <a:cs typeface="+mn-cs"/>
              </a:endParaRPr>
            </a:p>
          </p:txBody>
        </p:sp>
        <p:sp>
          <p:nvSpPr>
            <p:cNvPr id="153" name="Textfeld 152">
              <a:extLst>
                <a:ext uri="{FF2B5EF4-FFF2-40B4-BE49-F238E27FC236}">
                  <a16:creationId xmlns:a16="http://schemas.microsoft.com/office/drawing/2014/main" id="{3CAE0982-4EFC-43DE-A832-1E8A221798B8}"/>
                </a:ext>
              </a:extLst>
            </p:cNvPr>
            <p:cNvSpPr txBox="1"/>
            <p:nvPr/>
          </p:nvSpPr>
          <p:spPr>
            <a:xfrm>
              <a:off x="7139075" y="3628727"/>
              <a:ext cx="474404"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X</a:t>
              </a:r>
            </a:p>
          </p:txBody>
        </p:sp>
        <p:sp>
          <p:nvSpPr>
            <p:cNvPr id="154" name="Textfeld 153">
              <a:extLst>
                <a:ext uri="{FF2B5EF4-FFF2-40B4-BE49-F238E27FC236}">
                  <a16:creationId xmlns:a16="http://schemas.microsoft.com/office/drawing/2014/main" id="{CE9C75DA-4E2F-4C01-9815-C362C272F61B}"/>
                </a:ext>
              </a:extLst>
            </p:cNvPr>
            <p:cNvSpPr txBox="1"/>
            <p:nvPr/>
          </p:nvSpPr>
          <p:spPr>
            <a:xfrm>
              <a:off x="7139075" y="3852068"/>
              <a:ext cx="474406"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7</a:t>
              </a:r>
            </a:p>
          </p:txBody>
        </p:sp>
        <p:sp>
          <p:nvSpPr>
            <p:cNvPr id="155" name="Textfeld 154">
              <a:extLst>
                <a:ext uri="{FF2B5EF4-FFF2-40B4-BE49-F238E27FC236}">
                  <a16:creationId xmlns:a16="http://schemas.microsoft.com/office/drawing/2014/main" id="{CBAE9A41-262E-4A6E-A4A8-F8D250FC6804}"/>
                </a:ext>
              </a:extLst>
            </p:cNvPr>
            <p:cNvSpPr txBox="1"/>
            <p:nvPr/>
          </p:nvSpPr>
          <p:spPr>
            <a:xfrm>
              <a:off x="7199236" y="3258929"/>
              <a:ext cx="354082" cy="31831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a:t>
              </a:r>
            </a:p>
          </p:txBody>
        </p:sp>
      </p:grpSp>
      <p:grpSp>
        <p:nvGrpSpPr>
          <p:cNvPr id="156" name="Gruppieren 155">
            <a:extLst>
              <a:ext uri="{FF2B5EF4-FFF2-40B4-BE49-F238E27FC236}">
                <a16:creationId xmlns:a16="http://schemas.microsoft.com/office/drawing/2014/main" id="{BB40189A-15BD-423F-9C3D-1CED8E2368DF}"/>
              </a:ext>
            </a:extLst>
          </p:cNvPr>
          <p:cNvGrpSpPr/>
          <p:nvPr/>
        </p:nvGrpSpPr>
        <p:grpSpPr>
          <a:xfrm>
            <a:off x="1870171" y="2646933"/>
            <a:ext cx="655730" cy="767055"/>
            <a:chOff x="7688087" y="3053629"/>
            <a:chExt cx="822029" cy="961588"/>
          </a:xfrm>
        </p:grpSpPr>
        <p:sp>
          <p:nvSpPr>
            <p:cNvPr id="157" name="Rechteck 156">
              <a:extLst>
                <a:ext uri="{FF2B5EF4-FFF2-40B4-BE49-F238E27FC236}">
                  <a16:creationId xmlns:a16="http://schemas.microsoft.com/office/drawing/2014/main" id="{AB133F59-E5D8-467D-BDD9-D36D067C6A14}"/>
                </a:ext>
              </a:extLst>
            </p:cNvPr>
            <p:cNvSpPr/>
            <p:nvPr/>
          </p:nvSpPr>
          <p:spPr>
            <a:xfrm>
              <a:off x="7688087" y="3372612"/>
              <a:ext cx="822029" cy="642605"/>
            </a:xfrm>
            <a:prstGeom prst="rect">
              <a:avLst/>
            </a:prstGeom>
            <a:solidFill>
              <a:srgbClr val="808080"/>
            </a:solidFill>
            <a:ln w="28575">
              <a:solidFill>
                <a:schemeClr val="tx1"/>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a:ln>
                  <a:noFill/>
                </a:ln>
                <a:solidFill>
                  <a:prstClr val="black"/>
                </a:solidFill>
                <a:effectLst/>
                <a:uLnTx/>
                <a:uFillTx/>
                <a:latin typeface="Calibri"/>
                <a:ea typeface="+mn-ea"/>
                <a:cs typeface="+mn-cs"/>
              </a:endParaRPr>
            </a:p>
          </p:txBody>
        </p:sp>
        <p:sp>
          <p:nvSpPr>
            <p:cNvPr id="158" name="Textfeld 157">
              <a:extLst>
                <a:ext uri="{FF2B5EF4-FFF2-40B4-BE49-F238E27FC236}">
                  <a16:creationId xmlns:a16="http://schemas.microsoft.com/office/drawing/2014/main" id="{CA489EEC-A4CC-4718-851F-E8CDD2553A67}"/>
                </a:ext>
              </a:extLst>
            </p:cNvPr>
            <p:cNvSpPr txBox="1"/>
            <p:nvPr/>
          </p:nvSpPr>
          <p:spPr>
            <a:xfrm>
              <a:off x="7861899" y="3419573"/>
              <a:ext cx="474404" cy="318312"/>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a:t>
              </a:r>
            </a:p>
          </p:txBody>
        </p:sp>
        <p:sp>
          <p:nvSpPr>
            <p:cNvPr id="159" name="Textfeld 158">
              <a:extLst>
                <a:ext uri="{FF2B5EF4-FFF2-40B4-BE49-F238E27FC236}">
                  <a16:creationId xmlns:a16="http://schemas.microsoft.com/office/drawing/2014/main" id="{53215139-660D-4039-8A2A-6C0FF6168066}"/>
                </a:ext>
              </a:extLst>
            </p:cNvPr>
            <p:cNvSpPr txBox="1"/>
            <p:nvPr/>
          </p:nvSpPr>
          <p:spPr>
            <a:xfrm>
              <a:off x="7861899" y="3650111"/>
              <a:ext cx="474406" cy="318312"/>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7</a:t>
              </a:r>
            </a:p>
          </p:txBody>
        </p:sp>
        <p:sp>
          <p:nvSpPr>
            <p:cNvPr id="160" name="Textfeld 159">
              <a:extLst>
                <a:ext uri="{FF2B5EF4-FFF2-40B4-BE49-F238E27FC236}">
                  <a16:creationId xmlns:a16="http://schemas.microsoft.com/office/drawing/2014/main" id="{A9BCA237-3235-4896-A378-6CCB818CE4B6}"/>
                </a:ext>
              </a:extLst>
            </p:cNvPr>
            <p:cNvSpPr txBox="1"/>
            <p:nvPr/>
          </p:nvSpPr>
          <p:spPr>
            <a:xfrm>
              <a:off x="7923712" y="3053629"/>
              <a:ext cx="354082" cy="31831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a:t>
              </a:r>
            </a:p>
          </p:txBody>
        </p:sp>
      </p:grpSp>
      <p:sp>
        <p:nvSpPr>
          <p:cNvPr id="161" name="Textfeld 160">
            <a:extLst>
              <a:ext uri="{FF2B5EF4-FFF2-40B4-BE49-F238E27FC236}">
                <a16:creationId xmlns:a16="http://schemas.microsoft.com/office/drawing/2014/main" id="{D157D445-A496-4351-B562-86C48A302EB7}"/>
              </a:ext>
            </a:extLst>
          </p:cNvPr>
          <p:cNvSpPr txBox="1"/>
          <p:nvPr/>
        </p:nvSpPr>
        <p:spPr>
          <a:xfrm>
            <a:off x="1431962" y="1068058"/>
            <a:ext cx="2647170" cy="3000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Free Concurrent Dual-Tasking</a:t>
            </a:r>
            <a:endParaRPr kumimoji="0" lang="en-US" sz="2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nvGrpSpPr>
          <p:cNvPr id="162" name="Gruppieren 161">
            <a:extLst>
              <a:ext uri="{FF2B5EF4-FFF2-40B4-BE49-F238E27FC236}">
                <a16:creationId xmlns:a16="http://schemas.microsoft.com/office/drawing/2014/main" id="{3301FFB7-FB28-4D3A-880A-4450FFF65BD9}"/>
              </a:ext>
            </a:extLst>
          </p:cNvPr>
          <p:cNvGrpSpPr/>
          <p:nvPr/>
        </p:nvGrpSpPr>
        <p:grpSpPr>
          <a:xfrm>
            <a:off x="2446744" y="3077688"/>
            <a:ext cx="655730" cy="765050"/>
            <a:chOff x="8410885" y="3132000"/>
            <a:chExt cx="822029" cy="959074"/>
          </a:xfrm>
        </p:grpSpPr>
        <p:sp>
          <p:nvSpPr>
            <p:cNvPr id="163" name="Rechteck 162">
              <a:extLst>
                <a:ext uri="{FF2B5EF4-FFF2-40B4-BE49-F238E27FC236}">
                  <a16:creationId xmlns:a16="http://schemas.microsoft.com/office/drawing/2014/main" id="{00B36941-1774-4B12-9723-25EC82DE4EE0}"/>
                </a:ext>
              </a:extLst>
            </p:cNvPr>
            <p:cNvSpPr/>
            <p:nvPr/>
          </p:nvSpPr>
          <p:spPr>
            <a:xfrm>
              <a:off x="8410885" y="3132000"/>
              <a:ext cx="822029" cy="642605"/>
            </a:xfrm>
            <a:prstGeom prst="rect">
              <a:avLst/>
            </a:prstGeom>
            <a:solidFill>
              <a:srgbClr val="808080"/>
            </a:solidFill>
            <a:ln w="28575">
              <a:solidFill>
                <a:schemeClr val="tx1"/>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a:ln>
                  <a:noFill/>
                </a:ln>
                <a:solidFill>
                  <a:prstClr val="black"/>
                </a:solidFill>
                <a:effectLst/>
                <a:uLnTx/>
                <a:uFillTx/>
                <a:latin typeface="Calibri"/>
                <a:ea typeface="+mn-ea"/>
                <a:cs typeface="+mn-cs"/>
              </a:endParaRPr>
            </a:p>
          </p:txBody>
        </p:sp>
        <p:sp>
          <p:nvSpPr>
            <p:cNvPr id="164" name="Textfeld 163">
              <a:extLst>
                <a:ext uri="{FF2B5EF4-FFF2-40B4-BE49-F238E27FC236}">
                  <a16:creationId xmlns:a16="http://schemas.microsoft.com/office/drawing/2014/main" id="{41E96865-9D48-4985-AD90-9F05DE986B06}"/>
                </a:ext>
              </a:extLst>
            </p:cNvPr>
            <p:cNvSpPr txBox="1"/>
            <p:nvPr/>
          </p:nvSpPr>
          <p:spPr>
            <a:xfrm>
              <a:off x="8584698" y="3187519"/>
              <a:ext cx="474404"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a:t>
              </a:r>
            </a:p>
          </p:txBody>
        </p:sp>
        <p:sp>
          <p:nvSpPr>
            <p:cNvPr id="165" name="Textfeld 164">
              <a:extLst>
                <a:ext uri="{FF2B5EF4-FFF2-40B4-BE49-F238E27FC236}">
                  <a16:creationId xmlns:a16="http://schemas.microsoft.com/office/drawing/2014/main" id="{15BC6A91-86F2-4282-8FC2-8384D623949A}"/>
                </a:ext>
              </a:extLst>
            </p:cNvPr>
            <p:cNvSpPr txBox="1"/>
            <p:nvPr/>
          </p:nvSpPr>
          <p:spPr>
            <a:xfrm>
              <a:off x="8584697" y="3414762"/>
              <a:ext cx="474406"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7</a:t>
              </a:r>
            </a:p>
          </p:txBody>
        </p:sp>
        <p:sp>
          <p:nvSpPr>
            <p:cNvPr id="166" name="Textfeld 165">
              <a:extLst>
                <a:ext uri="{FF2B5EF4-FFF2-40B4-BE49-F238E27FC236}">
                  <a16:creationId xmlns:a16="http://schemas.microsoft.com/office/drawing/2014/main" id="{A5BCAE0C-B463-4D8E-95CA-C6E7CB5ADEA7}"/>
                </a:ext>
              </a:extLst>
            </p:cNvPr>
            <p:cNvSpPr txBox="1"/>
            <p:nvPr/>
          </p:nvSpPr>
          <p:spPr>
            <a:xfrm>
              <a:off x="8646882" y="3772763"/>
              <a:ext cx="362120" cy="31831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a:t>
              </a:r>
            </a:p>
          </p:txBody>
        </p:sp>
      </p:grpSp>
      <p:grpSp>
        <p:nvGrpSpPr>
          <p:cNvPr id="167" name="Gruppieren 166">
            <a:extLst>
              <a:ext uri="{FF2B5EF4-FFF2-40B4-BE49-F238E27FC236}">
                <a16:creationId xmlns:a16="http://schemas.microsoft.com/office/drawing/2014/main" id="{D0B0B5DC-5277-4EDF-A01C-47E0F91F2B2A}"/>
              </a:ext>
            </a:extLst>
          </p:cNvPr>
          <p:cNvGrpSpPr/>
          <p:nvPr/>
        </p:nvGrpSpPr>
        <p:grpSpPr>
          <a:xfrm>
            <a:off x="3023318" y="2991540"/>
            <a:ext cx="655730" cy="769024"/>
            <a:chOff x="9133684" y="3024000"/>
            <a:chExt cx="822029" cy="964055"/>
          </a:xfrm>
        </p:grpSpPr>
        <p:sp>
          <p:nvSpPr>
            <p:cNvPr id="168" name="Rechteck 167">
              <a:extLst>
                <a:ext uri="{FF2B5EF4-FFF2-40B4-BE49-F238E27FC236}">
                  <a16:creationId xmlns:a16="http://schemas.microsoft.com/office/drawing/2014/main" id="{012523DC-41A1-4F37-96A5-3BF6D086345E}"/>
                </a:ext>
              </a:extLst>
            </p:cNvPr>
            <p:cNvSpPr/>
            <p:nvPr/>
          </p:nvSpPr>
          <p:spPr>
            <a:xfrm>
              <a:off x="9133684" y="3345450"/>
              <a:ext cx="822029" cy="642605"/>
            </a:xfrm>
            <a:prstGeom prst="rect">
              <a:avLst/>
            </a:prstGeom>
            <a:solidFill>
              <a:srgbClr val="808080"/>
            </a:solidFill>
            <a:ln w="28575">
              <a:solidFill>
                <a:schemeClr val="tx1"/>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a:ln>
                  <a:noFill/>
                </a:ln>
                <a:solidFill>
                  <a:prstClr val="black"/>
                </a:solidFill>
                <a:effectLst/>
                <a:uLnTx/>
                <a:uFillTx/>
                <a:latin typeface="Calibri"/>
                <a:ea typeface="+mn-ea"/>
                <a:cs typeface="+mn-cs"/>
              </a:endParaRPr>
            </a:p>
          </p:txBody>
        </p:sp>
        <p:sp>
          <p:nvSpPr>
            <p:cNvPr id="169" name="Textfeld 168">
              <a:extLst>
                <a:ext uri="{FF2B5EF4-FFF2-40B4-BE49-F238E27FC236}">
                  <a16:creationId xmlns:a16="http://schemas.microsoft.com/office/drawing/2014/main" id="{2A6903A6-8344-47DB-BC0C-FDA3974F6688}"/>
                </a:ext>
              </a:extLst>
            </p:cNvPr>
            <p:cNvSpPr txBox="1"/>
            <p:nvPr/>
          </p:nvSpPr>
          <p:spPr>
            <a:xfrm>
              <a:off x="9307494" y="3397597"/>
              <a:ext cx="474404"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a:t>
              </a:r>
            </a:p>
          </p:txBody>
        </p:sp>
        <p:sp>
          <p:nvSpPr>
            <p:cNvPr id="170" name="Textfeld 169">
              <a:extLst>
                <a:ext uri="{FF2B5EF4-FFF2-40B4-BE49-F238E27FC236}">
                  <a16:creationId xmlns:a16="http://schemas.microsoft.com/office/drawing/2014/main" id="{39822243-8E7F-4DAA-AEE8-0CD2C1D19FE3}"/>
                </a:ext>
              </a:extLst>
            </p:cNvPr>
            <p:cNvSpPr txBox="1"/>
            <p:nvPr/>
          </p:nvSpPr>
          <p:spPr>
            <a:xfrm>
              <a:off x="9307494" y="3624376"/>
              <a:ext cx="474406"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2</a:t>
              </a:r>
            </a:p>
          </p:txBody>
        </p:sp>
        <p:sp>
          <p:nvSpPr>
            <p:cNvPr id="171" name="Textfeld 170">
              <a:extLst>
                <a:ext uri="{FF2B5EF4-FFF2-40B4-BE49-F238E27FC236}">
                  <a16:creationId xmlns:a16="http://schemas.microsoft.com/office/drawing/2014/main" id="{9374910D-A2D5-4890-8C50-DD73D1B5F9F0}"/>
                </a:ext>
              </a:extLst>
            </p:cNvPr>
            <p:cNvSpPr txBox="1"/>
            <p:nvPr/>
          </p:nvSpPr>
          <p:spPr>
            <a:xfrm>
              <a:off x="9355933" y="3024000"/>
              <a:ext cx="354082" cy="31831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a:t>
              </a:r>
            </a:p>
          </p:txBody>
        </p:sp>
      </p:grpSp>
      <p:grpSp>
        <p:nvGrpSpPr>
          <p:cNvPr id="172" name="Gruppieren 171">
            <a:extLst>
              <a:ext uri="{FF2B5EF4-FFF2-40B4-BE49-F238E27FC236}">
                <a16:creationId xmlns:a16="http://schemas.microsoft.com/office/drawing/2014/main" id="{FFC3C837-E453-4C18-A3A8-FDD902AA2FCE}"/>
              </a:ext>
            </a:extLst>
          </p:cNvPr>
          <p:cNvGrpSpPr/>
          <p:nvPr/>
        </p:nvGrpSpPr>
        <p:grpSpPr>
          <a:xfrm>
            <a:off x="3599893" y="3422297"/>
            <a:ext cx="655730" cy="775377"/>
            <a:chOff x="9856482" y="2755709"/>
            <a:chExt cx="822029" cy="972020"/>
          </a:xfrm>
        </p:grpSpPr>
        <p:sp>
          <p:nvSpPr>
            <p:cNvPr id="173" name="Rechteck 172">
              <a:extLst>
                <a:ext uri="{FF2B5EF4-FFF2-40B4-BE49-F238E27FC236}">
                  <a16:creationId xmlns:a16="http://schemas.microsoft.com/office/drawing/2014/main" id="{CD63529F-2CBD-4109-96BF-281C1920E76F}"/>
                </a:ext>
              </a:extLst>
            </p:cNvPr>
            <p:cNvSpPr/>
            <p:nvPr/>
          </p:nvSpPr>
          <p:spPr>
            <a:xfrm>
              <a:off x="9856482" y="2755709"/>
              <a:ext cx="822029" cy="642605"/>
            </a:xfrm>
            <a:prstGeom prst="rect">
              <a:avLst/>
            </a:prstGeom>
            <a:solidFill>
              <a:srgbClr val="808080"/>
            </a:solidFill>
            <a:ln w="28575">
              <a:solidFill>
                <a:schemeClr val="tx1"/>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a:ln>
                  <a:noFill/>
                </a:ln>
                <a:solidFill>
                  <a:prstClr val="black"/>
                </a:solidFill>
                <a:effectLst/>
                <a:uLnTx/>
                <a:uFillTx/>
                <a:latin typeface="Calibri"/>
                <a:ea typeface="+mn-ea"/>
                <a:cs typeface="+mn-cs"/>
              </a:endParaRPr>
            </a:p>
          </p:txBody>
        </p:sp>
        <p:sp>
          <p:nvSpPr>
            <p:cNvPr id="174" name="Textfeld 173">
              <a:extLst>
                <a:ext uri="{FF2B5EF4-FFF2-40B4-BE49-F238E27FC236}">
                  <a16:creationId xmlns:a16="http://schemas.microsoft.com/office/drawing/2014/main" id="{D2911B2D-23A2-4D04-88C0-522C825A9F2D}"/>
                </a:ext>
              </a:extLst>
            </p:cNvPr>
            <p:cNvSpPr txBox="1"/>
            <p:nvPr/>
          </p:nvSpPr>
          <p:spPr>
            <a:xfrm>
              <a:off x="10030294" y="2807858"/>
              <a:ext cx="474404"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E</a:t>
              </a:r>
            </a:p>
          </p:txBody>
        </p:sp>
        <p:sp>
          <p:nvSpPr>
            <p:cNvPr id="175" name="Textfeld 174">
              <a:extLst>
                <a:ext uri="{FF2B5EF4-FFF2-40B4-BE49-F238E27FC236}">
                  <a16:creationId xmlns:a16="http://schemas.microsoft.com/office/drawing/2014/main" id="{8E8C7CFF-F7B4-46CA-ADB1-7D99986B4F9D}"/>
                </a:ext>
              </a:extLst>
            </p:cNvPr>
            <p:cNvSpPr txBox="1"/>
            <p:nvPr/>
          </p:nvSpPr>
          <p:spPr>
            <a:xfrm>
              <a:off x="10030294" y="3036097"/>
              <a:ext cx="474406"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2</a:t>
              </a:r>
            </a:p>
          </p:txBody>
        </p:sp>
        <p:sp>
          <p:nvSpPr>
            <p:cNvPr id="176" name="Textfeld 175">
              <a:extLst>
                <a:ext uri="{FF2B5EF4-FFF2-40B4-BE49-F238E27FC236}">
                  <a16:creationId xmlns:a16="http://schemas.microsoft.com/office/drawing/2014/main" id="{DA52D198-D1D1-4D21-9CC0-5780A83E9B20}"/>
                </a:ext>
              </a:extLst>
            </p:cNvPr>
            <p:cNvSpPr txBox="1"/>
            <p:nvPr/>
          </p:nvSpPr>
          <p:spPr>
            <a:xfrm>
              <a:off x="10095479" y="3409418"/>
              <a:ext cx="344034" cy="31831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a:t>
              </a:r>
            </a:p>
          </p:txBody>
        </p:sp>
      </p:grpSp>
      <p:grpSp>
        <p:nvGrpSpPr>
          <p:cNvPr id="177" name="Gruppieren 176">
            <a:extLst>
              <a:ext uri="{FF2B5EF4-FFF2-40B4-BE49-F238E27FC236}">
                <a16:creationId xmlns:a16="http://schemas.microsoft.com/office/drawing/2014/main" id="{FCCFF3FE-1C4F-4BA2-B827-E58BE5228E96}"/>
              </a:ext>
            </a:extLst>
          </p:cNvPr>
          <p:cNvGrpSpPr/>
          <p:nvPr/>
        </p:nvGrpSpPr>
        <p:grpSpPr>
          <a:xfrm>
            <a:off x="4176464" y="3594595"/>
            <a:ext cx="655730" cy="768286"/>
            <a:chOff x="10579278" y="2550076"/>
            <a:chExt cx="822029" cy="963130"/>
          </a:xfrm>
        </p:grpSpPr>
        <p:sp>
          <p:nvSpPr>
            <p:cNvPr id="178" name="Rechteck 177">
              <a:extLst>
                <a:ext uri="{FF2B5EF4-FFF2-40B4-BE49-F238E27FC236}">
                  <a16:creationId xmlns:a16="http://schemas.microsoft.com/office/drawing/2014/main" id="{CE0A5F96-7522-4EA7-B645-FA1D7D2D2676}"/>
                </a:ext>
              </a:extLst>
            </p:cNvPr>
            <p:cNvSpPr/>
            <p:nvPr/>
          </p:nvSpPr>
          <p:spPr>
            <a:xfrm>
              <a:off x="10579278" y="2550076"/>
              <a:ext cx="822029" cy="642605"/>
            </a:xfrm>
            <a:prstGeom prst="rect">
              <a:avLst/>
            </a:prstGeom>
            <a:solidFill>
              <a:srgbClr val="808080"/>
            </a:solidFill>
            <a:ln w="28575">
              <a:solidFill>
                <a:schemeClr val="tx1"/>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a:ln>
                  <a:noFill/>
                </a:ln>
                <a:solidFill>
                  <a:prstClr val="black"/>
                </a:solidFill>
                <a:effectLst/>
                <a:uLnTx/>
                <a:uFillTx/>
                <a:latin typeface="Calibri"/>
                <a:ea typeface="+mn-ea"/>
                <a:cs typeface="+mn-cs"/>
              </a:endParaRPr>
            </a:p>
          </p:txBody>
        </p:sp>
        <p:sp>
          <p:nvSpPr>
            <p:cNvPr id="179" name="Textfeld 178">
              <a:extLst>
                <a:ext uri="{FF2B5EF4-FFF2-40B4-BE49-F238E27FC236}">
                  <a16:creationId xmlns:a16="http://schemas.microsoft.com/office/drawing/2014/main" id="{47A0E9C3-6CDC-4D45-9AE8-A9EBBE0DE947}"/>
                </a:ext>
              </a:extLst>
            </p:cNvPr>
            <p:cNvSpPr txBox="1"/>
            <p:nvPr/>
          </p:nvSpPr>
          <p:spPr>
            <a:xfrm>
              <a:off x="10771238" y="2602222"/>
              <a:ext cx="474404"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E</a:t>
              </a:r>
            </a:p>
          </p:txBody>
        </p:sp>
        <p:sp>
          <p:nvSpPr>
            <p:cNvPr id="180" name="Textfeld 179">
              <a:extLst>
                <a:ext uri="{FF2B5EF4-FFF2-40B4-BE49-F238E27FC236}">
                  <a16:creationId xmlns:a16="http://schemas.microsoft.com/office/drawing/2014/main" id="{1FE78B81-F30E-44E1-BEDD-F9336D538317}"/>
                </a:ext>
              </a:extLst>
            </p:cNvPr>
            <p:cNvSpPr txBox="1"/>
            <p:nvPr/>
          </p:nvSpPr>
          <p:spPr>
            <a:xfrm>
              <a:off x="10771238" y="2825372"/>
              <a:ext cx="474406" cy="318311"/>
            </a:xfrm>
            <a:prstGeom prst="rect">
              <a:avLst/>
            </a:prstGeom>
            <a:noFill/>
            <a:effectLst>
              <a:softEdge rad="38100"/>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6</a:t>
              </a:r>
            </a:p>
          </p:txBody>
        </p:sp>
        <p:sp>
          <p:nvSpPr>
            <p:cNvPr id="181" name="Textfeld 180">
              <a:extLst>
                <a:ext uri="{FF2B5EF4-FFF2-40B4-BE49-F238E27FC236}">
                  <a16:creationId xmlns:a16="http://schemas.microsoft.com/office/drawing/2014/main" id="{CCCD44B0-31B5-41B9-B4B2-D0F635FABA30}"/>
                </a:ext>
              </a:extLst>
            </p:cNvPr>
            <p:cNvSpPr txBox="1"/>
            <p:nvPr/>
          </p:nvSpPr>
          <p:spPr>
            <a:xfrm>
              <a:off x="10836030" y="3194895"/>
              <a:ext cx="344034" cy="31831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a:t>
              </a:r>
            </a:p>
          </p:txBody>
        </p:sp>
      </p:grpSp>
      <p:cxnSp>
        <p:nvCxnSpPr>
          <p:cNvPr id="182" name="Gerade Verbindung mit Pfeil 181">
            <a:extLst>
              <a:ext uri="{FF2B5EF4-FFF2-40B4-BE49-F238E27FC236}">
                <a16:creationId xmlns:a16="http://schemas.microsoft.com/office/drawing/2014/main" id="{E6EE5ADD-1E0A-4684-89DC-57FDE259A9A3}"/>
              </a:ext>
            </a:extLst>
          </p:cNvPr>
          <p:cNvCxnSpPr>
            <a:cxnSpLocks/>
          </p:cNvCxnSpPr>
          <p:nvPr/>
        </p:nvCxnSpPr>
        <p:spPr>
          <a:xfrm>
            <a:off x="1143577" y="2741161"/>
            <a:ext cx="373322" cy="119603"/>
          </a:xfrm>
          <a:prstGeom prst="straightConnector1">
            <a:avLst/>
          </a:prstGeom>
          <a:ln w="19050">
            <a:prstDash val="dash"/>
            <a:tailEnd type="triangle" w="lg" len="med"/>
          </a:ln>
        </p:spPr>
        <p:style>
          <a:lnRef idx="2">
            <a:schemeClr val="dk1"/>
          </a:lnRef>
          <a:fillRef idx="0">
            <a:schemeClr val="dk1"/>
          </a:fillRef>
          <a:effectRef idx="1">
            <a:schemeClr val="dk1"/>
          </a:effectRef>
          <a:fontRef idx="minor">
            <a:schemeClr val="tx1"/>
          </a:fontRef>
        </p:style>
      </p:cxnSp>
      <p:cxnSp>
        <p:nvCxnSpPr>
          <p:cNvPr id="183" name="Gerade Verbindung mit Pfeil 182">
            <a:extLst>
              <a:ext uri="{FF2B5EF4-FFF2-40B4-BE49-F238E27FC236}">
                <a16:creationId xmlns:a16="http://schemas.microsoft.com/office/drawing/2014/main" id="{5D2A8335-8D59-4E79-B914-167090F1D8D4}"/>
              </a:ext>
            </a:extLst>
          </p:cNvPr>
          <p:cNvCxnSpPr>
            <a:cxnSpLocks/>
          </p:cNvCxnSpPr>
          <p:nvPr/>
        </p:nvCxnSpPr>
        <p:spPr>
          <a:xfrm>
            <a:off x="2283434" y="3105591"/>
            <a:ext cx="399056" cy="310596"/>
          </a:xfrm>
          <a:prstGeom prst="straightConnector1">
            <a:avLst/>
          </a:prstGeom>
          <a:ln w="19050">
            <a:prstDash val="dash"/>
            <a:tailEnd type="triangle" w="lg" len="med"/>
          </a:ln>
        </p:spPr>
        <p:style>
          <a:lnRef idx="2">
            <a:schemeClr val="dk1"/>
          </a:lnRef>
          <a:fillRef idx="0">
            <a:schemeClr val="dk1"/>
          </a:fillRef>
          <a:effectRef idx="1">
            <a:schemeClr val="dk1"/>
          </a:effectRef>
          <a:fontRef idx="minor">
            <a:schemeClr val="tx1"/>
          </a:fontRef>
        </p:style>
      </p:cxnSp>
      <p:cxnSp>
        <p:nvCxnSpPr>
          <p:cNvPr id="184" name="Gerade Verbindung mit Pfeil 183">
            <a:extLst>
              <a:ext uri="{FF2B5EF4-FFF2-40B4-BE49-F238E27FC236}">
                <a16:creationId xmlns:a16="http://schemas.microsoft.com/office/drawing/2014/main" id="{2FB383C1-5F74-41EE-ACDF-D00439D8B8AD}"/>
              </a:ext>
            </a:extLst>
          </p:cNvPr>
          <p:cNvCxnSpPr>
            <a:cxnSpLocks/>
          </p:cNvCxnSpPr>
          <p:nvPr/>
        </p:nvCxnSpPr>
        <p:spPr>
          <a:xfrm flipV="1">
            <a:off x="2852781" y="3408910"/>
            <a:ext cx="395099" cy="23509"/>
          </a:xfrm>
          <a:prstGeom prst="straightConnector1">
            <a:avLst/>
          </a:prstGeom>
          <a:ln w="19050">
            <a:prstDash val="dash"/>
            <a:tailEnd type="triangle" w="lg" len="med"/>
          </a:ln>
        </p:spPr>
        <p:style>
          <a:lnRef idx="2">
            <a:schemeClr val="dk1"/>
          </a:lnRef>
          <a:fillRef idx="0">
            <a:schemeClr val="dk1"/>
          </a:fillRef>
          <a:effectRef idx="1">
            <a:schemeClr val="dk1"/>
          </a:effectRef>
          <a:fontRef idx="minor">
            <a:schemeClr val="tx1"/>
          </a:fontRef>
        </p:style>
      </p:cxnSp>
      <p:cxnSp>
        <p:nvCxnSpPr>
          <p:cNvPr id="185" name="Gerade Verbindung mit Pfeil 184">
            <a:extLst>
              <a:ext uri="{FF2B5EF4-FFF2-40B4-BE49-F238E27FC236}">
                <a16:creationId xmlns:a16="http://schemas.microsoft.com/office/drawing/2014/main" id="{F5F79C93-2D83-468C-82B7-F20354293B6C}"/>
              </a:ext>
            </a:extLst>
          </p:cNvPr>
          <p:cNvCxnSpPr>
            <a:cxnSpLocks/>
          </p:cNvCxnSpPr>
          <p:nvPr/>
        </p:nvCxnSpPr>
        <p:spPr>
          <a:xfrm>
            <a:off x="4003633" y="3782228"/>
            <a:ext cx="403565" cy="129846"/>
          </a:xfrm>
          <a:prstGeom prst="straightConnector1">
            <a:avLst/>
          </a:prstGeom>
          <a:ln w="19050">
            <a:prstDash val="dash"/>
            <a:tailEnd type="triangle" w="lg" len="med"/>
          </a:ln>
        </p:spPr>
        <p:style>
          <a:lnRef idx="2">
            <a:schemeClr val="dk1"/>
          </a:lnRef>
          <a:fillRef idx="0">
            <a:schemeClr val="dk1"/>
          </a:fillRef>
          <a:effectRef idx="1">
            <a:schemeClr val="dk1"/>
          </a:effectRef>
          <a:fontRef idx="minor">
            <a:schemeClr val="tx1"/>
          </a:fontRef>
        </p:style>
      </p:cxnSp>
      <p:cxnSp>
        <p:nvCxnSpPr>
          <p:cNvPr id="186" name="Gerade Verbindung mit Pfeil 185">
            <a:extLst>
              <a:ext uri="{FF2B5EF4-FFF2-40B4-BE49-F238E27FC236}">
                <a16:creationId xmlns:a16="http://schemas.microsoft.com/office/drawing/2014/main" id="{E49E5C2F-5B70-4257-8358-B05D82C7159E}"/>
              </a:ext>
            </a:extLst>
          </p:cNvPr>
          <p:cNvCxnSpPr>
            <a:cxnSpLocks/>
          </p:cNvCxnSpPr>
          <p:nvPr/>
        </p:nvCxnSpPr>
        <p:spPr>
          <a:xfrm>
            <a:off x="1712551" y="2911193"/>
            <a:ext cx="373322" cy="119603"/>
          </a:xfrm>
          <a:prstGeom prst="straightConnector1">
            <a:avLst/>
          </a:prstGeom>
          <a:ln w="19050">
            <a:prstDash val="dash"/>
            <a:tailEnd type="triangle" w="lg" len="med"/>
          </a:ln>
        </p:spPr>
        <p:style>
          <a:lnRef idx="2">
            <a:schemeClr val="dk1"/>
          </a:lnRef>
          <a:fillRef idx="0">
            <a:schemeClr val="dk1"/>
          </a:fillRef>
          <a:effectRef idx="1">
            <a:schemeClr val="dk1"/>
          </a:effectRef>
          <a:fontRef idx="minor">
            <a:schemeClr val="tx1"/>
          </a:fontRef>
        </p:style>
      </p:cxnSp>
      <p:cxnSp>
        <p:nvCxnSpPr>
          <p:cNvPr id="187" name="Gerade Verbindung mit Pfeil 186">
            <a:extLst>
              <a:ext uri="{FF2B5EF4-FFF2-40B4-BE49-F238E27FC236}">
                <a16:creationId xmlns:a16="http://schemas.microsoft.com/office/drawing/2014/main" id="{3EC89663-4597-4139-A61B-5758BB35EC8F}"/>
              </a:ext>
            </a:extLst>
          </p:cNvPr>
          <p:cNvCxnSpPr>
            <a:cxnSpLocks/>
          </p:cNvCxnSpPr>
          <p:nvPr/>
        </p:nvCxnSpPr>
        <p:spPr>
          <a:xfrm>
            <a:off x="3446165" y="3427126"/>
            <a:ext cx="399056" cy="310596"/>
          </a:xfrm>
          <a:prstGeom prst="straightConnector1">
            <a:avLst/>
          </a:prstGeom>
          <a:ln w="19050">
            <a:prstDash val="dash"/>
            <a:tailEnd type="triangle" w="lg" len="med"/>
          </a:ln>
        </p:spPr>
        <p:style>
          <a:lnRef idx="2">
            <a:schemeClr val="dk1"/>
          </a:lnRef>
          <a:fillRef idx="0">
            <a:schemeClr val="dk1"/>
          </a:fillRef>
          <a:effectRef idx="1">
            <a:schemeClr val="dk1"/>
          </a:effectRef>
          <a:fontRef idx="minor">
            <a:schemeClr val="tx1"/>
          </a:fontRef>
        </p:style>
      </p:cxnSp>
      <p:pic>
        <p:nvPicPr>
          <p:cNvPr id="206" name="Grafik 205">
            <a:extLst>
              <a:ext uri="{FF2B5EF4-FFF2-40B4-BE49-F238E27FC236}">
                <a16:creationId xmlns:a16="http://schemas.microsoft.com/office/drawing/2014/main" id="{6426EF9C-FA9F-4462-BC93-D3E47E53445B}"/>
              </a:ext>
            </a:extLst>
          </p:cNvPr>
          <p:cNvPicPr>
            <a:picLocks noChangeAspect="1"/>
          </p:cNvPicPr>
          <p:nvPr/>
        </p:nvPicPr>
        <p:blipFill>
          <a:blip r:embed="rId4"/>
          <a:stretch>
            <a:fillRect/>
          </a:stretch>
        </p:blipFill>
        <p:spPr>
          <a:xfrm>
            <a:off x="3883880" y="2023557"/>
            <a:ext cx="585141" cy="491822"/>
          </a:xfrm>
          <a:prstGeom prst="rect">
            <a:avLst/>
          </a:prstGeom>
        </p:spPr>
      </p:pic>
      <p:sp>
        <p:nvSpPr>
          <p:cNvPr id="63" name="Textfeld 69">
            <a:extLst>
              <a:ext uri="{FF2B5EF4-FFF2-40B4-BE49-F238E27FC236}">
                <a16:creationId xmlns:a16="http://schemas.microsoft.com/office/drawing/2014/main" id="{53F9B684-A2EB-4A7B-9BDD-53EAEE70732A}"/>
              </a:ext>
            </a:extLst>
          </p:cNvPr>
          <p:cNvSpPr txBox="1"/>
          <p:nvPr/>
        </p:nvSpPr>
        <p:spPr>
          <a:xfrm>
            <a:off x="3621764" y="1619979"/>
            <a:ext cx="1141581" cy="457507"/>
          </a:xfrm>
          <a:prstGeom prst="rect">
            <a:avLst/>
          </a:prstGeom>
        </p:spPr>
        <p:txBody>
          <a:bodyPr vert="horz" wrap="square" lIns="0" tIns="0" rIns="0" bIns="0" rtlCol="0" anchor="t" anchorCtr="0">
            <a:noAutofit/>
          </a:bodyPr>
          <a:lstStyle>
            <a:defPPr>
              <a:defRPr lang="de-DE"/>
            </a:defPPr>
            <a:lvl1pPr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1pPr>
            <a:lvl2pPr marL="2087563" indent="-1630363"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2pPr>
            <a:lvl3pPr marL="4175125" indent="-3260725"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3pPr>
            <a:lvl4pPr marL="6262688" indent="-4891088"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4pPr>
            <a:lvl5pPr marL="8350250" indent="-6521450"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5pPr>
            <a:lvl6pPr marL="2286000" algn="l" defTabSz="914400" rtl="0" eaLnBrk="1" latinLnBrk="0" hangingPunct="1">
              <a:defRPr sz="8200" kern="1200">
                <a:solidFill>
                  <a:schemeClr val="tx1"/>
                </a:solidFill>
                <a:latin typeface="Arial" panose="020B0604020202020204" pitchFamily="34" charset="0"/>
                <a:ea typeface="Geneva" pitchFamily="50" charset="-128"/>
                <a:cs typeface="+mn-cs"/>
              </a:defRPr>
            </a:lvl6pPr>
            <a:lvl7pPr marL="2743200" algn="l" defTabSz="914400" rtl="0" eaLnBrk="1" latinLnBrk="0" hangingPunct="1">
              <a:defRPr sz="8200" kern="1200">
                <a:solidFill>
                  <a:schemeClr val="tx1"/>
                </a:solidFill>
                <a:latin typeface="Arial" panose="020B0604020202020204" pitchFamily="34" charset="0"/>
                <a:ea typeface="Geneva" pitchFamily="50" charset="-128"/>
                <a:cs typeface="+mn-cs"/>
              </a:defRPr>
            </a:lvl7pPr>
            <a:lvl8pPr marL="3200400" algn="l" defTabSz="914400" rtl="0" eaLnBrk="1" latinLnBrk="0" hangingPunct="1">
              <a:defRPr sz="8200" kern="1200">
                <a:solidFill>
                  <a:schemeClr val="tx1"/>
                </a:solidFill>
                <a:latin typeface="Arial" panose="020B0604020202020204" pitchFamily="34" charset="0"/>
                <a:ea typeface="Geneva" pitchFamily="50" charset="-128"/>
                <a:cs typeface="+mn-cs"/>
              </a:defRPr>
            </a:lvl8pPr>
            <a:lvl9pPr marL="3657600" algn="l" defTabSz="914400" rtl="0" eaLnBrk="1" latinLnBrk="0" hangingPunct="1">
              <a:defRPr sz="8200" kern="1200">
                <a:solidFill>
                  <a:schemeClr val="tx1"/>
                </a:solidFill>
                <a:latin typeface="Arial" panose="020B0604020202020204" pitchFamily="34" charset="0"/>
                <a:ea typeface="Geneva" pitchFamily="50" charset="-128"/>
                <a:cs typeface="+mn-cs"/>
              </a:defRPr>
            </a:lvl9pPr>
          </a:lstStyle>
          <a:p>
            <a:pPr marL="0" marR="0" lvl="0" indent="0" algn="ctr" defTabSz="1565873"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Arial" panose="020B0604020202020204" pitchFamily="34" charset="0"/>
                <a:ea typeface="Geneva" pitchFamily="50" charset="-128"/>
                <a:cs typeface="Arial" panose="020B0604020202020204" pitchFamily="34" charset="0"/>
              </a:rPr>
              <a:t>Key press indicates task </a:t>
            </a:r>
            <a:r>
              <a:rPr kumimoji="0" lang="en-US" sz="900" b="1" i="0" u="none" strike="noStrike" kern="1200" cap="none" spc="0" normalizeH="0" baseline="0" noProof="0">
                <a:ln>
                  <a:noFill/>
                </a:ln>
                <a:solidFill>
                  <a:srgbClr val="9D7B0F"/>
                </a:solidFill>
                <a:effectLst/>
                <a:uLnTx/>
                <a:uFillTx/>
                <a:latin typeface="Arial" panose="020B0604020202020204" pitchFamily="34" charset="0"/>
                <a:ea typeface="Geneva" pitchFamily="50" charset="-128"/>
                <a:cs typeface="Arial" panose="020B0604020202020204" pitchFamily="34" charset="0"/>
              </a:rPr>
              <a:t>choice</a:t>
            </a:r>
            <a:r>
              <a:rPr kumimoji="0" lang="en-US" sz="900" b="0" i="0" u="none" strike="noStrike" kern="1200" cap="none" spc="0" normalizeH="0" baseline="0" noProof="0">
                <a:ln>
                  <a:noFill/>
                </a:ln>
                <a:solidFill>
                  <a:sysClr val="windowText" lastClr="000000"/>
                </a:solidFill>
                <a:effectLst/>
                <a:uLnTx/>
                <a:uFillTx/>
                <a:latin typeface="Arial" panose="020B0604020202020204" pitchFamily="34" charset="0"/>
                <a:ea typeface="Geneva" pitchFamily="50" charset="-128"/>
                <a:cs typeface="Arial" panose="020B0604020202020204" pitchFamily="34" charset="0"/>
              </a:rPr>
              <a:t> and task </a:t>
            </a:r>
            <a:r>
              <a:rPr kumimoji="0" lang="en-US" sz="900" b="1" i="0" u="none" strike="noStrike" kern="1200" cap="none" spc="0" normalizeH="0" baseline="0" noProof="0">
                <a:ln>
                  <a:noFill/>
                </a:ln>
                <a:solidFill>
                  <a:srgbClr val="9D7B0F"/>
                </a:solidFill>
                <a:effectLst/>
                <a:uLnTx/>
                <a:uFillTx/>
                <a:latin typeface="Arial" panose="020B0604020202020204" pitchFamily="34" charset="0"/>
                <a:ea typeface="Geneva" pitchFamily="50" charset="-128"/>
                <a:cs typeface="Arial" panose="020B0604020202020204" pitchFamily="34" charset="0"/>
              </a:rPr>
              <a:t>performance</a:t>
            </a:r>
          </a:p>
        </p:txBody>
      </p:sp>
      <p:sp>
        <p:nvSpPr>
          <p:cNvPr id="64" name="Textfeld 69">
            <a:extLst>
              <a:ext uri="{FF2B5EF4-FFF2-40B4-BE49-F238E27FC236}">
                <a16:creationId xmlns:a16="http://schemas.microsoft.com/office/drawing/2014/main" id="{48E44006-FF3A-4EAF-B8B0-F8AD44A20E2B}"/>
              </a:ext>
            </a:extLst>
          </p:cNvPr>
          <p:cNvSpPr txBox="1"/>
          <p:nvPr/>
        </p:nvSpPr>
        <p:spPr>
          <a:xfrm>
            <a:off x="737807" y="1653560"/>
            <a:ext cx="966623" cy="512604"/>
          </a:xfrm>
          <a:prstGeom prst="rect">
            <a:avLst/>
          </a:prstGeom>
        </p:spPr>
        <p:txBody>
          <a:bodyPr vert="horz" wrap="square" lIns="54000" tIns="0" rIns="0" bIns="0" rtlCol="0" anchor="t" anchorCtr="0">
            <a:noAutofit/>
          </a:bodyPr>
          <a:lstStyle>
            <a:defPPr>
              <a:defRPr lang="de-DE"/>
            </a:defPPr>
            <a:lvl1pPr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1pPr>
            <a:lvl2pPr marL="2087563" indent="-1630363"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2pPr>
            <a:lvl3pPr marL="4175125" indent="-3260725"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3pPr>
            <a:lvl4pPr marL="6262688" indent="-4891088"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4pPr>
            <a:lvl5pPr marL="8350250" indent="-6521450"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5pPr>
            <a:lvl6pPr marL="2286000" algn="l" defTabSz="914400" rtl="0" eaLnBrk="1" latinLnBrk="0" hangingPunct="1">
              <a:defRPr sz="8200" kern="1200">
                <a:solidFill>
                  <a:schemeClr val="tx1"/>
                </a:solidFill>
                <a:latin typeface="Arial" panose="020B0604020202020204" pitchFamily="34" charset="0"/>
                <a:ea typeface="Geneva" pitchFamily="50" charset="-128"/>
                <a:cs typeface="+mn-cs"/>
              </a:defRPr>
            </a:lvl6pPr>
            <a:lvl7pPr marL="2743200" algn="l" defTabSz="914400" rtl="0" eaLnBrk="1" latinLnBrk="0" hangingPunct="1">
              <a:defRPr sz="8200" kern="1200">
                <a:solidFill>
                  <a:schemeClr val="tx1"/>
                </a:solidFill>
                <a:latin typeface="Arial" panose="020B0604020202020204" pitchFamily="34" charset="0"/>
                <a:ea typeface="Geneva" pitchFamily="50" charset="-128"/>
                <a:cs typeface="+mn-cs"/>
              </a:defRPr>
            </a:lvl7pPr>
            <a:lvl8pPr marL="3200400" algn="l" defTabSz="914400" rtl="0" eaLnBrk="1" latinLnBrk="0" hangingPunct="1">
              <a:defRPr sz="8200" kern="1200">
                <a:solidFill>
                  <a:schemeClr val="tx1"/>
                </a:solidFill>
                <a:latin typeface="Arial" panose="020B0604020202020204" pitchFamily="34" charset="0"/>
                <a:ea typeface="Geneva" pitchFamily="50" charset="-128"/>
                <a:cs typeface="+mn-cs"/>
              </a:defRPr>
            </a:lvl8pPr>
            <a:lvl9pPr marL="3657600" algn="l" defTabSz="914400" rtl="0" eaLnBrk="1" latinLnBrk="0" hangingPunct="1">
              <a:defRPr sz="8200" kern="1200">
                <a:solidFill>
                  <a:schemeClr val="tx1"/>
                </a:solidFill>
                <a:latin typeface="Arial" panose="020B0604020202020204" pitchFamily="34" charset="0"/>
                <a:ea typeface="Geneva" pitchFamily="50" charset="-128"/>
                <a:cs typeface="+mn-cs"/>
              </a:defRPr>
            </a:lvl9pPr>
          </a:lstStyle>
          <a:p>
            <a:pPr marL="0" marR="0" lvl="0" indent="0" algn="l" defTabSz="1565873" rtl="0" eaLnBrk="1" fontAlgn="auto" latinLnBrk="0" hangingPunct="1">
              <a:lnSpc>
                <a:spcPct val="100000"/>
              </a:lnSpc>
              <a:spcBef>
                <a:spcPct val="0"/>
              </a:spcBef>
              <a:spcAft>
                <a:spcPts val="0"/>
              </a:spcAft>
              <a:buClrTx/>
              <a:buSzTx/>
              <a:buFontTx/>
              <a:buNone/>
              <a:tabLst/>
              <a:defRPr/>
            </a:pPr>
            <a:r>
              <a:rPr kumimoji="0" lang="en-US" sz="900" b="1" i="0" u="none" strike="noStrike" kern="1200" cap="none" spc="0" normalizeH="0" baseline="0" noProof="0">
                <a:ln>
                  <a:noFill/>
                </a:ln>
                <a:solidFill>
                  <a:srgbClr val="9D7B0F"/>
                </a:solidFill>
                <a:effectLst/>
                <a:uLnTx/>
                <a:uFillTx/>
                <a:latin typeface="Arial" panose="020B0604020202020204" pitchFamily="34" charset="0"/>
                <a:ea typeface="Geneva" pitchFamily="50" charset="-128"/>
                <a:cs typeface="Arial" panose="020B0604020202020204" pitchFamily="34" charset="0"/>
              </a:rPr>
              <a:t>Stimuli remain</a:t>
            </a:r>
          </a:p>
          <a:p>
            <a:pPr marL="0" marR="0" lvl="0" indent="0" algn="l" defTabSz="1565873"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Arial" panose="020B0604020202020204" pitchFamily="34" charset="0"/>
                <a:ea typeface="Geneva" pitchFamily="50" charset="-128"/>
                <a:cs typeface="Arial" panose="020B0604020202020204" pitchFamily="34" charset="0"/>
              </a:rPr>
              <a:t>until a task-specific keypress</a:t>
            </a:r>
          </a:p>
        </p:txBody>
      </p:sp>
      <p:sp>
        <p:nvSpPr>
          <p:cNvPr id="65" name="Textfeld 64">
            <a:extLst>
              <a:ext uri="{FF2B5EF4-FFF2-40B4-BE49-F238E27FC236}">
                <a16:creationId xmlns:a16="http://schemas.microsoft.com/office/drawing/2014/main" id="{F03436BD-EB1D-49E6-8BE7-0BF819AACCDB}"/>
              </a:ext>
            </a:extLst>
          </p:cNvPr>
          <p:cNvSpPr txBox="1"/>
          <p:nvPr/>
        </p:nvSpPr>
        <p:spPr>
          <a:xfrm>
            <a:off x="828630" y="3990178"/>
            <a:ext cx="2360381" cy="480254"/>
          </a:xfrm>
          <a:prstGeom prst="rect">
            <a:avLst/>
          </a:prstGeom>
        </p:spPr>
        <p:txBody>
          <a:bodyPr vert="horz" wrap="square" lIns="0" tIns="0" rIns="0" bIns="0" rtlCol="0" anchor="t" anchorCtr="0">
            <a:noAutofit/>
          </a:bodyPr>
          <a:lstStyle>
            <a:defPPr>
              <a:defRPr lang="de-DE"/>
            </a:defPPr>
            <a:lvl1pPr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1pPr>
            <a:lvl2pPr marL="2087563" indent="-1630363"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2pPr>
            <a:lvl3pPr marL="4175125" indent="-3260725"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3pPr>
            <a:lvl4pPr marL="6262688" indent="-4891088"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4pPr>
            <a:lvl5pPr marL="8350250" indent="-6521450" algn="l" defTabSz="2087563" rtl="0" fontAlgn="base">
              <a:spcBef>
                <a:spcPct val="0"/>
              </a:spcBef>
              <a:spcAft>
                <a:spcPct val="0"/>
              </a:spcAft>
              <a:defRPr sz="8200" kern="1200">
                <a:solidFill>
                  <a:schemeClr val="tx1"/>
                </a:solidFill>
                <a:latin typeface="Arial" panose="020B0604020202020204" pitchFamily="34" charset="0"/>
                <a:ea typeface="Geneva" pitchFamily="50" charset="-128"/>
                <a:cs typeface="+mn-cs"/>
              </a:defRPr>
            </a:lvl5pPr>
            <a:lvl6pPr marL="2286000" algn="l" defTabSz="914400" rtl="0" eaLnBrk="1" latinLnBrk="0" hangingPunct="1">
              <a:defRPr sz="8200" kern="1200">
                <a:solidFill>
                  <a:schemeClr val="tx1"/>
                </a:solidFill>
                <a:latin typeface="Arial" panose="020B0604020202020204" pitchFamily="34" charset="0"/>
                <a:ea typeface="Geneva" pitchFamily="50" charset="-128"/>
                <a:cs typeface="+mn-cs"/>
              </a:defRPr>
            </a:lvl6pPr>
            <a:lvl7pPr marL="2743200" algn="l" defTabSz="914400" rtl="0" eaLnBrk="1" latinLnBrk="0" hangingPunct="1">
              <a:defRPr sz="8200" kern="1200">
                <a:solidFill>
                  <a:schemeClr val="tx1"/>
                </a:solidFill>
                <a:latin typeface="Arial" panose="020B0604020202020204" pitchFamily="34" charset="0"/>
                <a:ea typeface="Geneva" pitchFamily="50" charset="-128"/>
                <a:cs typeface="+mn-cs"/>
              </a:defRPr>
            </a:lvl7pPr>
            <a:lvl8pPr marL="3200400" algn="l" defTabSz="914400" rtl="0" eaLnBrk="1" latinLnBrk="0" hangingPunct="1">
              <a:defRPr sz="8200" kern="1200">
                <a:solidFill>
                  <a:schemeClr val="tx1"/>
                </a:solidFill>
                <a:latin typeface="Arial" panose="020B0604020202020204" pitchFamily="34" charset="0"/>
                <a:ea typeface="Geneva" pitchFamily="50" charset="-128"/>
                <a:cs typeface="+mn-cs"/>
              </a:defRPr>
            </a:lvl8pPr>
            <a:lvl9pPr marL="3657600" algn="l" defTabSz="914400" rtl="0" eaLnBrk="1" latinLnBrk="0" hangingPunct="1">
              <a:defRPr sz="8200" kern="1200">
                <a:solidFill>
                  <a:schemeClr val="tx1"/>
                </a:solidFill>
                <a:latin typeface="Arial" panose="020B0604020202020204" pitchFamily="34" charset="0"/>
                <a:ea typeface="Geneva" pitchFamily="50" charset="-128"/>
                <a:cs typeface="+mn-cs"/>
              </a:defRPr>
            </a:lvl9pPr>
          </a:lstStyle>
          <a:p>
            <a:pPr marL="0" marR="0" lvl="0" indent="0" algn="l" defTabSz="1565873" rtl="0" eaLnBrk="1" fontAlgn="auto" latinLnBrk="0" hangingPunct="1">
              <a:lnSpc>
                <a:spcPct val="100000"/>
              </a:lnSpc>
              <a:spcBef>
                <a:spcPct val="0"/>
              </a:spcBef>
              <a:spcAft>
                <a:spcPts val="0"/>
              </a:spcAft>
              <a:buClrTx/>
              <a:buSzTx/>
              <a:buFontTx/>
              <a:buNone/>
              <a:tabLst/>
              <a:defRPr/>
            </a:pPr>
            <a:r>
              <a:rPr kumimoji="0" lang="en-US" sz="900" b="1" i="0" u="none" strike="noStrike" kern="1200" cap="none" spc="0" normalizeH="0" baseline="0" noProof="0">
                <a:ln>
                  <a:noFill/>
                </a:ln>
                <a:solidFill>
                  <a:srgbClr val="9D7B0F"/>
                </a:solidFill>
                <a:effectLst/>
                <a:uLnTx/>
                <a:uFillTx/>
                <a:latin typeface="Arial" panose="020B0604020202020204" pitchFamily="34" charset="0"/>
                <a:ea typeface="Geneva" pitchFamily="50" charset="-128"/>
                <a:cs typeface="Arial" panose="020B0604020202020204" pitchFamily="34" charset="0"/>
              </a:rPr>
              <a:t>Continuous presentation of non-chosen task </a:t>
            </a:r>
            <a:r>
              <a:rPr kumimoji="0" lang="en-US" sz="900" b="0" i="0" u="none" strike="noStrike" kern="1200" cap="none" spc="0" normalizeH="0" baseline="0" noProof="0">
                <a:ln>
                  <a:noFill/>
                </a:ln>
                <a:solidFill>
                  <a:sysClr val="windowText" lastClr="000000"/>
                </a:solidFill>
                <a:effectLst/>
                <a:uLnTx/>
                <a:uFillTx/>
                <a:latin typeface="Arial" panose="020B0604020202020204" pitchFamily="34" charset="0"/>
                <a:ea typeface="Geneva" pitchFamily="50" charset="-128"/>
                <a:cs typeface="Arial" panose="020B0604020202020204" pitchFamily="34" charset="0"/>
              </a:rPr>
              <a:t>allows for </a:t>
            </a:r>
            <a:r>
              <a:rPr kumimoji="0" lang="en-US" sz="900" b="1" i="0" u="none" strike="noStrike" kern="1200" cap="none" spc="0" normalizeH="0" baseline="0" noProof="0">
                <a:ln>
                  <a:noFill/>
                </a:ln>
                <a:solidFill>
                  <a:srgbClr val="9D7B0F"/>
                </a:solidFill>
                <a:effectLst/>
                <a:uLnTx/>
                <a:uFillTx/>
                <a:latin typeface="Arial" panose="020B0604020202020204" pitchFamily="34" charset="0"/>
                <a:ea typeface="Geneva" pitchFamily="50" charset="-128"/>
                <a:cs typeface="Arial" panose="020B0604020202020204" pitchFamily="34" charset="0"/>
              </a:rPr>
              <a:t>parallel processing </a:t>
            </a:r>
            <a:r>
              <a:rPr kumimoji="0" lang="en-US" sz="900" b="0" i="0" u="none" strike="noStrike" kern="1200" cap="none" spc="0" normalizeH="0" baseline="0" noProof="0">
                <a:ln>
                  <a:noFill/>
                </a:ln>
                <a:solidFill>
                  <a:sysClr val="windowText" lastClr="000000"/>
                </a:solidFill>
                <a:effectLst/>
                <a:uLnTx/>
                <a:uFillTx/>
                <a:latin typeface="Arial" panose="020B0604020202020204" pitchFamily="34" charset="0"/>
                <a:ea typeface="Geneva" pitchFamily="50" charset="-128"/>
                <a:cs typeface="Arial" panose="020B0604020202020204" pitchFamily="34" charset="0"/>
              </a:rPr>
              <a:t>(can be used as preview for self-initiated task switch)</a:t>
            </a:r>
          </a:p>
          <a:p>
            <a:pPr marL="0" marR="0" lvl="0" indent="0" algn="ctr" defTabSz="1565873" rtl="0" eaLnBrk="1" fontAlgn="auto" latinLnBrk="0" hangingPunct="1">
              <a:lnSpc>
                <a:spcPct val="100000"/>
              </a:lnSpc>
              <a:spcBef>
                <a:spcPct val="0"/>
              </a:spcBef>
              <a:spcAft>
                <a:spcPts val="0"/>
              </a:spcAft>
              <a:buClrTx/>
              <a:buSzTx/>
              <a:buFontTx/>
              <a:buNone/>
              <a:tabLst/>
              <a:defRPr/>
            </a:pPr>
            <a:endParaRPr kumimoji="0" lang="en-US" sz="825" b="0" i="0" u="none" strike="noStrike" kern="1200" cap="none" spc="0" normalizeH="0" baseline="0" noProof="0">
              <a:ln>
                <a:noFill/>
              </a:ln>
              <a:solidFill>
                <a:sysClr val="windowText" lastClr="000000"/>
              </a:solidFill>
              <a:effectLst/>
              <a:uLnTx/>
              <a:uFillTx/>
              <a:latin typeface="Arial" panose="020B0604020202020204" pitchFamily="34" charset="0"/>
              <a:ea typeface="Geneva" pitchFamily="50" charset="-128"/>
              <a:cs typeface="Arial" panose="020B0604020202020204" pitchFamily="34" charset="0"/>
            </a:endParaRPr>
          </a:p>
        </p:txBody>
      </p:sp>
      <p:sp>
        <p:nvSpPr>
          <p:cNvPr id="67" name="Right Brace 26">
            <a:extLst>
              <a:ext uri="{FF2B5EF4-FFF2-40B4-BE49-F238E27FC236}">
                <a16:creationId xmlns:a16="http://schemas.microsoft.com/office/drawing/2014/main" id="{3E29EFF1-836D-444A-ABED-4AC3501C0A6A}"/>
              </a:ext>
            </a:extLst>
          </p:cNvPr>
          <p:cNvSpPr/>
          <p:nvPr/>
        </p:nvSpPr>
        <p:spPr>
          <a:xfrm rot="5400000">
            <a:off x="1726878" y="2734009"/>
            <a:ext cx="230833" cy="2172967"/>
          </a:xfrm>
          <a:prstGeom prst="rightBrace">
            <a:avLst>
              <a:gd name="adj1" fmla="val 39896"/>
              <a:gd name="adj2" fmla="val 50605"/>
            </a:avLst>
          </a:prstGeom>
          <a:noFill/>
          <a:ln w="6350" cap="flat" cmpd="sng" algn="ctr">
            <a:solidFill>
              <a:schemeClr val="tx1"/>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25000" noProof="0">
              <a:ln>
                <a:noFill/>
              </a:ln>
              <a:solidFill>
                <a:prstClr val="black"/>
              </a:solidFill>
              <a:effectLst/>
              <a:uLnTx/>
              <a:uFillTx/>
              <a:latin typeface="Calibri" panose="020F0502020204030204"/>
              <a:ea typeface="+mn-ea"/>
              <a:cs typeface="+mn-cs"/>
            </a:endParaRPr>
          </a:p>
        </p:txBody>
      </p:sp>
      <p:cxnSp>
        <p:nvCxnSpPr>
          <p:cNvPr id="5" name="Gerader Verbinder 4">
            <a:extLst>
              <a:ext uri="{FF2B5EF4-FFF2-40B4-BE49-F238E27FC236}">
                <a16:creationId xmlns:a16="http://schemas.microsoft.com/office/drawing/2014/main" id="{3603D00B-CD7C-45C4-806C-41819D05EBC3}"/>
              </a:ext>
            </a:extLst>
          </p:cNvPr>
          <p:cNvCxnSpPr>
            <a:cxnSpLocks/>
            <a:endCxn id="64" idx="1"/>
          </p:cNvCxnSpPr>
          <p:nvPr/>
        </p:nvCxnSpPr>
        <p:spPr>
          <a:xfrm flipV="1">
            <a:off x="734164" y="1909862"/>
            <a:ext cx="3643" cy="1171419"/>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08972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D857FB-D4DA-4195-AE2D-EAD1A02B1B9D}"/>
              </a:ext>
            </a:extLst>
          </p:cNvPr>
          <p:cNvSpPr>
            <a:spLocks noGrp="1"/>
          </p:cNvSpPr>
          <p:nvPr>
            <p:ph type="title"/>
          </p:nvPr>
        </p:nvSpPr>
        <p:spPr/>
        <p:txBody>
          <a:bodyPr/>
          <a:lstStyle/>
          <a:p>
            <a:r>
              <a:rPr lang="de-DE"/>
              <a:t>Response </a:t>
            </a:r>
            <a:r>
              <a:rPr lang="de-DE" err="1"/>
              <a:t>Strategies</a:t>
            </a:r>
            <a:r>
              <a:rPr lang="de-DE"/>
              <a:t> – </a:t>
            </a:r>
            <a:r>
              <a:rPr lang="de-DE" err="1">
                <a:solidFill>
                  <a:srgbClr val="9D7B0F"/>
                </a:solidFill>
              </a:rPr>
              <a:t>Categorization</a:t>
            </a:r>
            <a:endParaRPr lang="en-US">
              <a:solidFill>
                <a:srgbClr val="9D7B0F"/>
              </a:solidFill>
            </a:endParaRPr>
          </a:p>
        </p:txBody>
      </p:sp>
      <p:sp>
        <p:nvSpPr>
          <p:cNvPr id="4" name="Foliennummernplatzhalter 3">
            <a:extLst>
              <a:ext uri="{FF2B5EF4-FFF2-40B4-BE49-F238E27FC236}">
                <a16:creationId xmlns:a16="http://schemas.microsoft.com/office/drawing/2014/main" id="{FE3E8B20-AFDE-4E30-B56F-10469739B956}"/>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30</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grpSp>
        <p:nvGrpSpPr>
          <p:cNvPr id="17" name="Gruppieren 16">
            <a:extLst>
              <a:ext uri="{FF2B5EF4-FFF2-40B4-BE49-F238E27FC236}">
                <a16:creationId xmlns:a16="http://schemas.microsoft.com/office/drawing/2014/main" id="{19249E91-06BF-495C-87ED-3D225EC1DC54}"/>
              </a:ext>
            </a:extLst>
          </p:cNvPr>
          <p:cNvGrpSpPr/>
          <p:nvPr/>
        </p:nvGrpSpPr>
        <p:grpSpPr>
          <a:xfrm>
            <a:off x="441511" y="1123183"/>
            <a:ext cx="4606518" cy="2837520"/>
            <a:chOff x="979970" y="1532220"/>
            <a:chExt cx="9195601" cy="5548270"/>
          </a:xfrm>
        </p:grpSpPr>
        <p:pic>
          <p:nvPicPr>
            <p:cNvPr id="49" name="Grafik 48">
              <a:extLst>
                <a:ext uri="{FF2B5EF4-FFF2-40B4-BE49-F238E27FC236}">
                  <a16:creationId xmlns:a16="http://schemas.microsoft.com/office/drawing/2014/main" id="{E695D944-64E2-4AA9-88A3-3B504EBDECD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2730" r="1301" b="56871"/>
            <a:stretch/>
          </p:blipFill>
          <p:spPr>
            <a:xfrm>
              <a:off x="981621" y="1532221"/>
              <a:ext cx="4362620" cy="576062"/>
            </a:xfrm>
            <a:prstGeom prst="rect">
              <a:avLst/>
            </a:prstGeom>
          </p:spPr>
        </p:pic>
        <p:sp>
          <p:nvSpPr>
            <p:cNvPr id="71" name="Rechteck: abgerundete Ecken 70">
              <a:extLst>
                <a:ext uri="{FF2B5EF4-FFF2-40B4-BE49-F238E27FC236}">
                  <a16:creationId xmlns:a16="http://schemas.microsoft.com/office/drawing/2014/main" id="{F986A608-A8C3-44CF-B34F-E38F1BC9173B}"/>
                </a:ext>
              </a:extLst>
            </p:cNvPr>
            <p:cNvSpPr/>
            <p:nvPr/>
          </p:nvSpPr>
          <p:spPr>
            <a:xfrm>
              <a:off x="1029627" y="1532220"/>
              <a:ext cx="9145944" cy="576065"/>
            </a:xfrm>
            <a:prstGeom prst="roundRect">
              <a:avLst>
                <a:gd name="adj" fmla="val 0"/>
              </a:avLst>
            </a:prstGeom>
            <a:noFill/>
            <a:ln w="2857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Calibri"/>
                <a:ea typeface="+mn-ea"/>
                <a:cs typeface="+mn-cs"/>
              </a:endParaRPr>
            </a:p>
          </p:txBody>
        </p:sp>
        <p:pic>
          <p:nvPicPr>
            <p:cNvPr id="127" name="Grafik 126">
              <a:extLst>
                <a:ext uri="{FF2B5EF4-FFF2-40B4-BE49-F238E27FC236}">
                  <a16:creationId xmlns:a16="http://schemas.microsoft.com/office/drawing/2014/main" id="{8BA4E5C1-15D4-4069-B33F-B1866C745F4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3262" r="1301" b="33889"/>
            <a:stretch/>
          </p:blipFill>
          <p:spPr>
            <a:xfrm>
              <a:off x="979970" y="2886249"/>
              <a:ext cx="4362620" cy="645226"/>
            </a:xfrm>
            <a:prstGeom prst="rect">
              <a:avLst/>
            </a:prstGeom>
          </p:spPr>
        </p:pic>
        <p:pic>
          <p:nvPicPr>
            <p:cNvPr id="128" name="Grafik 127">
              <a:extLst>
                <a:ext uri="{FF2B5EF4-FFF2-40B4-BE49-F238E27FC236}">
                  <a16:creationId xmlns:a16="http://schemas.microsoft.com/office/drawing/2014/main" id="{51FB9D59-AEE7-4855-AB57-3D05E58C193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31" t="66304" r="1693" b="10847"/>
            <a:stretch/>
          </p:blipFill>
          <p:spPr>
            <a:xfrm>
              <a:off x="1029626" y="5180979"/>
              <a:ext cx="4312964" cy="645226"/>
            </a:xfrm>
            <a:prstGeom prst="rect">
              <a:avLst/>
            </a:prstGeom>
          </p:spPr>
        </p:pic>
        <p:sp>
          <p:nvSpPr>
            <p:cNvPr id="72" name="Rechteck: abgerundete Ecken 71">
              <a:extLst>
                <a:ext uri="{FF2B5EF4-FFF2-40B4-BE49-F238E27FC236}">
                  <a16:creationId xmlns:a16="http://schemas.microsoft.com/office/drawing/2014/main" id="{13A89B54-3CA3-45DD-A9BE-DC66CC9BA11A}"/>
                </a:ext>
              </a:extLst>
            </p:cNvPr>
            <p:cNvSpPr/>
            <p:nvPr/>
          </p:nvSpPr>
          <p:spPr>
            <a:xfrm>
              <a:off x="1029627" y="2108283"/>
              <a:ext cx="9145944" cy="4972207"/>
            </a:xfrm>
            <a:prstGeom prst="roundRect">
              <a:avLst>
                <a:gd name="adj" fmla="val 0"/>
              </a:avLst>
            </a:prstGeom>
            <a:noFill/>
            <a:ln w="2857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116" name="Grafik 115">
            <a:extLst>
              <a:ext uri="{FF2B5EF4-FFF2-40B4-BE49-F238E27FC236}">
                <a16:creationId xmlns:a16="http://schemas.microsoft.com/office/drawing/2014/main" id="{9ACA3BB0-F6C5-4926-A53C-1234CD551B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2905" y="2877607"/>
            <a:ext cx="4046220" cy="1748429"/>
          </a:xfrm>
          <a:prstGeom prst="rect">
            <a:avLst/>
          </a:prstGeom>
        </p:spPr>
      </p:pic>
      <p:sp>
        <p:nvSpPr>
          <p:cNvPr id="118" name="Inhaltsplatzhalter 2">
            <a:extLst>
              <a:ext uri="{FF2B5EF4-FFF2-40B4-BE49-F238E27FC236}">
                <a16:creationId xmlns:a16="http://schemas.microsoft.com/office/drawing/2014/main" id="{252545F3-BAEC-4F7E-BDEF-D6B730F15D40}"/>
              </a:ext>
            </a:extLst>
          </p:cNvPr>
          <p:cNvSpPr txBox="1">
            <a:spLocks/>
          </p:cNvSpPr>
          <p:nvPr/>
        </p:nvSpPr>
        <p:spPr bwMode="auto">
          <a:xfrm>
            <a:off x="2805453" y="1182797"/>
            <a:ext cx="2214246" cy="2885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342900" indent="-342900" algn="l" rtl="0" eaLnBrk="0" fontAlgn="base" hangingPunct="0">
              <a:lnSpc>
                <a:spcPts val="2200"/>
              </a:lnSpc>
              <a:spcBef>
                <a:spcPct val="0"/>
              </a:spcBef>
              <a:spcAft>
                <a:spcPct val="0"/>
              </a:spcAft>
              <a:defRPr sz="1400">
                <a:solidFill>
                  <a:srgbClr val="000000"/>
                </a:solidFill>
                <a:latin typeface="+mn-lt"/>
                <a:ea typeface="+mn-ea"/>
                <a:cs typeface="+mn-cs"/>
              </a:defRPr>
            </a:lvl1pPr>
            <a:lvl2pPr marL="784225" indent="-244475" algn="l" rtl="0" eaLnBrk="0" fontAlgn="base" hangingPunct="0">
              <a:spcBef>
                <a:spcPct val="20000"/>
              </a:spcBef>
              <a:spcAft>
                <a:spcPct val="0"/>
              </a:spcAft>
              <a:buFont typeface="Arial" panose="020B0604020202020204" pitchFamily="34" charset="0"/>
              <a:buChar char="–"/>
              <a:defRPr sz="1400">
                <a:solidFill>
                  <a:srgbClr val="000000"/>
                </a:solidFill>
                <a:latin typeface="+mn-lt"/>
              </a:defRPr>
            </a:lvl2pPr>
            <a:lvl3pPr marL="1192213"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400">
                <a:solidFill>
                  <a:schemeClr val="tx1"/>
                </a:solidFill>
                <a:latin typeface="+mn-lt"/>
              </a:defRPr>
            </a:lvl4pPr>
            <a:lvl5pPr marL="2057400" indent="-228600" algn="l" rtl="0" eaLnBrk="0" fontAlgn="base" hangingPunct="0">
              <a:spcBef>
                <a:spcPct val="20000"/>
              </a:spcBef>
              <a:spcAft>
                <a:spcPct val="0"/>
              </a:spcAft>
              <a:buChar char="»"/>
              <a:defRPr sz="1400">
                <a:solidFill>
                  <a:schemeClr val="tx1"/>
                </a:solidFill>
                <a:latin typeface="+mn-lt"/>
              </a:defRPr>
            </a:lvl5pPr>
            <a:lvl6pPr marL="2514600" indent="-228600" algn="l" rtl="0" fontAlgn="base">
              <a:spcBef>
                <a:spcPct val="20000"/>
              </a:spcBef>
              <a:spcAft>
                <a:spcPct val="0"/>
              </a:spcAft>
              <a:buChar char="»"/>
              <a:defRPr sz="1400">
                <a:solidFill>
                  <a:schemeClr val="tx1"/>
                </a:solidFill>
                <a:latin typeface="+mn-lt"/>
              </a:defRPr>
            </a:lvl6pPr>
            <a:lvl7pPr marL="2971800" indent="-228600" algn="l" rtl="0" fontAlgn="base">
              <a:spcBef>
                <a:spcPct val="20000"/>
              </a:spcBef>
              <a:spcAft>
                <a:spcPct val="0"/>
              </a:spcAft>
              <a:buChar char="»"/>
              <a:defRPr sz="1400">
                <a:solidFill>
                  <a:schemeClr val="tx1"/>
                </a:solidFill>
                <a:latin typeface="+mn-lt"/>
              </a:defRPr>
            </a:lvl7pPr>
            <a:lvl8pPr marL="3429000" indent="-228600" algn="l" rtl="0" fontAlgn="base">
              <a:spcBef>
                <a:spcPct val="20000"/>
              </a:spcBef>
              <a:spcAft>
                <a:spcPct val="0"/>
              </a:spcAft>
              <a:buChar char="»"/>
              <a:defRPr sz="1400">
                <a:solidFill>
                  <a:schemeClr val="tx1"/>
                </a:solidFill>
                <a:latin typeface="+mn-lt"/>
              </a:defRPr>
            </a:lvl8pPr>
            <a:lvl9pPr marL="3886200" indent="-228600" algn="l" rtl="0" fontAlgn="base">
              <a:spcBef>
                <a:spcPct val="20000"/>
              </a:spcBef>
              <a:spcAft>
                <a:spcPct val="0"/>
              </a:spcAft>
              <a:buChar char="»"/>
              <a:defRPr sz="1400">
                <a:solidFill>
                  <a:schemeClr val="tx1"/>
                </a:solidFill>
                <a:latin typeface="+mn-lt"/>
              </a:defRPr>
            </a:lvl9pPr>
          </a:lstStyle>
          <a:p>
            <a:pPr marL="257175" marR="0" lvl="0" indent="-257175" algn="l" defTabSz="685800" rtl="0" eaLnBrk="0" fontAlgn="base" latinLnBrk="0" hangingPunct="0">
              <a:lnSpc>
                <a:spcPts val="1650"/>
              </a:lnSpc>
              <a:spcBef>
                <a:spcPct val="0"/>
              </a:spcBef>
              <a:spcAft>
                <a:spcPct val="0"/>
              </a:spcAft>
              <a:buClrTx/>
              <a:buSzTx/>
              <a:buFont typeface="Wingdings" panose="05000000000000000000" pitchFamily="2" charset="2"/>
              <a:buChar char="Ø"/>
              <a:tabLst/>
              <a:defRPr/>
            </a:pPr>
            <a:r>
              <a:rPr kumimoji="0" lang="en-US" sz="1200" b="0" i="0" u="none" strike="noStrike" kern="0" cap="none" spc="0" normalizeH="0" baseline="0" noProof="0" dirty="0">
                <a:ln>
                  <a:noFill/>
                </a:ln>
                <a:solidFill>
                  <a:srgbClr val="000000"/>
                </a:solidFill>
                <a:effectLst/>
                <a:uLnTx/>
                <a:uFillTx/>
                <a:latin typeface="Arial"/>
                <a:ea typeface="+mn-ea"/>
                <a:cs typeface="+mn-cs"/>
              </a:rPr>
              <a:t>Blocker: Switch Rate &lt; 10 % </a:t>
            </a:r>
          </a:p>
          <a:p>
            <a:pPr marL="257175" marR="0" lvl="0" indent="-257175" algn="l" defTabSz="685800" rtl="0" eaLnBrk="0" fontAlgn="base" latinLnBrk="0" hangingPunct="0">
              <a:lnSpc>
                <a:spcPts val="1650"/>
              </a:lnSpc>
              <a:spcBef>
                <a:spcPct val="0"/>
              </a:spcBef>
              <a:spcAft>
                <a:spcPct val="0"/>
              </a:spcAft>
              <a:buClrTx/>
              <a:buSzTx/>
              <a:buFont typeface="Wingdings" panose="05000000000000000000" pitchFamily="2" charset="2"/>
              <a:buChar char="Ø"/>
              <a:tabLst/>
              <a:defRPr/>
            </a:pPr>
            <a:endParaRPr kumimoji="0" lang="en-US" sz="1200" b="0" i="0" u="none" strike="noStrike" kern="0" cap="none" spc="0" normalizeH="0" baseline="0" noProof="0" dirty="0">
              <a:ln>
                <a:noFill/>
              </a:ln>
              <a:solidFill>
                <a:srgbClr val="000000"/>
              </a:solidFill>
              <a:effectLst/>
              <a:uLnTx/>
              <a:uFillTx/>
              <a:latin typeface="Arial"/>
              <a:ea typeface="+mn-ea"/>
              <a:cs typeface="+mn-cs"/>
            </a:endParaRPr>
          </a:p>
          <a:p>
            <a:pPr marL="257175" marR="0" lvl="0" indent="-257175" algn="l" defTabSz="685800" rtl="0" eaLnBrk="0" fontAlgn="base" latinLnBrk="0" hangingPunct="0">
              <a:lnSpc>
                <a:spcPts val="1650"/>
              </a:lnSpc>
              <a:spcBef>
                <a:spcPct val="0"/>
              </a:spcBef>
              <a:spcAft>
                <a:spcPct val="0"/>
              </a:spcAft>
              <a:buClrTx/>
              <a:buSzTx/>
              <a:buFont typeface="Wingdings" panose="05000000000000000000" pitchFamily="2" charset="2"/>
              <a:buChar char="Ø"/>
              <a:tabLst/>
              <a:defRPr/>
            </a:pPr>
            <a:endParaRPr kumimoji="0" lang="en-US" sz="1200" b="0" i="0" u="none" strike="noStrike" kern="0" cap="none" spc="0" normalizeH="0" baseline="0" noProof="0" dirty="0">
              <a:ln>
                <a:noFill/>
              </a:ln>
              <a:solidFill>
                <a:srgbClr val="000000"/>
              </a:solidFill>
              <a:effectLst/>
              <a:uLnTx/>
              <a:uFillTx/>
              <a:latin typeface="Arial"/>
              <a:ea typeface="+mn-ea"/>
              <a:cs typeface="+mn-cs"/>
            </a:endParaRPr>
          </a:p>
          <a:p>
            <a:pPr marL="257175" marR="0" lvl="0" indent="-257175" algn="l" defTabSz="685800" rtl="0" eaLnBrk="0" fontAlgn="base" latinLnBrk="0" hangingPunct="0">
              <a:lnSpc>
                <a:spcPts val="1650"/>
              </a:lnSpc>
              <a:spcBef>
                <a:spcPct val="0"/>
              </a:spcBef>
              <a:spcAft>
                <a:spcPct val="0"/>
              </a:spcAft>
              <a:buClrTx/>
              <a:buSzTx/>
              <a:buFont typeface="Wingdings" panose="05000000000000000000" pitchFamily="2" charset="2"/>
              <a:buChar char="Ø"/>
              <a:tabLst/>
              <a:defRPr/>
            </a:pPr>
            <a:r>
              <a:rPr kumimoji="0" lang="en-US" sz="1200" b="0" i="0" u="none" strike="noStrike" kern="0" cap="none" spc="0" normalizeH="0" baseline="0" noProof="0" dirty="0">
                <a:ln>
                  <a:noFill/>
                </a:ln>
                <a:solidFill>
                  <a:srgbClr val="000000"/>
                </a:solidFill>
                <a:effectLst/>
                <a:uLnTx/>
                <a:uFillTx/>
                <a:latin typeface="Arial"/>
                <a:ea typeface="+mn-ea"/>
                <a:cs typeface="+mn-cs"/>
              </a:rPr>
              <a:t>Switcher: Switch Rate &gt; 10 % &amp; normally distributed response times in switch trials</a:t>
            </a:r>
          </a:p>
          <a:p>
            <a:pPr marL="257175" marR="0" lvl="0" indent="-257175" algn="l" defTabSz="685800" rtl="0" eaLnBrk="0" fontAlgn="base" latinLnBrk="0" hangingPunct="0">
              <a:lnSpc>
                <a:spcPts val="1650"/>
              </a:lnSpc>
              <a:spcBef>
                <a:spcPct val="0"/>
              </a:spcBef>
              <a:spcAft>
                <a:spcPct val="0"/>
              </a:spcAft>
              <a:buClrTx/>
              <a:buSzTx/>
              <a:buFont typeface="Wingdings" panose="05000000000000000000" pitchFamily="2" charset="2"/>
              <a:buChar char="Ø"/>
              <a:tabLst/>
              <a:defRPr/>
            </a:pPr>
            <a:endParaRPr kumimoji="0" lang="de-DE" sz="1200" b="0" i="0" u="none" strike="noStrike" kern="0" cap="none" spc="0" normalizeH="0" baseline="0" noProof="0" dirty="0">
              <a:ln>
                <a:noFill/>
              </a:ln>
              <a:solidFill>
                <a:srgbClr val="000000"/>
              </a:solidFill>
              <a:effectLst/>
              <a:uLnTx/>
              <a:uFillTx/>
              <a:latin typeface="Arial"/>
              <a:ea typeface="+mn-ea"/>
              <a:cs typeface="+mn-cs"/>
            </a:endParaRPr>
          </a:p>
          <a:p>
            <a:pPr marL="257175" marR="0" lvl="0" indent="-257175" algn="l" defTabSz="685800" rtl="0" eaLnBrk="0" fontAlgn="base" latinLnBrk="0" hangingPunct="0">
              <a:lnSpc>
                <a:spcPts val="1650"/>
              </a:lnSpc>
              <a:spcBef>
                <a:spcPct val="0"/>
              </a:spcBef>
              <a:spcAft>
                <a:spcPct val="0"/>
              </a:spcAft>
              <a:buClrTx/>
              <a:buSzTx/>
              <a:buFont typeface="Wingdings" panose="05000000000000000000" pitchFamily="2" charset="2"/>
              <a:buChar char="Ø"/>
              <a:tabLst/>
              <a:defRPr/>
            </a:pPr>
            <a:endParaRPr kumimoji="0" lang="de-DE" sz="1200" b="0" i="0" u="none" strike="noStrike" kern="0" cap="none" spc="0" normalizeH="0" baseline="0" noProof="0" dirty="0">
              <a:ln>
                <a:noFill/>
              </a:ln>
              <a:solidFill>
                <a:srgbClr val="000000"/>
              </a:solidFill>
              <a:effectLst/>
              <a:uLnTx/>
              <a:uFillTx/>
              <a:latin typeface="Arial"/>
              <a:ea typeface="+mn-ea"/>
              <a:cs typeface="+mn-cs"/>
            </a:endParaRPr>
          </a:p>
          <a:p>
            <a:pPr marL="257175" marR="0" lvl="0" indent="-257175" algn="l" defTabSz="685800" rtl="0" eaLnBrk="0" fontAlgn="base" latinLnBrk="0" hangingPunct="0">
              <a:lnSpc>
                <a:spcPts val="1650"/>
              </a:lnSpc>
              <a:spcBef>
                <a:spcPct val="0"/>
              </a:spcBef>
              <a:spcAft>
                <a:spcPct val="0"/>
              </a:spcAft>
              <a:buClrTx/>
              <a:buSzTx/>
              <a:buFont typeface="Wingdings" panose="05000000000000000000" pitchFamily="2" charset="2"/>
              <a:buChar char="Ø"/>
              <a:tabLst/>
              <a:defRPr/>
            </a:pPr>
            <a:r>
              <a:rPr kumimoji="0" lang="de-DE" sz="1200" b="0" i="0" u="none" strike="noStrike" kern="0" cap="none" spc="0" normalizeH="0" baseline="0" noProof="0" dirty="0">
                <a:ln>
                  <a:noFill/>
                </a:ln>
                <a:solidFill>
                  <a:srgbClr val="000000"/>
                </a:solidFill>
                <a:effectLst/>
                <a:uLnTx/>
                <a:uFillTx/>
                <a:latin typeface="Arial"/>
                <a:ea typeface="+mn-ea"/>
                <a:cs typeface="+mn-cs"/>
              </a:rPr>
              <a:t>R</a:t>
            </a:r>
            <a:r>
              <a:rPr kumimoji="0" lang="en-US" sz="1200" b="0" i="0" u="none" strike="noStrike" kern="0" cap="none" spc="0" normalizeH="0" baseline="0" noProof="0" dirty="0" err="1">
                <a:ln>
                  <a:noFill/>
                </a:ln>
                <a:solidFill>
                  <a:srgbClr val="000000"/>
                </a:solidFill>
                <a:effectLst/>
                <a:uLnTx/>
                <a:uFillTx/>
                <a:latin typeface="Arial"/>
                <a:ea typeface="+mn-ea"/>
                <a:cs typeface="+mn-cs"/>
              </a:rPr>
              <a:t>esponse</a:t>
            </a:r>
            <a:r>
              <a:rPr kumimoji="0" lang="en-US" sz="1200" b="0" i="0" u="none" strike="noStrike" kern="0" cap="none" spc="0" normalizeH="0" baseline="0" noProof="0" dirty="0">
                <a:ln>
                  <a:noFill/>
                </a:ln>
                <a:solidFill>
                  <a:srgbClr val="000000"/>
                </a:solidFill>
                <a:effectLst/>
                <a:uLnTx/>
                <a:uFillTx/>
                <a:latin typeface="Arial"/>
                <a:ea typeface="+mn-ea"/>
                <a:cs typeface="+mn-cs"/>
              </a:rPr>
              <a:t> Grouper: Switch Rate &gt; 50 % &amp; response times in switch trials show clear dichotomy</a:t>
            </a:r>
          </a:p>
          <a:p>
            <a:pPr marL="0" marR="0" lvl="0" indent="0" algn="l" defTabSz="685800" rtl="0" eaLnBrk="0" fontAlgn="base" latinLnBrk="0" hangingPunct="0">
              <a:lnSpc>
                <a:spcPts val="1650"/>
              </a:lnSpc>
              <a:spcBef>
                <a:spcPct val="0"/>
              </a:spcBef>
              <a:spcAft>
                <a:spcPct val="0"/>
              </a:spcAft>
              <a:buClrTx/>
              <a:buSzTx/>
              <a:buFontTx/>
              <a:buNone/>
              <a:tabLst/>
              <a:defRPr/>
            </a:pPr>
            <a:endParaRPr kumimoji="0" lang="de-DE" sz="1050" b="0" i="0" u="none" strike="noStrike" kern="0" cap="none" spc="0" normalizeH="0" baseline="0" noProof="0" dirty="0">
              <a:ln>
                <a:noFill/>
              </a:ln>
              <a:solidFill>
                <a:srgbClr val="000000"/>
              </a:solidFill>
              <a:effectLst/>
              <a:uLnTx/>
              <a:uFillTx/>
              <a:latin typeface="Arial"/>
              <a:ea typeface="+mn-ea"/>
              <a:cs typeface="+mn-cs"/>
            </a:endParaRPr>
          </a:p>
          <a:p>
            <a:pPr marL="257175" marR="0" lvl="0" indent="-257175" algn="l" defTabSz="685800" rtl="0" eaLnBrk="0" fontAlgn="base" latinLnBrk="0" hangingPunct="0">
              <a:lnSpc>
                <a:spcPts val="1650"/>
              </a:lnSpc>
              <a:spcBef>
                <a:spcPct val="0"/>
              </a:spcBef>
              <a:spcAft>
                <a:spcPct val="0"/>
              </a:spcAft>
              <a:buClrTx/>
              <a:buSzTx/>
              <a:buFont typeface="Wingdings" panose="05000000000000000000" pitchFamily="2" charset="2"/>
              <a:buChar char="Ø"/>
              <a:tabLst/>
              <a:defRPr/>
            </a:pPr>
            <a:endParaRPr kumimoji="0" lang="en-US" sz="1050" b="0" i="0" u="none" strike="noStrike" kern="0" cap="none" spc="0" normalizeH="0" baseline="0" noProof="0" dirty="0">
              <a:ln>
                <a:noFill/>
              </a:ln>
              <a:solidFill>
                <a:srgbClr val="000000"/>
              </a:solidFill>
              <a:effectLst/>
              <a:uLnTx/>
              <a:uFillTx/>
              <a:latin typeface="Arial"/>
              <a:ea typeface="+mn-ea"/>
              <a:cs typeface="+mn-cs"/>
            </a:endParaRPr>
          </a:p>
        </p:txBody>
      </p:sp>
      <p:grpSp>
        <p:nvGrpSpPr>
          <p:cNvPr id="119" name="Gruppieren 118">
            <a:extLst>
              <a:ext uri="{FF2B5EF4-FFF2-40B4-BE49-F238E27FC236}">
                <a16:creationId xmlns:a16="http://schemas.microsoft.com/office/drawing/2014/main" id="{5DD4403B-E828-4F25-984F-BF3525CA40B9}"/>
              </a:ext>
            </a:extLst>
          </p:cNvPr>
          <p:cNvGrpSpPr/>
          <p:nvPr/>
        </p:nvGrpSpPr>
        <p:grpSpPr>
          <a:xfrm>
            <a:off x="5072905" y="1123183"/>
            <a:ext cx="4071095" cy="1754424"/>
            <a:chOff x="3433240" y="2349500"/>
            <a:chExt cx="5428127" cy="2339232"/>
          </a:xfrm>
        </p:grpSpPr>
        <p:pic>
          <p:nvPicPr>
            <p:cNvPr id="120" name="Grafik 119">
              <a:extLst>
                <a:ext uri="{FF2B5EF4-FFF2-40B4-BE49-F238E27FC236}">
                  <a16:creationId xmlns:a16="http://schemas.microsoft.com/office/drawing/2014/main" id="{5A6EF4CD-1415-4CB8-ADB3-B3E892C4D4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33240" y="2349500"/>
              <a:ext cx="5428127" cy="2339232"/>
            </a:xfrm>
            <a:prstGeom prst="rect">
              <a:avLst/>
            </a:prstGeom>
          </p:spPr>
        </p:pic>
        <p:sp>
          <p:nvSpPr>
            <p:cNvPr id="121" name="Textfeld 120">
              <a:extLst>
                <a:ext uri="{FF2B5EF4-FFF2-40B4-BE49-F238E27FC236}">
                  <a16:creationId xmlns:a16="http://schemas.microsoft.com/office/drawing/2014/main" id="{D6EBA56D-4114-4ED3-AA64-161171010753}"/>
                </a:ext>
              </a:extLst>
            </p:cNvPr>
            <p:cNvSpPr txBox="1"/>
            <p:nvPr/>
          </p:nvSpPr>
          <p:spPr>
            <a:xfrm>
              <a:off x="7483764" y="2459359"/>
              <a:ext cx="1310615" cy="677108"/>
            </a:xfrm>
            <a:prstGeom prst="rect">
              <a:avLst/>
            </a:prstGeom>
            <a:noFill/>
          </p:spPr>
          <p:txBody>
            <a:bodyPr wrap="none" rtlCol="0">
              <a:spAutoFit/>
            </a:bodyPr>
            <a:lstStyle/>
            <a:p>
              <a:pPr marL="0" marR="0" lvl="0" indent="0" algn="l" defTabSz="342900" rtl="0" eaLnBrk="0" fontAlgn="base" latinLnBrk="0" hangingPunct="0">
                <a:lnSpc>
                  <a:spcPct val="100000"/>
                </a:lnSpc>
                <a:spcBef>
                  <a:spcPct val="0"/>
                </a:spcBef>
                <a:spcAft>
                  <a:spcPct val="0"/>
                </a:spcAft>
                <a:buClrTx/>
                <a:buSzTx/>
                <a:buFontTx/>
                <a:buNone/>
                <a:tabLst/>
                <a:defRPr/>
              </a:pPr>
              <a:r>
                <a:rPr kumimoji="0" lang="de-DE" sz="900" b="0" i="0" u="none" strike="noStrike" kern="1200" cap="none" spc="0" normalizeH="0" baseline="0" noProof="0" err="1">
                  <a:ln>
                    <a:noFill/>
                  </a:ln>
                  <a:solidFill>
                    <a:srgbClr val="000000"/>
                  </a:solidFill>
                  <a:effectLst/>
                  <a:uLnTx/>
                  <a:uFillTx/>
                  <a:latin typeface="Arial" panose="020B0604020202020204" pitchFamily="34" charset="0"/>
                  <a:ea typeface="+mn-ea"/>
                  <a:cs typeface="+mn-cs"/>
                </a:rPr>
                <a:t>Mean</a:t>
              </a:r>
              <a:r>
                <a:rPr kumimoji="0" lang="de-DE" sz="9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 524.43</a:t>
              </a:r>
            </a:p>
            <a:p>
              <a:pPr marL="0" marR="0" lvl="0" indent="0" algn="l" defTabSz="342900" rtl="0" eaLnBrk="0" fontAlgn="base" latinLnBrk="0" hangingPunct="0">
                <a:lnSpc>
                  <a:spcPct val="100000"/>
                </a:lnSpc>
                <a:spcBef>
                  <a:spcPct val="0"/>
                </a:spcBef>
                <a:spcAft>
                  <a:spcPct val="0"/>
                </a:spcAft>
                <a:buClrTx/>
                <a:buSzTx/>
                <a:buFontTx/>
                <a:buNone/>
                <a:tabLst/>
                <a:defRPr/>
              </a:pPr>
              <a:r>
                <a:rPr kumimoji="0" lang="de-DE" sz="900" b="0" i="0" u="none" strike="noStrike" kern="1200" cap="none" spc="0" normalizeH="0" baseline="0" noProof="0">
                  <a:ln>
                    <a:noFill/>
                  </a:ln>
                  <a:solidFill>
                    <a:srgbClr val="000000"/>
                  </a:solidFill>
                  <a:effectLst/>
                  <a:uLnTx/>
                  <a:uFillTx/>
                  <a:latin typeface="Arial" panose="020B0604020202020204" pitchFamily="34" charset="0"/>
                  <a:ea typeface="+mn-ea"/>
                  <a:cs typeface="+mn-cs"/>
                </a:rPr>
                <a:t>SD	= 233.75</a:t>
              </a:r>
            </a:p>
            <a:p>
              <a:pPr marL="0" marR="0" lvl="0" indent="0" algn="l" defTabSz="342900" rtl="0" eaLnBrk="0" fontAlgn="base" latinLnBrk="0" hangingPunct="0">
                <a:lnSpc>
                  <a:spcPct val="100000"/>
                </a:lnSpc>
                <a:spcBef>
                  <a:spcPct val="0"/>
                </a:spcBef>
                <a:spcAft>
                  <a:spcPct val="0"/>
                </a:spcAft>
                <a:buClrTx/>
                <a:buSzTx/>
                <a:buFontTx/>
                <a:buNone/>
                <a:tabLst/>
                <a:defRPr/>
              </a:pPr>
              <a:r>
                <a:rPr kumimoji="0" lang="de-DE" sz="900" b="0" i="0" u="none" strike="noStrike" kern="1200" cap="none" spc="0" normalizeH="0" baseline="0" noProof="0">
                  <a:ln>
                    <a:noFill/>
                  </a:ln>
                  <a:solidFill>
                    <a:srgbClr val="000000"/>
                  </a:solidFill>
                  <a:effectLst/>
                  <a:uLnTx/>
                  <a:uFillTx/>
                  <a:latin typeface="Arial" panose="020B0604020202020204" pitchFamily="34" charset="0"/>
                  <a:ea typeface="+mn-ea"/>
                  <a:cs typeface="+mn-cs"/>
                </a:rPr>
                <a:t>N	= 1824</a:t>
              </a:r>
              <a:endPar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grpSp>
      <p:sp>
        <p:nvSpPr>
          <p:cNvPr id="122" name="Textfeld 121">
            <a:extLst>
              <a:ext uri="{FF2B5EF4-FFF2-40B4-BE49-F238E27FC236}">
                <a16:creationId xmlns:a16="http://schemas.microsoft.com/office/drawing/2014/main" id="{4CC9394B-6637-41EF-8AB6-C49EA4FBE2E5}"/>
              </a:ext>
            </a:extLst>
          </p:cNvPr>
          <p:cNvSpPr txBox="1"/>
          <p:nvPr/>
        </p:nvSpPr>
        <p:spPr>
          <a:xfrm>
            <a:off x="8110798" y="2960002"/>
            <a:ext cx="982961" cy="507831"/>
          </a:xfrm>
          <a:prstGeom prst="rect">
            <a:avLst/>
          </a:prstGeom>
          <a:noFill/>
        </p:spPr>
        <p:txBody>
          <a:bodyPr wrap="none" rtlCol="0">
            <a:spAutoFit/>
          </a:bodyPr>
          <a:lstStyle/>
          <a:p>
            <a:pPr marL="0" marR="0" lvl="0" indent="0" algn="l" defTabSz="342900" rtl="0" eaLnBrk="0" fontAlgn="base" latinLnBrk="0" hangingPunct="0">
              <a:lnSpc>
                <a:spcPct val="100000"/>
              </a:lnSpc>
              <a:spcBef>
                <a:spcPct val="0"/>
              </a:spcBef>
              <a:spcAft>
                <a:spcPct val="0"/>
              </a:spcAft>
              <a:buClrTx/>
              <a:buSzTx/>
              <a:buFontTx/>
              <a:buNone/>
              <a:tabLst/>
              <a:defRPr/>
            </a:pPr>
            <a:r>
              <a:rPr kumimoji="0" lang="de-DE" sz="900" b="0" i="0" u="none" strike="noStrike" kern="1200" cap="none" spc="0" normalizeH="0" baseline="0" noProof="0" err="1">
                <a:ln>
                  <a:noFill/>
                </a:ln>
                <a:solidFill>
                  <a:srgbClr val="000000"/>
                </a:solidFill>
                <a:effectLst/>
                <a:uLnTx/>
                <a:uFillTx/>
                <a:latin typeface="Arial" panose="020B0604020202020204" pitchFamily="34" charset="0"/>
                <a:ea typeface="+mn-ea"/>
                <a:cs typeface="+mn-cs"/>
              </a:rPr>
              <a:t>Mean</a:t>
            </a:r>
            <a:r>
              <a:rPr kumimoji="0" lang="de-DE" sz="9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 645.23</a:t>
            </a:r>
          </a:p>
          <a:p>
            <a:pPr marL="0" marR="0" lvl="0" indent="0" algn="l" defTabSz="342900" rtl="0" eaLnBrk="0" fontAlgn="base" latinLnBrk="0" hangingPunct="0">
              <a:lnSpc>
                <a:spcPct val="100000"/>
              </a:lnSpc>
              <a:spcBef>
                <a:spcPct val="0"/>
              </a:spcBef>
              <a:spcAft>
                <a:spcPct val="0"/>
              </a:spcAft>
              <a:buClrTx/>
              <a:buSzTx/>
              <a:buFontTx/>
              <a:buNone/>
              <a:tabLst/>
              <a:defRPr/>
            </a:pPr>
            <a:r>
              <a:rPr kumimoji="0" lang="de-DE" sz="900" b="0" i="0" u="none" strike="noStrike" kern="1200" cap="none" spc="0" normalizeH="0" baseline="0" noProof="0">
                <a:ln>
                  <a:noFill/>
                </a:ln>
                <a:solidFill>
                  <a:srgbClr val="000000"/>
                </a:solidFill>
                <a:effectLst/>
                <a:uLnTx/>
                <a:uFillTx/>
                <a:latin typeface="Arial" panose="020B0604020202020204" pitchFamily="34" charset="0"/>
                <a:ea typeface="+mn-ea"/>
                <a:cs typeface="+mn-cs"/>
              </a:rPr>
              <a:t>SD	= 604.86</a:t>
            </a:r>
          </a:p>
          <a:p>
            <a:pPr marL="0" marR="0" lvl="0" indent="0" algn="l" defTabSz="342900" rtl="0" eaLnBrk="0" fontAlgn="base" latinLnBrk="0" hangingPunct="0">
              <a:lnSpc>
                <a:spcPct val="100000"/>
              </a:lnSpc>
              <a:spcBef>
                <a:spcPct val="0"/>
              </a:spcBef>
              <a:spcAft>
                <a:spcPct val="0"/>
              </a:spcAft>
              <a:buClrTx/>
              <a:buSzTx/>
              <a:buFontTx/>
              <a:buNone/>
              <a:tabLst/>
              <a:defRPr/>
            </a:pPr>
            <a:r>
              <a:rPr kumimoji="0" lang="de-DE" sz="900" b="0" i="0" u="none" strike="noStrike" kern="1200" cap="none" spc="0" normalizeH="0" baseline="0" noProof="0">
                <a:ln>
                  <a:noFill/>
                </a:ln>
                <a:solidFill>
                  <a:srgbClr val="000000"/>
                </a:solidFill>
                <a:effectLst/>
                <a:uLnTx/>
                <a:uFillTx/>
                <a:latin typeface="Arial" panose="020B0604020202020204" pitchFamily="34" charset="0"/>
                <a:ea typeface="+mn-ea"/>
                <a:cs typeface="+mn-cs"/>
              </a:rPr>
              <a:t>N	= 1926</a:t>
            </a:r>
            <a:endPar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2" name="Textfeld 21">
            <a:extLst>
              <a:ext uri="{FF2B5EF4-FFF2-40B4-BE49-F238E27FC236}">
                <a16:creationId xmlns:a16="http://schemas.microsoft.com/office/drawing/2014/main" id="{F9D8C586-61CC-4497-8E1E-2BB30000DD00}"/>
              </a:ext>
            </a:extLst>
          </p:cNvPr>
          <p:cNvSpPr txBox="1"/>
          <p:nvPr/>
        </p:nvSpPr>
        <p:spPr>
          <a:xfrm>
            <a:off x="6509577" y="1129178"/>
            <a:ext cx="1354858"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err="1">
                <a:ln>
                  <a:noFill/>
                </a:ln>
                <a:solidFill>
                  <a:srgbClr val="9D7B0F"/>
                </a:solidFill>
                <a:effectLst/>
                <a:uLnTx/>
                <a:uFillTx/>
                <a:latin typeface="Arial" panose="020B0604020202020204" pitchFamily="34" charset="0"/>
                <a:ea typeface="+mn-ea"/>
                <a:cs typeface="Arial" panose="020B0604020202020204" pitchFamily="34" charset="0"/>
              </a:rPr>
              <a:t>Example</a:t>
            </a:r>
            <a:r>
              <a:rPr kumimoji="0" lang="de-DE" sz="1050" b="0" i="0" u="none" strike="noStrike" kern="1200" cap="none" spc="0" normalizeH="0" baseline="0" noProof="0">
                <a:ln>
                  <a:noFill/>
                </a:ln>
                <a:solidFill>
                  <a:srgbClr val="9D7B0F"/>
                </a:solidFill>
                <a:effectLst/>
                <a:uLnTx/>
                <a:uFillTx/>
                <a:latin typeface="Arial" panose="020B0604020202020204" pitchFamily="34" charset="0"/>
                <a:ea typeface="+mn-ea"/>
                <a:cs typeface="Arial" panose="020B0604020202020204" pitchFamily="34" charset="0"/>
              </a:rPr>
              <a:t> „Switcher“</a:t>
            </a:r>
            <a:endParaRPr kumimoji="0" lang="en-US" sz="1050" b="0" i="0" u="none" strike="noStrike" kern="1200" cap="none" spc="0" normalizeH="0" baseline="0" noProof="0">
              <a:ln>
                <a:noFill/>
              </a:ln>
              <a:solidFill>
                <a:srgbClr val="9D7B0F"/>
              </a:solidFill>
              <a:effectLst/>
              <a:uLnTx/>
              <a:uFillTx/>
              <a:latin typeface="Arial" panose="020B0604020202020204" pitchFamily="34" charset="0"/>
              <a:ea typeface="+mn-ea"/>
              <a:cs typeface="Arial" panose="020B0604020202020204" pitchFamily="34" charset="0"/>
            </a:endParaRPr>
          </a:p>
        </p:txBody>
      </p:sp>
      <p:sp>
        <p:nvSpPr>
          <p:cNvPr id="126" name="Textfeld 125">
            <a:extLst>
              <a:ext uri="{FF2B5EF4-FFF2-40B4-BE49-F238E27FC236}">
                <a16:creationId xmlns:a16="http://schemas.microsoft.com/office/drawing/2014/main" id="{677C8BD6-D0C5-4AEE-A95F-FC97D137F1DF}"/>
              </a:ext>
            </a:extLst>
          </p:cNvPr>
          <p:cNvSpPr txBox="1"/>
          <p:nvPr/>
        </p:nvSpPr>
        <p:spPr>
          <a:xfrm>
            <a:off x="6200599" y="2923406"/>
            <a:ext cx="1978427"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50" b="0" i="0" u="none" strike="noStrike" kern="1200" cap="none" spc="0" normalizeH="0" baseline="0" noProof="0" err="1">
                <a:ln>
                  <a:noFill/>
                </a:ln>
                <a:solidFill>
                  <a:srgbClr val="9D7B0F"/>
                </a:solidFill>
                <a:effectLst/>
                <a:uLnTx/>
                <a:uFillTx/>
                <a:latin typeface="Arial" panose="020B0604020202020204" pitchFamily="34" charset="0"/>
                <a:ea typeface="+mn-ea"/>
                <a:cs typeface="Arial" panose="020B0604020202020204" pitchFamily="34" charset="0"/>
              </a:rPr>
              <a:t>Example</a:t>
            </a:r>
            <a:r>
              <a:rPr kumimoji="0" lang="de-DE" sz="1050" b="0" i="0" u="none" strike="noStrike" kern="1200" cap="none" spc="0" normalizeH="0" baseline="0" noProof="0">
                <a:ln>
                  <a:noFill/>
                </a:ln>
                <a:solidFill>
                  <a:srgbClr val="9D7B0F"/>
                </a:solidFill>
                <a:effectLst/>
                <a:uLnTx/>
                <a:uFillTx/>
                <a:latin typeface="Arial" panose="020B0604020202020204" pitchFamily="34" charset="0"/>
                <a:ea typeface="+mn-ea"/>
                <a:cs typeface="Arial" panose="020B0604020202020204" pitchFamily="34" charset="0"/>
              </a:rPr>
              <a:t> „Response </a:t>
            </a:r>
            <a:r>
              <a:rPr kumimoji="0" lang="de-DE" sz="1050" b="0" i="0" u="none" strike="noStrike" kern="1200" cap="none" spc="0" normalizeH="0" baseline="0" noProof="0" err="1">
                <a:ln>
                  <a:noFill/>
                </a:ln>
                <a:solidFill>
                  <a:srgbClr val="9D7B0F"/>
                </a:solidFill>
                <a:effectLst/>
                <a:uLnTx/>
                <a:uFillTx/>
                <a:latin typeface="Arial" panose="020B0604020202020204" pitchFamily="34" charset="0"/>
                <a:ea typeface="+mn-ea"/>
                <a:cs typeface="Arial" panose="020B0604020202020204" pitchFamily="34" charset="0"/>
              </a:rPr>
              <a:t>Grouper</a:t>
            </a:r>
            <a:r>
              <a:rPr kumimoji="0" lang="de-DE" sz="1050" b="0" i="0" u="none" strike="noStrike" kern="1200" cap="none" spc="0" normalizeH="0" baseline="0" noProof="0">
                <a:ln>
                  <a:noFill/>
                </a:ln>
                <a:solidFill>
                  <a:srgbClr val="9D7B0F"/>
                </a:solidFill>
                <a:effectLst/>
                <a:uLnTx/>
                <a:uFillTx/>
                <a:latin typeface="Arial" panose="020B0604020202020204" pitchFamily="34" charset="0"/>
                <a:ea typeface="+mn-ea"/>
                <a:cs typeface="Arial" panose="020B0604020202020204" pitchFamily="34" charset="0"/>
              </a:rPr>
              <a:t>“</a:t>
            </a:r>
            <a:endParaRPr kumimoji="0" lang="en-US" sz="1050" b="0" i="0" u="none" strike="noStrike" kern="1200" cap="none" spc="0" normalizeH="0" baseline="0" noProof="0">
              <a:ln>
                <a:noFill/>
              </a:ln>
              <a:solidFill>
                <a:srgbClr val="9D7B0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1179166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D857FB-D4DA-4195-AE2D-EAD1A02B1B9D}"/>
              </a:ext>
            </a:extLst>
          </p:cNvPr>
          <p:cNvSpPr>
            <a:spLocks noGrp="1"/>
          </p:cNvSpPr>
          <p:nvPr>
            <p:ph type="title"/>
          </p:nvPr>
        </p:nvSpPr>
        <p:spPr/>
        <p:txBody>
          <a:bodyPr/>
          <a:lstStyle/>
          <a:p>
            <a:r>
              <a:rPr lang="de-DE"/>
              <a:t>Response </a:t>
            </a:r>
            <a:r>
              <a:rPr lang="de-DE" err="1"/>
              <a:t>Strategies</a:t>
            </a:r>
            <a:r>
              <a:rPr lang="de-DE"/>
              <a:t> – </a:t>
            </a:r>
            <a:r>
              <a:rPr lang="de-DE" err="1"/>
              <a:t>Categorization</a:t>
            </a:r>
            <a:endParaRPr lang="en-US"/>
          </a:p>
        </p:txBody>
      </p:sp>
      <p:sp>
        <p:nvSpPr>
          <p:cNvPr id="4" name="Foliennummernplatzhalter 3">
            <a:extLst>
              <a:ext uri="{FF2B5EF4-FFF2-40B4-BE49-F238E27FC236}">
                <a16:creationId xmlns:a16="http://schemas.microsoft.com/office/drawing/2014/main" id="{FE3E8B20-AFDE-4E30-B56F-10469739B956}"/>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31</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grpSp>
        <p:nvGrpSpPr>
          <p:cNvPr id="17" name="Gruppieren 16">
            <a:extLst>
              <a:ext uri="{FF2B5EF4-FFF2-40B4-BE49-F238E27FC236}">
                <a16:creationId xmlns:a16="http://schemas.microsoft.com/office/drawing/2014/main" id="{19249E91-06BF-495C-87ED-3D225EC1DC54}"/>
              </a:ext>
            </a:extLst>
          </p:cNvPr>
          <p:cNvGrpSpPr/>
          <p:nvPr/>
        </p:nvGrpSpPr>
        <p:grpSpPr>
          <a:xfrm>
            <a:off x="1051271" y="1063229"/>
            <a:ext cx="2961309" cy="1393569"/>
            <a:chOff x="981621" y="1532220"/>
            <a:chExt cx="4420111" cy="2182037"/>
          </a:xfrm>
        </p:grpSpPr>
        <p:pic>
          <p:nvPicPr>
            <p:cNvPr id="49" name="Grafik 48">
              <a:extLst>
                <a:ext uri="{FF2B5EF4-FFF2-40B4-BE49-F238E27FC236}">
                  <a16:creationId xmlns:a16="http://schemas.microsoft.com/office/drawing/2014/main" id="{E695D944-64E2-4AA9-88A3-3B504EBDECD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2730"/>
            <a:stretch/>
          </p:blipFill>
          <p:spPr>
            <a:xfrm>
              <a:off x="981621" y="1532220"/>
              <a:ext cx="4420111" cy="2182037"/>
            </a:xfrm>
            <a:prstGeom prst="rect">
              <a:avLst/>
            </a:prstGeom>
          </p:spPr>
        </p:pic>
        <p:sp>
          <p:nvSpPr>
            <p:cNvPr id="71" name="Rechteck: abgerundete Ecken 70">
              <a:extLst>
                <a:ext uri="{FF2B5EF4-FFF2-40B4-BE49-F238E27FC236}">
                  <a16:creationId xmlns:a16="http://schemas.microsoft.com/office/drawing/2014/main" id="{F986A608-A8C3-44CF-B34F-E38F1BC9173B}"/>
                </a:ext>
              </a:extLst>
            </p:cNvPr>
            <p:cNvSpPr/>
            <p:nvPr/>
          </p:nvSpPr>
          <p:spPr>
            <a:xfrm>
              <a:off x="1029627" y="1532220"/>
              <a:ext cx="4320480" cy="576065"/>
            </a:xfrm>
            <a:prstGeom prst="roundRect">
              <a:avLst>
                <a:gd name="adj" fmla="val 0"/>
              </a:avLst>
            </a:prstGeom>
            <a:noFill/>
            <a:ln w="2857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Calibri"/>
                <a:ea typeface="+mn-ea"/>
                <a:cs typeface="+mn-cs"/>
              </a:endParaRPr>
            </a:p>
          </p:txBody>
        </p:sp>
        <p:sp>
          <p:nvSpPr>
            <p:cNvPr id="72" name="Rechteck: abgerundete Ecken 71">
              <a:extLst>
                <a:ext uri="{FF2B5EF4-FFF2-40B4-BE49-F238E27FC236}">
                  <a16:creationId xmlns:a16="http://schemas.microsoft.com/office/drawing/2014/main" id="{13A89B54-3CA3-45DD-A9BE-DC66CC9BA11A}"/>
                </a:ext>
              </a:extLst>
            </p:cNvPr>
            <p:cNvSpPr/>
            <p:nvPr/>
          </p:nvSpPr>
          <p:spPr>
            <a:xfrm>
              <a:off x="1029627" y="2108285"/>
              <a:ext cx="4320480" cy="1332000"/>
            </a:xfrm>
            <a:prstGeom prst="roundRect">
              <a:avLst>
                <a:gd name="adj" fmla="val 0"/>
              </a:avLst>
            </a:prstGeom>
            <a:noFill/>
            <a:ln w="2857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Calibri"/>
                <a:ea typeface="+mn-ea"/>
                <a:cs typeface="+mn-cs"/>
              </a:endParaRPr>
            </a:p>
          </p:txBody>
        </p:sp>
      </p:grpSp>
      <p:sp>
        <p:nvSpPr>
          <p:cNvPr id="73" name="Rechteck: abgerundete Ecken 72">
            <a:extLst>
              <a:ext uri="{FF2B5EF4-FFF2-40B4-BE49-F238E27FC236}">
                <a16:creationId xmlns:a16="http://schemas.microsoft.com/office/drawing/2014/main" id="{D5E2E4E0-AB0B-4F4A-890C-20C431BB35AD}"/>
              </a:ext>
            </a:extLst>
          </p:cNvPr>
          <p:cNvSpPr/>
          <p:nvPr/>
        </p:nvSpPr>
        <p:spPr>
          <a:xfrm>
            <a:off x="4782481" y="1419196"/>
            <a:ext cx="1714376" cy="594066"/>
          </a:xfrm>
          <a:prstGeom prst="roundRect">
            <a:avLst>
              <a:gd name="adj" fmla="val 0"/>
            </a:avLst>
          </a:prstGeom>
          <a:noFill/>
          <a:ln w="28575" cap="flat" cmpd="sng" algn="ctr">
            <a:solidFill>
              <a:srgbClr val="B99212"/>
            </a:solidFill>
            <a:prstDash val="dash"/>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feld 73">
            <a:extLst>
              <a:ext uri="{FF2B5EF4-FFF2-40B4-BE49-F238E27FC236}">
                <a16:creationId xmlns:a16="http://schemas.microsoft.com/office/drawing/2014/main" id="{A698CA9C-BAC0-412D-92AC-D63EDF2946B6}"/>
              </a:ext>
            </a:extLst>
          </p:cNvPr>
          <p:cNvSpPr txBox="1"/>
          <p:nvPr/>
        </p:nvSpPr>
        <p:spPr>
          <a:xfrm>
            <a:off x="4920649" y="1543104"/>
            <a:ext cx="1438039" cy="346249"/>
          </a:xfrm>
          <a:prstGeom prst="rect">
            <a:avLst/>
          </a:prstGeom>
          <a:noFill/>
        </p:spPr>
        <p:txBody>
          <a:bodyPr wrap="square" lIns="0" rIns="0" rtlCol="0" anchor="ctr">
            <a:spAutoFit/>
          </a:bodyPr>
          <a:lstStyle/>
          <a:p>
            <a:pPr marL="0" marR="0" lvl="0" indent="0" algn="ctr" defTabSz="2629220" rtl="0" eaLnBrk="1" fontAlgn="auto" latinLnBrk="0" hangingPunct="1">
              <a:lnSpc>
                <a:spcPct val="100000"/>
              </a:lnSpc>
              <a:spcBef>
                <a:spcPts val="0"/>
              </a:spcBef>
              <a:spcAft>
                <a:spcPts val="0"/>
              </a:spcAft>
              <a:buClrTx/>
              <a:buSzTx/>
              <a:buFontTx/>
              <a:buNone/>
              <a:tabLst/>
              <a:defRPr/>
            </a:pPr>
            <a:r>
              <a:rPr kumimoji="0" lang="de-DE" sz="825"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Blocker: Switch rate &lt; 10%</a:t>
            </a:r>
          </a:p>
          <a:p>
            <a:pPr marL="0" marR="0" lvl="0" indent="0" algn="ctr" defTabSz="2629220" rtl="0" eaLnBrk="1" fontAlgn="auto" latinLnBrk="0" hangingPunct="1">
              <a:lnSpc>
                <a:spcPct val="100000"/>
              </a:lnSpc>
              <a:spcBef>
                <a:spcPts val="0"/>
              </a:spcBef>
              <a:spcAft>
                <a:spcPts val="0"/>
              </a:spcAft>
              <a:buClrTx/>
              <a:buSzTx/>
              <a:buFontTx/>
              <a:buNone/>
              <a:tabLst/>
              <a:defRPr/>
            </a:pPr>
            <a:r>
              <a:rPr kumimoji="0" lang="de-DE" sz="825"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Interleaver</a:t>
            </a:r>
            <a:r>
              <a:rPr kumimoji="0" lang="de-DE" sz="825"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Switch rate &gt; 10%</a:t>
            </a:r>
            <a:endParaRPr kumimoji="0" lang="de-DE" sz="135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cxnSp>
        <p:nvCxnSpPr>
          <p:cNvPr id="12" name="Gerader Verbinder 11">
            <a:extLst>
              <a:ext uri="{FF2B5EF4-FFF2-40B4-BE49-F238E27FC236}">
                <a16:creationId xmlns:a16="http://schemas.microsoft.com/office/drawing/2014/main" id="{A8965255-D746-486E-A173-B17E643DA3BA}"/>
              </a:ext>
            </a:extLst>
          </p:cNvPr>
          <p:cNvCxnSpPr>
            <a:cxnSpLocks/>
          </p:cNvCxnSpPr>
          <p:nvPr/>
        </p:nvCxnSpPr>
        <p:spPr>
          <a:xfrm>
            <a:off x="4010156" y="1085126"/>
            <a:ext cx="772325" cy="334070"/>
          </a:xfrm>
          <a:prstGeom prst="line">
            <a:avLst/>
          </a:prstGeom>
          <a:noFill/>
          <a:ln w="28575" cap="flat" cmpd="sng" algn="ctr">
            <a:solidFill>
              <a:srgbClr val="B99212"/>
            </a:solidFill>
            <a:prstDash val="dash"/>
            <a:round/>
            <a:headEnd type="none" w="med" len="med"/>
            <a:tailEnd type="none" w="med" len="med"/>
          </a:ln>
        </p:spPr>
        <p:style>
          <a:lnRef idx="0">
            <a:scrgbClr r="0" g="0" b="0"/>
          </a:lnRef>
          <a:fillRef idx="0">
            <a:scrgbClr r="0" g="0" b="0"/>
          </a:fillRef>
          <a:effectRef idx="0">
            <a:scrgbClr r="0" g="0" b="0"/>
          </a:effectRef>
          <a:fontRef idx="minor">
            <a:schemeClr val="accent6"/>
          </a:fontRef>
        </p:style>
      </p:cxnSp>
      <p:cxnSp>
        <p:nvCxnSpPr>
          <p:cNvPr id="78" name="Gerader Verbinder 77">
            <a:extLst>
              <a:ext uri="{FF2B5EF4-FFF2-40B4-BE49-F238E27FC236}">
                <a16:creationId xmlns:a16="http://schemas.microsoft.com/office/drawing/2014/main" id="{C309377F-8AE9-4666-B430-A70B6C01FF4E}"/>
              </a:ext>
            </a:extLst>
          </p:cNvPr>
          <p:cNvCxnSpPr>
            <a:cxnSpLocks/>
          </p:cNvCxnSpPr>
          <p:nvPr/>
        </p:nvCxnSpPr>
        <p:spPr>
          <a:xfrm flipV="1">
            <a:off x="3977993" y="2013262"/>
            <a:ext cx="804488" cy="268562"/>
          </a:xfrm>
          <a:prstGeom prst="line">
            <a:avLst/>
          </a:prstGeom>
          <a:noFill/>
          <a:ln w="28575" cap="flat" cmpd="sng" algn="ctr">
            <a:solidFill>
              <a:srgbClr val="B99212"/>
            </a:solidFill>
            <a:prstDash val="dash"/>
            <a:round/>
            <a:headEnd type="none" w="med" len="med"/>
            <a:tailEnd type="none" w="med" len="med"/>
          </a:ln>
        </p:spPr>
        <p:style>
          <a:lnRef idx="0">
            <a:scrgbClr r="0" g="0" b="0"/>
          </a:lnRef>
          <a:fillRef idx="0">
            <a:scrgbClr r="0" g="0" b="0"/>
          </a:fillRef>
          <a:effectRef idx="0">
            <a:scrgbClr r="0" g="0" b="0"/>
          </a:effectRef>
          <a:fontRef idx="minor">
            <a:schemeClr val="accent6"/>
          </a:fontRef>
        </p:style>
      </p:cxnSp>
      <p:sp>
        <p:nvSpPr>
          <p:cNvPr id="82" name="Inhaltsplatzhalter 2">
            <a:extLst>
              <a:ext uri="{FF2B5EF4-FFF2-40B4-BE49-F238E27FC236}">
                <a16:creationId xmlns:a16="http://schemas.microsoft.com/office/drawing/2014/main" id="{5896010B-5D9E-48D7-99D9-80AEFE81930A}"/>
              </a:ext>
            </a:extLst>
          </p:cNvPr>
          <p:cNvSpPr txBox="1">
            <a:spLocks/>
          </p:cNvSpPr>
          <p:nvPr/>
        </p:nvSpPr>
        <p:spPr>
          <a:xfrm>
            <a:off x="2137466" y="2757341"/>
            <a:ext cx="1014125" cy="276999"/>
          </a:xfrm>
          <a:prstGeom prst="rect">
            <a:avLst/>
          </a:prstGeom>
        </p:spPr>
        <p:txBody>
          <a:bodyPr wrap="square">
            <a:spAutoFit/>
          </a:bodyPr>
          <a:lstStyle>
            <a:defPPr>
              <a:defRPr lang="en-US"/>
            </a:defPPr>
            <a:lvl1pPr>
              <a:buFont typeface="Wingdings" panose="05000000000000000000" pitchFamily="2" charset="2"/>
              <a:buChar char="Ø"/>
              <a:defRPr kern="0"/>
            </a:lvl1pPr>
            <a:lvl2pPr lvl="1">
              <a:buFont typeface="Wingdings" panose="05000000000000000000" pitchFamily="2" charset="2"/>
              <a:buChar char="§"/>
              <a:defRPr b="0" kern="0"/>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marR="0" lvl="0" indent="0" algn="ctr" defTabSz="3429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1200" b="1" i="0" u="none" strike="noStrike" kern="0" cap="none" spc="0" normalizeH="0" baseline="0" noProof="0">
                <a:ln>
                  <a:noFill/>
                </a:ln>
                <a:solidFill>
                  <a:srgbClr val="9D7B0F"/>
                </a:solidFill>
                <a:effectLst/>
                <a:uLnTx/>
                <a:uFillTx/>
                <a:latin typeface="Arial" panose="020B0604020202020204" pitchFamily="34" charset="0"/>
                <a:ea typeface="+mn-ea"/>
                <a:cs typeface="Arial" panose="020B0604020202020204" pitchFamily="34" charset="0"/>
              </a:rPr>
              <a:t>Blocker</a:t>
            </a:r>
            <a:endParaRPr kumimoji="0" lang="en-US" sz="1200" b="0" i="0" u="none" strike="noStrike" kern="0" cap="none" spc="0" normalizeH="0" baseline="0" noProof="0">
              <a:ln>
                <a:noFill/>
              </a:ln>
              <a:solidFill>
                <a:srgbClr val="9D7B0F"/>
              </a:solidFill>
              <a:effectLst/>
              <a:uLnTx/>
              <a:uFillTx/>
              <a:latin typeface="Arial" panose="020B0604020202020204" pitchFamily="34" charset="0"/>
              <a:ea typeface="+mn-ea"/>
              <a:cs typeface="Arial" panose="020B0604020202020204" pitchFamily="34" charset="0"/>
            </a:endParaRPr>
          </a:p>
        </p:txBody>
      </p:sp>
      <p:sp>
        <p:nvSpPr>
          <p:cNvPr id="83" name="Rechteck 82">
            <a:extLst>
              <a:ext uri="{FF2B5EF4-FFF2-40B4-BE49-F238E27FC236}">
                <a16:creationId xmlns:a16="http://schemas.microsoft.com/office/drawing/2014/main" id="{493C2F04-9E8B-494A-B202-CD6FD058E60E}"/>
              </a:ext>
            </a:extLst>
          </p:cNvPr>
          <p:cNvSpPr/>
          <p:nvPr/>
        </p:nvSpPr>
        <p:spPr>
          <a:xfrm>
            <a:off x="6091382" y="2757341"/>
            <a:ext cx="915152" cy="276999"/>
          </a:xfrm>
          <a:prstGeom prst="rect">
            <a:avLst/>
          </a:prstGeom>
        </p:spPr>
        <p:txBody>
          <a:bodyPr wrap="square">
            <a:spAutoFit/>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9D7B0F"/>
                </a:solidFill>
                <a:effectLst/>
                <a:uLnTx/>
                <a:uFillTx/>
                <a:latin typeface="Arial" panose="020B0604020202020204" pitchFamily="34" charset="0"/>
                <a:ea typeface="+mn-ea"/>
                <a:cs typeface="Arial" panose="020B0604020202020204" pitchFamily="34" charset="0"/>
              </a:rPr>
              <a:t>Switcher</a:t>
            </a:r>
          </a:p>
        </p:txBody>
      </p:sp>
      <p:sp>
        <p:nvSpPr>
          <p:cNvPr id="84" name="Rechteck 83">
            <a:extLst>
              <a:ext uri="{FF2B5EF4-FFF2-40B4-BE49-F238E27FC236}">
                <a16:creationId xmlns:a16="http://schemas.microsoft.com/office/drawing/2014/main" id="{3DB2F3ED-8DCB-4A9B-8E0F-BE108A96E417}"/>
              </a:ext>
            </a:extLst>
          </p:cNvPr>
          <p:cNvSpPr/>
          <p:nvPr/>
        </p:nvSpPr>
        <p:spPr>
          <a:xfrm>
            <a:off x="3706299" y="2748932"/>
            <a:ext cx="1731402" cy="276999"/>
          </a:xfrm>
          <a:prstGeom prst="rect">
            <a:avLst/>
          </a:prstGeom>
        </p:spPr>
        <p:txBody>
          <a:bodyPr wrap="square">
            <a:spAutoFit/>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de-DE" sz="1200" b="1" i="0" u="none" strike="noStrike" kern="0" cap="none" spc="0" normalizeH="0" baseline="0" noProof="0">
                <a:ln>
                  <a:noFill/>
                </a:ln>
                <a:solidFill>
                  <a:srgbClr val="9D7B0F"/>
                </a:solidFill>
                <a:effectLst/>
                <a:uLnTx/>
                <a:uFillTx/>
                <a:latin typeface="Arial" panose="020B0604020202020204" pitchFamily="34" charset="0"/>
                <a:ea typeface="+mn-ea"/>
                <a:cs typeface="Arial" panose="020B0604020202020204" pitchFamily="34" charset="0"/>
              </a:rPr>
              <a:t>Response </a:t>
            </a:r>
            <a:r>
              <a:rPr kumimoji="0" lang="en-US" sz="1200" b="1" i="0" u="none" strike="noStrike" kern="0" cap="none" spc="0" normalizeH="0" baseline="0" noProof="0">
                <a:ln>
                  <a:noFill/>
                </a:ln>
                <a:solidFill>
                  <a:srgbClr val="9D7B0F"/>
                </a:solidFill>
                <a:effectLst/>
                <a:uLnTx/>
                <a:uFillTx/>
                <a:latin typeface="Arial" panose="020B0604020202020204" pitchFamily="34" charset="0"/>
                <a:ea typeface="+mn-ea"/>
                <a:cs typeface="Arial" panose="020B0604020202020204" pitchFamily="34" charset="0"/>
              </a:rPr>
              <a:t>Grouper </a:t>
            </a:r>
          </a:p>
        </p:txBody>
      </p:sp>
      <p:pic>
        <p:nvPicPr>
          <p:cNvPr id="85" name="Grafik 84">
            <a:extLst>
              <a:ext uri="{FF2B5EF4-FFF2-40B4-BE49-F238E27FC236}">
                <a16:creationId xmlns:a16="http://schemas.microsoft.com/office/drawing/2014/main" id="{52A48BCC-6F2A-4B0B-A50A-37AB6B3E4E2C}"/>
              </a:ext>
            </a:extLst>
          </p:cNvPr>
          <p:cNvPicPr>
            <a:picLocks noChangeAspect="1"/>
          </p:cNvPicPr>
          <p:nvPr/>
        </p:nvPicPr>
        <p:blipFill rotWithShape="1">
          <a:blip r:embed="rId4"/>
          <a:srcRect l="53603" t="8200" r="18977" b="48355"/>
          <a:stretch/>
        </p:blipFill>
        <p:spPr>
          <a:xfrm>
            <a:off x="3676911" y="3020181"/>
            <a:ext cx="1891231" cy="1685549"/>
          </a:xfrm>
          <a:prstGeom prst="rect">
            <a:avLst/>
          </a:prstGeom>
        </p:spPr>
      </p:pic>
      <p:pic>
        <p:nvPicPr>
          <p:cNvPr id="86" name="Grafik 85">
            <a:extLst>
              <a:ext uri="{FF2B5EF4-FFF2-40B4-BE49-F238E27FC236}">
                <a16:creationId xmlns:a16="http://schemas.microsoft.com/office/drawing/2014/main" id="{2DD47A88-5143-4CC5-B9E3-C7B9A16E46D4}"/>
              </a:ext>
            </a:extLst>
          </p:cNvPr>
          <p:cNvPicPr>
            <a:picLocks noChangeAspect="1"/>
          </p:cNvPicPr>
          <p:nvPr/>
        </p:nvPicPr>
        <p:blipFill rotWithShape="1">
          <a:blip r:embed="rId5"/>
          <a:srcRect l="50000" t="8470" r="19114" b="48354"/>
          <a:stretch/>
        </p:blipFill>
        <p:spPr>
          <a:xfrm>
            <a:off x="1497355" y="3023424"/>
            <a:ext cx="2143577" cy="1685549"/>
          </a:xfrm>
          <a:prstGeom prst="rect">
            <a:avLst/>
          </a:prstGeom>
        </p:spPr>
      </p:pic>
      <p:pic>
        <p:nvPicPr>
          <p:cNvPr id="87" name="Grafik 86">
            <a:extLst>
              <a:ext uri="{FF2B5EF4-FFF2-40B4-BE49-F238E27FC236}">
                <a16:creationId xmlns:a16="http://schemas.microsoft.com/office/drawing/2014/main" id="{123760E7-298A-48B7-A85D-02D1B27BCB6B}"/>
              </a:ext>
            </a:extLst>
          </p:cNvPr>
          <p:cNvPicPr>
            <a:picLocks noChangeAspect="1"/>
          </p:cNvPicPr>
          <p:nvPr/>
        </p:nvPicPr>
        <p:blipFill rotWithShape="1">
          <a:blip r:embed="rId6"/>
          <a:srcRect l="53427" t="8219" r="13892" b="48355"/>
          <a:stretch/>
        </p:blipFill>
        <p:spPr>
          <a:xfrm>
            <a:off x="5611541" y="3020181"/>
            <a:ext cx="2255047" cy="1685549"/>
          </a:xfrm>
          <a:prstGeom prst="rect">
            <a:avLst/>
          </a:prstGeom>
        </p:spPr>
      </p:pic>
      <p:sp>
        <p:nvSpPr>
          <p:cNvPr id="20" name="Textfeld 19">
            <a:extLst>
              <a:ext uri="{FF2B5EF4-FFF2-40B4-BE49-F238E27FC236}">
                <a16:creationId xmlns:a16="http://schemas.microsoft.com/office/drawing/2014/main" id="{00140E18-E130-4F16-9A8C-51EFD0D7E329}"/>
              </a:ext>
            </a:extLst>
          </p:cNvPr>
          <p:cNvSpPr txBox="1"/>
          <p:nvPr/>
        </p:nvSpPr>
        <p:spPr>
          <a:xfrm>
            <a:off x="7474603" y="3921900"/>
            <a:ext cx="389850" cy="184666"/>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Tasks</a:t>
            </a:r>
            <a:endParaRPr kumimoji="0" lang="en-US" sz="13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2" name="Textfeld 91">
            <a:extLst>
              <a:ext uri="{FF2B5EF4-FFF2-40B4-BE49-F238E27FC236}">
                <a16:creationId xmlns:a16="http://schemas.microsoft.com/office/drawing/2014/main" id="{121158FE-9A84-4129-B76C-DDBE059AA5DF}"/>
              </a:ext>
            </a:extLst>
          </p:cNvPr>
          <p:cNvSpPr txBox="1"/>
          <p:nvPr/>
        </p:nvSpPr>
        <p:spPr>
          <a:xfrm>
            <a:off x="7473257" y="3164172"/>
            <a:ext cx="566181" cy="184666"/>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Trial </a:t>
            </a:r>
            <a:r>
              <a:rPr kumimoji="0" lang="de-DE" sz="6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Types</a:t>
            </a:r>
            <a:endParaRPr kumimoji="0" lang="en-US" sz="13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 name="Rechteck 20">
            <a:extLst>
              <a:ext uri="{FF2B5EF4-FFF2-40B4-BE49-F238E27FC236}">
                <a16:creationId xmlns:a16="http://schemas.microsoft.com/office/drawing/2014/main" id="{03453017-E969-4C30-8847-9A901D596980}"/>
              </a:ext>
            </a:extLst>
          </p:cNvPr>
          <p:cNvSpPr/>
          <p:nvPr/>
        </p:nvSpPr>
        <p:spPr>
          <a:xfrm>
            <a:off x="7655717" y="3318586"/>
            <a:ext cx="462484" cy="5332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93" name="Textfeld 92">
            <a:extLst>
              <a:ext uri="{FF2B5EF4-FFF2-40B4-BE49-F238E27FC236}">
                <a16:creationId xmlns:a16="http://schemas.microsoft.com/office/drawing/2014/main" id="{D56156CA-7E11-4C5F-AF74-2FC6FD837263}"/>
              </a:ext>
            </a:extLst>
          </p:cNvPr>
          <p:cNvSpPr txBox="1"/>
          <p:nvPr/>
        </p:nvSpPr>
        <p:spPr>
          <a:xfrm>
            <a:off x="7727003" y="3358816"/>
            <a:ext cx="494046" cy="184666"/>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Switches</a:t>
            </a:r>
            <a:endParaRPr kumimoji="0" lang="en-US" sz="13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4" name="Textfeld 93">
            <a:extLst>
              <a:ext uri="{FF2B5EF4-FFF2-40B4-BE49-F238E27FC236}">
                <a16:creationId xmlns:a16="http://schemas.microsoft.com/office/drawing/2014/main" id="{85C31662-120C-458B-93E2-AE6A07631725}"/>
              </a:ext>
            </a:extLst>
          </p:cNvPr>
          <p:cNvSpPr txBox="1"/>
          <p:nvPr/>
        </p:nvSpPr>
        <p:spPr>
          <a:xfrm>
            <a:off x="7733064" y="3615054"/>
            <a:ext cx="572593" cy="184666"/>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6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Repetitions</a:t>
            </a:r>
            <a:endParaRPr kumimoji="0" lang="en-US" sz="13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6" name="Geschweifte Klammer rechts 95">
            <a:extLst>
              <a:ext uri="{FF2B5EF4-FFF2-40B4-BE49-F238E27FC236}">
                <a16:creationId xmlns:a16="http://schemas.microsoft.com/office/drawing/2014/main" id="{C56B2FAF-341D-418C-8B2B-7EFEC6146ED8}"/>
              </a:ext>
            </a:extLst>
          </p:cNvPr>
          <p:cNvSpPr/>
          <p:nvPr/>
        </p:nvSpPr>
        <p:spPr>
          <a:xfrm>
            <a:off x="7669123" y="3335356"/>
            <a:ext cx="84902" cy="208502"/>
          </a:xfrm>
          <a:prstGeom prst="rightBrace">
            <a:avLst>
              <a:gd name="adj1" fmla="val 27930"/>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7" name="Geschweifte Klammer rechts 96">
            <a:extLst>
              <a:ext uri="{FF2B5EF4-FFF2-40B4-BE49-F238E27FC236}">
                <a16:creationId xmlns:a16="http://schemas.microsoft.com/office/drawing/2014/main" id="{99512542-D222-4FDB-81C9-A9A890BE6342}"/>
              </a:ext>
            </a:extLst>
          </p:cNvPr>
          <p:cNvSpPr/>
          <p:nvPr/>
        </p:nvSpPr>
        <p:spPr>
          <a:xfrm>
            <a:off x="7669123" y="3544218"/>
            <a:ext cx="84902" cy="307583"/>
          </a:xfrm>
          <a:prstGeom prst="rightBrace">
            <a:avLst>
              <a:gd name="adj1" fmla="val 27930"/>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4545543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D224955-0540-4C3A-808E-46A12F9498BC}"/>
              </a:ext>
            </a:extLst>
          </p:cNvPr>
          <p:cNvSpPr>
            <a:spLocks noGrp="1"/>
          </p:cNvSpPr>
          <p:nvPr>
            <p:ph type="title"/>
          </p:nvPr>
        </p:nvSpPr>
        <p:spPr/>
        <p:txBody>
          <a:bodyPr/>
          <a:lstStyle/>
          <a:p>
            <a:r>
              <a:rPr lang="en-US"/>
              <a:t>Response Strategies – </a:t>
            </a:r>
            <a:r>
              <a:rPr lang="en-US">
                <a:solidFill>
                  <a:srgbClr val="9D7B0F"/>
                </a:solidFill>
              </a:rPr>
              <a:t>Reliability</a:t>
            </a:r>
          </a:p>
        </p:txBody>
      </p:sp>
      <p:sp>
        <p:nvSpPr>
          <p:cNvPr id="4" name="Foliennummernplatzhalter 3">
            <a:extLst>
              <a:ext uri="{FF2B5EF4-FFF2-40B4-BE49-F238E27FC236}">
                <a16:creationId xmlns:a16="http://schemas.microsoft.com/office/drawing/2014/main" id="{41EBC3B9-74F6-4A32-B725-BE9F7C43B72B}"/>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32</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graphicFrame>
        <p:nvGraphicFramePr>
          <p:cNvPr id="5" name="Diagramm 4">
            <a:extLst>
              <a:ext uri="{FF2B5EF4-FFF2-40B4-BE49-F238E27FC236}">
                <a16:creationId xmlns:a16="http://schemas.microsoft.com/office/drawing/2014/main" id="{4ABF9AFD-F5F0-45F7-8AD0-16B0C73D0B09}"/>
              </a:ext>
            </a:extLst>
          </p:cNvPr>
          <p:cNvGraphicFramePr/>
          <p:nvPr/>
        </p:nvGraphicFramePr>
        <p:xfrm>
          <a:off x="1109588" y="999759"/>
          <a:ext cx="1566174" cy="1448684"/>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feld 5">
            <a:extLst>
              <a:ext uri="{FF2B5EF4-FFF2-40B4-BE49-F238E27FC236}">
                <a16:creationId xmlns:a16="http://schemas.microsoft.com/office/drawing/2014/main" id="{E574DB09-7512-4D80-AB05-8D128E06BDB6}"/>
              </a:ext>
            </a:extLst>
          </p:cNvPr>
          <p:cNvSpPr txBox="1"/>
          <p:nvPr/>
        </p:nvSpPr>
        <p:spPr>
          <a:xfrm>
            <a:off x="1080348" y="2376646"/>
            <a:ext cx="1624655"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Reissland &amp; Manzey, 2016,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Exp</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2, Acta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Psych</a:t>
            </a:r>
            <a:endPar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 name="Textfeld 6">
            <a:extLst>
              <a:ext uri="{FF2B5EF4-FFF2-40B4-BE49-F238E27FC236}">
                <a16:creationId xmlns:a16="http://schemas.microsoft.com/office/drawing/2014/main" id="{EA0F07E7-797E-4563-AEA2-1E04D29D4A73}"/>
              </a:ext>
            </a:extLst>
          </p:cNvPr>
          <p:cNvSpPr txBox="1"/>
          <p:nvPr/>
        </p:nvSpPr>
        <p:spPr>
          <a:xfrm>
            <a:off x="1314639" y="1349861"/>
            <a:ext cx="564578"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Grouper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5</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8" name="Textfeld 7">
            <a:extLst>
              <a:ext uri="{FF2B5EF4-FFF2-40B4-BE49-F238E27FC236}">
                <a16:creationId xmlns:a16="http://schemas.microsoft.com/office/drawing/2014/main" id="{C7E1B9E9-6CCF-44FD-99F2-1FC307FB0465}"/>
              </a:ext>
            </a:extLst>
          </p:cNvPr>
          <p:cNvSpPr txBox="1"/>
          <p:nvPr/>
        </p:nvSpPr>
        <p:spPr>
          <a:xfrm>
            <a:off x="1486574" y="1915698"/>
            <a:ext cx="585417"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Switcher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6</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9" name="Textfeld 8">
            <a:extLst>
              <a:ext uri="{FF2B5EF4-FFF2-40B4-BE49-F238E27FC236}">
                <a16:creationId xmlns:a16="http://schemas.microsoft.com/office/drawing/2014/main" id="{4DC6BE52-C5BA-4293-B4FE-C046FAB91404}"/>
              </a:ext>
            </a:extLst>
          </p:cNvPr>
          <p:cNvSpPr txBox="1"/>
          <p:nvPr/>
        </p:nvSpPr>
        <p:spPr>
          <a:xfrm>
            <a:off x="1929605" y="1463418"/>
            <a:ext cx="535724"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Blocker</a:t>
            </a: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6</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10" name="Textfeld 9">
            <a:extLst>
              <a:ext uri="{FF2B5EF4-FFF2-40B4-BE49-F238E27FC236}">
                <a16:creationId xmlns:a16="http://schemas.microsoft.com/office/drawing/2014/main" id="{A93B3664-B661-45FD-AF3C-53602405EC51}"/>
              </a:ext>
            </a:extLst>
          </p:cNvPr>
          <p:cNvSpPr txBox="1"/>
          <p:nvPr/>
        </p:nvSpPr>
        <p:spPr>
          <a:xfrm>
            <a:off x="5968890" y="2376646"/>
            <a:ext cx="1796730"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Brüning, Reissland &amp; Manzey, 2021,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Psy</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Res</a:t>
            </a:r>
          </a:p>
        </p:txBody>
      </p:sp>
      <p:graphicFrame>
        <p:nvGraphicFramePr>
          <p:cNvPr id="11" name="Diagramm 10">
            <a:extLst>
              <a:ext uri="{FF2B5EF4-FFF2-40B4-BE49-F238E27FC236}">
                <a16:creationId xmlns:a16="http://schemas.microsoft.com/office/drawing/2014/main" id="{D325AC8A-6856-4541-BB45-CF181C26E413}"/>
              </a:ext>
            </a:extLst>
          </p:cNvPr>
          <p:cNvGraphicFramePr/>
          <p:nvPr/>
        </p:nvGraphicFramePr>
        <p:xfrm>
          <a:off x="6084168" y="999759"/>
          <a:ext cx="1566174" cy="1448684"/>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feld 11">
            <a:extLst>
              <a:ext uri="{FF2B5EF4-FFF2-40B4-BE49-F238E27FC236}">
                <a16:creationId xmlns:a16="http://schemas.microsoft.com/office/drawing/2014/main" id="{A867C2ED-CBCD-44AB-BF01-86FACD414D62}"/>
              </a:ext>
            </a:extLst>
          </p:cNvPr>
          <p:cNvSpPr txBox="1"/>
          <p:nvPr/>
        </p:nvSpPr>
        <p:spPr>
          <a:xfrm>
            <a:off x="6900644" y="1548636"/>
            <a:ext cx="535724"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Blocker</a:t>
            </a: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32</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13" name="Textfeld 12">
            <a:extLst>
              <a:ext uri="{FF2B5EF4-FFF2-40B4-BE49-F238E27FC236}">
                <a16:creationId xmlns:a16="http://schemas.microsoft.com/office/drawing/2014/main" id="{FC2A23FE-07A4-46D1-9D39-6EE829A9B076}"/>
              </a:ext>
            </a:extLst>
          </p:cNvPr>
          <p:cNvSpPr txBox="1"/>
          <p:nvPr/>
        </p:nvSpPr>
        <p:spPr>
          <a:xfrm>
            <a:off x="6335442" y="1825218"/>
            <a:ext cx="585417"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Switcher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22</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14" name="Textfeld 13">
            <a:extLst>
              <a:ext uri="{FF2B5EF4-FFF2-40B4-BE49-F238E27FC236}">
                <a16:creationId xmlns:a16="http://schemas.microsoft.com/office/drawing/2014/main" id="{8EF99E7B-0133-4427-A51A-8EC8D4239AEC}"/>
              </a:ext>
            </a:extLst>
          </p:cNvPr>
          <p:cNvSpPr txBox="1"/>
          <p:nvPr/>
        </p:nvSpPr>
        <p:spPr>
          <a:xfrm>
            <a:off x="6329328" y="1310322"/>
            <a:ext cx="564578"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Grouper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16</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15" name="Textfeld 14">
            <a:extLst>
              <a:ext uri="{FF2B5EF4-FFF2-40B4-BE49-F238E27FC236}">
                <a16:creationId xmlns:a16="http://schemas.microsoft.com/office/drawing/2014/main" id="{DA9C6494-2D09-4958-A9EC-9D3AB5C85C29}"/>
              </a:ext>
            </a:extLst>
          </p:cNvPr>
          <p:cNvSpPr txBox="1"/>
          <p:nvPr/>
        </p:nvSpPr>
        <p:spPr>
          <a:xfrm>
            <a:off x="2682323" y="2376646"/>
            <a:ext cx="1636871"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Brüning,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Mückstein</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&amp; Manzey, 2020,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Exp</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1 JEP:HPP</a:t>
            </a:r>
          </a:p>
        </p:txBody>
      </p:sp>
      <p:graphicFrame>
        <p:nvGraphicFramePr>
          <p:cNvPr id="16" name="Diagramm 15">
            <a:extLst>
              <a:ext uri="{FF2B5EF4-FFF2-40B4-BE49-F238E27FC236}">
                <a16:creationId xmlns:a16="http://schemas.microsoft.com/office/drawing/2014/main" id="{C1304AA2-A4E0-4529-8628-837708A826F9}"/>
              </a:ext>
            </a:extLst>
          </p:cNvPr>
          <p:cNvGraphicFramePr/>
          <p:nvPr/>
        </p:nvGraphicFramePr>
        <p:xfrm>
          <a:off x="2717672" y="999759"/>
          <a:ext cx="1566174" cy="1448684"/>
        </p:xfrm>
        <a:graphic>
          <a:graphicData uri="http://schemas.openxmlformats.org/drawingml/2006/chart">
            <c:chart xmlns:c="http://schemas.openxmlformats.org/drawingml/2006/chart" xmlns:r="http://schemas.openxmlformats.org/officeDocument/2006/relationships" r:id="rId5"/>
          </a:graphicData>
        </a:graphic>
      </p:graphicFrame>
      <p:sp>
        <p:nvSpPr>
          <p:cNvPr id="17" name="Textfeld 16">
            <a:extLst>
              <a:ext uri="{FF2B5EF4-FFF2-40B4-BE49-F238E27FC236}">
                <a16:creationId xmlns:a16="http://schemas.microsoft.com/office/drawing/2014/main" id="{CABFCB1D-8E12-4367-A47E-38C878D990A8}"/>
              </a:ext>
            </a:extLst>
          </p:cNvPr>
          <p:cNvSpPr txBox="1"/>
          <p:nvPr/>
        </p:nvSpPr>
        <p:spPr>
          <a:xfrm>
            <a:off x="3549690" y="1605308"/>
            <a:ext cx="535724"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Blocker</a:t>
            </a: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25</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18" name="Textfeld 17">
            <a:extLst>
              <a:ext uri="{FF2B5EF4-FFF2-40B4-BE49-F238E27FC236}">
                <a16:creationId xmlns:a16="http://schemas.microsoft.com/office/drawing/2014/main" id="{3201444D-9401-4817-88D2-0D4334307293}"/>
              </a:ext>
            </a:extLst>
          </p:cNvPr>
          <p:cNvSpPr txBox="1"/>
          <p:nvPr/>
        </p:nvSpPr>
        <p:spPr>
          <a:xfrm>
            <a:off x="3029824" y="1188216"/>
            <a:ext cx="564578"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Grouper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6</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19" name="Textfeld 18">
            <a:extLst>
              <a:ext uri="{FF2B5EF4-FFF2-40B4-BE49-F238E27FC236}">
                <a16:creationId xmlns:a16="http://schemas.microsoft.com/office/drawing/2014/main" id="{83A4B71F-885F-4D54-AE69-D2342F3FB660}"/>
              </a:ext>
            </a:extLst>
          </p:cNvPr>
          <p:cNvSpPr txBox="1"/>
          <p:nvPr/>
        </p:nvSpPr>
        <p:spPr>
          <a:xfrm>
            <a:off x="4306368" y="2376646"/>
            <a:ext cx="1747890"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Brüning,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Mückstein</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&amp; Manzey, 2020,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Exp</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2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JEP: HPP</a:t>
            </a:r>
          </a:p>
        </p:txBody>
      </p:sp>
      <p:graphicFrame>
        <p:nvGraphicFramePr>
          <p:cNvPr id="20" name="Diagramm 19">
            <a:extLst>
              <a:ext uri="{FF2B5EF4-FFF2-40B4-BE49-F238E27FC236}">
                <a16:creationId xmlns:a16="http://schemas.microsoft.com/office/drawing/2014/main" id="{2D2C82B8-FE28-4F3F-8C14-01E69B70E41C}"/>
              </a:ext>
            </a:extLst>
          </p:cNvPr>
          <p:cNvGraphicFramePr/>
          <p:nvPr/>
        </p:nvGraphicFramePr>
        <p:xfrm>
          <a:off x="4397226" y="999759"/>
          <a:ext cx="1566174" cy="1448684"/>
        </p:xfrm>
        <a:graphic>
          <a:graphicData uri="http://schemas.openxmlformats.org/drawingml/2006/chart">
            <c:chart xmlns:c="http://schemas.openxmlformats.org/drawingml/2006/chart" xmlns:r="http://schemas.openxmlformats.org/officeDocument/2006/relationships" r:id="rId6"/>
          </a:graphicData>
        </a:graphic>
      </p:graphicFrame>
      <p:sp>
        <p:nvSpPr>
          <p:cNvPr id="21" name="Textfeld 20">
            <a:extLst>
              <a:ext uri="{FF2B5EF4-FFF2-40B4-BE49-F238E27FC236}">
                <a16:creationId xmlns:a16="http://schemas.microsoft.com/office/drawing/2014/main" id="{92CACBA9-16B4-46F1-A415-07BD3A491D68}"/>
              </a:ext>
            </a:extLst>
          </p:cNvPr>
          <p:cNvSpPr txBox="1"/>
          <p:nvPr/>
        </p:nvSpPr>
        <p:spPr>
          <a:xfrm>
            <a:off x="5216809" y="1455267"/>
            <a:ext cx="535724"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Blocker</a:t>
            </a: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18</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22" name="Textfeld 21">
            <a:extLst>
              <a:ext uri="{FF2B5EF4-FFF2-40B4-BE49-F238E27FC236}">
                <a16:creationId xmlns:a16="http://schemas.microsoft.com/office/drawing/2014/main" id="{C7D7F7E0-AEBB-4606-BF5D-727B90293C7D}"/>
              </a:ext>
            </a:extLst>
          </p:cNvPr>
          <p:cNvSpPr txBox="1"/>
          <p:nvPr/>
        </p:nvSpPr>
        <p:spPr>
          <a:xfrm>
            <a:off x="2884362" y="1659472"/>
            <a:ext cx="585417"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Switcher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14</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23" name="Textfeld 22">
            <a:extLst>
              <a:ext uri="{FF2B5EF4-FFF2-40B4-BE49-F238E27FC236}">
                <a16:creationId xmlns:a16="http://schemas.microsoft.com/office/drawing/2014/main" id="{F3807375-823F-4ACD-9640-DADB39187819}"/>
              </a:ext>
            </a:extLst>
          </p:cNvPr>
          <p:cNvSpPr txBox="1"/>
          <p:nvPr/>
        </p:nvSpPr>
        <p:spPr>
          <a:xfrm>
            <a:off x="4718422" y="1825744"/>
            <a:ext cx="585417"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Switcher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19</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24" name="Textfeld 23">
            <a:extLst>
              <a:ext uri="{FF2B5EF4-FFF2-40B4-BE49-F238E27FC236}">
                <a16:creationId xmlns:a16="http://schemas.microsoft.com/office/drawing/2014/main" id="{91D4F3D1-4CDE-401D-96AC-7CC12FBB8C76}"/>
              </a:ext>
            </a:extLst>
          </p:cNvPr>
          <p:cNvSpPr txBox="1"/>
          <p:nvPr/>
        </p:nvSpPr>
        <p:spPr>
          <a:xfrm>
            <a:off x="4670697" y="1293888"/>
            <a:ext cx="564578"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Grouper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10</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25" name="Textfeld 24">
            <a:extLst>
              <a:ext uri="{FF2B5EF4-FFF2-40B4-BE49-F238E27FC236}">
                <a16:creationId xmlns:a16="http://schemas.microsoft.com/office/drawing/2014/main" id="{897DE278-8DA0-4FCA-BA9C-0C7EB76A22E9}"/>
              </a:ext>
            </a:extLst>
          </p:cNvPr>
          <p:cNvSpPr txBox="1"/>
          <p:nvPr/>
        </p:nvSpPr>
        <p:spPr>
          <a:xfrm>
            <a:off x="2133247" y="4275595"/>
            <a:ext cx="2438753"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Data from coop with groups from Freiburg and Halle </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prep</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26" name="Diagramm 25">
            <a:extLst>
              <a:ext uri="{FF2B5EF4-FFF2-40B4-BE49-F238E27FC236}">
                <a16:creationId xmlns:a16="http://schemas.microsoft.com/office/drawing/2014/main" id="{EA8F12C4-51C2-4456-9989-6C728F69D117}"/>
              </a:ext>
            </a:extLst>
          </p:cNvPr>
          <p:cNvGraphicFramePr/>
          <p:nvPr/>
        </p:nvGraphicFramePr>
        <p:xfrm>
          <a:off x="2514026" y="2943530"/>
          <a:ext cx="1677197" cy="1449900"/>
        </p:xfrm>
        <a:graphic>
          <a:graphicData uri="http://schemas.openxmlformats.org/drawingml/2006/chart">
            <c:chart xmlns:c="http://schemas.openxmlformats.org/drawingml/2006/chart" xmlns:r="http://schemas.openxmlformats.org/officeDocument/2006/relationships" r:id="rId7"/>
          </a:graphicData>
        </a:graphic>
      </p:graphicFrame>
      <p:sp>
        <p:nvSpPr>
          <p:cNvPr id="27" name="Textfeld 26">
            <a:extLst>
              <a:ext uri="{FF2B5EF4-FFF2-40B4-BE49-F238E27FC236}">
                <a16:creationId xmlns:a16="http://schemas.microsoft.com/office/drawing/2014/main" id="{96E3CE59-8B77-4ED7-B2FD-04DF8931E44F}"/>
              </a:ext>
            </a:extLst>
          </p:cNvPr>
          <p:cNvSpPr txBox="1"/>
          <p:nvPr/>
        </p:nvSpPr>
        <p:spPr>
          <a:xfrm>
            <a:off x="2834046" y="3229278"/>
            <a:ext cx="564578"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Grouper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9</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28" name="Textfeld 27">
            <a:extLst>
              <a:ext uri="{FF2B5EF4-FFF2-40B4-BE49-F238E27FC236}">
                <a16:creationId xmlns:a16="http://schemas.microsoft.com/office/drawing/2014/main" id="{F4893724-1EF0-495B-9D0B-042915521FEA}"/>
              </a:ext>
            </a:extLst>
          </p:cNvPr>
          <p:cNvSpPr txBox="1"/>
          <p:nvPr/>
        </p:nvSpPr>
        <p:spPr>
          <a:xfrm>
            <a:off x="2951462" y="3855719"/>
            <a:ext cx="585417"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Switcher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22</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29" name="Textfeld 28">
            <a:extLst>
              <a:ext uri="{FF2B5EF4-FFF2-40B4-BE49-F238E27FC236}">
                <a16:creationId xmlns:a16="http://schemas.microsoft.com/office/drawing/2014/main" id="{11FB5F62-4266-48E1-B86A-84CE8AAE6307}"/>
              </a:ext>
            </a:extLst>
          </p:cNvPr>
          <p:cNvSpPr txBox="1"/>
          <p:nvPr/>
        </p:nvSpPr>
        <p:spPr>
          <a:xfrm>
            <a:off x="3389092" y="3378092"/>
            <a:ext cx="535724"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Blocker</a:t>
            </a: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17</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30" name="Textfeld 29">
            <a:extLst>
              <a:ext uri="{FF2B5EF4-FFF2-40B4-BE49-F238E27FC236}">
                <a16:creationId xmlns:a16="http://schemas.microsoft.com/office/drawing/2014/main" id="{7A83A7CD-E0D3-4C94-8EA6-9A7F0476E5DA}"/>
              </a:ext>
            </a:extLst>
          </p:cNvPr>
          <p:cNvSpPr txBox="1"/>
          <p:nvPr/>
        </p:nvSpPr>
        <p:spPr>
          <a:xfrm>
            <a:off x="5065705" y="4274910"/>
            <a:ext cx="1709709" cy="461665"/>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Data from coop with </a:t>
            </a:r>
            <a:r>
              <a:rPr kumimoji="0" lang="en-US"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Veit</a:t>
            </a: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Kubik</a:t>
            </a: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prep</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31" name="Diagramm 30">
            <a:extLst>
              <a:ext uri="{FF2B5EF4-FFF2-40B4-BE49-F238E27FC236}">
                <a16:creationId xmlns:a16="http://schemas.microsoft.com/office/drawing/2014/main" id="{929BDC4B-5FDA-4626-84A2-856D43592531}"/>
              </a:ext>
            </a:extLst>
          </p:cNvPr>
          <p:cNvGraphicFramePr/>
          <p:nvPr/>
        </p:nvGraphicFramePr>
        <p:xfrm>
          <a:off x="5137472" y="2942846"/>
          <a:ext cx="1566174" cy="1448684"/>
        </p:xfrm>
        <a:graphic>
          <a:graphicData uri="http://schemas.openxmlformats.org/drawingml/2006/chart">
            <c:chart xmlns:c="http://schemas.openxmlformats.org/drawingml/2006/chart" xmlns:r="http://schemas.openxmlformats.org/officeDocument/2006/relationships" r:id="rId8"/>
          </a:graphicData>
        </a:graphic>
      </p:graphicFrame>
      <p:sp>
        <p:nvSpPr>
          <p:cNvPr id="32" name="Textfeld 31">
            <a:extLst>
              <a:ext uri="{FF2B5EF4-FFF2-40B4-BE49-F238E27FC236}">
                <a16:creationId xmlns:a16="http://schemas.microsoft.com/office/drawing/2014/main" id="{8029793B-2462-4A3C-98F5-89A6FDDEC0BE}"/>
              </a:ext>
            </a:extLst>
          </p:cNvPr>
          <p:cNvSpPr txBox="1"/>
          <p:nvPr/>
        </p:nvSpPr>
        <p:spPr>
          <a:xfrm>
            <a:off x="5344294" y="3401552"/>
            <a:ext cx="564578"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Grouper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47</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33" name="Textfeld 32">
            <a:extLst>
              <a:ext uri="{FF2B5EF4-FFF2-40B4-BE49-F238E27FC236}">
                <a16:creationId xmlns:a16="http://schemas.microsoft.com/office/drawing/2014/main" id="{97CED8F5-A6B5-4DBB-8A36-37C5A6732D6C}"/>
              </a:ext>
            </a:extLst>
          </p:cNvPr>
          <p:cNvSpPr txBox="1"/>
          <p:nvPr/>
        </p:nvSpPr>
        <p:spPr>
          <a:xfrm>
            <a:off x="5709671" y="3929291"/>
            <a:ext cx="585417"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err="1">
                <a:ln>
                  <a:noFill/>
                </a:ln>
                <a:solidFill>
                  <a:srgbClr val="FFFFFF"/>
                </a:solidFill>
                <a:effectLst/>
                <a:uLnTx/>
                <a:uFillTx/>
                <a:latin typeface="Arial"/>
                <a:ea typeface="+mn-ea"/>
                <a:cs typeface="+mn-cs"/>
              </a:rPr>
              <a:t>Switcher</a:t>
            </a:r>
            <a:endParaRPr kumimoji="0" lang="de-DE" sz="750" b="1" i="0" u="none" strike="noStrike" kern="1200" cap="none" spc="0" normalizeH="0" baseline="0" noProof="0">
              <a:ln>
                <a:noFill/>
              </a:ln>
              <a:solidFill>
                <a:srgbClr val="FFFFFF"/>
              </a:solidFill>
              <a:effectLst/>
              <a:uLnTx/>
              <a:uFillTx/>
              <a:latin typeface="Arial"/>
              <a:ea typeface="+mn-ea"/>
              <a:cs typeface="+mn-cs"/>
            </a:endParaRP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27</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
        <p:nvSpPr>
          <p:cNvPr id="34" name="Textfeld 33">
            <a:extLst>
              <a:ext uri="{FF2B5EF4-FFF2-40B4-BE49-F238E27FC236}">
                <a16:creationId xmlns:a16="http://schemas.microsoft.com/office/drawing/2014/main" id="{218FAFCF-FAC6-424D-A5F8-EFCED0572CAC}"/>
              </a:ext>
            </a:extLst>
          </p:cNvPr>
          <p:cNvSpPr txBox="1"/>
          <p:nvPr/>
        </p:nvSpPr>
        <p:spPr>
          <a:xfrm>
            <a:off x="5982111" y="3401552"/>
            <a:ext cx="535724" cy="323165"/>
          </a:xfrm>
          <a:prstGeom prst="rect">
            <a:avLst/>
          </a:prstGeom>
          <a:noFill/>
        </p:spPr>
        <p:txBody>
          <a:bodyPr wrap="non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Blocker</a:t>
            </a:r>
          </a:p>
          <a:p>
            <a:pPr marL="0" marR="0" lvl="0" indent="0" algn="ctr" defTabSz="685800" rtl="0" eaLnBrk="1" fontAlgn="base" latinLnBrk="0" hangingPunct="1">
              <a:lnSpc>
                <a:spcPct val="100000"/>
              </a:lnSpc>
              <a:spcBef>
                <a:spcPct val="0"/>
              </a:spcBef>
              <a:spcAft>
                <a:spcPct val="0"/>
              </a:spcAft>
              <a:buClrTx/>
              <a:buSzTx/>
              <a:buFontTx/>
              <a:buNone/>
              <a:tabLst/>
              <a:defRPr/>
            </a:pPr>
            <a:r>
              <a:rPr kumimoji="0" lang="de-DE" sz="750" b="1" i="0" u="none" strike="noStrike" kern="1200" cap="none" spc="0" normalizeH="0" baseline="0" noProof="0">
                <a:ln>
                  <a:noFill/>
                </a:ln>
                <a:solidFill>
                  <a:srgbClr val="FFFFFF"/>
                </a:solidFill>
                <a:effectLst/>
                <a:uLnTx/>
                <a:uFillTx/>
                <a:latin typeface="Arial"/>
                <a:ea typeface="+mn-ea"/>
                <a:cs typeface="+mn-cs"/>
              </a:rPr>
              <a:t>n = 43</a:t>
            </a:r>
            <a:endParaRPr kumimoji="0" lang="en-US" sz="75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6881096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4620EE-C2A1-489B-BD8F-0A9F2BEBFEC7}"/>
              </a:ext>
            </a:extLst>
          </p:cNvPr>
          <p:cNvSpPr>
            <a:spLocks noGrp="1"/>
          </p:cNvSpPr>
          <p:nvPr>
            <p:ph type="title"/>
          </p:nvPr>
        </p:nvSpPr>
        <p:spPr/>
        <p:txBody>
          <a:bodyPr/>
          <a:lstStyle/>
          <a:p>
            <a:r>
              <a:rPr lang="en-US"/>
              <a:t>Response Strategies – Stability</a:t>
            </a:r>
          </a:p>
        </p:txBody>
      </p:sp>
      <p:sp>
        <p:nvSpPr>
          <p:cNvPr id="4" name="Foliennummernplatzhalter 3">
            <a:extLst>
              <a:ext uri="{FF2B5EF4-FFF2-40B4-BE49-F238E27FC236}">
                <a16:creationId xmlns:a16="http://schemas.microsoft.com/office/drawing/2014/main" id="{EB376953-A22A-4421-B463-20DE22A33835}"/>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33</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pic>
        <p:nvPicPr>
          <p:cNvPr id="42" name="Grafik 41">
            <a:extLst>
              <a:ext uri="{FF2B5EF4-FFF2-40B4-BE49-F238E27FC236}">
                <a16:creationId xmlns:a16="http://schemas.microsoft.com/office/drawing/2014/main" id="{1271FE7B-8F57-4103-82DB-C5159F539F4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487217" y="2290249"/>
            <a:ext cx="4169567" cy="2544540"/>
          </a:xfrm>
          <a:prstGeom prst="rect">
            <a:avLst/>
          </a:prstGeom>
        </p:spPr>
      </p:pic>
      <p:sp>
        <p:nvSpPr>
          <p:cNvPr id="43" name="Textfeld 42">
            <a:extLst>
              <a:ext uri="{FF2B5EF4-FFF2-40B4-BE49-F238E27FC236}">
                <a16:creationId xmlns:a16="http://schemas.microsoft.com/office/drawing/2014/main" id="{37858348-BB3B-4B1D-956A-EEE23AE57641}"/>
              </a:ext>
            </a:extLst>
          </p:cNvPr>
          <p:cNvSpPr txBox="1"/>
          <p:nvPr/>
        </p:nvSpPr>
        <p:spPr>
          <a:xfrm>
            <a:off x="6936819" y="4524242"/>
            <a:ext cx="2031325"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Brüning, </a:t>
            </a:r>
            <a:r>
              <a:rPr kumimoji="0" lang="de-DE" sz="9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Mückstein</a:t>
            </a: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&amp; </a:t>
            </a:r>
            <a:r>
              <a:rPr kumimoji="0" lang="de-DE" sz="9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Manzey</a:t>
            </a: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2020</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nvGrpSpPr>
          <p:cNvPr id="44" name="Gruppieren 43">
            <a:extLst>
              <a:ext uri="{FF2B5EF4-FFF2-40B4-BE49-F238E27FC236}">
                <a16:creationId xmlns:a16="http://schemas.microsoft.com/office/drawing/2014/main" id="{15D23FFE-418E-4820-A2AA-A3D386E3C966}"/>
              </a:ext>
            </a:extLst>
          </p:cNvPr>
          <p:cNvGrpSpPr/>
          <p:nvPr/>
        </p:nvGrpSpPr>
        <p:grpSpPr>
          <a:xfrm>
            <a:off x="1608116" y="1471274"/>
            <a:ext cx="548640" cy="480060"/>
            <a:chOff x="7992827" y="1007806"/>
            <a:chExt cx="731520" cy="640080"/>
          </a:xfrm>
        </p:grpSpPr>
        <p:sp>
          <p:nvSpPr>
            <p:cNvPr id="45" name="Rechteck 44">
              <a:extLst>
                <a:ext uri="{FF2B5EF4-FFF2-40B4-BE49-F238E27FC236}">
                  <a16:creationId xmlns:a16="http://schemas.microsoft.com/office/drawing/2014/main" id="{6B27AF34-6C84-42FF-B974-5F92E4AB21C9}"/>
                </a:ext>
              </a:extLst>
            </p:cNvPr>
            <p:cNvSpPr>
              <a:spLocks/>
            </p:cNvSpPr>
            <p:nvPr/>
          </p:nvSpPr>
          <p:spPr>
            <a:xfrm>
              <a:off x="7992827" y="1007806"/>
              <a:ext cx="731520" cy="640080"/>
            </a:xfrm>
            <a:prstGeom prst="rect">
              <a:avLst/>
            </a:prstGeom>
            <a:solidFill>
              <a:srgbClr val="000000"/>
            </a:solidFill>
            <a:ln w="19050"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pic>
          <p:nvPicPr>
            <p:cNvPr id="46" name="Picture 4" descr="C:\Users\jovita\Desktop\Exp_VolDT_resources\01_Planung\Reizmaterial\Räumlich_Gedächtnis\5c.png">
              <a:extLst>
                <a:ext uri="{FF2B5EF4-FFF2-40B4-BE49-F238E27FC236}">
                  <a16:creationId xmlns:a16="http://schemas.microsoft.com/office/drawing/2014/main" id="{314B0EC5-E3EE-4344-8E79-8BA03980B25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72400" y="1052736"/>
              <a:ext cx="252000" cy="284241"/>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 descr="C:\Users\jovita\Desktop\Exp_VolDT_resources\01_Planung\Reizmaterial\Räumlich_Gedächtnis\5c.png">
              <a:extLst>
                <a:ext uri="{FF2B5EF4-FFF2-40B4-BE49-F238E27FC236}">
                  <a16:creationId xmlns:a16="http://schemas.microsoft.com/office/drawing/2014/main" id="{342BF499-724C-4106-823F-F97FC481D50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88424" y="1052736"/>
              <a:ext cx="252000" cy="28424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3" descr="C:\Users\jovita\Desktop\Exp_VolDT_resources\01_Planung\Reizmaterial\Räumlich_Klassifikation\50°gedreht\39_50_R.jpg">
              <a:extLst>
                <a:ext uri="{FF2B5EF4-FFF2-40B4-BE49-F238E27FC236}">
                  <a16:creationId xmlns:a16="http://schemas.microsoft.com/office/drawing/2014/main" id="{2300FEB2-EC69-4D98-98F2-AD29D984875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72400" y="1297276"/>
              <a:ext cx="432000" cy="254909"/>
            </a:xfrm>
            <a:prstGeom prst="rect">
              <a:avLst/>
            </a:prstGeom>
            <a:noFill/>
            <a:extLst>
              <a:ext uri="{909E8E84-426E-40DD-AFC4-6F175D3DCCD1}">
                <a14:hiddenFill xmlns:a14="http://schemas.microsoft.com/office/drawing/2010/main">
                  <a:solidFill>
                    <a:srgbClr val="FFFFFF"/>
                  </a:solidFill>
                </a14:hiddenFill>
              </a:ext>
            </a:extLst>
          </p:spPr>
        </p:pic>
      </p:grpSp>
      <p:pic>
        <p:nvPicPr>
          <p:cNvPr id="49" name="Picture 3" descr="C:\Users\jovita\Desktop\Konferenzen\TeaP_2016\Talk\Abbildungen\Hand_rechts.png">
            <a:extLst>
              <a:ext uri="{FF2B5EF4-FFF2-40B4-BE49-F238E27FC236}">
                <a16:creationId xmlns:a16="http://schemas.microsoft.com/office/drawing/2014/main" id="{E27B5357-C34B-4945-9197-A00242D41CB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237590" y="1760078"/>
            <a:ext cx="249126" cy="32085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3" descr="C:\Users\jovita\Desktop\Konferenzen\TeaP_2016\Talk\Abbildungen\Hand_rechts.png">
            <a:extLst>
              <a:ext uri="{FF2B5EF4-FFF2-40B4-BE49-F238E27FC236}">
                <a16:creationId xmlns:a16="http://schemas.microsoft.com/office/drawing/2014/main" id="{80423AE8-4072-49F2-B44B-0AC7503A753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1287310"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51" name="Textfeld 50">
            <a:extLst>
              <a:ext uri="{FF2B5EF4-FFF2-40B4-BE49-F238E27FC236}">
                <a16:creationId xmlns:a16="http://schemas.microsoft.com/office/drawing/2014/main" id="{71BE10AD-28E0-48C6-A5E7-16EC386ADEE1}"/>
              </a:ext>
            </a:extLst>
          </p:cNvPr>
          <p:cNvSpPr txBox="1"/>
          <p:nvPr/>
        </p:nvSpPr>
        <p:spPr>
          <a:xfrm>
            <a:off x="1102695" y="1063228"/>
            <a:ext cx="1673169" cy="415498"/>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Maximum Overlap of </a:t>
            </a:r>
            <a:r>
              <a:rPr kumimoji="0" lang="en-US" sz="1050" b="0" i="0" u="none" strike="noStrike" kern="120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Ressource</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Demands</a:t>
            </a:r>
          </a:p>
        </p:txBody>
      </p:sp>
      <p:grpSp>
        <p:nvGrpSpPr>
          <p:cNvPr id="52" name="Gruppieren 51">
            <a:extLst>
              <a:ext uri="{FF2B5EF4-FFF2-40B4-BE49-F238E27FC236}">
                <a16:creationId xmlns:a16="http://schemas.microsoft.com/office/drawing/2014/main" id="{78F299A9-D097-4DF5-A2EB-7FD88025F095}"/>
              </a:ext>
            </a:extLst>
          </p:cNvPr>
          <p:cNvGrpSpPr/>
          <p:nvPr/>
        </p:nvGrpSpPr>
        <p:grpSpPr>
          <a:xfrm>
            <a:off x="6726212" y="1493491"/>
            <a:ext cx="548640" cy="480060"/>
            <a:chOff x="1536525" y="5474191"/>
            <a:chExt cx="731520" cy="640080"/>
          </a:xfrm>
        </p:grpSpPr>
        <p:grpSp>
          <p:nvGrpSpPr>
            <p:cNvPr id="53" name="Gruppieren 52">
              <a:extLst>
                <a:ext uri="{FF2B5EF4-FFF2-40B4-BE49-F238E27FC236}">
                  <a16:creationId xmlns:a16="http://schemas.microsoft.com/office/drawing/2014/main" id="{9BDF592B-7196-4A5C-BD8D-F4F27B558687}"/>
                </a:ext>
              </a:extLst>
            </p:cNvPr>
            <p:cNvGrpSpPr>
              <a:grpSpLocks noChangeAspect="1"/>
            </p:cNvGrpSpPr>
            <p:nvPr/>
          </p:nvGrpSpPr>
          <p:grpSpPr>
            <a:xfrm>
              <a:off x="1536525" y="5474191"/>
              <a:ext cx="731520" cy="640080"/>
              <a:chOff x="1850864" y="2097426"/>
              <a:chExt cx="1422400" cy="1244599"/>
            </a:xfrm>
          </p:grpSpPr>
          <p:sp>
            <p:nvSpPr>
              <p:cNvPr id="55" name="Rechteck 54">
                <a:extLst>
                  <a:ext uri="{FF2B5EF4-FFF2-40B4-BE49-F238E27FC236}">
                    <a16:creationId xmlns:a16="http://schemas.microsoft.com/office/drawing/2014/main" id="{A268B1ED-D5FD-48D4-A501-967C7F1D598A}"/>
                  </a:ext>
                </a:extLst>
              </p:cNvPr>
              <p:cNvSpPr/>
              <p:nvPr/>
            </p:nvSpPr>
            <p:spPr>
              <a:xfrm>
                <a:off x="1850864" y="2097426"/>
                <a:ext cx="1422400" cy="1244599"/>
              </a:xfrm>
              <a:prstGeom prst="rect">
                <a:avLst/>
              </a:prstGeom>
              <a:solidFill>
                <a:srgbClr val="000000"/>
              </a:solidFill>
              <a:ln w="19050" cap="flat" cmpd="sng" algn="ctr">
                <a:noFill/>
                <a:prstDash val="solid"/>
              </a:ln>
              <a:effectLst/>
            </p:spPr>
            <p:txBody>
              <a:bodyPr rtlCol="0" anchor="ctr"/>
              <a:lstStyle/>
              <a:p>
                <a:pPr marL="0" marR="0" lvl="0" indent="0" algn="ctr" defTabSz="6858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sp>
            <p:nvSpPr>
              <p:cNvPr id="56" name="Textfeld 55">
                <a:extLst>
                  <a:ext uri="{FF2B5EF4-FFF2-40B4-BE49-F238E27FC236}">
                    <a16:creationId xmlns:a16="http://schemas.microsoft.com/office/drawing/2014/main" id="{6209787F-FFB5-4212-B181-D4F1D2E0CDA0}"/>
                  </a:ext>
                </a:extLst>
              </p:cNvPr>
              <p:cNvSpPr txBox="1"/>
              <p:nvPr/>
            </p:nvSpPr>
            <p:spPr>
              <a:xfrm>
                <a:off x="2046506" y="2586311"/>
                <a:ext cx="977477" cy="598453"/>
              </a:xfrm>
              <a:prstGeom prst="rect">
                <a:avLst/>
              </a:prstGeom>
              <a:noFill/>
            </p:spPr>
            <p:txBody>
              <a:bodyPr wrap="none" rtlCol="0" anchor="ctr">
                <a:spAutoFit/>
              </a:bodyPr>
              <a:lstStyle/>
              <a:p>
                <a:pPr marL="0" marR="0" lvl="0" indent="0" algn="ctr" defTabSz="685800" rtl="0" eaLnBrk="0" fontAlgn="base" latinLnBrk="0" hangingPunct="0">
                  <a:lnSpc>
                    <a:spcPct val="100000"/>
                  </a:lnSpc>
                  <a:spcBef>
                    <a:spcPct val="0"/>
                  </a:spcBef>
                  <a:spcAft>
                    <a:spcPct val="0"/>
                  </a:spcAft>
                  <a:buClrTx/>
                  <a:buSzTx/>
                  <a:buFontTx/>
                  <a:buNone/>
                  <a:tabLst/>
                  <a:defRPr/>
                </a:pPr>
                <a:r>
                  <a:rPr kumimoji="0" lang="de-DE" sz="9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K H</a:t>
                </a:r>
              </a:p>
            </p:txBody>
          </p:sp>
        </p:grpSp>
        <p:pic>
          <p:nvPicPr>
            <p:cNvPr id="54" name="Picture 3" descr="C:\Users\jovita\Desktop\Exp_VolDT_resources\01_Planung\Reizmaterial\Räumlich_Klassifikation\50°gedreht\39_50_R.jpg">
              <a:extLst>
                <a:ext uri="{FF2B5EF4-FFF2-40B4-BE49-F238E27FC236}">
                  <a16:creationId xmlns:a16="http://schemas.microsoft.com/office/drawing/2014/main" id="{F2FB3AD5-9D41-44AE-8C93-49B49673B80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83839" y="5486098"/>
              <a:ext cx="432000" cy="254909"/>
            </a:xfrm>
            <a:prstGeom prst="rect">
              <a:avLst/>
            </a:prstGeom>
            <a:noFill/>
            <a:extLst>
              <a:ext uri="{909E8E84-426E-40DD-AFC4-6F175D3DCCD1}">
                <a14:hiddenFill xmlns:a14="http://schemas.microsoft.com/office/drawing/2010/main">
                  <a:solidFill>
                    <a:srgbClr val="FFFFFF"/>
                  </a:solidFill>
                </a14:hiddenFill>
              </a:ext>
            </a:extLst>
          </p:spPr>
        </p:pic>
      </p:grpSp>
      <p:pic>
        <p:nvPicPr>
          <p:cNvPr id="57" name="Picture 3" descr="C:\Users\jovita\Desktop\Konferenzen\TeaP_2016\Talk\Abbildungen\Hand_rechts.png">
            <a:extLst>
              <a:ext uri="{FF2B5EF4-FFF2-40B4-BE49-F238E27FC236}">
                <a16:creationId xmlns:a16="http://schemas.microsoft.com/office/drawing/2014/main" id="{B01D82D7-3C5F-4330-A7D3-088360C42E2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6401671"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58" name="Ovale Legende 20">
            <a:extLst>
              <a:ext uri="{FF2B5EF4-FFF2-40B4-BE49-F238E27FC236}">
                <a16:creationId xmlns:a16="http://schemas.microsoft.com/office/drawing/2014/main" id="{02C4CCCF-0F22-486E-838E-5BA8AE64733A}"/>
              </a:ext>
            </a:extLst>
          </p:cNvPr>
          <p:cNvSpPr/>
          <p:nvPr/>
        </p:nvSpPr>
        <p:spPr>
          <a:xfrm flipH="1">
            <a:off x="7140545" y="1687149"/>
            <a:ext cx="666098" cy="255687"/>
          </a:xfrm>
          <a:prstGeom prst="wedgeEllipseCallout">
            <a:avLst/>
          </a:prstGeom>
          <a:solidFill>
            <a:srgbClr val="FFFFFF"/>
          </a:solidFill>
          <a:ln w="28575" cap="flat" cmpd="sng" algn="ctr">
            <a:solidFill>
              <a:srgbClr val="000000"/>
            </a:solidFill>
            <a:prstDash val="solid"/>
          </a:ln>
          <a:effectLst/>
        </p:spPr>
        <p:txBody>
          <a:bodyPr lIns="0" rIns="0"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750" b="0" i="0" u="none" strike="noStrike" kern="0" cap="none" spc="0" normalizeH="0" baseline="0" noProof="0">
                <a:ln>
                  <a:noFill/>
                </a:ln>
                <a:solidFill>
                  <a:srgbClr val="000000"/>
                </a:solidFill>
                <a:effectLst/>
                <a:uLnTx/>
                <a:uFillTx/>
                <a:latin typeface="Arial"/>
                <a:ea typeface="+mn-ea"/>
                <a:cs typeface="+mn-cs"/>
              </a:rPr>
              <a:t>“red/green”</a:t>
            </a:r>
          </a:p>
        </p:txBody>
      </p:sp>
      <p:sp>
        <p:nvSpPr>
          <p:cNvPr id="59" name="Textfeld 58">
            <a:extLst>
              <a:ext uri="{FF2B5EF4-FFF2-40B4-BE49-F238E27FC236}">
                <a16:creationId xmlns:a16="http://schemas.microsoft.com/office/drawing/2014/main" id="{610BA76A-C8FB-4F66-B4B5-BB4992A2DE4C}"/>
              </a:ext>
            </a:extLst>
          </p:cNvPr>
          <p:cNvSpPr txBox="1"/>
          <p:nvPr/>
        </p:nvSpPr>
        <p:spPr>
          <a:xfrm>
            <a:off x="6227386" y="1063229"/>
            <a:ext cx="1546294" cy="415498"/>
          </a:xfrm>
          <a:prstGeom prst="rect">
            <a:avLst/>
          </a:prstGeom>
          <a:noFill/>
        </p:spPr>
        <p:txBody>
          <a:bodyPr wrap="squar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Minimum </a:t>
            </a:r>
            <a:r>
              <a:rPr kumimoji="0" lang="en-US" sz="1050" b="0" i="0" u="none" strike="noStrike" kern="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Ressources</a:t>
            </a:r>
            <a:r>
              <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-Overlap</a:t>
            </a:r>
          </a:p>
        </p:txBody>
      </p:sp>
      <p:pic>
        <p:nvPicPr>
          <p:cNvPr id="60" name="Grafik 59">
            <a:extLst>
              <a:ext uri="{FF2B5EF4-FFF2-40B4-BE49-F238E27FC236}">
                <a16:creationId xmlns:a16="http://schemas.microsoft.com/office/drawing/2014/main" id="{3134128A-B186-4771-A6FE-82782058B682}"/>
              </a:ext>
            </a:extLst>
          </p:cNvPr>
          <p:cNvPicPr>
            <a:picLocks noChangeAspect="1"/>
          </p:cNvPicPr>
          <p:nvPr/>
        </p:nvPicPr>
        <p:blipFill>
          <a:blip r:embed="rId8" cstate="print">
            <a:biLevel thresh="25000"/>
            <a:extLst>
              <a:ext uri="{28A0092B-C50C-407E-A947-70E740481C1C}">
                <a14:useLocalDpi xmlns:a14="http://schemas.microsoft.com/office/drawing/2010/main" val="0"/>
              </a:ext>
            </a:extLst>
          </a:blip>
          <a:stretch>
            <a:fillRect/>
          </a:stretch>
        </p:blipFill>
        <p:spPr>
          <a:xfrm>
            <a:off x="7403415" y="1960993"/>
            <a:ext cx="432000" cy="216000"/>
          </a:xfrm>
          <a:prstGeom prst="rect">
            <a:avLst/>
          </a:prstGeom>
        </p:spPr>
      </p:pic>
      <p:grpSp>
        <p:nvGrpSpPr>
          <p:cNvPr id="61" name="Gruppieren 60">
            <a:extLst>
              <a:ext uri="{FF2B5EF4-FFF2-40B4-BE49-F238E27FC236}">
                <a16:creationId xmlns:a16="http://schemas.microsoft.com/office/drawing/2014/main" id="{8CB70947-5EB1-488B-8090-09BE998C654B}"/>
              </a:ext>
            </a:extLst>
          </p:cNvPr>
          <p:cNvGrpSpPr>
            <a:grpSpLocks noChangeAspect="1"/>
          </p:cNvGrpSpPr>
          <p:nvPr/>
        </p:nvGrpSpPr>
        <p:grpSpPr>
          <a:xfrm>
            <a:off x="5027712" y="1468096"/>
            <a:ext cx="548640" cy="480060"/>
            <a:chOff x="1860163" y="2066749"/>
            <a:chExt cx="1422400" cy="1244599"/>
          </a:xfrm>
        </p:grpSpPr>
        <p:sp>
          <p:nvSpPr>
            <p:cNvPr id="62" name="Rechteck 61">
              <a:extLst>
                <a:ext uri="{FF2B5EF4-FFF2-40B4-BE49-F238E27FC236}">
                  <a16:creationId xmlns:a16="http://schemas.microsoft.com/office/drawing/2014/main" id="{CFC7C5B0-67C8-4223-970C-C936AAE724C1}"/>
                </a:ext>
              </a:extLst>
            </p:cNvPr>
            <p:cNvSpPr/>
            <p:nvPr/>
          </p:nvSpPr>
          <p:spPr>
            <a:xfrm>
              <a:off x="1860163" y="2066749"/>
              <a:ext cx="1422400" cy="1244599"/>
            </a:xfrm>
            <a:prstGeom prst="rect">
              <a:avLst/>
            </a:prstGeom>
            <a:solidFill>
              <a:srgbClr val="000000"/>
            </a:solidFill>
            <a:ln w="19050" cap="flat" cmpd="sng" algn="ctr">
              <a:noFill/>
              <a:prstDash val="solid"/>
            </a:ln>
            <a:effectLst/>
          </p:spPr>
          <p:txBody>
            <a:bodyPr rtlCol="0" anchor="ctr"/>
            <a:lstStyle/>
            <a:p>
              <a:pPr marL="0" marR="0" lvl="0" indent="0" algn="ctr" defTabSz="6858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sp>
          <p:nvSpPr>
            <p:cNvPr id="63" name="Textfeld 62">
              <a:extLst>
                <a:ext uri="{FF2B5EF4-FFF2-40B4-BE49-F238E27FC236}">
                  <a16:creationId xmlns:a16="http://schemas.microsoft.com/office/drawing/2014/main" id="{1D4124B4-DCCA-476A-97E0-187C72BD05BD}"/>
                </a:ext>
              </a:extLst>
            </p:cNvPr>
            <p:cNvSpPr txBox="1"/>
            <p:nvPr/>
          </p:nvSpPr>
          <p:spPr>
            <a:xfrm>
              <a:off x="2027953" y="2201426"/>
              <a:ext cx="1060596" cy="957527"/>
            </a:xfrm>
            <a:prstGeom prst="rect">
              <a:avLst/>
            </a:prstGeom>
            <a:noFill/>
          </p:spPr>
          <p:txBody>
            <a:bodyPr wrap="none" rtlCol="0" anchor="ctr">
              <a:spAutoFit/>
            </a:bodyPr>
            <a:lstStyle/>
            <a:p>
              <a:pPr marL="0" marR="0" lvl="0" indent="0" algn="ctr" defTabSz="685800" rtl="0" eaLnBrk="0" fontAlgn="base" latinLnBrk="0" hangingPunct="0">
                <a:lnSpc>
                  <a:spcPct val="100000"/>
                </a:lnSpc>
                <a:spcBef>
                  <a:spcPct val="0"/>
                </a:spcBef>
                <a:spcAft>
                  <a:spcPct val="0"/>
                </a:spcAft>
                <a:buClrTx/>
                <a:buSzTx/>
                <a:buFontTx/>
                <a:buNone/>
                <a:tabLst/>
                <a:defRPr/>
              </a:pPr>
              <a:r>
                <a:rPr kumimoji="0" lang="de-DE" sz="9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3  5</a:t>
              </a:r>
            </a:p>
            <a:p>
              <a:pPr marL="0" marR="0" lvl="0" indent="0" algn="ctr" defTabSz="685800" rtl="0" eaLnBrk="0" fontAlgn="base" latinLnBrk="0" hangingPunct="0">
                <a:lnSpc>
                  <a:spcPct val="100000"/>
                </a:lnSpc>
                <a:spcBef>
                  <a:spcPct val="0"/>
                </a:spcBef>
                <a:spcAft>
                  <a:spcPct val="0"/>
                </a:spcAft>
                <a:buClrTx/>
                <a:buSzTx/>
                <a:buFontTx/>
                <a:buNone/>
                <a:tabLst/>
                <a:defRPr/>
              </a:pPr>
              <a:r>
                <a:rPr kumimoji="0" lang="de-DE" sz="9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K  H</a:t>
              </a:r>
            </a:p>
          </p:txBody>
        </p:sp>
      </p:grpSp>
      <p:pic>
        <p:nvPicPr>
          <p:cNvPr id="64" name="Picture 3" descr="C:\Users\jovita\Desktop\Konferenzen\TeaP_2016\Talk\Abbildungen\Hand_rechts.png">
            <a:extLst>
              <a:ext uri="{FF2B5EF4-FFF2-40B4-BE49-F238E27FC236}">
                <a16:creationId xmlns:a16="http://schemas.microsoft.com/office/drawing/2014/main" id="{10931E13-CB01-4744-A0BC-77F39D51342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4699234"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65" name="Ovale Legende 29">
            <a:extLst>
              <a:ext uri="{FF2B5EF4-FFF2-40B4-BE49-F238E27FC236}">
                <a16:creationId xmlns:a16="http://schemas.microsoft.com/office/drawing/2014/main" id="{1C0B1866-0FBD-4F50-AE45-A33D7E7C0D6C}"/>
              </a:ext>
            </a:extLst>
          </p:cNvPr>
          <p:cNvSpPr/>
          <p:nvPr/>
        </p:nvSpPr>
        <p:spPr>
          <a:xfrm flipH="1">
            <a:off x="5518275" y="1688377"/>
            <a:ext cx="724175" cy="254459"/>
          </a:xfrm>
          <a:prstGeom prst="wedgeEllipseCallout">
            <a:avLst/>
          </a:prstGeom>
          <a:solidFill>
            <a:srgbClr val="FFFFFF"/>
          </a:solidFill>
          <a:ln w="28575" cap="flat" cmpd="sng" algn="ctr">
            <a:solidFill>
              <a:srgbClr val="000000"/>
            </a:solidFill>
            <a:prstDash val="solid"/>
          </a:ln>
          <a:effectLst/>
        </p:spPr>
        <p:txBody>
          <a:bodyPr lIns="0" rIns="0"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750" b="0" i="0" u="none" strike="noStrike" kern="0" cap="none" spc="0" normalizeH="0" baseline="0" noProof="0">
                <a:ln>
                  <a:noFill/>
                </a:ln>
                <a:solidFill>
                  <a:srgbClr val="000000"/>
                </a:solidFill>
                <a:effectLst/>
                <a:uLnTx/>
                <a:uFillTx/>
                <a:latin typeface="Arial"/>
                <a:ea typeface="+mn-ea"/>
                <a:cs typeface="+mn-cs"/>
              </a:rPr>
              <a:t>“red/green”</a:t>
            </a:r>
          </a:p>
        </p:txBody>
      </p:sp>
      <p:sp>
        <p:nvSpPr>
          <p:cNvPr id="66" name="Textfeld 65">
            <a:extLst>
              <a:ext uri="{FF2B5EF4-FFF2-40B4-BE49-F238E27FC236}">
                <a16:creationId xmlns:a16="http://schemas.microsoft.com/office/drawing/2014/main" id="{B9FB6776-C079-4518-AD0D-3D8420E6399C}"/>
              </a:ext>
            </a:extLst>
          </p:cNvPr>
          <p:cNvSpPr txBox="1"/>
          <p:nvPr/>
        </p:nvSpPr>
        <p:spPr>
          <a:xfrm>
            <a:off x="4572000" y="1063228"/>
            <a:ext cx="1517890" cy="415498"/>
          </a:xfrm>
          <a:prstGeom prst="rect">
            <a:avLst/>
          </a:prstGeom>
          <a:noFill/>
        </p:spPr>
        <p:txBody>
          <a:bodyPr wrap="squar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Encoupling</a:t>
            </a:r>
            <a:r>
              <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of Response Modality</a:t>
            </a:r>
          </a:p>
        </p:txBody>
      </p:sp>
      <p:pic>
        <p:nvPicPr>
          <p:cNvPr id="67" name="Grafik 66">
            <a:extLst>
              <a:ext uri="{FF2B5EF4-FFF2-40B4-BE49-F238E27FC236}">
                <a16:creationId xmlns:a16="http://schemas.microsoft.com/office/drawing/2014/main" id="{A3BA5F4E-2565-4E77-BE5B-58C5498C267F}"/>
              </a:ext>
            </a:extLst>
          </p:cNvPr>
          <p:cNvPicPr>
            <a:picLocks noChangeAspect="1"/>
          </p:cNvPicPr>
          <p:nvPr/>
        </p:nvPicPr>
        <p:blipFill>
          <a:blip r:embed="rId8" cstate="print">
            <a:biLevel thresh="25000"/>
            <a:extLst>
              <a:ext uri="{28A0092B-C50C-407E-A947-70E740481C1C}">
                <a14:useLocalDpi xmlns:a14="http://schemas.microsoft.com/office/drawing/2010/main" val="0"/>
              </a:ext>
            </a:extLst>
          </a:blip>
          <a:stretch>
            <a:fillRect/>
          </a:stretch>
        </p:blipFill>
        <p:spPr>
          <a:xfrm>
            <a:off x="5701327" y="1960993"/>
            <a:ext cx="432000" cy="216000"/>
          </a:xfrm>
          <a:prstGeom prst="rect">
            <a:avLst/>
          </a:prstGeom>
        </p:spPr>
      </p:pic>
      <p:grpSp>
        <p:nvGrpSpPr>
          <p:cNvPr id="68" name="Gruppieren 67">
            <a:extLst>
              <a:ext uri="{FF2B5EF4-FFF2-40B4-BE49-F238E27FC236}">
                <a16:creationId xmlns:a16="http://schemas.microsoft.com/office/drawing/2014/main" id="{5490C844-BE83-4CC2-9F58-E24071C2C9E0}"/>
              </a:ext>
            </a:extLst>
          </p:cNvPr>
          <p:cNvGrpSpPr/>
          <p:nvPr/>
        </p:nvGrpSpPr>
        <p:grpSpPr>
          <a:xfrm>
            <a:off x="3421508" y="1468096"/>
            <a:ext cx="548640" cy="480060"/>
            <a:chOff x="6666462" y="5479459"/>
            <a:chExt cx="731520" cy="640080"/>
          </a:xfrm>
        </p:grpSpPr>
        <p:grpSp>
          <p:nvGrpSpPr>
            <p:cNvPr id="69" name="Gruppieren 68">
              <a:extLst>
                <a:ext uri="{FF2B5EF4-FFF2-40B4-BE49-F238E27FC236}">
                  <a16:creationId xmlns:a16="http://schemas.microsoft.com/office/drawing/2014/main" id="{BCD2B099-E199-4DCB-A44A-68E15F6CEEF8}"/>
                </a:ext>
              </a:extLst>
            </p:cNvPr>
            <p:cNvGrpSpPr>
              <a:grpSpLocks noChangeAspect="1"/>
            </p:cNvGrpSpPr>
            <p:nvPr/>
          </p:nvGrpSpPr>
          <p:grpSpPr>
            <a:xfrm>
              <a:off x="6666462" y="5479459"/>
              <a:ext cx="731520" cy="640080"/>
              <a:chOff x="1800213" y="2107672"/>
              <a:chExt cx="1422400" cy="1244599"/>
            </a:xfrm>
          </p:grpSpPr>
          <p:sp>
            <p:nvSpPr>
              <p:cNvPr id="72" name="Rechteck 71">
                <a:extLst>
                  <a:ext uri="{FF2B5EF4-FFF2-40B4-BE49-F238E27FC236}">
                    <a16:creationId xmlns:a16="http://schemas.microsoft.com/office/drawing/2014/main" id="{2CBBCB52-4E4E-4D04-A9CE-B7C6D656F783}"/>
                  </a:ext>
                </a:extLst>
              </p:cNvPr>
              <p:cNvSpPr/>
              <p:nvPr/>
            </p:nvSpPr>
            <p:spPr>
              <a:xfrm>
                <a:off x="1800213" y="2107672"/>
                <a:ext cx="1422400" cy="1244599"/>
              </a:xfrm>
              <a:prstGeom prst="rect">
                <a:avLst/>
              </a:prstGeom>
              <a:solidFill>
                <a:srgbClr val="000000"/>
              </a:solidFill>
              <a:ln w="19050"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sp>
            <p:nvSpPr>
              <p:cNvPr id="73" name="Textfeld 72">
                <a:extLst>
                  <a:ext uri="{FF2B5EF4-FFF2-40B4-BE49-F238E27FC236}">
                    <a16:creationId xmlns:a16="http://schemas.microsoft.com/office/drawing/2014/main" id="{B1D00271-A862-4CA0-8FBC-1B16A568EAD8}"/>
                  </a:ext>
                </a:extLst>
              </p:cNvPr>
              <p:cNvSpPr txBox="1"/>
              <p:nvPr/>
            </p:nvSpPr>
            <p:spPr>
              <a:xfrm>
                <a:off x="2111073" y="2216706"/>
                <a:ext cx="894356" cy="957527"/>
              </a:xfrm>
              <a:prstGeom prst="rect">
                <a:avLst/>
              </a:prstGeom>
              <a:noFill/>
            </p:spPr>
            <p:txBody>
              <a:bodyPr wrap="none" rtlCol="0"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de-DE"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de-DE"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3 5</a:t>
                </a:r>
              </a:p>
            </p:txBody>
          </p:sp>
        </p:grpSp>
        <p:pic>
          <p:nvPicPr>
            <p:cNvPr id="70" name="Picture 4" descr="C:\Users\jovita\Desktop\Exp_VolDT_resources\01_Planung\Reizmaterial\Räumlich_Gedächtnis\5c.png">
              <a:extLst>
                <a:ext uri="{FF2B5EF4-FFF2-40B4-BE49-F238E27FC236}">
                  <a16:creationId xmlns:a16="http://schemas.microsoft.com/office/drawing/2014/main" id="{369A3EAD-E890-49FC-B33C-A324A058C11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35305" y="5517232"/>
              <a:ext cx="252000" cy="284241"/>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4" descr="C:\Users\jovita\Desktop\Exp_VolDT_resources\01_Planung\Reizmaterial\Räumlich_Gedächtnis\5c.png">
              <a:extLst>
                <a:ext uri="{FF2B5EF4-FFF2-40B4-BE49-F238E27FC236}">
                  <a16:creationId xmlns:a16="http://schemas.microsoft.com/office/drawing/2014/main" id="{F363210B-F70D-448B-82AE-7D404EC2C10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51329" y="5517232"/>
              <a:ext cx="252000" cy="284241"/>
            </a:xfrm>
            <a:prstGeom prst="rect">
              <a:avLst/>
            </a:prstGeom>
            <a:noFill/>
            <a:extLst>
              <a:ext uri="{909E8E84-426E-40DD-AFC4-6F175D3DCCD1}">
                <a14:hiddenFill xmlns:a14="http://schemas.microsoft.com/office/drawing/2010/main">
                  <a:solidFill>
                    <a:srgbClr val="FFFFFF"/>
                  </a:solidFill>
                </a14:hiddenFill>
              </a:ext>
            </a:extLst>
          </p:spPr>
        </p:pic>
      </p:grpSp>
      <p:pic>
        <p:nvPicPr>
          <p:cNvPr id="74" name="Picture 3" descr="C:\Users\jovita\Desktop\Konferenzen\TeaP_2016\Talk\Abbildungen\Hand_rechts.png">
            <a:extLst>
              <a:ext uri="{FF2B5EF4-FFF2-40B4-BE49-F238E27FC236}">
                <a16:creationId xmlns:a16="http://schemas.microsoft.com/office/drawing/2014/main" id="{2CB6B1D3-2365-40F8-9A37-A44EE3D269A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45136" y="1760078"/>
            <a:ext cx="249126" cy="320853"/>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3" descr="C:\Users\jovita\Desktop\Konferenzen\TeaP_2016\Talk\Abbildungen\Hand_rechts.png">
            <a:extLst>
              <a:ext uri="{FF2B5EF4-FFF2-40B4-BE49-F238E27FC236}">
                <a16:creationId xmlns:a16="http://schemas.microsoft.com/office/drawing/2014/main" id="{A4FC2D1C-43F1-4D02-9FD7-087547BF4D5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3094856"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76" name="Textfeld 75">
            <a:extLst>
              <a:ext uri="{FF2B5EF4-FFF2-40B4-BE49-F238E27FC236}">
                <a16:creationId xmlns:a16="http://schemas.microsoft.com/office/drawing/2014/main" id="{C4619304-8478-4BDC-9BC1-6CE8BA459E33}"/>
              </a:ext>
            </a:extLst>
          </p:cNvPr>
          <p:cNvSpPr txBox="1"/>
          <p:nvPr/>
        </p:nvSpPr>
        <p:spPr>
          <a:xfrm>
            <a:off x="2841010" y="1063229"/>
            <a:ext cx="1665845" cy="415498"/>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Encoupling</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of Processing Codes</a:t>
            </a:r>
          </a:p>
        </p:txBody>
      </p:sp>
    </p:spTree>
    <p:extLst>
      <p:ext uri="{BB962C8B-B14F-4D97-AF65-F5344CB8AC3E}">
        <p14:creationId xmlns:p14="http://schemas.microsoft.com/office/powerpoint/2010/main" val="33277240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4620EE-C2A1-489B-BD8F-0A9F2BEBFEC7}"/>
              </a:ext>
            </a:extLst>
          </p:cNvPr>
          <p:cNvSpPr>
            <a:spLocks noGrp="1"/>
          </p:cNvSpPr>
          <p:nvPr>
            <p:ph type="title"/>
          </p:nvPr>
        </p:nvSpPr>
        <p:spPr>
          <a:xfrm>
            <a:off x="755577" y="205979"/>
            <a:ext cx="8045523" cy="857250"/>
          </a:xfrm>
        </p:spPr>
        <p:txBody>
          <a:bodyPr>
            <a:normAutofit fontScale="90000"/>
          </a:bodyPr>
          <a:lstStyle/>
          <a:p>
            <a:r>
              <a:rPr lang="en-US" dirty="0"/>
              <a:t>Response Strategies – Split-Half Reliability</a:t>
            </a:r>
          </a:p>
        </p:txBody>
      </p:sp>
      <p:sp>
        <p:nvSpPr>
          <p:cNvPr id="4" name="Foliennummernplatzhalter 3">
            <a:extLst>
              <a:ext uri="{FF2B5EF4-FFF2-40B4-BE49-F238E27FC236}">
                <a16:creationId xmlns:a16="http://schemas.microsoft.com/office/drawing/2014/main" id="{EB376953-A22A-4421-B463-20DE22A33835}"/>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34</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pic>
        <p:nvPicPr>
          <p:cNvPr id="42" name="Grafik 41">
            <a:extLst>
              <a:ext uri="{FF2B5EF4-FFF2-40B4-BE49-F238E27FC236}">
                <a16:creationId xmlns:a16="http://schemas.microsoft.com/office/drawing/2014/main" id="{1271FE7B-8F57-4103-82DB-C5159F539F45}"/>
              </a:ext>
            </a:extLst>
          </p:cNvPr>
          <p:cNvPicPr>
            <a:picLocks noChangeAspect="1"/>
          </p:cNvPicPr>
          <p:nvPr/>
        </p:nvPicPr>
        <p:blipFill>
          <a:blip r:embed="rId3"/>
          <a:srcRect/>
          <a:stretch/>
        </p:blipFill>
        <p:spPr>
          <a:xfrm>
            <a:off x="2486716" y="2170726"/>
            <a:ext cx="4118072" cy="2810684"/>
          </a:xfrm>
          <a:prstGeom prst="rect">
            <a:avLst/>
          </a:prstGeom>
        </p:spPr>
      </p:pic>
      <p:sp>
        <p:nvSpPr>
          <p:cNvPr id="43" name="Textfeld 42">
            <a:extLst>
              <a:ext uri="{FF2B5EF4-FFF2-40B4-BE49-F238E27FC236}">
                <a16:creationId xmlns:a16="http://schemas.microsoft.com/office/drawing/2014/main" id="{37858348-BB3B-4B1D-956A-EEE23AE57641}"/>
              </a:ext>
            </a:extLst>
          </p:cNvPr>
          <p:cNvSpPr txBox="1"/>
          <p:nvPr/>
        </p:nvSpPr>
        <p:spPr>
          <a:xfrm>
            <a:off x="6936819" y="4524242"/>
            <a:ext cx="2031325"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Brüning, </a:t>
            </a:r>
            <a:r>
              <a:rPr kumimoji="0" lang="de-DE" sz="9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Mückstein</a:t>
            </a: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&amp; </a:t>
            </a:r>
            <a:r>
              <a:rPr kumimoji="0" lang="de-DE" sz="9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Manzey</a:t>
            </a: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2020</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nvGrpSpPr>
          <p:cNvPr id="44" name="Gruppieren 43">
            <a:extLst>
              <a:ext uri="{FF2B5EF4-FFF2-40B4-BE49-F238E27FC236}">
                <a16:creationId xmlns:a16="http://schemas.microsoft.com/office/drawing/2014/main" id="{15D23FFE-418E-4820-A2AA-A3D386E3C966}"/>
              </a:ext>
            </a:extLst>
          </p:cNvPr>
          <p:cNvGrpSpPr/>
          <p:nvPr/>
        </p:nvGrpSpPr>
        <p:grpSpPr>
          <a:xfrm>
            <a:off x="1608116" y="1471274"/>
            <a:ext cx="548640" cy="480060"/>
            <a:chOff x="7992827" y="1007806"/>
            <a:chExt cx="731520" cy="640080"/>
          </a:xfrm>
        </p:grpSpPr>
        <p:sp>
          <p:nvSpPr>
            <p:cNvPr id="45" name="Rechteck 44">
              <a:extLst>
                <a:ext uri="{FF2B5EF4-FFF2-40B4-BE49-F238E27FC236}">
                  <a16:creationId xmlns:a16="http://schemas.microsoft.com/office/drawing/2014/main" id="{6B27AF34-6C84-42FF-B974-5F92E4AB21C9}"/>
                </a:ext>
              </a:extLst>
            </p:cNvPr>
            <p:cNvSpPr>
              <a:spLocks/>
            </p:cNvSpPr>
            <p:nvPr/>
          </p:nvSpPr>
          <p:spPr>
            <a:xfrm>
              <a:off x="7992827" y="1007806"/>
              <a:ext cx="731520" cy="640080"/>
            </a:xfrm>
            <a:prstGeom prst="rect">
              <a:avLst/>
            </a:prstGeom>
            <a:solidFill>
              <a:srgbClr val="000000"/>
            </a:solidFill>
            <a:ln w="19050"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pic>
          <p:nvPicPr>
            <p:cNvPr id="46" name="Picture 4" descr="C:\Users\jovita\Desktop\Exp_VolDT_resources\01_Planung\Reizmaterial\Räumlich_Gedächtnis\5c.png">
              <a:extLst>
                <a:ext uri="{FF2B5EF4-FFF2-40B4-BE49-F238E27FC236}">
                  <a16:creationId xmlns:a16="http://schemas.microsoft.com/office/drawing/2014/main" id="{314B0EC5-E3EE-4344-8E79-8BA03980B25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72400" y="1052736"/>
              <a:ext cx="252000" cy="284241"/>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 descr="C:\Users\jovita\Desktop\Exp_VolDT_resources\01_Planung\Reizmaterial\Räumlich_Gedächtnis\5c.png">
              <a:extLst>
                <a:ext uri="{FF2B5EF4-FFF2-40B4-BE49-F238E27FC236}">
                  <a16:creationId xmlns:a16="http://schemas.microsoft.com/office/drawing/2014/main" id="{342BF499-724C-4106-823F-F97FC481D50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88424" y="1052736"/>
              <a:ext cx="252000" cy="28424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3" descr="C:\Users\jovita\Desktop\Exp_VolDT_resources\01_Planung\Reizmaterial\Räumlich_Klassifikation\50°gedreht\39_50_R.jpg">
              <a:extLst>
                <a:ext uri="{FF2B5EF4-FFF2-40B4-BE49-F238E27FC236}">
                  <a16:creationId xmlns:a16="http://schemas.microsoft.com/office/drawing/2014/main" id="{2300FEB2-EC69-4D98-98F2-AD29D984875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72400" y="1297276"/>
              <a:ext cx="432000" cy="254909"/>
            </a:xfrm>
            <a:prstGeom prst="rect">
              <a:avLst/>
            </a:prstGeom>
            <a:noFill/>
            <a:extLst>
              <a:ext uri="{909E8E84-426E-40DD-AFC4-6F175D3DCCD1}">
                <a14:hiddenFill xmlns:a14="http://schemas.microsoft.com/office/drawing/2010/main">
                  <a:solidFill>
                    <a:srgbClr val="FFFFFF"/>
                  </a:solidFill>
                </a14:hiddenFill>
              </a:ext>
            </a:extLst>
          </p:spPr>
        </p:pic>
      </p:grpSp>
      <p:pic>
        <p:nvPicPr>
          <p:cNvPr id="49" name="Picture 3" descr="C:\Users\jovita\Desktop\Konferenzen\TeaP_2016\Talk\Abbildungen\Hand_rechts.png">
            <a:extLst>
              <a:ext uri="{FF2B5EF4-FFF2-40B4-BE49-F238E27FC236}">
                <a16:creationId xmlns:a16="http://schemas.microsoft.com/office/drawing/2014/main" id="{E27B5357-C34B-4945-9197-A00242D41CB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237590" y="1760078"/>
            <a:ext cx="249126" cy="32085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3" descr="C:\Users\jovita\Desktop\Konferenzen\TeaP_2016\Talk\Abbildungen\Hand_rechts.png">
            <a:extLst>
              <a:ext uri="{FF2B5EF4-FFF2-40B4-BE49-F238E27FC236}">
                <a16:creationId xmlns:a16="http://schemas.microsoft.com/office/drawing/2014/main" id="{80423AE8-4072-49F2-B44B-0AC7503A753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1287310"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51" name="Textfeld 50">
            <a:extLst>
              <a:ext uri="{FF2B5EF4-FFF2-40B4-BE49-F238E27FC236}">
                <a16:creationId xmlns:a16="http://schemas.microsoft.com/office/drawing/2014/main" id="{71BE10AD-28E0-48C6-A5E7-16EC386ADEE1}"/>
              </a:ext>
            </a:extLst>
          </p:cNvPr>
          <p:cNvSpPr txBox="1"/>
          <p:nvPr/>
        </p:nvSpPr>
        <p:spPr>
          <a:xfrm>
            <a:off x="1102695" y="1063228"/>
            <a:ext cx="1673169" cy="415498"/>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Maximum Overlap of </a:t>
            </a:r>
            <a:r>
              <a:rPr kumimoji="0" lang="en-US" sz="1050" b="0" i="0" u="none" strike="noStrike" kern="120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Ressource</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Demands</a:t>
            </a:r>
          </a:p>
        </p:txBody>
      </p:sp>
      <p:grpSp>
        <p:nvGrpSpPr>
          <p:cNvPr id="52" name="Gruppieren 51">
            <a:extLst>
              <a:ext uri="{FF2B5EF4-FFF2-40B4-BE49-F238E27FC236}">
                <a16:creationId xmlns:a16="http://schemas.microsoft.com/office/drawing/2014/main" id="{78F299A9-D097-4DF5-A2EB-7FD88025F095}"/>
              </a:ext>
            </a:extLst>
          </p:cNvPr>
          <p:cNvGrpSpPr/>
          <p:nvPr/>
        </p:nvGrpSpPr>
        <p:grpSpPr>
          <a:xfrm>
            <a:off x="6726212" y="1493491"/>
            <a:ext cx="548640" cy="480060"/>
            <a:chOff x="1536525" y="5474191"/>
            <a:chExt cx="731520" cy="640080"/>
          </a:xfrm>
        </p:grpSpPr>
        <p:grpSp>
          <p:nvGrpSpPr>
            <p:cNvPr id="53" name="Gruppieren 52">
              <a:extLst>
                <a:ext uri="{FF2B5EF4-FFF2-40B4-BE49-F238E27FC236}">
                  <a16:creationId xmlns:a16="http://schemas.microsoft.com/office/drawing/2014/main" id="{9BDF592B-7196-4A5C-BD8D-F4F27B558687}"/>
                </a:ext>
              </a:extLst>
            </p:cNvPr>
            <p:cNvGrpSpPr>
              <a:grpSpLocks noChangeAspect="1"/>
            </p:cNvGrpSpPr>
            <p:nvPr/>
          </p:nvGrpSpPr>
          <p:grpSpPr>
            <a:xfrm>
              <a:off x="1536525" y="5474191"/>
              <a:ext cx="731520" cy="640080"/>
              <a:chOff x="1850864" y="2097426"/>
              <a:chExt cx="1422400" cy="1244599"/>
            </a:xfrm>
          </p:grpSpPr>
          <p:sp>
            <p:nvSpPr>
              <p:cNvPr id="55" name="Rechteck 54">
                <a:extLst>
                  <a:ext uri="{FF2B5EF4-FFF2-40B4-BE49-F238E27FC236}">
                    <a16:creationId xmlns:a16="http://schemas.microsoft.com/office/drawing/2014/main" id="{A268B1ED-D5FD-48D4-A501-967C7F1D598A}"/>
                  </a:ext>
                </a:extLst>
              </p:cNvPr>
              <p:cNvSpPr/>
              <p:nvPr/>
            </p:nvSpPr>
            <p:spPr>
              <a:xfrm>
                <a:off x="1850864" y="2097426"/>
                <a:ext cx="1422400" cy="1244599"/>
              </a:xfrm>
              <a:prstGeom prst="rect">
                <a:avLst/>
              </a:prstGeom>
              <a:solidFill>
                <a:srgbClr val="000000"/>
              </a:solidFill>
              <a:ln w="19050" cap="flat" cmpd="sng" algn="ctr">
                <a:noFill/>
                <a:prstDash val="solid"/>
              </a:ln>
              <a:effectLst/>
            </p:spPr>
            <p:txBody>
              <a:bodyPr rtlCol="0" anchor="ctr"/>
              <a:lstStyle/>
              <a:p>
                <a:pPr marL="0" marR="0" lvl="0" indent="0" algn="ctr" defTabSz="6858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sp>
            <p:nvSpPr>
              <p:cNvPr id="56" name="Textfeld 55">
                <a:extLst>
                  <a:ext uri="{FF2B5EF4-FFF2-40B4-BE49-F238E27FC236}">
                    <a16:creationId xmlns:a16="http://schemas.microsoft.com/office/drawing/2014/main" id="{6209787F-FFB5-4212-B181-D4F1D2E0CDA0}"/>
                  </a:ext>
                </a:extLst>
              </p:cNvPr>
              <p:cNvSpPr txBox="1"/>
              <p:nvPr/>
            </p:nvSpPr>
            <p:spPr>
              <a:xfrm>
                <a:off x="2046506" y="2586311"/>
                <a:ext cx="977477" cy="598453"/>
              </a:xfrm>
              <a:prstGeom prst="rect">
                <a:avLst/>
              </a:prstGeom>
              <a:noFill/>
            </p:spPr>
            <p:txBody>
              <a:bodyPr wrap="none" rtlCol="0" anchor="ctr">
                <a:spAutoFit/>
              </a:bodyPr>
              <a:lstStyle/>
              <a:p>
                <a:pPr marL="0" marR="0" lvl="0" indent="0" algn="ctr" defTabSz="685800" rtl="0" eaLnBrk="0" fontAlgn="base" latinLnBrk="0" hangingPunct="0">
                  <a:lnSpc>
                    <a:spcPct val="100000"/>
                  </a:lnSpc>
                  <a:spcBef>
                    <a:spcPct val="0"/>
                  </a:spcBef>
                  <a:spcAft>
                    <a:spcPct val="0"/>
                  </a:spcAft>
                  <a:buClrTx/>
                  <a:buSzTx/>
                  <a:buFontTx/>
                  <a:buNone/>
                  <a:tabLst/>
                  <a:defRPr/>
                </a:pPr>
                <a:r>
                  <a:rPr kumimoji="0" lang="de-DE" sz="9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K H</a:t>
                </a:r>
              </a:p>
            </p:txBody>
          </p:sp>
        </p:grpSp>
        <p:pic>
          <p:nvPicPr>
            <p:cNvPr id="54" name="Picture 3" descr="C:\Users\jovita\Desktop\Exp_VolDT_resources\01_Planung\Reizmaterial\Räumlich_Klassifikation\50°gedreht\39_50_R.jpg">
              <a:extLst>
                <a:ext uri="{FF2B5EF4-FFF2-40B4-BE49-F238E27FC236}">
                  <a16:creationId xmlns:a16="http://schemas.microsoft.com/office/drawing/2014/main" id="{F2FB3AD5-9D41-44AE-8C93-49B49673B80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83839" y="5486098"/>
              <a:ext cx="432000" cy="254909"/>
            </a:xfrm>
            <a:prstGeom prst="rect">
              <a:avLst/>
            </a:prstGeom>
            <a:noFill/>
            <a:extLst>
              <a:ext uri="{909E8E84-426E-40DD-AFC4-6F175D3DCCD1}">
                <a14:hiddenFill xmlns:a14="http://schemas.microsoft.com/office/drawing/2010/main">
                  <a:solidFill>
                    <a:srgbClr val="FFFFFF"/>
                  </a:solidFill>
                </a14:hiddenFill>
              </a:ext>
            </a:extLst>
          </p:spPr>
        </p:pic>
      </p:grpSp>
      <p:pic>
        <p:nvPicPr>
          <p:cNvPr id="57" name="Picture 3" descr="C:\Users\jovita\Desktop\Konferenzen\TeaP_2016\Talk\Abbildungen\Hand_rechts.png">
            <a:extLst>
              <a:ext uri="{FF2B5EF4-FFF2-40B4-BE49-F238E27FC236}">
                <a16:creationId xmlns:a16="http://schemas.microsoft.com/office/drawing/2014/main" id="{B01D82D7-3C5F-4330-A7D3-088360C42E2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6401671"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58" name="Ovale Legende 20">
            <a:extLst>
              <a:ext uri="{FF2B5EF4-FFF2-40B4-BE49-F238E27FC236}">
                <a16:creationId xmlns:a16="http://schemas.microsoft.com/office/drawing/2014/main" id="{02C4CCCF-0F22-486E-838E-5BA8AE64733A}"/>
              </a:ext>
            </a:extLst>
          </p:cNvPr>
          <p:cNvSpPr/>
          <p:nvPr/>
        </p:nvSpPr>
        <p:spPr>
          <a:xfrm flipH="1">
            <a:off x="7140545" y="1687149"/>
            <a:ext cx="666098" cy="255687"/>
          </a:xfrm>
          <a:prstGeom prst="wedgeEllipseCallout">
            <a:avLst/>
          </a:prstGeom>
          <a:solidFill>
            <a:srgbClr val="FFFFFF"/>
          </a:solidFill>
          <a:ln w="28575" cap="flat" cmpd="sng" algn="ctr">
            <a:solidFill>
              <a:srgbClr val="000000"/>
            </a:solidFill>
            <a:prstDash val="solid"/>
          </a:ln>
          <a:effectLst/>
        </p:spPr>
        <p:txBody>
          <a:bodyPr lIns="0" rIns="0"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750" b="0" i="0" u="none" strike="noStrike" kern="0" cap="none" spc="0" normalizeH="0" baseline="0" noProof="0">
                <a:ln>
                  <a:noFill/>
                </a:ln>
                <a:solidFill>
                  <a:srgbClr val="000000"/>
                </a:solidFill>
                <a:effectLst/>
                <a:uLnTx/>
                <a:uFillTx/>
                <a:latin typeface="Arial"/>
                <a:ea typeface="+mn-ea"/>
                <a:cs typeface="+mn-cs"/>
              </a:rPr>
              <a:t>“red/green”</a:t>
            </a:r>
          </a:p>
        </p:txBody>
      </p:sp>
      <p:sp>
        <p:nvSpPr>
          <p:cNvPr id="59" name="Textfeld 58">
            <a:extLst>
              <a:ext uri="{FF2B5EF4-FFF2-40B4-BE49-F238E27FC236}">
                <a16:creationId xmlns:a16="http://schemas.microsoft.com/office/drawing/2014/main" id="{610BA76A-C8FB-4F66-B4B5-BB4992A2DE4C}"/>
              </a:ext>
            </a:extLst>
          </p:cNvPr>
          <p:cNvSpPr txBox="1"/>
          <p:nvPr/>
        </p:nvSpPr>
        <p:spPr>
          <a:xfrm>
            <a:off x="6227386" y="1063229"/>
            <a:ext cx="1546294" cy="415498"/>
          </a:xfrm>
          <a:prstGeom prst="rect">
            <a:avLst/>
          </a:prstGeom>
          <a:noFill/>
        </p:spPr>
        <p:txBody>
          <a:bodyPr wrap="squar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Minimum </a:t>
            </a:r>
            <a:r>
              <a:rPr kumimoji="0" lang="en-US" sz="1050" b="0" i="0" u="none" strike="noStrike" kern="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Ressources</a:t>
            </a:r>
            <a:r>
              <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-Overlap</a:t>
            </a:r>
          </a:p>
        </p:txBody>
      </p:sp>
      <p:pic>
        <p:nvPicPr>
          <p:cNvPr id="60" name="Grafik 59">
            <a:extLst>
              <a:ext uri="{FF2B5EF4-FFF2-40B4-BE49-F238E27FC236}">
                <a16:creationId xmlns:a16="http://schemas.microsoft.com/office/drawing/2014/main" id="{3134128A-B186-4771-A6FE-82782058B682}"/>
              </a:ext>
            </a:extLst>
          </p:cNvPr>
          <p:cNvPicPr>
            <a:picLocks noChangeAspect="1"/>
          </p:cNvPicPr>
          <p:nvPr/>
        </p:nvPicPr>
        <p:blipFill>
          <a:blip r:embed="rId8" cstate="print">
            <a:biLevel thresh="25000"/>
            <a:extLst>
              <a:ext uri="{28A0092B-C50C-407E-A947-70E740481C1C}">
                <a14:useLocalDpi xmlns:a14="http://schemas.microsoft.com/office/drawing/2010/main" val="0"/>
              </a:ext>
            </a:extLst>
          </a:blip>
          <a:stretch>
            <a:fillRect/>
          </a:stretch>
        </p:blipFill>
        <p:spPr>
          <a:xfrm>
            <a:off x="7403415" y="1960993"/>
            <a:ext cx="432000" cy="216000"/>
          </a:xfrm>
          <a:prstGeom prst="rect">
            <a:avLst/>
          </a:prstGeom>
        </p:spPr>
      </p:pic>
      <p:grpSp>
        <p:nvGrpSpPr>
          <p:cNvPr id="61" name="Gruppieren 60">
            <a:extLst>
              <a:ext uri="{FF2B5EF4-FFF2-40B4-BE49-F238E27FC236}">
                <a16:creationId xmlns:a16="http://schemas.microsoft.com/office/drawing/2014/main" id="{8CB70947-5EB1-488B-8090-09BE998C654B}"/>
              </a:ext>
            </a:extLst>
          </p:cNvPr>
          <p:cNvGrpSpPr>
            <a:grpSpLocks noChangeAspect="1"/>
          </p:cNvGrpSpPr>
          <p:nvPr/>
        </p:nvGrpSpPr>
        <p:grpSpPr>
          <a:xfrm>
            <a:off x="5027712" y="1468096"/>
            <a:ext cx="548640" cy="480060"/>
            <a:chOff x="1860163" y="2066749"/>
            <a:chExt cx="1422400" cy="1244599"/>
          </a:xfrm>
        </p:grpSpPr>
        <p:sp>
          <p:nvSpPr>
            <p:cNvPr id="62" name="Rechteck 61">
              <a:extLst>
                <a:ext uri="{FF2B5EF4-FFF2-40B4-BE49-F238E27FC236}">
                  <a16:creationId xmlns:a16="http://schemas.microsoft.com/office/drawing/2014/main" id="{CFC7C5B0-67C8-4223-970C-C936AAE724C1}"/>
                </a:ext>
              </a:extLst>
            </p:cNvPr>
            <p:cNvSpPr/>
            <p:nvPr/>
          </p:nvSpPr>
          <p:spPr>
            <a:xfrm>
              <a:off x="1860163" y="2066749"/>
              <a:ext cx="1422400" cy="1244599"/>
            </a:xfrm>
            <a:prstGeom prst="rect">
              <a:avLst/>
            </a:prstGeom>
            <a:solidFill>
              <a:srgbClr val="000000"/>
            </a:solidFill>
            <a:ln w="19050" cap="flat" cmpd="sng" algn="ctr">
              <a:noFill/>
              <a:prstDash val="solid"/>
            </a:ln>
            <a:effectLst/>
          </p:spPr>
          <p:txBody>
            <a:bodyPr rtlCol="0" anchor="ctr"/>
            <a:lstStyle/>
            <a:p>
              <a:pPr marL="0" marR="0" lvl="0" indent="0" algn="ctr" defTabSz="6858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sp>
          <p:nvSpPr>
            <p:cNvPr id="63" name="Textfeld 62">
              <a:extLst>
                <a:ext uri="{FF2B5EF4-FFF2-40B4-BE49-F238E27FC236}">
                  <a16:creationId xmlns:a16="http://schemas.microsoft.com/office/drawing/2014/main" id="{1D4124B4-DCCA-476A-97E0-187C72BD05BD}"/>
                </a:ext>
              </a:extLst>
            </p:cNvPr>
            <p:cNvSpPr txBox="1"/>
            <p:nvPr/>
          </p:nvSpPr>
          <p:spPr>
            <a:xfrm>
              <a:off x="2027953" y="2201426"/>
              <a:ext cx="1060596" cy="957527"/>
            </a:xfrm>
            <a:prstGeom prst="rect">
              <a:avLst/>
            </a:prstGeom>
            <a:noFill/>
          </p:spPr>
          <p:txBody>
            <a:bodyPr wrap="none" rtlCol="0" anchor="ctr">
              <a:spAutoFit/>
            </a:bodyPr>
            <a:lstStyle/>
            <a:p>
              <a:pPr marL="0" marR="0" lvl="0" indent="0" algn="ctr" defTabSz="685800" rtl="0" eaLnBrk="0" fontAlgn="base" latinLnBrk="0" hangingPunct="0">
                <a:lnSpc>
                  <a:spcPct val="100000"/>
                </a:lnSpc>
                <a:spcBef>
                  <a:spcPct val="0"/>
                </a:spcBef>
                <a:spcAft>
                  <a:spcPct val="0"/>
                </a:spcAft>
                <a:buClrTx/>
                <a:buSzTx/>
                <a:buFontTx/>
                <a:buNone/>
                <a:tabLst/>
                <a:defRPr/>
              </a:pPr>
              <a:r>
                <a:rPr kumimoji="0" lang="de-DE" sz="9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3  5</a:t>
              </a:r>
            </a:p>
            <a:p>
              <a:pPr marL="0" marR="0" lvl="0" indent="0" algn="ctr" defTabSz="685800" rtl="0" eaLnBrk="0" fontAlgn="base" latinLnBrk="0" hangingPunct="0">
                <a:lnSpc>
                  <a:spcPct val="100000"/>
                </a:lnSpc>
                <a:spcBef>
                  <a:spcPct val="0"/>
                </a:spcBef>
                <a:spcAft>
                  <a:spcPct val="0"/>
                </a:spcAft>
                <a:buClrTx/>
                <a:buSzTx/>
                <a:buFontTx/>
                <a:buNone/>
                <a:tabLst/>
                <a:defRPr/>
              </a:pPr>
              <a:r>
                <a:rPr kumimoji="0" lang="de-DE" sz="9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K  H</a:t>
              </a:r>
            </a:p>
          </p:txBody>
        </p:sp>
      </p:grpSp>
      <p:pic>
        <p:nvPicPr>
          <p:cNvPr id="64" name="Picture 3" descr="C:\Users\jovita\Desktop\Konferenzen\TeaP_2016\Talk\Abbildungen\Hand_rechts.png">
            <a:extLst>
              <a:ext uri="{FF2B5EF4-FFF2-40B4-BE49-F238E27FC236}">
                <a16:creationId xmlns:a16="http://schemas.microsoft.com/office/drawing/2014/main" id="{10931E13-CB01-4744-A0BC-77F39D51342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4699234"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65" name="Ovale Legende 29">
            <a:extLst>
              <a:ext uri="{FF2B5EF4-FFF2-40B4-BE49-F238E27FC236}">
                <a16:creationId xmlns:a16="http://schemas.microsoft.com/office/drawing/2014/main" id="{1C0B1866-0FBD-4F50-AE45-A33D7E7C0D6C}"/>
              </a:ext>
            </a:extLst>
          </p:cNvPr>
          <p:cNvSpPr/>
          <p:nvPr/>
        </p:nvSpPr>
        <p:spPr>
          <a:xfrm flipH="1">
            <a:off x="5518275" y="1688377"/>
            <a:ext cx="724175" cy="254459"/>
          </a:xfrm>
          <a:prstGeom prst="wedgeEllipseCallout">
            <a:avLst/>
          </a:prstGeom>
          <a:solidFill>
            <a:srgbClr val="FFFFFF"/>
          </a:solidFill>
          <a:ln w="28575" cap="flat" cmpd="sng" algn="ctr">
            <a:solidFill>
              <a:srgbClr val="000000"/>
            </a:solidFill>
            <a:prstDash val="solid"/>
          </a:ln>
          <a:effectLst/>
        </p:spPr>
        <p:txBody>
          <a:bodyPr lIns="0" rIns="0"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750" b="0" i="0" u="none" strike="noStrike" kern="0" cap="none" spc="0" normalizeH="0" baseline="0" noProof="0">
                <a:ln>
                  <a:noFill/>
                </a:ln>
                <a:solidFill>
                  <a:srgbClr val="000000"/>
                </a:solidFill>
                <a:effectLst/>
                <a:uLnTx/>
                <a:uFillTx/>
                <a:latin typeface="Arial"/>
                <a:ea typeface="+mn-ea"/>
                <a:cs typeface="+mn-cs"/>
              </a:rPr>
              <a:t>“red/green”</a:t>
            </a:r>
          </a:p>
        </p:txBody>
      </p:sp>
      <p:sp>
        <p:nvSpPr>
          <p:cNvPr id="66" name="Textfeld 65">
            <a:extLst>
              <a:ext uri="{FF2B5EF4-FFF2-40B4-BE49-F238E27FC236}">
                <a16:creationId xmlns:a16="http://schemas.microsoft.com/office/drawing/2014/main" id="{B9FB6776-C079-4518-AD0D-3D8420E6399C}"/>
              </a:ext>
            </a:extLst>
          </p:cNvPr>
          <p:cNvSpPr txBox="1"/>
          <p:nvPr/>
        </p:nvSpPr>
        <p:spPr>
          <a:xfrm>
            <a:off x="4572000" y="1063228"/>
            <a:ext cx="1517890" cy="415498"/>
          </a:xfrm>
          <a:prstGeom prst="rect">
            <a:avLst/>
          </a:prstGeom>
          <a:noFill/>
        </p:spPr>
        <p:txBody>
          <a:bodyPr wrap="squar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Encoupling</a:t>
            </a:r>
            <a:r>
              <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of Response Modality</a:t>
            </a:r>
          </a:p>
        </p:txBody>
      </p:sp>
      <p:pic>
        <p:nvPicPr>
          <p:cNvPr id="67" name="Grafik 66">
            <a:extLst>
              <a:ext uri="{FF2B5EF4-FFF2-40B4-BE49-F238E27FC236}">
                <a16:creationId xmlns:a16="http://schemas.microsoft.com/office/drawing/2014/main" id="{A3BA5F4E-2565-4E77-BE5B-58C5498C267F}"/>
              </a:ext>
            </a:extLst>
          </p:cNvPr>
          <p:cNvPicPr>
            <a:picLocks noChangeAspect="1"/>
          </p:cNvPicPr>
          <p:nvPr/>
        </p:nvPicPr>
        <p:blipFill>
          <a:blip r:embed="rId8" cstate="print">
            <a:biLevel thresh="25000"/>
            <a:extLst>
              <a:ext uri="{28A0092B-C50C-407E-A947-70E740481C1C}">
                <a14:useLocalDpi xmlns:a14="http://schemas.microsoft.com/office/drawing/2010/main" val="0"/>
              </a:ext>
            </a:extLst>
          </a:blip>
          <a:stretch>
            <a:fillRect/>
          </a:stretch>
        </p:blipFill>
        <p:spPr>
          <a:xfrm>
            <a:off x="5701327" y="1960993"/>
            <a:ext cx="432000" cy="216000"/>
          </a:xfrm>
          <a:prstGeom prst="rect">
            <a:avLst/>
          </a:prstGeom>
        </p:spPr>
      </p:pic>
      <p:grpSp>
        <p:nvGrpSpPr>
          <p:cNvPr id="68" name="Gruppieren 67">
            <a:extLst>
              <a:ext uri="{FF2B5EF4-FFF2-40B4-BE49-F238E27FC236}">
                <a16:creationId xmlns:a16="http://schemas.microsoft.com/office/drawing/2014/main" id="{5490C844-BE83-4CC2-9F58-E24071C2C9E0}"/>
              </a:ext>
            </a:extLst>
          </p:cNvPr>
          <p:cNvGrpSpPr/>
          <p:nvPr/>
        </p:nvGrpSpPr>
        <p:grpSpPr>
          <a:xfrm>
            <a:off x="3421508" y="1468096"/>
            <a:ext cx="548640" cy="480060"/>
            <a:chOff x="6666462" y="5479459"/>
            <a:chExt cx="731520" cy="640080"/>
          </a:xfrm>
        </p:grpSpPr>
        <p:grpSp>
          <p:nvGrpSpPr>
            <p:cNvPr id="69" name="Gruppieren 68">
              <a:extLst>
                <a:ext uri="{FF2B5EF4-FFF2-40B4-BE49-F238E27FC236}">
                  <a16:creationId xmlns:a16="http://schemas.microsoft.com/office/drawing/2014/main" id="{BCD2B099-E199-4DCB-A44A-68E15F6CEEF8}"/>
                </a:ext>
              </a:extLst>
            </p:cNvPr>
            <p:cNvGrpSpPr>
              <a:grpSpLocks noChangeAspect="1"/>
            </p:cNvGrpSpPr>
            <p:nvPr/>
          </p:nvGrpSpPr>
          <p:grpSpPr>
            <a:xfrm>
              <a:off x="6666462" y="5479459"/>
              <a:ext cx="731520" cy="640080"/>
              <a:chOff x="1800213" y="2107672"/>
              <a:chExt cx="1422400" cy="1244599"/>
            </a:xfrm>
          </p:grpSpPr>
          <p:sp>
            <p:nvSpPr>
              <p:cNvPr id="72" name="Rechteck 71">
                <a:extLst>
                  <a:ext uri="{FF2B5EF4-FFF2-40B4-BE49-F238E27FC236}">
                    <a16:creationId xmlns:a16="http://schemas.microsoft.com/office/drawing/2014/main" id="{2CBBCB52-4E4E-4D04-A9CE-B7C6D656F783}"/>
                  </a:ext>
                </a:extLst>
              </p:cNvPr>
              <p:cNvSpPr/>
              <p:nvPr/>
            </p:nvSpPr>
            <p:spPr>
              <a:xfrm>
                <a:off x="1800213" y="2107672"/>
                <a:ext cx="1422400" cy="1244599"/>
              </a:xfrm>
              <a:prstGeom prst="rect">
                <a:avLst/>
              </a:prstGeom>
              <a:solidFill>
                <a:srgbClr val="000000"/>
              </a:solidFill>
              <a:ln w="19050"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sp>
            <p:nvSpPr>
              <p:cNvPr id="73" name="Textfeld 72">
                <a:extLst>
                  <a:ext uri="{FF2B5EF4-FFF2-40B4-BE49-F238E27FC236}">
                    <a16:creationId xmlns:a16="http://schemas.microsoft.com/office/drawing/2014/main" id="{B1D00271-A862-4CA0-8FBC-1B16A568EAD8}"/>
                  </a:ext>
                </a:extLst>
              </p:cNvPr>
              <p:cNvSpPr txBox="1"/>
              <p:nvPr/>
            </p:nvSpPr>
            <p:spPr>
              <a:xfrm>
                <a:off x="2111073" y="2216706"/>
                <a:ext cx="894356" cy="957527"/>
              </a:xfrm>
              <a:prstGeom prst="rect">
                <a:avLst/>
              </a:prstGeom>
              <a:noFill/>
            </p:spPr>
            <p:txBody>
              <a:bodyPr wrap="none" rtlCol="0"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de-DE"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de-DE"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3 5</a:t>
                </a:r>
              </a:p>
            </p:txBody>
          </p:sp>
        </p:grpSp>
        <p:pic>
          <p:nvPicPr>
            <p:cNvPr id="70" name="Picture 4" descr="C:\Users\jovita\Desktop\Exp_VolDT_resources\01_Planung\Reizmaterial\Räumlich_Gedächtnis\5c.png">
              <a:extLst>
                <a:ext uri="{FF2B5EF4-FFF2-40B4-BE49-F238E27FC236}">
                  <a16:creationId xmlns:a16="http://schemas.microsoft.com/office/drawing/2014/main" id="{369A3EAD-E890-49FC-B33C-A324A058C11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35305" y="5517232"/>
              <a:ext cx="252000" cy="284241"/>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4" descr="C:\Users\jovita\Desktop\Exp_VolDT_resources\01_Planung\Reizmaterial\Räumlich_Gedächtnis\5c.png">
              <a:extLst>
                <a:ext uri="{FF2B5EF4-FFF2-40B4-BE49-F238E27FC236}">
                  <a16:creationId xmlns:a16="http://schemas.microsoft.com/office/drawing/2014/main" id="{F363210B-F70D-448B-82AE-7D404EC2C10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51329" y="5517232"/>
              <a:ext cx="252000" cy="284241"/>
            </a:xfrm>
            <a:prstGeom prst="rect">
              <a:avLst/>
            </a:prstGeom>
            <a:noFill/>
            <a:extLst>
              <a:ext uri="{909E8E84-426E-40DD-AFC4-6F175D3DCCD1}">
                <a14:hiddenFill xmlns:a14="http://schemas.microsoft.com/office/drawing/2010/main">
                  <a:solidFill>
                    <a:srgbClr val="FFFFFF"/>
                  </a:solidFill>
                </a14:hiddenFill>
              </a:ext>
            </a:extLst>
          </p:spPr>
        </p:pic>
      </p:grpSp>
      <p:pic>
        <p:nvPicPr>
          <p:cNvPr id="74" name="Picture 3" descr="C:\Users\jovita\Desktop\Konferenzen\TeaP_2016\Talk\Abbildungen\Hand_rechts.png">
            <a:extLst>
              <a:ext uri="{FF2B5EF4-FFF2-40B4-BE49-F238E27FC236}">
                <a16:creationId xmlns:a16="http://schemas.microsoft.com/office/drawing/2014/main" id="{2CB6B1D3-2365-40F8-9A37-A44EE3D269A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45136" y="1760078"/>
            <a:ext cx="249126" cy="320853"/>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3" descr="C:\Users\jovita\Desktop\Konferenzen\TeaP_2016\Talk\Abbildungen\Hand_rechts.png">
            <a:extLst>
              <a:ext uri="{FF2B5EF4-FFF2-40B4-BE49-F238E27FC236}">
                <a16:creationId xmlns:a16="http://schemas.microsoft.com/office/drawing/2014/main" id="{A4FC2D1C-43F1-4D02-9FD7-087547BF4D5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3094856"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76" name="Textfeld 75">
            <a:extLst>
              <a:ext uri="{FF2B5EF4-FFF2-40B4-BE49-F238E27FC236}">
                <a16:creationId xmlns:a16="http://schemas.microsoft.com/office/drawing/2014/main" id="{C4619304-8478-4BDC-9BC1-6CE8BA459E33}"/>
              </a:ext>
            </a:extLst>
          </p:cNvPr>
          <p:cNvSpPr txBox="1"/>
          <p:nvPr/>
        </p:nvSpPr>
        <p:spPr>
          <a:xfrm>
            <a:off x="2841010" y="1063229"/>
            <a:ext cx="1665845" cy="415498"/>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Encoupling</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of Processing Codes</a:t>
            </a:r>
          </a:p>
        </p:txBody>
      </p:sp>
    </p:spTree>
    <p:extLst>
      <p:ext uri="{BB962C8B-B14F-4D97-AF65-F5344CB8AC3E}">
        <p14:creationId xmlns:p14="http://schemas.microsoft.com/office/powerpoint/2010/main" val="35161424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1ACCFA-8475-4AA9-92A9-ED4E31BD34C3}"/>
              </a:ext>
            </a:extLst>
          </p:cNvPr>
          <p:cNvSpPr>
            <a:spLocks noGrp="1"/>
          </p:cNvSpPr>
          <p:nvPr>
            <p:ph type="title"/>
          </p:nvPr>
        </p:nvSpPr>
        <p:spPr/>
        <p:txBody>
          <a:bodyPr/>
          <a:lstStyle/>
          <a:p>
            <a:r>
              <a:rPr lang="en-US"/>
              <a:t>Response Strategies – Efficiency</a:t>
            </a:r>
          </a:p>
        </p:txBody>
      </p:sp>
      <p:sp>
        <p:nvSpPr>
          <p:cNvPr id="4" name="Foliennummernplatzhalter 3">
            <a:extLst>
              <a:ext uri="{FF2B5EF4-FFF2-40B4-BE49-F238E27FC236}">
                <a16:creationId xmlns:a16="http://schemas.microsoft.com/office/drawing/2014/main" id="{529D7172-5454-4C58-947D-DC38922F5749}"/>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35</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grpSp>
        <p:nvGrpSpPr>
          <p:cNvPr id="5" name="Gruppieren 4">
            <a:extLst>
              <a:ext uri="{FF2B5EF4-FFF2-40B4-BE49-F238E27FC236}">
                <a16:creationId xmlns:a16="http://schemas.microsoft.com/office/drawing/2014/main" id="{03C0F5E9-E97C-46FA-9723-4D67501D10A5}"/>
              </a:ext>
            </a:extLst>
          </p:cNvPr>
          <p:cNvGrpSpPr/>
          <p:nvPr/>
        </p:nvGrpSpPr>
        <p:grpSpPr>
          <a:xfrm>
            <a:off x="1608116" y="1471274"/>
            <a:ext cx="548640" cy="480060"/>
            <a:chOff x="7992827" y="1007806"/>
            <a:chExt cx="731520" cy="640080"/>
          </a:xfrm>
        </p:grpSpPr>
        <p:sp>
          <p:nvSpPr>
            <p:cNvPr id="6" name="Rechteck 5">
              <a:extLst>
                <a:ext uri="{FF2B5EF4-FFF2-40B4-BE49-F238E27FC236}">
                  <a16:creationId xmlns:a16="http://schemas.microsoft.com/office/drawing/2014/main" id="{F30D1B9A-A9E4-4AE7-85D0-56791EB9B443}"/>
                </a:ext>
              </a:extLst>
            </p:cNvPr>
            <p:cNvSpPr>
              <a:spLocks/>
            </p:cNvSpPr>
            <p:nvPr/>
          </p:nvSpPr>
          <p:spPr>
            <a:xfrm>
              <a:off x="7992827" y="1007806"/>
              <a:ext cx="731520" cy="640080"/>
            </a:xfrm>
            <a:prstGeom prst="rect">
              <a:avLst/>
            </a:prstGeom>
            <a:solidFill>
              <a:srgbClr val="000000"/>
            </a:solidFill>
            <a:ln w="19050"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pic>
          <p:nvPicPr>
            <p:cNvPr id="7" name="Picture 4" descr="C:\Users\jovita\Desktop\Exp_VolDT_resources\01_Planung\Reizmaterial\Räumlich_Gedächtnis\5c.png">
              <a:extLst>
                <a:ext uri="{FF2B5EF4-FFF2-40B4-BE49-F238E27FC236}">
                  <a16:creationId xmlns:a16="http://schemas.microsoft.com/office/drawing/2014/main" id="{B0A7535F-776D-4F8B-ABBE-4C8BA0D281C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72400" y="1052736"/>
              <a:ext cx="252000" cy="28424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C:\Users\jovita\Desktop\Exp_VolDT_resources\01_Planung\Reizmaterial\Räumlich_Gedächtnis\5c.png">
              <a:extLst>
                <a:ext uri="{FF2B5EF4-FFF2-40B4-BE49-F238E27FC236}">
                  <a16:creationId xmlns:a16="http://schemas.microsoft.com/office/drawing/2014/main" id="{4698859E-70D8-4925-8104-9D7E95DB6B4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8424" y="1052736"/>
              <a:ext cx="252000" cy="2842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3" descr="C:\Users\jovita\Desktop\Exp_VolDT_resources\01_Planung\Reizmaterial\Räumlich_Klassifikation\50°gedreht\39_50_R.jpg">
              <a:extLst>
                <a:ext uri="{FF2B5EF4-FFF2-40B4-BE49-F238E27FC236}">
                  <a16:creationId xmlns:a16="http://schemas.microsoft.com/office/drawing/2014/main" id="{9CC4CA6C-32DC-47E3-8C23-3B1EF4D72E6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72400" y="1297276"/>
              <a:ext cx="432000" cy="254909"/>
            </a:xfrm>
            <a:prstGeom prst="rect">
              <a:avLst/>
            </a:prstGeom>
            <a:noFill/>
            <a:extLst>
              <a:ext uri="{909E8E84-426E-40DD-AFC4-6F175D3DCCD1}">
                <a14:hiddenFill xmlns:a14="http://schemas.microsoft.com/office/drawing/2010/main">
                  <a:solidFill>
                    <a:srgbClr val="FFFFFF"/>
                  </a:solidFill>
                </a14:hiddenFill>
              </a:ext>
            </a:extLst>
          </p:spPr>
        </p:pic>
      </p:grpSp>
      <p:pic>
        <p:nvPicPr>
          <p:cNvPr id="10" name="Picture 3" descr="C:\Users\jovita\Desktop\Konferenzen\TeaP_2016\Talk\Abbildungen\Hand_rechts.png">
            <a:extLst>
              <a:ext uri="{FF2B5EF4-FFF2-40B4-BE49-F238E27FC236}">
                <a16:creationId xmlns:a16="http://schemas.microsoft.com/office/drawing/2014/main" id="{868FA729-FC96-4C23-BAD1-3E77A57B9F9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37590" y="1760078"/>
            <a:ext cx="249126" cy="32085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3" descr="C:\Users\jovita\Desktop\Konferenzen\TeaP_2016\Talk\Abbildungen\Hand_rechts.png">
            <a:extLst>
              <a:ext uri="{FF2B5EF4-FFF2-40B4-BE49-F238E27FC236}">
                <a16:creationId xmlns:a16="http://schemas.microsoft.com/office/drawing/2014/main" id="{046B93AA-9366-4245-B324-565E2CB24A5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H="1">
            <a:off x="1287310"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12" name="Textfeld 11">
            <a:extLst>
              <a:ext uri="{FF2B5EF4-FFF2-40B4-BE49-F238E27FC236}">
                <a16:creationId xmlns:a16="http://schemas.microsoft.com/office/drawing/2014/main" id="{21A843BC-5A6A-42CA-BAA6-3EA307A621C9}"/>
              </a:ext>
            </a:extLst>
          </p:cNvPr>
          <p:cNvSpPr txBox="1"/>
          <p:nvPr/>
        </p:nvSpPr>
        <p:spPr>
          <a:xfrm>
            <a:off x="1102695" y="1063228"/>
            <a:ext cx="1673169" cy="415498"/>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Maximum Overlap of </a:t>
            </a:r>
            <a:r>
              <a:rPr kumimoji="0" lang="en-US" sz="1050" b="0" i="0" u="none" strike="noStrike" kern="120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Ressource</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Demands</a:t>
            </a:r>
          </a:p>
        </p:txBody>
      </p:sp>
      <p:grpSp>
        <p:nvGrpSpPr>
          <p:cNvPr id="13" name="Gruppieren 12">
            <a:extLst>
              <a:ext uri="{FF2B5EF4-FFF2-40B4-BE49-F238E27FC236}">
                <a16:creationId xmlns:a16="http://schemas.microsoft.com/office/drawing/2014/main" id="{6BA8633A-3331-4164-997A-7D60297944E4}"/>
              </a:ext>
            </a:extLst>
          </p:cNvPr>
          <p:cNvGrpSpPr/>
          <p:nvPr/>
        </p:nvGrpSpPr>
        <p:grpSpPr>
          <a:xfrm>
            <a:off x="6726212" y="1493491"/>
            <a:ext cx="548640" cy="480060"/>
            <a:chOff x="1536525" y="5474191"/>
            <a:chExt cx="731520" cy="640080"/>
          </a:xfrm>
        </p:grpSpPr>
        <p:grpSp>
          <p:nvGrpSpPr>
            <p:cNvPr id="14" name="Gruppieren 13">
              <a:extLst>
                <a:ext uri="{FF2B5EF4-FFF2-40B4-BE49-F238E27FC236}">
                  <a16:creationId xmlns:a16="http://schemas.microsoft.com/office/drawing/2014/main" id="{CC4E4523-A24F-4C20-8EF9-ADA33A293A6B}"/>
                </a:ext>
              </a:extLst>
            </p:cNvPr>
            <p:cNvGrpSpPr>
              <a:grpSpLocks noChangeAspect="1"/>
            </p:cNvGrpSpPr>
            <p:nvPr/>
          </p:nvGrpSpPr>
          <p:grpSpPr>
            <a:xfrm>
              <a:off x="1536525" y="5474191"/>
              <a:ext cx="731520" cy="640080"/>
              <a:chOff x="1850864" y="2097426"/>
              <a:chExt cx="1422400" cy="1244599"/>
            </a:xfrm>
          </p:grpSpPr>
          <p:sp>
            <p:nvSpPr>
              <p:cNvPr id="16" name="Rechteck 15">
                <a:extLst>
                  <a:ext uri="{FF2B5EF4-FFF2-40B4-BE49-F238E27FC236}">
                    <a16:creationId xmlns:a16="http://schemas.microsoft.com/office/drawing/2014/main" id="{2FF4B66B-92C2-4105-A1EA-372870AA0942}"/>
                  </a:ext>
                </a:extLst>
              </p:cNvPr>
              <p:cNvSpPr/>
              <p:nvPr/>
            </p:nvSpPr>
            <p:spPr>
              <a:xfrm>
                <a:off x="1850864" y="2097426"/>
                <a:ext cx="1422400" cy="1244599"/>
              </a:xfrm>
              <a:prstGeom prst="rect">
                <a:avLst/>
              </a:prstGeom>
              <a:solidFill>
                <a:srgbClr val="000000"/>
              </a:solidFill>
              <a:ln w="19050" cap="flat" cmpd="sng" algn="ctr">
                <a:noFill/>
                <a:prstDash val="solid"/>
              </a:ln>
              <a:effectLst/>
            </p:spPr>
            <p:txBody>
              <a:bodyPr rtlCol="0" anchor="ctr"/>
              <a:lstStyle/>
              <a:p>
                <a:pPr marL="0" marR="0" lvl="0" indent="0" algn="ctr" defTabSz="6858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sp>
            <p:nvSpPr>
              <p:cNvPr id="17" name="Textfeld 16">
                <a:extLst>
                  <a:ext uri="{FF2B5EF4-FFF2-40B4-BE49-F238E27FC236}">
                    <a16:creationId xmlns:a16="http://schemas.microsoft.com/office/drawing/2014/main" id="{4234781C-F28C-4FBA-A288-44837E19E0F8}"/>
                  </a:ext>
                </a:extLst>
              </p:cNvPr>
              <p:cNvSpPr txBox="1"/>
              <p:nvPr/>
            </p:nvSpPr>
            <p:spPr>
              <a:xfrm>
                <a:off x="2046506" y="2586311"/>
                <a:ext cx="977477" cy="598453"/>
              </a:xfrm>
              <a:prstGeom prst="rect">
                <a:avLst/>
              </a:prstGeom>
              <a:noFill/>
            </p:spPr>
            <p:txBody>
              <a:bodyPr wrap="none" rtlCol="0" anchor="ctr">
                <a:spAutoFit/>
              </a:bodyPr>
              <a:lstStyle/>
              <a:p>
                <a:pPr marL="0" marR="0" lvl="0" indent="0" algn="ctr" defTabSz="685800" rtl="0" eaLnBrk="0" fontAlgn="base" latinLnBrk="0" hangingPunct="0">
                  <a:lnSpc>
                    <a:spcPct val="100000"/>
                  </a:lnSpc>
                  <a:spcBef>
                    <a:spcPct val="0"/>
                  </a:spcBef>
                  <a:spcAft>
                    <a:spcPct val="0"/>
                  </a:spcAft>
                  <a:buClrTx/>
                  <a:buSzTx/>
                  <a:buFontTx/>
                  <a:buNone/>
                  <a:tabLst/>
                  <a:defRPr/>
                </a:pPr>
                <a:r>
                  <a:rPr kumimoji="0" lang="de-DE" sz="9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K H</a:t>
                </a:r>
              </a:p>
            </p:txBody>
          </p:sp>
        </p:grpSp>
        <p:pic>
          <p:nvPicPr>
            <p:cNvPr id="15" name="Picture 3" descr="C:\Users\jovita\Desktop\Exp_VolDT_resources\01_Planung\Reizmaterial\Räumlich_Klassifikation\50°gedreht\39_50_R.jpg">
              <a:extLst>
                <a:ext uri="{FF2B5EF4-FFF2-40B4-BE49-F238E27FC236}">
                  <a16:creationId xmlns:a16="http://schemas.microsoft.com/office/drawing/2014/main" id="{6C3F1EDA-12D4-4BFB-A620-533A21AA96E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83839" y="5486098"/>
              <a:ext cx="432000" cy="254909"/>
            </a:xfrm>
            <a:prstGeom prst="rect">
              <a:avLst/>
            </a:prstGeom>
            <a:noFill/>
            <a:extLst>
              <a:ext uri="{909E8E84-426E-40DD-AFC4-6F175D3DCCD1}">
                <a14:hiddenFill xmlns:a14="http://schemas.microsoft.com/office/drawing/2010/main">
                  <a:solidFill>
                    <a:srgbClr val="FFFFFF"/>
                  </a:solidFill>
                </a14:hiddenFill>
              </a:ext>
            </a:extLst>
          </p:spPr>
        </p:pic>
      </p:grpSp>
      <p:pic>
        <p:nvPicPr>
          <p:cNvPr id="18" name="Picture 3" descr="C:\Users\jovita\Desktop\Konferenzen\TeaP_2016\Talk\Abbildungen\Hand_rechts.png">
            <a:extLst>
              <a:ext uri="{FF2B5EF4-FFF2-40B4-BE49-F238E27FC236}">
                <a16:creationId xmlns:a16="http://schemas.microsoft.com/office/drawing/2014/main" id="{0B5F8535-E8D3-4F54-B689-7B83161B87A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H="1">
            <a:off x="6401671"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19" name="Ovale Legende 20">
            <a:extLst>
              <a:ext uri="{FF2B5EF4-FFF2-40B4-BE49-F238E27FC236}">
                <a16:creationId xmlns:a16="http://schemas.microsoft.com/office/drawing/2014/main" id="{1758AFA5-A366-4935-B898-603A23B97D31}"/>
              </a:ext>
            </a:extLst>
          </p:cNvPr>
          <p:cNvSpPr/>
          <p:nvPr/>
        </p:nvSpPr>
        <p:spPr>
          <a:xfrm flipH="1">
            <a:off x="7140545" y="1687149"/>
            <a:ext cx="666098" cy="255687"/>
          </a:xfrm>
          <a:prstGeom prst="wedgeEllipseCallout">
            <a:avLst/>
          </a:prstGeom>
          <a:solidFill>
            <a:srgbClr val="FFFFFF"/>
          </a:solidFill>
          <a:ln w="28575" cap="flat" cmpd="sng" algn="ctr">
            <a:solidFill>
              <a:srgbClr val="000000"/>
            </a:solidFill>
            <a:prstDash val="solid"/>
          </a:ln>
          <a:effectLst/>
        </p:spPr>
        <p:txBody>
          <a:bodyPr lIns="0" rIns="0"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750" b="0" i="0" u="none" strike="noStrike" kern="0" cap="none" spc="0" normalizeH="0" baseline="0" noProof="0">
                <a:ln>
                  <a:noFill/>
                </a:ln>
                <a:solidFill>
                  <a:srgbClr val="000000"/>
                </a:solidFill>
                <a:effectLst/>
                <a:uLnTx/>
                <a:uFillTx/>
                <a:latin typeface="Arial"/>
                <a:ea typeface="+mn-ea"/>
                <a:cs typeface="+mn-cs"/>
              </a:rPr>
              <a:t>“red/green”</a:t>
            </a:r>
          </a:p>
        </p:txBody>
      </p:sp>
      <p:sp>
        <p:nvSpPr>
          <p:cNvPr id="20" name="Textfeld 19">
            <a:extLst>
              <a:ext uri="{FF2B5EF4-FFF2-40B4-BE49-F238E27FC236}">
                <a16:creationId xmlns:a16="http://schemas.microsoft.com/office/drawing/2014/main" id="{2B8B7BFF-2072-4EFF-A865-76F18516C2CC}"/>
              </a:ext>
            </a:extLst>
          </p:cNvPr>
          <p:cNvSpPr txBox="1"/>
          <p:nvPr/>
        </p:nvSpPr>
        <p:spPr>
          <a:xfrm>
            <a:off x="6227386" y="1063229"/>
            <a:ext cx="1546294" cy="415498"/>
          </a:xfrm>
          <a:prstGeom prst="rect">
            <a:avLst/>
          </a:prstGeom>
          <a:noFill/>
        </p:spPr>
        <p:txBody>
          <a:bodyPr wrap="squar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Minimum </a:t>
            </a:r>
            <a:r>
              <a:rPr kumimoji="0" lang="en-US" sz="1050" b="0" i="0" u="none" strike="noStrike" kern="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Ressources</a:t>
            </a:r>
            <a:r>
              <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-Overlap</a:t>
            </a:r>
          </a:p>
        </p:txBody>
      </p:sp>
      <p:pic>
        <p:nvPicPr>
          <p:cNvPr id="21" name="Grafik 20">
            <a:extLst>
              <a:ext uri="{FF2B5EF4-FFF2-40B4-BE49-F238E27FC236}">
                <a16:creationId xmlns:a16="http://schemas.microsoft.com/office/drawing/2014/main" id="{B77B761B-4C77-48F8-A737-215F2DF24649}"/>
              </a:ext>
            </a:extLst>
          </p:cNvPr>
          <p:cNvPicPr>
            <a:picLocks noChangeAspect="1"/>
          </p:cNvPicPr>
          <p:nvPr/>
        </p:nvPicPr>
        <p:blipFill>
          <a:blip r:embed="rId7" cstate="print">
            <a:biLevel thresh="25000"/>
            <a:extLst>
              <a:ext uri="{28A0092B-C50C-407E-A947-70E740481C1C}">
                <a14:useLocalDpi xmlns:a14="http://schemas.microsoft.com/office/drawing/2010/main" val="0"/>
              </a:ext>
            </a:extLst>
          </a:blip>
          <a:stretch>
            <a:fillRect/>
          </a:stretch>
        </p:blipFill>
        <p:spPr>
          <a:xfrm>
            <a:off x="7403415" y="1960993"/>
            <a:ext cx="432000" cy="216000"/>
          </a:xfrm>
          <a:prstGeom prst="rect">
            <a:avLst/>
          </a:prstGeom>
        </p:spPr>
      </p:pic>
      <p:grpSp>
        <p:nvGrpSpPr>
          <p:cNvPr id="22" name="Gruppieren 21">
            <a:extLst>
              <a:ext uri="{FF2B5EF4-FFF2-40B4-BE49-F238E27FC236}">
                <a16:creationId xmlns:a16="http://schemas.microsoft.com/office/drawing/2014/main" id="{84648416-31CB-4D1C-BE6C-7360433C7E02}"/>
              </a:ext>
            </a:extLst>
          </p:cNvPr>
          <p:cNvGrpSpPr>
            <a:grpSpLocks noChangeAspect="1"/>
          </p:cNvGrpSpPr>
          <p:nvPr/>
        </p:nvGrpSpPr>
        <p:grpSpPr>
          <a:xfrm>
            <a:off x="5027712" y="1468096"/>
            <a:ext cx="548640" cy="480060"/>
            <a:chOff x="1860163" y="2066749"/>
            <a:chExt cx="1422400" cy="1244599"/>
          </a:xfrm>
        </p:grpSpPr>
        <p:sp>
          <p:nvSpPr>
            <p:cNvPr id="23" name="Rechteck 22">
              <a:extLst>
                <a:ext uri="{FF2B5EF4-FFF2-40B4-BE49-F238E27FC236}">
                  <a16:creationId xmlns:a16="http://schemas.microsoft.com/office/drawing/2014/main" id="{5976946F-FD39-416A-B8CC-ADA0E8F10A55}"/>
                </a:ext>
              </a:extLst>
            </p:cNvPr>
            <p:cNvSpPr/>
            <p:nvPr/>
          </p:nvSpPr>
          <p:spPr>
            <a:xfrm>
              <a:off x="1860163" y="2066749"/>
              <a:ext cx="1422400" cy="1244599"/>
            </a:xfrm>
            <a:prstGeom prst="rect">
              <a:avLst/>
            </a:prstGeom>
            <a:solidFill>
              <a:srgbClr val="000000"/>
            </a:solidFill>
            <a:ln w="19050" cap="flat" cmpd="sng" algn="ctr">
              <a:noFill/>
              <a:prstDash val="solid"/>
            </a:ln>
            <a:effectLst/>
          </p:spPr>
          <p:txBody>
            <a:bodyPr rtlCol="0" anchor="ctr"/>
            <a:lstStyle/>
            <a:p>
              <a:pPr marL="0" marR="0" lvl="0" indent="0" algn="ctr" defTabSz="6858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sp>
          <p:nvSpPr>
            <p:cNvPr id="24" name="Textfeld 23">
              <a:extLst>
                <a:ext uri="{FF2B5EF4-FFF2-40B4-BE49-F238E27FC236}">
                  <a16:creationId xmlns:a16="http://schemas.microsoft.com/office/drawing/2014/main" id="{9BE45605-9F2D-4FB3-9DA7-613045E49D6E}"/>
                </a:ext>
              </a:extLst>
            </p:cNvPr>
            <p:cNvSpPr txBox="1"/>
            <p:nvPr/>
          </p:nvSpPr>
          <p:spPr>
            <a:xfrm>
              <a:off x="2027953" y="2201426"/>
              <a:ext cx="1060596" cy="957527"/>
            </a:xfrm>
            <a:prstGeom prst="rect">
              <a:avLst/>
            </a:prstGeom>
            <a:noFill/>
          </p:spPr>
          <p:txBody>
            <a:bodyPr wrap="none" rtlCol="0" anchor="ctr">
              <a:spAutoFit/>
            </a:bodyPr>
            <a:lstStyle/>
            <a:p>
              <a:pPr marL="0" marR="0" lvl="0" indent="0" algn="ctr" defTabSz="685800" rtl="0" eaLnBrk="0" fontAlgn="base" latinLnBrk="0" hangingPunct="0">
                <a:lnSpc>
                  <a:spcPct val="100000"/>
                </a:lnSpc>
                <a:spcBef>
                  <a:spcPct val="0"/>
                </a:spcBef>
                <a:spcAft>
                  <a:spcPct val="0"/>
                </a:spcAft>
                <a:buClrTx/>
                <a:buSzTx/>
                <a:buFontTx/>
                <a:buNone/>
                <a:tabLst/>
                <a:defRPr/>
              </a:pPr>
              <a:r>
                <a:rPr kumimoji="0" lang="de-DE" sz="9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3  5</a:t>
              </a:r>
            </a:p>
            <a:p>
              <a:pPr marL="0" marR="0" lvl="0" indent="0" algn="ctr" defTabSz="685800" rtl="0" eaLnBrk="0" fontAlgn="base" latinLnBrk="0" hangingPunct="0">
                <a:lnSpc>
                  <a:spcPct val="100000"/>
                </a:lnSpc>
                <a:spcBef>
                  <a:spcPct val="0"/>
                </a:spcBef>
                <a:spcAft>
                  <a:spcPct val="0"/>
                </a:spcAft>
                <a:buClrTx/>
                <a:buSzTx/>
                <a:buFontTx/>
                <a:buNone/>
                <a:tabLst/>
                <a:defRPr/>
              </a:pPr>
              <a:r>
                <a:rPr kumimoji="0" lang="de-DE" sz="9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K  H</a:t>
              </a:r>
            </a:p>
          </p:txBody>
        </p:sp>
      </p:grpSp>
      <p:pic>
        <p:nvPicPr>
          <p:cNvPr id="25" name="Picture 3" descr="C:\Users\jovita\Desktop\Konferenzen\TeaP_2016\Talk\Abbildungen\Hand_rechts.png">
            <a:extLst>
              <a:ext uri="{FF2B5EF4-FFF2-40B4-BE49-F238E27FC236}">
                <a16:creationId xmlns:a16="http://schemas.microsoft.com/office/drawing/2014/main" id="{6748C022-3FF7-4B28-BA1F-F4654B62796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H="1">
            <a:off x="4699234"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26" name="Ovale Legende 29">
            <a:extLst>
              <a:ext uri="{FF2B5EF4-FFF2-40B4-BE49-F238E27FC236}">
                <a16:creationId xmlns:a16="http://schemas.microsoft.com/office/drawing/2014/main" id="{738CC222-5041-434E-BD42-D29D87FB4DC6}"/>
              </a:ext>
            </a:extLst>
          </p:cNvPr>
          <p:cNvSpPr/>
          <p:nvPr/>
        </p:nvSpPr>
        <p:spPr>
          <a:xfrm flipH="1">
            <a:off x="5518275" y="1688377"/>
            <a:ext cx="724175" cy="254459"/>
          </a:xfrm>
          <a:prstGeom prst="wedgeEllipseCallout">
            <a:avLst/>
          </a:prstGeom>
          <a:solidFill>
            <a:srgbClr val="FFFFFF"/>
          </a:solidFill>
          <a:ln w="28575" cap="flat" cmpd="sng" algn="ctr">
            <a:solidFill>
              <a:srgbClr val="000000"/>
            </a:solidFill>
            <a:prstDash val="solid"/>
          </a:ln>
          <a:effectLst/>
        </p:spPr>
        <p:txBody>
          <a:bodyPr lIns="0" rIns="0"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750" b="0" i="0" u="none" strike="noStrike" kern="0" cap="none" spc="0" normalizeH="0" baseline="0" noProof="0">
                <a:ln>
                  <a:noFill/>
                </a:ln>
                <a:solidFill>
                  <a:srgbClr val="000000"/>
                </a:solidFill>
                <a:effectLst/>
                <a:uLnTx/>
                <a:uFillTx/>
                <a:latin typeface="Arial"/>
                <a:ea typeface="+mn-ea"/>
                <a:cs typeface="+mn-cs"/>
              </a:rPr>
              <a:t>“red/green”</a:t>
            </a:r>
          </a:p>
        </p:txBody>
      </p:sp>
      <p:sp>
        <p:nvSpPr>
          <p:cNvPr id="27" name="Textfeld 26">
            <a:extLst>
              <a:ext uri="{FF2B5EF4-FFF2-40B4-BE49-F238E27FC236}">
                <a16:creationId xmlns:a16="http://schemas.microsoft.com/office/drawing/2014/main" id="{E99BD512-9567-4643-922B-285C126E988D}"/>
              </a:ext>
            </a:extLst>
          </p:cNvPr>
          <p:cNvSpPr txBox="1"/>
          <p:nvPr/>
        </p:nvSpPr>
        <p:spPr>
          <a:xfrm>
            <a:off x="4572000" y="1063228"/>
            <a:ext cx="1517890" cy="415498"/>
          </a:xfrm>
          <a:prstGeom prst="rect">
            <a:avLst/>
          </a:prstGeom>
          <a:noFill/>
        </p:spPr>
        <p:txBody>
          <a:bodyPr wrap="square" rtlCol="0">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Encoupling</a:t>
            </a:r>
            <a:r>
              <a:rPr kumimoji="0" lang="en-US" sz="105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of Response Modality</a:t>
            </a:r>
          </a:p>
        </p:txBody>
      </p:sp>
      <p:pic>
        <p:nvPicPr>
          <p:cNvPr id="28" name="Grafik 27">
            <a:extLst>
              <a:ext uri="{FF2B5EF4-FFF2-40B4-BE49-F238E27FC236}">
                <a16:creationId xmlns:a16="http://schemas.microsoft.com/office/drawing/2014/main" id="{E7898C28-4D48-4A1B-9E35-26ECE9CD1A33}"/>
              </a:ext>
            </a:extLst>
          </p:cNvPr>
          <p:cNvPicPr>
            <a:picLocks noChangeAspect="1"/>
          </p:cNvPicPr>
          <p:nvPr/>
        </p:nvPicPr>
        <p:blipFill>
          <a:blip r:embed="rId7" cstate="print">
            <a:biLevel thresh="25000"/>
            <a:extLst>
              <a:ext uri="{28A0092B-C50C-407E-A947-70E740481C1C}">
                <a14:useLocalDpi xmlns:a14="http://schemas.microsoft.com/office/drawing/2010/main" val="0"/>
              </a:ext>
            </a:extLst>
          </a:blip>
          <a:stretch>
            <a:fillRect/>
          </a:stretch>
        </p:blipFill>
        <p:spPr>
          <a:xfrm>
            <a:off x="5701327" y="1960993"/>
            <a:ext cx="432000" cy="216000"/>
          </a:xfrm>
          <a:prstGeom prst="rect">
            <a:avLst/>
          </a:prstGeom>
        </p:spPr>
      </p:pic>
      <p:grpSp>
        <p:nvGrpSpPr>
          <p:cNvPr id="29" name="Gruppieren 28">
            <a:extLst>
              <a:ext uri="{FF2B5EF4-FFF2-40B4-BE49-F238E27FC236}">
                <a16:creationId xmlns:a16="http://schemas.microsoft.com/office/drawing/2014/main" id="{08E44C72-6B88-4382-8792-E26E56950E0E}"/>
              </a:ext>
            </a:extLst>
          </p:cNvPr>
          <p:cNvGrpSpPr/>
          <p:nvPr/>
        </p:nvGrpSpPr>
        <p:grpSpPr>
          <a:xfrm>
            <a:off x="3421508" y="1468096"/>
            <a:ext cx="548640" cy="480060"/>
            <a:chOff x="6666462" y="5479459"/>
            <a:chExt cx="731520" cy="640080"/>
          </a:xfrm>
        </p:grpSpPr>
        <p:grpSp>
          <p:nvGrpSpPr>
            <p:cNvPr id="30" name="Gruppieren 29">
              <a:extLst>
                <a:ext uri="{FF2B5EF4-FFF2-40B4-BE49-F238E27FC236}">
                  <a16:creationId xmlns:a16="http://schemas.microsoft.com/office/drawing/2014/main" id="{171DB5DA-CDCD-4439-86BA-FB33A1812B5C}"/>
                </a:ext>
              </a:extLst>
            </p:cNvPr>
            <p:cNvGrpSpPr>
              <a:grpSpLocks noChangeAspect="1"/>
            </p:cNvGrpSpPr>
            <p:nvPr/>
          </p:nvGrpSpPr>
          <p:grpSpPr>
            <a:xfrm>
              <a:off x="6666462" y="5479459"/>
              <a:ext cx="731520" cy="640080"/>
              <a:chOff x="1800213" y="2107672"/>
              <a:chExt cx="1422400" cy="1244599"/>
            </a:xfrm>
          </p:grpSpPr>
          <p:sp>
            <p:nvSpPr>
              <p:cNvPr id="33" name="Rechteck 32">
                <a:extLst>
                  <a:ext uri="{FF2B5EF4-FFF2-40B4-BE49-F238E27FC236}">
                    <a16:creationId xmlns:a16="http://schemas.microsoft.com/office/drawing/2014/main" id="{58B6F53A-AC7E-4F17-94F9-8C6FCF2010E2}"/>
                  </a:ext>
                </a:extLst>
              </p:cNvPr>
              <p:cNvSpPr/>
              <p:nvPr/>
            </p:nvSpPr>
            <p:spPr>
              <a:xfrm>
                <a:off x="1800213" y="2107672"/>
                <a:ext cx="1422400" cy="1244599"/>
              </a:xfrm>
              <a:prstGeom prst="rect">
                <a:avLst/>
              </a:prstGeom>
              <a:solidFill>
                <a:srgbClr val="000000"/>
              </a:solidFill>
              <a:ln w="19050" cap="flat" cmpd="sng" algn="ctr">
                <a:no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de-DE" sz="900" b="0" i="0" u="none" strike="noStrike" kern="0" cap="none" spc="0" normalizeH="0" baseline="0" noProof="0">
                  <a:ln>
                    <a:noFill/>
                  </a:ln>
                  <a:solidFill>
                    <a:srgbClr val="FFFFFF"/>
                  </a:solidFill>
                  <a:effectLst/>
                  <a:uLnTx/>
                  <a:uFillTx/>
                  <a:latin typeface="Arial"/>
                  <a:ea typeface="+mn-ea"/>
                  <a:cs typeface="+mn-cs"/>
                </a:endParaRPr>
              </a:p>
            </p:txBody>
          </p:sp>
          <p:sp>
            <p:nvSpPr>
              <p:cNvPr id="34" name="Textfeld 33">
                <a:extLst>
                  <a:ext uri="{FF2B5EF4-FFF2-40B4-BE49-F238E27FC236}">
                    <a16:creationId xmlns:a16="http://schemas.microsoft.com/office/drawing/2014/main" id="{A27FD35B-EE35-422E-9DEB-C622E2BCB5FD}"/>
                  </a:ext>
                </a:extLst>
              </p:cNvPr>
              <p:cNvSpPr txBox="1"/>
              <p:nvPr/>
            </p:nvSpPr>
            <p:spPr>
              <a:xfrm>
                <a:off x="2111073" y="2216706"/>
                <a:ext cx="894356" cy="957527"/>
              </a:xfrm>
              <a:prstGeom prst="rect">
                <a:avLst/>
              </a:prstGeom>
              <a:noFill/>
            </p:spPr>
            <p:txBody>
              <a:bodyPr wrap="none" rtlCol="0"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de-DE"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de-DE"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3 5</a:t>
                </a:r>
              </a:p>
            </p:txBody>
          </p:sp>
        </p:grpSp>
        <p:pic>
          <p:nvPicPr>
            <p:cNvPr id="31" name="Picture 4" descr="C:\Users\jovita\Desktop\Exp_VolDT_resources\01_Planung\Reizmaterial\Räumlich_Gedächtnis\5c.png">
              <a:extLst>
                <a:ext uri="{FF2B5EF4-FFF2-40B4-BE49-F238E27FC236}">
                  <a16:creationId xmlns:a16="http://schemas.microsoft.com/office/drawing/2014/main" id="{F655934A-AE0D-4CBE-A257-025613973AA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5305" y="5517232"/>
              <a:ext cx="252000" cy="28424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4" descr="C:\Users\jovita\Desktop\Exp_VolDT_resources\01_Planung\Reizmaterial\Räumlich_Gedächtnis\5c.png">
              <a:extLst>
                <a:ext uri="{FF2B5EF4-FFF2-40B4-BE49-F238E27FC236}">
                  <a16:creationId xmlns:a16="http://schemas.microsoft.com/office/drawing/2014/main" id="{388AE473-96C6-428D-B2CF-BD7495DD95F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51329" y="5517232"/>
              <a:ext cx="252000" cy="284241"/>
            </a:xfrm>
            <a:prstGeom prst="rect">
              <a:avLst/>
            </a:prstGeom>
            <a:noFill/>
            <a:extLst>
              <a:ext uri="{909E8E84-426E-40DD-AFC4-6F175D3DCCD1}">
                <a14:hiddenFill xmlns:a14="http://schemas.microsoft.com/office/drawing/2010/main">
                  <a:solidFill>
                    <a:srgbClr val="FFFFFF"/>
                  </a:solidFill>
                </a14:hiddenFill>
              </a:ext>
            </a:extLst>
          </p:spPr>
        </p:pic>
      </p:grpSp>
      <p:pic>
        <p:nvPicPr>
          <p:cNvPr id="35" name="Picture 3" descr="C:\Users\jovita\Desktop\Konferenzen\TeaP_2016\Talk\Abbildungen\Hand_rechts.png">
            <a:extLst>
              <a:ext uri="{FF2B5EF4-FFF2-40B4-BE49-F238E27FC236}">
                <a16:creationId xmlns:a16="http://schemas.microsoft.com/office/drawing/2014/main" id="{4CADD974-B58D-4326-83E9-D78AF69C0DC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45136" y="1760078"/>
            <a:ext cx="249126" cy="320853"/>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 descr="C:\Users\jovita\Desktop\Konferenzen\TeaP_2016\Talk\Abbildungen\Hand_rechts.png">
            <a:extLst>
              <a:ext uri="{FF2B5EF4-FFF2-40B4-BE49-F238E27FC236}">
                <a16:creationId xmlns:a16="http://schemas.microsoft.com/office/drawing/2014/main" id="{3DC8A3CB-D328-4A8B-B2FD-B4FE9386C8A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H="1">
            <a:off x="3094856" y="1760078"/>
            <a:ext cx="255113" cy="331293"/>
          </a:xfrm>
          <a:prstGeom prst="rect">
            <a:avLst/>
          </a:prstGeom>
          <a:noFill/>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pic>
      <p:sp>
        <p:nvSpPr>
          <p:cNvPr id="37" name="Textfeld 36">
            <a:extLst>
              <a:ext uri="{FF2B5EF4-FFF2-40B4-BE49-F238E27FC236}">
                <a16:creationId xmlns:a16="http://schemas.microsoft.com/office/drawing/2014/main" id="{6D8789CD-11FC-4A5A-B431-E212974147FE}"/>
              </a:ext>
            </a:extLst>
          </p:cNvPr>
          <p:cNvSpPr txBox="1"/>
          <p:nvPr/>
        </p:nvSpPr>
        <p:spPr>
          <a:xfrm>
            <a:off x="2841010" y="1063229"/>
            <a:ext cx="1665845" cy="415498"/>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rPr>
              <a:t>Encoupling</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of Processing Codes</a:t>
            </a:r>
          </a:p>
        </p:txBody>
      </p:sp>
      <p:pic>
        <p:nvPicPr>
          <p:cNvPr id="39" name="Grafik 38">
            <a:extLst>
              <a:ext uri="{FF2B5EF4-FFF2-40B4-BE49-F238E27FC236}">
                <a16:creationId xmlns:a16="http://schemas.microsoft.com/office/drawing/2014/main" id="{4AA7A718-277A-43AA-B7D5-8A302B009199}"/>
              </a:ext>
            </a:extLst>
          </p:cNvPr>
          <p:cNvPicPr>
            <a:picLocks noChangeAspect="1"/>
          </p:cNvPicPr>
          <p:nvPr/>
        </p:nvPicPr>
        <p:blipFill>
          <a:blip r:embed="rId8"/>
          <a:stretch>
            <a:fillRect/>
          </a:stretch>
        </p:blipFill>
        <p:spPr>
          <a:xfrm>
            <a:off x="2731005" y="2288230"/>
            <a:ext cx="3681991" cy="2605778"/>
          </a:xfrm>
          <a:prstGeom prst="rect">
            <a:avLst/>
          </a:prstGeom>
        </p:spPr>
      </p:pic>
      <p:sp>
        <p:nvSpPr>
          <p:cNvPr id="40" name="Textfeld 39">
            <a:extLst>
              <a:ext uri="{FF2B5EF4-FFF2-40B4-BE49-F238E27FC236}">
                <a16:creationId xmlns:a16="http://schemas.microsoft.com/office/drawing/2014/main" id="{3DA494A7-A3EE-4138-9BDF-336DDFC11C63}"/>
              </a:ext>
            </a:extLst>
          </p:cNvPr>
          <p:cNvSpPr txBox="1"/>
          <p:nvPr/>
        </p:nvSpPr>
        <p:spPr>
          <a:xfrm>
            <a:off x="6936819" y="4524242"/>
            <a:ext cx="2031325"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Brüning, </a:t>
            </a:r>
            <a:r>
              <a:rPr kumimoji="0" lang="de-DE" sz="9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Mückstein</a:t>
            </a: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&amp; </a:t>
            </a:r>
            <a:r>
              <a:rPr kumimoji="0" lang="de-DE" sz="9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rPr>
              <a:t>Manzey</a:t>
            </a:r>
            <a:r>
              <a:rPr kumimoji="0" lang="de-DE"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2020</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9325299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BE73BF23-A62B-410C-BA22-0932208C87C8}"/>
              </a:ext>
            </a:extLst>
          </p:cNvPr>
          <p:cNvPicPr>
            <a:picLocks noChangeAspect="1"/>
          </p:cNvPicPr>
          <p:nvPr/>
        </p:nvPicPr>
        <p:blipFill>
          <a:blip r:embed="rId3"/>
          <a:stretch>
            <a:fillRect/>
          </a:stretch>
        </p:blipFill>
        <p:spPr>
          <a:xfrm>
            <a:off x="657908" y="945015"/>
            <a:ext cx="4698522" cy="2297711"/>
          </a:xfrm>
          <a:prstGeom prst="rect">
            <a:avLst/>
          </a:prstGeom>
        </p:spPr>
      </p:pic>
      <p:sp>
        <p:nvSpPr>
          <p:cNvPr id="2" name="Titel 1">
            <a:extLst>
              <a:ext uri="{FF2B5EF4-FFF2-40B4-BE49-F238E27FC236}">
                <a16:creationId xmlns:a16="http://schemas.microsoft.com/office/drawing/2014/main" id="{CCF95AD9-AC82-4CCA-A25E-C7496CFCC075}"/>
              </a:ext>
            </a:extLst>
          </p:cNvPr>
          <p:cNvSpPr>
            <a:spLocks noGrp="1"/>
          </p:cNvSpPr>
          <p:nvPr>
            <p:ph type="title"/>
          </p:nvPr>
        </p:nvSpPr>
        <p:spPr/>
        <p:txBody>
          <a:bodyPr/>
          <a:lstStyle/>
          <a:p>
            <a:r>
              <a:rPr lang="en-US"/>
              <a:t>Response Strategies – Reliability</a:t>
            </a:r>
          </a:p>
        </p:txBody>
      </p:sp>
      <p:sp>
        <p:nvSpPr>
          <p:cNvPr id="4" name="Foliennummernplatzhalter 3">
            <a:extLst>
              <a:ext uri="{FF2B5EF4-FFF2-40B4-BE49-F238E27FC236}">
                <a16:creationId xmlns:a16="http://schemas.microsoft.com/office/drawing/2014/main" id="{70D3D24C-EB15-44D0-91DF-F06B3BF061EE}"/>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36</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sp>
        <p:nvSpPr>
          <p:cNvPr id="9" name="Rechteck 8">
            <a:extLst>
              <a:ext uri="{FF2B5EF4-FFF2-40B4-BE49-F238E27FC236}">
                <a16:creationId xmlns:a16="http://schemas.microsoft.com/office/drawing/2014/main" id="{7B371E09-808A-472B-9CC9-CA67032AC95B}"/>
              </a:ext>
            </a:extLst>
          </p:cNvPr>
          <p:cNvSpPr/>
          <p:nvPr/>
        </p:nvSpPr>
        <p:spPr>
          <a:xfrm>
            <a:off x="4235923" y="2634005"/>
            <a:ext cx="4914546" cy="20485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pic>
        <p:nvPicPr>
          <p:cNvPr id="10" name="Inhaltsplatzhalter 5">
            <a:extLst>
              <a:ext uri="{FF2B5EF4-FFF2-40B4-BE49-F238E27FC236}">
                <a16:creationId xmlns:a16="http://schemas.microsoft.com/office/drawing/2014/main" id="{DC25FEEC-0EFD-4FAE-8504-B8E898E061CA}"/>
              </a:ext>
            </a:extLst>
          </p:cNvPr>
          <p:cNvPicPr>
            <a:picLocks noChangeAspect="1"/>
          </p:cNvPicPr>
          <p:nvPr/>
        </p:nvPicPr>
        <p:blipFill>
          <a:blip r:embed="rId4"/>
          <a:stretch>
            <a:fillRect/>
          </a:stretch>
        </p:blipFill>
        <p:spPr>
          <a:xfrm>
            <a:off x="4242391" y="2683409"/>
            <a:ext cx="4901609" cy="2021000"/>
          </a:xfrm>
          <a:prstGeom prst="rect">
            <a:avLst/>
          </a:prstGeom>
        </p:spPr>
      </p:pic>
    </p:spTree>
    <p:extLst>
      <p:ext uri="{BB962C8B-B14F-4D97-AF65-F5344CB8AC3E}">
        <p14:creationId xmlns:p14="http://schemas.microsoft.com/office/powerpoint/2010/main" val="42132868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8F34398-5B8E-4E8A-A8A8-F588BE39C2A6}"/>
              </a:ext>
            </a:extLst>
          </p:cNvPr>
          <p:cNvSpPr>
            <a:spLocks noGrp="1"/>
          </p:cNvSpPr>
          <p:nvPr>
            <p:ph type="title"/>
          </p:nvPr>
        </p:nvSpPr>
        <p:spPr/>
        <p:txBody>
          <a:bodyPr/>
          <a:lstStyle/>
          <a:p>
            <a:r>
              <a:rPr lang="de-DE"/>
              <a:t>Overall Dual-Task Efficiency</a:t>
            </a:r>
            <a:endParaRPr lang="en-US"/>
          </a:p>
        </p:txBody>
      </p:sp>
      <p:sp>
        <p:nvSpPr>
          <p:cNvPr id="4" name="Foliennummernplatzhalter 3">
            <a:extLst>
              <a:ext uri="{FF2B5EF4-FFF2-40B4-BE49-F238E27FC236}">
                <a16:creationId xmlns:a16="http://schemas.microsoft.com/office/drawing/2014/main" id="{125C4DE5-599B-480F-8B46-385AE926B7E2}"/>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37</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sp>
        <p:nvSpPr>
          <p:cNvPr id="5" name="Inhaltsplatzhalter 2">
            <a:extLst>
              <a:ext uri="{FF2B5EF4-FFF2-40B4-BE49-F238E27FC236}">
                <a16:creationId xmlns:a16="http://schemas.microsoft.com/office/drawing/2014/main" id="{D1C3277E-3E53-4E8F-B277-81CAE8665982}"/>
              </a:ext>
            </a:extLst>
          </p:cNvPr>
          <p:cNvSpPr txBox="1">
            <a:spLocks/>
          </p:cNvSpPr>
          <p:nvPr/>
        </p:nvSpPr>
        <p:spPr>
          <a:xfrm>
            <a:off x="1043009" y="1037085"/>
            <a:ext cx="7057983" cy="3688568"/>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Unicode MS" pitchFamily="34" charset="-128"/>
                <a:ea typeface="Arial Unicode MS" pitchFamily="34" charset="-128"/>
                <a:cs typeface="Arial Unicode MS" pitchFamily="34" charset="-12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de-DE" altLang="de-DE" sz="2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de-DE" altLang="de-DE" sz="2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271463" marR="0" lvl="0" indent="-271463"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endParaRPr>
          </a:p>
          <a:p>
            <a:pPr marL="271463" marR="0" lvl="0" indent="-271463"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endParaRPr>
          </a:p>
          <a:p>
            <a:pPr marL="271463" marR="0" lvl="0" indent="-271463"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endParaRPr>
          </a:p>
          <a:p>
            <a:pPr marL="271463" marR="0" lvl="0" indent="-271463" algn="l" defTabSz="914400" rtl="0" eaLnBrk="1" fontAlgn="auto" latinLnBrk="0" hangingPunct="1">
              <a:lnSpc>
                <a:spcPct val="100000"/>
              </a:lnSpc>
              <a:spcBef>
                <a:spcPts val="450"/>
              </a:spcBef>
              <a:spcAft>
                <a:spcPts val="0"/>
              </a:spcAft>
              <a:buClrTx/>
              <a:buSzTx/>
              <a:buFont typeface="Wingdings" panose="05000000000000000000" pitchFamily="2" charset="2"/>
              <a:buChar char="Ø"/>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nvGrpSpPr>
          <p:cNvPr id="25" name="Gruppieren 24">
            <a:extLst>
              <a:ext uri="{FF2B5EF4-FFF2-40B4-BE49-F238E27FC236}">
                <a16:creationId xmlns:a16="http://schemas.microsoft.com/office/drawing/2014/main" id="{B5085221-D032-4038-9CFA-AB8295D5FBCD}"/>
              </a:ext>
            </a:extLst>
          </p:cNvPr>
          <p:cNvGrpSpPr/>
          <p:nvPr/>
        </p:nvGrpSpPr>
        <p:grpSpPr>
          <a:xfrm>
            <a:off x="970550" y="1582660"/>
            <a:ext cx="3658220" cy="234755"/>
            <a:chOff x="3947579" y="2368902"/>
            <a:chExt cx="4379663" cy="313007"/>
          </a:xfrm>
        </p:grpSpPr>
        <p:sp>
          <p:nvSpPr>
            <p:cNvPr id="6" name="Rechteck 5">
              <a:extLst>
                <a:ext uri="{FF2B5EF4-FFF2-40B4-BE49-F238E27FC236}">
                  <a16:creationId xmlns:a16="http://schemas.microsoft.com/office/drawing/2014/main" id="{17A9D181-F813-4052-B571-3228313C726D}"/>
                </a:ext>
              </a:extLst>
            </p:cNvPr>
            <p:cNvSpPr/>
            <p:nvPr/>
          </p:nvSpPr>
          <p:spPr>
            <a:xfrm>
              <a:off x="6137412" y="2368902"/>
              <a:ext cx="2189830" cy="310896"/>
            </a:xfrm>
            <a:prstGeom prst="rect">
              <a:avLst/>
            </a:prstGeom>
            <a:solidFill>
              <a:schemeClr val="tx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0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a:t>
              </a:r>
              <a:r>
                <a:rPr kumimoji="0" lang="de-DE" altLang="de-DE" sz="105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rPr>
                <a:t>responses</a:t>
              </a:r>
              <a:r>
                <a:rPr kumimoji="0" lang="de-DE" altLang="de-DE" sz="10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Task B</a:t>
              </a:r>
            </a:p>
          </p:txBody>
        </p:sp>
        <p:sp>
          <p:nvSpPr>
            <p:cNvPr id="7" name="Rechteck 6">
              <a:extLst>
                <a:ext uri="{FF2B5EF4-FFF2-40B4-BE49-F238E27FC236}">
                  <a16:creationId xmlns:a16="http://schemas.microsoft.com/office/drawing/2014/main" id="{D108079C-B245-4FF0-809C-53E52F5DF858}"/>
                </a:ext>
              </a:extLst>
            </p:cNvPr>
            <p:cNvSpPr/>
            <p:nvPr/>
          </p:nvSpPr>
          <p:spPr>
            <a:xfrm>
              <a:off x="3947579" y="2371013"/>
              <a:ext cx="2189833" cy="310896"/>
            </a:xfrm>
            <a:prstGeom prst="rect">
              <a:avLst/>
            </a:prstGeom>
            <a:solidFill>
              <a:srgbClr val="990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0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a:t>
              </a:r>
              <a:r>
                <a:rPr kumimoji="0" lang="de-DE" altLang="de-DE" sz="105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rPr>
                <a:t>responses</a:t>
              </a:r>
              <a:r>
                <a:rPr kumimoji="0" lang="de-DE" altLang="de-DE" sz="10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Task A</a:t>
              </a:r>
            </a:p>
          </p:txBody>
        </p:sp>
      </p:grpSp>
      <p:sp>
        <p:nvSpPr>
          <p:cNvPr id="10" name="Textfeld 27">
            <a:extLst>
              <a:ext uri="{FF2B5EF4-FFF2-40B4-BE49-F238E27FC236}">
                <a16:creationId xmlns:a16="http://schemas.microsoft.com/office/drawing/2014/main" id="{DF0E34A6-1D5D-4C95-81B1-941FA0913FE1}"/>
              </a:ext>
            </a:extLst>
          </p:cNvPr>
          <p:cNvSpPr txBox="1">
            <a:spLocks noChangeArrowheads="1"/>
          </p:cNvSpPr>
          <p:nvPr/>
        </p:nvSpPr>
        <p:spPr bwMode="auto">
          <a:xfrm>
            <a:off x="6262300" y="1985250"/>
            <a:ext cx="884366"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defRPr sz="1400">
                <a:solidFill>
                  <a:srgbClr val="000000"/>
                </a:solidFill>
                <a:latin typeface="Arial" panose="020B0604020202020204" pitchFamily="34" charset="0"/>
              </a:defRPr>
            </a:lvl1pPr>
            <a:lvl2pPr marL="742950" indent="-285750">
              <a:spcBef>
                <a:spcPct val="20000"/>
              </a:spcBef>
              <a:buFont typeface="Arial" panose="020B0604020202020204" pitchFamily="34" charset="0"/>
              <a:buChar char="–"/>
              <a:defRPr sz="1400">
                <a:solidFill>
                  <a:srgbClr val="000000"/>
                </a:solidFill>
                <a:latin typeface="Arial" panose="020B0604020202020204" pitchFamily="34" charset="0"/>
              </a:defRPr>
            </a:lvl2pPr>
            <a:lvl3pPr marL="1143000" indent="-228600">
              <a:spcBef>
                <a:spcPct val="20000"/>
              </a:spcBef>
              <a:buChar char="•"/>
              <a:defRPr sz="14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de-DE" sz="10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Dual-Task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de-DE" sz="10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performance</a:t>
            </a:r>
          </a:p>
        </p:txBody>
      </p:sp>
      <p:sp>
        <p:nvSpPr>
          <p:cNvPr id="15" name="Textfeld 14">
            <a:extLst>
              <a:ext uri="{FF2B5EF4-FFF2-40B4-BE49-F238E27FC236}">
                <a16:creationId xmlns:a16="http://schemas.microsoft.com/office/drawing/2014/main" id="{957BE006-870C-4605-A2AC-8038D8E9B54A}"/>
              </a:ext>
            </a:extLst>
          </p:cNvPr>
          <p:cNvSpPr txBox="1"/>
          <p:nvPr/>
        </p:nvSpPr>
        <p:spPr>
          <a:xfrm>
            <a:off x="775742" y="2259900"/>
            <a:ext cx="4416722" cy="276999"/>
          </a:xfrm>
          <a:prstGeom prst="rect">
            <a:avLst/>
          </a:prstGeom>
          <a:noFill/>
        </p:spPr>
        <p:txBody>
          <a:bodyPr wrap="none" rtlCol="0">
            <a:spAutoFit/>
          </a:bodyPr>
          <a:lstStyle/>
          <a:p>
            <a:pPr marL="68580" marR="0" lvl="0" indent="0" algn="l" defTabSz="685800" rtl="0" eaLnBrk="1" fontAlgn="auto" latinLnBrk="0" hangingPunct="1">
              <a:lnSpc>
                <a:spcPct val="100000"/>
              </a:lnSpc>
              <a:spcBef>
                <a:spcPts val="0"/>
              </a:spcBef>
              <a:spcAft>
                <a:spcPts val="0"/>
              </a:spcAft>
              <a:buClrTx/>
              <a:buSzTx/>
              <a:buFontTx/>
              <a:buNone/>
              <a:tabLst/>
              <a:defRPr/>
            </a:pPr>
            <a:r>
              <a:rPr kumimoji="0" lang="en-US" altLang="de-DE"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Dual-Task Performance</a:t>
            </a:r>
            <a:r>
              <a:rPr kumimoji="0" lang="en-US" alt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 correct responses in two minutes</a:t>
            </a:r>
          </a:p>
        </p:txBody>
      </p:sp>
      <p:grpSp>
        <p:nvGrpSpPr>
          <p:cNvPr id="27" name="Gruppieren 26">
            <a:extLst>
              <a:ext uri="{FF2B5EF4-FFF2-40B4-BE49-F238E27FC236}">
                <a16:creationId xmlns:a16="http://schemas.microsoft.com/office/drawing/2014/main" id="{E7FC63BF-1C66-4DF7-A68A-521E63446FD7}"/>
              </a:ext>
            </a:extLst>
          </p:cNvPr>
          <p:cNvGrpSpPr/>
          <p:nvPr/>
        </p:nvGrpSpPr>
        <p:grpSpPr>
          <a:xfrm>
            <a:off x="969249" y="2605176"/>
            <a:ext cx="5374933" cy="513097"/>
            <a:chOff x="1650422" y="3208092"/>
            <a:chExt cx="7166577" cy="684129"/>
          </a:xfrm>
        </p:grpSpPr>
        <p:sp>
          <p:nvSpPr>
            <p:cNvPr id="9" name="Rechteck 8">
              <a:extLst>
                <a:ext uri="{FF2B5EF4-FFF2-40B4-BE49-F238E27FC236}">
                  <a16:creationId xmlns:a16="http://schemas.microsoft.com/office/drawing/2014/main" id="{87FFAC38-D9A8-423E-8203-BAC2248855DE}"/>
                </a:ext>
              </a:extLst>
            </p:cNvPr>
            <p:cNvSpPr/>
            <p:nvPr/>
          </p:nvSpPr>
          <p:spPr>
            <a:xfrm>
              <a:off x="1650422" y="3208092"/>
              <a:ext cx="4879362" cy="312538"/>
            </a:xfrm>
            <a:prstGeom prst="rect">
              <a:avLst/>
            </a:prstGeom>
            <a:pattFill prst="wdDnDiag">
              <a:fgClr>
                <a:srgbClr val="CC7F7F"/>
              </a:fgClr>
              <a:bgClr>
                <a:srgbClr val="7F7F7F"/>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0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a:t>
              </a:r>
              <a:r>
                <a:rPr kumimoji="0" lang="de-DE" altLang="de-DE" sz="105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rPr>
                <a:t>responses</a:t>
              </a:r>
              <a:r>
                <a:rPr kumimoji="0" lang="de-DE" altLang="de-DE" sz="10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Task A &amp; Task B</a:t>
              </a:r>
            </a:p>
          </p:txBody>
        </p:sp>
        <p:sp>
          <p:nvSpPr>
            <p:cNvPr id="16" name="Textfeld 15">
              <a:extLst>
                <a:ext uri="{FF2B5EF4-FFF2-40B4-BE49-F238E27FC236}">
                  <a16:creationId xmlns:a16="http://schemas.microsoft.com/office/drawing/2014/main" id="{4CB2CFC7-290E-4016-A011-2C41532A1A6C}"/>
                </a:ext>
              </a:extLst>
            </p:cNvPr>
            <p:cNvSpPr txBox="1"/>
            <p:nvPr/>
          </p:nvSpPr>
          <p:spPr>
            <a:xfrm>
              <a:off x="1650422" y="3522889"/>
              <a:ext cx="7166577" cy="369332"/>
            </a:xfrm>
            <a:prstGeom prst="rect">
              <a:avLst/>
            </a:prstGeom>
            <a:noFill/>
          </p:spPr>
          <p:txBody>
            <a:bodyPr wrap="none" rtlCol="0">
              <a:spAutoFit/>
            </a:bodyPr>
            <a:lstStyle/>
            <a:p>
              <a:pPr marL="271463" marR="0" lvl="0" indent="-271463" algn="l" defTabSz="685800" rtl="0" eaLnBrk="1" fontAlgn="auto" latinLnBrk="0" hangingPunct="1">
                <a:lnSpc>
                  <a:spcPct val="100000"/>
                </a:lnSpc>
                <a:spcBef>
                  <a:spcPts val="900"/>
                </a:spcBef>
                <a:spcAft>
                  <a:spcPts val="900"/>
                </a:spcAft>
                <a:buClrTx/>
                <a:buSzTx/>
                <a:buFont typeface="Wingdings" panose="05000000000000000000" pitchFamily="2" charset="2"/>
                <a:buChar char="Ø"/>
                <a:tabLst/>
                <a:defRPr/>
              </a:pP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Dual-Task Efficiency </a:t>
              </a:r>
              <a:r>
                <a:rPr kumimoji="0" lang="de-DE" sz="12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 0</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neither</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benefits</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nor</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costs</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due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to</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multitasking</a:t>
              </a:r>
              <a:endPar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endParaRPr>
            </a:p>
          </p:txBody>
        </p:sp>
      </p:grpSp>
      <p:grpSp>
        <p:nvGrpSpPr>
          <p:cNvPr id="28" name="Gruppieren 27">
            <a:extLst>
              <a:ext uri="{FF2B5EF4-FFF2-40B4-BE49-F238E27FC236}">
                <a16:creationId xmlns:a16="http://schemas.microsoft.com/office/drawing/2014/main" id="{C56EBF8D-4211-49F1-9176-252180C78DF9}"/>
              </a:ext>
            </a:extLst>
          </p:cNvPr>
          <p:cNvGrpSpPr/>
          <p:nvPr/>
        </p:nvGrpSpPr>
        <p:grpSpPr>
          <a:xfrm>
            <a:off x="970550" y="3257535"/>
            <a:ext cx="4630328" cy="507445"/>
            <a:chOff x="1650422" y="4235917"/>
            <a:chExt cx="6173770" cy="676592"/>
          </a:xfrm>
        </p:grpSpPr>
        <p:sp>
          <p:nvSpPr>
            <p:cNvPr id="12" name="Rechteck 11">
              <a:extLst>
                <a:ext uri="{FF2B5EF4-FFF2-40B4-BE49-F238E27FC236}">
                  <a16:creationId xmlns:a16="http://schemas.microsoft.com/office/drawing/2014/main" id="{137FBCBE-9E6B-4F98-AA63-5405D9E3F0B6}"/>
                </a:ext>
              </a:extLst>
            </p:cNvPr>
            <p:cNvSpPr/>
            <p:nvPr/>
          </p:nvSpPr>
          <p:spPr>
            <a:xfrm>
              <a:off x="1650422" y="4235917"/>
              <a:ext cx="6173770" cy="312538"/>
            </a:xfrm>
            <a:prstGeom prst="rect">
              <a:avLst/>
            </a:prstGeom>
            <a:pattFill prst="wdDnDiag">
              <a:fgClr>
                <a:srgbClr val="CC7F7F"/>
              </a:fgClr>
              <a:bgClr>
                <a:srgbClr val="7F7F7F"/>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0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a:t>
              </a:r>
              <a:r>
                <a:rPr kumimoji="0" lang="de-DE" altLang="de-DE" sz="105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rPr>
                <a:t>responses</a:t>
              </a:r>
              <a:r>
                <a:rPr kumimoji="0" lang="de-DE" altLang="de-DE" sz="10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Task A &amp; Task B</a:t>
              </a:r>
            </a:p>
          </p:txBody>
        </p:sp>
        <p:sp>
          <p:nvSpPr>
            <p:cNvPr id="17" name="Textfeld 16">
              <a:extLst>
                <a:ext uri="{FF2B5EF4-FFF2-40B4-BE49-F238E27FC236}">
                  <a16:creationId xmlns:a16="http://schemas.microsoft.com/office/drawing/2014/main" id="{642A76AA-E108-4B26-9B65-87317DB6E0E1}"/>
                </a:ext>
              </a:extLst>
            </p:cNvPr>
            <p:cNvSpPr txBox="1"/>
            <p:nvPr/>
          </p:nvSpPr>
          <p:spPr>
            <a:xfrm>
              <a:off x="1650422" y="4543177"/>
              <a:ext cx="5937609" cy="369332"/>
            </a:xfrm>
            <a:prstGeom prst="rect">
              <a:avLst/>
            </a:prstGeom>
            <a:noFill/>
          </p:spPr>
          <p:txBody>
            <a:bodyPr wrap="none" rtlCol="0">
              <a:spAutoFit/>
            </a:bodyPr>
            <a:lstStyle/>
            <a:p>
              <a:pPr marL="271463" marR="0" lvl="0" indent="-271463" algn="l" defTabSz="685800" rtl="0" eaLnBrk="1" fontAlgn="auto" latinLnBrk="0" hangingPunct="1">
                <a:lnSpc>
                  <a:spcPct val="100000"/>
                </a:lnSpc>
                <a:spcBef>
                  <a:spcPts val="900"/>
                </a:spcBef>
                <a:spcAft>
                  <a:spcPts val="900"/>
                </a:spcAft>
                <a:buClrTx/>
                <a:buSzTx/>
                <a:buFont typeface="Wingdings" panose="05000000000000000000" pitchFamily="2" charset="2"/>
                <a:buChar char="Ø"/>
                <a:tabLst/>
                <a:defRPr/>
              </a:pP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Dual-Task Efficiency </a:t>
              </a:r>
              <a:r>
                <a:rPr kumimoji="0" lang="de-DE" sz="12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&gt; 0 </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net</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benefits</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due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to</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multitasking</a:t>
              </a:r>
              <a:endPar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endParaRPr>
            </a:p>
          </p:txBody>
        </p:sp>
      </p:grpSp>
      <p:grpSp>
        <p:nvGrpSpPr>
          <p:cNvPr id="29" name="Gruppieren 28">
            <a:extLst>
              <a:ext uri="{FF2B5EF4-FFF2-40B4-BE49-F238E27FC236}">
                <a16:creationId xmlns:a16="http://schemas.microsoft.com/office/drawing/2014/main" id="{1C207A08-2A77-4858-8F90-E8013B3231EB}"/>
              </a:ext>
            </a:extLst>
          </p:cNvPr>
          <p:cNvGrpSpPr/>
          <p:nvPr/>
        </p:nvGrpSpPr>
        <p:grpSpPr>
          <a:xfrm>
            <a:off x="970550" y="3904239"/>
            <a:ext cx="4277626" cy="507819"/>
            <a:chOff x="1650422" y="5255703"/>
            <a:chExt cx="5703500" cy="677092"/>
          </a:xfrm>
        </p:grpSpPr>
        <p:sp>
          <p:nvSpPr>
            <p:cNvPr id="13" name="Rechteck 12">
              <a:extLst>
                <a:ext uri="{FF2B5EF4-FFF2-40B4-BE49-F238E27FC236}">
                  <a16:creationId xmlns:a16="http://schemas.microsoft.com/office/drawing/2014/main" id="{6856A053-798A-4E20-8F4F-E781E66B29AA}"/>
                </a:ext>
              </a:extLst>
            </p:cNvPr>
            <p:cNvSpPr/>
            <p:nvPr/>
          </p:nvSpPr>
          <p:spPr>
            <a:xfrm>
              <a:off x="1650422" y="5255703"/>
              <a:ext cx="3797506" cy="312538"/>
            </a:xfrm>
            <a:prstGeom prst="rect">
              <a:avLst/>
            </a:prstGeom>
            <a:pattFill prst="wdDnDiag">
              <a:fgClr>
                <a:srgbClr val="CC7F7F"/>
              </a:fgClr>
              <a:bgClr>
                <a:srgbClr val="7F7F7F"/>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de-DE" sz="10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a:t>
              </a:r>
              <a:r>
                <a:rPr kumimoji="0" lang="de-DE" altLang="de-DE" sz="105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rPr>
                <a:t>responses</a:t>
              </a:r>
              <a:r>
                <a:rPr kumimoji="0" lang="de-DE" altLang="de-DE" sz="10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 Task A &amp; Task B</a:t>
              </a:r>
            </a:p>
          </p:txBody>
        </p:sp>
        <p:sp>
          <p:nvSpPr>
            <p:cNvPr id="18" name="Textfeld 17">
              <a:extLst>
                <a:ext uri="{FF2B5EF4-FFF2-40B4-BE49-F238E27FC236}">
                  <a16:creationId xmlns:a16="http://schemas.microsoft.com/office/drawing/2014/main" id="{764ACE01-FEDD-4151-AB22-ECED87EB8DBC}"/>
                </a:ext>
              </a:extLst>
            </p:cNvPr>
            <p:cNvSpPr txBox="1"/>
            <p:nvPr/>
          </p:nvSpPr>
          <p:spPr>
            <a:xfrm>
              <a:off x="1653559" y="5563463"/>
              <a:ext cx="5700363" cy="369332"/>
            </a:xfrm>
            <a:prstGeom prst="rect">
              <a:avLst/>
            </a:prstGeom>
            <a:noFill/>
          </p:spPr>
          <p:txBody>
            <a:bodyPr wrap="none" rtlCol="0">
              <a:spAutoFit/>
            </a:bodyPr>
            <a:lstStyle/>
            <a:p>
              <a:pPr marL="271463" marR="0" lvl="0" indent="-271463" algn="l" defTabSz="685800" rtl="0" eaLnBrk="1" fontAlgn="auto" latinLnBrk="0" hangingPunct="1">
                <a:lnSpc>
                  <a:spcPct val="100000"/>
                </a:lnSpc>
                <a:spcBef>
                  <a:spcPts val="900"/>
                </a:spcBef>
                <a:spcAft>
                  <a:spcPts val="0"/>
                </a:spcAft>
                <a:buClrTx/>
                <a:buSzTx/>
                <a:buFont typeface="Wingdings" panose="05000000000000000000" pitchFamily="2" charset="2"/>
                <a:buChar char="Ø"/>
                <a:tabLst/>
                <a:defRPr/>
              </a:pP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Dual-Task Efficiency </a:t>
              </a:r>
              <a:r>
                <a:rPr kumimoji="0" lang="de-DE" sz="12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&lt; 0</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net</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costs</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due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to</a:t>
              </a:r>
              <a:r>
                <a:rPr kumimoji="0" 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de-DE" sz="1200" b="0" i="0" u="none" strike="noStrike" kern="1200" cap="none" spc="0" normalizeH="0" baseline="0" noProof="0" err="1">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multitasking</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sp>
        <p:nvSpPr>
          <p:cNvPr id="22" name="Rechteck 21">
            <a:extLst>
              <a:ext uri="{FF2B5EF4-FFF2-40B4-BE49-F238E27FC236}">
                <a16:creationId xmlns:a16="http://schemas.microsoft.com/office/drawing/2014/main" id="{FFD7982D-559B-418B-B4A3-5081FBAD5ECB}"/>
              </a:ext>
            </a:extLst>
          </p:cNvPr>
          <p:cNvSpPr/>
          <p:nvPr/>
        </p:nvSpPr>
        <p:spPr>
          <a:xfrm>
            <a:off x="5809881" y="2098538"/>
            <a:ext cx="162018" cy="165840"/>
          </a:xfrm>
          <a:prstGeom prst="rect">
            <a:avLst/>
          </a:prstGeom>
          <a:pattFill prst="wdDnDiag">
            <a:fgClr>
              <a:srgbClr val="CC7F7F"/>
            </a:fgClr>
            <a:bgClr>
              <a:srgbClr val="7F7F7F"/>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altLang="de-DE" sz="10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grpSp>
        <p:nvGrpSpPr>
          <p:cNvPr id="30" name="Gruppieren 29">
            <a:extLst>
              <a:ext uri="{FF2B5EF4-FFF2-40B4-BE49-F238E27FC236}">
                <a16:creationId xmlns:a16="http://schemas.microsoft.com/office/drawing/2014/main" id="{2A978BAF-1B4C-4659-BC4F-ACE9D8FCE705}"/>
              </a:ext>
            </a:extLst>
          </p:cNvPr>
          <p:cNvGrpSpPr/>
          <p:nvPr/>
        </p:nvGrpSpPr>
        <p:grpSpPr>
          <a:xfrm>
            <a:off x="5809808" y="1478609"/>
            <a:ext cx="1336784" cy="599067"/>
            <a:chOff x="8102863" y="2024984"/>
            <a:chExt cx="1782379" cy="798755"/>
          </a:xfrm>
        </p:grpSpPr>
        <p:sp>
          <p:nvSpPr>
            <p:cNvPr id="8" name="Textfeld 27">
              <a:extLst>
                <a:ext uri="{FF2B5EF4-FFF2-40B4-BE49-F238E27FC236}">
                  <a16:creationId xmlns:a16="http://schemas.microsoft.com/office/drawing/2014/main" id="{3736FAF2-7CB9-461C-9115-7DEEBC78714B}"/>
                </a:ext>
              </a:extLst>
            </p:cNvPr>
            <p:cNvSpPr txBox="1">
              <a:spLocks noChangeArrowheads="1"/>
            </p:cNvSpPr>
            <p:nvPr/>
          </p:nvSpPr>
          <p:spPr bwMode="auto">
            <a:xfrm>
              <a:off x="8687454" y="2054299"/>
              <a:ext cx="1197788" cy="769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defRPr sz="1400">
                  <a:solidFill>
                    <a:srgbClr val="000000"/>
                  </a:solidFill>
                  <a:latin typeface="Arial" panose="020B0604020202020204" pitchFamily="34" charset="0"/>
                </a:defRPr>
              </a:lvl1pPr>
              <a:lvl2pPr marL="742950" indent="-285750">
                <a:spcBef>
                  <a:spcPct val="20000"/>
                </a:spcBef>
                <a:buFont typeface="Arial" panose="020B0604020202020204" pitchFamily="34" charset="0"/>
                <a:buChar char="–"/>
                <a:defRPr sz="1400">
                  <a:solidFill>
                    <a:srgbClr val="000000"/>
                  </a:solidFill>
                  <a:latin typeface="Arial" panose="020B0604020202020204" pitchFamily="34" charset="0"/>
                </a:defRPr>
              </a:lvl2pPr>
              <a:lvl3pPr marL="1143000" indent="-228600">
                <a:spcBef>
                  <a:spcPct val="20000"/>
                </a:spcBef>
                <a:buChar char="•"/>
                <a:defRPr sz="14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de-DE" sz="10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Single-Task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de-DE" sz="10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performance</a:t>
              </a:r>
            </a:p>
          </p:txBody>
        </p:sp>
        <p:grpSp>
          <p:nvGrpSpPr>
            <p:cNvPr id="24" name="Gruppieren 23">
              <a:extLst>
                <a:ext uri="{FF2B5EF4-FFF2-40B4-BE49-F238E27FC236}">
                  <a16:creationId xmlns:a16="http://schemas.microsoft.com/office/drawing/2014/main" id="{0AEA16F5-827F-4EE1-A2EB-3E359074DB94}"/>
                </a:ext>
              </a:extLst>
            </p:cNvPr>
            <p:cNvGrpSpPr/>
            <p:nvPr/>
          </p:nvGrpSpPr>
          <p:grpSpPr>
            <a:xfrm>
              <a:off x="8102863" y="2038878"/>
              <a:ext cx="216024" cy="554063"/>
              <a:chOff x="9624392" y="2304659"/>
              <a:chExt cx="216024" cy="554063"/>
            </a:xfrm>
          </p:grpSpPr>
          <p:sp>
            <p:nvSpPr>
              <p:cNvPr id="19" name="Rechteck 18">
                <a:extLst>
                  <a:ext uri="{FF2B5EF4-FFF2-40B4-BE49-F238E27FC236}">
                    <a16:creationId xmlns:a16="http://schemas.microsoft.com/office/drawing/2014/main" id="{12B2AB0B-E9C6-422A-9A8D-6EBAD08FE5F4}"/>
                  </a:ext>
                </a:extLst>
              </p:cNvPr>
              <p:cNvSpPr/>
              <p:nvPr/>
            </p:nvSpPr>
            <p:spPr>
              <a:xfrm>
                <a:off x="9624392" y="2304659"/>
                <a:ext cx="216024" cy="221120"/>
              </a:xfrm>
              <a:prstGeom prst="rect">
                <a:avLst/>
              </a:prstGeom>
              <a:solidFill>
                <a:srgbClr val="CC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 name="Rechteck 19">
                <a:extLst>
                  <a:ext uri="{FF2B5EF4-FFF2-40B4-BE49-F238E27FC236}">
                    <a16:creationId xmlns:a16="http://schemas.microsoft.com/office/drawing/2014/main" id="{D6F33BEC-E339-4E95-BD2D-1398D087FAFF}"/>
                  </a:ext>
                </a:extLst>
              </p:cNvPr>
              <p:cNvSpPr/>
              <p:nvPr/>
            </p:nvSpPr>
            <p:spPr>
              <a:xfrm>
                <a:off x="9624392" y="2637602"/>
                <a:ext cx="216024" cy="22112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grpSp>
        <p:sp>
          <p:nvSpPr>
            <p:cNvPr id="23" name="Geschweifte Klammer rechts 22">
              <a:extLst>
                <a:ext uri="{FF2B5EF4-FFF2-40B4-BE49-F238E27FC236}">
                  <a16:creationId xmlns:a16="http://schemas.microsoft.com/office/drawing/2014/main" id="{B3328AA8-96DE-4FF3-A34F-F72CE4C3D756}"/>
                </a:ext>
              </a:extLst>
            </p:cNvPr>
            <p:cNvSpPr/>
            <p:nvPr/>
          </p:nvSpPr>
          <p:spPr>
            <a:xfrm>
              <a:off x="8318887" y="2024984"/>
              <a:ext cx="216024" cy="581850"/>
            </a:xfrm>
            <a:prstGeom prst="rightBrace">
              <a:avLst>
                <a:gd name="adj1" fmla="val 27930"/>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sp>
        <p:nvSpPr>
          <p:cNvPr id="26" name="Textfeld 25">
            <a:extLst>
              <a:ext uri="{FF2B5EF4-FFF2-40B4-BE49-F238E27FC236}">
                <a16:creationId xmlns:a16="http://schemas.microsoft.com/office/drawing/2014/main" id="{6091B12A-8657-487A-B00E-524C6EC9F111}"/>
              </a:ext>
            </a:extLst>
          </p:cNvPr>
          <p:cNvSpPr txBox="1"/>
          <p:nvPr/>
        </p:nvSpPr>
        <p:spPr>
          <a:xfrm>
            <a:off x="775742" y="1237934"/>
            <a:ext cx="4485652" cy="276999"/>
          </a:xfrm>
          <a:prstGeom prst="rect">
            <a:avLst/>
          </a:prstGeom>
          <a:noFill/>
        </p:spPr>
        <p:txBody>
          <a:bodyPr wrap="none" rtlCol="0">
            <a:spAutoFit/>
          </a:bodyPr>
          <a:lstStyle/>
          <a:p>
            <a:pPr marL="68580" marR="0" lvl="0" indent="0" algn="l" defTabSz="685800" rtl="0" eaLnBrk="1" fontAlgn="auto" latinLnBrk="0" hangingPunct="1">
              <a:lnSpc>
                <a:spcPct val="100000"/>
              </a:lnSpc>
              <a:spcBef>
                <a:spcPts val="0"/>
              </a:spcBef>
              <a:spcAft>
                <a:spcPts val="0"/>
              </a:spcAft>
              <a:buClrTx/>
              <a:buSzTx/>
              <a:buFontTx/>
              <a:buNone/>
              <a:tabLst/>
              <a:defRPr/>
            </a:pPr>
            <a:r>
              <a:rPr kumimoji="0" lang="en-US" altLang="de-DE"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Single-Task Performance</a:t>
            </a:r>
            <a:r>
              <a:rPr kumimoji="0" lang="en-US" altLang="de-DE"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 correct responses in one minute</a:t>
            </a:r>
          </a:p>
        </p:txBody>
      </p:sp>
      <mc:AlternateContent xmlns:mc="http://schemas.openxmlformats.org/markup-compatibility/2006" xmlns:a14="http://schemas.microsoft.com/office/drawing/2010/main">
        <mc:Choice Requires="a14">
          <p:sp>
            <p:nvSpPr>
              <p:cNvPr id="31" name="Rechteck 30">
                <a:extLst>
                  <a:ext uri="{FF2B5EF4-FFF2-40B4-BE49-F238E27FC236}">
                    <a16:creationId xmlns:a16="http://schemas.microsoft.com/office/drawing/2014/main" id="{E576FAF2-86D2-4D11-9FB8-0857DDD865EB}"/>
                  </a:ext>
                </a:extLst>
              </p:cNvPr>
              <p:cNvSpPr/>
              <p:nvPr/>
            </p:nvSpPr>
            <p:spPr>
              <a:xfrm>
                <a:off x="5208054" y="3858346"/>
                <a:ext cx="3941539" cy="830484"/>
              </a:xfrm>
              <a:prstGeom prst="rect">
                <a:avLst/>
              </a:prstGeom>
            </p:spPr>
            <p:txBody>
              <a:bodyPr wrap="square">
                <a:spAutoFit/>
              </a:bodyPr>
              <a:lstStyle/>
              <a:p>
                <a:pPr marL="0" marR="0" lvl="0" indent="0" algn="just" defTabSz="914400" rtl="0" eaLnBrk="1" fontAlgn="auto" latinLnBrk="0" hangingPunct="1">
                  <a:lnSpc>
                    <a:spcPct val="2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𝑂𝐷𝑇𝑃𝐸</m:t>
                    </m:r>
                    <m: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=100∗</m:t>
                    </m:r>
                    <m:d>
                      <m:dPr>
                        <m:begChr m:val="["/>
                        <m:endChr m:val="]"/>
                        <m:ctrlPr>
                          <a:rPr kumimoji="0" lang="en-US"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0,5 ∗</m:t>
                        </m:r>
                        <m:f>
                          <m:fPr>
                            <m:ctrlPr>
                              <a:rPr kumimoji="0" lang="en-US"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fPr>
                          <m:num>
                            <m:d>
                              <m:dPr>
                                <m:ctrlPr>
                                  <a:rPr kumimoji="0" lang="en-US"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sSub>
                                  <m:sSubPr>
                                    <m:ctrlPr>
                                      <a:rPr kumimoji="0" lang="en-US"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𝑛𝐶</m:t>
                                    </m:r>
                                  </m:e>
                                  <m:sub>
                                    <m:r>
                                      <m:rPr>
                                        <m:nor/>
                                      </m:rPr>
                                      <a:rPr kumimoji="0" lang="en-GB" sz="1050" b="0" i="0"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A</m:t>
                                    </m:r>
                                    <m:r>
                                      <m:rPr>
                                        <m:nor/>
                                      </m:rPr>
                                      <a:rPr kumimoji="0" lang="en-GB" sz="1050" b="0" i="0"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_</m:t>
                                    </m:r>
                                    <m:r>
                                      <m:rPr>
                                        <m:nor/>
                                      </m:rPr>
                                      <a:rPr kumimoji="0" lang="en-GB" sz="1050" b="0" i="0"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dual</m:t>
                                    </m:r>
                                  </m:sub>
                                </m:sSub>
                              </m:e>
                            </m:d>
                          </m:num>
                          <m:den>
                            <m:d>
                              <m:dPr>
                                <m:ctrlPr>
                                  <a:rPr kumimoji="0" lang="en-US"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sSub>
                                  <m:sSubPr>
                                    <m:ctrlPr>
                                      <a:rPr kumimoji="0" lang="en-US"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𝑛𝐶</m:t>
                                    </m:r>
                                  </m:e>
                                  <m:sub>
                                    <m:r>
                                      <m:rPr>
                                        <m:nor/>
                                      </m:rPr>
                                      <a:rPr kumimoji="0" lang="en-GB" sz="1050" b="0" i="0"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A</m:t>
                                    </m:r>
                                    <m:r>
                                      <m:rPr>
                                        <m:nor/>
                                      </m:rPr>
                                      <a:rPr kumimoji="0" lang="en-GB" sz="1050" b="0" i="0"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_</m:t>
                                    </m:r>
                                    <m:r>
                                      <m:rPr>
                                        <m:nor/>
                                      </m:rPr>
                                      <a:rPr kumimoji="0" lang="en-GB" sz="1050" b="0" i="0"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single</m:t>
                                    </m:r>
                                  </m:sub>
                                </m:sSub>
                              </m:e>
                            </m:d>
                          </m:den>
                        </m:f>
                        <m: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  +0,5 ∗</m:t>
                        </m:r>
                        <m:f>
                          <m:fPr>
                            <m:ctrlPr>
                              <a:rPr kumimoji="0" lang="en-US"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fPr>
                          <m:num>
                            <m:d>
                              <m:dPr>
                                <m:ctrlPr>
                                  <a:rPr kumimoji="0" lang="en-US"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sSub>
                                  <m:sSubPr>
                                    <m:ctrlPr>
                                      <a:rPr kumimoji="0" lang="en-US"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𝑛𝐶</m:t>
                                    </m:r>
                                  </m:e>
                                  <m:sub>
                                    <m:r>
                                      <m:rPr>
                                        <m:nor/>
                                      </m:rPr>
                                      <a:rPr kumimoji="0" lang="de-DE" sz="1050" b="0" i="0"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B</m:t>
                                    </m:r>
                                    <m:r>
                                      <m:rPr>
                                        <m:nor/>
                                      </m:rPr>
                                      <a:rPr kumimoji="0" lang="en-GB" sz="1050" b="0" i="0"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_</m:t>
                                    </m:r>
                                    <m:r>
                                      <m:rPr>
                                        <m:nor/>
                                      </m:rPr>
                                      <a:rPr kumimoji="0" lang="en-GB" sz="1050" b="0" i="0"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dual</m:t>
                                    </m:r>
                                  </m:sub>
                                </m:sSub>
                              </m:e>
                            </m:d>
                          </m:num>
                          <m:den>
                            <m:d>
                              <m:dPr>
                                <m:ctrlPr>
                                  <a:rPr kumimoji="0" lang="en-US"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sSub>
                                  <m:sSubPr>
                                    <m:ctrlPr>
                                      <a:rPr kumimoji="0" lang="en-US"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de-DE"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𝑛𝐶</m:t>
                                    </m:r>
                                  </m:e>
                                  <m:sub>
                                    <m:r>
                                      <m:rPr>
                                        <m:nor/>
                                      </m:rPr>
                                      <a:rPr kumimoji="0" lang="de-DE" sz="1050" b="0" i="0"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B</m:t>
                                    </m:r>
                                    <m:r>
                                      <m:rPr>
                                        <m:nor/>
                                      </m:rPr>
                                      <a:rPr kumimoji="0" lang="en-GB" sz="1050" b="0" i="0"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_</m:t>
                                    </m:r>
                                    <m:r>
                                      <m:rPr>
                                        <m:nor/>
                                      </m:rPr>
                                      <a:rPr kumimoji="0" lang="en-GB" sz="1050" b="0" i="0"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single</m:t>
                                    </m:r>
                                  </m:sub>
                                </m:sSub>
                              </m:e>
                            </m:d>
                          </m:den>
                        </m:f>
                      </m:e>
                    </m:d>
                    <m:r>
                      <a:rPr kumimoji="0" lang="en-GB" sz="105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−100</m:t>
                    </m:r>
                  </m:oMath>
                </a14:m>
                <a:endParaRPr kumimoji="0" lang="en-US" sz="105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1" name="Rechteck 30">
                <a:extLst>
                  <a:ext uri="{FF2B5EF4-FFF2-40B4-BE49-F238E27FC236}">
                    <a16:creationId xmlns:a16="http://schemas.microsoft.com/office/drawing/2014/main" id="{E576FAF2-86D2-4D11-9FB8-0857DDD865EB}"/>
                  </a:ext>
                </a:extLst>
              </p:cNvPr>
              <p:cNvSpPr>
                <a:spLocks noRot="1" noChangeAspect="1" noMove="1" noResize="1" noEditPoints="1" noAdjustHandles="1" noChangeArrowheads="1" noChangeShapeType="1" noTextEdit="1"/>
              </p:cNvSpPr>
              <p:nvPr/>
            </p:nvSpPr>
            <p:spPr>
              <a:xfrm>
                <a:off x="5208054" y="3858346"/>
                <a:ext cx="3941539" cy="830484"/>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39651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22" grpId="0" animBg="1"/>
      <p:bldP spid="3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14D767E-1604-4F88-9DB3-A0A1BCF7E8A7}"/>
              </a:ext>
            </a:extLst>
          </p:cNvPr>
          <p:cNvSpPr>
            <a:spLocks noGrp="1"/>
          </p:cNvSpPr>
          <p:nvPr>
            <p:ph type="title"/>
          </p:nvPr>
        </p:nvSpPr>
        <p:spPr/>
        <p:txBody>
          <a:bodyPr>
            <a:normAutofit fontScale="90000"/>
          </a:bodyPr>
          <a:lstStyle/>
          <a:p>
            <a:r>
              <a:rPr lang="de-DE" dirty="0"/>
              <a:t>Parallel Processing – the Fast Switch </a:t>
            </a:r>
            <a:r>
              <a:rPr lang="de-DE" dirty="0" err="1"/>
              <a:t>Logic</a:t>
            </a:r>
            <a:endParaRPr lang="en-US" dirty="0"/>
          </a:p>
        </p:txBody>
      </p:sp>
      <p:sp>
        <p:nvSpPr>
          <p:cNvPr id="4" name="Foliennummernplatzhalter 3">
            <a:extLst>
              <a:ext uri="{FF2B5EF4-FFF2-40B4-BE49-F238E27FC236}">
                <a16:creationId xmlns:a16="http://schemas.microsoft.com/office/drawing/2014/main" id="{0523F8D9-85BC-49A3-90C3-9C07C6236F9C}"/>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38</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sp>
        <p:nvSpPr>
          <p:cNvPr id="5" name="Inhaltsplatzhalter 2">
            <a:extLst>
              <a:ext uri="{FF2B5EF4-FFF2-40B4-BE49-F238E27FC236}">
                <a16:creationId xmlns:a16="http://schemas.microsoft.com/office/drawing/2014/main" id="{0EE1B135-B2BB-4B33-BA6D-3F8B3E87A11B}"/>
              </a:ext>
            </a:extLst>
          </p:cNvPr>
          <p:cNvSpPr>
            <a:spLocks noGrp="1"/>
          </p:cNvSpPr>
          <p:nvPr>
            <p:ph idx="1"/>
          </p:nvPr>
        </p:nvSpPr>
        <p:spPr>
          <a:xfrm>
            <a:off x="1115616" y="1072357"/>
            <a:ext cx="6663332" cy="3551621"/>
          </a:xfrm>
        </p:spPr>
        <p:txBody>
          <a:bodyPr>
            <a:normAutofit fontScale="40000" lnSpcReduction="20000"/>
          </a:bodyPr>
          <a:lstStyle/>
          <a:p>
            <a:pPr marL="0" indent="0">
              <a:spcAft>
                <a:spcPts val="450"/>
              </a:spcAft>
              <a:buNone/>
            </a:pPr>
            <a:r>
              <a:rPr lang="en-US" altLang="de-DE" sz="3150" b="1" dirty="0"/>
              <a:t>Identification of parallel processing</a:t>
            </a:r>
          </a:p>
          <a:p>
            <a:pPr marL="0" indent="0">
              <a:spcAft>
                <a:spcPts val="450"/>
              </a:spcAft>
              <a:buNone/>
            </a:pPr>
            <a:endParaRPr lang="en-US" altLang="de-DE" sz="2700" b="1" dirty="0"/>
          </a:p>
          <a:p>
            <a:pPr marL="324000" lvl="1" indent="-128588">
              <a:lnSpc>
                <a:spcPct val="120000"/>
              </a:lnSpc>
              <a:spcAft>
                <a:spcPts val="450"/>
              </a:spcAft>
              <a:buFont typeface="Arial" panose="020B0604020202020204" pitchFamily="34" charset="0"/>
              <a:buChar char="•"/>
              <a:defRPr/>
            </a:pPr>
            <a:r>
              <a:rPr lang="en-US" altLang="de-DE" sz="3375" dirty="0">
                <a:solidFill>
                  <a:prstClr val="black"/>
                </a:solidFill>
              </a:rPr>
              <a:t>Not directly visible</a:t>
            </a:r>
          </a:p>
          <a:p>
            <a:pPr>
              <a:lnSpc>
                <a:spcPct val="120000"/>
              </a:lnSpc>
              <a:spcAft>
                <a:spcPts val="450"/>
              </a:spcAft>
              <a:buFont typeface="Symbol" panose="05050102010706020507" pitchFamily="18" charset="2"/>
              <a:buChar char="-"/>
            </a:pPr>
            <a:endParaRPr lang="en-US" altLang="de-DE" dirty="0"/>
          </a:p>
          <a:p>
            <a:pPr>
              <a:lnSpc>
                <a:spcPct val="120000"/>
              </a:lnSpc>
              <a:spcAft>
                <a:spcPts val="450"/>
              </a:spcAft>
              <a:buFont typeface="Symbol" panose="05050102010706020507" pitchFamily="18" charset="2"/>
              <a:buChar char="-"/>
            </a:pPr>
            <a:endParaRPr lang="en-US" altLang="de-DE" dirty="0"/>
          </a:p>
          <a:p>
            <a:pPr>
              <a:lnSpc>
                <a:spcPct val="120000"/>
              </a:lnSpc>
              <a:spcAft>
                <a:spcPts val="450"/>
              </a:spcAft>
              <a:buFont typeface="Symbol" panose="05050102010706020507" pitchFamily="18" charset="2"/>
              <a:buChar char="-"/>
            </a:pPr>
            <a:endParaRPr lang="en-US" altLang="de-DE" dirty="0"/>
          </a:p>
          <a:p>
            <a:pPr>
              <a:lnSpc>
                <a:spcPct val="120000"/>
              </a:lnSpc>
              <a:spcAft>
                <a:spcPts val="450"/>
              </a:spcAft>
              <a:buFont typeface="Symbol" panose="05050102010706020507" pitchFamily="18" charset="2"/>
              <a:buChar char="-"/>
            </a:pPr>
            <a:endParaRPr lang="en-US" altLang="de-DE" dirty="0"/>
          </a:p>
          <a:p>
            <a:pPr>
              <a:lnSpc>
                <a:spcPct val="120000"/>
              </a:lnSpc>
              <a:spcAft>
                <a:spcPts val="1350"/>
              </a:spcAft>
              <a:buFont typeface="Symbol" panose="05050102010706020507" pitchFamily="18" charset="2"/>
              <a:buChar char="-"/>
            </a:pPr>
            <a:endParaRPr lang="en-US" altLang="de-DE" dirty="0"/>
          </a:p>
          <a:p>
            <a:pPr marL="324000" lvl="1" indent="-128588">
              <a:lnSpc>
                <a:spcPct val="120000"/>
              </a:lnSpc>
              <a:spcAft>
                <a:spcPts val="450"/>
              </a:spcAft>
              <a:buFont typeface="Arial" panose="020B0604020202020204" pitchFamily="34" charset="0"/>
              <a:buChar char="•"/>
              <a:defRPr/>
            </a:pPr>
            <a:endParaRPr lang="en-US" altLang="de-DE" sz="2850" dirty="0">
              <a:solidFill>
                <a:prstClr val="black"/>
              </a:solidFill>
            </a:endParaRPr>
          </a:p>
          <a:p>
            <a:pPr marL="324000" lvl="1" indent="-128588">
              <a:lnSpc>
                <a:spcPct val="120000"/>
              </a:lnSpc>
              <a:spcAft>
                <a:spcPts val="450"/>
              </a:spcAft>
              <a:buFont typeface="Arial" panose="020B0604020202020204" pitchFamily="34" charset="0"/>
              <a:buChar char="•"/>
              <a:defRPr/>
            </a:pPr>
            <a:r>
              <a:rPr lang="en-US" altLang="de-DE" sz="3375" dirty="0">
                <a:solidFill>
                  <a:prstClr val="black"/>
                </a:solidFill>
              </a:rPr>
              <a:t>Indication of parallel processing </a:t>
            </a:r>
            <a:r>
              <a:rPr lang="en-US" altLang="de-DE" sz="3375" dirty="0">
                <a:solidFill>
                  <a:prstClr val="black"/>
                </a:solidFill>
                <a:sym typeface="Wingdings" panose="05000000000000000000" pitchFamily="2" charset="2"/>
              </a:rPr>
              <a:t> fast switches:</a:t>
            </a:r>
            <a:br>
              <a:rPr lang="en-US" altLang="de-DE" sz="3375" dirty="0">
                <a:solidFill>
                  <a:prstClr val="black"/>
                </a:solidFill>
                <a:sym typeface="Wingdings" panose="05000000000000000000" pitchFamily="2" charset="2"/>
              </a:rPr>
            </a:br>
            <a:r>
              <a:rPr lang="en-US" altLang="de-DE" sz="3375" dirty="0">
                <a:solidFill>
                  <a:prstClr val="black"/>
                </a:solidFill>
                <a:sym typeface="Wingdings" panose="05000000000000000000" pitchFamily="2" charset="2"/>
              </a:rPr>
              <a:t>If the RT of a switch &lt; 25-%-quantile of the RT in single-task performance, than it is a fast switch</a:t>
            </a:r>
          </a:p>
          <a:p>
            <a:pPr marL="324000" lvl="1" indent="-128588">
              <a:lnSpc>
                <a:spcPct val="120000"/>
              </a:lnSpc>
              <a:spcAft>
                <a:spcPts val="450"/>
              </a:spcAft>
              <a:buFont typeface="Arial" panose="020B0604020202020204" pitchFamily="34" charset="0"/>
              <a:buChar char="•"/>
              <a:defRPr/>
            </a:pPr>
            <a:r>
              <a:rPr lang="en-US" altLang="de-DE" sz="3375" dirty="0">
                <a:solidFill>
                  <a:prstClr val="black"/>
                </a:solidFill>
                <a:sym typeface="Wingdings" panose="05000000000000000000" pitchFamily="2" charset="2"/>
              </a:rPr>
              <a:t>Precondition: no compensatory prolongation of the RT of the previous trials</a:t>
            </a:r>
            <a:endParaRPr lang="en-US" altLang="de-DE" sz="3375" dirty="0">
              <a:solidFill>
                <a:prstClr val="black"/>
              </a:solidFill>
            </a:endParaRPr>
          </a:p>
        </p:txBody>
      </p:sp>
      <p:sp>
        <p:nvSpPr>
          <p:cNvPr id="6" name="Rechteck 5">
            <a:extLst>
              <a:ext uri="{FF2B5EF4-FFF2-40B4-BE49-F238E27FC236}">
                <a16:creationId xmlns:a16="http://schemas.microsoft.com/office/drawing/2014/main" id="{099D0B5F-6851-45A3-82EA-B2D12F8EFC9A}"/>
              </a:ext>
            </a:extLst>
          </p:cNvPr>
          <p:cNvSpPr/>
          <p:nvPr/>
        </p:nvSpPr>
        <p:spPr>
          <a:xfrm>
            <a:off x="4771896" y="2855993"/>
            <a:ext cx="153590" cy="204788"/>
          </a:xfrm>
          <a:prstGeom prst="rect">
            <a:avLst/>
          </a:prstGeom>
          <a:pattFill prst="dkUpDiag">
            <a:fgClr>
              <a:schemeClr val="tx1">
                <a:lumMod val="75000"/>
                <a:lumOff val="25000"/>
              </a:schemeClr>
            </a:fgClr>
            <a:bgClr>
              <a:schemeClr val="bg1"/>
            </a:bgClr>
          </a:patt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750" b="0" i="0" u="none" strike="noStrike" kern="1200" cap="none" spc="0" normalizeH="0" baseline="0" noProof="0">
              <a:ln>
                <a:noFill/>
              </a:ln>
              <a:solidFill>
                <a:prstClr val="black"/>
              </a:solidFill>
              <a:effectLst/>
              <a:uLnTx/>
              <a:uFillTx/>
              <a:latin typeface="Calibri"/>
              <a:ea typeface="+mn-ea"/>
              <a:cs typeface="Arial" pitchFamily="34" charset="0"/>
            </a:endParaRPr>
          </a:p>
        </p:txBody>
      </p:sp>
      <p:sp>
        <p:nvSpPr>
          <p:cNvPr id="7" name="Rechteck 6">
            <a:extLst>
              <a:ext uri="{FF2B5EF4-FFF2-40B4-BE49-F238E27FC236}">
                <a16:creationId xmlns:a16="http://schemas.microsoft.com/office/drawing/2014/main" id="{9508678A-A70C-44D5-A202-97FB75FB3CE6}"/>
              </a:ext>
            </a:extLst>
          </p:cNvPr>
          <p:cNvSpPr/>
          <p:nvPr/>
        </p:nvSpPr>
        <p:spPr>
          <a:xfrm>
            <a:off x="4919533" y="2852422"/>
            <a:ext cx="408384" cy="208359"/>
          </a:xfrm>
          <a:prstGeom prst="rect">
            <a:avLst/>
          </a:prstGeom>
          <a:solidFill>
            <a:schemeClr val="tx1">
              <a:alpha val="50196"/>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750" b="0" i="0" u="none" strike="noStrike" kern="1200" cap="none" spc="0" normalizeH="0" baseline="0" noProof="0">
              <a:ln>
                <a:noFill/>
              </a:ln>
              <a:solidFill>
                <a:prstClr val="black"/>
              </a:solidFill>
              <a:effectLst/>
              <a:uLnTx/>
              <a:uFillTx/>
              <a:latin typeface="Calibri"/>
              <a:ea typeface="+mn-ea"/>
              <a:cs typeface="Arial" pitchFamily="34" charset="0"/>
            </a:endParaRPr>
          </a:p>
        </p:txBody>
      </p:sp>
      <p:sp>
        <p:nvSpPr>
          <p:cNvPr id="8" name="Rechteck 7">
            <a:extLst>
              <a:ext uri="{FF2B5EF4-FFF2-40B4-BE49-F238E27FC236}">
                <a16:creationId xmlns:a16="http://schemas.microsoft.com/office/drawing/2014/main" id="{C24B1339-CEB8-47C2-AB52-E0FB91D181DF}"/>
              </a:ext>
            </a:extLst>
          </p:cNvPr>
          <p:cNvSpPr/>
          <p:nvPr/>
        </p:nvSpPr>
        <p:spPr>
          <a:xfrm>
            <a:off x="4983827" y="2153524"/>
            <a:ext cx="152400" cy="204788"/>
          </a:xfrm>
          <a:prstGeom prst="rect">
            <a:avLst/>
          </a:prstGeom>
          <a:pattFill prst="dkUpDiag">
            <a:fgClr>
              <a:schemeClr val="tx1">
                <a:lumMod val="75000"/>
                <a:lumOff val="25000"/>
              </a:schemeClr>
            </a:fgClr>
            <a:bgClr>
              <a:schemeClr val="bg1"/>
            </a:bgClr>
          </a:patt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750" b="0" i="0" u="none" strike="noStrike" kern="1200" cap="none" spc="0" normalizeH="0" baseline="0" noProof="0">
              <a:ln>
                <a:noFill/>
              </a:ln>
              <a:solidFill>
                <a:prstClr val="black"/>
              </a:solidFill>
              <a:effectLst/>
              <a:uLnTx/>
              <a:uFillTx/>
              <a:latin typeface="Calibri"/>
              <a:ea typeface="+mn-ea"/>
              <a:cs typeface="Arial" pitchFamily="34" charset="0"/>
            </a:endParaRPr>
          </a:p>
        </p:txBody>
      </p:sp>
      <p:sp>
        <p:nvSpPr>
          <p:cNvPr id="9" name="Rechteck 8">
            <a:extLst>
              <a:ext uri="{FF2B5EF4-FFF2-40B4-BE49-F238E27FC236}">
                <a16:creationId xmlns:a16="http://schemas.microsoft.com/office/drawing/2014/main" id="{01BD07EC-1BBE-4DD4-8473-FC7529DF1ED6}"/>
              </a:ext>
            </a:extLst>
          </p:cNvPr>
          <p:cNvSpPr/>
          <p:nvPr/>
        </p:nvSpPr>
        <p:spPr>
          <a:xfrm>
            <a:off x="4567108" y="1935641"/>
            <a:ext cx="416719" cy="205978"/>
          </a:xfrm>
          <a:prstGeom prst="rect">
            <a:avLst/>
          </a:prstGeom>
          <a:solidFill>
            <a:srgbClr val="990000">
              <a:alpha val="50196"/>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A</a:t>
            </a:r>
          </a:p>
        </p:txBody>
      </p:sp>
      <p:sp>
        <p:nvSpPr>
          <p:cNvPr id="10" name="Rechteck 9">
            <a:extLst>
              <a:ext uri="{FF2B5EF4-FFF2-40B4-BE49-F238E27FC236}">
                <a16:creationId xmlns:a16="http://schemas.microsoft.com/office/drawing/2014/main" id="{30D4C2A2-6926-4AC0-8572-744850620B7F}"/>
              </a:ext>
            </a:extLst>
          </p:cNvPr>
          <p:cNvSpPr/>
          <p:nvPr/>
        </p:nvSpPr>
        <p:spPr>
          <a:xfrm>
            <a:off x="5131464" y="2149953"/>
            <a:ext cx="407194" cy="208359"/>
          </a:xfrm>
          <a:prstGeom prst="rect">
            <a:avLst/>
          </a:prstGeom>
          <a:solidFill>
            <a:schemeClr val="tx1">
              <a:alpha val="50196"/>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B</a:t>
            </a:r>
          </a:p>
        </p:txBody>
      </p:sp>
      <p:sp>
        <p:nvSpPr>
          <p:cNvPr id="11" name="Rechteck 10">
            <a:extLst>
              <a:ext uri="{FF2B5EF4-FFF2-40B4-BE49-F238E27FC236}">
                <a16:creationId xmlns:a16="http://schemas.microsoft.com/office/drawing/2014/main" id="{226522BC-9495-4842-B0DA-4D5C369BF706}"/>
              </a:ext>
            </a:extLst>
          </p:cNvPr>
          <p:cNvSpPr/>
          <p:nvPr/>
        </p:nvSpPr>
        <p:spPr>
          <a:xfrm>
            <a:off x="4157533" y="1935641"/>
            <a:ext cx="417909" cy="205978"/>
          </a:xfrm>
          <a:prstGeom prst="rect">
            <a:avLst/>
          </a:prstGeom>
          <a:solidFill>
            <a:srgbClr val="990000">
              <a:alpha val="50196"/>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A</a:t>
            </a:r>
          </a:p>
        </p:txBody>
      </p:sp>
      <p:cxnSp>
        <p:nvCxnSpPr>
          <p:cNvPr id="12" name="Gerade Verbindung 9">
            <a:extLst>
              <a:ext uri="{FF2B5EF4-FFF2-40B4-BE49-F238E27FC236}">
                <a16:creationId xmlns:a16="http://schemas.microsoft.com/office/drawing/2014/main" id="{62B45C9F-2156-4378-91FC-8B76E3ED4597}"/>
              </a:ext>
            </a:extLst>
          </p:cNvPr>
          <p:cNvCxnSpPr/>
          <p:nvPr/>
        </p:nvCxnSpPr>
        <p:spPr>
          <a:xfrm flipV="1">
            <a:off x="4568298" y="1827293"/>
            <a:ext cx="0" cy="315516"/>
          </a:xfrm>
          <a:prstGeom prst="line">
            <a:avLst/>
          </a:prstGeom>
          <a:ln w="3810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13" name="Gerade Verbindung 10">
            <a:extLst>
              <a:ext uri="{FF2B5EF4-FFF2-40B4-BE49-F238E27FC236}">
                <a16:creationId xmlns:a16="http://schemas.microsoft.com/office/drawing/2014/main" id="{B781F4A9-0B78-4508-B132-46FE7589AC87}"/>
              </a:ext>
            </a:extLst>
          </p:cNvPr>
          <p:cNvCxnSpPr/>
          <p:nvPr/>
        </p:nvCxnSpPr>
        <p:spPr>
          <a:xfrm flipV="1">
            <a:off x="4976683" y="1823722"/>
            <a:ext cx="0" cy="315515"/>
          </a:xfrm>
          <a:prstGeom prst="line">
            <a:avLst/>
          </a:prstGeom>
          <a:ln w="3810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14" name="Gerade Verbindung 11">
            <a:extLst>
              <a:ext uri="{FF2B5EF4-FFF2-40B4-BE49-F238E27FC236}">
                <a16:creationId xmlns:a16="http://schemas.microsoft.com/office/drawing/2014/main" id="{37503DA9-0260-42F9-946F-EBD16E493AA9}"/>
              </a:ext>
            </a:extLst>
          </p:cNvPr>
          <p:cNvCxnSpPr/>
          <p:nvPr/>
        </p:nvCxnSpPr>
        <p:spPr>
          <a:xfrm flipV="1">
            <a:off x="5543420" y="2145191"/>
            <a:ext cx="0" cy="3155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hteck 14">
            <a:extLst>
              <a:ext uri="{FF2B5EF4-FFF2-40B4-BE49-F238E27FC236}">
                <a16:creationId xmlns:a16="http://schemas.microsoft.com/office/drawing/2014/main" id="{51B621A5-B281-4B83-922F-584FDDD9D2B5}"/>
              </a:ext>
            </a:extLst>
          </p:cNvPr>
          <p:cNvSpPr/>
          <p:nvPr/>
        </p:nvSpPr>
        <p:spPr>
          <a:xfrm>
            <a:off x="3740814" y="1935640"/>
            <a:ext cx="416719" cy="203597"/>
          </a:xfrm>
          <a:prstGeom prst="rect">
            <a:avLst/>
          </a:prstGeom>
          <a:solidFill>
            <a:srgbClr val="990000">
              <a:alpha val="50196"/>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A</a:t>
            </a:r>
          </a:p>
        </p:txBody>
      </p:sp>
      <p:cxnSp>
        <p:nvCxnSpPr>
          <p:cNvPr id="16" name="Gerade Verbindung 15">
            <a:extLst>
              <a:ext uri="{FF2B5EF4-FFF2-40B4-BE49-F238E27FC236}">
                <a16:creationId xmlns:a16="http://schemas.microsoft.com/office/drawing/2014/main" id="{EDE49FBC-FAB2-41C0-AE22-A9EEE31866AE}"/>
              </a:ext>
            </a:extLst>
          </p:cNvPr>
          <p:cNvCxnSpPr/>
          <p:nvPr/>
        </p:nvCxnSpPr>
        <p:spPr>
          <a:xfrm flipV="1">
            <a:off x="4157533" y="1824912"/>
            <a:ext cx="0" cy="315516"/>
          </a:xfrm>
          <a:prstGeom prst="line">
            <a:avLst/>
          </a:prstGeom>
          <a:ln w="3810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17" name="Gerade Verbindung 21">
            <a:extLst>
              <a:ext uri="{FF2B5EF4-FFF2-40B4-BE49-F238E27FC236}">
                <a16:creationId xmlns:a16="http://schemas.microsoft.com/office/drawing/2014/main" id="{5ABD2D8B-24BC-4203-8D5E-8A9E0BE3D041}"/>
              </a:ext>
            </a:extLst>
          </p:cNvPr>
          <p:cNvCxnSpPr/>
          <p:nvPr/>
        </p:nvCxnSpPr>
        <p:spPr>
          <a:xfrm flipV="1">
            <a:off x="5958948" y="2149954"/>
            <a:ext cx="0" cy="3155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 Verbindung 23">
            <a:extLst>
              <a:ext uri="{FF2B5EF4-FFF2-40B4-BE49-F238E27FC236}">
                <a16:creationId xmlns:a16="http://schemas.microsoft.com/office/drawing/2014/main" id="{F4B83BD7-7EC9-4819-9723-2FFF30C27451}"/>
              </a:ext>
            </a:extLst>
          </p:cNvPr>
          <p:cNvCxnSpPr/>
          <p:nvPr/>
        </p:nvCxnSpPr>
        <p:spPr>
          <a:xfrm flipV="1">
            <a:off x="6367333" y="2146381"/>
            <a:ext cx="0" cy="3155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hteck 18">
            <a:extLst>
              <a:ext uri="{FF2B5EF4-FFF2-40B4-BE49-F238E27FC236}">
                <a16:creationId xmlns:a16="http://schemas.microsoft.com/office/drawing/2014/main" id="{6024396D-9831-4C8B-89D2-1D56616035EB}"/>
              </a:ext>
            </a:extLst>
          </p:cNvPr>
          <p:cNvSpPr/>
          <p:nvPr/>
        </p:nvSpPr>
        <p:spPr>
          <a:xfrm>
            <a:off x="5550564" y="2142810"/>
            <a:ext cx="408384" cy="215503"/>
          </a:xfrm>
          <a:prstGeom prst="rect">
            <a:avLst/>
          </a:prstGeom>
          <a:solidFill>
            <a:schemeClr val="tx1">
              <a:alpha val="50196"/>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B</a:t>
            </a:r>
          </a:p>
        </p:txBody>
      </p:sp>
      <p:sp>
        <p:nvSpPr>
          <p:cNvPr id="20" name="Rechteck 19">
            <a:extLst>
              <a:ext uri="{FF2B5EF4-FFF2-40B4-BE49-F238E27FC236}">
                <a16:creationId xmlns:a16="http://schemas.microsoft.com/office/drawing/2014/main" id="{9319E194-B943-4C70-980D-71EA9B0ABAD5}"/>
              </a:ext>
            </a:extLst>
          </p:cNvPr>
          <p:cNvSpPr/>
          <p:nvPr/>
        </p:nvSpPr>
        <p:spPr>
          <a:xfrm>
            <a:off x="5958948" y="2149953"/>
            <a:ext cx="408385" cy="208359"/>
          </a:xfrm>
          <a:prstGeom prst="rect">
            <a:avLst/>
          </a:prstGeom>
          <a:solidFill>
            <a:schemeClr val="tx1">
              <a:alpha val="50196"/>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B</a:t>
            </a:r>
          </a:p>
        </p:txBody>
      </p:sp>
      <p:sp>
        <p:nvSpPr>
          <p:cNvPr id="21" name="Textfeld 27">
            <a:extLst>
              <a:ext uri="{FF2B5EF4-FFF2-40B4-BE49-F238E27FC236}">
                <a16:creationId xmlns:a16="http://schemas.microsoft.com/office/drawing/2014/main" id="{1D335902-21CC-48F3-8A52-F395B7505C7E}"/>
              </a:ext>
            </a:extLst>
          </p:cNvPr>
          <p:cNvSpPr txBox="1">
            <a:spLocks noChangeArrowheads="1"/>
          </p:cNvSpPr>
          <p:nvPr/>
        </p:nvSpPr>
        <p:spPr bwMode="auto">
          <a:xfrm>
            <a:off x="1365052" y="1919307"/>
            <a:ext cx="211144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defRPr sz="1400">
                <a:solidFill>
                  <a:srgbClr val="000000"/>
                </a:solidFill>
                <a:latin typeface="Arial" panose="020B0604020202020204" pitchFamily="34" charset="0"/>
              </a:defRPr>
            </a:lvl1pPr>
            <a:lvl2pPr marL="742950" indent="-285750">
              <a:spcBef>
                <a:spcPct val="20000"/>
              </a:spcBef>
              <a:buFont typeface="Arial" panose="020B0604020202020204" pitchFamily="34" charset="0"/>
              <a:buChar char="–"/>
              <a:defRPr sz="1400">
                <a:solidFill>
                  <a:srgbClr val="000000"/>
                </a:solidFill>
                <a:latin typeface="Arial" panose="020B0604020202020204" pitchFamily="34" charset="0"/>
              </a:defRPr>
            </a:lvl2pPr>
            <a:lvl3pPr marL="1143000" indent="-228600">
              <a:spcBef>
                <a:spcPct val="20000"/>
              </a:spcBef>
              <a:buChar char="•"/>
              <a:defRPr sz="14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de-DE" sz="1050" b="0" i="0" u="none" strike="noStrike" kern="1200" cap="none" spc="0" normalizeH="0" baseline="0" noProof="0">
                <a:ln>
                  <a:noFill/>
                </a:ln>
                <a:solidFill>
                  <a:prstClr val="black"/>
                </a:solidFill>
                <a:effectLst/>
                <a:uLnTx/>
                <a:uFillTx/>
                <a:latin typeface="Arial" panose="020B0604020202020204" pitchFamily="34" charset="0"/>
                <a:ea typeface="+mn-ea"/>
                <a:cs typeface="+mn-cs"/>
              </a:rPr>
              <a:t>Expected RT-pattern in case of </a:t>
            </a:r>
            <a:r>
              <a:rPr kumimoji="0" lang="en-US" altLang="de-DE" sz="1050" b="1" i="0" u="none" strike="noStrike" kern="1200" cap="none" spc="0" normalizeH="0" baseline="0" noProof="0">
                <a:ln>
                  <a:noFill/>
                </a:ln>
                <a:solidFill>
                  <a:prstClr val="black"/>
                </a:solidFill>
                <a:effectLst/>
                <a:uLnTx/>
                <a:uFillTx/>
                <a:latin typeface="Arial" panose="020B0604020202020204" pitchFamily="34" charset="0"/>
                <a:ea typeface="+mn-ea"/>
                <a:cs typeface="+mn-cs"/>
              </a:rPr>
              <a:t>serial processing</a:t>
            </a:r>
          </a:p>
        </p:txBody>
      </p:sp>
      <p:sp>
        <p:nvSpPr>
          <p:cNvPr id="22" name="Rechteck 21">
            <a:extLst>
              <a:ext uri="{FF2B5EF4-FFF2-40B4-BE49-F238E27FC236}">
                <a16:creationId xmlns:a16="http://schemas.microsoft.com/office/drawing/2014/main" id="{2E802452-DF3F-466B-BE67-60135A3173CB}"/>
              </a:ext>
            </a:extLst>
          </p:cNvPr>
          <p:cNvSpPr/>
          <p:nvPr/>
        </p:nvSpPr>
        <p:spPr>
          <a:xfrm>
            <a:off x="6823010" y="1587783"/>
            <a:ext cx="408384" cy="215504"/>
          </a:xfrm>
          <a:prstGeom prst="rect">
            <a:avLst/>
          </a:prstGeom>
          <a:solidFill>
            <a:schemeClr val="tx1">
              <a:alpha val="50196"/>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B</a:t>
            </a:r>
          </a:p>
        </p:txBody>
      </p:sp>
      <p:sp>
        <p:nvSpPr>
          <p:cNvPr id="23" name="Textfeld 27">
            <a:extLst>
              <a:ext uri="{FF2B5EF4-FFF2-40B4-BE49-F238E27FC236}">
                <a16:creationId xmlns:a16="http://schemas.microsoft.com/office/drawing/2014/main" id="{71EEC4D3-8C82-4849-8C56-AB3CDF77F645}"/>
              </a:ext>
            </a:extLst>
          </p:cNvPr>
          <p:cNvSpPr txBox="1">
            <a:spLocks noChangeArrowheads="1"/>
          </p:cNvSpPr>
          <p:nvPr/>
        </p:nvSpPr>
        <p:spPr bwMode="auto">
          <a:xfrm>
            <a:off x="7231394" y="1562120"/>
            <a:ext cx="159450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defRPr sz="1400">
                <a:solidFill>
                  <a:srgbClr val="000000"/>
                </a:solidFill>
                <a:latin typeface="Arial" panose="020B0604020202020204" pitchFamily="34" charset="0"/>
              </a:defRPr>
            </a:lvl1pPr>
            <a:lvl2pPr marL="742950" indent="-285750">
              <a:spcBef>
                <a:spcPct val="20000"/>
              </a:spcBef>
              <a:buFont typeface="Arial" panose="020B0604020202020204" pitchFamily="34" charset="0"/>
              <a:buChar char="–"/>
              <a:defRPr sz="1400">
                <a:solidFill>
                  <a:srgbClr val="000000"/>
                </a:solidFill>
                <a:latin typeface="Arial" panose="020B0604020202020204" pitchFamily="34" charset="0"/>
              </a:defRPr>
            </a:lvl2pPr>
            <a:lvl3pPr marL="1143000" indent="-228600">
              <a:spcBef>
                <a:spcPct val="20000"/>
              </a:spcBef>
              <a:buChar char="•"/>
              <a:defRPr sz="14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de-DE" sz="900" b="0" i="0" u="none" strike="noStrike" kern="1200" cap="none" spc="0" normalizeH="0" baseline="0" noProof="0">
                <a:ln>
                  <a:noFill/>
                </a:ln>
                <a:solidFill>
                  <a:prstClr val="black"/>
                </a:solidFill>
                <a:effectLst/>
                <a:uLnTx/>
                <a:uFillTx/>
                <a:latin typeface="Arial" panose="020B0604020202020204" pitchFamily="34" charset="0"/>
                <a:ea typeface="+mn-ea"/>
                <a:cs typeface="+mn-cs"/>
              </a:rPr>
              <a:t>Typical RT in single-tasks</a:t>
            </a:r>
          </a:p>
        </p:txBody>
      </p:sp>
      <p:sp>
        <p:nvSpPr>
          <p:cNvPr id="24" name="Rechteck 23">
            <a:extLst>
              <a:ext uri="{FF2B5EF4-FFF2-40B4-BE49-F238E27FC236}">
                <a16:creationId xmlns:a16="http://schemas.microsoft.com/office/drawing/2014/main" id="{F7CA927B-F979-4ABB-836A-00CCDB3BEF1B}"/>
              </a:ext>
            </a:extLst>
          </p:cNvPr>
          <p:cNvSpPr/>
          <p:nvPr/>
        </p:nvSpPr>
        <p:spPr>
          <a:xfrm>
            <a:off x="7074232" y="1913354"/>
            <a:ext cx="157163" cy="208360"/>
          </a:xfrm>
          <a:prstGeom prst="rect">
            <a:avLst/>
          </a:prstGeom>
          <a:pattFill prst="dkUpDiag">
            <a:fgClr>
              <a:schemeClr val="tx1">
                <a:lumMod val="75000"/>
                <a:lumOff val="25000"/>
              </a:schemeClr>
            </a:fgClr>
            <a:bgClr>
              <a:schemeClr val="bg1"/>
            </a:bgClr>
          </a:patt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750" b="0" i="0" u="none" strike="noStrike" kern="1200" cap="none" spc="0" normalizeH="0" baseline="0" noProof="0">
              <a:ln>
                <a:noFill/>
              </a:ln>
              <a:solidFill>
                <a:prstClr val="black"/>
              </a:solidFill>
              <a:effectLst/>
              <a:uLnTx/>
              <a:uFillTx/>
              <a:latin typeface="Calibri"/>
              <a:ea typeface="+mn-ea"/>
              <a:cs typeface="Arial" pitchFamily="34" charset="0"/>
            </a:endParaRPr>
          </a:p>
        </p:txBody>
      </p:sp>
      <p:sp>
        <p:nvSpPr>
          <p:cNvPr id="25" name="Textfeld 27">
            <a:extLst>
              <a:ext uri="{FF2B5EF4-FFF2-40B4-BE49-F238E27FC236}">
                <a16:creationId xmlns:a16="http://schemas.microsoft.com/office/drawing/2014/main" id="{B2A1C4DA-3E32-4B56-B6ED-C0508BF1FC0D}"/>
              </a:ext>
            </a:extLst>
          </p:cNvPr>
          <p:cNvSpPr txBox="1">
            <a:spLocks noChangeArrowheads="1"/>
          </p:cNvSpPr>
          <p:nvPr/>
        </p:nvSpPr>
        <p:spPr bwMode="auto">
          <a:xfrm>
            <a:off x="7231395" y="1919307"/>
            <a:ext cx="102155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ts val="2200"/>
              </a:lnSpc>
              <a:defRPr sz="1400">
                <a:solidFill>
                  <a:srgbClr val="000000"/>
                </a:solidFill>
                <a:latin typeface="Arial" panose="020B0604020202020204" pitchFamily="34" charset="0"/>
              </a:defRPr>
            </a:lvl1pPr>
            <a:lvl2pPr marL="742950" indent="-285750">
              <a:spcBef>
                <a:spcPct val="20000"/>
              </a:spcBef>
              <a:buFont typeface="Arial" panose="020B0604020202020204" pitchFamily="34" charset="0"/>
              <a:buChar char="–"/>
              <a:defRPr sz="1400">
                <a:solidFill>
                  <a:srgbClr val="000000"/>
                </a:solidFill>
                <a:latin typeface="Arial" panose="020B0604020202020204" pitchFamily="34" charset="0"/>
              </a:defRPr>
            </a:lvl2pPr>
            <a:lvl3pPr marL="1143000" indent="-228600">
              <a:spcBef>
                <a:spcPct val="20000"/>
              </a:spcBef>
              <a:buChar char="•"/>
              <a:defRPr sz="14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mn-cs"/>
              </a:rPr>
              <a:t>Switch costs</a:t>
            </a:r>
            <a:endParaRPr kumimoji="0" lang="en-US" altLang="de-DE" sz="863"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6" name="Rechteck 25">
            <a:extLst>
              <a:ext uri="{FF2B5EF4-FFF2-40B4-BE49-F238E27FC236}">
                <a16:creationId xmlns:a16="http://schemas.microsoft.com/office/drawing/2014/main" id="{90688832-6E32-4AA0-A619-80A978AE895B}"/>
              </a:ext>
            </a:extLst>
          </p:cNvPr>
          <p:cNvSpPr/>
          <p:nvPr/>
        </p:nvSpPr>
        <p:spPr>
          <a:xfrm>
            <a:off x="4567108" y="2638110"/>
            <a:ext cx="416719" cy="205978"/>
          </a:xfrm>
          <a:prstGeom prst="rect">
            <a:avLst/>
          </a:prstGeom>
          <a:solidFill>
            <a:srgbClr val="990000">
              <a:alpha val="50196"/>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A</a:t>
            </a:r>
          </a:p>
        </p:txBody>
      </p:sp>
      <p:sp>
        <p:nvSpPr>
          <p:cNvPr id="27" name="Rechteck 26">
            <a:extLst>
              <a:ext uri="{FF2B5EF4-FFF2-40B4-BE49-F238E27FC236}">
                <a16:creationId xmlns:a16="http://schemas.microsoft.com/office/drawing/2014/main" id="{53F36FFF-D462-43E8-9CCE-E2802945BA85}"/>
              </a:ext>
            </a:extLst>
          </p:cNvPr>
          <p:cNvSpPr/>
          <p:nvPr/>
        </p:nvSpPr>
        <p:spPr>
          <a:xfrm>
            <a:off x="4976683" y="2859565"/>
            <a:ext cx="344090" cy="204788"/>
          </a:xfrm>
          <a:prstGeom prst="rect">
            <a:avLst/>
          </a:prstGeom>
          <a:solidFill>
            <a:schemeClr val="tx1">
              <a:alpha val="50196"/>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B</a:t>
            </a:r>
          </a:p>
        </p:txBody>
      </p:sp>
      <p:sp>
        <p:nvSpPr>
          <p:cNvPr id="28" name="Rechteck 27">
            <a:extLst>
              <a:ext uri="{FF2B5EF4-FFF2-40B4-BE49-F238E27FC236}">
                <a16:creationId xmlns:a16="http://schemas.microsoft.com/office/drawing/2014/main" id="{71D3BE2C-042F-49ED-A763-6238BCE6744F}"/>
              </a:ext>
            </a:extLst>
          </p:cNvPr>
          <p:cNvSpPr/>
          <p:nvPr/>
        </p:nvSpPr>
        <p:spPr>
          <a:xfrm>
            <a:off x="4157533" y="2638110"/>
            <a:ext cx="417909" cy="205978"/>
          </a:xfrm>
          <a:prstGeom prst="rect">
            <a:avLst/>
          </a:prstGeom>
          <a:solidFill>
            <a:srgbClr val="990000">
              <a:alpha val="50196"/>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A</a:t>
            </a:r>
          </a:p>
        </p:txBody>
      </p:sp>
      <p:cxnSp>
        <p:nvCxnSpPr>
          <p:cNvPr id="29" name="Gerade Verbindung 35">
            <a:extLst>
              <a:ext uri="{FF2B5EF4-FFF2-40B4-BE49-F238E27FC236}">
                <a16:creationId xmlns:a16="http://schemas.microsoft.com/office/drawing/2014/main" id="{C644E4EA-F2CE-48D6-92BE-C5665A0FA7DA}"/>
              </a:ext>
            </a:extLst>
          </p:cNvPr>
          <p:cNvCxnSpPr/>
          <p:nvPr/>
        </p:nvCxnSpPr>
        <p:spPr>
          <a:xfrm flipV="1">
            <a:off x="4568298" y="2529762"/>
            <a:ext cx="0" cy="315516"/>
          </a:xfrm>
          <a:prstGeom prst="line">
            <a:avLst/>
          </a:prstGeom>
          <a:ln w="3810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30" name="Gerade Verbindung 36">
            <a:extLst>
              <a:ext uri="{FF2B5EF4-FFF2-40B4-BE49-F238E27FC236}">
                <a16:creationId xmlns:a16="http://schemas.microsoft.com/office/drawing/2014/main" id="{DA1612DE-8E19-4260-80C7-8B068F9902C0}"/>
              </a:ext>
            </a:extLst>
          </p:cNvPr>
          <p:cNvCxnSpPr/>
          <p:nvPr/>
        </p:nvCxnSpPr>
        <p:spPr>
          <a:xfrm flipV="1">
            <a:off x="4976683" y="2526191"/>
            <a:ext cx="0" cy="315515"/>
          </a:xfrm>
          <a:prstGeom prst="line">
            <a:avLst/>
          </a:prstGeom>
          <a:ln w="3810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31" name="Gerade Verbindung 37">
            <a:extLst>
              <a:ext uri="{FF2B5EF4-FFF2-40B4-BE49-F238E27FC236}">
                <a16:creationId xmlns:a16="http://schemas.microsoft.com/office/drawing/2014/main" id="{5CAC6465-D525-42C4-BEE9-5CD8B5EEFB07}"/>
              </a:ext>
            </a:extLst>
          </p:cNvPr>
          <p:cNvCxnSpPr/>
          <p:nvPr/>
        </p:nvCxnSpPr>
        <p:spPr>
          <a:xfrm flipV="1">
            <a:off x="5327917" y="2847660"/>
            <a:ext cx="0" cy="3155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Rechteck 31">
            <a:extLst>
              <a:ext uri="{FF2B5EF4-FFF2-40B4-BE49-F238E27FC236}">
                <a16:creationId xmlns:a16="http://schemas.microsoft.com/office/drawing/2014/main" id="{9D1B16DF-7795-4900-B1DF-8FFDD9AACBB4}"/>
              </a:ext>
            </a:extLst>
          </p:cNvPr>
          <p:cNvSpPr/>
          <p:nvPr/>
        </p:nvSpPr>
        <p:spPr>
          <a:xfrm>
            <a:off x="3740814" y="2638109"/>
            <a:ext cx="416719" cy="214313"/>
          </a:xfrm>
          <a:prstGeom prst="rect">
            <a:avLst/>
          </a:prstGeom>
          <a:solidFill>
            <a:srgbClr val="990000">
              <a:alpha val="50196"/>
            </a:srgb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A</a:t>
            </a:r>
          </a:p>
        </p:txBody>
      </p:sp>
      <p:cxnSp>
        <p:nvCxnSpPr>
          <p:cNvPr id="33" name="Gerade Verbindung 39">
            <a:extLst>
              <a:ext uri="{FF2B5EF4-FFF2-40B4-BE49-F238E27FC236}">
                <a16:creationId xmlns:a16="http://schemas.microsoft.com/office/drawing/2014/main" id="{9B4DE23D-426C-4D01-9531-C6B597B437EA}"/>
              </a:ext>
            </a:extLst>
          </p:cNvPr>
          <p:cNvCxnSpPr/>
          <p:nvPr/>
        </p:nvCxnSpPr>
        <p:spPr>
          <a:xfrm flipV="1">
            <a:off x="4157533" y="2527381"/>
            <a:ext cx="0" cy="315516"/>
          </a:xfrm>
          <a:prstGeom prst="line">
            <a:avLst/>
          </a:prstGeom>
          <a:ln w="38100">
            <a:solidFill>
              <a:srgbClr val="990000"/>
            </a:solidFill>
          </a:ln>
        </p:spPr>
        <p:style>
          <a:lnRef idx="1">
            <a:schemeClr val="accent1"/>
          </a:lnRef>
          <a:fillRef idx="0">
            <a:schemeClr val="accent1"/>
          </a:fillRef>
          <a:effectRef idx="0">
            <a:schemeClr val="accent1"/>
          </a:effectRef>
          <a:fontRef idx="minor">
            <a:schemeClr val="tx1"/>
          </a:fontRef>
        </p:style>
      </p:cxnSp>
      <p:cxnSp>
        <p:nvCxnSpPr>
          <p:cNvPr id="34" name="Gerade Verbindung 41">
            <a:extLst>
              <a:ext uri="{FF2B5EF4-FFF2-40B4-BE49-F238E27FC236}">
                <a16:creationId xmlns:a16="http://schemas.microsoft.com/office/drawing/2014/main" id="{16D55F62-8872-4BD0-9713-6DEDB67C3EAE}"/>
              </a:ext>
            </a:extLst>
          </p:cNvPr>
          <p:cNvCxnSpPr/>
          <p:nvPr/>
        </p:nvCxnSpPr>
        <p:spPr>
          <a:xfrm flipV="1">
            <a:off x="5743445" y="2852422"/>
            <a:ext cx="0" cy="3155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Gerade Verbindung 42">
            <a:extLst>
              <a:ext uri="{FF2B5EF4-FFF2-40B4-BE49-F238E27FC236}">
                <a16:creationId xmlns:a16="http://schemas.microsoft.com/office/drawing/2014/main" id="{3166EDC6-2EB1-467D-A58E-DE7B6563BE2C}"/>
              </a:ext>
            </a:extLst>
          </p:cNvPr>
          <p:cNvCxnSpPr/>
          <p:nvPr/>
        </p:nvCxnSpPr>
        <p:spPr>
          <a:xfrm flipV="1">
            <a:off x="6151829" y="2848850"/>
            <a:ext cx="0" cy="3155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Rechteck 35">
            <a:extLst>
              <a:ext uri="{FF2B5EF4-FFF2-40B4-BE49-F238E27FC236}">
                <a16:creationId xmlns:a16="http://schemas.microsoft.com/office/drawing/2014/main" id="{1AD3E68F-E1BC-45C9-960B-1526A0537BCC}"/>
              </a:ext>
            </a:extLst>
          </p:cNvPr>
          <p:cNvSpPr/>
          <p:nvPr/>
        </p:nvSpPr>
        <p:spPr>
          <a:xfrm>
            <a:off x="5335061" y="2845278"/>
            <a:ext cx="408385" cy="215503"/>
          </a:xfrm>
          <a:prstGeom prst="rect">
            <a:avLst/>
          </a:prstGeom>
          <a:solidFill>
            <a:schemeClr val="tx1">
              <a:alpha val="50196"/>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B</a:t>
            </a:r>
          </a:p>
        </p:txBody>
      </p:sp>
      <p:sp>
        <p:nvSpPr>
          <p:cNvPr id="37" name="Rechteck 36">
            <a:extLst>
              <a:ext uri="{FF2B5EF4-FFF2-40B4-BE49-F238E27FC236}">
                <a16:creationId xmlns:a16="http://schemas.microsoft.com/office/drawing/2014/main" id="{D6C51004-1EA1-4E94-9482-F5BBBDCB1F2D}"/>
              </a:ext>
            </a:extLst>
          </p:cNvPr>
          <p:cNvSpPr/>
          <p:nvPr/>
        </p:nvSpPr>
        <p:spPr>
          <a:xfrm>
            <a:off x="5743445" y="2852422"/>
            <a:ext cx="408384" cy="208359"/>
          </a:xfrm>
          <a:prstGeom prst="rect">
            <a:avLst/>
          </a:prstGeom>
          <a:solidFill>
            <a:schemeClr val="tx1">
              <a:alpha val="50196"/>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a:ln>
                  <a:noFill/>
                </a:ln>
                <a:solidFill>
                  <a:prstClr val="black"/>
                </a:solidFill>
                <a:effectLst/>
                <a:uLnTx/>
                <a:uFillTx/>
                <a:latin typeface="Calibri"/>
                <a:ea typeface="+mn-ea"/>
                <a:cs typeface="Arial" pitchFamily="34" charset="0"/>
              </a:rPr>
              <a:t>B</a:t>
            </a:r>
          </a:p>
        </p:txBody>
      </p:sp>
      <p:sp>
        <p:nvSpPr>
          <p:cNvPr id="38" name="Textfeld 27">
            <a:extLst>
              <a:ext uri="{FF2B5EF4-FFF2-40B4-BE49-F238E27FC236}">
                <a16:creationId xmlns:a16="http://schemas.microsoft.com/office/drawing/2014/main" id="{F6FE2F83-EFD1-4869-8621-65382A2FCD68}"/>
              </a:ext>
            </a:extLst>
          </p:cNvPr>
          <p:cNvSpPr txBox="1">
            <a:spLocks noChangeArrowheads="1"/>
          </p:cNvSpPr>
          <p:nvPr/>
        </p:nvSpPr>
        <p:spPr bwMode="auto">
          <a:xfrm>
            <a:off x="1365051" y="2534798"/>
            <a:ext cx="2126827"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defRPr sz="1400">
                <a:solidFill>
                  <a:srgbClr val="000000"/>
                </a:solidFill>
                <a:latin typeface="Arial" panose="020B0604020202020204" pitchFamily="34" charset="0"/>
              </a:defRPr>
            </a:lvl1pPr>
            <a:lvl2pPr marL="742950" indent="-285750">
              <a:spcBef>
                <a:spcPct val="20000"/>
              </a:spcBef>
              <a:buFont typeface="Arial" panose="020B0604020202020204" pitchFamily="34" charset="0"/>
              <a:buChar char="–"/>
              <a:defRPr sz="1400">
                <a:solidFill>
                  <a:srgbClr val="000000"/>
                </a:solidFill>
                <a:latin typeface="Arial" panose="020B0604020202020204" pitchFamily="34" charset="0"/>
              </a:defRPr>
            </a:lvl2pPr>
            <a:lvl3pPr marL="1143000" indent="-228600">
              <a:spcBef>
                <a:spcPct val="20000"/>
              </a:spcBef>
              <a:buChar char="•"/>
              <a:defRPr sz="14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de-DE" sz="1050" b="0" i="0" u="none" strike="noStrike" kern="1200" cap="none" spc="0" normalizeH="0" baseline="0" noProof="0">
                <a:ln>
                  <a:noFill/>
                </a:ln>
                <a:solidFill>
                  <a:prstClr val="black"/>
                </a:solidFill>
                <a:effectLst/>
                <a:uLnTx/>
                <a:uFillTx/>
                <a:latin typeface="Arial" panose="020B0604020202020204" pitchFamily="34" charset="0"/>
                <a:ea typeface="+mn-ea"/>
                <a:cs typeface="+mn-cs"/>
              </a:rPr>
              <a:t>RT-pattern with fast switches </a:t>
            </a:r>
            <a:r>
              <a:rPr kumimoji="0" lang="en-US" altLang="de-DE" sz="1050" b="0" i="0" u="none" strike="noStrike" kern="1200" cap="none" spc="0" normalizeH="0" baseline="0" noProof="0">
                <a:ln>
                  <a:noFill/>
                </a:ln>
                <a:solidFill>
                  <a:prstClr val="black"/>
                </a:solidFill>
                <a:effectLst/>
                <a:uLnTx/>
                <a:uFillTx/>
                <a:latin typeface="Arial" panose="020B0604020202020204" pitchFamily="34" charset="0"/>
                <a:ea typeface="+mn-ea"/>
                <a:cs typeface="+mn-cs"/>
                <a:sym typeface="Wingdings" panose="05000000000000000000" pitchFamily="2" charset="2"/>
              </a:rPr>
              <a:t> evidence for </a:t>
            </a:r>
            <a:r>
              <a:rPr kumimoji="0" lang="en-US" altLang="de-DE" sz="1050" b="1" i="0" u="none" strike="noStrike" kern="1200" cap="none" spc="0" normalizeH="0" baseline="0" noProof="0">
                <a:ln>
                  <a:noFill/>
                </a:ln>
                <a:solidFill>
                  <a:prstClr val="black"/>
                </a:solidFill>
                <a:effectLst/>
                <a:uLnTx/>
                <a:uFillTx/>
                <a:latin typeface="Arial" panose="020B0604020202020204" pitchFamily="34" charset="0"/>
                <a:ea typeface="+mn-ea"/>
                <a:cs typeface="+mn-cs"/>
                <a:sym typeface="Wingdings" panose="05000000000000000000" pitchFamily="2" charset="2"/>
              </a:rPr>
              <a:t>parallel </a:t>
            </a:r>
            <a:r>
              <a:rPr kumimoji="0" lang="en-US" altLang="de-DE" sz="1050" b="1" i="0" u="none" strike="noStrike" kern="1200" cap="none" spc="0" normalizeH="0" baseline="0" noProof="0">
                <a:ln>
                  <a:noFill/>
                </a:ln>
                <a:solidFill>
                  <a:prstClr val="black"/>
                </a:solidFill>
                <a:effectLst/>
                <a:uLnTx/>
                <a:uFillTx/>
                <a:latin typeface="Arial" panose="020B0604020202020204" pitchFamily="34" charset="0"/>
                <a:ea typeface="+mn-ea"/>
                <a:cs typeface="+mn-cs"/>
              </a:rPr>
              <a:t>processing</a:t>
            </a:r>
            <a:endParaRPr kumimoji="0" lang="en-US" altLang="de-DE" sz="105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9" name="Ellipse 46">
            <a:extLst>
              <a:ext uri="{FF2B5EF4-FFF2-40B4-BE49-F238E27FC236}">
                <a16:creationId xmlns:a16="http://schemas.microsoft.com/office/drawing/2014/main" id="{EC328F28-CC5E-45FA-91BF-DF4D847829BC}"/>
              </a:ext>
            </a:extLst>
          </p:cNvPr>
          <p:cNvSpPr>
            <a:spLocks noChangeArrowheads="1"/>
          </p:cNvSpPr>
          <p:nvPr/>
        </p:nvSpPr>
        <p:spPr bwMode="auto">
          <a:xfrm>
            <a:off x="4889767" y="2688115"/>
            <a:ext cx="532210" cy="479822"/>
          </a:xfrm>
          <a:prstGeom prst="ellipse">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ts val="2200"/>
              </a:lnSpc>
              <a:defRPr sz="1400">
                <a:solidFill>
                  <a:srgbClr val="000000"/>
                </a:solidFill>
                <a:latin typeface="Arial" panose="020B0604020202020204" pitchFamily="34" charset="0"/>
              </a:defRPr>
            </a:lvl1pPr>
            <a:lvl2pPr marL="742950" indent="-285750">
              <a:spcBef>
                <a:spcPct val="20000"/>
              </a:spcBef>
              <a:buFont typeface="Arial" panose="020B0604020202020204" pitchFamily="34" charset="0"/>
              <a:buChar char="–"/>
              <a:defRPr sz="1400">
                <a:solidFill>
                  <a:srgbClr val="000000"/>
                </a:solidFill>
                <a:latin typeface="Arial" panose="020B0604020202020204" pitchFamily="34" charset="0"/>
              </a:defRPr>
            </a:lvl2pPr>
            <a:lvl3pPr marL="1143000" indent="-228600">
              <a:spcBef>
                <a:spcPct val="20000"/>
              </a:spcBef>
              <a:buChar char="•"/>
              <a:defRPr sz="14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altLang="de-DE" sz="9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cxnSp>
        <p:nvCxnSpPr>
          <p:cNvPr id="40" name="Gerade Verbindung mit Pfeil 39">
            <a:extLst>
              <a:ext uri="{FF2B5EF4-FFF2-40B4-BE49-F238E27FC236}">
                <a16:creationId xmlns:a16="http://schemas.microsoft.com/office/drawing/2014/main" id="{308277A3-D3CF-454E-9AD5-1DF2A50B2B2F}"/>
              </a:ext>
            </a:extLst>
          </p:cNvPr>
          <p:cNvCxnSpPr/>
          <p:nvPr/>
        </p:nvCxnSpPr>
        <p:spPr>
          <a:xfrm flipV="1">
            <a:off x="3653898" y="2148762"/>
            <a:ext cx="2977754" cy="1191"/>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41" name="Gerade Verbindung mit Pfeil 40">
            <a:extLst>
              <a:ext uri="{FF2B5EF4-FFF2-40B4-BE49-F238E27FC236}">
                <a16:creationId xmlns:a16="http://schemas.microsoft.com/office/drawing/2014/main" id="{B7A83A91-519A-4174-8681-D8012F6F484B}"/>
              </a:ext>
            </a:extLst>
          </p:cNvPr>
          <p:cNvCxnSpPr/>
          <p:nvPr/>
        </p:nvCxnSpPr>
        <p:spPr>
          <a:xfrm flipV="1">
            <a:off x="3653898" y="2851231"/>
            <a:ext cx="2977754" cy="1191"/>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3634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1" nodeType="clickEffect">
                                  <p:stCondLst>
                                    <p:cond delay="0"/>
                                  </p:stCondLst>
                                  <p:childTnLst>
                                    <p:set>
                                      <p:cBhvr>
                                        <p:cTn id="82" dur="1" fill="hold">
                                          <p:stCondLst>
                                            <p:cond delay="0"/>
                                          </p:stCondLst>
                                        </p:cTn>
                                        <p:tgtEl>
                                          <p:spTgt spid="6"/>
                                        </p:tgtEl>
                                        <p:attrNameLst>
                                          <p:attrName>style.visibility</p:attrName>
                                        </p:attrNameLst>
                                      </p:cBhvr>
                                      <p:to>
                                        <p:strVal val="hidden"/>
                                      </p:to>
                                    </p:set>
                                  </p:childTnLst>
                                </p:cTn>
                              </p:par>
                              <p:par>
                                <p:cTn id="83" presetID="1" presetClass="exit" presetSubtype="0" fill="hold" grpId="1" nodeType="withEffect">
                                  <p:stCondLst>
                                    <p:cond delay="0"/>
                                  </p:stCondLst>
                                  <p:childTnLst>
                                    <p:set>
                                      <p:cBhvr>
                                        <p:cTn id="84" dur="1" fill="hold">
                                          <p:stCondLst>
                                            <p:cond delay="0"/>
                                          </p:stCondLst>
                                        </p:cTn>
                                        <p:tgtEl>
                                          <p:spTgt spid="7"/>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5">
                                            <p:txEl>
                                              <p:pRg st="9" end="9"/>
                                            </p:txEl>
                                          </p:spTgt>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9" grpId="0" animBg="1"/>
      <p:bldP spid="10" grpId="0" animBg="1"/>
      <p:bldP spid="11" grpId="0" animBg="1"/>
      <p:bldP spid="15" grpId="0" animBg="1"/>
      <p:bldP spid="19" grpId="0" animBg="1"/>
      <p:bldP spid="20" grpId="0" animBg="1"/>
      <p:bldP spid="21" grpId="0"/>
      <p:bldP spid="22" grpId="0" animBg="1"/>
      <p:bldP spid="23" grpId="0"/>
      <p:bldP spid="24" grpId="0" animBg="1"/>
      <p:bldP spid="25" grpId="0"/>
      <p:bldP spid="26" grpId="0" animBg="1"/>
      <p:bldP spid="27" grpId="0" animBg="1"/>
      <p:bldP spid="28" grpId="0" animBg="1"/>
      <p:bldP spid="32" grpId="0" animBg="1"/>
      <p:bldP spid="36" grpId="0" animBg="1"/>
      <p:bldP spid="37" grpId="0" animBg="1"/>
      <p:bldP spid="38" grpId="0"/>
      <p:bldP spid="3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872E8F-0DFF-4542-86FF-36DD849DCB3B}"/>
              </a:ext>
            </a:extLst>
          </p:cNvPr>
          <p:cNvSpPr>
            <a:spLocks noGrp="1"/>
          </p:cNvSpPr>
          <p:nvPr>
            <p:ph type="title"/>
          </p:nvPr>
        </p:nvSpPr>
        <p:spPr/>
        <p:txBody>
          <a:bodyPr>
            <a:normAutofit fontScale="90000"/>
          </a:bodyPr>
          <a:lstStyle/>
          <a:p>
            <a:r>
              <a:rPr lang="de-DE" dirty="0"/>
              <a:t>Intra-Session </a:t>
            </a:r>
            <a:r>
              <a:rPr lang="de-DE" dirty="0" err="1"/>
              <a:t>Stability</a:t>
            </a:r>
            <a:r>
              <a:rPr lang="de-DE" dirty="0"/>
              <a:t> </a:t>
            </a:r>
            <a:r>
              <a:rPr lang="de-DE" dirty="0" err="1"/>
              <a:t>of</a:t>
            </a:r>
            <a:r>
              <a:rPr lang="de-DE" dirty="0"/>
              <a:t> Processing Modes</a:t>
            </a:r>
            <a:endParaRPr lang="en-US" dirty="0"/>
          </a:p>
        </p:txBody>
      </p:sp>
      <p:sp>
        <p:nvSpPr>
          <p:cNvPr id="4" name="Foliennummernplatzhalter 3">
            <a:extLst>
              <a:ext uri="{FF2B5EF4-FFF2-40B4-BE49-F238E27FC236}">
                <a16:creationId xmlns:a16="http://schemas.microsoft.com/office/drawing/2014/main" id="{0E1BD36E-EE9D-43B6-B279-E1992AC4F840}"/>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39</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sp>
        <p:nvSpPr>
          <p:cNvPr id="7" name="Textfeld 6">
            <a:extLst>
              <a:ext uri="{FF2B5EF4-FFF2-40B4-BE49-F238E27FC236}">
                <a16:creationId xmlns:a16="http://schemas.microsoft.com/office/drawing/2014/main" id="{BFDBB378-D286-4162-B259-C4C3116C2103}"/>
              </a:ext>
            </a:extLst>
          </p:cNvPr>
          <p:cNvSpPr txBox="1"/>
          <p:nvPr/>
        </p:nvSpPr>
        <p:spPr>
          <a:xfrm>
            <a:off x="901108" y="1121010"/>
            <a:ext cx="7341783" cy="307777"/>
          </a:xfrm>
          <a:prstGeom prst="rect">
            <a:avLst/>
          </a:prstGeom>
          <a:noFill/>
        </p:spPr>
        <p:txBody>
          <a:bodyPr wrap="square" rtlCol="0">
            <a:spAutoFit/>
          </a:bodyPr>
          <a:lstStyle/>
          <a:p>
            <a:pPr marL="195412" marR="0" lvl="1" indent="0" algn="l" defTabSz="685800" rtl="0" eaLnBrk="1" fontAlgn="auto" latinLnBrk="0" hangingPunct="1">
              <a:lnSpc>
                <a:spcPct val="100000"/>
              </a:lnSpc>
              <a:spcBef>
                <a:spcPct val="20000"/>
              </a:spcBef>
              <a:spcAft>
                <a:spcPts val="450"/>
              </a:spcAft>
              <a:buClr>
                <a:srgbClr val="000000"/>
              </a:buClr>
              <a:buSzTx/>
              <a:buFontTx/>
              <a:buNone/>
              <a:tabLst/>
              <a:defRPr/>
            </a:pP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5 </a:t>
            </a:r>
            <a:r>
              <a:rPr kumimoji="0" lang="de-DE"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sym typeface="Arial"/>
              </a:rPr>
              <a:t>data</a:t>
            </a: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 </a:t>
            </a:r>
            <a:r>
              <a:rPr kumimoji="0" lang="de-DE"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sym typeface="Arial"/>
              </a:rPr>
              <a:t>sets</a:t>
            </a: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 </a:t>
            </a:r>
            <a:r>
              <a:rPr kumimoji="0" lang="de-DE"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sym typeface="Arial"/>
              </a:rPr>
              <a:t>of</a:t>
            </a: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 TSWP </a:t>
            </a:r>
            <a:r>
              <a:rPr kumimoji="0" lang="de-DE"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sym typeface="Arial"/>
              </a:rPr>
              <a:t>with</a:t>
            </a: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 </a:t>
            </a:r>
            <a:r>
              <a:rPr kumimoji="0" lang="de-DE"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sym typeface="Arial"/>
              </a:rPr>
              <a:t>letter</a:t>
            </a: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 and </a:t>
            </a:r>
            <a:r>
              <a:rPr kumimoji="0" lang="de-DE"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sym typeface="Arial"/>
              </a:rPr>
              <a:t>digit</a:t>
            </a: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 </a:t>
            </a:r>
            <a:r>
              <a:rPr kumimoji="0" lang="de-DE"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sym typeface="Arial"/>
              </a:rPr>
              <a:t>classification</a:t>
            </a: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 </a:t>
            </a:r>
            <a:r>
              <a:rPr kumimoji="0" lang="de-DE"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sym typeface="Arial"/>
              </a:rPr>
              <a:t>tasks</a:t>
            </a: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 (18-35y) = 249 </a:t>
            </a:r>
            <a:r>
              <a:rPr kumimoji="0" lang="de-DE"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sym typeface="Arial"/>
              </a:rPr>
              <a:t>participants</a:t>
            </a:r>
            <a:endPar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8" name="Textfeld 7">
            <a:extLst>
              <a:ext uri="{FF2B5EF4-FFF2-40B4-BE49-F238E27FC236}">
                <a16:creationId xmlns:a16="http://schemas.microsoft.com/office/drawing/2014/main" id="{AE0BB049-BA32-43DF-B3D1-D37CB2C8A8C9}"/>
              </a:ext>
            </a:extLst>
          </p:cNvPr>
          <p:cNvSpPr txBox="1"/>
          <p:nvPr/>
        </p:nvSpPr>
        <p:spPr>
          <a:xfrm>
            <a:off x="901108" y="4355762"/>
            <a:ext cx="6274360" cy="307777"/>
          </a:xfrm>
          <a:prstGeom prst="rect">
            <a:avLst/>
          </a:prstGeom>
          <a:noFill/>
        </p:spPr>
        <p:txBody>
          <a:bodyPr wrap="square">
            <a:spAutoFit/>
          </a:bodyPr>
          <a:lstStyle/>
          <a:p>
            <a:pPr marL="195412" marR="0" lvl="1" indent="0" algn="l" defTabSz="685800" rtl="0" eaLnBrk="1" fontAlgn="auto" latinLnBrk="0" hangingPunct="1">
              <a:lnSpc>
                <a:spcPct val="100000"/>
              </a:lnSpc>
              <a:spcBef>
                <a:spcPct val="20000"/>
              </a:spcBef>
              <a:spcAft>
                <a:spcPts val="450"/>
              </a:spcAft>
              <a:buClr>
                <a:srgbClr val="000000"/>
              </a:buClr>
              <a:buSzTx/>
              <a:buFont typeface="Arial"/>
              <a:buNone/>
              <a:tabLst/>
              <a:defRPr/>
            </a:pP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Split-half </a:t>
            </a:r>
            <a:r>
              <a:rPr kumimoji="0" lang="de-DE"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sym typeface="Arial"/>
              </a:rPr>
              <a:t>reliability</a:t>
            </a:r>
            <a:r>
              <a:rPr kumimoji="0" lang="de-DE"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sym typeface="Arial"/>
              </a:rPr>
              <a:t>: r(247) = .94 [.92, .95]</a:t>
            </a:r>
          </a:p>
        </p:txBody>
      </p:sp>
      <p:pic>
        <p:nvPicPr>
          <p:cNvPr id="10" name="Grafik 9">
            <a:extLst>
              <a:ext uri="{FF2B5EF4-FFF2-40B4-BE49-F238E27FC236}">
                <a16:creationId xmlns:a16="http://schemas.microsoft.com/office/drawing/2014/main" id="{92307D47-993A-4750-B368-AC9127262191}"/>
              </a:ext>
            </a:extLst>
          </p:cNvPr>
          <p:cNvPicPr>
            <a:picLocks noChangeAspect="1"/>
          </p:cNvPicPr>
          <p:nvPr/>
        </p:nvPicPr>
        <p:blipFill rotWithShape="1">
          <a:blip r:embed="rId2">
            <a:extLst>
              <a:ext uri="{28A0092B-C50C-407E-A947-70E740481C1C}">
                <a14:useLocalDpi xmlns:a14="http://schemas.microsoft.com/office/drawing/2010/main" val="0"/>
              </a:ext>
            </a:extLst>
          </a:blip>
          <a:srcRect t="8096" b="8096"/>
          <a:stretch/>
        </p:blipFill>
        <p:spPr>
          <a:xfrm>
            <a:off x="1429642" y="1598686"/>
            <a:ext cx="3406722" cy="2641958"/>
          </a:xfrm>
          <a:prstGeom prst="rect">
            <a:avLst/>
          </a:prstGeom>
        </p:spPr>
      </p:pic>
      <p:cxnSp>
        <p:nvCxnSpPr>
          <p:cNvPr id="11" name="Gerader Verbinder 10">
            <a:extLst>
              <a:ext uri="{FF2B5EF4-FFF2-40B4-BE49-F238E27FC236}">
                <a16:creationId xmlns:a16="http://schemas.microsoft.com/office/drawing/2014/main" id="{B6CB3B3D-42B2-4E11-A10F-F248C58D9FF5}"/>
              </a:ext>
            </a:extLst>
          </p:cNvPr>
          <p:cNvCxnSpPr>
            <a:cxnSpLocks/>
          </p:cNvCxnSpPr>
          <p:nvPr/>
        </p:nvCxnSpPr>
        <p:spPr bwMode="auto">
          <a:xfrm flipH="1">
            <a:off x="2161310" y="3456581"/>
            <a:ext cx="2574000" cy="0"/>
          </a:xfrm>
          <a:prstGeom prst="line">
            <a:avLst/>
          </a:prstGeom>
          <a:solidFill>
            <a:schemeClr val="tx2"/>
          </a:solidFill>
          <a:ln w="1905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Gerader Verbinder 11">
            <a:extLst>
              <a:ext uri="{FF2B5EF4-FFF2-40B4-BE49-F238E27FC236}">
                <a16:creationId xmlns:a16="http://schemas.microsoft.com/office/drawing/2014/main" id="{3B523DE5-0566-451B-8C8C-31ABB406F99F}"/>
              </a:ext>
            </a:extLst>
          </p:cNvPr>
          <p:cNvCxnSpPr>
            <a:cxnSpLocks/>
          </p:cNvCxnSpPr>
          <p:nvPr/>
        </p:nvCxnSpPr>
        <p:spPr bwMode="auto">
          <a:xfrm flipH="1">
            <a:off x="2161310" y="3210459"/>
            <a:ext cx="2574000" cy="0"/>
          </a:xfrm>
          <a:prstGeom prst="line">
            <a:avLst/>
          </a:prstGeom>
          <a:solidFill>
            <a:schemeClr val="tx2"/>
          </a:solidFill>
          <a:ln w="1905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Rechteck: abgerundete Ecken 12">
            <a:extLst>
              <a:ext uri="{FF2B5EF4-FFF2-40B4-BE49-F238E27FC236}">
                <a16:creationId xmlns:a16="http://schemas.microsoft.com/office/drawing/2014/main" id="{7CDF2671-0EBC-46E8-A01A-D71DE1E4F8A9}"/>
              </a:ext>
            </a:extLst>
          </p:cNvPr>
          <p:cNvSpPr/>
          <p:nvPr/>
        </p:nvSpPr>
        <p:spPr bwMode="auto">
          <a:xfrm>
            <a:off x="3334895" y="3355496"/>
            <a:ext cx="372233" cy="216024"/>
          </a:xfrm>
          <a:prstGeom prst="round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+1SD</a:t>
            </a:r>
          </a:p>
        </p:txBody>
      </p:sp>
      <p:sp>
        <p:nvSpPr>
          <p:cNvPr id="14" name="Rechteck: abgerundete Ecken 13">
            <a:extLst>
              <a:ext uri="{FF2B5EF4-FFF2-40B4-BE49-F238E27FC236}">
                <a16:creationId xmlns:a16="http://schemas.microsoft.com/office/drawing/2014/main" id="{EEB946BD-32A8-4723-BC18-FF0BCA0A82CE}"/>
              </a:ext>
            </a:extLst>
          </p:cNvPr>
          <p:cNvSpPr/>
          <p:nvPr/>
        </p:nvSpPr>
        <p:spPr bwMode="auto">
          <a:xfrm>
            <a:off x="3334895" y="3083531"/>
            <a:ext cx="372233" cy="216024"/>
          </a:xfrm>
          <a:prstGeom prst="round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0" rIns="0" bIns="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9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+3SD</a:t>
            </a:r>
          </a:p>
        </p:txBody>
      </p:sp>
      <p:pic>
        <p:nvPicPr>
          <p:cNvPr id="15" name="Grafik 14">
            <a:extLst>
              <a:ext uri="{FF2B5EF4-FFF2-40B4-BE49-F238E27FC236}">
                <a16:creationId xmlns:a16="http://schemas.microsoft.com/office/drawing/2014/main" id="{19ED385E-4B07-480C-9A8B-DAFBC8B8C124}"/>
              </a:ext>
            </a:extLst>
          </p:cNvPr>
          <p:cNvPicPr>
            <a:picLocks noChangeAspect="1"/>
          </p:cNvPicPr>
          <p:nvPr/>
        </p:nvPicPr>
        <p:blipFill rotWithShape="1">
          <a:blip r:embed="rId3"/>
          <a:srcRect t="12908"/>
          <a:stretch/>
        </p:blipFill>
        <p:spPr>
          <a:xfrm>
            <a:off x="5095297" y="1598686"/>
            <a:ext cx="3233215" cy="2796978"/>
          </a:xfrm>
          <a:prstGeom prst="rect">
            <a:avLst/>
          </a:prstGeom>
        </p:spPr>
      </p:pic>
    </p:spTree>
    <p:extLst>
      <p:ext uri="{BB962C8B-B14F-4D97-AF65-F5344CB8AC3E}">
        <p14:creationId xmlns:p14="http://schemas.microsoft.com/office/powerpoint/2010/main" val="1495366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4FC00020-4FE3-8437-92DB-E42E653158D4}"/>
              </a:ext>
            </a:extLst>
          </p:cNvPr>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5CD88B4E-D815-417B-99FD-41D66E5C06D4}" type="slidenum">
              <a:rPr kumimoji="0" lang="de-DE" sz="1050" b="0" i="0" u="none" strike="noStrike" kern="1200" cap="none" spc="0" normalizeH="0" baseline="0" noProof="0" smtClean="0">
                <a:ln>
                  <a:noFill/>
                </a:ln>
                <a:solidFill>
                  <a:srgbClr val="1F497D">
                    <a:lumMod val="75000"/>
                  </a:srgbClr>
                </a:solidFill>
                <a:effectLst/>
                <a:uLnTx/>
                <a:uFillTx/>
                <a:ea typeface="Arial Unicode MS" pitchFamily="34" charset="-128"/>
              </a:rPr>
              <a:pPr marL="0" marR="0" lvl="0" indent="0" algn="r" defTabSz="685800" rtl="0" eaLnBrk="1" fontAlgn="auto" latinLnBrk="0" hangingPunct="1">
                <a:lnSpc>
                  <a:spcPct val="100000"/>
                </a:lnSpc>
                <a:spcBef>
                  <a:spcPts val="0"/>
                </a:spcBef>
                <a:spcAft>
                  <a:spcPts val="0"/>
                </a:spcAft>
                <a:buClrTx/>
                <a:buSzTx/>
                <a:buFontTx/>
                <a:buNone/>
                <a:tabLst/>
                <a:defRPr/>
              </a:pPr>
              <a:t>40</a:t>
            </a:fld>
            <a:endParaRPr kumimoji="0" lang="de-DE" sz="1050" b="0" i="0" u="none" strike="noStrike" kern="1200" cap="none" spc="0" normalizeH="0" baseline="0" noProof="0">
              <a:ln>
                <a:noFill/>
              </a:ln>
              <a:solidFill>
                <a:srgbClr val="1F497D">
                  <a:lumMod val="75000"/>
                </a:srgbClr>
              </a:solidFill>
              <a:effectLst/>
              <a:uLnTx/>
              <a:uFillTx/>
              <a:ea typeface="Arial Unicode MS" pitchFamily="34" charset="-128"/>
            </a:endParaRPr>
          </a:p>
        </p:txBody>
      </p:sp>
    </p:spTree>
    <p:extLst>
      <p:ext uri="{BB962C8B-B14F-4D97-AF65-F5344CB8AC3E}">
        <p14:creationId xmlns:p14="http://schemas.microsoft.com/office/powerpoint/2010/main" val="1155001085"/>
      </p:ext>
    </p:extLst>
  </p:cSld>
  <p:clrMapOvr>
    <a:masterClrMapping/>
  </p:clrMapOvr>
</p:sld>
</file>

<file path=ppt/theme/theme1.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6647</Words>
  <Application>Microsoft Office PowerPoint</Application>
  <DocSecurity>0</DocSecurity>
  <PresentationFormat>Bildschirmpräsentation (16:9)</PresentationFormat>
  <Paragraphs>770</Paragraphs>
  <Slides>40</Slides>
  <Notes>31</Notes>
  <HiddenSlides>0</HiddenSlides>
  <MMClips>0</MMClips>
  <ScaleCrop>false</ScaleCrop>
  <HeadingPairs>
    <vt:vector size="6" baseType="variant">
      <vt:variant>
        <vt:lpstr>Verwendete Schriftarten</vt:lpstr>
      </vt:variant>
      <vt:variant>
        <vt:i4>12</vt:i4>
      </vt:variant>
      <vt:variant>
        <vt:lpstr>Design</vt:lpstr>
      </vt:variant>
      <vt:variant>
        <vt:i4>3</vt:i4>
      </vt:variant>
      <vt:variant>
        <vt:lpstr>Folientitel</vt:lpstr>
      </vt:variant>
      <vt:variant>
        <vt:i4>40</vt:i4>
      </vt:variant>
    </vt:vector>
  </HeadingPairs>
  <TitlesOfParts>
    <vt:vector size="55" baseType="lpstr">
      <vt:lpstr>Aptos</vt:lpstr>
      <vt:lpstr>Arial</vt:lpstr>
      <vt:lpstr>Arial Narrow</vt:lpstr>
      <vt:lpstr>Arial Unicode MS</vt:lpstr>
      <vt:lpstr>ArialMT</vt:lpstr>
      <vt:lpstr>Calibri</vt:lpstr>
      <vt:lpstr>Cambria Math</vt:lpstr>
      <vt:lpstr>Courier New</vt:lpstr>
      <vt:lpstr>Quicksand</vt:lpstr>
      <vt:lpstr>Symbol</vt:lpstr>
      <vt:lpstr>Times New Roman</vt:lpstr>
      <vt:lpstr>Wingdings</vt:lpstr>
      <vt:lpstr>Larissa</vt:lpstr>
      <vt:lpstr>1_Larissa</vt:lpstr>
      <vt:lpstr>2_Larissa</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Theoretical proposal</vt:lpstr>
      <vt:lpstr>First-stage implementation</vt:lpstr>
      <vt:lpstr>Experimental data</vt:lpstr>
      <vt:lpstr>Experimental data</vt:lpstr>
      <vt:lpstr>Experimental data</vt:lpstr>
      <vt:lpstr>Experimental data</vt:lpstr>
      <vt:lpstr>Agentic behavioral model</vt:lpstr>
      <vt:lpstr>Dynamic programming backward induction</vt:lpstr>
      <vt:lpstr>Sequential conditional log likelihood maximization</vt:lpstr>
      <vt:lpstr>Model comparison and parameter estimates</vt:lpstr>
      <vt:lpstr>Theoretical work packages</vt:lpstr>
      <vt:lpstr>Summary</vt:lpstr>
      <vt:lpstr>PowerPoint-Präsentation</vt:lpstr>
      <vt:lpstr>Empirical Objective 1: Influence of learning ability and error sensitivity on response strategy formation</vt:lpstr>
      <vt:lpstr>Empirical Objective 1: Influence of learning ability and error sensitivity on response strategy formation</vt:lpstr>
      <vt:lpstr>Empirical Objective 2: Relationship between response strategies, reward, and reward sensitivity</vt:lpstr>
      <vt:lpstr>Empirical Objective 2: Relationship between response strategies, reward, and reward sensitivity</vt:lpstr>
      <vt:lpstr>Empirical objective 3: Psychological traits affecting response strategies</vt:lpstr>
      <vt:lpstr>Empirical objective 3: Psychological traits affecting response strategies</vt:lpstr>
      <vt:lpstr>Response Strategies – Paradigm</vt:lpstr>
      <vt:lpstr>Response Strategies – Categorization</vt:lpstr>
      <vt:lpstr>Response Strategies – Categorization</vt:lpstr>
      <vt:lpstr>Response Strategies – Reliability</vt:lpstr>
      <vt:lpstr>Response Strategies – Stability</vt:lpstr>
      <vt:lpstr>Response Strategies – Split-Half Reliability</vt:lpstr>
      <vt:lpstr>Response Strategies – Efficiency</vt:lpstr>
      <vt:lpstr>Response Strategies – Reliability</vt:lpstr>
      <vt:lpstr>Overall Dual-Task Efficiency</vt:lpstr>
      <vt:lpstr>Parallel Processing – the Fast Switch Logic</vt:lpstr>
      <vt:lpstr>Intra-Session Stability of Processing Modes</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Brüning, Jovita</cp:lastModifiedBy>
  <cp:revision>80</cp:revision>
  <dcterms:created xsi:type="dcterms:W3CDTF">2026-09-13T10:03:12Z</dcterms:created>
  <dcterms:modified xsi:type="dcterms:W3CDTF">2026-09-18T13:13:01Z</dcterms:modified>
</cp:coreProperties>
</file>