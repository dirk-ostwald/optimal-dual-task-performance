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42" r:id="rId2"/>
    <p:sldId id="344" r:id="rId3"/>
    <p:sldId id="345" r:id="rId4"/>
    <p:sldId id="347" r:id="rId5"/>
    <p:sldId id="348" r:id="rId6"/>
    <p:sldId id="349" r:id="rId7"/>
    <p:sldId id="346" r:id="rId8"/>
    <p:sldId id="351" r:id="rId9"/>
    <p:sldId id="352" r:id="rId10"/>
    <p:sldId id="257" r:id="rId11"/>
    <p:sldId id="343" r:id="rId1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5C5353-D6B6-4F32-A6FB-7D0A3485BA1D}" name="Gastbenutzer" initials="Ga" userId="Gastbenutz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this, we adopt a rational analysis approach</a:t>
            </a:r>
            <a:r>
              <a:rPr lang="en-US" dirty="0"/>
              <a:t>, where we start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hypothesis that task switching emerges as optimal behavior under subjective cost functions.  </a:t>
            </a:r>
          </a:p>
          <a:p>
            <a:pPr algn="just"/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Specifically, we use Markov Decision Processes as in the Freiburg project to describe the probabilistic task dynamics of the FCDT paradigm. </a:t>
            </a:r>
          </a:p>
          <a:p>
            <a:pPr algn="just"/>
            <a:endParaRPr lang="de-D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essentials steps are then  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define parameterized subjective cost functions for the cognitive processes of task switching  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Assuming that agents maximize their expected cumulative reward 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 Bellman equation mechanics to evaluate optimal response sequences.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 these optimal response sequences to observed behavior in turn allows inferring the subjective cost functions that people may rely on.</a:t>
            </a:r>
            <a:endParaRPr lang="de-D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3353" indent="-173353" algn="just"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proof-of-principle for this approach is presented in the proposal. </a:t>
            </a:r>
          </a:p>
          <a:p>
            <a:pPr marL="173353" indent="-173353" algn="just">
              <a:buFont typeface="Arial" panose="020B0604020202020204" pitchFamily="34" charset="0"/>
              <a:buChar char="•"/>
            </a:pPr>
            <a:r>
              <a:rPr lang="en-US" dirty="0"/>
              <a:t>In this example, we used basic 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parameterized task switch and task imbalance cost functions. </a:t>
            </a:r>
          </a:p>
          <a:p>
            <a:pPr marL="173353" indent="-173353" algn="just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Depending on the parameters of these functions, we can generate the empirically observed FCDT response strategies. Here</a:t>
            </a:r>
          </a:p>
          <a:p>
            <a:pPr marL="630553" lvl="1" indent="-173353" algn="just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task switch cost and low task imbalance cost result in blocking behavior. </a:t>
            </a:r>
            <a:endParaRPr lang="de-D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30553" lvl="1" indent="-173353" algn="just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 task switch cost and h</a:t>
            </a:r>
            <a:r>
              <a:rPr lang="en-US" dirty="0"/>
              <a:t>igh task imbalance cost </a:t>
            </a:r>
            <a:r>
              <a:rPr lang="en-US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in response grouping behavior.</a:t>
            </a:r>
            <a:endParaRPr lang="de-D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A4A1F-8532-488D-8645-6753A9A98617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337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BIC uses the log-likelihood-scale Schwarz definition in the project report. Participant-level ΔBIC values range from 475.19 to 1374.70.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91889" y="4760398"/>
            <a:ext cx="6052457" cy="4509849"/>
          </a:xfrm>
        </p:spPr>
        <p:txBody>
          <a:bodyPr/>
          <a:lstStyle/>
          <a:p>
            <a:pPr algn="just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WP2.1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/>
              <a:t>W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want to further develop this theoretical approach with a particular focus on the online scenario</a:t>
            </a:r>
            <a:r>
              <a:rPr lang="en-US" sz="900" dirty="0"/>
              <a:t>.</a:t>
            </a:r>
          </a:p>
          <a:p>
            <a:pPr marL="173353" indent="-173353" algn="just">
              <a:buFont typeface="Arial" panose="020B0604020202020204" pitchFamily="34" charset="0"/>
              <a:buChar char="•"/>
            </a:pP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here also include the experimentally </a:t>
            </a:r>
            <a:r>
              <a:rPr lang="en-US" sz="900" dirty="0"/>
              <a:t>addressed 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error- and reward sensitivities, as we also exemplified in the proposal  </a:t>
            </a:r>
          </a:p>
          <a:p>
            <a:pPr marL="173353" indent="-173353" algn="just">
              <a:buFont typeface="Arial" panose="020B0604020202020204" pitchFamily="34" charset="0"/>
              <a:buChar char="•"/>
            </a:pP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generalize the framework to continuous time, account for hierarchical decision processes in collaboration with Cologne and address the potential benefits of concurrent stimulus processing in collaboration with Freiburg. </a:t>
            </a:r>
          </a:p>
          <a:p>
            <a:pPr algn="just"/>
            <a:endParaRPr lang="de-DE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WP2.2 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embed the deterministic models developed in WP2.1 in an agent-based behavioral modeling framework that we have used extensively in recent years</a:t>
            </a:r>
            <a:r>
              <a:rPr lang="en-US" sz="900" dirty="0"/>
              <a:t>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de-DE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in WP2.3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/>
              <a:t>W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will integrate the individual EEG error- and reward-sensitivity measurements in the estimation of the parameterized agent-based models. 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this, we will augment the agents with neural mass models, where the error and reward sensitivities affect the connectivity between neural masses to generate differential ERPs</a:t>
            </a:r>
          </a:p>
          <a:p>
            <a:pPr marL="173353" indent="-173353" algn="just">
              <a:buFont typeface="Arial" panose="020B0604020202020204" pitchFamily="34" charset="0"/>
              <a:buChar char="•"/>
            </a:pPr>
            <a:r>
              <a:rPr lang="en-US" sz="900" dirty="0"/>
              <a:t>T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hese  ERP </a:t>
            </a:r>
            <a:r>
              <a:rPr lang="en-US" sz="900" dirty="0"/>
              <a:t>predictions 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then, together with the behavioral data, be used to infer agent parameters - in a Bayesian sensor fusion sense. </a:t>
            </a:r>
            <a:endParaRPr lang="de-DE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3353" indent="-173353" algn="just">
              <a:buFont typeface="Arial" panose="020B0604020202020204" pitchFamily="34" charset="0"/>
              <a:buChar char="•"/>
            </a:pPr>
            <a:endParaRPr lang="de-DE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A4A1F-8532-488D-8645-6753A9A98617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9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E5EB6-51D3-4CEE-866B-DD0507A8A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buNone/>
              <a:defRPr>
                <a:solidFill>
                  <a:srgbClr val="3A77AD"/>
                </a:solidFill>
              </a:defRPr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07E1D3-AE35-44F2-9141-BC0877E75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3A77AD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Formatvorlage des Untertitelmasters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293F25-B3EA-407B-9553-634452D613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D25DDA-D26E-4C65-81E7-886BFA2DBF4B}" type="datetime1">
              <a:t>17.09.2026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D50551-C1AF-4734-A668-4A8DF1C3E5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7F039B-F4C6-4131-81AF-F9DDB7D5C9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44703E-4150-4FCF-AC26-4C412DDF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latin typeface="Arial Unicode MS"/>
                <a:ea typeface="Arial Unicode MS"/>
                <a:cs typeface="Arial Unicode MS"/>
              </a:defRPr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12DA99-6AD5-4B52-A2D7-C464763F3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0802"/>
            <a:ext cx="8229600" cy="3315816"/>
          </a:xfrm>
        </p:spPr>
        <p:txBody>
          <a:bodyPr/>
          <a:lstStyle>
            <a:lvl4pPr>
              <a:buNone/>
              <a:defRPr>
                <a:latin typeface="Arial Unicode MS"/>
                <a:ea typeface="Arial Unicode MS"/>
                <a:cs typeface="Arial Unicode MS"/>
              </a:defRPr>
            </a:lvl4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329583-F0C0-49DB-9BCF-D833FB7B88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6300" y="4731990"/>
            <a:ext cx="636180" cy="273844"/>
          </a:xfrm>
        </p:spPr>
        <p:txBody>
          <a:bodyPr/>
          <a:lstStyle>
            <a:lvl1pPr marL="0" algn="r" defTabSz="685800">
              <a:buNone/>
              <a:defRPr sz="1050" kern="1200">
                <a:solidFill>
                  <a:schemeClr val="tx2">
                    <a:lumMod val="75000"/>
                  </a:schemeClr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2C48E-9A13-4A7E-AA6A-87D1AC3AC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buNone/>
              <a:defRPr sz="3000" b="1" cap="all"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4E126F-A99D-41A9-8219-84AE61304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DBB60F-DFD5-4B33-9F9C-A2FFA0EE7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291B1E-1756-4A5C-A79F-F2FEDD9B6C08}" type="datetime1">
              <a:t>17.09.2026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A99A6B-C707-44EE-88B8-49D6478239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15729B-94BB-4880-8D89-388D064965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A37635-A623-4E98-AC3E-8D62F1F6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6A68D-62E8-4097-BC94-596C357F9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73D382-90A3-4817-9579-52D81369CD3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1B4D72-53C5-4B48-8E28-0C570A263D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25EF7E3-34C6-4F29-A3E8-B2123BFC8360}" type="datetime1">
              <a:t>17.09.2026</a:t>
            </a:fld>
            <a:endParaRPr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3D247-3AB3-4E5E-889D-EE9388E9EC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CA68E8-FF76-48FE-89E1-16FF04182F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7D3AF-0732-426A-A34C-0295E4BF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87ACE4-EFE3-4305-A1A4-F639026E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F85B3D-6B72-4821-BA1D-586B02D936A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41FB17-AB68-4403-8F78-7E5BE36A034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51470F-342E-4D82-8CE0-B825E6A6C8F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DACECA-CCE4-4F0F-8AE2-CFD22C219D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F2F809-AE36-447A-BE8D-DBD43813230D}" type="datetime1">
              <a:t>17.09.2026</a:t>
            </a:fld>
            <a:endParaRPr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B2DCED-C1E2-4728-81C3-E60969112E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FF7CEF-7F67-4E4E-86B0-78A1E6B20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EF8EA-3A79-4D0A-9E9D-BAF23103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8F1E3A-15F2-4079-B8C7-AF16AD23D9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E9AD70-BBFA-4BDA-AD17-94996E01E40D}" type="datetime1">
              <a:t>17.09.2026</a:t>
            </a:fld>
            <a:endParaRPr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63DFE6-88B7-41D6-AC99-59B0CABFD6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E91E78-25D0-4CF5-A737-3772314480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529D24-EA50-4266-96C2-1DBB992D2A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A5E7E-DC59-44FF-98CB-32ED5C7DF30F}" type="datetime1">
              <a:t>17.09.2026</a:t>
            </a:fld>
            <a:endParaRPr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661DB9-2EA2-429E-A720-C292CF5B74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DD4549-9270-49D6-914B-C325B4F77D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9C704-CC59-470C-A759-B25A9213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D0AAFD-0EE3-46C1-B594-44E21917D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63634A-BDEE-4064-9945-987A40D320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91EBD8-A766-492C-8454-76F8A2163A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CBFBE5-D840-46F9-A1EC-71EE2BFB233E}" type="datetime1">
              <a:t>17.09.2026</a:t>
            </a:fld>
            <a:endParaRPr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CD980-E304-4A72-AFD4-5342C146FA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66403A-C0D9-4D47-B0EC-F95FB97E0F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FB180-EE0F-4027-BA8D-50FE31578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8112F38-0E7C-4D9D-93C2-26A65DC63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B453E4-51BE-4E13-BCD4-FA22985B28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13AA27-DB99-44AB-B0BD-894EA22534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0E40CA-5887-4B04-9981-5E3E0EE4CEE6}" type="datetime1">
              <a:t>17.09.2026</a:t>
            </a:fld>
            <a:endParaRPr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6C6D9D-C975-4602-89B4-E211853F0C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8DCE36-D6A4-4ECE-AE3A-273B0C226E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D05A9-9078-497C-98D1-1F2E12AA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4284EF-FBB4-41A6-91E9-7A93FCF52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C6ECC1-85D3-4B69-8B8B-B945D02D5E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4F1C03-9221-492F-9D3B-13656BBDDDDC}" type="datetime1">
              <a:t>17.09.2026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4F05A0-5111-474A-891A-48581C68A5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7E9626-667F-4400-99BC-058667B94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FDB7F3A-C943-437B-BB4A-B1E3FFC53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295BEDB-392B-4986-B832-2E040B13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459150-CB49-45BA-A531-B7E7C06385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03166C5-6A3D-4F25-B59A-7D1EDABF349D}" type="datetime1">
              <a:t>17.09.2026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1E3B44-68C0-4706-BC0B-8423E0178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8E25A-0757-45B4-97B6-09DF8F345E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62DA7F-7B37-45AC-8D5B-D52FDF86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205979"/>
            <a:ext cx="7931223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6A4A0B-2EAD-4B56-8353-55727E004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1200151"/>
            <a:ext cx="7931224" cy="339447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B9373-53D0-4D71-924F-6E81CB085E9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55576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1A5F7C02-8BB9-4009-8E62-D4DC00232FF2}" type="datetime1">
              <a:t>17.09.2026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9F69B2-373B-46FF-B918-0101AFF2B3A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273388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A0E01D-2C9B-4046-9075-C22947680F7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5CD88B4E-D815-417B-99FD-41D66E5C06D4}" type="slidenum">
              <a:t>‹Nr.›</a:t>
            </a:fld>
            <a:endParaRPr/>
          </a:p>
        </p:txBody>
      </p:sp>
      <p:sp>
        <p:nvSpPr>
          <p:cNvPr id="8" name="Gerader Verbinder 7">
            <a:extLst>
              <a:ext uri="{FF2B5EF4-FFF2-40B4-BE49-F238E27FC236}">
                <a16:creationId xmlns:a16="http://schemas.microsoft.com/office/drawing/2014/main" id="{4124E9D7-1368-4C6A-94E9-DF3FDBE52726}"/>
              </a:ext>
            </a:extLst>
          </p:cNvPr>
          <p:cNvSpPr>
            <a:spLocks noGrp="1"/>
          </p:cNvSpPr>
          <p:nvPr/>
        </p:nvSpPr>
        <p:spPr>
          <a:xfrm>
            <a:off x="-54260" y="4731990"/>
            <a:ext cx="92525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9" name="Gerader Verbinder 8">
            <a:extLst>
              <a:ext uri="{FF2B5EF4-FFF2-40B4-BE49-F238E27FC236}">
                <a16:creationId xmlns:a16="http://schemas.microsoft.com/office/drawing/2014/main" id="{27361209-E306-411F-8181-39425E970A31}"/>
              </a:ext>
            </a:extLst>
          </p:cNvPr>
          <p:cNvSpPr>
            <a:spLocks noGrp="1"/>
          </p:cNvSpPr>
          <p:nvPr/>
        </p:nvSpPr>
        <p:spPr>
          <a:xfrm rot="5400000">
            <a:off x="-2286472" y="2591437"/>
            <a:ext cx="5220000" cy="0"/>
          </a:xfrm>
          <a:prstGeom prst="line">
            <a:avLst/>
          </a:prstGeom>
          <a:ln w="28575">
            <a:solidFill>
              <a:srgbClr val="3A77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18" name="Grafik 1"/>
          <p:cNvPicPr>
            <a:picLocks noChangeAspect="1"/>
          </p:cNvPicPr>
          <p:nvPr/>
        </p:nvPicPr>
        <p:blipFill rotWithShape="1">
          <a:blip r:embed="rId13">
            <a:alphaModFix/>
          </a:blip>
          <a:srcRect t="7963" b="13843"/>
          <a:stretch/>
        </p:blipFill>
        <p:spPr>
          <a:xfrm>
            <a:off x="-569046" y="3907081"/>
            <a:ext cx="1816322" cy="822222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defTabSz="685800">
        <a:spcBef>
          <a:spcPct val="0"/>
        </a:spcBef>
        <a:buNone/>
        <a:defRPr sz="3300" b="1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57175" indent="-257175" algn="l" defTabSz="6858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1pPr>
      <a:lvl2pPr marL="557213" indent="-214313" algn="l" defTabSz="6858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Arial"/>
          <a:cs typeface="Arial"/>
        </a:defRPr>
      </a:lvl2pPr>
      <a:lvl3pPr marL="857250" indent="-171450" algn="l" defTabSz="6858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200150" indent="-171450" algn="l" defTabSz="6858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Arial"/>
          <a:cs typeface="Arial"/>
        </a:defRPr>
      </a:lvl4pPr>
      <a:lvl5pPr marL="1543050" indent="-171450" algn="l" defTabSz="6858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Arial"/>
          <a:cs typeface="Arial"/>
        </a:defRPr>
      </a:lvl5pPr>
      <a:lvl6pPr marL="18859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sf.io/6vspq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rk-ostwald/Optimal-dual-task-performance" TargetMode="External"/><Relationship Id="rId2" Type="http://schemas.openxmlformats.org/officeDocument/2006/relationships/hyperlink" Target="https://osf.io/x6n58/overvie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arxiv.org/abs/2604.27894" TargetMode="External"/><Relationship Id="rId4" Type="http://schemas.openxmlformats.org/officeDocument/2006/relationships/hyperlink" Target="https://github.com/dirk-ostwald/Optimal-dual-task-performance/blob/main/report/Ostwald-et-al.pd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12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5.png"/><Relationship Id="rId4" Type="http://schemas.openxmlformats.org/officeDocument/2006/relationships/image" Target="../media/image13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sv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080FE4-DDB2-6779-9434-4BD8223F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0" dirty="0" err="1">
                <a:latin typeface="Arial"/>
                <a:cs typeface="Arial"/>
              </a:rPr>
              <a:t>Theoretical</a:t>
            </a:r>
            <a:r>
              <a:rPr lang="de-DE" sz="2400" b="0" dirty="0">
                <a:latin typeface="Arial"/>
                <a:cs typeface="Arial"/>
              </a:rPr>
              <a:t> </a:t>
            </a:r>
            <a:r>
              <a:rPr lang="de-DE" sz="2400" b="0" dirty="0" err="1">
                <a:latin typeface="Arial"/>
                <a:cs typeface="Arial"/>
              </a:rPr>
              <a:t>proposal</a:t>
            </a:r>
            <a:endParaRPr lang="de-DE" sz="2400" b="0" dirty="0">
              <a:latin typeface="Arial"/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73FA14-4378-2B6D-FF0E-0390C37C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8B4E-D815-417B-99FD-41D66E5C06D4}" type="slidenum">
              <a:rPr lang="de-DE" smtClean="0">
                <a:latin typeface="Arial"/>
                <a:cs typeface="Arial"/>
              </a:rPr>
              <a:pPr/>
              <a:t>1</a:t>
            </a:fld>
            <a:endParaRPr lang="de-DE">
              <a:latin typeface="Arial"/>
              <a:cs typeface="Arial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11574AB-781E-C8CA-EF5D-B0ED9BDF63FD}"/>
              </a:ext>
            </a:extLst>
          </p:cNvPr>
          <p:cNvSpPr/>
          <p:nvPr/>
        </p:nvSpPr>
        <p:spPr>
          <a:xfrm>
            <a:off x="1014056" y="2583119"/>
            <a:ext cx="2444952" cy="362403"/>
          </a:xfrm>
          <a:prstGeom prst="roundRect">
            <a:avLst>
              <a:gd name="adj" fmla="val 19363"/>
            </a:avLst>
          </a:prstGeom>
          <a:noFill/>
          <a:ln w="9525" cap="flat" cmpd="sng" algn="ctr">
            <a:solidFill>
              <a:srgbClr val="B99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Subjective cost functions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FCDC315-09FA-6C03-075D-0486B08BD8B3}"/>
              </a:ext>
            </a:extLst>
          </p:cNvPr>
          <p:cNvSpPr txBox="1"/>
          <p:nvPr/>
        </p:nvSpPr>
        <p:spPr>
          <a:xfrm>
            <a:off x="3707904" y="1378549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Proof </a:t>
            </a:r>
            <a:r>
              <a:rPr lang="de-DE" sz="1100" dirty="0" err="1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of</a:t>
            </a:r>
            <a:r>
              <a:rPr lang="de-DE" sz="1100" dirty="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</a:t>
            </a:r>
            <a:r>
              <a:rPr lang="de-DE" sz="1100" dirty="0" err="1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principle</a:t>
            </a:r>
            <a:r>
              <a:rPr lang="de-DE" sz="1100" dirty="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(</a:t>
            </a:r>
            <a:r>
              <a:rPr lang="de-DE" sz="11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osf.io/6vspq</a:t>
            </a:r>
            <a:r>
              <a:rPr lang="de-DE" sz="1100" dirty="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) | </a:t>
            </a:r>
            <a:r>
              <a:rPr lang="de-DE" sz="1100" dirty="0" err="1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Parameterized</a:t>
            </a:r>
            <a:r>
              <a:rPr lang="de-DE" sz="1100" dirty="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switch and </a:t>
            </a:r>
            <a:r>
              <a:rPr lang="de-DE" sz="1100" dirty="0" err="1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task</a:t>
            </a:r>
            <a:r>
              <a:rPr lang="de-DE" sz="1100" dirty="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</a:t>
            </a:r>
            <a:r>
              <a:rPr lang="de-DE" sz="1100" dirty="0" err="1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imbalance</a:t>
            </a:r>
            <a:r>
              <a:rPr lang="de-DE" sz="1100" dirty="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</a:t>
            </a:r>
            <a:r>
              <a:rPr lang="de-DE" sz="1100" dirty="0" err="1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cost</a:t>
            </a:r>
            <a:endParaRPr lang="de-DE" sz="1100" dirty="0"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519553F8-98CB-7D51-4374-4734E4360518}"/>
              </a:ext>
            </a:extLst>
          </p:cNvPr>
          <p:cNvSpPr/>
          <p:nvPr/>
        </p:nvSpPr>
        <p:spPr>
          <a:xfrm>
            <a:off x="896620" y="1405437"/>
            <a:ext cx="2679824" cy="3182537"/>
          </a:xfrm>
          <a:prstGeom prst="roundRect">
            <a:avLst>
              <a:gd name="adj" fmla="val 2403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b"/>
          <a:lstStyle/>
          <a:p>
            <a:pPr algn="r"/>
            <a:endParaRPr lang="de-DE" sz="1200">
              <a:solidFill>
                <a:schemeClr val="tx1"/>
              </a:solidFill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  <a:p>
            <a:pPr algn="r"/>
            <a:endParaRPr lang="de-DE" sz="1200">
              <a:solidFill>
                <a:schemeClr val="tx1"/>
              </a:solidFill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  <a:p>
            <a:pPr algn="r"/>
            <a:endParaRPr lang="de-DE" sz="1200">
              <a:solidFill>
                <a:schemeClr val="tx1"/>
              </a:solidFill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  <a:p>
            <a:pPr algn="r"/>
            <a:endParaRPr lang="de-DE" sz="1200">
              <a:solidFill>
                <a:schemeClr val="tx1"/>
              </a:solidFill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  <a:p>
            <a:pPr algn="r"/>
            <a:r>
              <a:rPr lang="de-DE" sz="12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A4CF246-DE1A-60ED-8C05-9A67E894E1AB}"/>
              </a:ext>
            </a:extLst>
          </p:cNvPr>
          <p:cNvSpPr/>
          <p:nvPr/>
        </p:nvSpPr>
        <p:spPr>
          <a:xfrm>
            <a:off x="899592" y="1405437"/>
            <a:ext cx="2679824" cy="34376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Rational </a:t>
            </a:r>
            <a:r>
              <a:rPr lang="de-DE" sz="1200" err="1"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analysis</a:t>
            </a:r>
            <a:endParaRPr lang="en-US" sz="1200"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C78D81F5-2DE2-AC86-41B2-6C1D19B292C1}"/>
              </a:ext>
            </a:extLst>
          </p:cNvPr>
          <p:cNvSpPr/>
          <p:nvPr/>
        </p:nvSpPr>
        <p:spPr>
          <a:xfrm>
            <a:off x="1017028" y="4108276"/>
            <a:ext cx="2444952" cy="34376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Optimal </a:t>
            </a:r>
            <a:r>
              <a:rPr lang="de-DE" sz="1000" dirty="0" err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response</a:t>
            </a:r>
            <a:r>
              <a:rPr lang="de-DE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sequences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5AFD518C-FBCB-E16C-90D3-357CF8E2AC09}"/>
              </a:ext>
            </a:extLst>
          </p:cNvPr>
          <p:cNvSpPr/>
          <p:nvPr/>
        </p:nvSpPr>
        <p:spPr>
          <a:xfrm rot="5400000">
            <a:off x="966724" y="3419108"/>
            <a:ext cx="1162755" cy="215583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77FD62BC-3967-3BCC-6BBB-478471EF1DE5}"/>
              </a:ext>
            </a:extLst>
          </p:cNvPr>
          <p:cNvSpPr/>
          <p:nvPr/>
        </p:nvSpPr>
        <p:spPr>
          <a:xfrm rot="16200000">
            <a:off x="2298218" y="3419107"/>
            <a:ext cx="1162754" cy="215583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D2802B0-1B77-6CC7-45D2-D9F395B016E7}"/>
              </a:ext>
            </a:extLst>
          </p:cNvPr>
          <p:cNvSpPr/>
          <p:nvPr/>
        </p:nvSpPr>
        <p:spPr>
          <a:xfrm>
            <a:off x="1014056" y="3579623"/>
            <a:ext cx="2444952" cy="34376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Bellman</a:t>
            </a:r>
            <a:r>
              <a:rPr lang="de-DE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equation</a:t>
            </a:r>
            <a:r>
              <a:rPr lang="de-DE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 </a:t>
            </a:r>
            <a:r>
              <a:rPr lang="de-DE" sz="1000" dirty="0" err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solution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ea typeface="Arial Unicode MS" panose="020B0604020202020204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085B0364-698E-F26B-E578-AF4EF0192B71}"/>
                  </a:ext>
                </a:extLst>
              </p:cNvPr>
              <p:cNvSpPr txBox="1"/>
              <p:nvPr/>
            </p:nvSpPr>
            <p:spPr>
              <a:xfrm>
                <a:off x="1108741" y="1867184"/>
                <a:ext cx="231730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de-DE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Markov </a:t>
                </a:r>
                <a:r>
                  <a:rPr lang="de-DE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Decision</a:t>
                </a:r>
                <a:r>
                  <a:rPr lang="de-DE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Processes</a:t>
                </a:r>
                <a:endParaRPr lang="de-DE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de-DE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de-DE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085B0364-698E-F26B-E578-AF4EF0192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41" y="1867184"/>
                <a:ext cx="231730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CCC7BE55-5FB9-FC87-625D-107345C690A8}"/>
              </a:ext>
            </a:extLst>
          </p:cNvPr>
          <p:cNvSpPr txBox="1"/>
          <p:nvPr/>
        </p:nvSpPr>
        <p:spPr>
          <a:xfrm>
            <a:off x="1108741" y="929127"/>
            <a:ext cx="7776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FCDT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strategies</a:t>
            </a:r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 optimal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policies</a:t>
            </a:r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under</a:t>
            </a:r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subjective</a:t>
            </a:r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err="1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A4143FE7-06AD-8B6E-550F-87A29C161A95}"/>
              </a:ext>
            </a:extLst>
          </p:cNvPr>
          <p:cNvSpPr/>
          <p:nvPr/>
        </p:nvSpPr>
        <p:spPr>
          <a:xfrm>
            <a:off x="397869" y="1839920"/>
            <a:ext cx="715416" cy="348215"/>
          </a:xfrm>
          <a:prstGeom prst="roundRect">
            <a:avLst/>
          </a:prstGeom>
          <a:solidFill>
            <a:srgbClr val="E8D6EF"/>
          </a:solidFill>
          <a:ln>
            <a:solidFill>
              <a:srgbClr val="6B53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Freiburg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fik 9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9472D8FB-B0C0-1530-0A38-F3826B80E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1938" y="1742055"/>
            <a:ext cx="4743875" cy="2846325"/>
          </a:xfrm>
          <a:prstGeom prst="rect">
            <a:avLst/>
          </a:prstGeom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3AE57F4-23E4-1022-6A5A-018928EA0E40}"/>
              </a:ext>
            </a:extLst>
          </p:cNvPr>
          <p:cNvSpPr/>
          <p:nvPr/>
        </p:nvSpPr>
        <p:spPr>
          <a:xfrm>
            <a:off x="1014056" y="3112776"/>
            <a:ext cx="2444952" cy="34376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/>
                <a:cs typeface="Arial" panose="020B0604020202020204" pitchFamily="34" charset="0"/>
              </a:rPr>
              <a:t>Expected reward maximization</a:t>
            </a:r>
          </a:p>
        </p:txBody>
      </p:sp>
    </p:spTree>
    <p:extLst>
      <p:ext uri="{BB962C8B-B14F-4D97-AF65-F5344CB8AC3E}">
        <p14:creationId xmlns:p14="http://schemas.microsoft.com/office/powerpoint/2010/main" val="202875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188A6D-D34A-9B62-860B-ADEFD1A1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0" dirty="0">
                <a:latin typeface="Arial" panose="020B0604020202020204" pitchFamily="34" charset="0"/>
                <a:cs typeface="Arial" panose="020B0604020202020204" pitchFamily="34" charset="0"/>
              </a:rPr>
              <a:t>First-stage </a:t>
            </a:r>
            <a:r>
              <a:rPr lang="de-DE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de-DE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62F993-3240-E5AA-D831-81BD3539D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0747"/>
            <a:ext cx="8229600" cy="354118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de-DE" sz="1600" dirty="0" err="1"/>
              <a:t>Application</a:t>
            </a:r>
            <a:r>
              <a:rPr lang="de-DE" sz="1600" dirty="0"/>
              <a:t> to Brüning, </a:t>
            </a:r>
            <a:r>
              <a:rPr lang="de-DE" sz="1600" dirty="0" err="1"/>
              <a:t>Manzey</a:t>
            </a:r>
            <a:r>
              <a:rPr lang="de-DE" sz="1600" dirty="0"/>
              <a:t> (2020) </a:t>
            </a:r>
            <a:r>
              <a:rPr lang="de-DE" sz="1600" dirty="0" err="1"/>
              <a:t>data</a:t>
            </a:r>
            <a:r>
              <a:rPr lang="de-DE" sz="1600" dirty="0"/>
              <a:t> </a:t>
            </a:r>
            <a:r>
              <a:rPr lang="de-DE" sz="1600" dirty="0" err="1"/>
              <a:t>subset</a:t>
            </a:r>
            <a:r>
              <a:rPr lang="de-DE" sz="1600" dirty="0"/>
              <a:t> (</a:t>
            </a:r>
            <a:r>
              <a:rPr lang="de-DE" sz="1600" dirty="0">
                <a:hlinkClick r:id="rId2"/>
              </a:rPr>
              <a:t>osf.io/x6n58</a:t>
            </a:r>
            <a:r>
              <a:rPr lang="de-DE" sz="1600" dirty="0"/>
              <a:t>)</a:t>
            </a:r>
          </a:p>
          <a:p>
            <a:pPr>
              <a:lnSpc>
                <a:spcPct val="160000"/>
              </a:lnSpc>
            </a:pPr>
            <a:r>
              <a:rPr lang="de-DE" sz="1600" dirty="0"/>
              <a:t>Full </a:t>
            </a:r>
            <a:r>
              <a:rPr lang="de-DE" sz="1600" dirty="0" err="1"/>
              <a:t>theoretical</a:t>
            </a:r>
            <a:r>
              <a:rPr lang="de-DE" sz="1600" dirty="0"/>
              <a:t> and </a:t>
            </a:r>
            <a:r>
              <a:rPr lang="de-DE" sz="1600" dirty="0" err="1"/>
              <a:t>implementational</a:t>
            </a:r>
            <a:r>
              <a:rPr lang="de-DE" sz="1600" dirty="0"/>
              <a:t> </a:t>
            </a:r>
            <a:r>
              <a:rPr lang="de-DE" sz="1600" dirty="0" err="1"/>
              <a:t>details</a:t>
            </a:r>
            <a:r>
              <a:rPr lang="de-DE" sz="1600" dirty="0"/>
              <a:t> on </a:t>
            </a:r>
            <a:r>
              <a:rPr lang="de-DE" sz="1600" dirty="0">
                <a:hlinkClick r:id="rId3"/>
              </a:rPr>
              <a:t>GitHub</a:t>
            </a:r>
            <a:r>
              <a:rPr lang="de-DE" sz="1600" dirty="0"/>
              <a:t>, </a:t>
            </a:r>
            <a:r>
              <a:rPr lang="de-DE" sz="1600" dirty="0" err="1"/>
              <a:t>including</a:t>
            </a:r>
            <a:r>
              <a:rPr lang="de-DE" sz="1600" dirty="0"/>
              <a:t> an extensive </a:t>
            </a:r>
            <a:r>
              <a:rPr lang="de-DE" sz="1600" dirty="0" err="1"/>
              <a:t>report</a:t>
            </a:r>
            <a:r>
              <a:rPr lang="de-DE" sz="1600" dirty="0"/>
              <a:t> (</a:t>
            </a:r>
            <a:r>
              <a:rPr lang="de-DE" sz="1600" dirty="0">
                <a:hlinkClick r:id="rId4"/>
              </a:rPr>
              <a:t>.</a:t>
            </a:r>
            <a:r>
              <a:rPr lang="de-DE" sz="1600" dirty="0" err="1">
                <a:hlinkClick r:id="rId4"/>
              </a:rPr>
              <a:t>pdf</a:t>
            </a:r>
            <a:r>
              <a:rPr lang="de-DE" sz="1600" dirty="0"/>
              <a:t>)</a:t>
            </a:r>
          </a:p>
          <a:p>
            <a:pPr>
              <a:lnSpc>
                <a:spcPct val="160000"/>
              </a:lnSpc>
            </a:pPr>
            <a:r>
              <a:rPr lang="de-DE" sz="1600" dirty="0"/>
              <a:t>Proof of </a:t>
            </a:r>
            <a:r>
              <a:rPr lang="de-DE" sz="1600" dirty="0" err="1"/>
              <a:t>principle</a:t>
            </a:r>
            <a:r>
              <a:rPr lang="de-DE" sz="1600" dirty="0"/>
              <a:t> </a:t>
            </a:r>
            <a:r>
              <a:rPr lang="de-DE" sz="1600" dirty="0" err="1"/>
              <a:t>shortcomings</a:t>
            </a:r>
            <a:endParaRPr lang="de-DE" sz="1600" dirty="0"/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de-DE" sz="1600" dirty="0"/>
              <a:t>Generative </a:t>
            </a:r>
            <a:r>
              <a:rPr lang="de-DE" sz="1600" dirty="0" err="1"/>
              <a:t>simulations</a:t>
            </a:r>
            <a:r>
              <a:rPr lang="de-DE" sz="1600" dirty="0"/>
              <a:t> of </a:t>
            </a:r>
            <a:r>
              <a:rPr lang="de-DE" sz="1600" dirty="0" err="1"/>
              <a:t>restricted</a:t>
            </a:r>
            <a:r>
              <a:rPr lang="de-DE" sz="1600" dirty="0"/>
              <a:t> FCDT </a:t>
            </a:r>
            <a:r>
              <a:rPr lang="de-DE" sz="1600" dirty="0" err="1"/>
              <a:t>paradigm</a:t>
            </a:r>
            <a:r>
              <a:rPr lang="de-DE" sz="1600" dirty="0"/>
              <a:t>, </a:t>
            </a:r>
            <a:r>
              <a:rPr lang="de-DE" sz="1600" dirty="0" err="1"/>
              <a:t>no</a:t>
            </a:r>
            <a:r>
              <a:rPr lang="de-DE" sz="1600" dirty="0"/>
              <a:t> </a:t>
            </a:r>
            <a:r>
              <a:rPr lang="de-DE" sz="1600" dirty="0" err="1"/>
              <a:t>application</a:t>
            </a:r>
            <a:r>
              <a:rPr lang="de-DE" sz="1600" dirty="0"/>
              <a:t> to </a:t>
            </a:r>
            <a:r>
              <a:rPr lang="de-DE" sz="1600" dirty="0" err="1"/>
              <a:t>empirical</a:t>
            </a:r>
            <a:r>
              <a:rPr lang="de-DE" sz="1600" dirty="0"/>
              <a:t> </a:t>
            </a:r>
            <a:r>
              <a:rPr lang="de-DE" sz="1600" dirty="0" err="1"/>
              <a:t>data</a:t>
            </a:r>
            <a:endParaRPr lang="de-DE" sz="1600" dirty="0"/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de-DE" sz="1600" dirty="0" err="1"/>
              <a:t>Reward-discounted</a:t>
            </a:r>
            <a:r>
              <a:rPr lang="de-DE" sz="1600" dirty="0"/>
              <a:t> infinite-</a:t>
            </a:r>
            <a:r>
              <a:rPr lang="de-DE" sz="1600" dirty="0" err="1"/>
              <a:t>horizon</a:t>
            </a:r>
            <a:r>
              <a:rPr lang="de-DE" sz="1600" dirty="0"/>
              <a:t> MDP </a:t>
            </a:r>
            <a:r>
              <a:rPr lang="de-DE" sz="1600" dirty="0" err="1"/>
              <a:t>approximation</a:t>
            </a:r>
            <a:r>
              <a:rPr lang="de-DE" sz="1600" dirty="0"/>
              <a:t> </a:t>
            </a:r>
            <a:r>
              <a:rPr lang="de-DE" sz="1600" dirty="0" err="1"/>
              <a:t>based</a:t>
            </a:r>
            <a:r>
              <a:rPr lang="de-DE" sz="1600" dirty="0"/>
              <a:t> on </a:t>
            </a:r>
            <a:r>
              <a:rPr lang="de-DE" sz="1600" dirty="0" err="1"/>
              <a:t>policy</a:t>
            </a:r>
            <a:r>
              <a:rPr lang="de-DE" sz="1600" dirty="0"/>
              <a:t> </a:t>
            </a:r>
            <a:r>
              <a:rPr lang="de-DE" sz="1600" dirty="0" err="1"/>
              <a:t>iteration</a:t>
            </a:r>
            <a:endParaRPr lang="de-DE" sz="1600" dirty="0"/>
          </a:p>
          <a:p>
            <a:pPr>
              <a:lnSpc>
                <a:spcPct val="160000"/>
              </a:lnSpc>
            </a:pPr>
            <a:r>
              <a:rPr lang="de-DE" sz="1600" dirty="0"/>
              <a:t>First-stage </a:t>
            </a:r>
            <a:r>
              <a:rPr lang="de-DE" sz="1600" dirty="0" err="1"/>
              <a:t>implementation</a:t>
            </a:r>
            <a:r>
              <a:rPr lang="de-DE" sz="1600" dirty="0"/>
              <a:t> </a:t>
            </a:r>
            <a:r>
              <a:rPr lang="de-DE" sz="1600" dirty="0" err="1"/>
              <a:t>advances</a:t>
            </a:r>
            <a:endParaRPr lang="de-DE" sz="1600" dirty="0"/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de-DE" sz="1600" dirty="0" err="1"/>
              <a:t>Application</a:t>
            </a:r>
            <a:r>
              <a:rPr lang="de-DE" sz="1600" dirty="0"/>
              <a:t> to </a:t>
            </a:r>
            <a:r>
              <a:rPr lang="de-DE" sz="1600" dirty="0" err="1"/>
              <a:t>rich</a:t>
            </a:r>
            <a:r>
              <a:rPr lang="de-DE" sz="1600" dirty="0"/>
              <a:t> </a:t>
            </a:r>
            <a:r>
              <a:rPr lang="de-DE" sz="1600" dirty="0" err="1"/>
              <a:t>empirical</a:t>
            </a:r>
            <a:r>
              <a:rPr lang="de-DE" sz="1600" dirty="0"/>
              <a:t> </a:t>
            </a:r>
            <a:r>
              <a:rPr lang="de-DE" sz="1600" dirty="0" err="1"/>
              <a:t>data</a:t>
            </a:r>
            <a:r>
              <a:rPr lang="de-DE" sz="1600" dirty="0"/>
              <a:t> in the </a:t>
            </a:r>
            <a:r>
              <a:rPr lang="de-DE" sz="1600" dirty="0" err="1"/>
              <a:t>agentic</a:t>
            </a:r>
            <a:r>
              <a:rPr lang="de-DE" sz="1600" dirty="0"/>
              <a:t> behavioral </a:t>
            </a:r>
            <a:r>
              <a:rPr lang="de-DE" sz="1600" dirty="0" err="1"/>
              <a:t>modeling</a:t>
            </a:r>
            <a:r>
              <a:rPr lang="de-DE" sz="1600" dirty="0"/>
              <a:t> </a:t>
            </a:r>
            <a:r>
              <a:rPr lang="de-DE" sz="1600" dirty="0" err="1"/>
              <a:t>framework</a:t>
            </a:r>
            <a:r>
              <a:rPr lang="de-DE" sz="1600" dirty="0"/>
              <a:t> (</a:t>
            </a:r>
            <a:r>
              <a:rPr lang="de-DE" sz="1600" dirty="0">
                <a:hlinkClick r:id="rId5"/>
              </a:rPr>
              <a:t>Ostwald et al. (2026)</a:t>
            </a:r>
            <a:r>
              <a:rPr lang="de-DE" sz="1600" dirty="0"/>
              <a:t>) </a:t>
            </a:r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de-DE" sz="1600" dirty="0"/>
              <a:t>Finite </a:t>
            </a:r>
            <a:r>
              <a:rPr lang="de-DE" sz="1600" dirty="0" err="1"/>
              <a:t>horizon</a:t>
            </a:r>
            <a:r>
              <a:rPr lang="de-DE" sz="1600" dirty="0"/>
              <a:t> MDP </a:t>
            </a:r>
            <a:r>
              <a:rPr lang="de-DE" sz="1600" dirty="0" err="1"/>
              <a:t>without</a:t>
            </a:r>
            <a:r>
              <a:rPr lang="de-DE" sz="1600" dirty="0"/>
              <a:t> </a:t>
            </a:r>
            <a:r>
              <a:rPr lang="de-DE" sz="1600" dirty="0" err="1"/>
              <a:t>reward</a:t>
            </a:r>
            <a:r>
              <a:rPr lang="de-DE" sz="1600" dirty="0"/>
              <a:t> </a:t>
            </a:r>
            <a:r>
              <a:rPr lang="de-DE" sz="1600" dirty="0" err="1"/>
              <a:t>discounting</a:t>
            </a:r>
            <a:r>
              <a:rPr lang="de-DE" sz="1600" dirty="0"/>
              <a:t> </a:t>
            </a:r>
            <a:r>
              <a:rPr lang="de-DE" sz="1600" dirty="0" err="1"/>
              <a:t>solved</a:t>
            </a:r>
            <a:r>
              <a:rPr lang="de-DE" sz="1600" dirty="0"/>
              <a:t> by </a:t>
            </a:r>
            <a:r>
              <a:rPr lang="de-DE" sz="1600" dirty="0" err="1"/>
              <a:t>backward</a:t>
            </a:r>
            <a:r>
              <a:rPr lang="de-DE" sz="1600" dirty="0"/>
              <a:t> </a:t>
            </a:r>
            <a:r>
              <a:rPr lang="de-DE" sz="1600" dirty="0" err="1"/>
              <a:t>induction</a:t>
            </a:r>
            <a:endParaRPr lang="de-DE" sz="1600" dirty="0"/>
          </a:p>
          <a:p>
            <a:pPr>
              <a:lnSpc>
                <a:spcPct val="160000"/>
              </a:lnSpc>
            </a:pPr>
            <a:r>
              <a:rPr lang="de-DE" sz="1600" dirty="0"/>
              <a:t>First-stage </a:t>
            </a:r>
            <a:r>
              <a:rPr lang="de-DE" sz="1600" dirty="0" err="1"/>
              <a:t>implementation</a:t>
            </a:r>
            <a:r>
              <a:rPr lang="de-DE" sz="1600" dirty="0"/>
              <a:t> </a:t>
            </a:r>
            <a:r>
              <a:rPr lang="de-DE" sz="1600" dirty="0" err="1"/>
              <a:t>shortcomings</a:t>
            </a:r>
            <a:endParaRPr lang="de-DE" sz="1600" dirty="0"/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de-DE" sz="1600" dirty="0"/>
              <a:t>Focus on </a:t>
            </a:r>
            <a:r>
              <a:rPr lang="de-DE" sz="1600" dirty="0" err="1"/>
              <a:t>response</a:t>
            </a:r>
            <a:r>
              <a:rPr lang="de-DE" sz="1600" dirty="0"/>
              <a:t> </a:t>
            </a:r>
            <a:r>
              <a:rPr lang="de-DE" sz="1600" dirty="0" err="1"/>
              <a:t>data</a:t>
            </a:r>
            <a:r>
              <a:rPr lang="de-DE" sz="1600" dirty="0"/>
              <a:t>, not </a:t>
            </a:r>
            <a:r>
              <a:rPr lang="de-DE" sz="1600" dirty="0" err="1"/>
              <a:t>reaction</a:t>
            </a:r>
            <a:r>
              <a:rPr lang="de-DE" sz="1600" dirty="0"/>
              <a:t> </a:t>
            </a:r>
            <a:r>
              <a:rPr lang="de-DE" sz="1600" dirty="0" err="1"/>
              <a:t>times</a:t>
            </a:r>
            <a:r>
              <a:rPr lang="de-DE" sz="1600" dirty="0"/>
              <a:t> in a semi-MDP </a:t>
            </a:r>
            <a:r>
              <a:rPr lang="de-DE" sz="1600" dirty="0" err="1"/>
              <a:t>extension</a:t>
            </a:r>
            <a:endParaRPr lang="de-DE" sz="1600" dirty="0"/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de-DE" sz="1600" dirty="0" err="1"/>
              <a:t>No</a:t>
            </a:r>
            <a:r>
              <a:rPr lang="de-DE" sz="1600" dirty="0"/>
              <a:t> </a:t>
            </a:r>
            <a:r>
              <a:rPr lang="de-DE" sz="1600" dirty="0" err="1"/>
              <a:t>consideration</a:t>
            </a:r>
            <a:r>
              <a:rPr lang="de-DE" sz="1600" dirty="0"/>
              <a:t> of dual-task </a:t>
            </a:r>
            <a:r>
              <a:rPr lang="de-DE" sz="1600" dirty="0" err="1"/>
              <a:t>efficiency</a:t>
            </a:r>
            <a:r>
              <a:rPr lang="de-DE" sz="1600" dirty="0"/>
              <a:t> </a:t>
            </a:r>
            <a:r>
              <a:rPr lang="de-DE" sz="1600" dirty="0" err="1"/>
              <a:t>or</a:t>
            </a:r>
            <a:r>
              <a:rPr lang="de-DE" sz="1600" dirty="0"/>
              <a:t> domain-</a:t>
            </a:r>
            <a:r>
              <a:rPr lang="de-DE" sz="1600" dirty="0" err="1"/>
              <a:t>specific</a:t>
            </a:r>
            <a:r>
              <a:rPr lang="de-DE" sz="1600" dirty="0"/>
              <a:t> </a:t>
            </a:r>
            <a:r>
              <a:rPr lang="de-DE" sz="1600" dirty="0" err="1"/>
              <a:t>cognitive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</a:t>
            </a:r>
            <a:endParaRPr lang="de-DE" sz="17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F5C49A-D8F8-DCC1-09BE-615300921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rPr lang="de-DE" smtClean="0"/>
              <a:t>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D958D6F-CD8E-51BF-149F-122193F5D98E}"/>
                  </a:ext>
                </a:extLst>
              </p:cNvPr>
              <p:cNvSpPr txBox="1"/>
              <p:nvPr/>
            </p:nvSpPr>
            <p:spPr>
              <a:xfrm>
                <a:off x="3562705" y="4426491"/>
                <a:ext cx="512409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14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Technical </a:t>
                </a:r>
                <a:r>
                  <a:rPr lang="de-DE" sz="14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advance</a:t>
                </a:r>
                <a:r>
                  <a:rPr lang="de-DE" sz="14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14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 </a:t>
                </a:r>
                <a:r>
                  <a:rPr lang="de-DE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Psychological-</a:t>
                </a:r>
                <a:r>
                  <a:rPr lang="de-DE" sz="1400" dirty="0" err="1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neurocognitive</a:t>
                </a:r>
                <a:r>
                  <a:rPr lang="de-DE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1400" dirty="0" err="1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advance</a:t>
                </a:r>
                <a:r>
                  <a:rPr lang="de-DE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</a:t>
                </a:r>
                <a:endParaRPr lang="de-DE" sz="14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D958D6F-CD8E-51BF-149F-122193F5D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705" y="4426491"/>
                <a:ext cx="5124095" cy="215444"/>
              </a:xfrm>
              <a:prstGeom prst="rect">
                <a:avLst/>
              </a:prstGeom>
              <a:blipFill>
                <a:blip r:embed="rId6"/>
                <a:stretch>
                  <a:fillRect l="-951" t="-25714" r="-1070" b="-5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7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7648F-1946-047A-EC11-1A546F6A9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91C5E-7E98-3982-6E0F-3330563D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205979"/>
            <a:ext cx="7931223" cy="857250"/>
          </a:xfrm>
        </p:spPr>
        <p:txBody>
          <a:bodyPr anchor="ctr">
            <a:normAutofit/>
          </a:bodyPr>
          <a:lstStyle/>
          <a:p>
            <a:r>
              <a:rPr lang="de-DE" sz="2400" b="0" dirty="0">
                <a:latin typeface="Arial" panose="020B0604020202020204" pitchFamily="34" charset="0"/>
                <a:cs typeface="Arial" panose="020B0604020202020204" pitchFamily="34" charset="0"/>
              </a:rPr>
              <a:t>Experimental </a:t>
            </a:r>
            <a:r>
              <a:rPr lang="de-DE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DE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99576A-0D22-1D16-6046-F234E59FAD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6300" y="4731990"/>
            <a:ext cx="6361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CD88B4E-D815-417B-99FD-41D66E5C06D4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2484787-F4B8-D35E-E37C-0C2402EFA3BA}"/>
              </a:ext>
            </a:extLst>
          </p:cNvPr>
          <p:cNvSpPr txBox="1"/>
          <p:nvPr/>
        </p:nvSpPr>
        <p:spPr>
          <a:xfrm>
            <a:off x="1132928" y="4379962"/>
            <a:ext cx="675345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high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time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limit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AFAC9A91-51B3-DC1F-9FC8-ED4D04A82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4" t="2676" b="4005"/>
          <a:stretch>
            <a:fillRect/>
          </a:stretch>
        </p:blipFill>
        <p:spPr>
          <a:xfrm>
            <a:off x="1605305" y="972457"/>
            <a:ext cx="5933389" cy="3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2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0C717-1EC3-29FD-AD17-7AC420FF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98E9A-1C5F-DFF3-900B-E55E9EB3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205979"/>
            <a:ext cx="7931223" cy="857250"/>
          </a:xfrm>
        </p:spPr>
        <p:txBody>
          <a:bodyPr anchor="ctr">
            <a:normAutofit/>
          </a:bodyPr>
          <a:lstStyle/>
          <a:p>
            <a:r>
              <a:rPr lang="de-DE" sz="2400" b="0" dirty="0">
                <a:latin typeface="Arial" panose="020B0604020202020204" pitchFamily="34" charset="0"/>
                <a:cs typeface="Arial" panose="020B0604020202020204" pitchFamily="34" charset="0"/>
              </a:rPr>
              <a:t>Experimental </a:t>
            </a:r>
            <a:r>
              <a:rPr lang="de-DE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DE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6B3953C-7EB2-7C87-751C-1CAF1FCFB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509" y="1190802"/>
            <a:ext cx="4948981" cy="3315816"/>
          </a:xfrm>
          <a:prstGeom prst="rect">
            <a:avLst/>
          </a:prstGeom>
          <a:noFill/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EAEB96-9BA7-9EEB-D8EA-0CF4AB0940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6300" y="4731990"/>
            <a:ext cx="6361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CD88B4E-D815-417B-99FD-41D66E5C06D4}" type="slidenum">
              <a:rPr lang="de-DE" smtClean="0"/>
              <a:pPr>
                <a:spcAft>
                  <a:spcPts val="600"/>
                </a:spcAft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49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E3A6-F850-2B55-2E1F-E18DF88FC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F3FE71-C1F0-A271-4424-F859B8A8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205979"/>
            <a:ext cx="7931223" cy="857250"/>
          </a:xfrm>
        </p:spPr>
        <p:txBody>
          <a:bodyPr anchor="ctr">
            <a:normAutofit/>
          </a:bodyPr>
          <a:lstStyle/>
          <a:p>
            <a:r>
              <a:rPr lang="de-DE" sz="2400" b="0" dirty="0">
                <a:latin typeface="Arial" panose="020B0604020202020204" pitchFamily="34" charset="0"/>
                <a:cs typeface="Arial" panose="020B0604020202020204" pitchFamily="34" charset="0"/>
              </a:rPr>
              <a:t>Experimental </a:t>
            </a:r>
            <a:r>
              <a:rPr lang="de-DE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DE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0B590C-1FC6-8CA1-E708-7C321145C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509" y="1190802"/>
            <a:ext cx="4948981" cy="3315816"/>
          </a:xfrm>
          <a:prstGeom prst="rect">
            <a:avLst/>
          </a:prstGeom>
          <a:noFill/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261BA5-DDE2-356A-E6D9-79D8CB2231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6300" y="4731990"/>
            <a:ext cx="6361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CD88B4E-D815-417B-99FD-41D66E5C06D4}" type="slidenum">
              <a:rPr lang="de-DE" smtClean="0"/>
              <a:pPr>
                <a:spcAft>
                  <a:spcPts val="600"/>
                </a:spcAft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99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AF0E-8A93-1805-C387-D6DFF18B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94C5A-34CE-0FFA-EE0A-10C3DEE2A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205979"/>
            <a:ext cx="7931223" cy="857250"/>
          </a:xfrm>
        </p:spPr>
        <p:txBody>
          <a:bodyPr anchor="ctr">
            <a:normAutofit/>
          </a:bodyPr>
          <a:lstStyle/>
          <a:p>
            <a:r>
              <a:rPr lang="de-DE" sz="2400" b="0" dirty="0">
                <a:latin typeface="Arial" panose="020B0604020202020204" pitchFamily="34" charset="0"/>
                <a:cs typeface="Arial" panose="020B0604020202020204" pitchFamily="34" charset="0"/>
              </a:rPr>
              <a:t>Experimental </a:t>
            </a:r>
            <a:r>
              <a:rPr lang="de-DE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DE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97A04FB-CCBB-9CF8-B9BC-7E73340DC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509" y="1190802"/>
            <a:ext cx="4948981" cy="3315816"/>
          </a:xfrm>
          <a:prstGeom prst="rect">
            <a:avLst/>
          </a:prstGeom>
          <a:noFill/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E0850A-FF23-ED31-732F-C94508FDD2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6300" y="4731990"/>
            <a:ext cx="6361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CD88B4E-D815-417B-99FD-41D66E5C06D4}" type="slidenum">
              <a:rPr lang="de-DE" smtClean="0"/>
              <a:pPr>
                <a:spcAft>
                  <a:spcPts val="600"/>
                </a:spcAft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86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D1717-0D0E-8653-0A2C-9B6B6EDB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B6766-07BD-B12F-FEE4-4CF15885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300" b="0" dirty="0" err="1">
                <a:latin typeface="Arial" panose="020B0604020202020204" pitchFamily="34" charset="0"/>
                <a:cs typeface="Arial" panose="020B0604020202020204" pitchFamily="34" charset="0"/>
              </a:rPr>
              <a:t>Agentic</a:t>
            </a:r>
            <a:r>
              <a:rPr lang="de-DE" sz="2300" b="0" dirty="0">
                <a:latin typeface="Arial" panose="020B0604020202020204" pitchFamily="34" charset="0"/>
                <a:cs typeface="Arial" panose="020B0604020202020204" pitchFamily="34" charset="0"/>
              </a:rPr>
              <a:t> behavioral </a:t>
            </a:r>
            <a:r>
              <a:rPr lang="de-DE" sz="2300" b="0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de-DE" sz="23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D5393-E2C0-3719-E339-3E20FA958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 descr="Ein Bild, das Gehirn enthält.&#10;&#10;KI-generierte Inhalte können fehlerhaft sein.">
            <a:extLst>
              <a:ext uri="{FF2B5EF4-FFF2-40B4-BE49-F238E27FC236}">
                <a16:creationId xmlns:a16="http://schemas.microsoft.com/office/drawing/2014/main" id="{BAB5A743-26A0-166D-1EE3-ADDACBEF574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041" flipH="1">
            <a:off x="4716118" y="1088783"/>
            <a:ext cx="3724912" cy="2418172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B5DEA955-7667-AC8B-FCFC-D1406F73CC45}"/>
              </a:ext>
            </a:extLst>
          </p:cNvPr>
          <p:cNvSpPr/>
          <p:nvPr/>
        </p:nvSpPr>
        <p:spPr>
          <a:xfrm>
            <a:off x="900879" y="1246777"/>
            <a:ext cx="3218109" cy="3295486"/>
          </a:xfrm>
          <a:prstGeom prst="roundRect">
            <a:avLst>
              <a:gd name="adj" fmla="val 2994"/>
            </a:avLst>
          </a:prstGeom>
          <a:solidFill>
            <a:schemeClr val="bg1">
              <a:alpha val="80000"/>
            </a:schemeClr>
          </a:solidFill>
          <a:ln w="9525">
            <a:solidFill>
              <a:schemeClr val="bg1">
                <a:lumMod val="65000"/>
              </a:schemeClr>
            </a:solidFill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7EA569A-3181-9B77-A7E0-0DACF8D5B128}"/>
                  </a:ext>
                </a:extLst>
              </p:cNvPr>
              <p:cNvSpPr txBox="1"/>
              <p:nvPr/>
            </p:nvSpPr>
            <p:spPr>
              <a:xfrm>
                <a:off x="910971" y="1892954"/>
                <a:ext cx="32775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de-DE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Stimuli</m:t>
                      </m:r>
                      <m:r>
                        <a:rPr lang="de-DE" sz="1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Label</m:t>
                      </m:r>
                      <m:r>
                        <a:rPr lang="de-DE" sz="1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Switch</m:t>
                      </m:r>
                      <m:r>
                        <a:rPr lang="de-DE" sz="1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Imbalance</m:t>
                      </m:r>
                      <m:r>
                        <a:rPr lang="de-DE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400" dirty="0">
                  <a:effectLst/>
                  <a:latin typeface="Arial" panose="020B0604020202020204" pitchFamily="34" charset="0"/>
                  <a:ea typeface="CMU Serif" panose="02000603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7EA569A-3181-9B77-A7E0-0DACF8D5B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71" y="1892954"/>
                <a:ext cx="3277500" cy="307777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346B1F1-8197-E7D5-6A27-D3BCA1D19377}"/>
              </a:ext>
            </a:extLst>
          </p:cNvPr>
          <p:cNvSpPr/>
          <p:nvPr/>
        </p:nvSpPr>
        <p:spPr>
          <a:xfrm>
            <a:off x="755576" y="846696"/>
            <a:ext cx="7832601" cy="3806402"/>
          </a:xfrm>
          <a:prstGeom prst="roundRect">
            <a:avLst>
              <a:gd name="adj" fmla="val 1343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41B1D8C-4E85-FE47-3244-EA52C1F2B160}"/>
              </a:ext>
            </a:extLst>
          </p:cNvPr>
          <p:cNvSpPr/>
          <p:nvPr/>
        </p:nvSpPr>
        <p:spPr>
          <a:xfrm>
            <a:off x="4837183" y="1246776"/>
            <a:ext cx="3543242" cy="2581157"/>
          </a:xfrm>
          <a:prstGeom prst="roundRect">
            <a:avLst>
              <a:gd name="adj" fmla="val 2555"/>
            </a:avLst>
          </a:prstGeom>
          <a:solidFill>
            <a:schemeClr val="bg1">
              <a:alpha val="36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6608798-7518-0586-0E49-FD2D44D4B803}"/>
                  </a:ext>
                </a:extLst>
              </p:cNvPr>
              <p:cNvSpPr txBox="1"/>
              <p:nvPr/>
            </p:nvSpPr>
            <p:spPr>
              <a:xfrm>
                <a:off x="4960993" y="3481581"/>
                <a:ext cx="3488712" cy="2781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10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Optimal </a:t>
                </a:r>
                <a:r>
                  <a:rPr lang="de-DE" sz="1100" dirty="0" err="1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action</a:t>
                </a:r>
                <a:r>
                  <a:rPr lang="de-DE" sz="110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  <a:r>
                  <a:rPr lang="de-DE" sz="1100" dirty="0" err="1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value</a:t>
                </a:r>
                <a:r>
                  <a:rPr lang="de-DE" sz="110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  <a:r>
                  <a:rPr lang="de-DE" sz="1100" dirty="0" err="1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functions</a:t>
                </a:r>
                <a:r>
                  <a:rPr lang="de-DE" sz="110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Arial" panose="020B0604020202020204" pitchFamily="34" charset="0"/>
                          </a:rPr>
                          <m:t>𝜒</m:t>
                        </m:r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de-DE" sz="110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and decisions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</m:ctrlPr>
                      </m:sSubSupPr>
                      <m:e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𝑑</m:t>
                        </m:r>
                      </m:e>
                      <m:sub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𝜒</m:t>
                        </m:r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,</m:t>
                        </m:r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𝑡</m:t>
                        </m:r>
                      </m:sub>
                      <m:sup>
                        <m:r>
                          <a:rPr lang="de-DE" sz="11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∗</m:t>
                        </m:r>
                      </m:sup>
                    </m:sSubSup>
                  </m:oMath>
                </a14:m>
                <a:endParaRPr lang="de-DE" sz="11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CMU Serif" panose="02000603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6608798-7518-0586-0E49-FD2D44D4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993" y="3481581"/>
                <a:ext cx="3488712" cy="278153"/>
              </a:xfrm>
              <a:prstGeom prst="rect">
                <a:avLst/>
              </a:prstGeom>
              <a:blipFill>
                <a:blip r:embed="rId4"/>
                <a:stretch>
                  <a:fillRect t="-2174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95EE46C6-B6B6-7F69-189A-1E1624311B65}"/>
                  </a:ext>
                </a:extLst>
              </p:cNvPr>
              <p:cNvSpPr txBox="1"/>
              <p:nvPr/>
            </p:nvSpPr>
            <p:spPr>
              <a:xfrm>
                <a:off x="5150083" y="2458282"/>
                <a:ext cx="3110532" cy="324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300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Subjective</a:t>
                </a:r>
                <a:r>
                  <a:rPr lang="de-DE" sz="13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  <a:r>
                  <a:rPr lang="de-DE" sz="1300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reward</a:t>
                </a:r>
                <a:r>
                  <a:rPr lang="de-DE" sz="13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  <a:r>
                  <a:rPr lang="de-DE" sz="1300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function</a:t>
                </a:r>
                <a:r>
                  <a:rPr lang="de-DE" sz="13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d>
                      <m:dPr>
                        <m:ctrlP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𝜒</m:t>
                            </m:r>
                          </m:sup>
                        </m:sSubSup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de-DE" sz="13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𝜒</m:t>
                            </m:r>
                          </m:sup>
                        </m:sSubSup>
                      </m:e>
                    </m:d>
                  </m:oMath>
                </a14:m>
                <a:r>
                  <a:rPr lang="de-DE" sz="130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95EE46C6-B6B6-7F69-189A-1E1624311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083" y="2458282"/>
                <a:ext cx="3110532" cy="324512"/>
              </a:xfrm>
              <a:prstGeom prst="rect">
                <a:avLst/>
              </a:prstGeom>
              <a:blipFill>
                <a:blip r:embed="rId5"/>
                <a:stretch>
                  <a:fillRect l="-392" b="-94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FEB8B81-7EF8-A4C2-9097-D6E038FC73AE}"/>
                  </a:ext>
                </a:extLst>
              </p:cNvPr>
              <p:cNvSpPr txBox="1"/>
              <p:nvPr/>
            </p:nvSpPr>
            <p:spPr>
              <a:xfrm>
                <a:off x="5058809" y="4102885"/>
                <a:ext cx="3293081" cy="3269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400" dirty="0"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DE" sz="1400" b="0" i="0" smtClean="0">
                        <a:latin typeface="Cambria Math" panose="02040503050406030204" pitchFamily="18" charset="0"/>
                      </a:rPr>
                      <m:t>PTD</m:t>
                    </m:r>
                    <m:r>
                      <a:rPr lang="de-DE" sz="140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sz="1400" b="0" i="0" smtClean="0">
                        <a:latin typeface="Cambria Math" panose="02040503050406030204" pitchFamily="18" charset="0"/>
                      </a:rPr>
                      <m:t>RMC</m:t>
                    </m:r>
                    <m:r>
                      <a:rPr lang="de-DE" sz="1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DE" sz="1400" b="0" i="0" smtClean="0">
                        <a:latin typeface="Cambria Math" panose="02040503050406030204" pitchFamily="18" charset="0"/>
                      </a:rPr>
                      <m:t>Yes</m:t>
                    </m:r>
                    <m:r>
                      <a:rPr lang="de-DE" sz="140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sz="1400" b="0" i="0" smtClean="0">
                        <a:latin typeface="Cambria Math" panose="02040503050406030204" pitchFamily="18" charset="0"/>
                      </a:rPr>
                      <m:t>No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1400" i="1" dirty="0">
                  <a:effectLst/>
                  <a:latin typeface="Arial" panose="020B0604020202020204" pitchFamily="34" charset="0"/>
                  <a:ea typeface="CMU Serif" panose="02000603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FEB8B81-7EF8-A4C2-9097-D6E038FC7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809" y="4102885"/>
                <a:ext cx="3293081" cy="326949"/>
              </a:xfrm>
              <a:prstGeom prst="rect">
                <a:avLst/>
              </a:prstGeom>
              <a:blipFill>
                <a:blip r:embed="rId6"/>
                <a:stretch>
                  <a:fillRect l="-556" t="-3704" b="-129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060388E-6834-D4AF-C934-3B102E20D759}"/>
                  </a:ext>
                </a:extLst>
              </p:cNvPr>
              <p:cNvSpPr txBox="1"/>
              <p:nvPr/>
            </p:nvSpPr>
            <p:spPr>
              <a:xfrm>
                <a:off x="894720" y="855097"/>
                <a:ext cx="3134063" cy="414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400" dirty="0"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Data </a:t>
                </a:r>
                <a:r>
                  <a:rPr lang="de-DE" sz="1400" dirty="0" err="1"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model</a:t>
                </a:r>
                <a:r>
                  <a:rPr lang="de-DE" sz="1400" dirty="0"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𝒟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≔</m:t>
                    </m:r>
                    <m:d>
                      <m:d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𝒯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,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𝒜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, </m:t>
                        </m:r>
                        <m:sSub>
                          <m:sSubPr>
                            <m:ctrlP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𝛽</m:t>
                            </m:r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,</m:t>
                            </m:r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𝜎</m:t>
                            </m:r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,</m:t>
                            </m:r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𝜏</m:t>
                            </m:r>
                          </m:sub>
                        </m:sSub>
                        <m:d>
                          <m:dPr>
                            <m:ctrlPr>
                              <a:rPr lang="de-DE" sz="1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de-DE" sz="1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de-DE" sz="1400" dirty="0"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060388E-6834-D4AF-C934-3B102E20D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20" y="855097"/>
                <a:ext cx="3134063" cy="414729"/>
              </a:xfrm>
              <a:prstGeom prst="rect">
                <a:avLst/>
              </a:prstGeom>
              <a:blipFill>
                <a:blip r:embed="rId7"/>
                <a:stretch>
                  <a:fillRect l="-584" b="-29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feld 14">
            <a:extLst>
              <a:ext uri="{FF2B5EF4-FFF2-40B4-BE49-F238E27FC236}">
                <a16:creationId xmlns:a16="http://schemas.microsoft.com/office/drawing/2014/main" id="{B642B268-6F75-02CF-8F3E-E30B9BD231F5}"/>
              </a:ext>
            </a:extLst>
          </p:cNvPr>
          <p:cNvSpPr txBox="1"/>
          <p:nvPr/>
        </p:nvSpPr>
        <p:spPr>
          <a:xfrm>
            <a:off x="910593" y="1301509"/>
            <a:ext cx="1089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Task </a:t>
            </a:r>
            <a:r>
              <a:rPr lang="de-DE" sz="1400" dirty="0" err="1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model</a:t>
            </a:r>
            <a:endParaRPr lang="de-DE" sz="1400" dirty="0">
              <a:latin typeface="Arial" panose="020B0604020202020204" pitchFamily="34" charset="0"/>
              <a:ea typeface="CMU Serif" panose="02000603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95EFD39-ED02-7009-860B-7B132A3FF729}"/>
              </a:ext>
            </a:extLst>
          </p:cNvPr>
          <p:cNvSpPr txBox="1"/>
          <p:nvPr/>
        </p:nvSpPr>
        <p:spPr>
          <a:xfrm>
            <a:off x="4859024" y="1294885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Agent </a:t>
            </a:r>
            <a:r>
              <a:rPr lang="de-DE" sz="1400" dirty="0" err="1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model</a:t>
            </a:r>
            <a:endParaRPr lang="de-DE" sz="1400" dirty="0">
              <a:latin typeface="Arial" panose="020B0604020202020204" pitchFamily="34" charset="0"/>
              <a:ea typeface="CMU Serif" panose="02000603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0C431EE-69BA-F37C-5A5D-003625AE469D}"/>
                  </a:ext>
                </a:extLst>
              </p:cNvPr>
              <p:cNvSpPr txBox="1"/>
              <p:nvPr/>
            </p:nvSpPr>
            <p:spPr>
              <a:xfrm>
                <a:off x="1307939" y="2942770"/>
                <a:ext cx="24835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State </a:t>
                </a:r>
                <a:r>
                  <a:rPr lang="de-DE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transition</a:t>
                </a:r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1400" dirty="0"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0C431EE-69BA-F37C-5A5D-003625AE4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939" y="2942770"/>
                <a:ext cx="2483565" cy="307777"/>
              </a:xfrm>
              <a:prstGeom prst="rect">
                <a:avLst/>
              </a:prstGeom>
              <a:blipFill>
                <a:blip r:embed="rId8"/>
                <a:stretch>
                  <a:fillRect l="-246" t="-4000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8F17912-D719-9B28-5127-58EC4D06A6AB}"/>
              </a:ext>
            </a:extLst>
          </p:cNvPr>
          <p:cNvCxnSpPr>
            <a:cxnSpLocks/>
            <a:stCxn id="41" idx="2"/>
            <a:endCxn id="12" idx="0"/>
          </p:cNvCxnSpPr>
          <p:nvPr/>
        </p:nvCxnSpPr>
        <p:spPr>
          <a:xfrm flipH="1">
            <a:off x="6705349" y="2184672"/>
            <a:ext cx="1" cy="27361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F345BAE-7551-0A9E-C646-5C6FD5ED7C5F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6705349" y="3759734"/>
            <a:ext cx="1" cy="343151"/>
          </a:xfrm>
          <a:prstGeom prst="straightConnector1">
            <a:avLst/>
          </a:prstGeom>
          <a:ln w="317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621A82F-FB52-2E82-8807-B7B854D72E2B}"/>
              </a:ext>
            </a:extLst>
          </p:cNvPr>
          <p:cNvCxnSpPr>
            <a:cxnSpLocks/>
            <a:stCxn id="17" idx="0"/>
            <a:endCxn id="7" idx="2"/>
          </p:cNvCxnSpPr>
          <p:nvPr/>
        </p:nvCxnSpPr>
        <p:spPr>
          <a:xfrm flipH="1" flipV="1">
            <a:off x="2549721" y="2200731"/>
            <a:ext cx="1" cy="7420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4E026B0F-3331-D300-43C0-A1F38B11B930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 flipH="1">
            <a:off x="2541541" y="3250547"/>
            <a:ext cx="8181" cy="86192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97E49FEF-6E59-41D0-9387-16D8CC1E91C9}"/>
                  </a:ext>
                </a:extLst>
              </p:cNvPr>
              <p:cNvSpPr txBox="1"/>
              <p:nvPr/>
            </p:nvSpPr>
            <p:spPr>
              <a:xfrm>
                <a:off x="1631900" y="4112471"/>
                <a:ext cx="18192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400" dirty="0">
                    <a:effectLst/>
                    <a:latin typeface="Arial" panose="020B0604020202020204" pitchFamily="34" charset="0"/>
                    <a:ea typeface="CMU Serif" panose="02000603000000000000" pitchFamily="2" charset="0"/>
                    <a:cs typeface="Arial" panose="020B0604020202020204" pitchFamily="34" charset="0"/>
                  </a:rPr>
                  <a:t>Task reward</a:t>
                </a:r>
                <a14:m>
                  <m:oMath xmlns:m="http://schemas.openxmlformats.org/officeDocument/2006/math">
                    <m:r>
                      <a:rPr lang="de-DE" sz="1400" b="0" i="0" smtClean="0">
                        <a:effectLst/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r>
                      <a:rPr lang="de-DE" sz="1400" i="1" smtClean="0">
                        <a:latin typeface="Cambria Math" panose="02040503050406030204" pitchFamily="18" charset="0"/>
                      </a:rPr>
                      <m:t>𝜚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1400" dirty="0">
                  <a:effectLst/>
                  <a:latin typeface="Arial" panose="020B0604020202020204" pitchFamily="34" charset="0"/>
                  <a:ea typeface="CMU Serif" panose="02000603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97E49FEF-6E59-41D0-9387-16D8CC1E9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900" y="4112471"/>
                <a:ext cx="1819281" cy="307777"/>
              </a:xfrm>
              <a:prstGeom prst="rect">
                <a:avLst/>
              </a:prstGeom>
              <a:blipFill>
                <a:blip r:embed="rId9"/>
                <a:stretch>
                  <a:fillRect l="-671" t="-4000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feld 25">
            <a:extLst>
              <a:ext uri="{FF2B5EF4-FFF2-40B4-BE49-F238E27FC236}">
                <a16:creationId xmlns:a16="http://schemas.microsoft.com/office/drawing/2014/main" id="{D1D6E3F5-DB0C-88FF-D1E5-B310CA3D4709}"/>
              </a:ext>
            </a:extLst>
          </p:cNvPr>
          <p:cNvSpPr txBox="1"/>
          <p:nvPr/>
        </p:nvSpPr>
        <p:spPr>
          <a:xfrm>
            <a:off x="5612231" y="3867797"/>
            <a:ext cx="1030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Action </a:t>
            </a:r>
            <a:r>
              <a:rPr lang="de-DE" sz="1100" dirty="0" err="1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lifting</a:t>
            </a:r>
            <a:endParaRPr lang="de-DE" sz="1100" dirty="0">
              <a:latin typeface="Arial" panose="020B0604020202020204" pitchFamily="34" charset="0"/>
              <a:ea typeface="CMU Serif" panose="02000603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034D96A-B6DA-C589-9C47-2C836FE0971E}"/>
              </a:ext>
            </a:extLst>
          </p:cNvPr>
          <p:cNvCxnSpPr>
            <a:cxnSpLocks/>
          </p:cNvCxnSpPr>
          <p:nvPr/>
        </p:nvCxnSpPr>
        <p:spPr>
          <a:xfrm flipV="1">
            <a:off x="4223481" y="2034994"/>
            <a:ext cx="838723" cy="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EBB453DC-48EF-7730-C583-5C4AA70BCE97}"/>
              </a:ext>
            </a:extLst>
          </p:cNvPr>
          <p:cNvCxnSpPr>
            <a:cxnSpLocks/>
            <a:stCxn id="13" idx="1"/>
            <a:endCxn id="25" idx="3"/>
          </p:cNvCxnSpPr>
          <p:nvPr/>
        </p:nvCxnSpPr>
        <p:spPr>
          <a:xfrm flipH="1">
            <a:off x="3451181" y="4266360"/>
            <a:ext cx="160762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7691A608-6C91-A8FA-5064-E38F08646ABB}"/>
                  </a:ext>
                </a:extLst>
              </p:cNvPr>
              <p:cNvSpPr txBox="1"/>
              <p:nvPr/>
            </p:nvSpPr>
            <p:spPr>
              <a:xfrm>
                <a:off x="7271104" y="878669"/>
                <a:ext cx="11711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1600" b="0" i="1" dirty="0" smtClean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𝑡</m:t>
                      </m:r>
                      <m:r>
                        <a:rPr lang="de-DE" sz="1600" i="1" dirty="0" smtClean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=</m:t>
                      </m:r>
                      <m:r>
                        <a:rPr lang="de-DE" sz="1600" b="0" i="1" dirty="0" smtClean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0</m:t>
                      </m:r>
                      <m:r>
                        <a:rPr lang="de-DE" sz="1600" i="1" dirty="0" smtClean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,…,</m:t>
                      </m:r>
                      <m:r>
                        <a:rPr lang="de-DE" sz="1600" b="0" i="1" dirty="0" smtClean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𝑛</m:t>
                      </m:r>
                    </m:oMath>
                  </m:oMathPara>
                </a14:m>
                <a:endParaRPr lang="de-DE" sz="1600" dirty="0">
                  <a:latin typeface="Arial" panose="020B0604020202020204" pitchFamily="34" charset="0"/>
                  <a:ea typeface="CMU Serif" panose="02000603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7691A608-6C91-A8FA-5064-E38F08646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104" y="878669"/>
                <a:ext cx="1171154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feld 31">
            <a:extLst>
              <a:ext uri="{FF2B5EF4-FFF2-40B4-BE49-F238E27FC236}">
                <a16:creationId xmlns:a16="http://schemas.microsoft.com/office/drawing/2014/main" id="{9D1AEBE1-FD87-E267-3651-01EE5B9FD571}"/>
              </a:ext>
            </a:extLst>
          </p:cNvPr>
          <p:cNvSpPr txBox="1"/>
          <p:nvPr/>
        </p:nvSpPr>
        <p:spPr>
          <a:xfrm>
            <a:off x="7755272" y="3704606"/>
            <a:ext cx="354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38171AB2-6338-7757-1813-0497F5141691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V="1">
            <a:off x="3519560" y="3368603"/>
            <a:ext cx="1169700" cy="6258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5AAA040-5559-4EFC-C4FD-CD77037EE781}"/>
                  </a:ext>
                </a:extLst>
              </p:cNvPr>
              <p:cNvSpPr txBox="1"/>
              <p:nvPr/>
            </p:nvSpPr>
            <p:spPr>
              <a:xfrm>
                <a:off x="5125782" y="1869906"/>
                <a:ext cx="3159135" cy="314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300" b="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Reduced </a:t>
                </a:r>
                <a:r>
                  <a:rPr lang="de-DE" sz="1300" b="0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state</a:t>
                </a:r>
                <a:r>
                  <a:rPr lang="de-DE" sz="1300" b="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de-DE" sz="13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sup>
                    </m:sSubSup>
                    <m:r>
                      <a:rPr lang="de-DE" sz="13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de-DE" sz="13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DE" sz="1300" b="0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Switch</m:t>
                    </m:r>
                    <m:r>
                      <a:rPr lang="de-DE" sz="1300" b="0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de-DE" sz="1300" b="0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Imbalance</m:t>
                    </m:r>
                    <m:r>
                      <a:rPr lang="de-DE" sz="13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13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CMU Serif" panose="02000603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5AAA040-5559-4EFC-C4FD-CD77037EE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782" y="1869906"/>
                <a:ext cx="3159135" cy="314766"/>
              </a:xfrm>
              <a:prstGeom prst="rect">
                <a:avLst/>
              </a:prstGeom>
              <a:blipFill>
                <a:blip r:embed="rId11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feld 56">
            <a:extLst>
              <a:ext uri="{FF2B5EF4-FFF2-40B4-BE49-F238E27FC236}">
                <a16:creationId xmlns:a16="http://schemas.microsoft.com/office/drawing/2014/main" id="{12C3D6F2-08E4-39F2-0FA9-A36BD4DED39B}"/>
              </a:ext>
            </a:extLst>
          </p:cNvPr>
          <p:cNvSpPr txBox="1"/>
          <p:nvPr/>
        </p:nvSpPr>
        <p:spPr>
          <a:xfrm>
            <a:off x="5010815" y="2980054"/>
            <a:ext cx="33890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</a:t>
            </a:r>
            <a:r>
              <a:rPr lang="de-DE" sz="13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de-DE" sz="13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3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r>
              <a:rPr lang="de-DE" sz="13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3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induction</a:t>
            </a:r>
            <a:endParaRPr lang="de-DE" sz="1300" dirty="0">
              <a:solidFill>
                <a:schemeClr val="bg1">
                  <a:lumMod val="65000"/>
                </a:schemeClr>
              </a:solidFill>
              <a:effectLst/>
              <a:latin typeface="Arial" panose="020B0604020202020204" pitchFamily="34" charset="0"/>
              <a:ea typeface="CMU Serif" panose="02000603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E42D293E-9DFB-197D-BE80-8A21A80001FC}"/>
              </a:ext>
            </a:extLst>
          </p:cNvPr>
          <p:cNvCxnSpPr>
            <a:cxnSpLocks/>
            <a:stCxn id="12" idx="2"/>
            <a:endCxn id="57" idx="0"/>
          </p:cNvCxnSpPr>
          <p:nvPr/>
        </p:nvCxnSpPr>
        <p:spPr>
          <a:xfrm>
            <a:off x="6705349" y="2782794"/>
            <a:ext cx="1" cy="19726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AF94C2-8F42-F1DB-75FE-AC5ED34B7325}"/>
              </a:ext>
            </a:extLst>
          </p:cNvPr>
          <p:cNvCxnSpPr>
            <a:cxnSpLocks/>
            <a:stCxn id="57" idx="2"/>
            <a:endCxn id="11" idx="0"/>
          </p:cNvCxnSpPr>
          <p:nvPr/>
        </p:nvCxnSpPr>
        <p:spPr>
          <a:xfrm flipH="1">
            <a:off x="6705349" y="3272442"/>
            <a:ext cx="1" cy="209139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48447DC3-4379-5AF9-2E32-061CAB3B53A5}"/>
              </a:ext>
            </a:extLst>
          </p:cNvPr>
          <p:cNvSpPr txBox="1"/>
          <p:nvPr/>
        </p:nvSpPr>
        <p:spPr>
          <a:xfrm>
            <a:off x="6737738" y="3867797"/>
            <a:ext cx="169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Post-</a:t>
            </a:r>
            <a:r>
              <a:rPr lang="de-DE" sz="1100" dirty="0" err="1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decision</a:t>
            </a:r>
            <a:r>
              <a:rPr lang="de-DE" sz="1100" dirty="0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latin typeface="Arial" panose="020B0604020202020204" pitchFamily="34" charset="0"/>
                <a:ea typeface="CMU Serif" panose="02000603000000000000" pitchFamily="2" charset="0"/>
                <a:cs typeface="Arial" panose="020B0604020202020204" pitchFamily="34" charset="0"/>
              </a:rPr>
              <a:t>noise</a:t>
            </a:r>
            <a:endParaRPr lang="de-DE" sz="1100" dirty="0">
              <a:latin typeface="Arial" panose="020B0604020202020204" pitchFamily="34" charset="0"/>
              <a:ea typeface="CMU Serif" panose="02000603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9F821925-19F8-EC5F-11B1-958741699A94}"/>
                  </a:ext>
                </a:extLst>
              </p:cNvPr>
              <p:cNvSpPr txBox="1"/>
              <p:nvPr/>
            </p:nvSpPr>
            <p:spPr>
              <a:xfrm>
                <a:off x="998474" y="1593990"/>
                <a:ext cx="3014113" cy="308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1200" b="0" i="1" smtClean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𝒯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≔</m:t>
                      </m:r>
                      <m:d>
                        <m:d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𝐽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𝑆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𝐴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𝒯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 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𝑡</m:t>
                                  </m:r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sz="1200" b="0" i="1" smtClean="0"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ϱ</m:t>
                          </m:r>
                        </m:e>
                      </m:d>
                    </m:oMath>
                  </m:oMathPara>
                </a14:m>
                <a:endParaRPr lang="de-DE" sz="1200" b="0" i="1" dirty="0">
                  <a:latin typeface="Cambria Math" panose="02040503050406030204" pitchFamily="18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9F821925-19F8-EC5F-11B1-958741699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74" y="1593990"/>
                <a:ext cx="3014113" cy="3081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72938CC2-DFFE-5565-A2C4-714A7E9EC19A}"/>
                  </a:ext>
                </a:extLst>
              </p:cNvPr>
              <p:cNvSpPr txBox="1"/>
              <p:nvPr/>
            </p:nvSpPr>
            <p:spPr>
              <a:xfrm>
                <a:off x="5357985" y="1594659"/>
                <a:ext cx="2574396" cy="306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12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𝒜</m:t>
                      </m:r>
                      <m:r>
                        <a:rPr lang="de-DE" sz="12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≔</m:t>
                      </m:r>
                      <m:d>
                        <m:dPr>
                          <m:ctrlP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𝐽</m:t>
                          </m:r>
                          <m: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𝜒</m:t>
                              </m:r>
                            </m:sub>
                          </m:sSub>
                          <m: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𝐷</m:t>
                          </m:r>
                          <m: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𝛽</m:t>
                              </m:r>
                              <m: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,</m:t>
                              </m:r>
                              <m: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𝜎</m:t>
                              </m:r>
                            </m:sub>
                          </m:sSub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,</m:t>
                          </m:r>
                          <m:r>
                            <a:rPr lang="de-DE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de-DE" sz="1200" b="0" i="1" dirty="0">
                  <a:solidFill>
                    <a:schemeClr val="bg1">
                      <a:lumMod val="65000"/>
                    </a:schemeClr>
                  </a:solidFill>
                  <a:latin typeface="Cambria Math" panose="02040503050406030204" pitchFamily="18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72938CC2-DFFE-5565-A2C4-714A7E9EC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985" y="1594659"/>
                <a:ext cx="2574396" cy="306687"/>
              </a:xfrm>
              <a:prstGeom prst="rect">
                <a:avLst/>
              </a:prstGeom>
              <a:blipFill>
                <a:blip r:embed="rId1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42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2D0AA-045F-789C-DFC4-25A3EDE5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200" b="0" dirty="0">
                <a:latin typeface="Arial" panose="020B0604020202020204" pitchFamily="34" charset="0"/>
                <a:cs typeface="Arial" panose="020B0604020202020204" pitchFamily="34" charset="0"/>
              </a:rPr>
              <a:t>Dynamic </a:t>
            </a:r>
            <a:r>
              <a:rPr lang="de-DE" sz="2200" b="0" dirty="0" err="1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de-DE" sz="22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200" b="0" dirty="0" err="1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r>
              <a:rPr lang="de-DE" sz="22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200" b="0" dirty="0" err="1">
                <a:latin typeface="Arial" panose="020B0604020202020204" pitchFamily="34" charset="0"/>
                <a:cs typeface="Arial" panose="020B0604020202020204" pitchFamily="34" charset="0"/>
              </a:rPr>
              <a:t>induction</a:t>
            </a:r>
            <a:endParaRPr lang="de-DE" sz="2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0408ED-CF39-66E4-FBBF-9C6E8F97BF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rPr lang="de-DE" smtClean="0"/>
              <a:t>8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BC1476-3561-09DF-51A4-8680B89D8165}"/>
              </a:ext>
            </a:extLst>
          </p:cNvPr>
          <p:cNvSpPr txBox="1"/>
          <p:nvPr/>
        </p:nvSpPr>
        <p:spPr>
          <a:xfrm>
            <a:off x="731648" y="925059"/>
            <a:ext cx="3337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Subjective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non-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reduced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DA8004F-73E3-B3A1-7312-800EED80F182}"/>
                  </a:ext>
                </a:extLst>
              </p:cNvPr>
              <p:cNvSpPr txBox="1"/>
              <p:nvPr/>
            </p:nvSpPr>
            <p:spPr>
              <a:xfrm>
                <a:off x="2216579" y="1391798"/>
                <a:ext cx="5281574" cy="3269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de-DE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de-DE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de-DE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de-DE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DA8004F-73E3-B3A1-7312-800EED80F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579" y="1391798"/>
                <a:ext cx="5281574" cy="326949"/>
              </a:xfrm>
              <a:prstGeom prst="rect">
                <a:avLst/>
              </a:prstGeom>
              <a:blipFill>
                <a:blip r:embed="rId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9A7BF60D-6E5E-A33D-AA46-0CC5D77232A7}"/>
                  </a:ext>
                </a:extLst>
              </p:cNvPr>
              <p:cNvSpPr txBox="1"/>
              <p:nvPr/>
            </p:nvSpPr>
            <p:spPr>
              <a:xfrm>
                <a:off x="1858816" y="1854757"/>
                <a:ext cx="5997100" cy="237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14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Accuray </a:t>
                </a:r>
                <a:r>
                  <a:rPr lang="de-DE" sz="14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reward </a:t>
                </a:r>
                <a14:m>
                  <m:oMath xmlns:m="http://schemas.openxmlformats.org/officeDocument/2006/math">
                    <m:r>
                      <a:rPr lang="de-DE" sz="1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de-DE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nor/>
                      </m:rPr>
                      <a:rPr lang="de-DE" sz="1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de-DE" sz="1400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Imbalance cost </m:t>
                    </m:r>
                    <m:sSub>
                      <m:sSubPr>
                        <m:ctrlP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de-DE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≔−</m:t>
                    </m:r>
                    <m:r>
                      <a:rPr lang="de-DE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DE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⋅|</m:t>
                    </m:r>
                    <m:sSup>
                      <m:sSupPr>
                        <m:ctrlP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de-DE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de-DE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e-DE" sz="14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endParaRPr lang="de-D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9A7BF60D-6E5E-A33D-AA46-0CC5D7723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816" y="1854757"/>
                <a:ext cx="5997100" cy="237950"/>
              </a:xfrm>
              <a:prstGeom prst="rect">
                <a:avLst/>
              </a:prstGeom>
              <a:blipFill>
                <a:blip r:embed="rId3"/>
                <a:stretch>
                  <a:fillRect l="-1829" t="-23077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F3208D30-2E26-5514-C31B-6F39AD82E9D9}"/>
                  </a:ext>
                </a:extLst>
              </p:cNvPr>
              <p:cNvSpPr txBox="1"/>
              <p:nvPr/>
            </p:nvSpPr>
            <p:spPr>
              <a:xfrm>
                <a:off x="2062563" y="2247686"/>
                <a:ext cx="50188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de-DE" sz="1400" i="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Switch cost</m:t>
                      </m:r>
                      <m:r>
                        <m:rPr>
                          <m:nor/>
                        </m:rPr>
                        <a:rPr lang="de-DE" sz="1400" b="0" i="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DE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de-DE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de-DE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de-DE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⟦"/>
                          <m:endChr m:val="⟧"/>
                          <m:ctrlPr>
                            <a:rPr lang="de-DE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DE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DE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=1∧</m:t>
                              </m:r>
                              <m:r>
                                <a:rPr lang="de-DE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de-DE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de-DE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DE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=2∧</m:t>
                              </m:r>
                              <m:sSup>
                                <m:sSupPr>
                                  <m:ctrlP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de-DE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de-DE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de-D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F3208D30-2E26-5514-C31B-6F39AD82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563" y="2247686"/>
                <a:ext cx="5018873" cy="215444"/>
              </a:xfrm>
              <a:prstGeom prst="rect">
                <a:avLst/>
              </a:prstGeom>
              <a:blipFill>
                <a:blip r:embed="rId4"/>
                <a:stretch>
                  <a:fillRect l="-364" b="-2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2B21CF57-8C54-64AA-0038-DD3122022BB6}"/>
                  </a:ext>
                </a:extLst>
              </p:cNvPr>
              <p:cNvSpPr txBox="1"/>
              <p:nvPr/>
            </p:nvSpPr>
            <p:spPr>
              <a:xfrm>
                <a:off x="731648" y="2631616"/>
                <a:ext cx="30181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Backward </a:t>
                </a:r>
                <a:r>
                  <a:rPr lang="de-DE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induction</a:t>
                </a:r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≔1, </m:t>
                    </m:r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  <m:r>
                      <a:rPr lang="de-DE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≔0)</m:t>
                    </m:r>
                  </m:oMath>
                </a14:m>
                <a:endParaRPr lang="de-D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2B21CF57-8C54-64AA-0038-DD3122022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8" y="2631616"/>
                <a:ext cx="3018199" cy="307777"/>
              </a:xfrm>
              <a:prstGeom prst="rect">
                <a:avLst/>
              </a:prstGeom>
              <a:blipFill>
                <a:blip r:embed="rId5"/>
                <a:stretch>
                  <a:fillRect l="-606" t="-4000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75AF0117-CD2F-B9E1-957B-9C9A9F6B28C5}"/>
                  </a:ext>
                </a:extLst>
              </p:cNvPr>
              <p:cNvSpPr txBox="1"/>
              <p:nvPr/>
            </p:nvSpPr>
            <p:spPr>
              <a:xfrm>
                <a:off x="1037466" y="3414184"/>
                <a:ext cx="381990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𝛾</m:t>
                    </m:r>
                    <m:nary>
                      <m:naryPr>
                        <m:chr m:val="∑"/>
                        <m:supHide m:val="on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  <m:sup/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sSubSup>
                          <m:sSubSup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75AF0117-CD2F-B9E1-957B-9C9A9F6B2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66" y="3414184"/>
                <a:ext cx="3819900" cy="294568"/>
              </a:xfrm>
              <a:prstGeom prst="rect">
                <a:avLst/>
              </a:prstGeom>
              <a:blipFill>
                <a:blip r:embed="rId6"/>
                <a:stretch>
                  <a:fillRect t="-91667" b="-145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FD0D6BB-3F73-4D89-D839-52461DE63B23}"/>
                  </a:ext>
                </a:extLst>
              </p:cNvPr>
              <p:cNvSpPr txBox="1"/>
              <p:nvPr/>
            </p:nvSpPr>
            <p:spPr>
              <a:xfrm>
                <a:off x="814776" y="3046049"/>
                <a:ext cx="15539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200" b="0" dirty="0"/>
                  <a:t>For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−1,…,0</m:t>
                    </m:r>
                  </m:oMath>
                </a14:m>
                <a:endParaRPr lang="de-DE" sz="1200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FD0D6BB-3F73-4D89-D839-52461DE63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76" y="3046049"/>
                <a:ext cx="1553971" cy="276999"/>
              </a:xfrm>
              <a:prstGeom prst="rect">
                <a:avLst/>
              </a:prstGeom>
              <a:blipFill>
                <a:blip r:embed="rId7"/>
                <a:stretch>
                  <a:fillRect l="-392" t="-2222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A8B7F76-A224-FF6F-8519-DAB4B8D79779}"/>
                  </a:ext>
                </a:extLst>
              </p:cNvPr>
              <p:cNvSpPr txBox="1"/>
              <p:nvPr/>
            </p:nvSpPr>
            <p:spPr>
              <a:xfrm>
                <a:off x="1037466" y="4157422"/>
                <a:ext cx="2519332" cy="389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de-DE" sz="12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de-DE" sz="1200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A8B7F76-A224-FF6F-8519-DAB4B8D79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66" y="4157422"/>
                <a:ext cx="2519332" cy="3892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B6F9B29-5D93-0CE1-79F7-903D3D17AE9C}"/>
                  </a:ext>
                </a:extLst>
              </p:cNvPr>
              <p:cNvSpPr txBox="1"/>
              <p:nvPr/>
            </p:nvSpPr>
            <p:spPr>
              <a:xfrm>
                <a:off x="1037466" y="3799888"/>
                <a:ext cx="2519332" cy="356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de-DE" sz="12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de-DE" sz="12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B6F9B29-5D93-0CE1-79F7-903D3D17A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66" y="3799888"/>
                <a:ext cx="2519332" cy="3568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fik 24">
            <a:extLst>
              <a:ext uri="{FF2B5EF4-FFF2-40B4-BE49-F238E27FC236}">
                <a16:creationId xmlns:a16="http://schemas.microsoft.com/office/drawing/2014/main" id="{5220168F-7A5E-8770-81E9-A3478252CF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2635" y="3157848"/>
            <a:ext cx="3525240" cy="128408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6606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79AB-CE1A-D2A2-C405-EBC24E816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2AB0E-713F-607F-13F1-A79532E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200" b="0" dirty="0" err="1"/>
              <a:t>Sequential</a:t>
            </a:r>
            <a:r>
              <a:rPr lang="de-DE" sz="2200" b="0" dirty="0"/>
              <a:t> </a:t>
            </a:r>
            <a:r>
              <a:rPr lang="de-DE" sz="2200" b="0" dirty="0" err="1"/>
              <a:t>conditional</a:t>
            </a:r>
            <a:r>
              <a:rPr lang="de-DE" sz="2200" b="0" dirty="0"/>
              <a:t> log </a:t>
            </a:r>
            <a:r>
              <a:rPr lang="de-DE" sz="2200" b="0" dirty="0" err="1"/>
              <a:t>likelihood</a:t>
            </a:r>
            <a:r>
              <a:rPr lang="de-DE" sz="2200" b="0" dirty="0"/>
              <a:t> </a:t>
            </a:r>
            <a:r>
              <a:rPr lang="de-DE" sz="2200" b="0" dirty="0" err="1"/>
              <a:t>maximization</a:t>
            </a:r>
            <a:endParaRPr lang="de-DE" sz="2200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E22114-52FC-0C43-B4D1-7EA3CB2593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rPr lang="de-DE" smtClean="0"/>
              <a:t>9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D3E8CCD-F0EE-9CAF-1547-97AD1F6823DF}"/>
                  </a:ext>
                </a:extLst>
              </p:cNvPr>
              <p:cNvSpPr txBox="1"/>
              <p:nvPr/>
            </p:nvSpPr>
            <p:spPr>
              <a:xfrm>
                <a:off x="1386279" y="3821935"/>
                <a:ext cx="6669817" cy="357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 b="0" i="1" smtClean="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de-DE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de-DE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1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sup>
                          <m:e>
                            <m:d>
                              <m:dPr>
                                <m:ctrlPr>
                                  <a:rPr lang="de-D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d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de-DE" sz="1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1400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supHide m:val="on"/>
                                            <m:ctrlPr>
                                              <a:rPr lang="de-DE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de-DE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e-DE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de-DE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de-DE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de-DE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de-DE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</m:sSub>
                                          </m:sub>
                                          <m:sup/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de-DE" sz="140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de-DE" sz="1400">
                                                    <a:latin typeface="Cambria Math" panose="02040503050406030204" pitchFamily="18" charset="0"/>
                                                  </a:rPr>
                                                  <m:t>exp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de-DE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Sup>
                                                      <m:sSubSupPr>
                                                        <m:ctrlP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𝑞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𝑏</m:t>
                                                        </m:r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∗</m:t>
                                                        </m:r>
                                                      </m:sup>
                                                    </m:sSubSup>
                                                    <m:d>
                                                      <m:dPr>
                                                        <m:ctrlP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𝑠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𝑏</m:t>
                                                            </m:r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,</m:t>
                                                            </m:r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𝑡</m:t>
                                                            </m:r>
                                                          </m:sub>
                                                        </m:sSub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𝑎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𝑏</m:t>
                                                            </m:r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,</m:t>
                                                            </m:r>
                                                            <m:r>
                                                              <a:rPr lang="de-DE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𝑡</m:t>
                                                            </m:r>
                                                          </m:sub>
                                                        </m:sSub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;</m:t>
                                                        </m:r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𝛽</m:t>
                                                        </m:r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de-DE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𝜎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de-DE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/</m:t>
                                                    </m:r>
                                                    <m:r>
                                                      <a:rPr lang="de-DE" sz="1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𝜏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</m:e>
                            </m:d>
                            <m:r>
                              <a:rPr lang="de-DE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r>
                  <a:rPr lang="de-DE" sz="1400" dirty="0"/>
                  <a:t> </a:t>
                </a:r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D3E8CCD-F0EE-9CAF-1547-97AD1F68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9" y="3821935"/>
                <a:ext cx="6669817" cy="357918"/>
              </a:xfrm>
              <a:prstGeom prst="rect">
                <a:avLst/>
              </a:prstGeom>
              <a:blipFill>
                <a:blip r:embed="rId2"/>
                <a:stretch>
                  <a:fillRect t="-83051" b="-1271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ABCB11E-E975-AC83-D570-6309B4C28992}"/>
                  </a:ext>
                </a:extLst>
              </p:cNvPr>
              <p:cNvSpPr txBox="1"/>
              <p:nvPr/>
            </p:nvSpPr>
            <p:spPr>
              <a:xfrm>
                <a:off x="618772" y="2012953"/>
                <a:ext cx="572291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300" dirty="0">
                    <a:latin typeface="Arial" panose="020B0604020202020204" pitchFamily="34" charset="0"/>
                    <a:cs typeface="Arial" panose="020B0604020202020204" pitchFamily="34" charset="0"/>
                  </a:rPr>
                  <a:t>Agentic behavioral </a:t>
                </a:r>
                <a:r>
                  <a:rPr lang="de-DE" sz="13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  <a:r>
                  <a:rPr lang="de-DE" sz="13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block</m:t>
                    </m:r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trial</m:t>
                    </m:r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de-DE" sz="13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3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de-DE" sz="13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number</m:t>
                    </m:r>
                    <m: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of</m:t>
                    </m:r>
                    <m: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trials</m:t>
                    </m:r>
                    <m: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in</m:t>
                    </m:r>
                    <m:r>
                      <a:rPr lang="de-DE" sz="13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e-DE" sz="13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de-DE" sz="1300" dirty="0">
                    <a:latin typeface="Arial" panose="020B0604020202020204" pitchFamily="34" charset="0"/>
                    <a:cs typeface="Arial" panose="020B0604020202020204" pitchFamily="34" charset="0"/>
                  </a:rPr>
                  <a:t> )</a:t>
                </a: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ABCB11E-E975-AC83-D570-6309B4C28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72" y="2012953"/>
                <a:ext cx="5722913" cy="292388"/>
              </a:xfrm>
              <a:prstGeom prst="rect">
                <a:avLst/>
              </a:prstGeom>
              <a:blipFill>
                <a:blip r:embed="rId3"/>
                <a:stretch>
                  <a:fillRect l="-213" t="-2083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EF947837-1447-B901-0E92-FFE79C680398}"/>
              </a:ext>
            </a:extLst>
          </p:cNvPr>
          <p:cNvSpPr txBox="1"/>
          <p:nvPr/>
        </p:nvSpPr>
        <p:spPr>
          <a:xfrm>
            <a:off x="618772" y="3420300"/>
            <a:ext cx="28296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conditional</a:t>
            </a: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 log </a:t>
            </a: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likelihood</a:t>
            </a:r>
            <a:endParaRPr 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B47569E-3AE6-9A5C-877B-4B108D360CE9}"/>
                  </a:ext>
                </a:extLst>
              </p:cNvPr>
              <p:cNvSpPr txBox="1"/>
              <p:nvPr/>
            </p:nvSpPr>
            <p:spPr>
              <a:xfrm>
                <a:off x="1181521" y="4179853"/>
                <a:ext cx="6780958" cy="379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Adaptive Nelder-Mead 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optimization</a:t>
                </a:r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scipy.optimize.minimize</a:t>
                </a:r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de-DE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14:m>
                  <m:oMath xmlns:m="http://schemas.openxmlformats.org/officeDocument/2006/math">
                    <m:r>
                      <a:rPr lang="de-DE" sz="12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≔(0.01,0.1,0.3)</m:t>
                    </m:r>
                  </m:oMath>
                </a14:m>
                <a:endParaRPr lang="de-DE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B47569E-3AE6-9A5C-877B-4B108D360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521" y="4179853"/>
                <a:ext cx="6780958" cy="379848"/>
              </a:xfrm>
              <a:prstGeom prst="rect">
                <a:avLst/>
              </a:prstGeom>
              <a:blipFill>
                <a:blip r:embed="rId4"/>
                <a:stretch>
                  <a:fillRect l="-90" b="-80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CB9EB60-3274-561C-B418-9225CEB087DF}"/>
                  </a:ext>
                </a:extLst>
              </p:cNvPr>
              <p:cNvSpPr txBox="1"/>
              <p:nvPr/>
            </p:nvSpPr>
            <p:spPr>
              <a:xfrm>
                <a:off x="1571198" y="1380420"/>
                <a:ext cx="6299980" cy="528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e-DE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e-DE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≔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exp</m:t>
                        </m:r>
                        <m:d>
                          <m:dPr>
                            <m:ctrlPr>
                              <a:rPr lang="de-DE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de-DE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de-D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de-DE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de-DE" sz="1400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de-DE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d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de-DE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de-DE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exp</m:t>
                            </m:r>
                            <m:d>
                              <m:dPr>
                                <m:ctrlPr>
                                  <a:rPr lang="de-D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de-DE" sz="1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</m:den>
                    </m:f>
                    <m:r>
                      <a:rPr lang="de-DE" sz="14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DE" sz="1400" dirty="0"/>
                  <a:t> </a:t>
                </a:r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Action as </a:t>
                </a:r>
                <a:r>
                  <a:rPr lang="de-DE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noisy</a:t>
                </a:r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(soft-</a:t>
                </a:r>
                <a:r>
                  <a:rPr lang="de-DE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maximizing</a:t>
                </a:r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de-DE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decision</a:t>
                </a:r>
                <a:endParaRPr lang="de-D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CB9EB60-3274-561C-B418-9225CEB08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198" y="1380420"/>
                <a:ext cx="6299980" cy="528093"/>
              </a:xfrm>
              <a:prstGeom prst="rect">
                <a:avLst/>
              </a:prstGeom>
              <a:blipFill>
                <a:blip r:embed="rId5"/>
                <a:stretch>
                  <a:fillRect b="-597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61627905-10F9-2A03-FE97-7C6DB41C22AE}"/>
              </a:ext>
            </a:extLst>
          </p:cNvPr>
          <p:cNvSpPr txBox="1"/>
          <p:nvPr/>
        </p:nvSpPr>
        <p:spPr>
          <a:xfrm>
            <a:off x="618772" y="1088032"/>
            <a:ext cx="1399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de-DE" sz="13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34F578-40DE-7B08-AF49-497A4CBD5D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59" y="2409781"/>
            <a:ext cx="7931223" cy="89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7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4206E013-74B9-2E90-19ED-A76F5F08090B}"/>
              </a:ext>
            </a:extLst>
          </p:cNvPr>
          <p:cNvSpPr>
            <a:spLocks noGrp="1"/>
          </p:cNvSpPr>
          <p:nvPr/>
        </p:nvSpPr>
        <p:spPr>
          <a:xfrm>
            <a:off x="8467725" y="4810125"/>
            <a:ext cx="32385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BIC result">
                <a:extLst>
                  <a:ext uri="{FF2B5EF4-FFF2-40B4-BE49-F238E27FC236}">
                    <a16:creationId xmlns:a16="http://schemas.microsoft.com/office/drawing/2014/main" id="{DBFE0C61-21F8-41EF-8CEA-93A7F5BC08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2584" y="793760"/>
                <a:ext cx="781050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ctr">
                <a:normAutofit/>
              </a:bodyPr>
              <a:lstStyle/>
              <a:p>
                <a:pPr marL="114300">
                  <a:spcAft>
                    <a:spcPts val="0"/>
                  </a:spcAft>
                  <a:defRPr sz="15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𝒜</m:t>
                    </m:r>
                    <m:r>
                      <a:rPr lang="de-DE" sz="1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had a higher BIC than a </a:t>
                </a:r>
                <a:r>
                  <a:rPr lang="en-US" sz="1300" dirty="0" err="1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random</a:t>
                </a:r>
                <a:r>
                  <a:rPr lang="en-US" sz="1300" dirty="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en-US" sz="1300" dirty="0" err="1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choice</a:t>
                </a:r>
                <a:r>
                  <a:rPr lang="en-US" sz="1300" dirty="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en-US" sz="1300" dirty="0" err="1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model</a:t>
                </a:r>
                <a:r>
                  <a:rPr lang="en-US" sz="1300" dirty="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 for all 49 participants (ΔBIC: 475.19 to 1374.70)</a:t>
                </a:r>
                <a:endParaRPr lang="de-DE" sz="1300" dirty="0">
                  <a:solidFill>
                    <a:srgbClr val="111111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0" name="BIC result">
                <a:extLst>
                  <a:ext uri="{FF2B5EF4-FFF2-40B4-BE49-F238E27FC236}">
                    <a16:creationId xmlns:a16="http://schemas.microsoft.com/office/drawing/2014/main" id="{DBFE0C61-21F8-41EF-8CEA-93A7F5BC08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84" y="793760"/>
                <a:ext cx="7810500" cy="361950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A034D822-A6D0-08CF-B814-810C8B8E3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064" y="1128132"/>
            <a:ext cx="5399661" cy="3528596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6005D5E2-A5C1-DC29-9984-CDA360627B11}"/>
              </a:ext>
            </a:extLst>
          </p:cNvPr>
          <p:cNvSpPr txBox="1"/>
          <p:nvPr/>
        </p:nvSpPr>
        <p:spPr>
          <a:xfrm>
            <a:off x="408708" y="1606695"/>
            <a:ext cx="2722419" cy="955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conditional</a:t>
            </a:r>
            <a:endParaRPr 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log </a:t>
            </a: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likelihood</a:t>
            </a: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Surfaces</a:t>
            </a:r>
            <a:endParaRPr 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(N = 3)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FD7E59-7AE2-CECB-1922-99984A8DA1F8}"/>
              </a:ext>
            </a:extLst>
          </p:cNvPr>
          <p:cNvSpPr txBox="1"/>
          <p:nvPr/>
        </p:nvSpPr>
        <p:spPr>
          <a:xfrm>
            <a:off x="569767" y="3101149"/>
            <a:ext cx="2400300" cy="955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Parameter </a:t>
            </a: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estimate</a:t>
            </a:r>
            <a:endParaRPr 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projections</a:t>
            </a:r>
            <a:endParaRPr 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de-DE" sz="1300" dirty="0">
                <a:latin typeface="Arial" panose="020B0604020202020204" pitchFamily="34" charset="0"/>
                <a:cs typeface="Arial" panose="020B0604020202020204" pitchFamily="34" charset="0"/>
              </a:rPr>
              <a:t>(N = 49)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B18F3487-45CC-06B7-B5F2-7C0048AF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205979"/>
            <a:ext cx="7931223" cy="857250"/>
          </a:xfrm>
        </p:spPr>
        <p:txBody>
          <a:bodyPr>
            <a:normAutofit/>
          </a:bodyPr>
          <a:lstStyle/>
          <a:p>
            <a:r>
              <a:rPr lang="de-DE" sz="2200" b="0" dirty="0"/>
              <a:t>Model </a:t>
            </a:r>
            <a:r>
              <a:rPr lang="de-DE" sz="2200" b="0" dirty="0" err="1"/>
              <a:t>comparison</a:t>
            </a:r>
            <a:r>
              <a:rPr lang="de-DE" sz="2200" b="0" dirty="0"/>
              <a:t> and </a:t>
            </a:r>
            <a:r>
              <a:rPr lang="de-DE" sz="2200" b="0" dirty="0" err="1"/>
              <a:t>parameter</a:t>
            </a:r>
            <a:r>
              <a:rPr lang="de-DE" sz="2200" b="0" dirty="0"/>
              <a:t> </a:t>
            </a:r>
            <a:r>
              <a:rPr lang="de-DE" sz="2200" b="0" dirty="0" err="1"/>
              <a:t>estimates</a:t>
            </a:r>
            <a:endParaRPr lang="de-DE" sz="2200" b="0" dirty="0"/>
          </a:p>
        </p:txBody>
      </p:sp>
    </p:spTree>
    <p:extLst>
      <p:ext uri="{BB962C8B-B14F-4D97-AF65-F5344CB8AC3E}">
        <p14:creationId xmlns:p14="http://schemas.microsoft.com/office/powerpoint/2010/main" val="272198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D4A93424-992C-949A-F2A2-9FC3469513C7}"/>
              </a:ext>
            </a:extLst>
          </p:cNvPr>
          <p:cNvSpPr txBox="1"/>
          <p:nvPr/>
        </p:nvSpPr>
        <p:spPr>
          <a:xfrm>
            <a:off x="496586" y="2241778"/>
            <a:ext cx="4812026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Work Package 2.2 | Agent-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behavioral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Statistical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Model and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recovery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796E9C-8FCE-97F3-235C-AB7CC004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600" b="0" err="1">
                <a:latin typeface="Arial"/>
                <a:cs typeface="Arial"/>
              </a:rPr>
              <a:t>Theoretical</a:t>
            </a:r>
            <a:r>
              <a:rPr lang="de-DE" sz="2600" b="0">
                <a:latin typeface="Arial"/>
                <a:cs typeface="Arial"/>
              </a:rPr>
              <a:t> </a:t>
            </a:r>
            <a:r>
              <a:rPr lang="de-DE" sz="2600" b="0" err="1">
                <a:latin typeface="Arial"/>
                <a:cs typeface="Arial"/>
              </a:rPr>
              <a:t>work</a:t>
            </a:r>
            <a:r>
              <a:rPr lang="de-DE" sz="2600" b="0">
                <a:latin typeface="Arial"/>
                <a:cs typeface="Arial"/>
              </a:rPr>
              <a:t> </a:t>
            </a:r>
            <a:r>
              <a:rPr lang="de-DE" sz="2600" b="0" err="1">
                <a:latin typeface="Arial"/>
                <a:cs typeface="Arial"/>
              </a:rPr>
              <a:t>packages</a:t>
            </a:r>
            <a:endParaRPr lang="de-DE" sz="2600" b="0">
              <a:latin typeface="Arial"/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188B60-43E7-25FA-0477-F9CFB093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8B4E-D815-417B-99FD-41D66E5C06D4}" type="slidenum">
              <a:rPr lang="de-DE" smtClean="0">
                <a:latin typeface="Arial"/>
                <a:cs typeface="Arial"/>
              </a:rPr>
              <a:pPr/>
              <a:t>11</a:t>
            </a:fld>
            <a:endParaRPr lang="de-DE">
              <a:latin typeface="Arial"/>
              <a:cs typeface="Arial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B6D906D-F193-6F1C-A21B-9DDF0E2A540F}"/>
              </a:ext>
            </a:extLst>
          </p:cNvPr>
          <p:cNvSpPr txBox="1"/>
          <p:nvPr/>
        </p:nvSpPr>
        <p:spPr>
          <a:xfrm>
            <a:off x="496586" y="1063229"/>
            <a:ext cx="4812025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Work Package 2.1 | Offline and online rational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Error- and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reward-sensitivity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parameterization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Temporal,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hierarchical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concurrent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9E6FD6A-B703-C7C3-4124-7B661FDF6CC9}"/>
              </a:ext>
            </a:extLst>
          </p:cNvPr>
          <p:cNvSpPr txBox="1"/>
          <p:nvPr/>
        </p:nvSpPr>
        <p:spPr>
          <a:xfrm>
            <a:off x="496586" y="3406373"/>
            <a:ext cx="6425603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Work Package 2.3 | ERN and FRN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Neural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and EEG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augmentation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Error/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index-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dependent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F6470BF-8274-3BDF-1435-7AE59585704D}"/>
              </a:ext>
            </a:extLst>
          </p:cNvPr>
          <p:cNvSpPr/>
          <p:nvPr/>
        </p:nvSpPr>
        <p:spPr>
          <a:xfrm>
            <a:off x="5104903" y="2571750"/>
            <a:ext cx="1032936" cy="437783"/>
          </a:xfrm>
          <a:prstGeom prst="roundRect">
            <a:avLst/>
          </a:prstGeom>
          <a:solidFill>
            <a:srgbClr val="F6D9D7"/>
          </a:solidFill>
          <a:ln>
            <a:solidFill>
              <a:srgbClr val="D662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Tübingen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0650930A-4016-8846-548F-473400007458}"/>
              </a:ext>
            </a:extLst>
          </p:cNvPr>
          <p:cNvSpPr/>
          <p:nvPr/>
        </p:nvSpPr>
        <p:spPr>
          <a:xfrm>
            <a:off x="5004049" y="1322045"/>
            <a:ext cx="1088063" cy="447761"/>
          </a:xfrm>
          <a:prstGeom prst="roundRect">
            <a:avLst/>
          </a:prstGeom>
          <a:solidFill>
            <a:srgbClr val="CFE2F3"/>
          </a:solidFill>
          <a:ln>
            <a:solidFill>
              <a:srgbClr val="0B79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Köln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fik 13" descr="Computer Silhouette">
            <a:extLst>
              <a:ext uri="{FF2B5EF4-FFF2-40B4-BE49-F238E27FC236}">
                <a16:creationId xmlns:a16="http://schemas.microsoft.com/office/drawing/2014/main" id="{B828AC9A-9B23-396B-3092-755A92810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5071" y="2342058"/>
            <a:ext cx="914400" cy="914400"/>
          </a:xfrm>
          <a:prstGeom prst="rect">
            <a:avLst/>
          </a:prstGeom>
        </p:spPr>
      </p:pic>
      <p:pic>
        <p:nvPicPr>
          <p:cNvPr id="16" name="Grafik 15" descr="Kopf mit Zahnrädern Silhouette">
            <a:extLst>
              <a:ext uri="{FF2B5EF4-FFF2-40B4-BE49-F238E27FC236}">
                <a16:creationId xmlns:a16="http://schemas.microsoft.com/office/drawing/2014/main" id="{D28C15D5-8573-0E72-0E4E-728AB5015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5415" y="1225211"/>
            <a:ext cx="857250" cy="85725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3BCC8E38-AC47-7BA7-04B9-07D136ED4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245" y="1444860"/>
            <a:ext cx="1498216" cy="46321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A738835-00FC-DC65-0639-5378B7554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1996" y="2443584"/>
            <a:ext cx="1484714" cy="624239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5C4374F-4B95-4C3D-48E7-CD7564E5B4F1}"/>
              </a:ext>
            </a:extLst>
          </p:cNvPr>
          <p:cNvSpPr/>
          <p:nvPr/>
        </p:nvSpPr>
        <p:spPr>
          <a:xfrm>
            <a:off x="5124000" y="1646674"/>
            <a:ext cx="1109355" cy="447761"/>
          </a:xfrm>
          <a:prstGeom prst="roundRect">
            <a:avLst/>
          </a:prstGeom>
          <a:solidFill>
            <a:srgbClr val="E8D6EF"/>
          </a:solidFill>
          <a:ln>
            <a:solidFill>
              <a:srgbClr val="6B53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Freiburg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286514F-BEE7-4F59-A679-DDE57A061A84}"/>
              </a:ext>
            </a:extLst>
          </p:cNvPr>
          <p:cNvGrpSpPr/>
          <p:nvPr/>
        </p:nvGrpSpPr>
        <p:grpSpPr>
          <a:xfrm>
            <a:off x="7010597" y="3485452"/>
            <a:ext cx="1673449" cy="996704"/>
            <a:chOff x="7099686" y="3516055"/>
            <a:chExt cx="1673449" cy="996704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125DA24-171C-3D32-750C-F00D9D4027CE}"/>
                </a:ext>
              </a:extLst>
            </p:cNvPr>
            <p:cNvSpPr/>
            <p:nvPr/>
          </p:nvSpPr>
          <p:spPr>
            <a:xfrm>
              <a:off x="8136731" y="4214813"/>
              <a:ext cx="119569" cy="1092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647C771E-B215-F278-2796-F7292B20FC19}"/>
                </a:ext>
              </a:extLst>
            </p:cNvPr>
            <p:cNvGrpSpPr/>
            <p:nvPr/>
          </p:nvGrpSpPr>
          <p:grpSpPr>
            <a:xfrm>
              <a:off x="7099686" y="3516055"/>
              <a:ext cx="1673449" cy="996704"/>
              <a:chOff x="7099686" y="3516055"/>
              <a:chExt cx="1673449" cy="996704"/>
            </a:xfrm>
          </p:grpSpPr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427AE364-7CA9-521F-14DE-CCF9079BDF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39465" y="3598359"/>
                <a:ext cx="1033670" cy="914400"/>
              </a:xfrm>
              <a:prstGeom prst="rect">
                <a:avLst/>
              </a:prstGeom>
            </p:spPr>
          </p:pic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6BBDA8A3-3495-BA56-6F67-7BC7F180F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36955" y="3544458"/>
                <a:ext cx="656458" cy="914401"/>
              </a:xfrm>
              <a:prstGeom prst="rect">
                <a:avLst/>
              </a:prstGeom>
            </p:spPr>
          </p:pic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7C32DC97-2EB3-6B57-9E0D-B96216E7F4A1}"/>
                  </a:ext>
                </a:extLst>
              </p:cNvPr>
              <p:cNvSpPr/>
              <p:nvPr/>
            </p:nvSpPr>
            <p:spPr>
              <a:xfrm>
                <a:off x="7099686" y="3516055"/>
                <a:ext cx="119569" cy="109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EE6AF23C-5253-550B-E094-94AEB2411FEC}"/>
                </a:ext>
              </a:extLst>
            </p:cNvPr>
            <p:cNvSpPr/>
            <p:nvPr/>
          </p:nvSpPr>
          <p:spPr>
            <a:xfrm>
              <a:off x="8136731" y="4214813"/>
              <a:ext cx="119569" cy="1092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6C8BCF83-050A-F22C-071E-39CB9BE3FBB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15" r="115"/>
          <a:stretch/>
        </p:blipFill>
        <p:spPr>
          <a:xfrm flipH="1">
            <a:off x="5701166" y="3551333"/>
            <a:ext cx="1017053" cy="8065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424265029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</Words>
  <Application>Microsoft Office PowerPoint</Application>
  <DocSecurity>0</DocSecurity>
  <PresentationFormat>Bildschirmpräsentation (16:9)</PresentationFormat>
  <Paragraphs>130</Paragraphs>
  <Slides>11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Arial Unicode MS</vt:lpstr>
      <vt:lpstr>Calibri</vt:lpstr>
      <vt:lpstr>Cambria Math</vt:lpstr>
      <vt:lpstr>Courier New</vt:lpstr>
      <vt:lpstr>Larissa</vt:lpstr>
      <vt:lpstr>Theoretical proposal</vt:lpstr>
      <vt:lpstr>First-stage implementation</vt:lpstr>
      <vt:lpstr>Experimental data</vt:lpstr>
      <vt:lpstr>Experimental data</vt:lpstr>
      <vt:lpstr>Experimental data</vt:lpstr>
      <vt:lpstr>Experimental data</vt:lpstr>
      <vt:lpstr>Agentic behavioral model</vt:lpstr>
      <vt:lpstr>Dynamic programming backward induction</vt:lpstr>
      <vt:lpstr>Sequential conditional log likelihood maximization</vt:lpstr>
      <vt:lpstr>Model comparison and parameter estimates</vt:lpstr>
      <vt:lpstr>Theoretical work packages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Dirk Ostwald</cp:lastModifiedBy>
  <cp:revision>6</cp:revision>
  <dcterms:created xsi:type="dcterms:W3CDTF">2026-09-16T08:33:18Z</dcterms:created>
  <dcterms:modified xsi:type="dcterms:W3CDTF">2026-09-17T11:27:43Z</dcterms:modified>
</cp:coreProperties>
</file>